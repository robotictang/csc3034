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(CI)?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923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Bezdek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3937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 system is computationally intelligent when it: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deals with only numerical (low-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1144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level)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recognition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components,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48352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additionally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(begins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exhibit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6556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adaptivity;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(3)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82767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 turnaround, and (4) 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approximate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4122" y="3150695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(CI)?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923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Bezdek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139377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 system is computationally intelligent when it: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deals with only numerical (low-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1144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level)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recognition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components,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483521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sense;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additionally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(begins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exhibit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(1)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65560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adaptivity;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(2)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(3)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827678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 turnaround, and (4) 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approximate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2166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focuses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motivated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23887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4122" y="3150695"/>
            <a:ext cx="1212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95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primary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(EC)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15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NN)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(FS)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740" y="3150918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132" y="3150694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951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primary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(EC)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15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(ANN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NN)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(FS)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44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immune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(AIS)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65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life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(AL).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132" y="3150692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841500" y="2108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2" y="4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841500" y="151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466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1" y="4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000500" y="1663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8509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8415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32100" y="246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3208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362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12192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7399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22606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0640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965700" y="236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546600" y="252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4798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733800" y="102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000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191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6355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Topics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covered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00" y="354900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CSC3206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(AI)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92170" y="1701247"/>
            <a:ext cx="2893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5147" y="2206288"/>
            <a:ext cx="4070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922" y="1359262"/>
            <a:ext cx="47274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91253" y="2091048"/>
            <a:ext cx="13941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29837" y="1516373"/>
            <a:ext cx="21555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Machine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453" y="2556275"/>
            <a:ext cx="53319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Uninformed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064" y="2703189"/>
            <a:ext cx="49613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Evolutionary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Algorithms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07642" y="2556275"/>
            <a:ext cx="42777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Informed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81390" y="2703189"/>
            <a:ext cx="3804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Swarm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Intelligence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19984" y="2546077"/>
            <a:ext cx="3365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Search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using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Games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742" y="1052227"/>
            <a:ext cx="4670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Logic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5532" y="896512"/>
            <a:ext cx="45998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Representation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28075" y="1052227"/>
            <a:ext cx="3757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Fuzzy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Logic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77449" y="2449049"/>
            <a:ext cx="21079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Production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57192" y="2604776"/>
            <a:ext cx="15282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Fuzzy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54994" y="2447664"/>
            <a:ext cx="113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Expert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2596" y="1156976"/>
            <a:ext cx="2532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Regressions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75075" y="904233"/>
            <a:ext cx="2310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Decision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Tree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5465" y="1165752"/>
            <a:ext cx="1879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KNN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19371" y="1061345"/>
            <a:ext cx="17660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K-means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07458" y="905973"/>
            <a:ext cx="167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Artificial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Neural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Network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1841500" y="2108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2" y="4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4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841500" y="151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0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0" y="3"/>
                </a:lnTo>
                <a:lnTo>
                  <a:pt x="0" y="4"/>
                </a:lnTo>
                <a:lnTo>
                  <a:pt x="3" y="4"/>
                </a:lnTo>
                <a:lnTo>
                  <a:pt x="3" y="3"/>
                </a:lnTo>
                <a:lnTo>
                  <a:pt x="3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546600" y="1993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1" y="4"/>
                </a:lnTo>
                <a:lnTo>
                  <a:pt x="1" y="4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4"/>
                </a:lnTo>
                <a:lnTo>
                  <a:pt x="1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4000500" y="1663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0" y="4"/>
                </a:lnTo>
                <a:lnTo>
                  <a:pt x="0" y="4"/>
                </a:lnTo>
                <a:lnTo>
                  <a:pt x="3" y="4"/>
                </a:lnTo>
                <a:lnTo>
                  <a:pt x="3" y="4"/>
                </a:lnTo>
                <a:lnTo>
                  <a:pt x="3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3208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3622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8509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8415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32100" y="246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2606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2192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7399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546600" y="252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64000" y="236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965700" y="236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1" y="2"/>
                </a:lnTo>
                <a:lnTo>
                  <a:pt x="0" y="0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4635500" y="104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4798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733800" y="102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0" y="4"/>
                </a:lnTo>
                <a:lnTo>
                  <a:pt x="2" y="2"/>
                </a:lnTo>
                <a:lnTo>
                  <a:pt x="4" y="4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4000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191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Topics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covered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00" y="354900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CSC3034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(CI)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92170" y="1701247"/>
            <a:ext cx="28932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15147" y="2206288"/>
            <a:ext cx="4070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922" y="1359262"/>
            <a:ext cx="47274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91253" y="2091048"/>
            <a:ext cx="13941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29837" y="1516373"/>
            <a:ext cx="21555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Machine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Learning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453" y="2556275"/>
            <a:ext cx="53319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Uninformed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064" y="2703189"/>
            <a:ext cx="49613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Evolutionary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Algorithms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07642" y="2556275"/>
            <a:ext cx="42777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Informed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81390" y="2703189"/>
            <a:ext cx="38040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Swarm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Intelligence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19984" y="2546077"/>
            <a:ext cx="3365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Search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using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Games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4742" y="1052227"/>
            <a:ext cx="4670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Logic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85532" y="896512"/>
            <a:ext cx="45998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Knowledge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Representation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28075" y="1052227"/>
            <a:ext cx="3757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Fuzzy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Logic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77449" y="2449049"/>
            <a:ext cx="210794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Production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57192" y="2604776"/>
            <a:ext cx="15282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Fuzzy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Systems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54994" y="2447664"/>
            <a:ext cx="11304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Expert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Systems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52596" y="1156976"/>
            <a:ext cx="25327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Regressions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75075" y="904233"/>
            <a:ext cx="23103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Decision</a:t>
            </a:r>
            <a:r>
              <a:rPr sz="797" b="0">
                <a:solidFill>
                  <a:srgbClr val="CFD8DC"/>
                </a:solidFill>
                <a:latin typeface="Josefin Sans"/>
              </a:rPr>
              <a:t> </a:t>
            </a:r>
            <a:r>
              <a:rPr sz="797" b="0">
                <a:solidFill>
                  <a:srgbClr val="CFD8DC"/>
                </a:solidFill>
                <a:latin typeface="Josefin Sans"/>
              </a:rPr>
              <a:t>Tree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05465" y="1165752"/>
            <a:ext cx="18799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KNN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19371" y="1061345"/>
            <a:ext cx="17660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CFD8DC"/>
                </a:solidFill>
                <a:latin typeface="Josefin Sans"/>
              </a:rPr>
              <a:t>K-means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07458" y="905973"/>
            <a:ext cx="16779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4CAF50"/>
                </a:solidFill>
                <a:latin typeface="Josefin Sans"/>
              </a:rPr>
              <a:t>Artificial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Neural</a:t>
            </a:r>
            <a:r>
              <a:rPr sz="797" b="0">
                <a:solidFill>
                  <a:srgbClr val="4CAF50"/>
                </a:solidFill>
                <a:latin typeface="Josefin Sans"/>
              </a:rPr>
              <a:t> </a:t>
            </a:r>
            <a:r>
              <a:rPr sz="797" b="0">
                <a:solidFill>
                  <a:srgbClr val="4CAF50"/>
                </a:solidFill>
                <a:latin typeface="Josefin Sans"/>
              </a:rPr>
              <a:t>Network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56584" y="611372"/>
            <a:ext cx="0" cy="2263517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356584" y="611372"/>
            <a:ext cx="2586878" cy="0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943462" y="611372"/>
            <a:ext cx="0" cy="2263517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356584" y="2874889"/>
            <a:ext cx="2586878" cy="0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0" y="3238500"/>
            <a:ext cx="0" cy="12700"/>
          </a:xfrm>
          <a:custGeom>
            <a:avLst/>
            <a:gdLst/>
            <a:ahLst/>
            <a:cxnLst/>
            <a:rect l="l" t="t" r="r" b="b"/>
            <a:pathLst>
              <a:path w="0" h="1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2992481" y="1096411"/>
            <a:ext cx="983318" cy="634398"/>
          </a:xfrm>
          <a:prstGeom prst="line">
            <a:avLst/>
          </a:prstGeom>
          <a:ln w="454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29718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Summary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46230" y="1978805"/>
            <a:ext cx="393916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Artificial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78296" y="2103817"/>
            <a:ext cx="390709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Neural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25366" y="2228829"/>
            <a:ext cx="396002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6185" y="2030343"/>
            <a:ext cx="2679210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53620" y="2155355"/>
            <a:ext cx="273177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80136" y="1109708"/>
            <a:ext cx="3405259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67052" y="1234720"/>
            <a:ext cx="3418344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0343" y="650007"/>
            <a:ext cx="4385052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Computational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00343" y="775019"/>
            <a:ext cx="4385052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43715" y="980840"/>
            <a:ext cx="1741680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19520" y="1105852"/>
            <a:ext cx="1765875" cy="15853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5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12740" y="3150918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2599" y="3150694"/>
            <a:ext cx="122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Where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methods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5371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089" y="639646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89" y="858543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classification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089" y="107742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clustering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72357" y="639646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scheduling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72357" y="848955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72357" y="1058251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46" y="3150695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Where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methods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5371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089" y="639646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89" y="858543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classification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089" y="107742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clustering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72357" y="639646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scheduling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72357" y="848955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72357" y="1058251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1472032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089" y="1606307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diagnosis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diseases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089" y="1825191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speech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089" y="204408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72357" y="1606307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processing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72357" y="1815603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72357" y="2024899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planning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game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strategies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2446" y="3150695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Where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methods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implemented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505371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9089" y="639646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089" y="858543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classification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089" y="107742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clustering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72357" y="639646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scheduling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72357" y="848955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approximation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72357" y="1058251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route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1472032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089" y="1606307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diagnosis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diseases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9089" y="1825191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speech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089" y="2044088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72357" y="1606307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processing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72357" y="1815603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recognition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72357" y="2024899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planning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game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strategies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3" y="2438680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9089" y="2572967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9089" y="2804501"/>
            <a:ext cx="52963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gear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transmission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72357" y="2572967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home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appliances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57" y="2785324"/>
            <a:ext cx="27130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3373"/>
                </a:solidFill>
                <a:latin typeface="MSAM10"/>
              </a:rPr>
              <a:t>▶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traffic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signal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. . 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12740" y="3150917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64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285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black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741" y="3150918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6473" y="3150694"/>
            <a:ext cx="1189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64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285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black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391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language,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563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“some”,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“most”,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38" y="3150918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6470" y="3150694"/>
            <a:ext cx="11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64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binary-valued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285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black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approach.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39139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almost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always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case.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language,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563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common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“some”,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“most”,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1" y="1926328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referred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209840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approximate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1" y="2270473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1" y="2442545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associated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2738" y="3150918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6470" y="3150694"/>
            <a:ext cx="11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955449"/>
            <a:ext cx="54254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741" y="3150917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591" y="3150693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801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vagueness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impression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and/or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ambiguity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3219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inherent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property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955449"/>
            <a:ext cx="54254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41" y="3150917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591" y="3150693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801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vagueness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impression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and/or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ambiguity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3219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inherent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property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279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479820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631648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identified,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2" y="1955450"/>
            <a:ext cx="54254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2738" y="3150920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588" y="3150696"/>
            <a:ext cx="121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801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vagueness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impression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and/or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ambiguity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3219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inherent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property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279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479820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631648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identified,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2" y="1955450"/>
            <a:ext cx="54254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1" y="219294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laws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12738" y="3150920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3588" y="3150696"/>
            <a:ext cx="121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4286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Nonstatistical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(fuzziness)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8801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vagueness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impression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and/or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ambiguity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3219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inherent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property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changed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2799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479820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631648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basketball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identified,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2" y="1955450"/>
            <a:ext cx="54254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Statistical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uncertainty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1" y="219294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laws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probability.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observations.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1" y="2488736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before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tossing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fair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coin,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50%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50%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1" y="2640564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tail.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tossing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coin,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1" y="2792405"/>
            <a:ext cx="54254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tail.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2738" y="3150922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3588" y="3150697"/>
            <a:ext cx="1218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5954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319906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33859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47812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61765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75718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389671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03624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217576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631529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045482" y="2267154"/>
            <a:ext cx="0" cy="539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78954" y="2294153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78954" y="1820834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78954" y="1347516"/>
            <a:ext cx="53999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05954" y="2294153"/>
            <a:ext cx="444538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905954" y="1088830"/>
            <a:ext cx="0" cy="12053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889000" y="106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0" y="3"/>
                </a:lnTo>
                <a:lnTo>
                  <a:pt x="1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5954" y="1347516"/>
            <a:ext cx="455348" cy="0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61302" y="1347516"/>
            <a:ext cx="372557" cy="946637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33859" y="2294153"/>
            <a:ext cx="3311623" cy="0"/>
          </a:xfrm>
          <a:prstGeom prst="line">
            <a:avLst/>
          </a:prstGeom>
          <a:ln w="5060">
            <a:solidFill>
              <a:srgbClr val="000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05954" y="2294153"/>
            <a:ext cx="620929" cy="0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526883" y="1347516"/>
            <a:ext cx="620929" cy="946637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47812" y="1347516"/>
            <a:ext cx="413953" cy="946637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561765" y="2294153"/>
            <a:ext cx="2483717" cy="0"/>
          </a:xfrm>
          <a:prstGeom prst="line">
            <a:avLst/>
          </a:prstGeom>
          <a:ln w="5060">
            <a:solidFill>
              <a:srgbClr val="D62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05954" y="2294153"/>
            <a:ext cx="1448835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54789" y="1347516"/>
            <a:ext cx="413952" cy="946637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68741" y="1347516"/>
            <a:ext cx="538139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306880" y="1347516"/>
            <a:ext cx="289767" cy="946637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596647" y="2294153"/>
            <a:ext cx="1448835" cy="0"/>
          </a:xfrm>
          <a:prstGeom prst="line">
            <a:avLst/>
          </a:prstGeom>
          <a:ln w="5060">
            <a:solidFill>
              <a:srgbClr val="734D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05954" y="2294153"/>
            <a:ext cx="215255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058509" y="1347516"/>
            <a:ext cx="1573020" cy="9466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631529" y="1347516"/>
            <a:ext cx="41395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59993" y="2963278"/>
            <a:ext cx="201597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7002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693" y="2354256"/>
            <a:ext cx="49087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61376" y="2354256"/>
            <a:ext cx="45240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75332" y="2354256"/>
            <a:ext cx="41100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89276" y="2354256"/>
            <a:ext cx="36961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03220" y="2354256"/>
            <a:ext cx="32821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17176" y="2354256"/>
            <a:ext cx="286821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1120" y="2354256"/>
            <a:ext cx="24542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45064" y="2354256"/>
            <a:ext cx="20403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59020" y="2354256"/>
            <a:ext cx="16263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964" y="2354256"/>
            <a:ext cx="12124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57647" y="2354256"/>
            <a:ext cx="8277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1727" y="2241848"/>
            <a:ext cx="50136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0706" y="1768544"/>
            <a:ext cx="51046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1727" y="1295228"/>
            <a:ext cx="50136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54658" y="1186347"/>
            <a:ext cx="48307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young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02497" y="1186347"/>
            <a:ext cx="37828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young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672384" y="1186347"/>
            <a:ext cx="311301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middle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aged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64099" y="1206832"/>
            <a:ext cx="10212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41522" y="2526921"/>
            <a:ext cx="274387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Age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2583" y="1564874"/>
            <a:ext cx="53828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70394" y="3013767"/>
            <a:ext cx="53150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adapted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“Computational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Intelligence: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An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Introduction”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Engelbrecht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(2007)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912740" y="3150918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2446" y="3150694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0701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632200" y="1790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4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0782" y="1189575"/>
            <a:ext cx="368461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04695" y="1882296"/>
            <a:ext cx="42807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49015" y="1882296"/>
            <a:ext cx="26363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1700" y="3150693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7706671" y="-24154387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7686000" y="-23685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2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8357159" y="-24154387"/>
            <a:ext cx="496834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8829000" y="-23685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2741" y="3150917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4777" y="3150693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2741" y="3150919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54777" y="3150695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12741" y="3150919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54777" y="3150695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132" y="2108373"/>
            <a:ext cx="21432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weak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12741" y="3150920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54777" y="3150696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5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132" y="2108373"/>
            <a:ext cx="21432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weak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5" y="236607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12741" y="3150920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54777" y="3150696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132" y="2108373"/>
            <a:ext cx="21432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weak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5" y="236607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24188" y="2366489"/>
            <a:ext cx="19612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reproduce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2743" y="3150920"/>
            <a:ext cx="8726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54778" y="3150696"/>
            <a:ext cx="130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306344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286000" y="1714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0" y="4"/>
                </a:moveTo>
                <a:lnTo>
                  <a:pt x="4" y="3"/>
                </a:lnTo>
                <a:lnTo>
                  <a:pt x="2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956832" y="1245940"/>
            <a:ext cx="496835" cy="49679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429000" y="1714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63727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natural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survival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8093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fittest.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52790" y="1107724"/>
            <a:ext cx="38326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24936" y="1107724"/>
            <a:ext cx="24604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71" y="1086642"/>
            <a:ext cx="29432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90750" y="1802363"/>
            <a:ext cx="379464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62896" y="1802363"/>
            <a:ext cx="24224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430" y="1456337"/>
            <a:ext cx="21639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materials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5" y="210796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132" y="2108373"/>
            <a:ext cx="21432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weak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not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9995" y="236607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inherits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24188" y="2366489"/>
            <a:ext cx="19612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survive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reproduce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6" y="2624194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After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6" y="2796266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characteristics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remain.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2743" y="3150919"/>
            <a:ext cx="8726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54778" y="3150695"/>
            <a:ext cx="1306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4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processes: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40208" y="3150692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4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processes: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11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740" y="3150919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0208" y="3150695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Genetic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47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processes: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113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occurs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sexual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reproduction,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parents.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9080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(ideally)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improvement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individuals,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08011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characteristics.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12740" y="3150917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0208" y="3150693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234161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331579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42899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526407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3824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21239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136747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039330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941916" y="-2337254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844498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747084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6968890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7066307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7163721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261139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35855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55967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871476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774058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6676644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6579227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481813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949943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9596850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9694265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791682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9889096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986510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9402019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304601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07187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109770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9012356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722821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760778" y="-23146368"/>
            <a:ext cx="2163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015067" y="-23108411"/>
            <a:ext cx="0" cy="447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270002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7307316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7053027" y="-23146368"/>
            <a:ext cx="216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015067" y="-23108411"/>
            <a:ext cx="0" cy="700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988093" y="-23252357"/>
            <a:ext cx="0" cy="19599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7965400" y="-2327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7614584" y="-24412520"/>
            <a:ext cx="13182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273688" y="-24412520"/>
            <a:ext cx="6650" cy="498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27053027" y="-23914084"/>
            <a:ext cx="12273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015067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270002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280338" y="-23952043"/>
            <a:ext cx="0" cy="379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280338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2575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280338" y="-23914084"/>
            <a:ext cx="122731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9545610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295275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8143200" y="-2454910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1" h="21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1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234161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331579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42899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526407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623824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8721239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136747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039330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7941916" y="-2337254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844498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747084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6968890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7066307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7163721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261139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35855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55967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6871476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774058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6676644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6579227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481813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9499433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9596850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9694265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791682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9889096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986510" y="-23372548"/>
            <a:ext cx="92357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9402019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304601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07187" y="-2337254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109770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9012356" y="-2337254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722821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760778" y="-23146368"/>
            <a:ext cx="2163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015067" y="-23108411"/>
            <a:ext cx="0" cy="447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270002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7307316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7053027" y="-23146368"/>
            <a:ext cx="216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015067" y="-23108411"/>
            <a:ext cx="0" cy="700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988093" y="-23252357"/>
            <a:ext cx="0" cy="19599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7965400" y="-2327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214257" y="987806"/>
            <a:ext cx="13182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273688" y="-24412520"/>
            <a:ext cx="6650" cy="49843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27053027" y="-23914084"/>
            <a:ext cx="12273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015067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270002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280338" y="-23952043"/>
            <a:ext cx="0" cy="379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280338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2575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280338" y="-23914084"/>
            <a:ext cx="122731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9545610" y="-23876127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29527500" y="-2369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3200" y="8509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2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19474" y="914174"/>
            <a:ext cx="2965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3383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31250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2866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2608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2349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2091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6419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39003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41588" y="202777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4417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4675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856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6597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76339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60810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5822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05564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114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373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31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78901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8148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9910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9652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9393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9135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8876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8618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0169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0427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685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09444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1202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26722821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760778" y="-23146368"/>
            <a:ext cx="2163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015067" y="-23108411"/>
            <a:ext cx="0" cy="4474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270002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27307316" y="-23236370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7053027" y="-23146368"/>
            <a:ext cx="21632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015067" y="-23108411"/>
            <a:ext cx="0" cy="700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988093" y="-23252357"/>
            <a:ext cx="0" cy="19599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7965400" y="-2327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214257" y="987806"/>
            <a:ext cx="13182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73362" y="987806"/>
            <a:ext cx="6650" cy="498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52699" y="1486241"/>
            <a:ext cx="1227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14740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6002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80012" y="1448283"/>
            <a:ext cx="0" cy="379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80012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5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80012" y="1486241"/>
            <a:ext cx="1227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145284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12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3200" y="8509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2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70173" y="1786793"/>
            <a:ext cx="31152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18220" y="1786793"/>
            <a:ext cx="43671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34521" y="1786793"/>
            <a:ext cx="1850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9474" y="914174"/>
            <a:ext cx="2965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3383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31250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2866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2608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2349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2091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6419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39003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41588" y="202777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4417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4675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856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6597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76339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60810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5822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05564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114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373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31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78901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8148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9910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9652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9393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9135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8876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8618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0169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0427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685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09444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1202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322494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360452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14740" y="2291916"/>
            <a:ext cx="0" cy="447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6002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906988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1652699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14740" y="2291916"/>
            <a:ext cx="0" cy="7004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988093" y="-23252357"/>
            <a:ext cx="0" cy="19599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7965400" y="-2327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214257" y="987806"/>
            <a:ext cx="13182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73362" y="987806"/>
            <a:ext cx="6650" cy="498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52699" y="1486241"/>
            <a:ext cx="1227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14740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6002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80012" y="1448283"/>
            <a:ext cx="0" cy="379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80012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5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80012" y="1486241"/>
            <a:ext cx="1227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145284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12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3200" y="8509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2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70173" y="1786793"/>
            <a:ext cx="31152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18220" y="1786793"/>
            <a:ext cx="43671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34521" y="1786793"/>
            <a:ext cx="1850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1507" y="2356375"/>
            <a:ext cx="44338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19474" y="914174"/>
            <a:ext cx="2965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884882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82298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79713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77129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7454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37196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87467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0051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592635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95220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97804" y="1167433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782790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80205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77621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075036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7245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6986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85374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87958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90543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93127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5712" y="1167433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3383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931250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02866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12608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2349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32091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6419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39003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41588" y="2027778"/>
            <a:ext cx="92354" cy="92354"/>
          </a:xfrm>
          <a:prstGeom prst="rect">
            <a:avLst/>
          </a:prstGeom>
          <a:solidFill>
            <a:srgbClr val="FF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4417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4675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856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66597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76339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60810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95822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05564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47114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3732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316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178901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81485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99106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196522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93937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91353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48876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8618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001691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04275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06859" y="2027778"/>
            <a:ext cx="92354" cy="92354"/>
          </a:xfrm>
          <a:prstGeom prst="rect">
            <a:avLst/>
          </a:prstGeom>
          <a:solidFill>
            <a:srgbClr val="00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709444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12028" y="2027778"/>
            <a:ext cx="92354" cy="92354"/>
          </a:xfrm>
          <a:prstGeom prst="rect">
            <a:avLst/>
          </a:prstGeom>
          <a:solidFill>
            <a:srgbClr val="D62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1322494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360452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14740" y="2291916"/>
            <a:ext cx="0" cy="4473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16002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1906988" y="2163957"/>
            <a:ext cx="0" cy="5204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1652699" y="2253958"/>
            <a:ext cx="21633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14740" y="2291916"/>
            <a:ext cx="0" cy="7004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587765" y="2147968"/>
            <a:ext cx="0" cy="19599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565400" y="212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3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2214257" y="987806"/>
            <a:ext cx="131821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73362" y="987806"/>
            <a:ext cx="6650" cy="4984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652699" y="1486241"/>
            <a:ext cx="12273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14740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16002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 flipV="1">
            <a:off x="2880012" y="1448283"/>
            <a:ext cx="0" cy="379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80012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85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880012" y="1486241"/>
            <a:ext cx="122731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145284" y="1524199"/>
            <a:ext cx="0" cy="19555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1275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3200" y="8509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11"/>
                </a:moveTo>
                <a:lnTo>
                  <a:pt x="21" y="9"/>
                </a:lnTo>
                <a:lnTo>
                  <a:pt x="20" y="7"/>
                </a:lnTo>
                <a:lnTo>
                  <a:pt x="19" y="5"/>
                </a:lnTo>
                <a:lnTo>
                  <a:pt x="18" y="3"/>
                </a:lnTo>
                <a:lnTo>
                  <a:pt x="16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7"/>
                </a:lnTo>
                <a:lnTo>
                  <a:pt x="0" y="9"/>
                </a:lnTo>
                <a:lnTo>
                  <a:pt x="0" y="11"/>
                </a:lnTo>
                <a:lnTo>
                  <a:pt x="0" y="13"/>
                </a:lnTo>
                <a:lnTo>
                  <a:pt x="0" y="15"/>
                </a:lnTo>
                <a:lnTo>
                  <a:pt x="1" y="17"/>
                </a:lnTo>
                <a:lnTo>
                  <a:pt x="3" y="18"/>
                </a:lnTo>
                <a:lnTo>
                  <a:pt x="4" y="20"/>
                </a:lnTo>
                <a:lnTo>
                  <a:pt x="6" y="21"/>
                </a:lnTo>
                <a:lnTo>
                  <a:pt x="8" y="21"/>
                </a:lnTo>
                <a:lnTo>
                  <a:pt x="10" y="22"/>
                </a:lnTo>
                <a:lnTo>
                  <a:pt x="12" y="21"/>
                </a:lnTo>
                <a:lnTo>
                  <a:pt x="14" y="21"/>
                </a:lnTo>
                <a:lnTo>
                  <a:pt x="16" y="20"/>
                </a:lnTo>
                <a:lnTo>
                  <a:pt x="18" y="18"/>
                </a:lnTo>
                <a:lnTo>
                  <a:pt x="19" y="17"/>
                </a:lnTo>
                <a:lnTo>
                  <a:pt x="20" y="15"/>
                </a:lnTo>
                <a:lnTo>
                  <a:pt x="21" y="13"/>
                </a:lnTo>
                <a:lnTo>
                  <a:pt x="21" y="11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6567" y="926456"/>
            <a:ext cx="40888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581158" y="926456"/>
            <a:ext cx="22042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670173" y="1786793"/>
            <a:ext cx="31152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18220" y="1786793"/>
            <a:ext cx="43671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34521" y="1786793"/>
            <a:ext cx="185087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Child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1507" y="2356375"/>
            <a:ext cx="44338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27222" y="2359220"/>
            <a:ext cx="34581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819474" y="914174"/>
            <a:ext cx="29659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+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study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organisms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741" y="3150918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9372" y="3150694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Swarm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originates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study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organisms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birds,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etc.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741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organisms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suggests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4626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simple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interaction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individuals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observation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1833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efficient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clustering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38" y="3150918"/>
            <a:ext cx="87265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9368" y="3150694"/>
            <a:ext cx="146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5" y="2843073"/>
            <a:ext cx="201597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85" y="822911"/>
            <a:ext cx="1511994" cy="71192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24313" y="0"/>
            <a:ext cx="1270" cy="127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689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(PSO)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flocks.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242" y="2893574"/>
            <a:ext cx="53271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extracted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“Comparison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among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evolutionary-based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optimization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algorithms”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Elbeltagi et al.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3015330"/>
            <a:ext cx="5425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(2005)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2741" y="3150918"/>
            <a:ext cx="8726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8686" y="3150694"/>
            <a:ext cx="146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2843073"/>
            <a:ext cx="201597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85" y="822911"/>
            <a:ext cx="1511994" cy="71192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85" y="1917884"/>
            <a:ext cx="1511994" cy="84752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689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Particle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swarm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(PSO)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flocks.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66186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colony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(ACO)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foraging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behaviour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ants.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8240" y="2893574"/>
            <a:ext cx="53271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Images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extracted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“Comparison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among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evolutionary-based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optimization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algorithms”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Elbeltagi et al.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3015330"/>
            <a:ext cx="54254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(2005)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2740" y="3150918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8684" y="3150694"/>
            <a:ext cx="1467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5697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290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interconnected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mimic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5697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biological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290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interconnected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8919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read,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write,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watch,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smell,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daily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life,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synapses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0639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weaken.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“food”,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immediate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2360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impressions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your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2740" y="3150916"/>
            <a:ext cx="8726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38532" y="3150692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25679" y="1650987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1447800" y="162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H="1">
            <a:off x="1125679" y="2030568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4478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1125679" y="2410150"/>
            <a:ext cx="3346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447800" y="238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1743798" y="1465882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7051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743798" y="1650987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7051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743798" y="1650987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05100" y="218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743798" y="1650987"/>
            <a:ext cx="988740" cy="93160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7051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743798" y="1473649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705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743798" y="1845463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7051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743798" y="2030568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705100" y="219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3798" y="2030568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705100" y="256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743798" y="1478548"/>
            <a:ext cx="988740" cy="9316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705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1743798" y="1853230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7051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1743798" y="2225044"/>
            <a:ext cx="982290" cy="1851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705100" y="220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743798" y="2410150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7051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09070" y="1461196"/>
            <a:ext cx="985129" cy="5569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9751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3009070" y="1840777"/>
            <a:ext cx="982290" cy="18510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9751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3009070" y="2035254"/>
            <a:ext cx="982290" cy="1851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3975100" y="2019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3009070" y="2043021"/>
            <a:ext cx="985129" cy="55691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39751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274341" y="2030568"/>
            <a:ext cx="33470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4597400" y="2006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9" name="Picture 7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Artificial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7567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02879" y="1136235"/>
            <a:ext cx="44825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17774" y="1136235"/>
            <a:ext cx="326762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hidden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90720" y="1136235"/>
            <a:ext cx="19946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42558" y="3150693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13551" y="1599646"/>
            <a:ext cx="341746" cy="3417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2400300" y="191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1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27305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2476505" y="2093377"/>
            <a:ext cx="8637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24511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2"/>
                </a:lnTo>
                <a:lnTo>
                  <a:pt x="3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3274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3033107" y="1599646"/>
            <a:ext cx="361831" cy="3618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3655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4"/>
                </a:moveTo>
                <a:lnTo>
                  <a:pt x="3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30099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0" y="0"/>
                </a:moveTo>
                <a:lnTo>
                  <a:pt x="2" y="3"/>
                </a:lnTo>
                <a:lnTo>
                  <a:pt x="2" y="1"/>
                </a:lnTo>
                <a:lnTo>
                  <a:pt x="4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3" y="105406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paradigms.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2064" y="1399391"/>
            <a:ext cx="29833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7684" y="2031572"/>
            <a:ext cx="3637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46538" y="2032029"/>
            <a:ext cx="2338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39675" y="3150693"/>
            <a:ext cx="1457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Progression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projection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Dartmouth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College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Artificial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Intelligence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Conference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8116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through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AI@50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39551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Reflections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1956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653627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2006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1911742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Projections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2056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12740" y="3150917"/>
            <a:ext cx="8726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01 Introduction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labs connect core CI algorithms with physical-AI simulation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Isaac Sim examples use its bundled Python 3.12 environment and current launchers.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Every simulator-dependent example includes a CPU/Matplotlib learning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Introduction - presentation</dc:title>
  <dc:subject>Editable objects converted from 01 Introduction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