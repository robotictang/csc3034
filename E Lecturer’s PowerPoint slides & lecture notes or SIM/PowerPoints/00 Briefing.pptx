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5759996" cy="3239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862" y="1709649"/>
            <a:ext cx="1587500" cy="19329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862" y="1709646"/>
            <a:ext cx="1587500" cy="206885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5862" y="1709646"/>
            <a:ext cx="1587500" cy="220474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5862" y="1709647"/>
            <a:ext cx="1587500" cy="23406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862" y="1709648"/>
            <a:ext cx="1587500" cy="24765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862" y="1709648"/>
            <a:ext cx="1587500" cy="26124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862" y="1709648"/>
            <a:ext cx="1587500" cy="26124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862" y="1709648"/>
            <a:ext cx="1587500" cy="26124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72" y="63277"/>
            <a:ext cx="575962" cy="23150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158" y="88661"/>
            <a:ext cx="575974" cy="2061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1225" y="918848"/>
            <a:ext cx="5324170" cy="4067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003373"/>
                </a:solidFill>
                <a:latin typeface="Josefin Sans"/>
              </a:rPr>
              <a:t>Briefing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for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Semester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2026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September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25" y="1255046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5A7D"/>
                </a:solidFill>
                <a:latin typeface="Josefin Sans"/>
              </a:rPr>
              <a:t>CSC3034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Computational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25" y="1740729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Dr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Richard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Wong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0680" y="3150917"/>
            <a:ext cx="8447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78690" y="3150693"/>
            <a:ext cx="1067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262" y="1728317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262" y="1741906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262" y="1755495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262" y="1769084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262" y="1782673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262" y="1796262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262" y="1796262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262" y="1796262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8567" y="845461"/>
            <a:ext cx="2256828" cy="4067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6" b="0">
                <a:solidFill>
                  <a:srgbClr val="00337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" y="3151099"/>
            <a:ext cx="2870177" cy="88899"/>
          </a:xfrm>
          <a:prstGeom prst="rect">
            <a:avLst/>
          </a:prstGeom>
          <a:solidFill>
            <a:srgbClr val="0D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70219" y="3151099"/>
            <a:ext cx="2889227" cy="88899"/>
          </a:xfrm>
          <a:prstGeom prst="rect">
            <a:avLst/>
          </a:prstGeom>
          <a:solidFill>
            <a:srgbClr val="1A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7840" y="176020"/>
            <a:ext cx="5607514" cy="3543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9" b="1">
                <a:solidFill>
                  <a:srgbClr val="914300"/>
                </a:solidFill>
                <a:latin typeface="Arial"/>
              </a:rPr>
              <a:t>My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25" y="1093969"/>
            <a:ext cx="3753328" cy="2755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9" b="1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30" y="1515034"/>
            <a:ext cx="4375623" cy="2165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9" b="0">
                <a:solidFill>
                  <a:srgbClr val="1F1F1F"/>
                </a:solidFill>
                <a:latin typeface="Arial"/>
              </a:rPr>
              <a:t>Current contact details are available on the CSC3034 course site.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9024" y="1872536"/>
            <a:ext cx="3626329" cy="1771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9" b="0">
                <a:solidFill>
                  <a:srgbClr val="1F1F1F"/>
                </a:solidFill>
                <a:latin typeface="Arial"/>
              </a:rPr>
              <a:t>Department of Computing and Information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9993" y="1875231"/>
            <a:ext cx="2269972" cy="189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29979" y="1875231"/>
            <a:ext cx="677811" cy="18978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07790" y="1875231"/>
            <a:ext cx="697407" cy="18978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05185" y="1875231"/>
            <a:ext cx="697407" cy="18978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2593" y="1875231"/>
            <a:ext cx="697407" cy="18978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9993" y="2065020"/>
            <a:ext cx="2269972" cy="189788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29979" y="2065020"/>
            <a:ext cx="677811" cy="189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07790" y="2065020"/>
            <a:ext cx="697407" cy="189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05185" y="2065020"/>
            <a:ext cx="697407" cy="189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2593" y="2065020"/>
            <a:ext cx="697407" cy="189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9993" y="2254808"/>
            <a:ext cx="2269972" cy="189788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29979" y="2254808"/>
            <a:ext cx="677811" cy="1897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07790" y="2254808"/>
            <a:ext cx="697407" cy="1897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5185" y="2254808"/>
            <a:ext cx="697407" cy="1897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02593" y="2254808"/>
            <a:ext cx="697407" cy="1897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9993" y="2444597"/>
            <a:ext cx="2269972" cy="189788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29979" y="2444597"/>
            <a:ext cx="677811" cy="189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07790" y="2444597"/>
            <a:ext cx="697407" cy="189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005185" y="2444597"/>
            <a:ext cx="697407" cy="189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02593" y="2444597"/>
            <a:ext cx="697407" cy="189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9993" y="2634386"/>
            <a:ext cx="2269972" cy="189788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29979" y="2634386"/>
            <a:ext cx="677811" cy="1897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07790" y="2634386"/>
            <a:ext cx="697407" cy="1897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005185" y="2634386"/>
            <a:ext cx="697407" cy="1897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02593" y="2634386"/>
            <a:ext cx="697407" cy="1897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Learning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Outcomes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9993" y="69328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subject,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0057" y="907629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CLO1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implement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appropriate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CI-based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problems,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0057" y="116574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CLO2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implement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appropriate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hybrid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computational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7094" y="138158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problem,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0056" y="159593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CLO3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quality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solutions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appropriate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metrics.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05886" y="1907059"/>
            <a:ext cx="307950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FFFFFF"/>
                </a:solidFill>
                <a:latin typeface="Josefin Sans"/>
              </a:rPr>
              <a:t>Weightage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16147" y="1907059"/>
            <a:ext cx="226924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FFFFFF"/>
                </a:solidFill>
                <a:latin typeface="Josefin Sans"/>
              </a:rPr>
              <a:t>CLO1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02607" y="1907059"/>
            <a:ext cx="158278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FFFFFF"/>
                </a:solidFill>
                <a:latin typeface="Josefin Sans"/>
              </a:rPr>
              <a:t>CLO2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99278" y="1907059"/>
            <a:ext cx="88611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FFFFFF"/>
                </a:solidFill>
                <a:latin typeface="Josefin Sans"/>
              </a:rPr>
              <a:t>CLO3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5776" y="2096848"/>
            <a:ext cx="497961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FFFFFF"/>
                </a:solidFill>
                <a:latin typeface="Josefin Sans"/>
              </a:rPr>
              <a:t>Group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Assignment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1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(Fuzzy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systems)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04769" y="2096848"/>
            <a:ext cx="288062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09047" y="2073879"/>
            <a:ext cx="217634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MSAM10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0711" y="2286637"/>
            <a:ext cx="506468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FFFFFF"/>
                </a:solidFill>
                <a:latin typeface="Josefin Sans"/>
              </a:rPr>
              <a:t>Group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Assignment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2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(Hybrid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systems)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15703" y="2286637"/>
            <a:ext cx="286969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06442" y="2263668"/>
            <a:ext cx="147895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MSAM10"/>
              </a:rP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914" y="2476426"/>
            <a:ext cx="53494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FFFFFF"/>
                </a:solidFill>
                <a:latin typeface="Josefin Sans"/>
              </a:rPr>
              <a:t>Quiz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(Hybrid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Performance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metrics)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04769" y="2476426"/>
            <a:ext cx="288062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06442" y="2453457"/>
            <a:ext cx="147895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MSAM10"/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03850" y="2453457"/>
            <a:ext cx="78154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MSAM10"/>
              </a:rP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84298" y="2666214"/>
            <a:ext cx="410109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FFFFFF"/>
                </a:solidFill>
                <a:latin typeface="Josefin Sans"/>
              </a:rPr>
              <a:t>Final</a:t>
            </a:r>
            <a:r>
              <a:rPr sz="896" b="0">
                <a:solidFill>
                  <a:srgbClr val="FFFFFF"/>
                </a:solidFill>
                <a:latin typeface="Josefin Sans"/>
              </a:rPr>
              <a:t> </a:t>
            </a:r>
            <a:r>
              <a:rPr sz="896" b="0">
                <a:solidFill>
                  <a:srgbClr val="FFFFFF"/>
                </a:solidFill>
                <a:latin typeface="Josefin Sans"/>
              </a:rPr>
              <a:t>Examination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03638" y="2666214"/>
            <a:ext cx="288175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50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09047" y="2643245"/>
            <a:ext cx="217634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MSAM10"/>
              </a:rP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06442" y="2643245"/>
            <a:ext cx="147895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MSAM10"/>
              </a:rPr>
              <a:t>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03850" y="2643245"/>
            <a:ext cx="78154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MSAM10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40680" y="3150917"/>
            <a:ext cx="8447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3133" y="3150693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9993" y="744986"/>
            <a:ext cx="473644" cy="12191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3638" y="744986"/>
            <a:ext cx="1920948" cy="12191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54595" y="744986"/>
            <a:ext cx="443450" cy="12191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98037" y="744986"/>
            <a:ext cx="1047634" cy="12191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45681" y="744986"/>
            <a:ext cx="1154561" cy="12191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9993" y="866905"/>
            <a:ext cx="17584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5847" y="866905"/>
            <a:ext cx="29780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3638" y="866905"/>
            <a:ext cx="1920948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54595" y="866905"/>
            <a:ext cx="44345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98037" y="866905"/>
            <a:ext cx="104763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45681" y="866905"/>
            <a:ext cx="1154561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9993" y="988815"/>
            <a:ext cx="17584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5847" y="988815"/>
            <a:ext cx="29780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3638" y="988815"/>
            <a:ext cx="1920948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54595" y="988815"/>
            <a:ext cx="44345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98037" y="988815"/>
            <a:ext cx="104763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45681" y="988815"/>
            <a:ext cx="1154561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59993" y="1110735"/>
            <a:ext cx="17584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5847" y="1110735"/>
            <a:ext cx="29780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3638" y="1110735"/>
            <a:ext cx="1920948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54595" y="1110735"/>
            <a:ext cx="44345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98037" y="1110735"/>
            <a:ext cx="104763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45681" y="1110735"/>
            <a:ext cx="1154561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9993" y="1232654"/>
            <a:ext cx="17584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35847" y="1232654"/>
            <a:ext cx="29780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3638" y="1232654"/>
            <a:ext cx="1920948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54595" y="1232654"/>
            <a:ext cx="44345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98037" y="1232654"/>
            <a:ext cx="104763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45681" y="1232654"/>
            <a:ext cx="1154561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9993" y="1354564"/>
            <a:ext cx="17584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5847" y="1354564"/>
            <a:ext cx="29780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3638" y="1354564"/>
            <a:ext cx="1920948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54595" y="1354564"/>
            <a:ext cx="44345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198037" y="1354564"/>
            <a:ext cx="104763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45681" y="1354564"/>
            <a:ext cx="1154561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9993" y="1476483"/>
            <a:ext cx="17584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5847" y="1476483"/>
            <a:ext cx="29780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33638" y="1476483"/>
            <a:ext cx="1920948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54595" y="1476483"/>
            <a:ext cx="44345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198037" y="1476483"/>
            <a:ext cx="104763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45681" y="1476483"/>
            <a:ext cx="1154561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59993" y="1598394"/>
            <a:ext cx="3885678" cy="121919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45681" y="1598394"/>
            <a:ext cx="1154561" cy="121919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59993" y="1720313"/>
            <a:ext cx="17584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35847" y="1720313"/>
            <a:ext cx="29780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3638" y="1720313"/>
            <a:ext cx="1920948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754595" y="1720313"/>
            <a:ext cx="44345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198037" y="1720313"/>
            <a:ext cx="104763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245681" y="1720313"/>
            <a:ext cx="1154561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9993" y="1842223"/>
            <a:ext cx="17584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35847" y="1842223"/>
            <a:ext cx="29780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3638" y="1842223"/>
            <a:ext cx="1920948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54595" y="1842223"/>
            <a:ext cx="44345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98037" y="1842223"/>
            <a:ext cx="104763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245681" y="1842223"/>
            <a:ext cx="1154561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59993" y="1964142"/>
            <a:ext cx="17584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35847" y="1964142"/>
            <a:ext cx="29780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3638" y="1964142"/>
            <a:ext cx="1920948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754595" y="1964142"/>
            <a:ext cx="44345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198037" y="1964142"/>
            <a:ext cx="104763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245681" y="1964142"/>
            <a:ext cx="1154561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59993" y="2086052"/>
            <a:ext cx="17584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35847" y="2086052"/>
            <a:ext cx="29780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33638" y="2086052"/>
            <a:ext cx="1920948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754595" y="2086052"/>
            <a:ext cx="44345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198037" y="2086052"/>
            <a:ext cx="104763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245681" y="2086052"/>
            <a:ext cx="1154561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59993" y="2207971"/>
            <a:ext cx="17584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35847" y="2207971"/>
            <a:ext cx="29780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33638" y="2207971"/>
            <a:ext cx="1920948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754595" y="2207971"/>
            <a:ext cx="44345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198037" y="2207971"/>
            <a:ext cx="104763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245681" y="2207971"/>
            <a:ext cx="1154561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59993" y="2329881"/>
            <a:ext cx="17584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35847" y="2329881"/>
            <a:ext cx="29780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33638" y="2329881"/>
            <a:ext cx="1920948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754595" y="2329881"/>
            <a:ext cx="44345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198037" y="2329881"/>
            <a:ext cx="104763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245681" y="2329881"/>
            <a:ext cx="1154561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59993" y="2451801"/>
            <a:ext cx="17584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35847" y="2451801"/>
            <a:ext cx="29780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33638" y="2451801"/>
            <a:ext cx="1920948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754595" y="2451801"/>
            <a:ext cx="443450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198037" y="2451801"/>
            <a:ext cx="1047634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245681" y="2451801"/>
            <a:ext cx="1154561" cy="121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9993" y="2573720"/>
            <a:ext cx="17584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35847" y="2573720"/>
            <a:ext cx="29780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33638" y="2573720"/>
            <a:ext cx="1920948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754595" y="2573720"/>
            <a:ext cx="443450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198037" y="2573720"/>
            <a:ext cx="1047634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245681" y="2573720"/>
            <a:ext cx="1154561" cy="121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59993" y="2695630"/>
            <a:ext cx="5040239" cy="158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0" name="Picture 1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31" name="Picture 1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Plan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7239" y="765645"/>
            <a:ext cx="5278156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1">
                <a:solidFill>
                  <a:srgbClr val="FFFFFF"/>
                </a:solidFill>
                <a:latin typeface="Josefin Sans"/>
              </a:rPr>
              <a:t>Week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85649" y="765645"/>
            <a:ext cx="4199747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1">
                <a:solidFill>
                  <a:srgbClr val="FFFFFF"/>
                </a:solidFill>
                <a:latin typeface="Josefin Sans"/>
              </a:rPr>
              <a:t>Lecture</a:t>
            </a:r>
            <a:r>
              <a:rPr sz="568" b="1">
                <a:solidFill>
                  <a:srgbClr val="FFFFFF"/>
                </a:solidFill>
                <a:latin typeface="Josefin Sans"/>
              </a:rPr>
              <a:t> </a:t>
            </a:r>
            <a:r>
              <a:rPr sz="568" b="1">
                <a:solidFill>
                  <a:srgbClr val="FFFFFF"/>
                </a:solidFill>
                <a:latin typeface="Josefin Sans"/>
              </a:rPr>
              <a:t>(Fri)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895324" y="765645"/>
            <a:ext cx="2890072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1">
                <a:solidFill>
                  <a:srgbClr val="FFFFFF"/>
                </a:solidFill>
                <a:latin typeface="Josefin Sans"/>
              </a:rPr>
              <a:t>Date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88584" y="765645"/>
            <a:ext cx="2396811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1">
                <a:solidFill>
                  <a:srgbClr val="FFFFFF"/>
                </a:solidFill>
                <a:latin typeface="Josefin Sans"/>
              </a:rPr>
              <a:t>Practical</a:t>
            </a:r>
            <a:r>
              <a:rPr sz="568" b="1">
                <a:solidFill>
                  <a:srgbClr val="FFFFFF"/>
                </a:solidFill>
                <a:latin typeface="Josefin Sans"/>
              </a:rPr>
              <a:t> </a:t>
            </a:r>
            <a:r>
              <a:rPr sz="568" b="1">
                <a:solidFill>
                  <a:srgbClr val="FFFFFF"/>
                </a:solidFill>
                <a:latin typeface="Josefin Sans"/>
              </a:rPr>
              <a:t>(Mon/Thu)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6746" y="765645"/>
            <a:ext cx="108864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1">
                <a:solidFill>
                  <a:srgbClr val="FFFFFF"/>
                </a:solidFill>
                <a:latin typeface="Josefin Sans"/>
              </a:rPr>
              <a:t>Remark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36544" y="887351"/>
            <a:ext cx="5348851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90026" y="887351"/>
            <a:ext cx="519536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20/09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611981" y="887351"/>
            <a:ext cx="4173414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Introduction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854034" y="887351"/>
            <a:ext cx="2931361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16,19/09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703363" y="887351"/>
            <a:ext cx="2082032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474336" y="887351"/>
            <a:ext cx="131105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16-17/09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Malaysia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Day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29610" y="1009270"/>
            <a:ext cx="5355785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95193" y="1009270"/>
            <a:ext cx="5190202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27/09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775625" y="1009270"/>
            <a:ext cx="400977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–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840492" y="1009270"/>
            <a:ext cx="2944903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23,26/09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504648" y="1009270"/>
            <a:ext cx="2280747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Python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refresh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29138" y="1131180"/>
            <a:ext cx="5356257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97360" y="1131180"/>
            <a:ext cx="5188036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04/10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351174" y="1131180"/>
            <a:ext cx="4434221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[FZ]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logic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+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808775" y="1131180"/>
            <a:ext cx="297662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30/9,03/10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703363" y="1131180"/>
            <a:ext cx="2082032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–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29211" y="1253099"/>
            <a:ext cx="5356184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15679" y="1253099"/>
            <a:ext cx="5169716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11/10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54102" y="1253099"/>
            <a:ext cx="4431293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[FZ]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849448" y="1253099"/>
            <a:ext cx="2935947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07,10/10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512126" y="1253099"/>
            <a:ext cx="227326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505400" y="1253099"/>
            <a:ext cx="1279995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11/10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Asgm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1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briefing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28884" y="1375010"/>
            <a:ext cx="5356511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08491" y="1375010"/>
            <a:ext cx="5176904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18/10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422703" y="1375010"/>
            <a:ext cx="4362692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[EC]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Genetic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algorithms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864078" y="1375010"/>
            <a:ext cx="2921317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14,17/10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703363" y="1375010"/>
            <a:ext cx="2082032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–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28812" y="1496929"/>
            <a:ext cx="5356583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01085" y="1496929"/>
            <a:ext cx="518431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87826" y="1496929"/>
            <a:ext cx="489756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[EC]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optimisation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+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Ant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colony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856564" y="1496929"/>
            <a:ext cx="2928832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21,24/10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434932" y="1496929"/>
            <a:ext cx="2350463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Genetic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algorithms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870196" y="1618839"/>
            <a:ext cx="391519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28/10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–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01/11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Mid-sem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break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80755" y="1618839"/>
            <a:ext cx="120464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31/10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Deepavali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30725" y="1740758"/>
            <a:ext cx="5354671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08491" y="1740758"/>
            <a:ext cx="5176904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08/11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294466" y="1740758"/>
            <a:ext cx="449093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[ANN]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Artificial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853101" y="1740758"/>
            <a:ext cx="2932295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04,07/11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301781" y="1740758"/>
            <a:ext cx="2483614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483727" y="1740758"/>
            <a:ext cx="1301668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08/11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Asgm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1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deadline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29356" y="1862668"/>
            <a:ext cx="535603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18997" y="1862668"/>
            <a:ext cx="5166398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15/11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166808" y="1862668"/>
            <a:ext cx="4618587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[ANN]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Unsupervised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ANN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880875" y="1862668"/>
            <a:ext cx="290452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11,14/11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362034" y="1862668"/>
            <a:ext cx="2423361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Ant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colony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28812" y="1984587"/>
            <a:ext cx="5356583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12788" y="1984587"/>
            <a:ext cx="5172608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22/11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277052" y="1984587"/>
            <a:ext cx="4508343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[ANN]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Recurrent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874085" y="1984587"/>
            <a:ext cx="291131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18,21/11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252225" y="1984587"/>
            <a:ext cx="253317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Supervised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ANN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495574" y="1984587"/>
            <a:ext cx="1289821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22/11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Asgm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2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briefing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14182" y="2106497"/>
            <a:ext cx="5371213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11990" y="2106497"/>
            <a:ext cx="5173405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29/11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564337" y="2106497"/>
            <a:ext cx="4221058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Hybrid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859491" y="2106497"/>
            <a:ext cx="2925904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25,28/11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409641" y="2106497"/>
            <a:ext cx="2375754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Hyperplane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in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ANN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25159" y="2228417"/>
            <a:ext cx="5360236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11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01013" y="2228417"/>
            <a:ext cx="5184382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06/12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483282" y="2228417"/>
            <a:ext cx="4302113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844716" y="2228417"/>
            <a:ext cx="294067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02,05/12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65670" y="2228417"/>
            <a:ext cx="2319725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ANN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Keras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469314" y="2228417"/>
            <a:ext cx="1316081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06/12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Asgm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2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deadline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18224" y="2350336"/>
            <a:ext cx="5367171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12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12316" y="2350336"/>
            <a:ext cx="517307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13/12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483925" y="2350336"/>
            <a:ext cx="430147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Summary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+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Revision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855629" y="2350336"/>
            <a:ext cx="2929766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09,12/12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411019" y="2350336"/>
            <a:ext cx="2374376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299860" y="2350336"/>
            <a:ext cx="1485535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11/12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Sultan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of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Selangor’s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Birthday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17762" y="2472246"/>
            <a:ext cx="5367633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13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01801" y="2472246"/>
            <a:ext cx="5183594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20/12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721147" y="2472246"/>
            <a:ext cx="406424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Quiz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865818" y="2472246"/>
            <a:ext cx="2919577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16,19/12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703363" y="2472246"/>
            <a:ext cx="2082032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–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17835" y="2594165"/>
            <a:ext cx="536756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14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06968" y="2594165"/>
            <a:ext cx="5178427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27/12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775625" y="2594165"/>
            <a:ext cx="400977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–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852266" y="2594165"/>
            <a:ext cx="293312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23,26/12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703363" y="2594165"/>
            <a:ext cx="2082032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–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507096" y="2594165"/>
            <a:ext cx="1278299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25/12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Christmas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Day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135653" y="2734141"/>
            <a:ext cx="4649742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FZ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336569" y="2734141"/>
            <a:ext cx="4448826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307844" y="2734141"/>
            <a:ext cx="3477551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EC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512300" y="2734141"/>
            <a:ext cx="3273095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computations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483575" y="2734141"/>
            <a:ext cx="2301820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ANN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761721" y="2734141"/>
            <a:ext cx="2023674" cy="1119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8" b="0">
                <a:solidFill>
                  <a:srgbClr val="000000"/>
                </a:solidFill>
                <a:latin typeface="Josefin Sans"/>
              </a:rPr>
              <a:t>Artificial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568" b="0">
                <a:solidFill>
                  <a:srgbClr val="000000"/>
                </a:solidFill>
                <a:latin typeface="Josefin Sans"/>
              </a:rPr>
              <a:t> </a:t>
            </a:r>
            <a:r>
              <a:rPr sz="568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940680" y="3150917"/>
            <a:ext cx="8447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663285" y="3150693"/>
            <a:ext cx="1221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900" y="1117600"/>
            <a:ext cx="17907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81200" y="1104900"/>
            <a:ext cx="3683000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68500" y="1104900"/>
            <a:ext cx="2298700" cy="215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Delivery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and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Attendance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13926" y="902697"/>
            <a:ext cx="317146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Lectures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25381" y="1524565"/>
            <a:ext cx="306001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Labs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41092" y="1769074"/>
            <a:ext cx="374430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Face-to-face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sessions: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Tang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Tiong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Yew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9244" y="1994283"/>
            <a:ext cx="415615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Lab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sheets: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92095" y="2371655"/>
            <a:ext cx="36933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Materials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through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elearn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40680" y="3150917"/>
            <a:ext cx="8447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2599" y="3150693"/>
            <a:ext cx="1227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09800" y="2002307"/>
            <a:ext cx="3575596" cy="157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F1F1F"/>
                </a:solidFill>
                <a:latin typeface="Courier"/>
              </a:rPr>
              <a:t>https://robotictang.github.io/CSC3034/docs/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19300" y="1129919"/>
            <a:ext cx="3766096" cy="165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Arial"/>
              </a:rPr>
              <a:t>Tuesday 14:00 - 16:00 Uni Lecture Threater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900" y="1117600"/>
            <a:ext cx="17907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93900" y="1117600"/>
            <a:ext cx="179070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81200" y="1104900"/>
            <a:ext cx="3683000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81200" y="1041400"/>
            <a:ext cx="22860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What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if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have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3914" y="815512"/>
            <a:ext cx="34214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Microsoft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Teams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13926" y="1437380"/>
            <a:ext cx="317146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Lectures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7016" y="1834039"/>
            <a:ext cx="39983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Face-to-face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sessions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practicals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90191" y="2078535"/>
            <a:ext cx="399520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Session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1: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Thursday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·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10:00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–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12:00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(UW-2-8)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43963" y="2303757"/>
            <a:ext cx="404143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Session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2: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Monday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·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10:00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–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12:00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(SW-CL1-9)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60816" y="2528966"/>
            <a:ext cx="402457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Session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3: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Thursday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·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08:00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–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10:00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(UW-2-8)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40680" y="3150917"/>
            <a:ext cx="8447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2447" y="3150693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64410" y="1035939"/>
            <a:ext cx="3520986" cy="165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>
                <a:solidFill>
                  <a:srgbClr val="000000"/>
                </a:solidFill>
                <a:latin typeface="Arial"/>
              </a:rPr>
              <a:t>Post in respective channel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References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155" y="959373"/>
            <a:ext cx="527224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1.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Lucci,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&amp;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Kopec,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(2016).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Artificial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Intelligence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21st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Century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–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2nd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ed.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Mercury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5" y="1098552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299" y="1288341"/>
            <a:ext cx="529409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2.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Negnevitsky,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(2005).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Artificial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Intelligence: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Guide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Intelligent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Systems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–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2nd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ed.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Addison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5" y="1427520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Wesley.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3" y="1617309"/>
            <a:ext cx="529558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3.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Engelbrecht,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(2007).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Intelligence: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Introduction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–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2nd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ed.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Wiley.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041" y="1807098"/>
            <a:ext cx="529535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4.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Konar,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(2005).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Intelligence: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Principles,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Techniques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Applications.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Springer.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013" y="1996886"/>
            <a:ext cx="529638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5.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Rutkowski,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(2010).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Intelligence: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Methods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Techniques.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Springer.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784" y="2186675"/>
            <a:ext cx="529661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6.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Eberhart,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&amp;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Shi,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Y.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(2007).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Intelligence: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Concepts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Implementations.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Morgan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95" y="2325854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Kaufmann,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Elsevier.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40680" y="3150917"/>
            <a:ext cx="8447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6473" y="3150693"/>
            <a:ext cx="11892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9284" y="479056"/>
            <a:ext cx="4181140" cy="1434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8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284" y="722056"/>
            <a:ext cx="4181140" cy="2391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4" b="1">
                <a:solidFill>
                  <a:srgbClr val="0D3361"/>
                </a:solidFill>
                <a:latin typeface="Arial"/>
              </a:rPr>
              <a:t>00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284" y="1027928"/>
            <a:ext cx="4181140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998" y="1367356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delivery: eight practicals scheduled from Week 2 to Week 12.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998" y="1629642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Isaac Sim 6.0 uses workstation archives; Omniverse Launcher is retired.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998" y="1891927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CPU/Matplotlib fallbacks remain available when an RTX workstation is unavailable.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284" y="2670916"/>
            <a:ext cx="4181140" cy="1315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8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284" y="2856791"/>
            <a:ext cx="4181140" cy="1076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6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 Briefing</dc:title>
  <dc:subject>Editable objects converted from 00 Briefing.pdf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