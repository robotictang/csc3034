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7560005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984095" y="2373617"/>
            <a:ext cx="359180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986635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443645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499243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569523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573369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84095" y="2606433"/>
            <a:ext cx="359180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986635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43645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499243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569523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73369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86635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443645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99243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69523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573369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86635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443645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99243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69523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573369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86635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43645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499243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69523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573369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986635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443645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499243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569523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573369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986635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443645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499243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69523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573369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986635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43645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499243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69523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573369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86635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43645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99243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69523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573369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986635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443645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499243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569523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573369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986635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443645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99243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569523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73369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86635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443645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99243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569523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73369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986635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443645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99243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569523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573369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986635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443645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499243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569523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573369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986635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443645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499243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69523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573369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986635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443645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499243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569523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573369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984095" y="6027674"/>
            <a:ext cx="359180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05456" y="7167041"/>
            <a:ext cx="31490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207983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263582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333862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352008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205456" y="7399845"/>
            <a:ext cx="31490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07983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263582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333862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352008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07983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263582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333862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352008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207983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63582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333862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352008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207983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263582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333862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52008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205456" y="8315897"/>
            <a:ext cx="31490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20416" y="922857"/>
            <a:ext cx="5064988" cy="235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000000"/>
                </a:solidFill>
                <a:latin typeface="Roboto Bold"/>
              </a:rPr>
              <a:t>CSC3034 Computational Intelligence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75038" y="1099997"/>
            <a:ext cx="4810366" cy="235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000000"/>
                </a:solidFill>
                <a:latin typeface="Roboto Bold"/>
              </a:rPr>
              <a:t>Tutorial Performance Metrics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6904" y="1397447"/>
            <a:ext cx="65985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Percent correct.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 neural network has been designed to distinguish between four classes, A, B, C, and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5697" y="154928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D. The neural network has two output neurons with the sigmoid activation function.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raw values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5697" y="170111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from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output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neurons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sets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input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data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recorded.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expected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class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each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35697" y="1852946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input data set is provided alongside with the raw values in Table 1.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34755" y="2213917"/>
            <a:ext cx="5150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1: Raw output values and expected classes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65070" y="2436598"/>
            <a:ext cx="55203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22080" y="2436598"/>
            <a:ext cx="50633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577691" y="2436598"/>
            <a:ext cx="4007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47958" y="2436598"/>
            <a:ext cx="29374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87422" y="2669415"/>
            <a:ext cx="53979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14993" y="2669415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76725" y="2669415"/>
            <a:ext cx="37086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30380" y="2669415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80082" y="2897152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29674" y="2897152"/>
            <a:ext cx="47557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77932" y="2897152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31968" y="2897152"/>
            <a:ext cx="25534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80082" y="3124900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13215" y="3124900"/>
            <a:ext cx="4772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77932" y="3124900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032730" y="3124900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80082" y="3352649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14421" y="3352649"/>
            <a:ext cx="47709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77932" y="3352649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31968" y="3352649"/>
            <a:ext cx="25534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80082" y="3580398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14993" y="3580398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77360" y="3580398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32730" y="3580398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80082" y="3808134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21127" y="3808134"/>
            <a:ext cx="47642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76725" y="3808134"/>
            <a:ext cx="37086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30380" y="3808134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83688" y="4035884"/>
            <a:ext cx="54017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18599" y="4035884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885272" y="4035884"/>
            <a:ext cx="3700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030076" y="4035884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80082" y="4263633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14993" y="4263633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77360" y="4263633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31968" y="4263633"/>
            <a:ext cx="25534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179523" y="4491382"/>
            <a:ext cx="54058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818599" y="4491382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880967" y="4491382"/>
            <a:ext cx="37044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032730" y="4491382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51176" y="4719118"/>
            <a:ext cx="54342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18599" y="4719118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877360" y="4719118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30076" y="4719118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59711" y="4946868"/>
            <a:ext cx="54256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14993" y="4946868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877932" y="4946868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030076" y="4946868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52383" y="5174617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813215" y="5174617"/>
            <a:ext cx="4772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77360" y="5174617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030380" y="5174617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52383" y="5402366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813850" y="5402366"/>
            <a:ext cx="47715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81539" y="5402366"/>
            <a:ext cx="37038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032730" y="5402366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152383" y="5630102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18599" y="5630102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77360" y="5630102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030076" y="5630102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152383" y="5857851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818599" y="5857851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877932" y="5857851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030380" y="5857851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35697" y="619250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To determine the predicted class of a set of input data, the raw values of the output neurons need to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35697" y="634435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be translated into a boolean value using a threshold. A raw value above the threshold is translated to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35697" y="649617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SFTT1000"/>
              </a:rPr>
              <a:t>True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, otherwise, to</a:t>
            </a:r>
            <a:r>
              <a:rPr sz="996" b="0">
                <a:solidFill>
                  <a:srgbClr val="000000"/>
                </a:solidFill>
                <a:latin typeface="SFTT1000"/>
              </a:rPr>
              <a:t> False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. The combination of the translated outputs provides the predicted class for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5697" y="664800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set of input data as shown in Table 2.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336444" y="7007341"/>
            <a:ext cx="52489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2: Predicted class based on translated outputs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286431" y="7230023"/>
            <a:ext cx="52989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342030" y="7230023"/>
            <a:ext cx="4243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412310" y="7230023"/>
            <a:ext cx="3173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588641" y="7462826"/>
            <a:ext cx="49967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651580" y="7462826"/>
            <a:ext cx="3933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803457" y="7462826"/>
            <a:ext cx="2781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588641" y="7690576"/>
            <a:ext cx="49967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674668" y="7690576"/>
            <a:ext cx="39107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04219" y="7690576"/>
            <a:ext cx="27811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611729" y="7918325"/>
            <a:ext cx="49736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651580" y="7918325"/>
            <a:ext cx="3933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801882" y="7918325"/>
            <a:ext cx="2783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611729" y="8146074"/>
            <a:ext cx="49736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674668" y="8146074"/>
            <a:ext cx="39107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801565" y="8146074"/>
            <a:ext cx="27838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752291" y="9997810"/>
            <a:ext cx="3833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19427" y="1300175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82195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27896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33456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40484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422988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26847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19427" y="1532991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2195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7896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3456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40484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22988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26847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2195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7896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3456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0484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22988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26847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2195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27896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33456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0484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22988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426847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2195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7896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3456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0484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422988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426847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82195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27896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3456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0484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422988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26847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2195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7896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3456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40484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422988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426847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2195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7896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3456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0484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422988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426847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82195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7896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3456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0484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22988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426847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2195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7896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3456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40484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422988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426847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82195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27896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33456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0484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422988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26847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82195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7896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33456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40484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422988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426847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82195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27896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33456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40484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422988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26847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2195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7896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33456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40484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422988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426847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2195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27896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33456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40484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422988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426847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82195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7896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33456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0484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422988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426847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819427" y="4954232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688613" y="5326659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603197" y="5009908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605737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605737" y="50203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50203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605737" y="5111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5111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605737" y="52032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52032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605737" y="5294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5294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605737" y="53861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53861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605737" y="54775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54775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605737" y="5569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5569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605737" y="566047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566047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605737" y="5751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5751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605737" y="58433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58433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605737" y="59348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59348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605737" y="6026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6026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05737" y="61177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61177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605737" y="6209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6209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605737" y="630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630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605737" y="63920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63920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605737" y="64834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64834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605737" y="6574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6574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605737" y="6666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6666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605737" y="67578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67578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605737" y="6849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6849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605737" y="69407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69407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605737" y="70321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70321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605737" y="7040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7040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603197" y="7134034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688613" y="7784820"/>
            <a:ext cx="6325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603197" y="7468069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605737" y="747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747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605737" y="74785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74785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605737" y="75699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75699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605737" y="76614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76614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605737" y="7752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7752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605737" y="78442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78442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605737" y="7935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7935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605737" y="80271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80271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605737" y="81186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81186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605737" y="82100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82100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605737" y="8301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8301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605737" y="83929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83929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605737" y="8484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8484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605737" y="8575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8575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605737" y="8667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8667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605737" y="87587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87587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605737" y="8850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8850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605737" y="894163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894163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605737" y="9033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9033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605737" y="91245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91245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605737" y="921598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921598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605737" y="93074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93074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605737" y="93988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93988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605737" y="9490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9490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605737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603197" y="959219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80109" y="941962"/>
            <a:ext cx="64052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(a)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 the threshold of</a:t>
            </a:r>
            <a:r>
              <a:rPr sz="996" b="1">
                <a:solidFill>
                  <a:srgbClr val="000000"/>
                </a:solidFill>
                <a:latin typeface="Roboto Bold"/>
              </a:rPr>
              <a:t> 0.5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, calculate the percent correct for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81480" y="1119101"/>
            <a:ext cx="61039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all the input data (overall percent correct)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900402" y="1363156"/>
            <a:ext cx="56850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357412" y="1363156"/>
            <a:ext cx="5227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413010" y="1363156"/>
            <a:ext cx="4172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483290" y="1363156"/>
            <a:ext cx="3102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501436" y="1363156"/>
            <a:ext cx="2083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022754" y="1595973"/>
            <a:ext cx="55626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650324" y="1595973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712057" y="1595973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872863" y="1595973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883859" y="1595973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015413" y="1823709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664993" y="1823709"/>
            <a:ext cx="49204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713264" y="18237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874450" y="1823709"/>
            <a:ext cx="2710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885446" y="1823709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015413" y="2051458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648546" y="2051458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13264" y="2051458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872863" y="2051458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886208" y="2051458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015413" y="227920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649753" y="2279207"/>
            <a:ext cx="4935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13264" y="2279207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874450" y="2279207"/>
            <a:ext cx="2710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885446" y="2279207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015413" y="250695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650324" y="2506957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712692" y="2506957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872863" y="2506957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886208" y="2506957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015413" y="2734692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656458" y="2734692"/>
            <a:ext cx="492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712057" y="2734692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872863" y="2734692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883859" y="2734692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019020" y="2962442"/>
            <a:ext cx="55663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653919" y="2962442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720591" y="2962442"/>
            <a:ext cx="38648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872545" y="2962442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883541" y="2962442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015413" y="3190191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650324" y="3190191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712692" y="3190191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874450" y="3190191"/>
            <a:ext cx="2710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5885446" y="3190191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014842" y="3417940"/>
            <a:ext cx="55705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653919" y="341794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716299" y="3417940"/>
            <a:ext cx="38691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875199" y="3417940"/>
            <a:ext cx="27102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886208" y="3417940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86508" y="3645676"/>
            <a:ext cx="55988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653919" y="3645676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712692" y="3645676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872545" y="3645676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83541" y="3645676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995042" y="3873425"/>
            <a:ext cx="5590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650324" y="3873425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713264" y="3873425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872545" y="3873425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883541" y="3873425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987702" y="4101175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648546" y="4101175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3712692" y="4101175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872863" y="4101175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883859" y="4101175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987702" y="4328924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649181" y="4328924"/>
            <a:ext cx="4936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716858" y="4328924"/>
            <a:ext cx="38685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872863" y="4328924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886208" y="4328924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987702" y="4556660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2653919" y="455666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712692" y="4556660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872545" y="4556660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883541" y="4556660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987702" y="4784409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653919" y="4784409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713264" y="47844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872863" y="4784409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883859" y="4784409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722132" y="5079155"/>
            <a:ext cx="5863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3688613" y="5173814"/>
            <a:ext cx="3896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12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3688613" y="5259411"/>
            <a:ext cx="3896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ˆ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80%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453146" y="7214732"/>
            <a:ext cx="6132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input data that are supposed to be D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22132" y="7537315"/>
            <a:ext cx="5863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3688613" y="7631962"/>
            <a:ext cx="3896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3688613" y="7717560"/>
            <a:ext cx="3896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4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ˆ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19427" y="1300175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82195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27896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33456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40484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422988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26847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19427" y="1532991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2195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7896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3456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40484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22988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26847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2195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7896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3456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0484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22988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26847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2195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27896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33456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0484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22988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426847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2195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7896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3456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0484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422988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426847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82195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27896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3456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0484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422988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26847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2195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7896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3456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40484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422988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426847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2195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7896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3456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0484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422988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426847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82195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7896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3456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0484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22988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426847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2195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7896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3456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40484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422988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426847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82195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27896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33456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0484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422988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26847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82195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7896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33456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40484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422988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426847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82195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27896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33456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40484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422988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26847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2195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7896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33456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40484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422988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426847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2195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27896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33456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40484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422988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426847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82195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7896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33456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0484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422988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426847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819427" y="4954232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607777" y="5326659"/>
            <a:ext cx="12653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603197" y="5009908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605737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605737" y="50203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50203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605737" y="5111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5111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605737" y="52032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52032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605737" y="5294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5294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605737" y="53861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53861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605737" y="54775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54775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605737" y="5569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5569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605737" y="566047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566047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605737" y="5751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5751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605737" y="58433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58433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605737" y="59348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59348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605737" y="6026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6026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05737" y="61177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61177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605737" y="6209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6209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605737" y="630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630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605737" y="63920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63920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605737" y="64834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64834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605737" y="6574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6574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605737" y="6666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6666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605737" y="67578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67578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605737" y="6849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6849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605737" y="69407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69407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605737" y="70321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70321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605737" y="7040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7040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603197" y="7134034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688613" y="7784820"/>
            <a:ext cx="6325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603197" y="7468069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605737" y="747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74705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605737" y="74785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74785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605737" y="75699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75699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605737" y="76614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76614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605737" y="7752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7752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605737" y="78442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78442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605737" y="7935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7935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605737" y="80271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80271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605737" y="81186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81186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605737" y="82100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82100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605737" y="8301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8301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605737" y="83929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83929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605737" y="8484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8484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605737" y="8575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8575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605737" y="8667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8667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605737" y="87587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87587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605737" y="8850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8850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605737" y="894163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894163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605737" y="9033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9033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605737" y="91245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91245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605737" y="921598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921598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605737" y="93074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93074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605737" y="93988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93988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605737" y="9490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9490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605737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603197" y="959219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77696" y="941962"/>
            <a:ext cx="640770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(b)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 the threshold of</a:t>
            </a:r>
            <a:r>
              <a:rPr sz="996" b="1">
                <a:solidFill>
                  <a:srgbClr val="000000"/>
                </a:solidFill>
                <a:latin typeface="Roboto Bold"/>
              </a:rPr>
              <a:t> 0.3</a:t>
            </a:r>
            <a:r>
              <a:rPr sz="996" b="0">
                <a:solidFill>
                  <a:srgbClr val="000000"/>
                </a:solidFill>
                <a:latin typeface="Roboto Light"/>
              </a:rPr>
              <a:t>, calculate the percent correct for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81480" y="1119101"/>
            <a:ext cx="61039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all the input data (overall percent correct)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900402" y="1363156"/>
            <a:ext cx="56850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357412" y="1363156"/>
            <a:ext cx="5227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413010" y="1363156"/>
            <a:ext cx="4172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483290" y="1363156"/>
            <a:ext cx="3102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501436" y="1363156"/>
            <a:ext cx="2083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022754" y="1595973"/>
            <a:ext cx="55626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650324" y="1595973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712057" y="1595973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872863" y="1595973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883859" y="1595973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015413" y="1823709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664993" y="1823709"/>
            <a:ext cx="49204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713264" y="18237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874450" y="1823709"/>
            <a:ext cx="2710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885446" y="1823709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015413" y="2051458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648546" y="2051458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13264" y="2051458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872863" y="2051458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886208" y="2051458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015413" y="227920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649753" y="2279207"/>
            <a:ext cx="4935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13264" y="2279207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872863" y="2279207"/>
            <a:ext cx="27125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885446" y="2279207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015413" y="250695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650324" y="2506957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712692" y="2506957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872545" y="2506957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886208" y="2506957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015413" y="2734692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656458" y="2734692"/>
            <a:ext cx="492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712057" y="2734692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872545" y="2734692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883859" y="2734692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019020" y="2962442"/>
            <a:ext cx="55663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653919" y="2962442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720591" y="2962442"/>
            <a:ext cx="38648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872545" y="2962442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883541" y="2962442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015413" y="3190191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650324" y="3190191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712692" y="3190191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872545" y="3190191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5885446" y="3190191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014842" y="3417940"/>
            <a:ext cx="55705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653919" y="341794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716299" y="3417940"/>
            <a:ext cx="38691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875199" y="3417940"/>
            <a:ext cx="27102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886208" y="3417940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86508" y="3645676"/>
            <a:ext cx="55988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653919" y="3645676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712692" y="3645676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872545" y="3645676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83541" y="3645676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995042" y="3873425"/>
            <a:ext cx="5590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650324" y="3873425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713264" y="3873425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872545" y="3873425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883541" y="3873425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987702" y="4101175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648546" y="4101175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3712692" y="4101175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872545" y="4101175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883859" y="4101175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987702" y="4328924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649181" y="4328924"/>
            <a:ext cx="4936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716858" y="4328924"/>
            <a:ext cx="38685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872545" y="4328924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886208" y="4328924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987702" y="4556660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2653919" y="455666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712692" y="4556660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872545" y="4556660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883541" y="4556660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987702" y="4784409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653919" y="4784409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713264" y="47844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872545" y="4784409"/>
            <a:ext cx="2712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883859" y="4784409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722132" y="5079155"/>
            <a:ext cx="5863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3639413" y="5173814"/>
            <a:ext cx="394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7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3607777" y="5259411"/>
            <a:ext cx="39776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ˆ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46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67%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453146" y="7214732"/>
            <a:ext cx="6132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input data that are supposed to be D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22132" y="7537315"/>
            <a:ext cx="5863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3688613" y="7631962"/>
            <a:ext cx="3896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3688613" y="7717560"/>
            <a:ext cx="3896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4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ˆ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35697" y="1511604"/>
            <a:ext cx="573868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138224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595234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650832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721112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724958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798400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871843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38224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595234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650832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21112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724958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798400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71843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5697" y="1905355"/>
            <a:ext cx="573868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38224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95234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50832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21112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724958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98400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871843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38224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95234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650832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721112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24958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798400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71843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138224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595234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650832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21112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724958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798400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71843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8224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595234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50832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721112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724958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98400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871843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38224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595234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50832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721112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724958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798400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871843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38224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95234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650832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721112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724958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8400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871843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138224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595234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650832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721112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724958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98400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871843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38224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595234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650832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721112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724958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798400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71843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8224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595234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650832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721112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724958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98400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871843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595234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650832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721112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724958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798400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871843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138224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595234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650832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721112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724958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798400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871843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595234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650832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721112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724958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798400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71843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138224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595234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650832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721112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724958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798400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871843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595234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650832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721112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724958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5798400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871843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38224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595234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650832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721112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724958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798400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71843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35697" y="5326596"/>
            <a:ext cx="573868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147604" y="6608178"/>
            <a:ext cx="1507045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392415" y="6124346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4942" y="6126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643065" y="6126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394942" y="61665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643065" y="61665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394942" y="6257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643065" y="6257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394942" y="63494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643065" y="63494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394942" y="6440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643065" y="6440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394942" y="65323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643065" y="65323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394942" y="66237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643065" y="66237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394942" y="67152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643065" y="67152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394942" y="68066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643065" y="68066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394942" y="68980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6643065" y="68980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394942" y="69895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643065" y="69895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394942" y="70809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643065" y="70809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394942" y="717243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643065" y="717243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394942" y="726387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6643065" y="726387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394942" y="73553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643065" y="73553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394942" y="74467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74467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394942" y="75382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75382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394942" y="76296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76296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394942" y="77211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77211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394942" y="78125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78125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394942" y="79039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79039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394942" y="799544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799544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394942" y="80868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80868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394942" y="81783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81783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394942" y="82697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82697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394942" y="836122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836122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394942" y="84526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84526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394942" y="85441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85441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394942" y="86355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86355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394942" y="87270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87270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394942" y="8818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8818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394942" y="89099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89099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394942" y="90013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90013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394942" y="90927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90927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394942" y="918423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918423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394942" y="92756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92756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394942" y="93671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93671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394942" y="94585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94585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Errors.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 the data in Question 1, consider</a:t>
            </a:r>
            <a:r>
              <a:rPr sz="996" b="0">
                <a:solidFill>
                  <a:srgbClr val="000000"/>
                </a:solidFill>
                <a:latin typeface="SFTT1000"/>
              </a:rPr>
              <a:t> False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as 0 and</a:t>
            </a:r>
            <a:r>
              <a:rPr sz="996" b="0">
                <a:solidFill>
                  <a:srgbClr val="000000"/>
                </a:solidFill>
                <a:latin typeface="SFTT1000"/>
              </a:rPr>
              <a:t> True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as 1, identify the expected output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of the output neurons for each set of input data.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803406" y="1574586"/>
            <a:ext cx="27819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Output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876848" y="1574586"/>
            <a:ext cx="17085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Output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216672" y="1735520"/>
            <a:ext cx="63687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673682" y="1735520"/>
            <a:ext cx="59117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729280" y="1735520"/>
            <a:ext cx="48561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799560" y="1735520"/>
            <a:ext cx="37858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015598" y="1735520"/>
            <a:ext cx="25698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Neuron 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081699" y="1735520"/>
            <a:ext cx="15037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Neuron 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339024" y="1968337"/>
            <a:ext cx="62463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966582" y="1968337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028327" y="1968337"/>
            <a:ext cx="45570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181983" y="1968337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233974" y="1968337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298869" y="1968337"/>
            <a:ext cx="12865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331683" y="2196073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981263" y="2196073"/>
            <a:ext cx="5604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029521" y="2196073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183557" y="2196073"/>
            <a:ext cx="3401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225440" y="2196073"/>
            <a:ext cx="2359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298869" y="2196073"/>
            <a:ext cx="12865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331683" y="2423822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964817" y="2423822"/>
            <a:ext cx="56205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029521" y="2423822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184319" y="2423822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25440" y="2423822"/>
            <a:ext cx="2359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307416" y="2423822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331683" y="2651571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66010" y="2651571"/>
            <a:ext cx="5619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029521" y="2651571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183557" y="2651571"/>
            <a:ext cx="3401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225440" y="2651571"/>
            <a:ext cx="2359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298869" y="2651571"/>
            <a:ext cx="12865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331683" y="2879320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966582" y="2879320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028950" y="2879320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184319" y="2879320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225440" y="2879320"/>
            <a:ext cx="2359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307416" y="2879320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331683" y="3107070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72716" y="3107070"/>
            <a:ext cx="5612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028327" y="3107070"/>
            <a:ext cx="45570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181983" y="3107070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233974" y="3107070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298869" y="3107070"/>
            <a:ext cx="12865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335290" y="3334806"/>
            <a:ext cx="6250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970189" y="3334806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036862" y="3334806"/>
            <a:ext cx="454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181665" y="3334806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233974" y="3334806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307416" y="3334806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331683" y="3562555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66582" y="3562555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028950" y="3562555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183557" y="3562555"/>
            <a:ext cx="3401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225440" y="3562555"/>
            <a:ext cx="2359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298869" y="3562555"/>
            <a:ext cx="12865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331112" y="3790304"/>
            <a:ext cx="62542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970189" y="3790304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032556" y="3790304"/>
            <a:ext cx="45528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184319" y="3790304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225440" y="3790304"/>
            <a:ext cx="2359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307416" y="3790304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302766" y="4018053"/>
            <a:ext cx="6282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970189" y="4018053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3028950" y="4018053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181665" y="4018053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233974" y="4018053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307416" y="4018053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311313" y="4245790"/>
            <a:ext cx="62740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966582" y="4245790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029521" y="4245790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181665" y="4245790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5233974" y="4245790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307416" y="4245790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303972" y="4473539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964817" y="4473539"/>
            <a:ext cx="56205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3028950" y="4473539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181983" y="4473539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33974" y="4473539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298869" y="4473539"/>
            <a:ext cx="12865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303972" y="4701288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965451" y="4701288"/>
            <a:ext cx="56199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033128" y="4701288"/>
            <a:ext cx="45522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184319" y="4701288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225440" y="4701288"/>
            <a:ext cx="2359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307416" y="4701288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303972" y="4929037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970189" y="4929037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3028950" y="4929037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181665" y="4929037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233974" y="4929037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307416" y="4929037"/>
            <a:ext cx="127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303972" y="5156773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970189" y="5156773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029521" y="5156773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4181983" y="5156773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5233974" y="5156773"/>
            <a:ext cx="23514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6298869" y="5156773"/>
            <a:ext cx="12865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135697" y="5491431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Note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that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for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this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question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we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will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not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threshold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translate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raw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values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output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135697" y="5643272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neurons but just use them as it is.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180109" y="5845710"/>
            <a:ext cx="64052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(a)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average sum-squared error for the system.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511350" y="6218904"/>
            <a:ext cx="60740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368181" y="6540844"/>
            <a:ext cx="5217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average sum-squared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538484" y="6455247"/>
            <a:ext cx="3046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total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t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4147604" y="6627637"/>
            <a:ext cx="34378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total number of patterns,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m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2957728" y="6912142"/>
            <a:ext cx="46276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total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t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4081564" y="6790065"/>
            <a:ext cx="350384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m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056176" y="6764381"/>
            <a:ext cx="35292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4034447" y="7087740"/>
            <a:ext cx="355095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256811" y="6764381"/>
            <a:ext cx="33285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q</a:t>
            </a: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4239551" y="7084844"/>
            <a:ext cx="3345853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j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435703" y="6878292"/>
            <a:ext cx="31497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q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536974" y="1478917"/>
            <a:ext cx="4989852" cy="0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539080" y="148102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828734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223202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616728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886642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56567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984526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812496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382214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954991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524709" y="1481025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36974" y="1634969"/>
            <a:ext cx="4989852" cy="0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39080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28734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23202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616728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86642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56567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984526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812496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82214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54991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24709" y="163708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39080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828734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223202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16728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886642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156567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84526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812496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382214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954991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524709" y="178892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39080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28734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23202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16728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86642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56567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84526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812496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382214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954991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524709" y="1940764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39080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828734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23202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616728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86642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156567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84526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12496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82214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954991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524709" y="209260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539080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828734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223202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616728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886642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156567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84526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812496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382214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954991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24709" y="2244442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539080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828734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223202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616728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886642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156567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984526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12496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382214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954991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524709" y="239629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539080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28734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23202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616728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886642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156567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984526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812496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382214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954991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524709" y="2548130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539080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828734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223202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616728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886642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156567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984526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812496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382214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954991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524709" y="2699969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539080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828734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223202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616728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886642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156567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984526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812496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382214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954991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524709" y="2851808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539080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828734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223202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616728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886642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156567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984526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812496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382214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954991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524709" y="3003646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539080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828734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223202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616728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886642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156567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984526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4812496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5382214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5954991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524709" y="3155485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539080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828734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223202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616728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886642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156567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984526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812496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382214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954991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524709" y="3307324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539080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828734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223202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616728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886642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3156567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3984526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812496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382214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954991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524709" y="3459173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539080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828734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223202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616728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886642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156567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984526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12496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382214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954991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524709" y="3611012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539080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828734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223202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2616728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886642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3156567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984526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812496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382214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954991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524709" y="3762851"/>
            <a:ext cx="0" cy="151839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536974" y="3916796"/>
            <a:ext cx="4989852" cy="0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539080" y="3918913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5954991" y="3918913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24709" y="3918913"/>
            <a:ext cx="0" cy="151838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536974" y="4072858"/>
            <a:ext cx="4989852" cy="0"/>
          </a:xfrm>
          <a:prstGeom prst="line">
            <a:avLst/>
          </a:prstGeom>
          <a:ln w="4212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760266" y="4673549"/>
            <a:ext cx="2249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4321898" y="4978082"/>
            <a:ext cx="6325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4584204" y="4978082"/>
            <a:ext cx="35146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392415" y="1043457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394942" y="10459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643065" y="10459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394942" y="10656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643065" y="10656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394942" y="1157059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643065" y="1157059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394942" y="1248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43065" y="1248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394942" y="13399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643065" y="13399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394942" y="14314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643065" y="14314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394942" y="15228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643065" y="15228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394942" y="1614297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643065" y="1614297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394942" y="17057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6643065" y="17057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394942" y="17971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6643065" y="17971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394942" y="18886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6643065" y="18886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394942" y="1980070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6643065" y="1980070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394942" y="20715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6643065" y="20715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394942" y="21629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6643065" y="21629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394942" y="22544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6643065" y="22544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394942" y="23458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6643065" y="23458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394942" y="24372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6643065" y="24372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394942" y="25287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6643065" y="25287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394942" y="2620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6643065" y="2620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394942" y="2711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6643065" y="2711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394942" y="2803081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6643065" y="2803081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394942" y="28945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6643065" y="28945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394942" y="29859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6643065" y="29859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394942" y="3077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6643065" y="3077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394942" y="31688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6643065" y="31688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394942" y="3260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6643065" y="3260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394942" y="33517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6643065" y="33517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394942" y="3443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6643065" y="3443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394942" y="35346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6643065" y="35346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394942" y="3626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6643065" y="3626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1394942" y="37175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6643065" y="37175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394942" y="38089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6643065" y="38089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394942" y="390042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6643065" y="390042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394942" y="39918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6643065" y="39918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394942" y="4083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6643065" y="4083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394942" y="41747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6643065" y="41747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394942" y="42662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6643065" y="42662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394942" y="43576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6643065" y="43576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394942" y="4449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6643065" y="4449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394942" y="4540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6643065" y="4540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394942" y="46319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6643065" y="46319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394942" y="47234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6643065" y="47234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394942" y="48148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6643065" y="48148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394942" y="4906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6643065" y="4906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394942" y="49977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6643065" y="49977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1394942" y="50892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6643065" y="50892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1394942" y="5180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6643065" y="5180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1394942" y="52721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6643065" y="52721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394942" y="536355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6643065" y="536355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1394942" y="54550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6643065" y="54550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1394942" y="55464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6643065" y="55464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394942" y="56378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6643065" y="56378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1394942" y="57293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6643065" y="57293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394942" y="5820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6643065" y="5820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394942" y="591223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6643065" y="591223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394942" y="6003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6643065" y="6003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1394942" y="60951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6643065" y="60951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1394942" y="618656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6643065" y="618656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394942" y="62780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6643065" y="62780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394942" y="63694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6643065" y="63694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394942" y="64608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643065" y="64608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1394942" y="65523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643065" y="65523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1394942" y="66437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643065" y="66437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1394942" y="67352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643065" y="67352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394942" y="68266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643065" y="68266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394942" y="69181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643065" y="69181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394942" y="70095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643065" y="70095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1394942" y="71010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6643065" y="71010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394942" y="71924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643065" y="71924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1394942" y="72839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6643065" y="72839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394942" y="73753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6643065" y="73753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1394942" y="7466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6643065" y="7466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394942" y="75582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6643065" y="75582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1394942" y="76496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6643065" y="76496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1394942" y="774113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6643065" y="774113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1394942" y="78325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6643065" y="78325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394942" y="79240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6643065" y="79240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394942" y="80154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6643065" y="80154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394942" y="81069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6643065" y="81069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394942" y="81983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6643065" y="81983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394942" y="82898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6643065" y="82898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394942" y="83812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6643065" y="83812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394942" y="84727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6643065" y="84727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394942" y="85641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6643065" y="85641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1394942" y="86555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6643065" y="86555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1394942" y="87470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6643065" y="87470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394942" y="88384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6643065" y="88384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394942" y="8929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6643065" y="8929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1394942" y="90213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6643065" y="90213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1394942" y="91128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6643065" y="91128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1394942" y="92042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6643065" y="92042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1394942" y="929571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6643065" y="929571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1394942" y="93871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6643065" y="93871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1394942" y="9478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6643065" y="9478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TextBox 37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511350" y="1138015"/>
            <a:ext cx="60740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604458" y="1504829"/>
            <a:ext cx="598094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No.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953171" y="1504900"/>
            <a:ext cx="563223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y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347162" y="1504900"/>
            <a:ext cx="523824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y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2682105" y="1504900"/>
            <a:ext cx="490329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b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2952020" y="1504900"/>
            <a:ext cx="463338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b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3221934" y="1504900"/>
            <a:ext cx="436347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e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1</a:t>
            </a:r>
            <a:r>
              <a:rPr sz="830" b="0">
                <a:solidFill>
                  <a:srgbClr val="0000FF"/>
                </a:solidFill>
                <a:latin typeface="TeX matha10"/>
              </a:rPr>
              <a:t> </a:t>
            </a:r>
            <a:r>
              <a:rPr sz="830" b="0">
                <a:solidFill>
                  <a:srgbClr val="0000FF"/>
                </a:solidFill>
                <a:latin typeface="TeX matha10"/>
              </a:rPr>
              <a:t>“</a:t>
            </a:r>
            <a:r>
              <a:rPr sz="830" b="0">
                <a:solidFill>
                  <a:srgbClr val="0000FF"/>
                </a:solidFill>
                <a:latin typeface="Cambria Math"/>
              </a:rPr>
              <a:t> b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1</a:t>
            </a:r>
            <a:r>
              <a:rPr sz="830" b="0">
                <a:solidFill>
                  <a:srgbClr val="0000FF"/>
                </a:solidFill>
                <a:latin typeface="TeX matha10"/>
              </a:rPr>
              <a:t> ´</a:t>
            </a:r>
            <a:r>
              <a:rPr sz="830" b="0">
                <a:solidFill>
                  <a:srgbClr val="0000FF"/>
                </a:solidFill>
                <a:latin typeface="Cambria Math"/>
              </a:rPr>
              <a:t> y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4049903" y="1504900"/>
            <a:ext cx="353550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e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  <a:r>
              <a:rPr sz="830" b="0">
                <a:solidFill>
                  <a:srgbClr val="0000FF"/>
                </a:solidFill>
                <a:latin typeface="TeX matha10"/>
              </a:rPr>
              <a:t> </a:t>
            </a:r>
            <a:r>
              <a:rPr sz="830" b="0">
                <a:solidFill>
                  <a:srgbClr val="0000FF"/>
                </a:solidFill>
                <a:latin typeface="TeX matha10"/>
              </a:rPr>
              <a:t>“</a:t>
            </a:r>
            <a:r>
              <a:rPr sz="830" b="0">
                <a:solidFill>
                  <a:srgbClr val="0000FF"/>
                </a:solidFill>
                <a:latin typeface="Cambria Math"/>
              </a:rPr>
              <a:t> b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  <a:r>
              <a:rPr sz="830" b="0">
                <a:solidFill>
                  <a:srgbClr val="0000FF"/>
                </a:solidFill>
                <a:latin typeface="TeX matha10"/>
              </a:rPr>
              <a:t> ´</a:t>
            </a:r>
            <a:r>
              <a:rPr sz="830" b="0">
                <a:solidFill>
                  <a:srgbClr val="0000FF"/>
                </a:solidFill>
                <a:latin typeface="Cambria Math"/>
              </a:rPr>
              <a:t> y</a:t>
            </a: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5025849" y="1491362"/>
            <a:ext cx="255955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e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5074948" y="1559492"/>
            <a:ext cx="2510456" cy="1144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5597101" y="1491362"/>
            <a:ext cx="19883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e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646201" y="1559492"/>
            <a:ext cx="1939203" cy="1144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6032413" y="1491362"/>
            <a:ext cx="155299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Cambria Math"/>
              </a:rPr>
              <a:t>e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6081512" y="1491362"/>
            <a:ext cx="150389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1</a:t>
            </a:r>
            <a:r>
              <a:rPr sz="830" b="0">
                <a:solidFill>
                  <a:srgbClr val="0000FF"/>
                </a:solidFill>
                <a:latin typeface="TeX matha10"/>
              </a:rPr>
              <a:t> </a:t>
            </a:r>
            <a:r>
              <a:rPr sz="830" b="0">
                <a:solidFill>
                  <a:srgbClr val="0000FF"/>
                </a:solidFill>
                <a:latin typeface="TeX matha10"/>
              </a:rPr>
              <a:t>`</a:t>
            </a:r>
            <a:r>
              <a:rPr sz="830" b="0">
                <a:solidFill>
                  <a:srgbClr val="0000FF"/>
                </a:solidFill>
                <a:latin typeface="Cambria Math"/>
              </a:rPr>
              <a:t> e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6353374" y="1559492"/>
            <a:ext cx="1232030" cy="1144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1" b="0">
                <a:solidFill>
                  <a:srgbClr val="0000FF"/>
                </a:solidFill>
                <a:latin typeface="Cambria Math"/>
              </a:rPr>
              <a:t>k</a:t>
            </a:r>
            <a:r>
              <a:rPr sz="58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660818" y="1660892"/>
            <a:ext cx="592458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895583" y="1660892"/>
            <a:ext cx="568982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0.623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2288580" y="1660892"/>
            <a:ext cx="529682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0.028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2728591" y="1660892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2991392" y="1660892"/>
            <a:ext cx="45940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3446168" y="1660892"/>
            <a:ext cx="413923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0.377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4252048" y="1660892"/>
            <a:ext cx="333335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-0.028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4891103" y="1660892"/>
            <a:ext cx="269430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0.142129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5450597" y="1660892"/>
            <a:ext cx="213480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0.000784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6033599" y="1660892"/>
            <a:ext cx="155180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0.142913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654701" y="1812731"/>
            <a:ext cx="59307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907818" y="1812731"/>
            <a:ext cx="567758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0.112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289585" y="1812731"/>
            <a:ext cx="529581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0.225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721478" y="1812731"/>
            <a:ext cx="48639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2991392" y="1812731"/>
            <a:ext cx="45940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37320" y="1812731"/>
            <a:ext cx="414808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-0.112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4253054" y="1812731"/>
            <a:ext cx="333235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-0.225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4884466" y="1812731"/>
            <a:ext cx="270093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0.012544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5448597" y="1812731"/>
            <a:ext cx="213680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0.050625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6026486" y="1812731"/>
            <a:ext cx="155891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0.063169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654701" y="1964569"/>
            <a:ext cx="59307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894112" y="1964569"/>
            <a:ext cx="569129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0.809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2289585" y="1964569"/>
            <a:ext cx="529581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0.228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2721478" y="1964569"/>
            <a:ext cx="48639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2998516" y="1964569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3423603" y="1964569"/>
            <a:ext cx="416180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-0.809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4274137" y="1964569"/>
            <a:ext cx="331126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0.772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4885462" y="1964569"/>
            <a:ext cx="269994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0.654481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5449645" y="1964569"/>
            <a:ext cx="213575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0.595984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6027958" y="1964569"/>
            <a:ext cx="155744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1.250465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654701" y="2116408"/>
            <a:ext cx="59307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895118" y="2116408"/>
            <a:ext cx="569028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0.349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2289585" y="2116408"/>
            <a:ext cx="529581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0.284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2721478" y="2116408"/>
            <a:ext cx="48639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2991392" y="2116408"/>
            <a:ext cx="45940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3424608" y="2116408"/>
            <a:ext cx="416079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-0.349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4253054" y="2116408"/>
            <a:ext cx="333235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-0.284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4896691" y="2116408"/>
            <a:ext cx="268871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0.121801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448597" y="2116408"/>
            <a:ext cx="213680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0.080656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6023851" y="2116408"/>
            <a:ext cx="156155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0.202457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654701" y="2268257"/>
            <a:ext cx="59307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895583" y="2268257"/>
            <a:ext cx="568982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0.664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2289109" y="2268257"/>
            <a:ext cx="529629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0.359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2721478" y="2268257"/>
            <a:ext cx="48639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2998516" y="2268257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3425084" y="2268257"/>
            <a:ext cx="416032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-0.664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4274243" y="2268257"/>
            <a:ext cx="331116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0.641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4877873" y="2268257"/>
            <a:ext cx="270753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0.440896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5461827" y="2268257"/>
            <a:ext cx="212357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0.410881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6036975" y="2268257"/>
            <a:ext cx="154842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0.851777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654701" y="2420096"/>
            <a:ext cx="59307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6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930913" y="2420096"/>
            <a:ext cx="565449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0.81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2288580" y="2420096"/>
            <a:ext cx="529682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0.304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2728591" y="2420096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2991392" y="2420096"/>
            <a:ext cx="45940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3475010" y="2420096"/>
            <a:ext cx="411039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0.19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4252048" y="2420096"/>
            <a:ext cx="333335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-0.304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4942880" y="2420096"/>
            <a:ext cx="264252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0.0361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5455233" y="2420096"/>
            <a:ext cx="213017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0.092416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6034075" y="2420096"/>
            <a:ext cx="155133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0.128516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657706" y="2571935"/>
            <a:ext cx="592769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7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1898589" y="2571935"/>
            <a:ext cx="568681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0.673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2295703" y="2571935"/>
            <a:ext cx="528970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0.818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2728591" y="2571935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2998516" y="2571935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3443173" y="2571935"/>
            <a:ext cx="414223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0.327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4274243" y="2571935"/>
            <a:ext cx="331116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0.182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4883515" y="2571935"/>
            <a:ext cx="270189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0.106929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5455709" y="2571935"/>
            <a:ext cx="212969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0.033124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6025957" y="2571935"/>
            <a:ext cx="155944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0.140053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1654701" y="2723774"/>
            <a:ext cx="59307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8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895583" y="2723774"/>
            <a:ext cx="568982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0.465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2289109" y="2723774"/>
            <a:ext cx="529629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0.439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2721478" y="2723774"/>
            <a:ext cx="48639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2991392" y="2723774"/>
            <a:ext cx="45940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3425084" y="2723774"/>
            <a:ext cx="416032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-0.465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4252578" y="2723774"/>
            <a:ext cx="33328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-0.439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4885462" y="2723774"/>
            <a:ext cx="269994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0.216225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5465362" y="2723774"/>
            <a:ext cx="212004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0.192721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6020368" y="2723774"/>
            <a:ext cx="156503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0.408946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654224" y="2875613"/>
            <a:ext cx="593118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9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898589" y="2875613"/>
            <a:ext cx="568681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0.275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2292115" y="2875613"/>
            <a:ext cx="52932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0.972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2721478" y="2875613"/>
            <a:ext cx="48639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2998516" y="2875613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3428091" y="2875613"/>
            <a:ext cx="41573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-0.275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4267131" y="2875613"/>
            <a:ext cx="331827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0.028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4881355" y="2875613"/>
            <a:ext cx="270404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0.075625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5450597" y="2875613"/>
            <a:ext cx="213480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0.000784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6022369" y="2875613"/>
            <a:ext cx="156303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0.076409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630601" y="3027452"/>
            <a:ext cx="595480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1898589" y="3027452"/>
            <a:ext cx="568681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0.788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2289109" y="3027452"/>
            <a:ext cx="529629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0.829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2728591" y="3027452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2998516" y="3027452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3446274" y="3027452"/>
            <a:ext cx="413913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0.212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4283367" y="3027452"/>
            <a:ext cx="330203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0.171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4877873" y="3027452"/>
            <a:ext cx="270753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0.044944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5455233" y="3027452"/>
            <a:ext cx="213017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0.029241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6029969" y="3027452"/>
            <a:ext cx="155543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0.074185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637724" y="3179291"/>
            <a:ext cx="594768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11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1895583" y="3179291"/>
            <a:ext cx="568982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0.624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2289585" y="3179291"/>
            <a:ext cx="529581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0.658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2728591" y="3179291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2998516" y="3179291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3443173" y="3179291"/>
            <a:ext cx="414223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0.376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4268126" y="3179291"/>
            <a:ext cx="331727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0.342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4894585" y="3179291"/>
            <a:ext cx="269081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0.141376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5462356" y="3179291"/>
            <a:ext cx="212304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0.116964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6051051" y="3179291"/>
            <a:ext cx="153435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0.25834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631606" y="3331140"/>
            <a:ext cx="595379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12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924319" y="3331140"/>
            <a:ext cx="566108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0.89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2289109" y="3331140"/>
            <a:ext cx="529629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0.359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2728591" y="3331140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2991392" y="3331140"/>
            <a:ext cx="45940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3481604" y="3331140"/>
            <a:ext cx="410380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0.11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4252578" y="3331140"/>
            <a:ext cx="33328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-0.359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4948998" y="3331140"/>
            <a:ext cx="263640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0.0121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5462832" y="3331140"/>
            <a:ext cx="212257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0.128881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6032603" y="3331140"/>
            <a:ext cx="155280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0.140981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631606" y="3482979"/>
            <a:ext cx="595379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13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894641" y="3482979"/>
            <a:ext cx="569076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0.699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2292591" y="3482979"/>
            <a:ext cx="529281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0.478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2721478" y="3482979"/>
            <a:ext cx="486392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2998516" y="3482979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3424132" y="3482979"/>
            <a:ext cx="416127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-0.699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4268126" y="3482979"/>
            <a:ext cx="331727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0.522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4884466" y="3482979"/>
            <a:ext cx="270093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0.488601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5453603" y="3482979"/>
            <a:ext cx="213180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0.272484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6029969" y="3482979"/>
            <a:ext cx="155543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0.761085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1631606" y="3634818"/>
            <a:ext cx="595379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14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1898589" y="3634818"/>
            <a:ext cx="568681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0.674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2289109" y="3634818"/>
            <a:ext cx="529629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0.984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2728591" y="3634818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2998516" y="3634818"/>
            <a:ext cx="458688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440167" y="3634818"/>
            <a:ext cx="4145237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0.326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4273248" y="3634818"/>
            <a:ext cx="331215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0.016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887472" y="3634818"/>
            <a:ext cx="269793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0.106276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5447592" y="3634818"/>
            <a:ext cx="21378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0.000256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6026962" y="3634818"/>
            <a:ext cx="155844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0.106532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631606" y="3786656"/>
            <a:ext cx="5953798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15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898589" y="3786656"/>
            <a:ext cx="568681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0.788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2289585" y="3786656"/>
            <a:ext cx="529581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0.366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728591" y="3786656"/>
            <a:ext cx="4856814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2991392" y="3786656"/>
            <a:ext cx="4594012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3446274" y="3786656"/>
            <a:ext cx="413913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0.212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4253054" y="3786656"/>
            <a:ext cx="3332350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-0.366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4877873" y="3786656"/>
            <a:ext cx="2707531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0.044944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5456239" y="3786656"/>
            <a:ext cx="2129166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0.133956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6088911" y="3786656"/>
            <a:ext cx="1496493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0.1789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553199" y="3942718"/>
            <a:ext cx="2032205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Roboto Light"/>
              </a:rPr>
              <a:t>Total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6101685" y="3942718"/>
            <a:ext cx="1483719" cy="1634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0000FF"/>
                </a:solidFill>
                <a:latin typeface="TeX matha10"/>
              </a:rPr>
              <a:t>«</a:t>
            </a:r>
            <a:r>
              <a:rPr sz="830" b="0">
                <a:solidFill>
                  <a:srgbClr val="0000FF"/>
                </a:solidFill>
                <a:latin typeface="Roboto Light"/>
              </a:rPr>
              <a:t>4.78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3398278" y="4343005"/>
            <a:ext cx="41871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t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ˆ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4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78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39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517493" y="4520703"/>
            <a:ext cx="40679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39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3809466" y="4606301"/>
            <a:ext cx="37759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1595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2503766" y="4825237"/>
            <a:ext cx="50816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(optional)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per output neuron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321898" y="4825237"/>
            <a:ext cx="32635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1595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4728298" y="4997627"/>
            <a:ext cx="28571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4985994" y="4910835"/>
            <a:ext cx="25994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07975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229518" y="1730629"/>
            <a:ext cx="17211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670304" y="2469032"/>
            <a:ext cx="472815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672831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020392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493733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965919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289795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613683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607178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600662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395923" y="247156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70304" y="2656294"/>
            <a:ext cx="472815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72831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20392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93733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965919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89795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13683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07178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600662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95923" y="265882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72831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020392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3733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65919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89795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613683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607178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600662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395923" y="284101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672831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20392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493733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65919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289795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613683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607178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600662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395923" y="302321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672831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020392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493733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965919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289795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13683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607178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600662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395923" y="32054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672831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020392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493733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965919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289795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613683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07178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00662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395923" y="338761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672831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020392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493733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965919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289795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13683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607178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600662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95923" y="356980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672831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020392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493733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65919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289795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613683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607178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600662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395923" y="375199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672831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020392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493733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965919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289795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613683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607178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600662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395923" y="39341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672831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020392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493733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965919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289795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613683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607178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600662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395923" y="411638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672831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020392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493733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965919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289795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613683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607178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600662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395923" y="4298581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672831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020392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493733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965919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289795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613683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607178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600662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395923" y="448078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672831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020392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493733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965919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289795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613683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4607178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600662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395923" y="4662982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672831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020392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493733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965919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289795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613683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4607178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600662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395923" y="484517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672831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020392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493733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965919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289795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613683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607178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5600662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395923" y="502737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672831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020392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493733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965919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289795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613683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607178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5600662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395923" y="52095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670304" y="5394287"/>
            <a:ext cx="472815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672831" y="539682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5600662" y="539682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395923" y="539682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670304" y="5581548"/>
            <a:ext cx="472815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557803" y="5808154"/>
            <a:ext cx="34441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392415" y="1220596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394942" y="12231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12231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394942" y="12301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12301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394942" y="13216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13216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394942" y="14130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14130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394942" y="1504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1504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394942" y="15959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15959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394942" y="1687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1687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394942" y="17788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17788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394942" y="18702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18702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394942" y="19617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19617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394942" y="20531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20531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394942" y="21446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21446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394942" y="22360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22360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394942" y="2327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2327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394942" y="24189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24189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394942" y="25103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25103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394942" y="26018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26018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394942" y="26932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26932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394942" y="27847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27847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394942" y="28761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28761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394942" y="29676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29676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394942" y="30590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30590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394942" y="3150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3150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394942" y="32419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32419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394942" y="33334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643065" y="33334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394942" y="34248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6643065" y="34248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394942" y="35163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6643065" y="35163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394942" y="36077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6643065" y="36077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394942" y="36991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6643065" y="36991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394942" y="37906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6643065" y="37906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394942" y="38820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6643065" y="38820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394942" y="39735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6643065" y="39735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394942" y="4064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6643065" y="4064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394942" y="41564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6643065" y="41564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394942" y="42478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6643065" y="42478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394942" y="43393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6643065" y="43393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394942" y="44307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6643065" y="44307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394942" y="45221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6643065" y="45221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394942" y="46136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6643065" y="46136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1394942" y="47050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6643065" y="47050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394942" y="47965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6643065" y="47965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394942" y="48879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6643065" y="48879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394942" y="49794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6643065" y="49794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394942" y="5070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6643065" y="5070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394942" y="51623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6643065" y="51623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394942" y="52537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6643065" y="52537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394942" y="53452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6643065" y="53452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394942" y="54366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6643065" y="54366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394942" y="552809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6643065" y="552809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394942" y="561954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6643065" y="561954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394942" y="57109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6643065" y="57109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394942" y="58024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6643065" y="58024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394942" y="58938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6643065" y="58938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394942" y="59853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6643065" y="59853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394942" y="60767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6643065" y="60767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394942" y="61682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6643065" y="61682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394942" y="62596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6643065" y="62596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394942" y="635110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6643065" y="635110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394942" y="64425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6643065" y="64425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1394942" y="64495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6643065" y="64495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392415" y="6543547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392415" y="6928192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1394942" y="69307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6643065" y="69307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394942" y="693423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6643065" y="693423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1394942" y="70256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6643065" y="70256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1394942" y="71171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6643065" y="71171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394942" y="72085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6643065" y="72085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1394942" y="73000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6643065" y="73000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1394942" y="73914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6643065" y="73914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1394942" y="74829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6643065" y="74829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1394942" y="75743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6643065" y="75743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1394942" y="76657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6643065" y="76657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1394942" y="775724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6643065" y="775724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1394942" y="78486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6643065" y="78486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1394942" y="79401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6643065" y="79401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394942" y="803158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6643065" y="803158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1394942" y="81230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6643065" y="81230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1394942" y="82144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6643065" y="82144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394942" y="830591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6643065" y="830591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1394942" y="83973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643065" y="83973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1394942" y="84888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643065" y="84888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1394942" y="85802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643065" y="85802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1394942" y="86716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643065" y="86716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1394942" y="87631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643065" y="87631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1394942" y="88545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6643065" y="88545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394942" y="89460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6643065" y="89460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394942" y="90374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6643065" y="90374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1394942" y="91289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6643065" y="91289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1394942" y="92203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6643065" y="92203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1394942" y="93118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6643065" y="93118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1394942" y="94032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6643065" y="94032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1394942" y="94947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6643065" y="94947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177696" y="941962"/>
            <a:ext cx="640770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(b)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mean absolute error for the system.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511350" y="1315155"/>
            <a:ext cx="60740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2639136" y="1663297"/>
            <a:ext cx="49462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mean absolute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ma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4283951" y="1577784"/>
            <a:ext cx="33014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4229518" y="1750173"/>
            <a:ext cx="33558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mq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4485017" y="1541218"/>
            <a:ext cx="3100387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m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459643" y="1515534"/>
            <a:ext cx="31257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4437913" y="1838906"/>
            <a:ext cx="314749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4660277" y="1515534"/>
            <a:ext cx="29251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q</a:t>
            </a: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4643006" y="1835998"/>
            <a:ext cx="294239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j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839170" y="1663381"/>
            <a:ext cx="27462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3256687" y="1993013"/>
            <a:ext cx="43287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number of patterns,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m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15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122677" y="2182801"/>
            <a:ext cx="44627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number of output neurons,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q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1751279" y="2500136"/>
            <a:ext cx="58341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No.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2169706" y="2500222"/>
            <a:ext cx="54156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2642463" y="2500222"/>
            <a:ext cx="49429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3044367" y="2500222"/>
            <a:ext cx="45410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3368243" y="2500222"/>
            <a:ext cx="42171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3692131" y="2500222"/>
            <a:ext cx="38932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4685614" y="2500222"/>
            <a:ext cx="28997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5679109" y="2500209"/>
            <a:ext cx="19062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TeX matha10"/>
              </a:rPr>
              <a:t>| ` |</a:t>
            </a: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818906" y="2687385"/>
            <a:ext cx="57664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2100618" y="2687385"/>
            <a:ext cx="54847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0.623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2572169" y="2687385"/>
            <a:ext cx="50132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0.028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3100146" y="2687385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3415487" y="2687385"/>
            <a:ext cx="4169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3961193" y="2687385"/>
            <a:ext cx="36242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0.377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4928171" y="2687385"/>
            <a:ext cx="26572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-0.028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5840641" y="2687385"/>
            <a:ext cx="17447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0.405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811566" y="2869580"/>
            <a:ext cx="577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2115286" y="2869580"/>
            <a:ext cx="54701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0.112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2573375" y="2869580"/>
            <a:ext cx="50120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0.225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3091611" y="2869580"/>
            <a:ext cx="44937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3415487" y="2869580"/>
            <a:ext cx="4169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3950563" y="2869580"/>
            <a:ext cx="36348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-0.112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4929378" y="2869580"/>
            <a:ext cx="2656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-0.225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5845454" y="2869580"/>
            <a:ext cx="17399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0.337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811566" y="3051786"/>
            <a:ext cx="577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2098840" y="3051786"/>
            <a:ext cx="54865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0.809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2573375" y="3051786"/>
            <a:ext cx="50120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0.228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3091611" y="3051786"/>
            <a:ext cx="44937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3424034" y="3051786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3934117" y="3051786"/>
            <a:ext cx="36512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-0.809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4954689" y="3051786"/>
            <a:ext cx="26307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0.772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5857722" y="3051786"/>
            <a:ext cx="17276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1.581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811566" y="3233981"/>
            <a:ext cx="577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2100046" y="3233981"/>
            <a:ext cx="54853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0.349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2573375" y="3233981"/>
            <a:ext cx="50120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0.284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3091611" y="3233981"/>
            <a:ext cx="44937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3415487" y="3233981"/>
            <a:ext cx="4169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3935310" y="3233981"/>
            <a:ext cx="36500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-0.349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4929378" y="3233981"/>
            <a:ext cx="2656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-0.284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5841847" y="3233981"/>
            <a:ext cx="1743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0.633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811566" y="3416175"/>
            <a:ext cx="577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2100618" y="3416175"/>
            <a:ext cx="54847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0.664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2572804" y="3416175"/>
            <a:ext cx="5012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0.359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3091611" y="3416175"/>
            <a:ext cx="44937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3424034" y="3416175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3935882" y="3416175"/>
            <a:ext cx="3649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-0.664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4954803" y="3416175"/>
            <a:ext cx="2630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0.641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5849188" y="3416175"/>
            <a:ext cx="1736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1.305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811566" y="3598369"/>
            <a:ext cx="577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2142998" y="3598369"/>
            <a:ext cx="54424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0.81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2572169" y="3598369"/>
            <a:ext cx="50132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0.304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3100146" y="3598369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3415487" y="3598369"/>
            <a:ext cx="4169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3995801" y="3598369"/>
            <a:ext cx="35896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0.19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4928171" y="3598369"/>
            <a:ext cx="26572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-0.304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5841276" y="3598369"/>
            <a:ext cx="17441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0.494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815172" y="3780563"/>
            <a:ext cx="57702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7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104224" y="3780563"/>
            <a:ext cx="54811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0.673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580716" y="3780563"/>
            <a:ext cx="50046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0.818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3100146" y="3780563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3424034" y="3780563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3957586" y="3780563"/>
            <a:ext cx="3627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0.327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4954803" y="3780563"/>
            <a:ext cx="2630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0.182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840082" y="3780563"/>
            <a:ext cx="17453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0.509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811566" y="3962758"/>
            <a:ext cx="577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8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2100618" y="3962758"/>
            <a:ext cx="54847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0.465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2572804" y="3962758"/>
            <a:ext cx="5012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0.439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3091611" y="3962758"/>
            <a:ext cx="44937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3415487" y="3962758"/>
            <a:ext cx="4169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3935882" y="3962758"/>
            <a:ext cx="3649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-0.465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4928806" y="3962758"/>
            <a:ext cx="26565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-0.439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5840082" y="3962758"/>
            <a:ext cx="17453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0.904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810994" y="4144952"/>
            <a:ext cx="57744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9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2104224" y="4144952"/>
            <a:ext cx="54811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0.275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2576410" y="4144952"/>
            <a:ext cx="50089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0.972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3091611" y="4144952"/>
            <a:ext cx="44937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3424034" y="4144952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3939489" y="4144952"/>
            <a:ext cx="36459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-0.275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4946269" y="4144952"/>
            <a:ext cx="2639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0.028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840641" y="4144952"/>
            <a:ext cx="17447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0.303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782660" y="4327159"/>
            <a:ext cx="58027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2104224" y="4327159"/>
            <a:ext cx="54811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0.788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2572804" y="4327159"/>
            <a:ext cx="5012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0.829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3100146" y="4327159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3424034" y="4327159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3961320" y="4327159"/>
            <a:ext cx="36240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0.212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4965750" y="4327159"/>
            <a:ext cx="261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0.171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5841847" y="4327159"/>
            <a:ext cx="1743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0.383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791195" y="4509353"/>
            <a:ext cx="57942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11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2100618" y="4509353"/>
            <a:ext cx="54847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0.624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2573375" y="4509353"/>
            <a:ext cx="50120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0.658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3100146" y="4509353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3424034" y="4509353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3957586" y="4509353"/>
            <a:ext cx="3627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0.376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4947475" y="4509353"/>
            <a:ext cx="26379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0.342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5852795" y="4509353"/>
            <a:ext cx="17326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0.718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783854" y="4691547"/>
            <a:ext cx="58015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12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2135098" y="4691547"/>
            <a:ext cx="54503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0.89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2572804" y="4691547"/>
            <a:ext cx="5012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0.359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3100146" y="4691547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3415487" y="4691547"/>
            <a:ext cx="4169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4003700" y="4691547"/>
            <a:ext cx="35817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0.11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4928806" y="4691547"/>
            <a:ext cx="26565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-0.359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5841276" y="4691547"/>
            <a:ext cx="17441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0.469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783854" y="4873741"/>
            <a:ext cx="58015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13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2099475" y="4873741"/>
            <a:ext cx="54859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0.699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2576982" y="4873741"/>
            <a:ext cx="5008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0.478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3091611" y="4873741"/>
            <a:ext cx="44937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3424034" y="4873741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3934752" y="4873741"/>
            <a:ext cx="36506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-0.699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4947475" y="4873741"/>
            <a:ext cx="26379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0.522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5857722" y="4873741"/>
            <a:ext cx="17276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1.221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783854" y="5055935"/>
            <a:ext cx="58015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14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2104224" y="5055935"/>
            <a:ext cx="54811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0.674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2572804" y="5055935"/>
            <a:ext cx="5012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0.984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3100146" y="5055935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3424034" y="5055935"/>
            <a:ext cx="41613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3953979" y="5055935"/>
            <a:ext cx="36314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0.326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4953609" y="5055935"/>
            <a:ext cx="26317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0.016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5841847" y="5055935"/>
            <a:ext cx="17435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0.342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783854" y="5238129"/>
            <a:ext cx="58015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15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2104224" y="5238129"/>
            <a:ext cx="54811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0.788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2573375" y="5238129"/>
            <a:ext cx="50120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0.366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3100146" y="5238129"/>
            <a:ext cx="448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3415487" y="5238129"/>
            <a:ext cx="4169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3961320" y="5238129"/>
            <a:ext cx="36240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0.212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4929378" y="5238129"/>
            <a:ext cx="2656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-0.366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5845454" y="5238129"/>
            <a:ext cx="17399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0.578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4965433" y="5425391"/>
            <a:ext cx="26199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Total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5821476" y="5425391"/>
            <a:ext cx="17639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10.182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3129546" y="5740894"/>
            <a:ext cx="4455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ma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3698379" y="5655309"/>
            <a:ext cx="3887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3557803" y="5740894"/>
            <a:ext cx="40276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ˆ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182</a:t>
            </a:r>
            <a:r>
              <a:rPr sz="996" b="0">
                <a:solidFill>
                  <a:srgbClr val="0000FF"/>
                </a:solidFill>
                <a:latin typeface="TeX matha10"/>
              </a:rPr>
              <a:t>q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3394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1182636" y="6649556"/>
            <a:ext cx="64027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(c)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maximum absolute error for the system.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1511350" y="7022749"/>
            <a:ext cx="60740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2180247" y="7300520"/>
            <a:ext cx="54051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maximum absolute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max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max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4097515" y="7300606"/>
            <a:ext cx="34878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k,j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3912718" y="7569875"/>
            <a:ext cx="36726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maximum value of</a:t>
            </a:r>
            <a:r>
              <a:rPr sz="996" b="0">
                <a:solidFill>
                  <a:srgbClr val="0000FF"/>
                </a:solidFill>
                <a:latin typeface="TeX matha10"/>
              </a:rPr>
              <a:t> |</a:t>
            </a: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and</a:t>
            </a:r>
            <a:r>
              <a:rPr sz="996" b="0">
                <a:solidFill>
                  <a:srgbClr val="0000FF"/>
                </a:solidFill>
                <a:latin typeface="TeX matha10"/>
              </a:rPr>
              <a:t> |</a:t>
            </a: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|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3912717" y="7759762"/>
            <a:ext cx="367268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809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76674" y="1704429"/>
            <a:ext cx="97492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637189" y="2928111"/>
            <a:ext cx="111087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34802" y="3272013"/>
            <a:ext cx="4992024" cy="0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36730" y="327394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801828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162855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523020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36524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50028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475985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201933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613729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25515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524888" y="3273941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34802" y="3414845"/>
            <a:ext cx="4992024" cy="0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36730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01828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162855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23020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136524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750028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475985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201933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13729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25515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524888" y="3416773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36730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801828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162855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523020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136524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750028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475985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201933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13729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025515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524888" y="355573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536730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01828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162855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523020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136524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750028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475985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201933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613729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025515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524888" y="369470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536730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801828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162855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523020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36524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750028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475985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201933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13729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025515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524888" y="383367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536730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801828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162855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523020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136524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750028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75985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201933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613729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025515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24888" y="397264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536730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801828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162855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523020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136524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750028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475985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201933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613729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025515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24888" y="4111616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536730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801828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162855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523020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136524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750028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475985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201933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613729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025515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524888" y="4250583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536730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801828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162855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523020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136524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750028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475985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201933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613729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025515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524888" y="4389550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536730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801828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162855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523020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136524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750028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475985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201933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5613729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025515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524888" y="452851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536730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801828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162855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523020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136524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750028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4475985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201933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613729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025515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524888" y="4667484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536730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801828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162855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523020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136524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750028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4475985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5201933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613729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025515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524888" y="4806460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536730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801828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162855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523020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136524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750028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475985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201933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5613729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025515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524888" y="4945427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536730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801828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162855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523020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3136524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3750028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475985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201933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613729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025515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524888" y="5084394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536730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801828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162855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523020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136524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750028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475985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201933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613729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025515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524888" y="5223361"/>
            <a:ext cx="0" cy="138966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536730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801828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162855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523020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136524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3750028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475985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201933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613729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025515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24888" y="5362327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534802" y="5503222"/>
            <a:ext cx="4992024" cy="0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536730" y="550515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523020" y="550515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136524" y="550515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3750028" y="550515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3753883" y="550515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6025515" y="550515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524888" y="5505159"/>
            <a:ext cx="0" cy="138967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534802" y="5646053"/>
            <a:ext cx="4992024" cy="0"/>
          </a:xfrm>
          <a:prstGeom prst="line">
            <a:avLst/>
          </a:prstGeom>
          <a:ln w="385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291596" y="6246571"/>
            <a:ext cx="28820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392415" y="1220596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394942" y="12231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643065" y="12231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394942" y="12456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43065" y="12456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394942" y="1337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643065" y="1337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394942" y="1428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643065" y="1428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394942" y="15199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643065" y="15199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394942" y="1611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643065" y="1611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394942" y="1702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6643065" y="1702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394942" y="17943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6643065" y="17943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394942" y="1885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6643065" y="1885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394942" y="1977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6643065" y="1977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394942" y="2068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6643065" y="2068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394942" y="21600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6643065" y="21600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394942" y="2251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6643065" y="2251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394942" y="2342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6643065" y="2342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394942" y="24344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6643065" y="24344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394942" y="2525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6643065" y="2525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394942" y="2617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6643065" y="2617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394942" y="27087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6643065" y="27087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394942" y="28002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6643065" y="28002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394942" y="28916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6643065" y="28916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394942" y="29830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6643065" y="29830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394942" y="30745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6643065" y="30745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394942" y="31659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6643065" y="31659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394942" y="32574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6643065" y="32574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394942" y="3348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6643065" y="3348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394942" y="34403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6643065" y="34403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394942" y="35317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6643065" y="35317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394942" y="36232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6643065" y="36232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1394942" y="37146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6643065" y="37146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394942" y="3806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6643065" y="3806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394942" y="3897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6643065" y="3897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394942" y="3988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6643065" y="3988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394942" y="40804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6643065" y="40804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394942" y="4171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6643065" y="4171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394942" y="42633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6643065" y="42633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394942" y="4354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6643065" y="4354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394942" y="4446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6643065" y="4446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394942" y="453767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6643065" y="453767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394942" y="4629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6643065" y="4629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394942" y="47205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6643065" y="47205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394942" y="4812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6643065" y="4812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394942" y="49034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6643065" y="49034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394942" y="49948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6643065" y="49948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1394942" y="50863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6643065" y="50863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1394942" y="51777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6643065" y="51777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1394942" y="526922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6643065" y="526922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394942" y="536068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6643065" y="536068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1394942" y="5452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6643065" y="5452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1394942" y="55435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6643065" y="55435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394942" y="56350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6643065" y="56350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1394942" y="57264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6643065" y="57264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394942" y="58179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6643065" y="58179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394942" y="59093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6643065" y="59093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394942" y="6000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6643065" y="6000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1394942" y="60922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6643065" y="60922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1394942" y="6183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6643065" y="6183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394942" y="62751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6643065" y="62751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394942" y="63665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6643065" y="63665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394942" y="6458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643065" y="6458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1394942" y="65494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643065" y="65494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1394942" y="6640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643065" y="6640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1394942" y="67323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643065" y="67323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394942" y="68238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643065" y="68238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394942" y="6915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643065" y="6915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394942" y="70066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643065" y="70066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1394942" y="7098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6643065" y="7098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394942" y="71895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643065" y="71895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1394942" y="72810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6643065" y="72810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394942" y="7372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6643065" y="7372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1394942" y="7463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6643065" y="7463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394942" y="7555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6643065" y="7555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1394942" y="76468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6643065" y="76468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1394942" y="7738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6643065" y="7738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1394942" y="7829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6643065" y="7829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394942" y="79211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6643065" y="79211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394942" y="8012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6643065" y="8012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394942" y="810404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6643065" y="810404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394942" y="81954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6643065" y="81954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394942" y="82869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6643065" y="82869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394942" y="8378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6643065" y="8378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394942" y="84698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6643065" y="84698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394942" y="85612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6643065" y="85612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1394942" y="865271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6643065" y="865271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1394942" y="87441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6643065" y="87441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394942" y="88356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6643065" y="88356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394942" y="89270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6643065" y="89270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1394942" y="90184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6643065" y="90184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1394942" y="91099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6643065" y="91099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1394942" y="92013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6643065" y="92013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1394942" y="92928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6643065" y="92928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1394942" y="93842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6643065" y="93842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1394942" y="947572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6643065" y="947572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TextBox 37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177569" y="941962"/>
            <a:ext cx="64078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(d)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normalised error for the system.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511350" y="1315155"/>
            <a:ext cx="60740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871228" y="1637097"/>
            <a:ext cx="47141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normalised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n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4301502" y="1551499"/>
            <a:ext cx="32839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total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t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4176674" y="1723887"/>
            <a:ext cx="34087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mean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Roboto Light"/>
              </a:rPr>
              <a:t>mean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2760929" y="2002678"/>
            <a:ext cx="48244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total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t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3884752" y="1880600"/>
            <a:ext cx="370065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m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3859377" y="1854929"/>
            <a:ext cx="3726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3837635" y="2178288"/>
            <a:ext cx="374776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4059999" y="1854929"/>
            <a:ext cx="35254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q</a:t>
            </a: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042740" y="2175393"/>
            <a:ext cx="354266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j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4238904" y="1949551"/>
            <a:ext cx="33465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y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q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39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2853766" y="2434719"/>
            <a:ext cx="4731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mean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Roboto Light"/>
              </a:rPr>
              <a:t>mean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4227245" y="2312641"/>
            <a:ext cx="335815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m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4201858" y="2286957"/>
            <a:ext cx="3383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4180128" y="2610316"/>
            <a:ext cx="340527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4402492" y="2286957"/>
            <a:ext cx="31829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q</a:t>
            </a: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4385233" y="2607421"/>
            <a:ext cx="320017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j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4581397" y="2400868"/>
            <a:ext cx="30040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µ</a:t>
            </a:r>
            <a:r>
              <a:rPr sz="697" b="0">
                <a:solidFill>
                  <a:srgbClr val="0000FF"/>
                </a:solidFill>
                <a:latin typeface="Cambria Math"/>
              </a:rPr>
              <a:t>j</a:t>
            </a:r>
            <a:r>
              <a:rPr sz="996" b="0">
                <a:solidFill>
                  <a:srgbClr val="0000FF"/>
                </a:solidFill>
                <a:latin typeface="TeX matha10"/>
              </a:rPr>
              <a:t>q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2884817" y="2775266"/>
            <a:ext cx="47005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mean of expected output,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µ</a:t>
            </a:r>
            <a:r>
              <a:rPr sz="697" b="0">
                <a:solidFill>
                  <a:srgbClr val="0000FF"/>
                </a:solidFill>
                <a:latin typeface="Cambria Math"/>
              </a:rPr>
              <a:t>j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4637189" y="2947643"/>
            <a:ext cx="2948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m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4831676" y="2738688"/>
            <a:ext cx="275372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m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4806289" y="2713017"/>
            <a:ext cx="27791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x10"/>
              </a:rPr>
              <a:t>ÿ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4784559" y="3036376"/>
            <a:ext cx="280084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k</a:t>
            </a:r>
            <a:r>
              <a:rPr sz="697" b="0">
                <a:solidFill>
                  <a:srgbClr val="0000FF"/>
                </a:solidFill>
                <a:latin typeface="TeX matha7"/>
              </a:rPr>
              <a:t>“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4989652" y="2860852"/>
            <a:ext cx="25957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697" b="0">
                <a:solidFill>
                  <a:srgbClr val="0000FF"/>
                </a:solidFill>
                <a:latin typeface="Cambria Math"/>
              </a:rPr>
              <a:t>kj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596565" y="3295737"/>
            <a:ext cx="598883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No.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915716" y="3295803"/>
            <a:ext cx="566968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y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276307" y="3295803"/>
            <a:ext cx="5309097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y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766091" y="3295803"/>
            <a:ext cx="481931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b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379594" y="3295803"/>
            <a:ext cx="420581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b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809863" y="3295803"/>
            <a:ext cx="3775542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e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  <a:r>
              <a:rPr sz="759" b="0">
                <a:solidFill>
                  <a:srgbClr val="0000FF"/>
                </a:solidFill>
                <a:latin typeface="TeX matha10"/>
              </a:rPr>
              <a:t> </a:t>
            </a:r>
            <a:r>
              <a:rPr sz="759" b="0">
                <a:solidFill>
                  <a:srgbClr val="0000FF"/>
                </a:solidFill>
                <a:latin typeface="TeX matha10"/>
              </a:rPr>
              <a:t>“</a:t>
            </a:r>
            <a:r>
              <a:rPr sz="759" b="0">
                <a:solidFill>
                  <a:srgbClr val="0000FF"/>
                </a:solidFill>
                <a:latin typeface="Cambria Math"/>
              </a:rPr>
              <a:t> b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  <a:r>
              <a:rPr sz="759" b="0">
                <a:solidFill>
                  <a:srgbClr val="0000FF"/>
                </a:solidFill>
                <a:latin typeface="TeX matha10"/>
              </a:rPr>
              <a:t> ´</a:t>
            </a:r>
            <a:r>
              <a:rPr sz="759" b="0">
                <a:solidFill>
                  <a:srgbClr val="0000FF"/>
                </a:solidFill>
                <a:latin typeface="Cambria Math"/>
              </a:rPr>
              <a:t> µ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4535811" y="3295803"/>
            <a:ext cx="30495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e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  <a:r>
              <a:rPr sz="759" b="0">
                <a:solidFill>
                  <a:srgbClr val="0000FF"/>
                </a:solidFill>
                <a:latin typeface="TeX matha10"/>
              </a:rPr>
              <a:t> </a:t>
            </a:r>
            <a:r>
              <a:rPr sz="759" b="0">
                <a:solidFill>
                  <a:srgbClr val="0000FF"/>
                </a:solidFill>
                <a:latin typeface="TeX matha10"/>
              </a:rPr>
              <a:t>“</a:t>
            </a:r>
            <a:r>
              <a:rPr sz="759" b="0">
                <a:solidFill>
                  <a:srgbClr val="0000FF"/>
                </a:solidFill>
                <a:latin typeface="Cambria Math"/>
              </a:rPr>
              <a:t> b</a:t>
            </a: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  <a:r>
              <a:rPr sz="759" b="0">
                <a:solidFill>
                  <a:srgbClr val="0000FF"/>
                </a:solidFill>
                <a:latin typeface="TeX matha10"/>
              </a:rPr>
              <a:t> ´</a:t>
            </a:r>
            <a:r>
              <a:rPr sz="759" b="0">
                <a:solidFill>
                  <a:srgbClr val="0000FF"/>
                </a:solidFill>
                <a:latin typeface="Cambria Math"/>
              </a:rPr>
              <a:t> µ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5342392" y="3283402"/>
            <a:ext cx="2243012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e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5387319" y="3345756"/>
            <a:ext cx="2198085" cy="1047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5754178" y="3283402"/>
            <a:ext cx="183122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e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799115" y="3345756"/>
            <a:ext cx="1786290" cy="1047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6085350" y="3283402"/>
            <a:ext cx="150005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e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6130287" y="3283402"/>
            <a:ext cx="145511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  <a:r>
              <a:rPr sz="759" b="0">
                <a:solidFill>
                  <a:srgbClr val="0000FF"/>
                </a:solidFill>
                <a:latin typeface="TeX matha10"/>
              </a:rPr>
              <a:t> </a:t>
            </a:r>
            <a:r>
              <a:rPr sz="759" b="0">
                <a:solidFill>
                  <a:srgbClr val="0000FF"/>
                </a:solidFill>
                <a:latin typeface="TeX matha10"/>
              </a:rPr>
              <a:t>`</a:t>
            </a:r>
            <a:r>
              <a:rPr sz="759" b="0">
                <a:solidFill>
                  <a:srgbClr val="0000FF"/>
                </a:solidFill>
                <a:latin typeface="Cambria Math"/>
              </a:rPr>
              <a:t> e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6379102" y="3345756"/>
            <a:ext cx="1206303" cy="1047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1" b="0">
                <a:solidFill>
                  <a:srgbClr val="0000FF"/>
                </a:solidFill>
                <a:latin typeface="Cambria Math"/>
              </a:rPr>
              <a:t>k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648147" y="3438560"/>
            <a:ext cx="5937257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863010" y="3438560"/>
            <a:ext cx="572239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0.623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2222691" y="3438560"/>
            <a:ext cx="536271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0.028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2808635" y="3438560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3415629" y="3438560"/>
            <a:ext cx="41697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3969695" y="3438560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4679098" y="3438560"/>
            <a:ext cx="290630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5270119" y="3438560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5673564" y="3438560"/>
            <a:ext cx="19118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6128224" y="3438560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642548" y="3577526"/>
            <a:ext cx="594285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874208" y="3577526"/>
            <a:ext cx="571119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0.112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2223611" y="3577526"/>
            <a:ext cx="53617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0.225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2802126" y="3577526"/>
            <a:ext cx="47832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3415629" y="3577526"/>
            <a:ext cx="41697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3953140" y="3577526"/>
            <a:ext cx="363226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4679098" y="3577526"/>
            <a:ext cx="290630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5261769" y="3577526"/>
            <a:ext cx="232363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5673564" y="3577526"/>
            <a:ext cx="19118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6129144" y="3577526"/>
            <a:ext cx="14562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0.5688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642548" y="3716494"/>
            <a:ext cx="594285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861664" y="3716494"/>
            <a:ext cx="57237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0.809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2223611" y="3716494"/>
            <a:ext cx="53617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0.228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2802126" y="3716494"/>
            <a:ext cx="47832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3422139" y="3716494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3953140" y="3716494"/>
            <a:ext cx="363226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4695643" y="3716494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5261769" y="3716494"/>
            <a:ext cx="232363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5681905" y="3716494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6128224" y="3716494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1642548" y="3855470"/>
            <a:ext cx="594285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862584" y="3855470"/>
            <a:ext cx="572282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0.349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2223611" y="3855470"/>
            <a:ext cx="53617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2802126" y="3855470"/>
            <a:ext cx="47832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3415629" y="3855470"/>
            <a:ext cx="41697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3953140" y="3855470"/>
            <a:ext cx="363226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4679098" y="3855470"/>
            <a:ext cx="290630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5261769" y="3855470"/>
            <a:ext cx="232363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5673564" y="3855470"/>
            <a:ext cx="19118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6129144" y="3855470"/>
            <a:ext cx="14562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0.5688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642548" y="3994437"/>
            <a:ext cx="594285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863010" y="3994437"/>
            <a:ext cx="572239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0.664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2223175" y="3994437"/>
            <a:ext cx="536222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0.359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2802126" y="3994437"/>
            <a:ext cx="47832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3422139" y="3994437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3953140" y="3994437"/>
            <a:ext cx="363226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4695643" y="3994437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5261769" y="3994437"/>
            <a:ext cx="232363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5681905" y="3994437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6128224" y="3994437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642548" y="4133404"/>
            <a:ext cx="594285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895345" y="4133404"/>
            <a:ext cx="56900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0.81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2222691" y="4133404"/>
            <a:ext cx="536271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0.304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2808635" y="4133404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3415629" y="4133404"/>
            <a:ext cx="41697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3969695" y="4133404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4679098" y="4133404"/>
            <a:ext cx="290630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5270119" y="4133404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5673564" y="4133404"/>
            <a:ext cx="19118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6128224" y="4133404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1645299" y="4272370"/>
            <a:ext cx="594010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7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865761" y="4272370"/>
            <a:ext cx="571964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0.673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2229210" y="4272370"/>
            <a:ext cx="535619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0.818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2808635" y="4272370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3422139" y="4272370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3969695" y="4272370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4695643" y="4272370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5270119" y="4272370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5681905" y="4272370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6129144" y="4272370"/>
            <a:ext cx="14562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0.4356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642548" y="4411337"/>
            <a:ext cx="594285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8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863010" y="4411337"/>
            <a:ext cx="572239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0.465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2223175" y="4411337"/>
            <a:ext cx="536222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0.439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2802126" y="4411337"/>
            <a:ext cx="47832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3415629" y="4411337"/>
            <a:ext cx="41697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3953140" y="4411337"/>
            <a:ext cx="363226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4679098" y="4411337"/>
            <a:ext cx="290630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5261769" y="4411337"/>
            <a:ext cx="232363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5673564" y="4411337"/>
            <a:ext cx="19118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6129144" y="4411337"/>
            <a:ext cx="14562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0.5688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642112" y="4550304"/>
            <a:ext cx="5943292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9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865761" y="4550304"/>
            <a:ext cx="571964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0.275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2225926" y="4550304"/>
            <a:ext cx="53594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0.972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2802126" y="4550304"/>
            <a:ext cx="47832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3422139" y="4550304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3953140" y="4550304"/>
            <a:ext cx="363226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4695643" y="4550304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5261769" y="4550304"/>
            <a:ext cx="232363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5681905" y="4550304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6128224" y="4550304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1620491" y="4689280"/>
            <a:ext cx="596491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865761" y="4689280"/>
            <a:ext cx="571964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0.788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2223175" y="4689280"/>
            <a:ext cx="536222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0.829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2808635" y="4689280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3422139" y="4689280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3969695" y="4689280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4695643" y="4689280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5270119" y="4689280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5681905" y="4689280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6129144" y="4689280"/>
            <a:ext cx="14562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0.4356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627011" y="4828247"/>
            <a:ext cx="595839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11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863010" y="4828247"/>
            <a:ext cx="572239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0.624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2223611" y="4828247"/>
            <a:ext cx="53617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0.658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2808635" y="4828247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3422139" y="4828247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3969695" y="4828247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4695643" y="4828247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5270119" y="4828247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5681905" y="4828247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6129144" y="4828247"/>
            <a:ext cx="14562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0.4356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1621412" y="4967214"/>
            <a:ext cx="59639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12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1889310" y="4967214"/>
            <a:ext cx="569609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0.89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2223175" y="4967214"/>
            <a:ext cx="536222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0.359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2808635" y="4967214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3415629" y="4967214"/>
            <a:ext cx="41697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3969695" y="4967214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4679098" y="4967214"/>
            <a:ext cx="290630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5270119" y="4967214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5673564" y="4967214"/>
            <a:ext cx="19118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128224" y="4967214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1621412" y="5106181"/>
            <a:ext cx="59639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13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1862148" y="5106181"/>
            <a:ext cx="572325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0.699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2226362" y="5106181"/>
            <a:ext cx="5359042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0.478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802126" y="5106181"/>
            <a:ext cx="4783278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3422139" y="5106181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3953140" y="5106181"/>
            <a:ext cx="363226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695643" y="5106181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5261769" y="5106181"/>
            <a:ext cx="232363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5681905" y="5106181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6128224" y="5106181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1621412" y="5245148"/>
            <a:ext cx="59639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14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1865761" y="5245148"/>
            <a:ext cx="571964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0.674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2223175" y="5245148"/>
            <a:ext cx="536222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0.984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2808635" y="5245148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3422139" y="5245148"/>
            <a:ext cx="416326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3969695" y="5245148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695643" y="5245148"/>
            <a:ext cx="2889761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270119" y="5245148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5681905" y="5245148"/>
            <a:ext cx="190350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6129144" y="5245148"/>
            <a:ext cx="145626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0.4356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621412" y="5384114"/>
            <a:ext cx="59639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15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865761" y="5384114"/>
            <a:ext cx="571964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0.788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2223611" y="5384114"/>
            <a:ext cx="5361793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0.366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2808635" y="5384114"/>
            <a:ext cx="477676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3415629" y="5384114"/>
            <a:ext cx="41697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3969695" y="5384114"/>
            <a:ext cx="361570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0.4667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4679098" y="5384114"/>
            <a:ext cx="290630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-0.5333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5270119" y="5384114"/>
            <a:ext cx="2315286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0.2178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5673564" y="5384114"/>
            <a:ext cx="191184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0.2844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6128224" y="5384114"/>
            <a:ext cx="14571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0.5022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2124350" y="5526946"/>
            <a:ext cx="5461054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Average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2582855" y="5526946"/>
            <a:ext cx="5002549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µ</a:t>
            </a:r>
            <a:r>
              <a:rPr sz="531" b="0">
                <a:solidFill>
                  <a:srgbClr val="0000FF"/>
                </a:solidFill>
                <a:latin typeface="Cambria Math"/>
              </a:rPr>
              <a:t>1</a:t>
            </a:r>
            <a:r>
              <a:rPr sz="759" b="0">
                <a:solidFill>
                  <a:srgbClr val="0000FF"/>
                </a:solidFill>
                <a:latin typeface="Roboto Light"/>
              </a:rPr>
              <a:t> = 0.5333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3196359" y="5526946"/>
            <a:ext cx="438904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Cambria Math"/>
              </a:rPr>
              <a:t>µ</a:t>
            </a:r>
            <a:r>
              <a:rPr sz="531" b="0">
                <a:solidFill>
                  <a:srgbClr val="0000FF"/>
                </a:solidFill>
                <a:latin typeface="Cambria Math"/>
              </a:rPr>
              <a:t>2</a:t>
            </a:r>
            <a:r>
              <a:rPr sz="759" b="0">
                <a:solidFill>
                  <a:srgbClr val="0000FF"/>
                </a:solidFill>
                <a:latin typeface="Roboto Light"/>
              </a:rPr>
              <a:t> = 0.5333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5754430" y="5526946"/>
            <a:ext cx="1830975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Roboto Light"/>
              </a:rPr>
              <a:t>Total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6122024" y="5526946"/>
            <a:ext cx="1463380" cy="1495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9" b="0">
                <a:solidFill>
                  <a:srgbClr val="0000FF"/>
                </a:solidFill>
                <a:latin typeface="TeX matha10"/>
              </a:rPr>
              <a:t>«</a:t>
            </a:r>
            <a:r>
              <a:rPr sz="759" b="0">
                <a:solidFill>
                  <a:srgbClr val="0000FF"/>
                </a:solidFill>
                <a:latin typeface="Roboto Light"/>
              </a:rPr>
              <a:t>7.466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2916529" y="5915941"/>
            <a:ext cx="46688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mean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Roboto Light"/>
              </a:rPr>
              <a:t>mean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ˆ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7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466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733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2986151" y="6093726"/>
            <a:ext cx="45992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normalised error,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697" b="0">
                <a:solidFill>
                  <a:srgbClr val="0000FF"/>
                </a:solidFill>
                <a:latin typeface="Cambria Math"/>
              </a:rPr>
              <a:t>n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39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4291596" y="6179323"/>
            <a:ext cx="329380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3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733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641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3748557" y="9997810"/>
            <a:ext cx="3836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2554477" y="175357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161870" y="1983854"/>
            <a:ext cx="323626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54477" y="198638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554477" y="22141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66059" y="427865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96376" y="4463377"/>
            <a:ext cx="3819296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966059" y="446591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96376" y="4650638"/>
            <a:ext cx="3819296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966059" y="465316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96376" y="4837900"/>
            <a:ext cx="3819296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66059" y="484042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96376" y="5025148"/>
            <a:ext cx="3819296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966059" y="502768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3677" y="5794099"/>
            <a:ext cx="5243209" cy="0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86077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31123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73890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617736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60514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89418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931115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373894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15580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259558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689530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110548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524497" y="5796487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86077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731123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173890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617736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60514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489418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931115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373894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815580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59558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689530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110548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524497" y="5968668"/>
            <a:ext cx="0" cy="172181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83677" y="6143249"/>
            <a:ext cx="5243209" cy="0"/>
          </a:xfrm>
          <a:prstGeom prst="line">
            <a:avLst/>
          </a:prstGeom>
          <a:ln w="4776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733486" y="6411848"/>
            <a:ext cx="434505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736026" y="641437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734055" y="6414375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222053" y="641437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749256" y="641437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256798" y="641437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63185" y="641437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269585" y="641437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775972" y="641437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076022" y="641437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33486" y="6599097"/>
            <a:ext cx="434505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736026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734055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222053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749256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256798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763185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269585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75972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76022" y="660163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733486" y="6786359"/>
            <a:ext cx="434505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551292" y="7055104"/>
            <a:ext cx="4709452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553819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478976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039846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639934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220362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799634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378907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958166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258217" y="7057631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551292" y="7242353"/>
            <a:ext cx="4709452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553819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478976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039846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639934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220362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99634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378907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958166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258217" y="724489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551292" y="7429614"/>
            <a:ext cx="4709452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35697" y="3692588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138224" y="36951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643065" y="36951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138224" y="37161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43065" y="37161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138224" y="38075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43065" y="38075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138224" y="38990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43065" y="38990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138224" y="39904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43065" y="39904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138224" y="4081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43065" y="40819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138224" y="41733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643065" y="41733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138224" y="42648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643065" y="42648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138224" y="43562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643065" y="43562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138224" y="44477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643065" y="44477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138224" y="45391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643065" y="45391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138224" y="46305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643065" y="46305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138224" y="47220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643065" y="47220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38224" y="48134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643065" y="48134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38224" y="49049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643065" y="49049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38224" y="49963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43065" y="49963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38224" y="50878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643065" y="50878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138224" y="51792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643065" y="51792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138224" y="527071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643065" y="527071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138224" y="53621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43065" y="53621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138224" y="54536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643065" y="54536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138224" y="55450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643065" y="55450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138224" y="56365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643065" y="56365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138224" y="57279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643065" y="57279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138224" y="58193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643065" y="58193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138224" y="59108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643065" y="59108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138224" y="600227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643065" y="600227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138224" y="609372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643065" y="609372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138224" y="61851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643065" y="61851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138224" y="62766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6643065" y="62766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138224" y="63680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643065" y="63680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138224" y="64595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643065" y="64595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138224" y="65509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643065" y="65509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138224" y="66423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6643065" y="66423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138224" y="67338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643065" y="67338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38224" y="68252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68252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138224" y="69167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69167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138224" y="70081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70081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138224" y="70996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70996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138224" y="71910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71910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138224" y="72825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72825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138224" y="7373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7373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138224" y="74654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74654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138224" y="75568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75568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38224" y="76482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76482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138224" y="77397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77397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138224" y="78311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78311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138224" y="79226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79226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138224" y="80140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80140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138224" y="8105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8105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138224" y="81969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81969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138224" y="8288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82884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38224" y="83798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83798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38224" y="84713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84713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38224" y="85627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85627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38224" y="86541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86541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138224" y="8745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8745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138224" y="8837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8837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138224" y="89285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89285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138224" y="90199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643065" y="90199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138224" y="9111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6643065" y="9111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138224" y="9202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6643065" y="9202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138224" y="9294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6643065" y="9294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138224" y="93857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6643065" y="93857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138224" y="94772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6643065" y="94772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138224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135697" y="9592195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Mann-Whitney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U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effort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comparing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performance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GA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PSO,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Tim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has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imple-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mented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both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GA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PSO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solve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same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problem.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Both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algorithms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have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been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executed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for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six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times each, and the solutions are recorded in Table 3.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178405" y="1596419"/>
            <a:ext cx="54069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3: Solutions provided for the six runs by GA and PSO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256891" y="1814033"/>
            <a:ext cx="53285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Run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773616" y="1814032"/>
            <a:ext cx="48117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243530" y="1814032"/>
            <a:ext cx="43418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06485" y="1814032"/>
            <a:ext cx="38789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169314" y="1814032"/>
            <a:ext cx="34160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635811" y="1814032"/>
            <a:ext cx="29495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116227" y="1814032"/>
            <a:ext cx="24691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310663" y="2046848"/>
            <a:ext cx="52747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GA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632925" y="2046848"/>
            <a:ext cx="49524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-0.031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121565" y="2046848"/>
            <a:ext cx="446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0.394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587430" y="2046848"/>
            <a:ext cx="39979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0.407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047348" y="2046848"/>
            <a:ext cx="35380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0.389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518021" y="2046848"/>
            <a:ext cx="30673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0.375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94767" y="2046848"/>
            <a:ext cx="25906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0.246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237778" y="2274585"/>
            <a:ext cx="53476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PSO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634119" y="2274585"/>
            <a:ext cx="4951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-0.416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122126" y="2274585"/>
            <a:ext cx="44632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0.263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588624" y="2274585"/>
            <a:ext cx="39967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0.376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050947" y="2274585"/>
            <a:ext cx="35344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0.279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513269" y="2274585"/>
            <a:ext cx="30721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0.042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980399" y="2274585"/>
            <a:ext cx="2605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-0.247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135697" y="260418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ﬁtness of the solution can be calculated using Equation 1.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364610" y="2916682"/>
            <a:ext cx="42207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</a:t>
            </a:r>
            <a:r>
              <a:rPr sz="996" b="0">
                <a:solidFill>
                  <a:srgbClr val="000000"/>
                </a:solidFill>
                <a:latin typeface="TeX matha10"/>
              </a:rPr>
              <a:t>p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TeX matha10"/>
              </a:rPr>
              <a:t>q “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TeX matha10"/>
              </a:rPr>
              <a:t> </a:t>
            </a:r>
            <a:r>
              <a:rPr sz="996" b="0">
                <a:solidFill>
                  <a:srgbClr val="000000"/>
                </a:solidFill>
                <a:latin typeface="TeX matha10"/>
              </a:rPr>
              <a:t>`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TeX matha10"/>
              </a:rPr>
              <a:t> `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2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508825" y="2958455"/>
            <a:ext cx="1076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(1)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135697" y="3236813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Using Mann-Whitney U test, evaluate if any of the algorithms perform better than the other. Note that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135697" y="3388641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higher ﬁtness corresponds to better chromosome.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254632" y="3812445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254632" y="4014320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Calculate ﬁtness.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668472" y="4307220"/>
            <a:ext cx="49169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Run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185198" y="4307220"/>
            <a:ext cx="44002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655111" y="4307220"/>
            <a:ext cx="39302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120977" y="4307220"/>
            <a:ext cx="34644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586842" y="4307220"/>
            <a:ext cx="29985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053340" y="4307220"/>
            <a:ext cx="25320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533756" y="4307220"/>
            <a:ext cx="2051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722245" y="4494481"/>
            <a:ext cx="48631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044507" y="4494481"/>
            <a:ext cx="454089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-0.031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533147" y="4494481"/>
            <a:ext cx="4052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0.394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002048" y="4494481"/>
            <a:ext cx="35833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0.407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464877" y="4494481"/>
            <a:ext cx="31205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0.389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935550" y="4494481"/>
            <a:ext cx="26498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0.375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412423" y="4494481"/>
            <a:ext cx="21729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0.246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145169" y="4681730"/>
            <a:ext cx="5440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Fitness of GA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063862" y="4681730"/>
            <a:ext cx="4521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1.939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3534408" y="4681730"/>
            <a:ext cx="40509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2.943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3999008" y="4681730"/>
            <a:ext cx="35863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2.980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465506" y="4681730"/>
            <a:ext cx="31198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2.929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939975" y="4681730"/>
            <a:ext cx="26454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2.891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413558" y="4681730"/>
            <a:ext cx="21718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2.553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649372" y="4868991"/>
            <a:ext cx="49360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045714" y="4868991"/>
            <a:ext cx="45396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-0.416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533721" y="4868991"/>
            <a:ext cx="4051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0.263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003128" y="4868991"/>
            <a:ext cx="35822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0.376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468488" y="4868991"/>
            <a:ext cx="3116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0.279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930683" y="4868991"/>
            <a:ext cx="2654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0.042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397813" y="4868991"/>
            <a:ext cx="21875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-0.247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2072284" y="5056253"/>
            <a:ext cx="55131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Fitness of PSO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072345" y="5056253"/>
            <a:ext cx="45130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1.341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534288" y="5056253"/>
            <a:ext cx="40511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2.595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000153" y="5056253"/>
            <a:ext cx="35852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2.893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466651" y="5056253"/>
            <a:ext cx="31187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2.636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931884" y="5056253"/>
            <a:ext cx="26535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2.086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424446" y="5056253"/>
            <a:ext cx="2160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1.567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254620" y="5376419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Arrange ﬁtness from best (highest to lowest) to worst.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430461" y="5823482"/>
            <a:ext cx="6154943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874367" y="5823482"/>
            <a:ext cx="5711037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2317674" y="5823482"/>
            <a:ext cx="5267731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2726546" y="5823482"/>
            <a:ext cx="4858858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3196821" y="5823482"/>
            <a:ext cx="4388584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3597688" y="5823482"/>
            <a:ext cx="3987717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039926" y="5823482"/>
            <a:ext cx="3545478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516597" y="5823482"/>
            <a:ext cx="3068807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924990" y="5823482"/>
            <a:ext cx="2660415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5396405" y="5823482"/>
            <a:ext cx="2189000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787466" y="5823482"/>
            <a:ext cx="1797938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204944" y="5823482"/>
            <a:ext cx="1380460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360201" y="5995663"/>
            <a:ext cx="6225203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2.980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805248" y="5995663"/>
            <a:ext cx="5780156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2.943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248026" y="5995663"/>
            <a:ext cx="5337378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2.929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691872" y="5995663"/>
            <a:ext cx="4893532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2.893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134650" y="5995663"/>
            <a:ext cx="4450754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2.891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563554" y="5995663"/>
            <a:ext cx="4021850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2.636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005252" y="5995663"/>
            <a:ext cx="3580152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2.595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448018" y="5995663"/>
            <a:ext cx="3137386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2.553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4889716" y="5995663"/>
            <a:ext cx="2695688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2.086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333694" y="5995663"/>
            <a:ext cx="2251710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1.939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763666" y="5995663"/>
            <a:ext cx="1821738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1.567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184684" y="5995663"/>
            <a:ext cx="1400720" cy="185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1" b="0">
                <a:solidFill>
                  <a:srgbClr val="0000FF"/>
                </a:solidFill>
                <a:latin typeface="Roboto Light"/>
              </a:rPr>
              <a:t>1.341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2812503" y="6397030"/>
            <a:ext cx="47729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  <a:r>
              <a:rPr sz="697" b="0">
                <a:solidFill>
                  <a:srgbClr val="0000FF"/>
                </a:solidFill>
                <a:latin typeface="Roboto Light"/>
              </a:rPr>
              <a:t>st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300488" y="6397030"/>
            <a:ext cx="42849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  <a:r>
              <a:rPr sz="697" b="0">
                <a:solidFill>
                  <a:srgbClr val="0000FF"/>
                </a:solidFill>
                <a:latin typeface="Roboto Light"/>
              </a:rPr>
              <a:t>nd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827703" y="6397030"/>
            <a:ext cx="37577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  <a:r>
              <a:rPr sz="697" b="0">
                <a:solidFill>
                  <a:srgbClr val="0000FF"/>
                </a:solidFill>
                <a:latin typeface="Roboto Light"/>
              </a:rPr>
              <a:t>rd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335246" y="6397030"/>
            <a:ext cx="32501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4841633" y="6397030"/>
            <a:ext cx="27437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5348033" y="6397030"/>
            <a:ext cx="22373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GA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5854420" y="6443026"/>
            <a:ext cx="17309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814461" y="6630202"/>
            <a:ext cx="57709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# of PSO better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2941802" y="6630202"/>
            <a:ext cx="46436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3449396" y="6630202"/>
            <a:ext cx="41360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3966781" y="6630202"/>
            <a:ext cx="36186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4482287" y="6630202"/>
            <a:ext cx="31031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4981333" y="6630202"/>
            <a:ext cx="26040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5487733" y="6630202"/>
            <a:ext cx="20976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890945" y="6630202"/>
            <a:ext cx="16944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8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557424" y="7040284"/>
            <a:ext cx="50279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  <a:r>
              <a:rPr sz="697" b="0">
                <a:solidFill>
                  <a:srgbClr val="0000FF"/>
                </a:solidFill>
                <a:latin typeface="Roboto Light"/>
              </a:rPr>
              <a:t>st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3118294" y="7040284"/>
            <a:ext cx="44671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  <a:r>
              <a:rPr sz="697" b="0">
                <a:solidFill>
                  <a:srgbClr val="0000FF"/>
                </a:solidFill>
                <a:latin typeface="Roboto Light"/>
              </a:rPr>
              <a:t>nd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718382" y="7040284"/>
            <a:ext cx="38670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  <a:r>
              <a:rPr sz="697" b="0">
                <a:solidFill>
                  <a:srgbClr val="0000FF"/>
                </a:solidFill>
                <a:latin typeface="Roboto Light"/>
              </a:rPr>
              <a:t>rd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4298810" y="7040284"/>
            <a:ext cx="32865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4878070" y="7040284"/>
            <a:ext cx="27073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5457342" y="7040284"/>
            <a:ext cx="21280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PSO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6036614" y="7086281"/>
            <a:ext cx="15487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632267" y="7273456"/>
            <a:ext cx="59531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# of GA better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2724365" y="7273456"/>
            <a:ext cx="48610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304844" y="7273456"/>
            <a:ext cx="42805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3895102" y="7273456"/>
            <a:ext cx="36903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474946" y="7273456"/>
            <a:ext cx="31104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5054219" y="7273456"/>
            <a:ext cx="25311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5633491" y="7273456"/>
            <a:ext cx="19519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38100" y="7273456"/>
            <a:ext cx="15473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28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952369" y="7649577"/>
            <a:ext cx="46330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min</a:t>
            </a: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Cambria Math"/>
              </a:rPr>
              <a:t>, 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q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min</a:t>
            </a: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</a:t>
            </a:r>
            <a:r>
              <a:rPr sz="996" b="0">
                <a:solidFill>
                  <a:srgbClr val="0000FF"/>
                </a:solidFill>
                <a:latin typeface="Cambria Math"/>
              </a:rPr>
              <a:t>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28</a:t>
            </a:r>
            <a:r>
              <a:rPr sz="996" b="0">
                <a:solidFill>
                  <a:srgbClr val="0000FF"/>
                </a:solidFill>
                <a:latin typeface="TeX matha10"/>
              </a:rPr>
              <a:t>q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8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254620" y="7927850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The critical value for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n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= 6 and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n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= 6 is 7.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254620" y="8130288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8</a:t>
            </a:r>
            <a:r>
              <a:rPr sz="996" b="0">
                <a:solidFill>
                  <a:srgbClr val="0000FF"/>
                </a:solidFill>
                <a:latin typeface="TeX matha10"/>
              </a:rPr>
              <a:t> ą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7</a:t>
            </a:r>
            <a:r>
              <a:rPr sz="996" b="0">
                <a:solidFill>
                  <a:srgbClr val="0000FF"/>
                </a:solidFill>
                <a:latin typeface="Roboto Light"/>
              </a:rPr>
              <a:t>, thus the null hypothesis is not rejected. Statistically the two algorithms do not provide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254620" y="8282116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signiﬁcantly different outcome.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566684" y="2722956"/>
            <a:ext cx="467868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569211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970036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370874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771711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134804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535641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935336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335030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34724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134419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487250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79731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42824" y="2725496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69211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70036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70874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71711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34804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535641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935336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335030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34724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134419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87250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79731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242824" y="290769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66684" y="3092412"/>
            <a:ext cx="467868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26285" y="3361156"/>
            <a:ext cx="3959466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928812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94812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13378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71150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509261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046217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583186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883224" y="3363683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926285" y="3548405"/>
            <a:ext cx="3959466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928812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94812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413378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71150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509261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046217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583186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883224" y="355094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926285" y="3735667"/>
            <a:ext cx="3959466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62113" y="4004412"/>
            <a:ext cx="5087823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364640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320353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49194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417239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65625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12868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060099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07342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147358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447396" y="400693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362113" y="4191660"/>
            <a:ext cx="5087823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364640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320353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849194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417239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65625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512868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060099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607342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147358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47396" y="41942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62113" y="4378922"/>
            <a:ext cx="5087823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35697" y="2106269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8224" y="21088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21088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38224" y="21457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21457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38224" y="22371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22371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38224" y="23285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23285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24200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24200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38224" y="25114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25114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138224" y="2602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2602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138224" y="2694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2694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138224" y="27858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27858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38224" y="28772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28772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38224" y="29687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29687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30601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30601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38224" y="31515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31515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138224" y="32430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32430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138224" y="33344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33344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38224" y="342593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342593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38224" y="35173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35173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38224" y="36088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36088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37002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37002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38224" y="37917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37917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8224" y="38831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38831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38224" y="39746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39746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38224" y="40660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40660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38224" y="41574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41574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138224" y="424894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424894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138224" y="43403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43403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38224" y="44318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44318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138224" y="45232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45232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38224" y="461472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461472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38224" y="47061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47061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138224" y="47976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47976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38224" y="48890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48890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38224" y="49805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49805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138224" y="50719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50719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38224" y="51634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51634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138224" y="52548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525484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138224" y="53462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53462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138224" y="54377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54377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138224" y="55291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55291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38224" y="56206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56206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38224" y="57120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57120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38224" y="58035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58035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138224" y="58949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58949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138224" y="59864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59864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138224" y="607785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607785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138224" y="61693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61693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138224" y="62607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62607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138224" y="63521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63521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138224" y="64436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643065" y="64436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138224" y="65350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643065" y="65350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138224" y="66265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643065" y="66265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138224" y="67179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643065" y="67179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138224" y="68094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43065" y="68094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138224" y="69008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643065" y="69008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138224" y="69923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643065" y="69923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138224" y="70837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43065" y="70837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138224" y="71751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643065" y="71751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138224" y="726664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6643065" y="726664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38224" y="73580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643065" y="73580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38224" y="74495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643065" y="74495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38224" y="75409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643065" y="75409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38224" y="76324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43065" y="76324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138224" y="77238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643065" y="77238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138224" y="781531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643065" y="781531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138224" y="79067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643065" y="79067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138224" y="79982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643065" y="79982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138224" y="80896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6643065" y="80896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138224" y="81810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6643065" y="81810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138224" y="82725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6643065" y="82725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138224" y="83639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6643065" y="83639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138224" y="84554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6643065" y="84554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138224" y="85468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6643065" y="85468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138224" y="863832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6643065" y="863832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138224" y="87297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6643065" y="87297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138224" y="88212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6643065" y="88212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138224" y="89126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6643065" y="89126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138224" y="90041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6643065" y="90041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138224" y="90955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6643065" y="90955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138224" y="91870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6643065" y="91870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138224" y="92784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6643065" y="92784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138224" y="93698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6643065" y="93698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138224" y="94613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6643065" y="94613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138224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135697" y="9592195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Mann-Whitney U 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Two evolutionary algorithms are designed to determine the best conﬁguration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of a neural network.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Daniel intends to compare the performance of the two evolutionary algorithms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through the accuracies of the neural network conﬁgurations provided.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135697" y="144805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EA</a:t>
            </a:r>
            <a:r>
              <a:rPr sz="697" b="0">
                <a:solidFill>
                  <a:srgbClr val="000000"/>
                </a:solidFill>
                <a:latin typeface="Roboto Light"/>
              </a:rPr>
              <a:t>1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produces neural networks with accuracies 0.95, 0.89, 0.85, 0.80, and 0.88 whereas EA</a:t>
            </a:r>
            <a:r>
              <a:rPr sz="697" b="0">
                <a:solidFill>
                  <a:srgbClr val="000000"/>
                </a:solidFill>
                <a:latin typeface="Roboto Light"/>
              </a:rPr>
              <a:t>2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produces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135697" y="159989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neural networks with accuracies 0.70, 0.93, 0.90, 0.98, 0.82, 0.75, and 0.86.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135697" y="1802336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Using Mann-Whitney U test to compare the performance of the two evolutionary algorithms.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254632" y="2226139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254632" y="2428002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Arrange ﬁtness from best (highest to lowest) to worst.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666519" y="2754060"/>
            <a:ext cx="59188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072487" y="2754060"/>
            <a:ext cx="5512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468181" y="2754060"/>
            <a:ext cx="5117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850146" y="2754060"/>
            <a:ext cx="4735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237255" y="2754060"/>
            <a:ext cx="43481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637521" y="2754060"/>
            <a:ext cx="3947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032072" y="2754060"/>
            <a:ext cx="35533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436910" y="2754060"/>
            <a:ext cx="31484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831460" y="2754060"/>
            <a:ext cx="27539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212867" y="2754060"/>
            <a:ext cx="23725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580379" y="2754060"/>
            <a:ext cx="2005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958166" y="2754060"/>
            <a:ext cx="16272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647659" y="2936255"/>
            <a:ext cx="59377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0.98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048484" y="2936255"/>
            <a:ext cx="5536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0.95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449322" y="2936255"/>
            <a:ext cx="51360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0.93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2866339" y="2936255"/>
            <a:ext cx="4719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0.9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213252" y="2936255"/>
            <a:ext cx="437215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0.89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614089" y="2936255"/>
            <a:ext cx="39713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0.88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013784" y="2936255"/>
            <a:ext cx="35716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0.86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413478" y="2936255"/>
            <a:ext cx="31719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0.85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813172" y="2936255"/>
            <a:ext cx="27722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0.82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224475" y="2936255"/>
            <a:ext cx="23609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0.8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565686" y="2936255"/>
            <a:ext cx="20197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0.75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978525" y="2936255"/>
            <a:ext cx="16068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0.7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973260" y="3346337"/>
            <a:ext cx="46121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  <a:r>
              <a:rPr sz="697" b="0">
                <a:solidFill>
                  <a:srgbClr val="0000FF"/>
                </a:solidFill>
                <a:latin typeface="Roboto Light"/>
              </a:rPr>
              <a:t>st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491814" y="3346337"/>
            <a:ext cx="40935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  <a:r>
              <a:rPr sz="697" b="0">
                <a:solidFill>
                  <a:srgbClr val="0000FF"/>
                </a:solidFill>
                <a:latin typeface="Roboto Light"/>
              </a:rPr>
              <a:t>nd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4049598" y="3346337"/>
            <a:ext cx="35358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  <a:r>
              <a:rPr sz="697" b="0">
                <a:solidFill>
                  <a:srgbClr val="0000FF"/>
                </a:solidFill>
                <a:latin typeface="Roboto Light"/>
              </a:rPr>
              <a:t>rd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587709" y="3346337"/>
            <a:ext cx="29976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5124665" y="3346337"/>
            <a:ext cx="2460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661634" y="3392334"/>
            <a:ext cx="19237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007260" y="3579510"/>
            <a:ext cx="55781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# of 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better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126384" y="3579510"/>
            <a:ext cx="44590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657219" y="3579510"/>
            <a:ext cx="39281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4205160" y="3579510"/>
            <a:ext cx="33802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742688" y="3579510"/>
            <a:ext cx="28427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279656" y="3579510"/>
            <a:ext cx="23057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5670448" y="3579510"/>
            <a:ext cx="19149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16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398801" y="3989592"/>
            <a:ext cx="51866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  <a:r>
              <a:rPr sz="697" b="0">
                <a:solidFill>
                  <a:srgbClr val="0000FF"/>
                </a:solidFill>
                <a:latin typeface="Roboto Light"/>
              </a:rPr>
              <a:t>st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927642" y="3989592"/>
            <a:ext cx="46577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  <a:r>
              <a:rPr sz="697" b="0">
                <a:solidFill>
                  <a:srgbClr val="0000FF"/>
                </a:solidFill>
                <a:latin typeface="Roboto Light"/>
              </a:rPr>
              <a:t>nd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495687" y="3989592"/>
            <a:ext cx="40897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  <a:r>
              <a:rPr sz="697" b="0">
                <a:solidFill>
                  <a:srgbClr val="0000FF"/>
                </a:solidFill>
                <a:latin typeface="Roboto Light"/>
              </a:rPr>
              <a:t>rd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044073" y="3989592"/>
            <a:ext cx="35413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91316" y="3989592"/>
            <a:ext cx="29940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138546" y="3989592"/>
            <a:ext cx="244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685777" y="3989592"/>
            <a:ext cx="18996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7</a:t>
            </a:r>
            <a:r>
              <a:rPr sz="697" b="0">
                <a:solidFill>
                  <a:srgbClr val="0000FF"/>
                </a:solidFill>
                <a:latin typeface="Roboto Light"/>
              </a:rPr>
              <a:t>th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225806" y="4035589"/>
            <a:ext cx="13595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443088" y="4222764"/>
            <a:ext cx="61423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# of EA</a:t>
            </a:r>
            <a:r>
              <a:rPr sz="697" b="0">
                <a:solidFill>
                  <a:srgbClr val="0000FF"/>
                </a:solidFill>
                <a:latin typeface="Roboto Light"/>
              </a:rPr>
              <a:t>1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better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2548534" y="4222764"/>
            <a:ext cx="50368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3105518" y="4222764"/>
            <a:ext cx="44798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663734" y="4222764"/>
            <a:ext cx="39216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204208" y="4222764"/>
            <a:ext cx="338119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4751438" y="4222764"/>
            <a:ext cx="28339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298668" y="4222764"/>
            <a:ext cx="22867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842304" y="4222764"/>
            <a:ext cx="17431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6234048" y="4222764"/>
            <a:ext cx="13513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19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889110" y="4598885"/>
            <a:ext cx="4696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min</a:t>
            </a: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Cambria Math"/>
              </a:rPr>
              <a:t>, U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q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min</a:t>
            </a: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16</a:t>
            </a:r>
            <a:r>
              <a:rPr sz="996" b="0">
                <a:solidFill>
                  <a:srgbClr val="0000FF"/>
                </a:solidFill>
                <a:latin typeface="Cambria Math"/>
              </a:rPr>
              <a:t>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19</a:t>
            </a:r>
            <a:r>
              <a:rPr sz="996" b="0">
                <a:solidFill>
                  <a:srgbClr val="0000FF"/>
                </a:solidFill>
                <a:latin typeface="TeX matha10"/>
              </a:rPr>
              <a:t>q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16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254633" y="4877158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The critical value for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n</a:t>
            </a:r>
            <a:r>
              <a:rPr sz="697" b="0">
                <a:solidFill>
                  <a:srgbClr val="0000FF"/>
                </a:solidFill>
                <a:latin typeface="Cambria Math"/>
              </a:rPr>
              <a:t>1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= 5 and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n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= 7 is 6.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254620" y="5079596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U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16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ą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</a:t>
            </a:r>
            <a:r>
              <a:rPr sz="996" b="0">
                <a:solidFill>
                  <a:srgbClr val="0000FF"/>
                </a:solidFill>
                <a:latin typeface="Roboto Light"/>
              </a:rPr>
              <a:t>,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thus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null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hypothesis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‘is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not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rejected.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Statistically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performance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of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two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254620" y="5231424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conﬁgurations are not signiﬁcantly different.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3744379" y="9997810"/>
            <a:ext cx="38410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49159" y="1397266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9159" y="1630070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49159" y="186034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1101" y="186034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14193" y="186034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9159" y="2315832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1101" y="2315832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4193" y="2315832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9159" y="2771330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1101" y="2771330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14193" y="2771330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9159" y="322681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1101" y="322681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4193" y="322681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9159" y="3682314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1101" y="3682314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4193" y="3682314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9159" y="4137799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1101" y="4137799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14193" y="4137799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9159" y="459329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01101" y="459329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14193" y="459329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9159" y="5048783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1101" y="5048783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4193" y="5048783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9159" y="5504281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01101" y="5504281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14193" y="5504281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49159" y="595976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01101" y="595976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14193" y="595976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9159" y="6415265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01101" y="6415265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14193" y="6415265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9159" y="6870751"/>
            <a:ext cx="451954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01101" y="6870751"/>
            <a:ext cx="10130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4193" y="6870751"/>
            <a:ext cx="9987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149159" y="7328775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08501" y="1397266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08501" y="1630070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008501" y="186034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60456" y="186034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73547" y="186034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8501" y="2315832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60456" y="2315832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73547" y="2315832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8501" y="2771330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60456" y="2771330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73547" y="2771330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08501" y="322681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60456" y="322681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73547" y="322681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08501" y="3682314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60456" y="3682314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73547" y="3682314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08501" y="4137799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60456" y="4137799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73547" y="4137799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08501" y="459329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60456" y="459329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73547" y="459329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08501" y="5048783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60456" y="5048783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73547" y="5048783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08501" y="5504281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60456" y="5504281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73547" y="5504281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08501" y="595976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60456" y="595976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73547" y="595976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08501" y="6415265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60456" y="6415265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3547" y="6415265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08501" y="6870751"/>
            <a:ext cx="451954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60456" y="6870751"/>
            <a:ext cx="10130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73547" y="6870751"/>
            <a:ext cx="9987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4008501" y="7328775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396754" y="7449108"/>
            <a:ext cx="19116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394227" y="74465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305894" y="74465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396754" y="7676858"/>
            <a:ext cx="19116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394227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030903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666056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305894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472867" y="8170684"/>
            <a:ext cx="2835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475395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754388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394227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030903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666056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305894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756916" y="8668690"/>
            <a:ext cx="255151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475395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54388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94227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030903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666056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305894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756916" y="9161627"/>
            <a:ext cx="255151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475395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754388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394227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030903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4666056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305894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472867" y="9655454"/>
            <a:ext cx="2835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Confusion Matrices.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Construct the confusion matrix for the data in Table 4.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62199" y="1237567"/>
            <a:ext cx="48232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4: Expected and predicted data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25067" y="1460248"/>
            <a:ext cx="63603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77014" y="1460248"/>
            <a:ext cx="5908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90100" y="1460248"/>
            <a:ext cx="48953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47419" y="1693051"/>
            <a:ext cx="62379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68232" y="1693051"/>
            <a:ext cx="55171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074106" y="1693051"/>
            <a:ext cx="45112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40091" y="1920800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068169" y="1920800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74111" y="1920800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40091" y="2148549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68875" y="2148549"/>
            <a:ext cx="55165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074116" y="2148549"/>
            <a:ext cx="45112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40091" y="2376286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68169" y="2376286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074111" y="2376286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40091" y="2604035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68116" y="2604035"/>
            <a:ext cx="551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74116" y="2604035"/>
            <a:ext cx="45112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40091" y="2831784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068169" y="2831784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74111" y="2831784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43685" y="3059533"/>
            <a:ext cx="62417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68167" y="3059533"/>
            <a:ext cx="55172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74168" y="3059533"/>
            <a:ext cx="45112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40091" y="3287269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066594" y="3287269"/>
            <a:ext cx="55188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74111" y="3287269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39519" y="3515018"/>
            <a:ext cx="62458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068177" y="3515018"/>
            <a:ext cx="55172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074051" y="3515018"/>
            <a:ext cx="45113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11173" y="3742768"/>
            <a:ext cx="62742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068169" y="3742768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74111" y="3742768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19720" y="3970517"/>
            <a:ext cx="6265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68115" y="3970517"/>
            <a:ext cx="551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074116" y="3970517"/>
            <a:ext cx="45112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312379" y="4198253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068931" y="4198253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074111" y="4198253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12379" y="4426003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68113" y="4426003"/>
            <a:ext cx="55172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74114" y="4426003"/>
            <a:ext cx="45112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12379" y="4653752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68169" y="4653752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074111" y="4653752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12379" y="4881501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068113" y="4881501"/>
            <a:ext cx="55172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74114" y="4881501"/>
            <a:ext cx="45112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312379" y="5109237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68169" y="5109237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074111" y="5109237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15986" y="5336986"/>
            <a:ext cx="62694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066533" y="5336986"/>
            <a:ext cx="5518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074051" y="5336986"/>
            <a:ext cx="45113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312379" y="5564736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18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068931" y="5564736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074873" y="5564736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11808" y="5792485"/>
            <a:ext cx="62735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068933" y="5792485"/>
            <a:ext cx="55164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074934" y="5792485"/>
            <a:ext cx="4510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303832" y="6020221"/>
            <a:ext cx="62815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068931" y="6020221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74873" y="6020221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312379" y="6247970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068872" y="6247970"/>
            <a:ext cx="5516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074873" y="6247970"/>
            <a:ext cx="45105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305039" y="6475719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068931" y="6475719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074873" y="6475719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305039" y="6703468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68870" y="6703468"/>
            <a:ext cx="55165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074871" y="6703468"/>
            <a:ext cx="45105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05039" y="6931204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068931" y="6931204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074873" y="6931204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305039" y="7158953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068870" y="7158953"/>
            <a:ext cx="55165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074871" y="7158953"/>
            <a:ext cx="45105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084421" y="1460248"/>
            <a:ext cx="35009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536369" y="1460248"/>
            <a:ext cx="30490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549455" y="1460248"/>
            <a:ext cx="20359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164380" y="1693051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26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927579" y="1693051"/>
            <a:ext cx="2657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934212" y="1693051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167987" y="1920800"/>
            <a:ext cx="34174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925936" y="1920800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934214" y="1920800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164380" y="2148549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28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928339" y="2148549"/>
            <a:ext cx="2657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934212" y="2148549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163809" y="2376286"/>
            <a:ext cx="34215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29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925936" y="2376286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934214" y="2376286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63186" y="2604035"/>
            <a:ext cx="34222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925879" y="2604035"/>
            <a:ext cx="26595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934157" y="2604035"/>
            <a:ext cx="1651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171721" y="2831784"/>
            <a:ext cx="3413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928285" y="2831784"/>
            <a:ext cx="26571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934214" y="2831784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164380" y="3059533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927579" y="3059533"/>
            <a:ext cx="2657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934212" y="3059533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164380" y="3287269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33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928285" y="3287269"/>
            <a:ext cx="26571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934214" y="3287269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64380" y="3515018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34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928339" y="3515018"/>
            <a:ext cx="2657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934212" y="3515018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164380" y="3742768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35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925936" y="3742768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931877" y="3742768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164380" y="3970517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36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925934" y="3970517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931935" y="3970517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167987" y="4198253"/>
            <a:ext cx="34174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37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927523" y="4198253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931877" y="4198253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164380" y="4426003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38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928339" y="4426003"/>
            <a:ext cx="2657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931935" y="4426003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63809" y="4653752"/>
            <a:ext cx="34215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927523" y="4653752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931877" y="4653752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163186" y="4881501"/>
            <a:ext cx="34222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25879" y="4881501"/>
            <a:ext cx="26595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931880" y="4881501"/>
            <a:ext cx="16535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171721" y="5109237"/>
            <a:ext cx="3413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927523" y="5109237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931877" y="5109237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164380" y="5336986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925934" y="5336986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931935" y="5336986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164380" y="5564736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43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928285" y="5564736"/>
            <a:ext cx="26571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931877" y="5564736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164380" y="5792485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44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927579" y="5792485"/>
            <a:ext cx="2657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931935" y="5792485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64380" y="6020221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925936" y="6020221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931877" y="6020221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164380" y="6247970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46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925934" y="6247970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931935" y="6247970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167987" y="6475719"/>
            <a:ext cx="34174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47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927523" y="6475719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931877" y="6475719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164380" y="6703468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48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925934" y="6703468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931935" y="6703468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163809" y="6931204"/>
            <a:ext cx="34215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49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925936" y="6931204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931877" y="6931204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163186" y="7158953"/>
            <a:ext cx="34222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50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925879" y="7158953"/>
            <a:ext cx="26595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931880" y="7158953"/>
            <a:ext cx="16535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087901" y="7507035"/>
            <a:ext cx="34975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673081" y="7867880"/>
            <a:ext cx="3912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309757" y="7867880"/>
            <a:ext cx="32756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944922" y="7867880"/>
            <a:ext cx="26404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551660" y="8454670"/>
            <a:ext cx="50337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Actual/Expected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034830" y="8366774"/>
            <a:ext cx="45505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649802" y="8366774"/>
            <a:ext cx="39356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13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313428" y="8366774"/>
            <a:ext cx="32719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950929" y="8366774"/>
            <a:ext cx="26344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035592" y="8859712"/>
            <a:ext cx="45498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677513" y="8859712"/>
            <a:ext cx="39078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285716" y="8859712"/>
            <a:ext cx="3299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12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950929" y="8859712"/>
            <a:ext cx="26344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033242" y="9352650"/>
            <a:ext cx="45521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3677513" y="9352650"/>
            <a:ext cx="39078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313428" y="9352650"/>
            <a:ext cx="32719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950358" y="9352650"/>
            <a:ext cx="26350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9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716045" y="9997810"/>
            <a:ext cx="38693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583165" y="1689176"/>
            <a:ext cx="62555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407763" y="1689176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03197" y="137242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605737" y="1374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1374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605737" y="1396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1396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05737" y="1487983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1487983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605737" y="15794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15794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05737" y="1670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1670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5737" y="17623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17623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05737" y="18537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18537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05737" y="19452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19452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5737" y="20366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20366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05737" y="2128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2128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05737" y="22195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22195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605737" y="2310994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2310994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05737" y="24024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24024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05737" y="2493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2493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605737" y="2585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2585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05737" y="2676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2676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05737" y="2768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2768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05737" y="28596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28596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605737" y="2951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2951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605737" y="30425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30425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605737" y="3134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3134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605737" y="3225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3225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605737" y="33168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33168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605737" y="34083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34083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605737" y="34997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34997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05737" y="3591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3591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605737" y="36826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36826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605737" y="3774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3774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605737" y="37956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37956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603197" y="3889667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188866" y="4671885"/>
            <a:ext cx="54267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763911" y="4986756"/>
            <a:ext cx="56228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25238" y="4986756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763149" y="5301615"/>
            <a:ext cx="56228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24476" y="5301615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653028" y="5616486"/>
            <a:ext cx="49902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51083" y="5616486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603197" y="4223689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605737" y="42262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43065" y="42262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605737" y="424780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643065" y="424780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605737" y="43392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643065" y="43392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605737" y="44306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643065" y="44306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605737" y="452213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643065" y="452213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605737" y="46135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643065" y="46135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605737" y="47050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43065" y="47050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605737" y="47964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643065" y="47964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605737" y="48879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43065" y="48879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605737" y="49793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43065" y="49793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605737" y="50708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43065" y="50708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605737" y="51622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43065" y="51622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605737" y="52536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43065" y="52536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605737" y="53451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643065" y="53451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605737" y="54365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643065" y="54365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605737" y="55280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643065" y="55280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605737" y="56194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643065" y="56194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605737" y="57109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643065" y="57109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605737" y="58023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643065" y="58023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605737" y="58938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643065" y="58938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605737" y="59852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643065" y="59852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605737" y="60767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643065" y="60767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605737" y="61681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43065" y="61681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605737" y="62596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643065" y="62596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05737" y="63510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643065" y="63510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605737" y="64424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643065" y="64424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605737" y="65339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43065" y="65339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605737" y="66253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643065" y="66253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605737" y="6646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643065" y="6646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603197" y="6740931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77169" y="7523150"/>
            <a:ext cx="55932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516439" y="7838020"/>
            <a:ext cx="56228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277766" y="7838020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515677" y="8152879"/>
            <a:ext cx="56228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277004" y="8152879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549650" y="8467750"/>
            <a:ext cx="49902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47718" y="8467750"/>
            <a:ext cx="126530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603197" y="7074954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605737" y="70774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70774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605737" y="70990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70990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605737" y="7190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7190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605737" y="7281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7281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605737" y="73734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73734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605737" y="74648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74648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605737" y="75562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75562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605737" y="76477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76477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605737" y="77391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77391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605737" y="78306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78306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605737" y="79220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79220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605737" y="80135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80135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605737" y="8104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8104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605737" y="81964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81964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605737" y="8287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8287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605737" y="83793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643065" y="83793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605737" y="8470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643065" y="8470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605737" y="85622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643065" y="85622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605737" y="8653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643065" y="8653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605737" y="87450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43065" y="87450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605737" y="8836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643065" y="8836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605737" y="89279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643065" y="89279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605737" y="90194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43065" y="90194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605737" y="9110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643065" y="9110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605737" y="92023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6643065" y="92023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605737" y="92937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643065" y="92937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605737" y="938521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643065" y="938521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605737" y="94766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643065" y="94766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605737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603197" y="959219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180109" y="941962"/>
            <a:ext cx="64052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(a)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Calculate, for the system,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481480" y="1119101"/>
            <a:ext cx="61039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accuracy,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722132" y="1441685"/>
            <a:ext cx="5863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898901" y="1536331"/>
            <a:ext cx="46865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accuracy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13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9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832682" y="1708720"/>
            <a:ext cx="37527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50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259046" y="1536330"/>
            <a:ext cx="33263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34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407763" y="1621843"/>
            <a:ext cx="31776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50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68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68%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453146" y="3970365"/>
            <a:ext cx="6132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precision of predicting each classes, and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722132" y="4292949"/>
            <a:ext cx="5863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502075" y="4604553"/>
            <a:ext cx="40833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precision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365053" y="4519040"/>
            <a:ext cx="32203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TP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188866" y="4691429"/>
            <a:ext cx="33965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TP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FP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781427" y="4919410"/>
            <a:ext cx="48039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precision for 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981793" y="4833911"/>
            <a:ext cx="36036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13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763911" y="4833911"/>
            <a:ext cx="38214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13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525238" y="4919410"/>
            <a:ext cx="30601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20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65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65%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782188" y="5234282"/>
            <a:ext cx="4803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precision for B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981030" y="5148769"/>
            <a:ext cx="3604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12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763149" y="5148769"/>
            <a:ext cx="38222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12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524476" y="5234282"/>
            <a:ext cx="30609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16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75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75%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667380" y="5549140"/>
            <a:ext cx="4918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precision for C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870909" y="5463640"/>
            <a:ext cx="37144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653028" y="5463640"/>
            <a:ext cx="39323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351083" y="5549140"/>
            <a:ext cx="32343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14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6429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64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29%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424800" y="6821629"/>
            <a:ext cx="61606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recall of predicting each classes.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722132" y="7144213"/>
            <a:ext cx="5863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597122" y="7455816"/>
            <a:ext cx="39882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recall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261675" y="7370304"/>
            <a:ext cx="33237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TP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077169" y="7542694"/>
            <a:ext cx="3508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TP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FN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740698" y="7770674"/>
            <a:ext cx="4844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recall for 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734320" y="7685175"/>
            <a:ext cx="38510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13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516439" y="7685175"/>
            <a:ext cx="40689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13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13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277766" y="7770674"/>
            <a:ext cx="33076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17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7647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76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47%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741460" y="8085546"/>
            <a:ext cx="484394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recall for B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733558" y="8000034"/>
            <a:ext cx="38518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515677" y="8000034"/>
            <a:ext cx="40697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12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77004" y="8085546"/>
            <a:ext cx="33084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17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7059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70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59%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770746" y="8400417"/>
            <a:ext cx="48146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recall for C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767531" y="8314904"/>
            <a:ext cx="38178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549650" y="8314904"/>
            <a:ext cx="40357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47718" y="8400417"/>
            <a:ext cx="33376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16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5625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or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56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25%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724579" y="9997810"/>
            <a:ext cx="3860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2106764" y="3097225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106764" y="327941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143262" y="327941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323" y="3464141"/>
            <a:ext cx="211411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106764" y="346668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143262" y="346668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106764" y="3648874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43262" y="3648874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106764" y="383106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143262" y="383106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99323" y="4015791"/>
            <a:ext cx="211411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06764" y="401833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143262" y="4018330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44877" y="5042319"/>
            <a:ext cx="57036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6764" y="5959094"/>
            <a:ext cx="627698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4347" y="6696417"/>
            <a:ext cx="60592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30487" y="7016204"/>
            <a:ext cx="18978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93874" y="7932979"/>
            <a:ext cx="589712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93797" y="8252765"/>
            <a:ext cx="18978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890645" y="2653500"/>
            <a:ext cx="0" cy="598338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780750" y="378607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780750" y="3968267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867857" y="3968267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73296" y="4152989"/>
            <a:ext cx="2164727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780750" y="415552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67857" y="415552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80750" y="433772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867857" y="433772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780750" y="451991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867857" y="451991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73296" y="4704638"/>
            <a:ext cx="2164727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780750" y="470717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867857" y="4707178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34915" y="5329466"/>
            <a:ext cx="61713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62257" y="5649252"/>
            <a:ext cx="189789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014950" y="772085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14950" y="7903044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407496" y="8087766"/>
            <a:ext cx="1696327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014950" y="8090306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014950" y="8272500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014950" y="8454694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35697" y="2258098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138224" y="22606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643065" y="22606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38224" y="22673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643065" y="22673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138224" y="23587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643065" y="23587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38224" y="24502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643065" y="24502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138224" y="25416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643065" y="25416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138224" y="26331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643065" y="26331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38224" y="27245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643065" y="27245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138224" y="28160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643065" y="28160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138224" y="29074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643065" y="29074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138224" y="29989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643065" y="29989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38224" y="30903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43065" y="30903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138224" y="31817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43065" y="31817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138224" y="32732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43065" y="32732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138224" y="33646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43065" y="33646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38224" y="34561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43065" y="34561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8224" y="35475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643065" y="35475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38224" y="36390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643065" y="36390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38224" y="37304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643065" y="37304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38224" y="38219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643065" y="38219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138224" y="39133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643065" y="39133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138224" y="40048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43065" y="40048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138224" y="40962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643065" y="40962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138224" y="41876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43065" y="41876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138224" y="42791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43065" y="42791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138224" y="43705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43065" y="43705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138224" y="44620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43065" y="44620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138224" y="45534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43065" y="45534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138224" y="46449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643065" y="46449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138224" y="47363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643065" y="47363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138224" y="48278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643065" y="48278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138224" y="49192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643065" y="49192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138224" y="50106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643065" y="50106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138224" y="51021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643065" y="51021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138224" y="51935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643065" y="51935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38224" y="52850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643065" y="52850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38224" y="53764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643065" y="53764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38224" y="54679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43065" y="54679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38224" y="55593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643065" y="55593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138224" y="56508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643065" y="56508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138224" y="574226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643065" y="574226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138224" y="58337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43065" y="58337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138224" y="59251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643065" y="59251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138224" y="60165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643065" y="60165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138224" y="61080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643065" y="61080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138224" y="6199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643065" y="6199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138224" y="62909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643065" y="62909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138224" y="63823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643065" y="63823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138224" y="64738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643065" y="64738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138224" y="65652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643065" y="65652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138224" y="66567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643065" y="66567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138224" y="67481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6643065" y="67481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138224" y="68396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643065" y="68396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138224" y="69310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643065" y="69310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138224" y="7022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643065" y="7022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138224" y="71139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6643065" y="71139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138224" y="720539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643065" y="720539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38224" y="72968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72968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138224" y="73882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73882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138224" y="74797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74797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138224" y="75711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75711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138224" y="7662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7662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138224" y="77540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77540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138224" y="7845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7845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138224" y="79369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79369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138224" y="802840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802840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38224" y="81198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81198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138224" y="82112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82112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138224" y="830273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830273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138224" y="83941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83941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138224" y="84856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84856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138224" y="85770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85770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138224" y="86685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86685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138224" y="8759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8759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38224" y="88514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88514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38224" y="89428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89428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38224" y="90342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90342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38224" y="912574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912574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138224" y="92171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92171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138224" y="93086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93086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138224" y="94000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94000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138224" y="94915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643065" y="94915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138224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135697" y="9592195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Confusion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Matrices.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artiﬁcial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neural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network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designed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recognise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between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three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types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vehicles (car,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van,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bus) from the footage of a CCTV device.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neural network has been tested 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1000 images with 400 images of cars and 300 images of bus.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135697" y="144805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system accuracy is recorded to be 90%. The precision for recognition of van is 0.875. The recalls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135697" y="159989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for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recognition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bus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0.875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0.9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respectively.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365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images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have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been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35697" y="175172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recognised as car, and 320 images as van. 5% of the images that contain van are recognised as bus.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135697" y="1954165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Construct the confusion matrix for the neural network.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254633" y="2377968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254633" y="2681049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We ﬁrst construct the confusion matrix with un-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254633" y="2832890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knowns.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365387" y="3125790"/>
            <a:ext cx="52200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Predicted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185212" y="3307984"/>
            <a:ext cx="5400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car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12406" y="3307984"/>
            <a:ext cx="50729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van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861235" y="3307984"/>
            <a:ext cx="47241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bus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573062" y="3587629"/>
            <a:ext cx="6012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Actual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838858" y="3495245"/>
            <a:ext cx="5746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car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233422" y="3495245"/>
            <a:ext cx="53519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72255" y="3495245"/>
            <a:ext cx="50131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921971" y="3495245"/>
            <a:ext cx="46634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221710" y="3495245"/>
            <a:ext cx="43636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= 400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828038" y="3677439"/>
            <a:ext cx="575736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van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231529" y="3677439"/>
            <a:ext cx="53538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574918" y="3677439"/>
            <a:ext cx="5010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927417" y="3677439"/>
            <a:ext cx="4657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F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824748" y="3859633"/>
            <a:ext cx="57606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bus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229688" y="3859633"/>
            <a:ext cx="53557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G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66244" y="3859633"/>
            <a:ext cx="50191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H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946199" y="3859633"/>
            <a:ext cx="46392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I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221710" y="3859633"/>
            <a:ext cx="43636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= 300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221710" y="4046895"/>
            <a:ext cx="43636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1000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497939" y="4352581"/>
            <a:ext cx="60874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D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F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400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300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893126" y="4706762"/>
            <a:ext cx="56922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system accuracy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244865" y="4889474"/>
            <a:ext cx="53405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I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403525" y="5061851"/>
            <a:ext cx="51818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1000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865564" y="4975059"/>
            <a:ext cx="47198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260053" y="5218746"/>
            <a:ext cx="53253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I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900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690606" y="5218660"/>
            <a:ext cx="38947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(1)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875484" y="5623536"/>
            <a:ext cx="57099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precision of van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875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2370264" y="5806248"/>
            <a:ext cx="5215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106764" y="5891846"/>
            <a:ext cx="54786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H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875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989670" y="6360860"/>
            <a:ext cx="55957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recall of car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875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269871" y="6543572"/>
            <a:ext cx="53155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A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014347" y="6629157"/>
            <a:ext cx="55710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B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C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875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477935" y="6863346"/>
            <a:ext cx="5107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430487" y="6948944"/>
            <a:ext cx="51549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400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875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540571" y="7192631"/>
            <a:ext cx="50448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350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024773" y="7597421"/>
            <a:ext cx="55606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recall of bus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355964" y="7780133"/>
            <a:ext cx="52294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I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093874" y="7865719"/>
            <a:ext cx="54915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G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H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I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555925" y="8099919"/>
            <a:ext cx="50294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493797" y="8185505"/>
            <a:ext cx="50916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300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633230" y="8429192"/>
            <a:ext cx="49521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I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270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337316" y="2681048"/>
            <a:ext cx="32480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From (1)</a:t>
            </a:r>
            <a:r>
              <a:rPr sz="996" b="0">
                <a:solidFill>
                  <a:srgbClr val="0000FF"/>
                </a:solidFill>
                <a:latin typeface="TeX matha10"/>
              </a:rPr>
              <a:t> ñ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350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270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900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684100" y="2870923"/>
            <a:ext cx="19013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280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763033" y="3281590"/>
            <a:ext cx="28223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A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D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G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365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747209" y="3471379"/>
            <a:ext cx="28381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H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320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5064671" y="3814637"/>
            <a:ext cx="25207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Predicted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876647" y="3996832"/>
            <a:ext cx="27087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car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229146" y="3996832"/>
            <a:ext cx="2356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van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585820" y="3996832"/>
            <a:ext cx="19995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bus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247033" y="4276476"/>
            <a:ext cx="33383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Actual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512830" y="4184093"/>
            <a:ext cx="30725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car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924856" y="4184093"/>
            <a:ext cx="26605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288995" y="4184093"/>
            <a:ext cx="22964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646555" y="4184093"/>
            <a:ext cx="19388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5946305" y="4184093"/>
            <a:ext cx="163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= 400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502010" y="4366287"/>
            <a:ext cx="3083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van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922964" y="4366287"/>
            <a:ext cx="26624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1658" y="4366287"/>
            <a:ext cx="22937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652001" y="4366287"/>
            <a:ext cx="19334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F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498721" y="4548482"/>
            <a:ext cx="3086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bus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921122" y="4548482"/>
            <a:ext cx="26642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G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82984" y="4548482"/>
            <a:ext cx="23024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H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5670783" y="4548482"/>
            <a:ext cx="19146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I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946305" y="4548482"/>
            <a:ext cx="163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= 300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859197" y="4735743"/>
            <a:ext cx="27262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365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21312" y="4735743"/>
            <a:ext cx="23640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320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5946305" y="4735743"/>
            <a:ext cx="16390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1000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994008" y="5176620"/>
            <a:ext cx="25913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F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734915" y="5262218"/>
            <a:ext cx="28504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D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F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05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07686" y="5496406"/>
            <a:ext cx="23777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F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162257" y="5582004"/>
            <a:ext cx="24231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300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0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05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268290" y="5825679"/>
            <a:ext cx="23171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F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15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4219194" y="6236334"/>
            <a:ext cx="33662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C</a:t>
            </a:r>
            <a:r>
              <a:rPr sz="996" b="0">
                <a:solidFill>
                  <a:srgbClr val="0000FF"/>
                </a:solidFill>
                <a:latin typeface="TeX matha10"/>
              </a:rPr>
              <a:t> 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F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`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I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365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320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315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558932" y="6647001"/>
            <a:ext cx="302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C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315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270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30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556087" y="6836789"/>
            <a:ext cx="30293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B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400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350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20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550143" y="7026578"/>
            <a:ext cx="30352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D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280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5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558932" y="7216368"/>
            <a:ext cx="302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G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365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350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542955" y="7406156"/>
            <a:ext cx="30424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H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300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270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20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5298490" y="7749415"/>
            <a:ext cx="22869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Predicted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112054" y="7931608"/>
            <a:ext cx="24733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car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465691" y="7931608"/>
            <a:ext cx="2119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van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5823378" y="7931608"/>
            <a:ext cx="17620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bus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4481234" y="8211256"/>
            <a:ext cx="31041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Actual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4747031" y="8118871"/>
            <a:ext cx="28383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car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5093385" y="8118871"/>
            <a:ext cx="24920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350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492951" y="8118871"/>
            <a:ext cx="20924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20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853927" y="8118871"/>
            <a:ext cx="17314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30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4736210" y="8301065"/>
            <a:ext cx="28491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van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164683" y="8301065"/>
            <a:ext cx="2420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57968" y="8301065"/>
            <a:ext cx="21274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280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862469" y="8301065"/>
            <a:ext cx="17229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15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4732921" y="8483258"/>
            <a:ext cx="28524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bus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135778" y="8483258"/>
            <a:ext cx="24496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5492958" y="8483258"/>
            <a:ext cx="20924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20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5822429" y="8483258"/>
            <a:ext cx="17629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270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3717239" y="9997810"/>
            <a:ext cx="38681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3225965" y="2287524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392349" y="2472245"/>
            <a:ext cx="240924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225965" y="246971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225965" y="2651912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225965" y="2834107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225965" y="301631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67406" y="3307181"/>
            <a:ext cx="364921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25965" y="3198507"/>
            <a:ext cx="0" cy="194971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5697" y="1903831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38224" y="19063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19063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38224" y="19207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19207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38224" y="20121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20121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38224" y="21036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21036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38224" y="21950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21950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38224" y="22864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22864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38224" y="23779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23779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38224" y="24693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24693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38224" y="25608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25608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38224" y="26522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26522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38224" y="27437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27437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38224" y="28351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28351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8224" y="29266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29266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38224" y="30180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30180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8224" y="31094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31094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38224" y="32009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32009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38224" y="32923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32923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38224" y="33838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33838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38224" y="34752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34752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38224" y="35667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35667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38224" y="36581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36581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38224" y="37496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37496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38224" y="384106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384106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38224" y="39325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39325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138224" y="40239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40239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138224" y="41153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41153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38224" y="42068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42068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38224" y="42982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42982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38224" y="43897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43897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38224" y="44811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44811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38224" y="45726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45726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8224" y="46640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46640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38224" y="47555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47555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38224" y="48469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48469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38224" y="49384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49384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50298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50298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38224" y="50441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50441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35697" y="5138166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172574" y="6640334"/>
            <a:ext cx="0" cy="182195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338958" y="6825056"/>
            <a:ext cx="2452764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172574" y="6822528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172574" y="7004723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172574" y="7186929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172574" y="7369124"/>
            <a:ext cx="0" cy="182194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714015" y="7659992"/>
            <a:ext cx="364922" cy="0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172574" y="7551318"/>
            <a:ext cx="0" cy="194971"/>
          </a:xfrm>
          <a:prstGeom prst="line">
            <a:avLst/>
          </a:prstGeom>
          <a:ln w="5054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35697" y="6256642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62591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62591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38224" y="6273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62735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138224" y="63649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63649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138224" y="645641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645641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38224" y="65478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65478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38224" y="6639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66393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38224" y="67307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67307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6822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68221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38224" y="6913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6913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8224" y="7005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7005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38224" y="70965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70965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38224" y="71879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71879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38224" y="7279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7279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138224" y="7370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7370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138224" y="7462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7462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38224" y="75537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75537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138224" y="76452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76452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38224" y="77366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77366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38224" y="78280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78280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138224" y="7919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7919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38224" y="80109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80109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38224" y="81024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81024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138224" y="8193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8193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38224" y="8285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8285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138224" y="83767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83767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138224" y="84682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84682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138224" y="8559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8559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138224" y="86511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86511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38224" y="8742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8742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38224" y="8833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8833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38224" y="892544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892544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138224" y="9016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9016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138224" y="91083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91083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138224" y="9199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9199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138224" y="92912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92912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138224" y="9382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9382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138224" y="93970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93970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135697" y="9490977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79436" y="941962"/>
            <a:ext cx="660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Chi-Square 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 decision tree is used to classify 50 data points into 5 classes, A, B, C, D, and E. The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data set contains 10 data points for each class.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result provided by the decision tree classiﬁed 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points to class A, 8 points to B, 15 points to C, 12 points to D, and the rest to 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35697" y="144805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Use chi-square test, with 0.05 level of signiﬁcance, to comment on the performance of the decision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35697" y="159989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tree.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54632" y="2023701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841332" y="2316089"/>
            <a:ext cx="47440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Class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350082" y="2316088"/>
            <a:ext cx="42353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674239" y="2316088"/>
            <a:ext cx="39111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995233" y="2316088"/>
            <a:ext cx="35901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18251" y="2316088"/>
            <a:ext cx="32671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625834" y="2316088"/>
            <a:ext cx="29595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641688" y="2498282"/>
            <a:ext cx="49437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Actual,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325609" y="2498282"/>
            <a:ext cx="42597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648880" y="2498282"/>
            <a:ext cx="39365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972278" y="2498282"/>
            <a:ext cx="36131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295549" y="2498282"/>
            <a:ext cx="32898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597691" y="2498282"/>
            <a:ext cx="2987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468257" y="2680476"/>
            <a:ext cx="51171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Predicted,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354514" y="2680476"/>
            <a:ext cx="42308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677912" y="2680476"/>
            <a:ext cx="39074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8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973475" y="2680476"/>
            <a:ext cx="36119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296873" y="2680476"/>
            <a:ext cx="32885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97749" y="2680476"/>
            <a:ext cx="29876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792184" y="2862756"/>
            <a:ext cx="47932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O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336416" y="2862671"/>
            <a:ext cx="42489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-5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659814" y="2862671"/>
            <a:ext cx="39255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001179" y="2862671"/>
            <a:ext cx="35842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324577" y="2862671"/>
            <a:ext cx="32608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625454" y="2862671"/>
            <a:ext cx="29599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637040" y="3028705"/>
            <a:ext cx="49483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O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q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319462" y="3044877"/>
            <a:ext cx="42659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677908" y="3044877"/>
            <a:ext cx="390749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966132" y="3044877"/>
            <a:ext cx="36192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25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324577" y="3044877"/>
            <a:ext cx="32608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625454" y="3044877"/>
            <a:ext cx="29599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767406" y="3189833"/>
            <a:ext cx="481799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TeX matha7"/>
              </a:rPr>
              <a:t>p</a:t>
            </a:r>
            <a:r>
              <a:rPr sz="697" b="0">
                <a:solidFill>
                  <a:srgbClr val="0000FF"/>
                </a:solidFill>
                <a:latin typeface="Cambria Math"/>
              </a:rPr>
              <a:t>O</a:t>
            </a:r>
            <a:r>
              <a:rPr sz="697" b="0">
                <a:solidFill>
                  <a:srgbClr val="0000FF"/>
                </a:solidFill>
                <a:latin typeface="TeX matha7"/>
              </a:rPr>
              <a:t>´</a:t>
            </a:r>
            <a:r>
              <a:rPr sz="697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TeX matha7"/>
              </a:rPr>
              <a:t>q</a:t>
            </a:r>
            <a:r>
              <a:rPr sz="498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910293" y="3313223"/>
            <a:ext cx="4675111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304413" y="3239848"/>
            <a:ext cx="4280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2.5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626545" y="3239848"/>
            <a:ext cx="39588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951082" y="3239848"/>
            <a:ext cx="3634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2.5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273214" y="3239848"/>
            <a:ext cx="3312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625460" y="3239848"/>
            <a:ext cx="29599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877498" y="3204386"/>
            <a:ext cx="27079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χ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5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946488" y="3737344"/>
            <a:ext cx="46389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Degree of freedom,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df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5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</a:t>
            </a:r>
            <a:r>
              <a:rPr sz="996" b="0">
                <a:solidFill>
                  <a:srgbClr val="0000FF"/>
                </a:solidFill>
                <a:latin typeface="TeX matha10"/>
              </a:rPr>
              <a:t> 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4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254620" y="4066313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At 0.05 level of signiﬁcance, the critical value is 9.488.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254620" y="4233303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As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χ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5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8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ă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</a:t>
            </a:r>
            <a:r>
              <a:rPr sz="996" b="0">
                <a:solidFill>
                  <a:srgbClr val="0000FF"/>
                </a:solidFill>
                <a:latin typeface="Cambria Math"/>
              </a:rPr>
              <a:t>9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488</a:t>
            </a:r>
            <a:r>
              <a:rPr sz="996" b="0">
                <a:solidFill>
                  <a:srgbClr val="0000FF"/>
                </a:solidFill>
                <a:latin typeface="Roboto Light"/>
              </a:rPr>
              <a:t>,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we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do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not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reject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null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hypothesis.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difference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between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FF"/>
                </a:solidFill>
                <a:latin typeface="Roboto Light"/>
              </a:rPr>
              <a:t> </a:t>
            </a:r>
            <a:r>
              <a:rPr sz="996" b="0">
                <a:solidFill>
                  <a:srgbClr val="0000FF"/>
                </a:solidFill>
                <a:latin typeface="Roboto Light"/>
              </a:rPr>
              <a:t>actual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254620" y="4420579"/>
            <a:ext cx="63307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distribution and the predicted distribution by the decision tree is not signiﬁcant.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72223" y="529477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Chi-Square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neural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network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trained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perform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classiﬁcation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same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data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set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in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135697" y="544660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question (7).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result of the neural network shows 3 points for class A, 12 points for B, 5 points for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35697" y="559842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C, 18 points for D, and the rest for E.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135697" y="580087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Compare the performance of the neural network and the decision tree from (7) using chi-square test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135697" y="595270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at 0.05 level of signiﬁcance.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254632" y="6376510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FF"/>
                </a:solidFill>
                <a:latin typeface="Roboto Bold"/>
              </a:rPr>
              <a:t>Solution: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787929" y="6668898"/>
            <a:ext cx="47974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Class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297263" y="6668899"/>
            <a:ext cx="42881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621926" y="6668899"/>
            <a:ext cx="39634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B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942920" y="6668899"/>
            <a:ext cx="36424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C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264800" y="6668899"/>
            <a:ext cx="33206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D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593511" y="6668899"/>
            <a:ext cx="29918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588298" y="6851093"/>
            <a:ext cx="49971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Actual,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272777" y="6851093"/>
            <a:ext cx="43126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596681" y="6851093"/>
            <a:ext cx="39887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920078" y="6851093"/>
            <a:ext cx="36653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42211" y="6851093"/>
            <a:ext cx="33431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565482" y="6851093"/>
            <a:ext cx="30199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414866" y="7033300"/>
            <a:ext cx="51705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Predicted,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O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301695" y="7033300"/>
            <a:ext cx="428370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597890" y="7033300"/>
            <a:ext cx="39875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948870" y="7033300"/>
            <a:ext cx="36365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243294" y="7033300"/>
            <a:ext cx="33421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18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566692" y="7033300"/>
            <a:ext cx="3018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12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738793" y="7215580"/>
            <a:ext cx="48466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O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287204" y="7215494"/>
            <a:ext cx="42982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-7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625658" y="7215494"/>
            <a:ext cx="39597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930837" y="7215494"/>
            <a:ext cx="36545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-5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271062" y="7215494"/>
            <a:ext cx="33143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8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594461" y="7215494"/>
            <a:ext cx="29909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583649" y="7381528"/>
            <a:ext cx="50017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TeX matha10"/>
              </a:rPr>
              <a:t>p</a:t>
            </a:r>
            <a:r>
              <a:rPr sz="996" b="0">
                <a:solidFill>
                  <a:srgbClr val="0000FF"/>
                </a:solidFill>
                <a:latin typeface="Cambria Math"/>
              </a:rPr>
              <a:t>O</a:t>
            </a:r>
            <a:r>
              <a:rPr sz="996" b="0">
                <a:solidFill>
                  <a:srgbClr val="0000FF"/>
                </a:solidFill>
                <a:latin typeface="TeX matha10"/>
              </a:rPr>
              <a:t> ´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E</a:t>
            </a:r>
            <a:r>
              <a:rPr sz="996" b="0">
                <a:solidFill>
                  <a:srgbClr val="0000FF"/>
                </a:solidFill>
                <a:latin typeface="TeX matha10"/>
              </a:rPr>
              <a:t>q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266071" y="7397688"/>
            <a:ext cx="43193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49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625655" y="7397688"/>
            <a:ext cx="39597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913879" y="7397688"/>
            <a:ext cx="36715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25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236012" y="7397688"/>
            <a:ext cx="33493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64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594458" y="7397688"/>
            <a:ext cx="2990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714015" y="7542643"/>
            <a:ext cx="487138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TeX matha7"/>
              </a:rPr>
              <a:t>p</a:t>
            </a:r>
            <a:r>
              <a:rPr sz="697" b="0">
                <a:solidFill>
                  <a:srgbClr val="0000FF"/>
                </a:solidFill>
                <a:latin typeface="Cambria Math"/>
              </a:rPr>
              <a:t>O</a:t>
            </a:r>
            <a:r>
              <a:rPr sz="697" b="0">
                <a:solidFill>
                  <a:srgbClr val="0000FF"/>
                </a:solidFill>
                <a:latin typeface="TeX matha7"/>
              </a:rPr>
              <a:t>´</a:t>
            </a:r>
            <a:r>
              <a:rPr sz="697" b="0">
                <a:solidFill>
                  <a:srgbClr val="0000FF"/>
                </a:solidFill>
                <a:latin typeface="Cambria Math"/>
              </a:rPr>
              <a:t>E</a:t>
            </a:r>
            <a:r>
              <a:rPr sz="697" b="0">
                <a:solidFill>
                  <a:srgbClr val="0000FF"/>
                </a:solidFill>
                <a:latin typeface="TeX matha7"/>
              </a:rPr>
              <a:t>q</a:t>
            </a:r>
            <a:r>
              <a:rPr sz="498" b="0">
                <a:solidFill>
                  <a:srgbClr val="0000FF"/>
                </a:solidFill>
                <a:latin typeface="Cambria Math"/>
              </a:rPr>
              <a:t>2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856903" y="7666034"/>
            <a:ext cx="472850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FF"/>
                </a:solidFill>
                <a:latin typeface="Cambria Math"/>
              </a:rPr>
              <a:t>E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251022" y="7592659"/>
            <a:ext cx="43343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4.9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574293" y="7592659"/>
            <a:ext cx="40111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898829" y="7592659"/>
            <a:ext cx="36865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2.5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220962" y="7592659"/>
            <a:ext cx="336444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6.4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543095" y="7592659"/>
            <a:ext cx="30423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0.4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867630" y="7557210"/>
            <a:ext cx="27177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Cambria Math"/>
              </a:rPr>
              <a:t>χ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14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254633" y="7879333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As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χ</a:t>
            </a:r>
            <a:r>
              <a:rPr sz="697" b="0">
                <a:solidFill>
                  <a:srgbClr val="0000FF"/>
                </a:solidFill>
                <a:latin typeface="Cambria Math"/>
              </a:rPr>
              <a:t>2</a:t>
            </a:r>
            <a:r>
              <a:rPr sz="996" b="0">
                <a:solidFill>
                  <a:srgbClr val="0000FF"/>
                </a:solidFill>
                <a:latin typeface="TeX matha10"/>
              </a:rPr>
              <a:t> </a:t>
            </a:r>
            <a:r>
              <a:rPr sz="996" b="0">
                <a:solidFill>
                  <a:srgbClr val="0000FF"/>
                </a:solidFill>
                <a:latin typeface="TeX matha10"/>
              </a:rPr>
              <a:t>“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14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6</a:t>
            </a:r>
            <a:r>
              <a:rPr sz="996" b="0">
                <a:solidFill>
                  <a:srgbClr val="0000FF"/>
                </a:solidFill>
                <a:latin typeface="TeX matha10"/>
              </a:rPr>
              <a:t> ą</a:t>
            </a:r>
            <a:r>
              <a:rPr sz="996" b="0">
                <a:solidFill>
                  <a:srgbClr val="0000FF"/>
                </a:solidFill>
                <a:latin typeface="Cambria Math"/>
              </a:rPr>
              <a:t> 9</a:t>
            </a:r>
            <a:r>
              <a:rPr sz="996" b="0">
                <a:solidFill>
                  <a:srgbClr val="0000FF"/>
                </a:solidFill>
                <a:latin typeface="Cambria Math"/>
              </a:rPr>
              <a:t>.</a:t>
            </a:r>
            <a:r>
              <a:rPr sz="996" b="0">
                <a:solidFill>
                  <a:srgbClr val="0000FF"/>
                </a:solidFill>
                <a:latin typeface="Cambria Math"/>
              </a:rPr>
              <a:t>488</a:t>
            </a:r>
            <a:r>
              <a:rPr sz="996" b="0">
                <a:solidFill>
                  <a:srgbClr val="0000FF"/>
                </a:solidFill>
                <a:latin typeface="Roboto Light"/>
              </a:rPr>
              <a:t>, the null hypothesis is rejected. The difference between the actual distribu-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254633" y="8066623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tion and the predicted distribution by the neural network is signiﬁcant.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254633" y="8269061"/>
            <a:ext cx="633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FF"/>
                </a:solidFill>
                <a:latin typeface="Roboto Light"/>
              </a:rPr>
              <a:t>Therefore the decision tree performs better than the neural network.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717239" y="9997810"/>
            <a:ext cx="38681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8824" y="3466800"/>
            <a:ext cx="6886592" cy="2363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824" y="3867035"/>
            <a:ext cx="6886592" cy="3938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3361"/>
                </a:solidFill>
                <a:latin typeface="Arial"/>
              </a:rPr>
              <a:t>Tutorial 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824" y="4370824"/>
            <a:ext cx="6886592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412" y="4929883"/>
            <a:ext cx="6696004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•  Current labs connect core CI algorithms with physical-AI simulation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412" y="5361883"/>
            <a:ext cx="6696004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•  Isaac Sim examples use its bundled Python 3.12 environment and current launchers.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412" y="5793884"/>
            <a:ext cx="6696004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•  Every simulator-dependent example includes a CPU/Matplotlib learning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824" y="7076925"/>
            <a:ext cx="6886592" cy="216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824" y="7383073"/>
            <a:ext cx="6886592" cy="1772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Ans</dc:title>
  <dc:subject>Editable objects converted from Tutorial Ans.pdf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