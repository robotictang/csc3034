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Swarm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900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Introduction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to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72886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816" y="927129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816" y="1125388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323648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Variants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521908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17606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Ant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colony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optimisation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7816" y="1958940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Background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7816" y="2157200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355460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553719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Variants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79250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Other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8313" y="3150917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4123" y="3150693"/>
            <a:ext cx="1212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993" y="2874708"/>
            <a:ext cx="20159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Swarm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What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is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swarm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7781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intelligence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subfield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focusing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collective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4498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decentralised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comprised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relatively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simple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agents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6014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interacting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environment.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394" y="2925197"/>
            <a:ext cx="53150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1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Iglesias,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G ´alvez,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P.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Su ´arez,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“Swarm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robotics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–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study: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Bat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robotics”,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Nature-Inspired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Computation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Intelligence,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pp.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273–302,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3035530"/>
            <a:ext cx="542540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2020.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313" y="3150918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3132" y="3150694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951577" y="931986"/>
            <a:ext cx="116218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00967" y="982597"/>
            <a:ext cx="0" cy="1857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51577" y="1218986"/>
            <a:ext cx="116218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64376" y="982597"/>
            <a:ext cx="0" cy="1857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47688" y="1433531"/>
            <a:ext cx="9988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97077" y="1484141"/>
            <a:ext cx="0" cy="16284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47688" y="1697601"/>
            <a:ext cx="9988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97140" y="1484141"/>
            <a:ext cx="0" cy="16284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749886" y="1433531"/>
            <a:ext cx="113669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99275" y="1484141"/>
            <a:ext cx="0" cy="1857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749886" y="1720531"/>
            <a:ext cx="113669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937193" y="1484141"/>
            <a:ext cx="0" cy="1857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062900" y="1935075"/>
            <a:ext cx="93954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12289" y="1985686"/>
            <a:ext cx="0" cy="3578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062900" y="2394153"/>
            <a:ext cx="93954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53054" y="1985686"/>
            <a:ext cx="0" cy="3578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695262" y="1935075"/>
            <a:ext cx="81706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44651" y="1985686"/>
            <a:ext cx="0" cy="3578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695262" y="2394153"/>
            <a:ext cx="81706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62942" y="1985686"/>
            <a:ext cx="0" cy="3578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7526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263900" y="1384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463800" y="189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038600" y="189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Swarm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intelligence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79523" y="1003583"/>
            <a:ext cx="38058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Intelligence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75638" y="1505106"/>
            <a:ext cx="45097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Robotics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7819" y="1505119"/>
            <a:ext cx="3007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90851" y="2006655"/>
            <a:ext cx="36945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52078" y="2178727"/>
            <a:ext cx="36333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73969" y="2006655"/>
            <a:ext cx="20114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23182" y="2178727"/>
            <a:ext cx="20622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3285" y="3150693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Particle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swarm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optimisation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(PSO)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Background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27506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Inspired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flocking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331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(individual)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peers’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itself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74901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3" y="3150918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2599" y="3150694"/>
            <a:ext cx="1227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96532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started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agents)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5" y="118116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rendering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images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animations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natural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phenomena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5" y="135324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clouds,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explosions,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56758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used/improved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flocking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78342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flocking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birds.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7" y="199777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Eventually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researchers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5" y="2213615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simulation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just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models.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314" y="3150918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2448" y="3150694"/>
            <a:ext cx="12294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Basic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principles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79325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maximum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search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space.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8" y="1051368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(individuals)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8" y="1309482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potential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8" y="1567584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modifications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throughout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178342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individuals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created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destroyed)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9" y="1997770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“flown”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search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space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8" y="2255884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direction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towards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“fly”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experience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6" y="2471727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experience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314" y="3150915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6474" y="3150691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71750" y="1851500"/>
            <a:ext cx="0" cy="100826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71750" y="1851500"/>
            <a:ext cx="201652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88272" y="1851500"/>
            <a:ext cx="0" cy="1008261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871750" y="2859761"/>
            <a:ext cx="201652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198643" y="2733417"/>
            <a:ext cx="34266" cy="45682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3175000" y="270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0"/>
                </a:moveTo>
                <a:lnTo>
                  <a:pt x="1" y="4"/>
                </a:lnTo>
                <a:lnTo>
                  <a:pt x="2" y="2"/>
                </a:lnTo>
                <a:lnTo>
                  <a:pt x="4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3200400" y="27432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5" y="2"/>
                </a:ln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1" y="4"/>
                </a:lnTo>
                <a:lnTo>
                  <a:pt x="1" y="5"/>
                </a:lnTo>
                <a:lnTo>
                  <a:pt x="1" y="5"/>
                </a:lnTo>
                <a:lnTo>
                  <a:pt x="2" y="5"/>
                </a:lnTo>
                <a:lnTo>
                  <a:pt x="2" y="5"/>
                </a:lnTo>
                <a:lnTo>
                  <a:pt x="3" y="5"/>
                </a:lnTo>
                <a:lnTo>
                  <a:pt x="3" y="5"/>
                </a:lnTo>
                <a:lnTo>
                  <a:pt x="3" y="5"/>
                </a:lnTo>
                <a:lnTo>
                  <a:pt x="4" y="5"/>
                </a:lnTo>
                <a:lnTo>
                  <a:pt x="4" y="5"/>
                </a:lnTo>
                <a:lnTo>
                  <a:pt x="5" y="4"/>
                </a:lnTo>
                <a:lnTo>
                  <a:pt x="5" y="4"/>
                </a:lnTo>
                <a:lnTo>
                  <a:pt x="5" y="3"/>
                </a:lnTo>
                <a:lnTo>
                  <a:pt x="5" y="3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456544" y="2375801"/>
            <a:ext cx="286663" cy="105842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717800" y="2463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2"/>
                </a:moveTo>
                <a:lnTo>
                  <a:pt x="1" y="0"/>
                </a:lnTo>
                <a:lnTo>
                  <a:pt x="2" y="1"/>
                </a:lnTo>
                <a:lnTo>
                  <a:pt x="0" y="2"/>
                </a:lnTo>
                <a:lnTo>
                  <a:pt x="4" y="2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425700" y="2349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4" y="4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5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2093568" y="2694354"/>
            <a:ext cx="465857" cy="64575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540000" y="267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lnTo>
                  <a:pt x="4" y="1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057400" y="2730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5" y="2"/>
                </a:lnTo>
                <a:lnTo>
                  <a:pt x="5" y="1"/>
                </a:lnTo>
                <a:lnTo>
                  <a:pt x="5" y="1"/>
                </a:lnTo>
                <a:lnTo>
                  <a:pt x="5" y="1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5"/>
                </a:lnTo>
                <a:lnTo>
                  <a:pt x="3" y="5"/>
                </a:lnTo>
                <a:lnTo>
                  <a:pt x="3" y="5"/>
                </a:lnTo>
                <a:lnTo>
                  <a:pt x="4" y="4"/>
                </a:lnTo>
                <a:lnTo>
                  <a:pt x="4" y="4"/>
                </a:lnTo>
                <a:lnTo>
                  <a:pt x="5" y="4"/>
                </a:lnTo>
                <a:lnTo>
                  <a:pt x="5" y="4"/>
                </a:lnTo>
                <a:lnTo>
                  <a:pt x="5" y="3"/>
                </a:lnTo>
                <a:lnTo>
                  <a:pt x="5" y="3"/>
                </a:lnTo>
                <a:lnTo>
                  <a:pt x="5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3425621" y="2722348"/>
            <a:ext cx="230755" cy="76920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390900" y="270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1"/>
                </a:moveTo>
                <a:lnTo>
                  <a:pt x="3" y="3"/>
                </a:lnTo>
                <a:lnTo>
                  <a:pt x="3" y="1"/>
                </a:lnTo>
                <a:lnTo>
                  <a:pt x="4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632200" y="2768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4" y="2"/>
                </a:moveTo>
                <a:lnTo>
                  <a:pt x="4" y="2"/>
                </a:ln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1" y="4"/>
                </a:lnTo>
                <a:lnTo>
                  <a:pt x="1" y="5"/>
                </a:lnTo>
                <a:lnTo>
                  <a:pt x="1" y="5"/>
                </a:lnTo>
                <a:lnTo>
                  <a:pt x="2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4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375880" y="2577450"/>
            <a:ext cx="324353" cy="17771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679700" y="257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1" y="0"/>
                </a:lnTo>
                <a:lnTo>
                  <a:pt x="2" y="1"/>
                </a:lnTo>
                <a:lnTo>
                  <a:pt x="0" y="3"/>
                </a:lnTo>
                <a:lnTo>
                  <a:pt x="4" y="1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349500" y="2552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3427270" y="2670340"/>
            <a:ext cx="229106" cy="38189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3909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1"/>
                </a:moveTo>
                <a:lnTo>
                  <a:pt x="4" y="3"/>
                </a:lnTo>
                <a:lnTo>
                  <a:pt x="3" y="1"/>
                </a:lnTo>
                <a:lnTo>
                  <a:pt x="4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632200" y="267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4" y="2"/>
                </a:moveTo>
                <a:lnTo>
                  <a:pt x="4" y="2"/>
                </a:ln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1" y="4"/>
                </a:lnTo>
                <a:lnTo>
                  <a:pt x="1" y="4"/>
                </a:lnTo>
                <a:lnTo>
                  <a:pt x="1" y="5"/>
                </a:lnTo>
                <a:lnTo>
                  <a:pt x="2" y="5"/>
                </a:lnTo>
                <a:lnTo>
                  <a:pt x="2" y="5"/>
                </a:lnTo>
                <a:lnTo>
                  <a:pt x="3" y="4"/>
                </a:lnTo>
                <a:lnTo>
                  <a:pt x="3" y="4"/>
                </a:lnTo>
                <a:lnTo>
                  <a:pt x="4" y="4"/>
                </a:lnTo>
                <a:lnTo>
                  <a:pt x="4" y="4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>
            <a:off x="3512741" y="2476618"/>
            <a:ext cx="315037" cy="62120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479800" y="251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797300" y="2451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4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4" y="4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5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932243" y="2677320"/>
            <a:ext cx="546300" cy="51363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463800" y="2667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lnTo>
                  <a:pt x="4" y="1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905000" y="2692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4" y="2"/>
                </a:lnTo>
                <a:lnTo>
                  <a:pt x="4" y="2"/>
                </a:lnTo>
                <a:lnTo>
                  <a:pt x="4" y="2"/>
                </a:lnTo>
                <a:lnTo>
                  <a:pt x="4" y="1"/>
                </a:lnTo>
                <a:lnTo>
                  <a:pt x="3" y="1"/>
                </a:lnTo>
                <a:lnTo>
                  <a:pt x="3" y="1"/>
                </a:lnTo>
                <a:lnTo>
                  <a:pt x="3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5"/>
                </a:lnTo>
                <a:lnTo>
                  <a:pt x="2" y="5"/>
                </a:lnTo>
                <a:lnTo>
                  <a:pt x="2" y="5"/>
                </a:lnTo>
                <a:lnTo>
                  <a:pt x="3" y="5"/>
                </a:lnTo>
                <a:lnTo>
                  <a:pt x="3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3433290" y="2153982"/>
            <a:ext cx="253332" cy="204437"/>
          </a:xfrm>
          <a:prstGeom prst="line">
            <a:avLst/>
          </a:prstGeom>
          <a:ln w="708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3403600" y="2336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708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657600" y="21209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5" y="2"/>
                </a:lnTo>
                <a:lnTo>
                  <a:pt x="4" y="2"/>
                </a:ln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1" y="4"/>
                </a:lnTo>
                <a:lnTo>
                  <a:pt x="1" y="5"/>
                </a:lnTo>
                <a:lnTo>
                  <a:pt x="1" y="5"/>
                </a:lnTo>
                <a:lnTo>
                  <a:pt x="2" y="5"/>
                </a:lnTo>
                <a:lnTo>
                  <a:pt x="2" y="5"/>
                </a:lnTo>
                <a:lnTo>
                  <a:pt x="3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4" y="4"/>
                </a:lnTo>
                <a:lnTo>
                  <a:pt x="4" y="4"/>
                </a:lnTo>
                <a:lnTo>
                  <a:pt x="5" y="3"/>
                </a:lnTo>
                <a:lnTo>
                  <a:pt x="5" y="3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086100" y="2590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4" y="2"/>
                </a:moveTo>
                <a:lnTo>
                  <a:pt x="4" y="2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0" y="4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5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Basic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principles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7" y="62580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057" y="883906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89060" y="1188100"/>
            <a:ext cx="35963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0057" y="140013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experience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7095" y="1615965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4541" y="2250020"/>
            <a:ext cx="2980854" cy="30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7" b="0">
                <a:solidFill>
                  <a:srgbClr val="000000"/>
                </a:solidFill>
                <a:latin typeface="Cambria Math"/>
              </a:rPr>
              <a:t>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98313" y="3150919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3589" y="3150695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127506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1533180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entire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(population),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6" y="1749010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directly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314" y="3150918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2448" y="3150694"/>
            <a:ext cx="12294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78574" y="1647384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10541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676004" y="1962783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651000" y="2032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733154" y="1962783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17800" y="217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378424" y="1609541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3561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22794" y="1962783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39529" y="1962783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17655" y="1962783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53828" y="1962783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750685" y="1896638"/>
            <a:ext cx="266970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7272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280562" y="1594669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2606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61809" y="1962783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43200" y="228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170711" y="1385303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2004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386857" y="1896638"/>
            <a:ext cx="266971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3655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96560" y="1488013"/>
            <a:ext cx="108245" cy="2388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7846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407080" y="1965696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381500" y="228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671229" y="1591918"/>
            <a:ext cx="73627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6609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83612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5321" y="1755955"/>
            <a:ext cx="49600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0684" y="1436526"/>
            <a:ext cx="50847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7688" y="2109258"/>
            <a:ext cx="45677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11704" y="2254825"/>
            <a:ext cx="3573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65704" y="2426898"/>
            <a:ext cx="3419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0692" y="1226608"/>
            <a:ext cx="18647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10951" y="1398680"/>
            <a:ext cx="17744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8773" y="2132576"/>
            <a:ext cx="492662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6169" y="2304648"/>
            <a:ext cx="45792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15972" y="1215610"/>
            <a:ext cx="39694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754" y="1387682"/>
            <a:ext cx="36546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25509" y="2371107"/>
            <a:ext cx="36598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3395" y="1174665"/>
            <a:ext cx="30020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94914" y="2132576"/>
            <a:ext cx="3290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42323" y="2304648"/>
            <a:ext cx="29430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68827" y="1110873"/>
            <a:ext cx="25165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3609" y="1282945"/>
            <a:ext cx="22017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4485" y="2374028"/>
            <a:ext cx="19509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54258" y="1384151"/>
            <a:ext cx="16311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31700" y="3150693"/>
            <a:ext cx="1536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78574" y="1647384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10541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676004" y="1962783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651000" y="2032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733154" y="1962783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17800" y="217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378424" y="1609541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3561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22794" y="1962783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39529" y="1962783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17655" y="1962783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53828" y="1962783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750685" y="1896638"/>
            <a:ext cx="266970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7272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280562" y="1594669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2606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61809" y="1962783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43200" y="228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170711" y="1385303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2004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386857" y="1896638"/>
            <a:ext cx="266971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3655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96560" y="1488013"/>
            <a:ext cx="108245" cy="2388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7846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407080" y="1965696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381500" y="228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671229" y="1591918"/>
            <a:ext cx="73627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6609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83612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5321" y="1755955"/>
            <a:ext cx="49600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0684" y="1436526"/>
            <a:ext cx="50847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7688" y="2109258"/>
            <a:ext cx="45677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11704" y="2254825"/>
            <a:ext cx="3573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65704" y="2426898"/>
            <a:ext cx="3419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0692" y="1226608"/>
            <a:ext cx="18647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10951" y="1398680"/>
            <a:ext cx="17744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8773" y="2132576"/>
            <a:ext cx="492662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6169" y="2304648"/>
            <a:ext cx="45792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15972" y="1215610"/>
            <a:ext cx="39694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754" y="1387682"/>
            <a:ext cx="36546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25509" y="2371107"/>
            <a:ext cx="36598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3395" y="1174665"/>
            <a:ext cx="30020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94914" y="2132576"/>
            <a:ext cx="3290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42323" y="2304648"/>
            <a:ext cx="29430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68827" y="1110873"/>
            <a:ext cx="25165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3609" y="1282945"/>
            <a:ext cx="22017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4485" y="2374028"/>
            <a:ext cx="19509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54258" y="1384151"/>
            <a:ext cx="16311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31700" y="3150693"/>
            <a:ext cx="1536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78574" y="1647384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10541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676004" y="1962783"/>
            <a:ext cx="0" cy="7943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651000" y="2032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733154" y="1962783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17800" y="217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378424" y="1609541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3561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22794" y="1962783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39529" y="1962783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17655" y="1962783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53828" y="1962783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750685" y="1896638"/>
            <a:ext cx="266970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7272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280562" y="1594669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2606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61809" y="1962783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43200" y="228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170711" y="1385303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2004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386857" y="1896638"/>
            <a:ext cx="266971" cy="180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3655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96560" y="1488013"/>
            <a:ext cx="108245" cy="2388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7846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407080" y="1965696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381500" y="228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671229" y="1591918"/>
            <a:ext cx="73627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6609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83612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5321" y="1755955"/>
            <a:ext cx="49600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0684" y="1436526"/>
            <a:ext cx="50847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7688" y="2109258"/>
            <a:ext cx="45677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11704" y="2254825"/>
            <a:ext cx="3573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65704" y="2426898"/>
            <a:ext cx="3419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0692" y="1226608"/>
            <a:ext cx="18647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10951" y="1398680"/>
            <a:ext cx="17744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8773" y="2132576"/>
            <a:ext cx="492662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6169" y="2304648"/>
            <a:ext cx="45792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15972" y="1215610"/>
            <a:ext cx="39694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754" y="1387682"/>
            <a:ext cx="36546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25509" y="2371107"/>
            <a:ext cx="36598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3395" y="1174665"/>
            <a:ext cx="30020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94914" y="2132576"/>
            <a:ext cx="3290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42323" y="2304648"/>
            <a:ext cx="29430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68827" y="1110873"/>
            <a:ext cx="25165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3609" y="1282945"/>
            <a:ext cx="22017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4485" y="2374028"/>
            <a:ext cx="19509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54258" y="1384151"/>
            <a:ext cx="16311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31700" y="3150693"/>
            <a:ext cx="1536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993" y="645223"/>
            <a:ext cx="5039995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9993" y="840930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59996" y="2774949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736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550" y="861800"/>
            <a:ext cx="528684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-dimensional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551" y="1034282"/>
            <a:ext cx="52868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362" y="1205957"/>
            <a:ext cx="507903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185" y="1378030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186" y="1550102"/>
            <a:ext cx="48712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group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(global)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363" y="1722584"/>
            <a:ext cx="50790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6362" y="1894248"/>
            <a:ext cx="507903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5" y="2066333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5" y="2238404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363" y="2410885"/>
            <a:ext cx="50790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552" y="2582548"/>
            <a:ext cx="52868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8316" y="3150917"/>
            <a:ext cx="8870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54779" y="3150693"/>
            <a:ext cx="1306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5" y="97485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5" y="1152867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4" y="1330883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7073" y="1508898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72" y="1838743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implementation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1319" y="734064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2" y="921676"/>
            <a:ext cx="48712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particles,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181" y="1099692"/>
            <a:ext cx="48712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formula,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PSO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181" y="1277707"/>
            <a:ext cx="48712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required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formula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79" y="1455723"/>
            <a:ext cx="4871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function,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decide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79" y="1607551"/>
            <a:ext cx="4871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others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79" y="1785568"/>
            <a:ext cx="4871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4709" y="1974230"/>
            <a:ext cx="53106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906" y="2152246"/>
            <a:ext cx="531248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385" y="2339858"/>
            <a:ext cx="50670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090" y="2517873"/>
            <a:ext cx="50913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3.2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8311" y="3150916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40207" y="3150692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43727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9218" y="3150693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92281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1180933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8" y="1439035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7" y="1794583"/>
            <a:ext cx="469725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7" y="2105308"/>
            <a:ext cx="51482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exception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8" y="2277380"/>
            <a:ext cx="51482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316" y="3150916"/>
            <a:ext cx="8870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9373" y="3150692"/>
            <a:ext cx="1460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90639" y="1476759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652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88069" y="1792158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5621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45219" y="1792158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628900" y="1993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290489" y="1438917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2672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4859" y="1792158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51594" y="1792158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9720" y="1792158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65893" y="1792158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662750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6383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192627" y="1424045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1717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673875" y="1792158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654300" y="2120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082776" y="1214679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111500" y="119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298923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2766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08625" y="1317388"/>
            <a:ext cx="108245" cy="2388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6957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319145" y="1795072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2926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583295" y="1421294"/>
            <a:ext cx="73626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5720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387" y="1585343"/>
            <a:ext cx="50480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749" y="1265902"/>
            <a:ext cx="51726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753" y="1938646"/>
            <a:ext cx="46556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3769" y="2084201"/>
            <a:ext cx="3661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77770" y="2256273"/>
            <a:ext cx="3507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77145" y="1055984"/>
            <a:ext cx="220825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3017" y="1228056"/>
            <a:ext cx="18623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8" y="1961951"/>
            <a:ext cx="50145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8234" y="2134036"/>
            <a:ext cx="466716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28037" y="1044985"/>
            <a:ext cx="40573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42820" y="1217058"/>
            <a:ext cx="3742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37574" y="2200495"/>
            <a:ext cx="37478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5460" y="1004053"/>
            <a:ext cx="30899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6979" y="1961951"/>
            <a:ext cx="3378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54388" y="2134036"/>
            <a:ext cx="30310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0892" y="940249"/>
            <a:ext cx="26045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95674" y="1112321"/>
            <a:ext cx="22897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90937" y="2203403"/>
            <a:ext cx="2294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66336" y="1213527"/>
            <a:ext cx="171905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90639" y="1476759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652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88069" y="1792158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5621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45219" y="1792158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628900" y="1993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290489" y="1438917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2672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4859" y="1792158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51594" y="1792158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9720" y="1792158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65893" y="1792158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662750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6383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192627" y="1424045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1717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673875" y="1792158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654300" y="2120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082776" y="1214679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111500" y="119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298923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2766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08625" y="1317388"/>
            <a:ext cx="108245" cy="2388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6957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319145" y="1795072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2926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583295" y="1421294"/>
            <a:ext cx="73626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5720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387" y="1585343"/>
            <a:ext cx="50480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749" y="1265902"/>
            <a:ext cx="51726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753" y="1938646"/>
            <a:ext cx="46556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3769" y="2084201"/>
            <a:ext cx="3661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77770" y="2256273"/>
            <a:ext cx="3507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77145" y="1055984"/>
            <a:ext cx="220825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3017" y="1228056"/>
            <a:ext cx="18623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8" y="1961951"/>
            <a:ext cx="50145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8234" y="2134036"/>
            <a:ext cx="466716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28037" y="1044985"/>
            <a:ext cx="40573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42820" y="1217058"/>
            <a:ext cx="3742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37574" y="2200495"/>
            <a:ext cx="37478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5460" y="1004053"/>
            <a:ext cx="30899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6979" y="1961951"/>
            <a:ext cx="3378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54388" y="2134036"/>
            <a:ext cx="30310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0892" y="940249"/>
            <a:ext cx="26045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95674" y="1112321"/>
            <a:ext cx="22897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90937" y="2203403"/>
            <a:ext cx="2294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66336" y="1213527"/>
            <a:ext cx="171905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90639" y="1476759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652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88069" y="1792158"/>
            <a:ext cx="0" cy="7943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5621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45219" y="1792158"/>
            <a:ext cx="0" cy="222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628900" y="1993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290489" y="1438917"/>
            <a:ext cx="0" cy="1172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2672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34859" y="1792158"/>
            <a:ext cx="5115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51594" y="1792158"/>
            <a:ext cx="27295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9720" y="1792158"/>
            <a:ext cx="143099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65893" y="1792158"/>
            <a:ext cx="144919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662750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6383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2192627" y="1424045"/>
            <a:ext cx="21951" cy="13215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1717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673875" y="1792158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654300" y="2120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3082776" y="1214679"/>
            <a:ext cx="45867" cy="34151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111500" y="119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3298923" y="1726014"/>
            <a:ext cx="266970" cy="1800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32766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3"/>
                </a:moveTo>
                <a:lnTo>
                  <a:pt x="4" y="3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3708625" y="1317388"/>
            <a:ext cx="108245" cy="2388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36957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319145" y="1795072"/>
            <a:ext cx="0" cy="3412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42926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583295" y="1421294"/>
            <a:ext cx="73626" cy="1349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5720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387" y="1585343"/>
            <a:ext cx="50480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749" y="1265902"/>
            <a:ext cx="51726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753" y="1938646"/>
            <a:ext cx="46556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3769" y="2084201"/>
            <a:ext cx="3661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77770" y="2256273"/>
            <a:ext cx="35076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77145" y="1055984"/>
            <a:ext cx="220825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3017" y="1228056"/>
            <a:ext cx="18623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8" y="1961951"/>
            <a:ext cx="50145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8234" y="2134036"/>
            <a:ext cx="466716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28037" y="1044985"/>
            <a:ext cx="40573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42820" y="1217058"/>
            <a:ext cx="3742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37574" y="2200495"/>
            <a:ext cx="37478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5460" y="1004053"/>
            <a:ext cx="30899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6979" y="1961951"/>
            <a:ext cx="3378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acceleration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54388" y="2134036"/>
            <a:ext cx="30310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0892" y="940249"/>
            <a:ext cx="26045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95674" y="1112321"/>
            <a:ext cx="22897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(0,1)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90937" y="2203403"/>
            <a:ext cx="2294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66336" y="1213527"/>
            <a:ext cx="171905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993" y="645223"/>
            <a:ext cx="5039995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9993" y="840930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59996" y="2774949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736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550" y="861800"/>
            <a:ext cx="528684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-dimensional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551" y="1034282"/>
            <a:ext cx="52868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362" y="1205957"/>
            <a:ext cx="507903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185" y="1378030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186" y="1550102"/>
            <a:ext cx="48712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363" y="1722584"/>
            <a:ext cx="50790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6362" y="1894248"/>
            <a:ext cx="507903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5" y="2066333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5" y="2238404"/>
            <a:ext cx="4871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363" y="2410885"/>
            <a:ext cx="50790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552" y="2582548"/>
            <a:ext cx="52868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8316" y="3150917"/>
            <a:ext cx="8870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8535" y="3150693"/>
            <a:ext cx="146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13459" y="1203794"/>
            <a:ext cx="209016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16151" y="1203794"/>
            <a:ext cx="82524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92351" y="1203794"/>
            <a:ext cx="164960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54149" y="1203794"/>
            <a:ext cx="42532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693519" y="1203794"/>
            <a:ext cx="108432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95627" y="1203794"/>
            <a:ext cx="293802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13457" y="1892084"/>
            <a:ext cx="212623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19756" y="1892084"/>
            <a:ext cx="191148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07741" y="1892084"/>
            <a:ext cx="42533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47111" y="1892084"/>
            <a:ext cx="197523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38297" y="1892084"/>
            <a:ext cx="37503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69476" y="1892084"/>
            <a:ext cx="162331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025470" y="1892084"/>
            <a:ext cx="145427" cy="0"/>
          </a:xfrm>
          <a:prstGeom prst="line">
            <a:avLst/>
          </a:prstGeom>
          <a:ln w="52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Definition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neighbourhood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particle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057" y="1034159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indices.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size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094" y="124998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094" y="151042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055" y="1722462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spatial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similarity.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093" y="1938291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(Euclidean)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proximity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093" y="2110364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included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8311" y="3150918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42557" y="3150694"/>
            <a:ext cx="1428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Global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vs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local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best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1343887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converges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diversity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60200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diversity,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trapped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313" y="3150918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9675" y="3150694"/>
            <a:ext cx="1457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Termination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conditions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7467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criteria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18902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maximum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iterations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exceeded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447137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acceptable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7" y="1705252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improvement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9633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together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7" y="222146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change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approximately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zero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313" y="3150916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8532" y="3150692"/>
            <a:ext cx="146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663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Variants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tweak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aspects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1872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algorithm.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7682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reduce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search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space,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clamping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4890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limits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v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3" y="3150916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17133" y="3150692"/>
            <a:ext cx="1682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3215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equation,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591" y="1243937"/>
            <a:ext cx="48358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546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without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9811" y="1812776"/>
            <a:ext cx="30555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converges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070890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0045" y="2329005"/>
            <a:ext cx="331535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expands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311" y="3150916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0207" y="3150692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0504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Inertia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control/balance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142" y="1616822"/>
            <a:ext cx="48872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wv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313" y="3150917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5629" y="3150693"/>
            <a:ext cx="1597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25318" y="1889430"/>
            <a:ext cx="1166495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76332" y="1917128"/>
            <a:ext cx="476986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561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Alternatively,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constriction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factor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980" y="1167889"/>
            <a:ext cx="49484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χ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{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3005" y="1813462"/>
            <a:ext cx="38323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73919" y="1722059"/>
            <a:ext cx="26114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5318" y="1926651"/>
            <a:ext cx="31600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60876" y="1809836"/>
            <a:ext cx="262451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6332" y="1886633"/>
            <a:ext cx="25090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4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6917" y="2131826"/>
            <a:ext cx="37284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 &gt;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993" y="244307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constriction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clamping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needed.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8313" y="3150918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4638" y="3150694"/>
            <a:ext cx="1607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Cognition-only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3570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Cognition-only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4" y="1393409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group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4" y="1565481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79575" y="1877260"/>
            <a:ext cx="41058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314" y="3150917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5935" y="3150693"/>
            <a:ext cx="1594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Social-only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333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Social-only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391085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velocity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563157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70466" y="1874936"/>
            <a:ext cx="41149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v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β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311" y="3150917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4103" y="3150693"/>
            <a:ext cx="16129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Selfless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192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Selfless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576937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basically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social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model,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749010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itself.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1" y="3150918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951" y="3150694"/>
            <a:ext cx="1614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6530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Problem: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maximum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 15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assuming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8765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integers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319" y="1645772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712" y="1903874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7979" y="3150693"/>
            <a:ext cx="1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004863" y="1729252"/>
            <a:ext cx="2533166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04863" y="1919875"/>
            <a:ext cx="288005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92868" y="1919875"/>
            <a:ext cx="935321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228189" y="1919875"/>
            <a:ext cx="935322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63511" y="1919875"/>
            <a:ext cx="374518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2872" y="1919875"/>
            <a:ext cx="575218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228090" y="1919875"/>
            <a:ext cx="575416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652872" y="1919875"/>
            <a:ext cx="1150634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498600" y="16891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10" y="6"/>
                </a:moveTo>
                <a:lnTo>
                  <a:pt x="10" y="5"/>
                </a:lnTo>
                <a:lnTo>
                  <a:pt x="10" y="4"/>
                </a:ln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8"/>
                </a:lnTo>
                <a:lnTo>
                  <a:pt x="2" y="9"/>
                </a:lnTo>
                <a:lnTo>
                  <a:pt x="2" y="10"/>
                </a:lnTo>
                <a:lnTo>
                  <a:pt x="3" y="10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320800" y="16891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10" y="6"/>
                </a:moveTo>
                <a:lnTo>
                  <a:pt x="10" y="5"/>
                </a:lnTo>
                <a:lnTo>
                  <a:pt x="10" y="4"/>
                </a:ln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2" y="10"/>
                </a:lnTo>
                <a:lnTo>
                  <a:pt x="3" y="10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143000" y="16891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10" y="6"/>
                </a:moveTo>
                <a:lnTo>
                  <a:pt x="10" y="5"/>
                </a:lnTo>
                <a:lnTo>
                  <a:pt x="10" y="4"/>
                </a:ln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2" y="10"/>
                </a:lnTo>
                <a:lnTo>
                  <a:pt x="3" y="10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11300" y="1892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333500" y="1892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55700" y="1892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colony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optimisation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(ACO)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Background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0057" y="88038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efficient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bringing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(foraging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0055" y="1138502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left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behind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chemical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093" y="1354331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higher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concentration.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21736" y="1759259"/>
            <a:ext cx="406365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6704" y="1773978"/>
            <a:ext cx="11986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8311" y="3150918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5094" y="3150694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36946" y="1564406"/>
            <a:ext cx="2533166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36946" y="1755029"/>
            <a:ext cx="288004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24950" y="1755029"/>
            <a:ext cx="935322" cy="540006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60272" y="1755029"/>
            <a:ext cx="935322" cy="540006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95594" y="1755029"/>
            <a:ext cx="374518" cy="1472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84955" y="1755029"/>
            <a:ext cx="575218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60173" y="1755029"/>
            <a:ext cx="575416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384955" y="1755029"/>
            <a:ext cx="1150634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36946" y="1667078"/>
            <a:ext cx="145315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36946" y="1667078"/>
            <a:ext cx="30600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42952" y="1667078"/>
            <a:ext cx="545604" cy="31500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200400" y="1600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10" y="4"/>
                </a:lnTo>
                <a:lnTo>
                  <a:pt x="10" y="3"/>
                </a:lnTo>
                <a:lnTo>
                  <a:pt x="9" y="2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10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10"/>
                </a:lnTo>
                <a:lnTo>
                  <a:pt x="8" y="9"/>
                </a:lnTo>
                <a:lnTo>
                  <a:pt x="9" y="8"/>
                </a:lnTo>
                <a:lnTo>
                  <a:pt x="10" y="7"/>
                </a:lnTo>
                <a:lnTo>
                  <a:pt x="10" y="6"/>
                </a:lnTo>
                <a:lnTo>
                  <a:pt x="1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3378200" y="1600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10" y="4"/>
                </a:lnTo>
                <a:lnTo>
                  <a:pt x="10" y="3"/>
                </a:lnTo>
                <a:lnTo>
                  <a:pt x="9" y="2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10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9" y="8"/>
                </a:lnTo>
                <a:lnTo>
                  <a:pt x="10" y="7"/>
                </a:lnTo>
                <a:lnTo>
                  <a:pt x="10" y="6"/>
                </a:lnTo>
                <a:lnTo>
                  <a:pt x="1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556000" y="1600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10" y="4"/>
                </a:lnTo>
                <a:lnTo>
                  <a:pt x="10" y="3"/>
                </a:lnTo>
                <a:lnTo>
                  <a:pt x="9" y="2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2" y="9"/>
                </a:lnTo>
                <a:lnTo>
                  <a:pt x="2" y="10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9" y="8"/>
                </a:lnTo>
                <a:lnTo>
                  <a:pt x="10" y="7"/>
                </a:lnTo>
                <a:lnTo>
                  <a:pt x="10" y="6"/>
                </a:lnTo>
                <a:lnTo>
                  <a:pt x="1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603500" y="1968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755900" y="205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908300" y="2146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9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Background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057" y="99029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foraging,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095" y="120612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53819" y="1594400"/>
            <a:ext cx="4331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8786" y="1609119"/>
            <a:ext cx="14666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953" y="3150693"/>
            <a:ext cx="1614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36946" y="1652684"/>
            <a:ext cx="2533166" cy="1472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36946" y="1843306"/>
            <a:ext cx="288004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24950" y="1843306"/>
            <a:ext cx="935322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60272" y="1843306"/>
            <a:ext cx="935322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95594" y="1843306"/>
            <a:ext cx="374518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84955" y="1843306"/>
            <a:ext cx="575218" cy="332105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60173" y="1843306"/>
            <a:ext cx="575416" cy="332105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384955" y="1843306"/>
            <a:ext cx="1150634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36946" y="1755355"/>
            <a:ext cx="253316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36946" y="1755355"/>
            <a:ext cx="30600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42952" y="1755355"/>
            <a:ext cx="919731" cy="53100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962683" y="2106356"/>
            <a:ext cx="311774" cy="180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4165600" y="16891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5"/>
                </a:moveTo>
                <a:lnTo>
                  <a:pt x="10" y="4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9"/>
                </a:lnTo>
                <a:lnTo>
                  <a:pt x="9" y="9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lnTo>
                  <a:pt x="1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064000" y="1689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10" y="4"/>
                </a:lnTo>
                <a:lnTo>
                  <a:pt x="10" y="3"/>
                </a:lnTo>
                <a:lnTo>
                  <a:pt x="9" y="2"/>
                </a:lnTo>
                <a:lnTo>
                  <a:pt x="9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9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9"/>
                </a:lnTo>
                <a:lnTo>
                  <a:pt x="9" y="9"/>
                </a:lnTo>
                <a:lnTo>
                  <a:pt x="9" y="8"/>
                </a:lnTo>
                <a:lnTo>
                  <a:pt x="10" y="7"/>
                </a:lnTo>
                <a:lnTo>
                  <a:pt x="10" y="6"/>
                </a:lnTo>
                <a:lnTo>
                  <a:pt x="1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949700" y="1689100"/>
            <a:ext cx="139700" cy="1270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5"/>
                </a:moveTo>
                <a:lnTo>
                  <a:pt x="10" y="4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8"/>
                </a:lnTo>
                <a:lnTo>
                  <a:pt x="2" y="9"/>
                </a:lnTo>
                <a:lnTo>
                  <a:pt x="3" y="9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9"/>
                </a:lnTo>
                <a:lnTo>
                  <a:pt x="9" y="9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lnTo>
                  <a:pt x="1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289300" y="2019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441700" y="1930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594100" y="18415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4" y="0"/>
                </a:moveTo>
                <a:lnTo>
                  <a:pt x="2" y="2"/>
                </a:lnTo>
                <a:lnTo>
                  <a:pt x="0" y="4"/>
                </a:lnTo>
                <a:lnTo>
                  <a:pt x="2" y="6"/>
                </a:lnTo>
                <a:lnTo>
                  <a:pt x="4" y="8"/>
                </a:lnTo>
                <a:lnTo>
                  <a:pt x="6" y="6"/>
                </a:lnTo>
                <a:lnTo>
                  <a:pt x="9" y="4"/>
                </a:lnTo>
                <a:lnTo>
                  <a:pt x="6" y="2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Background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057" y="931429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arrive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earlier,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095" y="114727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deposited,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likely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095" y="131934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shorter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return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nest.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53819" y="1682690"/>
            <a:ext cx="43315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8786" y="1697409"/>
            <a:ext cx="14666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6142" y="3150693"/>
            <a:ext cx="1692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36944" y="1263619"/>
            <a:ext cx="2533167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36944" y="1454242"/>
            <a:ext cx="288005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24949" y="1454242"/>
            <a:ext cx="935321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60270" y="1454242"/>
            <a:ext cx="935322" cy="540007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95592" y="1454242"/>
            <a:ext cx="374519" cy="14721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84953" y="1454242"/>
            <a:ext cx="575219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60172" y="1454242"/>
            <a:ext cx="575416" cy="332104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384953" y="1454242"/>
            <a:ext cx="1150635" cy="0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36944" y="1366291"/>
            <a:ext cx="2533167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36944" y="1366291"/>
            <a:ext cx="30600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42950" y="1366291"/>
            <a:ext cx="919732" cy="53100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962682" y="1366291"/>
            <a:ext cx="919732" cy="53100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82414" y="1366291"/>
            <a:ext cx="387697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570640" y="1394404"/>
            <a:ext cx="263066" cy="151889"/>
          </a:xfrm>
          <a:prstGeom prst="line">
            <a:avLst/>
          </a:prstGeom>
          <a:ln w="36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4178300" y="1308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4" y="0"/>
                </a:moveTo>
                <a:lnTo>
                  <a:pt x="2" y="3"/>
                </a:lnTo>
                <a:lnTo>
                  <a:pt x="0" y="5"/>
                </a:lnTo>
                <a:lnTo>
                  <a:pt x="2" y="7"/>
                </a:lnTo>
                <a:lnTo>
                  <a:pt x="4" y="9"/>
                </a:lnTo>
                <a:lnTo>
                  <a:pt x="6" y="7"/>
                </a:lnTo>
                <a:lnTo>
                  <a:pt x="9" y="5"/>
                </a:lnTo>
                <a:lnTo>
                  <a:pt x="6" y="3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076700" y="13081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4" y="0"/>
                </a:moveTo>
                <a:lnTo>
                  <a:pt x="2" y="3"/>
                </a:lnTo>
                <a:lnTo>
                  <a:pt x="0" y="5"/>
                </a:lnTo>
                <a:lnTo>
                  <a:pt x="2" y="7"/>
                </a:lnTo>
                <a:lnTo>
                  <a:pt x="4" y="9"/>
                </a:lnTo>
                <a:lnTo>
                  <a:pt x="6" y="7"/>
                </a:lnTo>
                <a:lnTo>
                  <a:pt x="8" y="5"/>
                </a:lnTo>
                <a:lnTo>
                  <a:pt x="6" y="3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962400" y="1308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4" y="0"/>
                </a:moveTo>
                <a:lnTo>
                  <a:pt x="2" y="3"/>
                </a:lnTo>
                <a:lnTo>
                  <a:pt x="0" y="5"/>
                </a:lnTo>
                <a:lnTo>
                  <a:pt x="2" y="7"/>
                </a:lnTo>
                <a:lnTo>
                  <a:pt x="4" y="9"/>
                </a:lnTo>
                <a:lnTo>
                  <a:pt x="6" y="7"/>
                </a:lnTo>
                <a:lnTo>
                  <a:pt x="9" y="5"/>
                </a:lnTo>
                <a:lnTo>
                  <a:pt x="6" y="3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H="1">
            <a:off x="3298095" y="1366291"/>
            <a:ext cx="662518" cy="0"/>
          </a:xfrm>
          <a:prstGeom prst="line">
            <a:avLst/>
          </a:prstGeom>
          <a:ln w="72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200400" y="12954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10" y="6"/>
                </a:moveTo>
                <a:lnTo>
                  <a:pt x="10" y="5"/>
                </a:lnTo>
                <a:lnTo>
                  <a:pt x="10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8"/>
                </a:lnTo>
                <a:lnTo>
                  <a:pt x="1" y="9"/>
                </a:lnTo>
                <a:lnTo>
                  <a:pt x="2" y="10"/>
                </a:lnTo>
                <a:lnTo>
                  <a:pt x="3" y="10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0"/>
                </a:lnTo>
                <a:lnTo>
                  <a:pt x="8" y="10"/>
                </a:lnTo>
                <a:lnTo>
                  <a:pt x="8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3086100" y="12954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10" y="6"/>
                </a:moveTo>
                <a:lnTo>
                  <a:pt x="10" y="5"/>
                </a:lnTo>
                <a:lnTo>
                  <a:pt x="10" y="4"/>
                </a:lnTo>
                <a:lnTo>
                  <a:pt x="10" y="3"/>
                </a:lnTo>
                <a:lnTo>
                  <a:pt x="9" y="2"/>
                </a:lnTo>
                <a:lnTo>
                  <a:pt x="8" y="1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1" y="8"/>
                </a:lnTo>
                <a:lnTo>
                  <a:pt x="2" y="9"/>
                </a:lnTo>
                <a:lnTo>
                  <a:pt x="2" y="10"/>
                </a:lnTo>
                <a:lnTo>
                  <a:pt x="3" y="10"/>
                </a:lnTo>
                <a:lnTo>
                  <a:pt x="4" y="11"/>
                </a:lnTo>
                <a:lnTo>
                  <a:pt x="5" y="11"/>
                </a:lnTo>
                <a:lnTo>
                  <a:pt x="6" y="11"/>
                </a:lnTo>
                <a:lnTo>
                  <a:pt x="7" y="10"/>
                </a:lnTo>
                <a:lnTo>
                  <a:pt x="8" y="10"/>
                </a:lnTo>
                <a:lnTo>
                  <a:pt x="9" y="9"/>
                </a:lnTo>
                <a:lnTo>
                  <a:pt x="10" y="8"/>
                </a:lnTo>
                <a:lnTo>
                  <a:pt x="10" y="8"/>
                </a:lnTo>
                <a:lnTo>
                  <a:pt x="10" y="7"/>
                </a:lnTo>
                <a:lnTo>
                  <a:pt x="1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479800" y="14986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10" y="4"/>
                </a:lnTo>
                <a:lnTo>
                  <a:pt x="9" y="3"/>
                </a:lnTo>
                <a:lnTo>
                  <a:pt x="9" y="2"/>
                </a:lnTo>
                <a:lnTo>
                  <a:pt x="8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2" y="9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6" y="10"/>
                </a:lnTo>
                <a:lnTo>
                  <a:pt x="7" y="10"/>
                </a:lnTo>
                <a:lnTo>
                  <a:pt x="8" y="9"/>
                </a:lnTo>
                <a:lnTo>
                  <a:pt x="8" y="9"/>
                </a:lnTo>
                <a:lnTo>
                  <a:pt x="9" y="8"/>
                </a:lnTo>
                <a:lnTo>
                  <a:pt x="9" y="7"/>
                </a:lnTo>
                <a:lnTo>
                  <a:pt x="10" y="6"/>
                </a:lnTo>
                <a:lnTo>
                  <a:pt x="1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Background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7" y="54236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higher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higher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95" y="75820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concentration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095" y="93027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route.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53818" y="1293626"/>
            <a:ext cx="43315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8785" y="1308345"/>
            <a:ext cx="14666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0055" y="2115996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0054" y="2374110"/>
            <a:ext cx="53253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Eventually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route.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0054" y="2632212"/>
            <a:ext cx="53253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communication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via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092" y="2848054"/>
            <a:ext cx="51483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stigmergy.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8311" y="3150916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39217" y="3150692"/>
            <a:ext cx="1461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colony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optimisation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(ACO)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974901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foraging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behaviour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inspired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119073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(ACO)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colony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(ACS)).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405089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combinatorial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5" y="1620918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(optimal)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(ordering)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finite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objects.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7" y="1835276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travelling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salesman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(TSP):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2026879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Given a list of cities and the distances between each pair of cities, what is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6" y="2198952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shortest possible route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visits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 city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returns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city?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314" y="3150920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5021" y="3150696"/>
            <a:ext cx="16037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66076" y="1321589"/>
            <a:ext cx="323809" cy="560851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647912" y="1230352"/>
            <a:ext cx="639355" cy="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46409" y="1322232"/>
            <a:ext cx="319679" cy="553698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446409" y="2058404"/>
            <a:ext cx="319679" cy="553698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649203" y="2703982"/>
            <a:ext cx="638064" cy="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166076" y="2051894"/>
            <a:ext cx="323163" cy="559734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14996" y="1967167"/>
            <a:ext cx="649208" cy="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2595234" y="1321589"/>
            <a:ext cx="320850" cy="555723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33796" y="1283027"/>
            <a:ext cx="1093730" cy="631466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634913" y="2019842"/>
            <a:ext cx="1092613" cy="63082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95879" y="2057022"/>
            <a:ext cx="320205" cy="554606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019838" y="1322232"/>
            <a:ext cx="320479" cy="55508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201887" y="1283398"/>
            <a:ext cx="1099596" cy="634853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01887" y="2016083"/>
            <a:ext cx="1099596" cy="634853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3019838" y="2057022"/>
            <a:ext cx="320479" cy="55508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071718" y="1967167"/>
            <a:ext cx="641692" cy="0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93363" y="1336448"/>
            <a:ext cx="0" cy="1261438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542559" y="1335705"/>
            <a:ext cx="0" cy="1261634"/>
          </a:xfrm>
          <a:prstGeom prst="line">
            <a:avLst/>
          </a:prstGeom>
          <a:ln w="427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057" y="631010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combinatorial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095" y="84684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graph.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98733" y="1911849"/>
            <a:ext cx="3686662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12906" y="1175046"/>
            <a:ext cx="327248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62936" y="1174489"/>
            <a:ext cx="242245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8450" y="1911849"/>
            <a:ext cx="1996945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2529" y="2648104"/>
            <a:ext cx="2422866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11620" y="2648104"/>
            <a:ext cx="3273775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0113" y="1911849"/>
            <a:ext cx="2845282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9627" y="1527034"/>
            <a:ext cx="3645768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93956" y="1080318"/>
            <a:ext cx="289143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7330" y="1524097"/>
            <a:ext cx="2138065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7341" y="2260256"/>
            <a:ext cx="2138054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94599" y="2704046"/>
            <a:ext cx="2890796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56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9306" y="2256773"/>
            <a:ext cx="364608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28278" y="1817120"/>
            <a:ext cx="3157117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76966" y="1663395"/>
            <a:ext cx="290842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95180" y="1681639"/>
            <a:ext cx="2290215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95459" y="2102554"/>
            <a:ext cx="2289936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46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47669" y="2120680"/>
            <a:ext cx="3137726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67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41047" y="1738612"/>
            <a:ext cx="264434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37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63329" y="1525845"/>
            <a:ext cx="3222066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52955" y="2492287"/>
            <a:ext cx="2832440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11600" y="2120798"/>
            <a:ext cx="2873795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57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8508" y="1967233"/>
            <a:ext cx="2626887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47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34456" y="1501769"/>
            <a:ext cx="235093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54207" y="2281995"/>
            <a:ext cx="3431189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Cambria Math"/>
              </a:rPr>
              <a:t>τ</a:t>
            </a:r>
            <a:r>
              <a:rPr sz="672" b="0">
                <a:solidFill>
                  <a:srgbClr val="000000"/>
                </a:solidFill>
                <a:latin typeface="Cambria Math"/>
              </a:rPr>
              <a:t>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58974" y="1904859"/>
            <a:ext cx="4126421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Origin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40545" y="2652199"/>
            <a:ext cx="2244850" cy="1812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>
                <a:solidFill>
                  <a:srgbClr val="000000"/>
                </a:solidFill>
                <a:latin typeface="Josefin Sans"/>
              </a:rPr>
              <a:t>Destination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24271" y="3150693"/>
            <a:ext cx="1611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47672" y="1240995"/>
            <a:ext cx="677190" cy="451461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90739" y="1230666"/>
            <a:ext cx="381775" cy="190890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707624" y="1518495"/>
            <a:ext cx="670923" cy="447283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58063" y="1278849"/>
            <a:ext cx="216360" cy="649075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53235" y="1781849"/>
            <a:ext cx="388512" cy="194258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60925" y="1483800"/>
            <a:ext cx="1203250" cy="240651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85608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Taking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graph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6637" y="1691497"/>
            <a:ext cx="3728758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77760" y="1137255"/>
            <a:ext cx="2907635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31308" y="1413873"/>
            <a:ext cx="2354087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0047" y="1968613"/>
            <a:ext cx="3185348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4484" y="1398337"/>
            <a:ext cx="3470911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9106" y="1257725"/>
            <a:ext cx="2566289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80567" y="1742195"/>
            <a:ext cx="2704828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0373" y="1697264"/>
            <a:ext cx="3245022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75711" y="1810580"/>
            <a:ext cx="3609684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6208" y="1407125"/>
            <a:ext cx="2789187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5558" y="1685123"/>
            <a:ext cx="4129837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Origin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3290" y="1417597"/>
            <a:ext cx="2192105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Destination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0007" y="2262661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 aim is to go from node 1 to node 3.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 the pheromone amount deposited on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007" y="2434734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8314" y="3150917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814" y="3150693"/>
            <a:ext cx="1615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745285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97114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124864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352612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06" y="1580362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63" y="180809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8" y="2035847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increment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87675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714" y="2415425"/>
            <a:ext cx="5298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914" y="2643174"/>
            <a:ext cx="53034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314" y="3150919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129" y="3150695"/>
            <a:ext cx="1622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684554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36383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064131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291880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Identify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path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each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ant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from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origin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to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destination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based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5" y="1444082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3373"/>
                </a:solidFill>
                <a:latin typeface="Josefin Sans"/>
              </a:rPr>
              <a:t>probability.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06" y="1671458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263" y="189920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08" y="2126943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increment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278784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714" y="2506520"/>
            <a:ext cx="5298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914" y="2734269"/>
            <a:ext cx="53034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8314" y="3150917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2976" y="3150693"/>
            <a:ext cx="1624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291994" y="1016126"/>
            <a:ext cx="47419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98013" y="1016126"/>
            <a:ext cx="479275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985768" y="712332"/>
            <a:ext cx="503918" cy="251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85768" y="1067960"/>
            <a:ext cx="504706" cy="2523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33154" y="2098470"/>
            <a:ext cx="861986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60280" y="950586"/>
            <a:ext cx="29251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984" y="950586"/>
            <a:ext cx="22184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083" y="589931"/>
            <a:ext cx="22193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223" y="1310593"/>
            <a:ext cx="22191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19223" y="950281"/>
            <a:ext cx="36661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41879" y="838367"/>
            <a:ext cx="33435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70249" y="838367"/>
            <a:ext cx="25151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6485" y="597562"/>
            <a:ext cx="25089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7069" y="1079464"/>
            <a:ext cx="25083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993" y="164846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2)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664" y="2024826"/>
            <a:ext cx="35357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6929" y="1910004"/>
            <a:ext cx="28084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7495" y="1997393"/>
            <a:ext cx="274790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33154" y="2101317"/>
            <a:ext cx="31522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3720" y="2101317"/>
            <a:ext cx="3091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7496" y="2101317"/>
            <a:ext cx="27478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1273" y="2188718"/>
            <a:ext cx="24041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9993" y="25918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amplify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influence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9992" y="2849985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2)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3)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4)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8311" y="3150917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6999" y="3150693"/>
            <a:ext cx="1583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56891" y="1536700"/>
            <a:ext cx="47419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49542" y="827622"/>
            <a:ext cx="102470" cy="5811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25177" y="1471159"/>
            <a:ext cx="2560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4119" y="1470842"/>
            <a:ext cx="33012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6775" y="1358927"/>
            <a:ext cx="29786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181411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198618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0)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224429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constructed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removed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41636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constructed,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reached.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313" y="3150916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4105" y="3150692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745285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97114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124864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352612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06" y="1580362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Calculate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path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length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each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62" y="180809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8" y="2035847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increment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87675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714" y="2415425"/>
            <a:ext cx="5298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914" y="2643174"/>
            <a:ext cx="53034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314" y="3150919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2976" y="3150695"/>
            <a:ext cx="1624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7179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L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chosen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941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questions.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equivalent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6295" y="3150693"/>
            <a:ext cx="1691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745285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97114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124864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352612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06" y="1580362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63" y="180809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Evaporate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pheromone.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8" y="2035847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increment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87675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714" y="2415425"/>
            <a:ext cx="5298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914" y="2643174"/>
            <a:ext cx="53034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314" y="3150919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9372" y="3150695"/>
            <a:ext cx="14602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7306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evaporation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5801" y="1484843"/>
            <a:ext cx="335959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ρ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79556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ρ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inclusively,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96765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evaporate.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3" y="3150919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4791" y="3150695"/>
            <a:ext cx="1606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745285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97114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124864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352612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06" y="1580362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63" y="180809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8" y="2035847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Deposit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pheromone,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i.e.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calculate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increment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pheromone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each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edge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88049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3373"/>
                </a:solidFill>
                <a:latin typeface="Josefin Sans"/>
              </a:rPr>
              <a:t>based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on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path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length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update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the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pheromone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amount.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712" y="2415425"/>
            <a:ext cx="5298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911" y="2643174"/>
            <a:ext cx="53034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311" y="3150919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811" y="3150695"/>
            <a:ext cx="1615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26855" y="1260194"/>
            <a:ext cx="159309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33677" y="1829561"/>
            <a:ext cx="131216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65106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inversely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8231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proportional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took.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58657" y="1158520"/>
            <a:ext cx="32267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4679" y="1092836"/>
            <a:ext cx="30507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∝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26855" y="1270775"/>
            <a:ext cx="27585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L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5" y="1734821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41501" y="1755929"/>
            <a:ext cx="40438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2399" y="1730541"/>
            <a:ext cx="371299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3677" y="1753607"/>
            <a:ext cx="37517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L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5" y="2064084"/>
            <a:ext cx="54254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concentration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5" y="2236156"/>
            <a:ext cx="54254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04390" y="2513547"/>
            <a:ext cx="34810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02509" y="2363991"/>
            <a:ext cx="278288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4117" y="2481543"/>
            <a:ext cx="28212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6111" y="2712301"/>
            <a:ext cx="28192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7320" y="2485505"/>
            <a:ext cx="2598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3341" y="2576970"/>
            <a:ext cx="242205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8314" y="3150917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967" y="3150693"/>
            <a:ext cx="1614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85" y="745285"/>
            <a:ext cx="5278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Strictly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897114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speaking,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beginning.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" y="1124864"/>
            <a:ext cx="5302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151" y="1352612"/>
            <a:ext cx="5304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probability.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06" y="1580362"/>
            <a:ext cx="53039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63" y="1808097"/>
            <a:ext cx="53051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08" y="2035847"/>
            <a:ext cx="53053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Deposit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increment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87675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714" y="2415425"/>
            <a:ext cx="52986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7.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termination</a:t>
            </a:r>
            <a:r>
              <a:rPr sz="996" b="1">
                <a:solidFill>
                  <a:srgbClr val="003373"/>
                </a:solidFill>
                <a:latin typeface="Josefin Sans"/>
              </a:rPr>
              <a:t> </a:t>
            </a:r>
            <a:r>
              <a:rPr sz="996" b="1">
                <a:solidFill>
                  <a:srgbClr val="003373"/>
                </a:solidFill>
                <a:latin typeface="Josefin Sans"/>
              </a:rPr>
              <a:t>condition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913" y="2643174"/>
            <a:ext cx="53034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Josefin Sans"/>
              </a:rPr>
              <a:t>8.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shortest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selected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solution.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313" y="3150919"/>
            <a:ext cx="8870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280" y="3150695"/>
            <a:ext cx="1621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8116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common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395512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maximum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iterations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exceeded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653627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acceptable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7" y="1911742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314" y="3150917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129" y="3150693"/>
            <a:ext cx="1622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3285" y="711695"/>
            <a:ext cx="4535970" cy="0"/>
          </a:xfrm>
          <a:prstGeom prst="line">
            <a:avLst/>
          </a:prstGeom>
          <a:ln w="10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3285" y="907402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3286" y="2153396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2012" y="2255875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2013" y="3847250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2012" y="2255875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792186" y="3046945"/>
            <a:ext cx="253708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2016" y="3812959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285" y="740160"/>
            <a:ext cx="51521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828" y="928552"/>
            <a:ext cx="50135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(0)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zero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827" y="1101033"/>
            <a:ext cx="50135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9638" y="1272696"/>
            <a:ext cx="48057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Place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9638" y="1444780"/>
            <a:ext cx="48057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{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639" y="1616853"/>
            <a:ext cx="48057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concentration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829" y="1788924"/>
            <a:ext cx="50135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829" y="1960996"/>
            <a:ext cx="50135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Return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558" y="2282677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8380" y="2426803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Initiate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empty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  <a:r>
              <a:rPr sz="1090" b="0">
                <a:solidFill>
                  <a:srgbClr val="000000"/>
                </a:solidFill>
                <a:latin typeface="MSBM10"/>
              </a:rPr>
              <a:t> 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380" y="2627243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6204" y="2780120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Select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93365" y="2798906"/>
            <a:ext cx="22920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(Slide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37)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6204" y="2971826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Add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8382" y="3162684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reached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0558" y="2282677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8379" y="2454749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ρ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8380" y="2626834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6203" y="2798906"/>
            <a:ext cx="46191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deposited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6191" y="2952192"/>
            <a:ext cx="46192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42213" y="2973301"/>
            <a:ext cx="44431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148" y="2947925"/>
            <a:ext cx="38932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186" y="3048639"/>
            <a:ext cx="39932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L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382" y="3173254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27153" y="3150693"/>
            <a:ext cx="1582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90560" y="623256"/>
            <a:ext cx="1978862" cy="0"/>
          </a:xfrm>
          <a:prstGeom prst="line">
            <a:avLst/>
          </a:prstGeom>
          <a:ln w="44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90560" y="708636"/>
            <a:ext cx="197886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040286" y="951337"/>
            <a:ext cx="113729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51257" y="951337"/>
            <a:ext cx="83024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32902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50077" y="951337"/>
            <a:ext cx="82786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1484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48660" y="951337"/>
            <a:ext cx="121104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68384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85560" y="951337"/>
            <a:ext cx="73478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57653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74828" y="951337"/>
            <a:ext cx="123098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96548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13729" y="951337"/>
            <a:ext cx="8713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99485" y="951337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16660" y="951337"/>
            <a:ext cx="292383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890559" y="1252214"/>
            <a:ext cx="197886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12012" y="1353261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2013" y="2944632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2012" y="1353261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792186" y="2144329"/>
            <a:ext cx="253708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2016" y="2910343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90560" y="635669"/>
            <a:ext cx="389483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Algorithm</a:t>
            </a:r>
            <a:r>
              <a:rPr sz="475" b="1">
                <a:solidFill>
                  <a:srgbClr val="000000"/>
                </a:solidFill>
                <a:latin typeface="Josefin Sans"/>
              </a:rPr>
              <a:t> </a:t>
            </a:r>
            <a:r>
              <a:rPr sz="475" b="1">
                <a:solidFill>
                  <a:srgbClr val="000000"/>
                </a:solidFill>
                <a:latin typeface="Josefin Sans"/>
              </a:rPr>
              <a:t>3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ACO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51001" y="717863"/>
            <a:ext cx="3834394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τ</a:t>
            </a:r>
            <a:r>
              <a:rPr sz="347" b="0">
                <a:solidFill>
                  <a:srgbClr val="000000"/>
                </a:solidFill>
                <a:latin typeface="Cambria Math"/>
              </a:rPr>
              <a:t>ij</a:t>
            </a:r>
            <a:r>
              <a:rPr sz="475" b="0">
                <a:solidFill>
                  <a:srgbClr val="000000"/>
                </a:solidFill>
                <a:latin typeface="Cambria Math"/>
              </a:rPr>
              <a:t>(0)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or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zero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(0)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51002" y="793109"/>
            <a:ext cx="3834393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41667" y="867999"/>
            <a:ext cx="3743729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Place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n</a:t>
            </a:r>
            <a:r>
              <a:rPr sz="347" b="0">
                <a:solidFill>
                  <a:srgbClr val="000000"/>
                </a:solidFill>
                <a:latin typeface="Cambria Math"/>
              </a:rPr>
              <a:t>k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node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41666" y="943067"/>
            <a:ext cx="3743729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for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{</a:t>
            </a:r>
            <a:r>
              <a:rPr sz="475" b="0">
                <a:solidFill>
                  <a:srgbClr val="000000"/>
                </a:solidFill>
                <a:latin typeface="Cambria Math"/>
              </a:rPr>
              <a:t>1</a:t>
            </a:r>
            <a:r>
              <a:rPr sz="475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347" b="0">
                <a:solidFill>
                  <a:srgbClr val="000000"/>
                </a:solidFill>
                <a:latin typeface="Cambria Math"/>
              </a:rPr>
              <a:t>k</a:t>
            </a:r>
            <a:r>
              <a:rPr sz="475" b="0">
                <a:solidFill>
                  <a:srgbClr val="000000"/>
                </a:solidFill>
                <a:latin typeface="Cambria Math"/>
              </a:rPr>
              <a:t>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41665" y="1018141"/>
            <a:ext cx="3743730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concentration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(</a:t>
            </a:r>
            <a:r>
              <a:rPr sz="475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475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51001" y="1093209"/>
            <a:ext cx="383439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is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51001" y="1168277"/>
            <a:ext cx="383439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Return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solution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0558" y="1380062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380" y="1524201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Initiate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empty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  <a:r>
              <a:rPr sz="1090" b="0">
                <a:solidFill>
                  <a:srgbClr val="000000"/>
                </a:solidFill>
                <a:latin typeface="MSBM10"/>
              </a:rPr>
              <a:t> 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8380" y="1724628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66204" y="1877504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Select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3365" y="1896290"/>
            <a:ext cx="22920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(Slide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37)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6204" y="2069210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Add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8382" y="2260068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reached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8382" y="2413368"/>
            <a:ext cx="482701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Remove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8381" y="2585441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L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0557" y="2776708"/>
            <a:ext cx="50348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0558" y="1380062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8379" y="1552147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ρ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380" y="1724218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6203" y="1896290"/>
            <a:ext cx="46191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deposited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66191" y="2049576"/>
            <a:ext cx="46192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42213" y="2070685"/>
            <a:ext cx="44431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92148" y="2045309"/>
            <a:ext cx="38932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92186" y="2146035"/>
            <a:ext cx="39932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L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8382" y="2270638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8381" y="2478789"/>
            <a:ext cx="482701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20009" y="2373122"/>
            <a:ext cx="236538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08553" y="2476818"/>
            <a:ext cx="23768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83623" y="2638298"/>
            <a:ext cx="24017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02825" y="2460003"/>
            <a:ext cx="21825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78848" y="2481111"/>
            <a:ext cx="200654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0559" y="2742418"/>
            <a:ext cx="5034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7153" y="3150693"/>
            <a:ext cx="1582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90560" y="623256"/>
            <a:ext cx="1978862" cy="0"/>
          </a:xfrm>
          <a:prstGeom prst="line">
            <a:avLst/>
          </a:prstGeom>
          <a:ln w="44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90560" y="708636"/>
            <a:ext cx="197886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040286" y="1026405"/>
            <a:ext cx="79461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16983" y="1026405"/>
            <a:ext cx="119591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35201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52376" y="1026405"/>
            <a:ext cx="287502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38493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55669" y="1026405"/>
            <a:ext cx="91246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44156" y="1026405"/>
            <a:ext cx="89312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30710" y="1026405"/>
            <a:ext cx="76558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4509" y="1026405"/>
            <a:ext cx="98316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01446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18621" y="1026405"/>
            <a:ext cx="65073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82321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9496" y="1026405"/>
            <a:ext cx="123098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21216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38391" y="1026405"/>
            <a:ext cx="129686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66698" y="1026405"/>
            <a:ext cx="18555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83873" y="1026405"/>
            <a:ext cx="125808" cy="57117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890559" y="1252214"/>
            <a:ext cx="197886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12012" y="1353261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2013" y="2944632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12012" y="1353261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92186" y="2144329"/>
            <a:ext cx="253708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2016" y="2910343"/>
            <a:ext cx="45359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ACO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90560" y="635669"/>
            <a:ext cx="389483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Algorithm</a:t>
            </a:r>
            <a:r>
              <a:rPr sz="475" b="1">
                <a:solidFill>
                  <a:srgbClr val="000000"/>
                </a:solidFill>
                <a:latin typeface="Josefin Sans"/>
              </a:rPr>
              <a:t> </a:t>
            </a:r>
            <a:r>
              <a:rPr sz="475" b="1">
                <a:solidFill>
                  <a:srgbClr val="000000"/>
                </a:solidFill>
                <a:latin typeface="Josefin Sans"/>
              </a:rPr>
              <a:t>3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ACO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51001" y="717863"/>
            <a:ext cx="3834394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τ</a:t>
            </a:r>
            <a:r>
              <a:rPr sz="347" b="0">
                <a:solidFill>
                  <a:srgbClr val="000000"/>
                </a:solidFill>
                <a:latin typeface="Cambria Math"/>
              </a:rPr>
              <a:t>ij</a:t>
            </a:r>
            <a:r>
              <a:rPr sz="475" b="0">
                <a:solidFill>
                  <a:srgbClr val="000000"/>
                </a:solidFill>
                <a:latin typeface="Cambria Math"/>
              </a:rPr>
              <a:t>(0)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or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zero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(0)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51002" y="793109"/>
            <a:ext cx="3834393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41667" y="867999"/>
            <a:ext cx="3743729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Place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n</a:t>
            </a:r>
            <a:r>
              <a:rPr sz="347" b="0">
                <a:solidFill>
                  <a:srgbClr val="000000"/>
                </a:solidFill>
                <a:latin typeface="Cambria Math"/>
              </a:rPr>
              <a:t>k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ants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origin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node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41666" y="943067"/>
            <a:ext cx="3743729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for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{</a:t>
            </a:r>
            <a:r>
              <a:rPr sz="475" b="0">
                <a:solidFill>
                  <a:srgbClr val="000000"/>
                </a:solidFill>
                <a:latin typeface="Cambria Math"/>
              </a:rPr>
              <a:t>1</a:t>
            </a:r>
            <a:r>
              <a:rPr sz="475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347" b="0">
                <a:solidFill>
                  <a:srgbClr val="000000"/>
                </a:solidFill>
                <a:latin typeface="Cambria Math"/>
              </a:rPr>
              <a:t>k</a:t>
            </a:r>
            <a:r>
              <a:rPr sz="475" b="0">
                <a:solidFill>
                  <a:srgbClr val="000000"/>
                </a:solidFill>
                <a:latin typeface="Cambria Math"/>
              </a:rPr>
              <a:t>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41665" y="1018141"/>
            <a:ext cx="3743730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concentration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475" b="0">
                <a:solidFill>
                  <a:srgbClr val="000000"/>
                </a:solidFill>
                <a:latin typeface="Cambria Math"/>
              </a:rPr>
              <a:t> </a:t>
            </a:r>
            <a:r>
              <a:rPr sz="475" b="0">
                <a:solidFill>
                  <a:srgbClr val="000000"/>
                </a:solidFill>
                <a:latin typeface="Cambria Math"/>
              </a:rPr>
              <a:t>(</a:t>
            </a:r>
            <a:r>
              <a:rPr sz="475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475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51001" y="1093209"/>
            <a:ext cx="383439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is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51001" y="1168277"/>
            <a:ext cx="3834395" cy="936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" b="0">
                <a:solidFill>
                  <a:srgbClr val="000000"/>
                </a:solidFill>
                <a:latin typeface="Josefin Sans"/>
              </a:rPr>
              <a:t>Return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the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as</a:t>
            </a:r>
            <a:r>
              <a:rPr sz="475" b="0">
                <a:solidFill>
                  <a:srgbClr val="000000"/>
                </a:solidFill>
                <a:latin typeface="Josefin Sans"/>
              </a:rPr>
              <a:t> </a:t>
            </a:r>
            <a:r>
              <a:rPr sz="475" b="0">
                <a:solidFill>
                  <a:srgbClr val="000000"/>
                </a:solidFill>
                <a:latin typeface="Josefin Sans"/>
              </a:rPr>
              <a:t>solution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0558" y="1380062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8380" y="1524201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Initiate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empty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  <a:r>
              <a:rPr sz="1090" b="0">
                <a:solidFill>
                  <a:srgbClr val="000000"/>
                </a:solidFill>
                <a:latin typeface="MSBM10"/>
              </a:rPr>
              <a:t> 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8380" y="1724628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repeat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6204" y="1877504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Select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93365" y="1896290"/>
            <a:ext cx="22920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(Slide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37)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6204" y="2069210"/>
            <a:ext cx="46191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Add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8382" y="2260068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until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destination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reached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8382" y="2413368"/>
            <a:ext cx="482701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Remove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8381" y="2585441"/>
            <a:ext cx="48270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L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0557" y="2776708"/>
            <a:ext cx="50348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0558" y="1380062"/>
            <a:ext cx="50348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i, 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379" y="1552147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Evaporate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ρ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8380" y="1724218"/>
            <a:ext cx="4827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. . . 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66203" y="1896290"/>
            <a:ext cx="46191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deposited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6191" y="2049576"/>
            <a:ext cx="46192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42213" y="2070685"/>
            <a:ext cx="44431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92148" y="2045309"/>
            <a:ext cx="38932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186" y="2146035"/>
            <a:ext cx="39932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L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8382" y="2270638"/>
            <a:ext cx="48270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8381" y="2478789"/>
            <a:ext cx="482701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+ 1)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 +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20009" y="2373122"/>
            <a:ext cx="236538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08553" y="2476818"/>
            <a:ext cx="23768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3623" y="2638298"/>
            <a:ext cx="24017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02825" y="2460003"/>
            <a:ext cx="21825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τ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78848" y="2481111"/>
            <a:ext cx="200654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0559" y="2742418"/>
            <a:ext cx="5034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27153" y="3150693"/>
            <a:ext cx="1582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5685" y="1290198"/>
            <a:ext cx="677190" cy="451461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78752" y="1279869"/>
            <a:ext cx="381775" cy="190889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495637" y="1567698"/>
            <a:ext cx="670923" cy="447283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46076" y="1328052"/>
            <a:ext cx="216360" cy="649075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1248" y="1831052"/>
            <a:ext cx="388512" cy="194258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48938" y="1533003"/>
            <a:ext cx="1203250" cy="240651"/>
          </a:xfrm>
          <a:prstGeom prst="line">
            <a:avLst/>
          </a:prstGeom>
          <a:ln w="38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351833" y="1350822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374658" y="1350822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74375" y="1539305"/>
            <a:ext cx="1977741" cy="0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351833" y="1541584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374658" y="1541584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51833" y="1727788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374658" y="1727788"/>
            <a:ext cx="0" cy="186204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51833" y="1913992"/>
            <a:ext cx="0" cy="186203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74658" y="1913992"/>
            <a:ext cx="0" cy="186203"/>
          </a:xfrm>
          <a:prstGeom prst="line">
            <a:avLst/>
          </a:prstGeom>
          <a:ln w="455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8012" y="991327"/>
            <a:ext cx="53773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Taking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graph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nodes.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640" y="1740710"/>
            <a:ext cx="4940755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65763" y="1186467"/>
            <a:ext cx="4119632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9312" y="1463075"/>
            <a:ext cx="3566083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8061" y="2017826"/>
            <a:ext cx="4397335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498" y="1447549"/>
            <a:ext cx="4682898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07119" y="1306938"/>
            <a:ext cx="3778276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68580" y="1791408"/>
            <a:ext cx="3916815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34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8377" y="1746476"/>
            <a:ext cx="4457018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3724" y="1859792"/>
            <a:ext cx="4821671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4222" y="1456328"/>
            <a:ext cx="4001173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Cambria Math"/>
              </a:rPr>
              <a:t>τ</a:t>
            </a:r>
            <a:r>
              <a:rPr sz="613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71" y="1734336"/>
            <a:ext cx="5341824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Origin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81303" y="1466810"/>
            <a:ext cx="3404092" cy="165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Josefin Sans"/>
              </a:rPr>
              <a:t>Destination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6021" y="1055488"/>
            <a:ext cx="24493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Edge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length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42837" y="1381796"/>
            <a:ext cx="2342558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1">
                <a:solidFill>
                  <a:srgbClr val="000000"/>
                </a:solidFill>
                <a:latin typeface="Josefin Sans"/>
              </a:rPr>
              <a:t>Edge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77860" y="1381796"/>
            <a:ext cx="1907535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1">
                <a:solidFill>
                  <a:srgbClr val="000000"/>
                </a:solidFill>
                <a:latin typeface="Josefin Sans"/>
              </a:rPr>
              <a:t>Length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108" y="1381796"/>
            <a:ext cx="1342287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1">
                <a:solidFill>
                  <a:srgbClr val="000000"/>
                </a:solidFill>
                <a:latin typeface="Josefin Sans"/>
              </a:rPr>
              <a:t>Edge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8131" y="1381796"/>
            <a:ext cx="907264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1">
                <a:solidFill>
                  <a:srgbClr val="000000"/>
                </a:solidFill>
                <a:latin typeface="Josefin Sans"/>
              </a:rPr>
              <a:t>Length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7996" y="1572200"/>
            <a:ext cx="2307399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(1,2)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8073" y="1572200"/>
            <a:ext cx="1737322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5475" y="1572200"/>
            <a:ext cx="1319920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(2,3)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2560" y="1572200"/>
            <a:ext cx="762835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7194" y="1758404"/>
            <a:ext cx="2308201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(1,3)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10291" y="1758404"/>
            <a:ext cx="1775104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65601" y="1758404"/>
            <a:ext cx="1319794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(2,4)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61166" y="1758404"/>
            <a:ext cx="724229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7309" y="1944608"/>
            <a:ext cx="2308086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(1,4)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7637" y="1944608"/>
            <a:ext cx="1737758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64788" y="1944608"/>
            <a:ext cx="1320607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(3,4)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48358" y="1944608"/>
            <a:ext cx="737037" cy="193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3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98311" y="3150917"/>
            <a:ext cx="8870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24269" y="3150693"/>
            <a:ext cx="1611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Max-Min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Ant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System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(MMAS)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8830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Max-Min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(MMAS)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30224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sometimes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causes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prematurely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stagnation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complex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5" y="1518086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exactly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little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exploration.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8" y="1732431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MMAS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restricts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intensities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interval.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1948274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strategies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developed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achieve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restriction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6" y="212034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intensities.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314" y="3150918"/>
            <a:ext cx="8870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129" y="3150694"/>
            <a:ext cx="1622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Variants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Fast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Ant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127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Fast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5" y="1326690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4" y="1584792"/>
            <a:ext cx="53253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reduces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complexity.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5" y="1842907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evaporation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pheromone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3" y="2058749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happens.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311" y="3150917"/>
            <a:ext cx="887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15607" y="3150693"/>
            <a:ext cx="1697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Other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swarm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941411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colony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clustering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199526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457641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Dragonfly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7" y="1715755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Frogs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7" y="197385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7" y="2231972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 . 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313" y="3150917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2610" y="1461234"/>
            <a:ext cx="1662785" cy="4879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8" b="1">
                <a:solidFill>
                  <a:srgbClr val="FFFFFF"/>
                </a:solidFill>
                <a:latin typeface="Josefin Sans"/>
              </a:rPr>
              <a:t>Thank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 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8313" y="3150918"/>
            <a:ext cx="887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05 Swarm Intelligence - handout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Labs 4 and 5 cover PSO target search and ACO route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Physical examples account for robot speed limits, obstacles, and waypoint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runnable scripts are included in the synchronized Lab Solutions folders.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Swarm Intelligence - handout</dc:title>
  <dc:subject>Editable objects converted from 05 Swarm Intelligence - handout.pdf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