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673960"/>
            <a:ext cx="1587500" cy="243587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673831"/>
            <a:ext cx="1587500" cy="25730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673833"/>
            <a:ext cx="1587500" cy="2708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673834"/>
            <a:ext cx="1587500" cy="284479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1127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47324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32758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3579" y="3150917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564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4292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56511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70100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83689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7996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070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Format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0926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20325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Logistics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46267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Sample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for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Final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4122" y="3150563"/>
            <a:ext cx="121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09600" y="1955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65200" y="2705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358900" y="233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400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289300" y="1651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4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1463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4765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0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844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63800" y="28448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75590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263900" y="2095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0" y="4"/>
                </a:moveTo>
                <a:lnTo>
                  <a:pt x="3" y="1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81400" y="22860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1" y="2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330700" y="1651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3"/>
                </a:moveTo>
                <a:lnTo>
                  <a:pt x="4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86300" y="1955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4"/>
                </a:moveTo>
                <a:lnTo>
                  <a:pt x="4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991100" y="165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978400" y="241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2"/>
                </a:moveTo>
                <a:lnTo>
                  <a:pt x="4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356100" y="27686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4"/>
                </a:moveTo>
                <a:lnTo>
                  <a:pt x="3" y="1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054600" y="276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6113" y="1256449"/>
            <a:ext cx="5199282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Evolutionary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5995" y="1412600"/>
            <a:ext cx="5219400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4324" y="1286995"/>
            <a:ext cx="3201071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Artificial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7111" y="1411443"/>
            <a:ext cx="348828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5241" y="1332361"/>
            <a:ext cx="1530154" cy="243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 </a:t>
            </a:r>
            <a:r>
              <a:rPr sz="1237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957" y="2043623"/>
            <a:ext cx="532543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Genetic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805" y="2168084"/>
            <a:ext cx="537759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681" y="2790559"/>
            <a:ext cx="511871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Swarm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007" y="2915020"/>
            <a:ext cx="50723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168" y="2417821"/>
            <a:ext cx="466122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Ant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Colony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758" y="2542269"/>
            <a:ext cx="4699637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65665" y="1746876"/>
            <a:ext cx="37197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Supervised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6166" y="1871324"/>
            <a:ext cx="367922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31175" y="1746876"/>
            <a:ext cx="265422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Unsupervised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24406" y="1871324"/>
            <a:ext cx="256098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40307" y="2191648"/>
            <a:ext cx="3945088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Feedforward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9753" y="2376202"/>
            <a:ext cx="35056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Recurrent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4370" y="2748612"/>
            <a:ext cx="371102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52654" y="2935322"/>
            <a:ext cx="343274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1026" y="2748954"/>
            <a:ext cx="3104369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45624" y="2191280"/>
            <a:ext cx="273977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Hebbian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5653" y="2377649"/>
            <a:ext cx="2369742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Kohonen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3765" y="1734555"/>
            <a:ext cx="167163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logic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08410" y="2043623"/>
            <a:ext cx="1276985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97102" y="2168084"/>
            <a:ext cx="128829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operations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39174" y="1734555"/>
            <a:ext cx="94622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Hedges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8872" y="2490604"/>
            <a:ext cx="146652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Methods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40235" y="2862224"/>
            <a:ext cx="1645160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Mamdani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34864" y="2851349"/>
            <a:ext cx="850531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Sugeno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9142" y="653634"/>
            <a:ext cx="3496253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neural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networks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02739" y="999139"/>
            <a:ext cx="4482656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FFFFFF"/>
                </a:solidFill>
                <a:latin typeface="Josefin Sans"/>
              </a:rPr>
              <a:t> </a:t>
            </a:r>
            <a:r>
              <a:rPr sz="825" b="0">
                <a:solidFill>
                  <a:srgbClr val="FFFFFF"/>
                </a:solidFill>
                <a:latin typeface="Josefin Sans"/>
              </a:rPr>
              <a:t>ANFIS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4221" y="1041520"/>
            <a:ext cx="2601174" cy="1624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000000"/>
                </a:solidFill>
                <a:latin typeface="Josefin Sans"/>
              </a:rPr>
              <a:t>neuro-fuzzy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systems,</a:t>
            </a:r>
            <a:r>
              <a:rPr sz="825" b="0">
                <a:solidFill>
                  <a:srgbClr val="000000"/>
                </a:solidFill>
                <a:latin typeface="Josefin Sans"/>
              </a:rPr>
              <a:t> </a:t>
            </a:r>
            <a:r>
              <a:rPr sz="825" b="0">
                <a:solidFill>
                  <a:srgbClr val="000000"/>
                </a:solidFill>
                <a:latin typeface="Josefin Sans"/>
              </a:rPr>
              <a:t>ANFIS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13578" y="315093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3133" y="3150576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927100" y="23749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0" y="3"/>
                </a:moveTo>
                <a:lnTo>
                  <a:pt x="6" y="5"/>
                </a:lnTo>
                <a:lnTo>
                  <a:pt x="4" y="3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78000" y="24257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5"/>
                </a:moveTo>
                <a:lnTo>
                  <a:pt x="5" y="0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784600" y="2209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6" h="6">
                <a:moveTo>
                  <a:pt x="4" y="6"/>
                </a:moveTo>
                <a:lnTo>
                  <a:pt x="6" y="0"/>
                </a:lnTo>
                <a:lnTo>
                  <a:pt x="3" y="3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00500" y="13716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6" y="1"/>
                </a:moveTo>
                <a:lnTo>
                  <a:pt x="0" y="0"/>
                </a:lnTo>
                <a:lnTo>
                  <a:pt x="3" y="2"/>
                </a:lnTo>
                <a:lnTo>
                  <a:pt x="1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946400" y="825500"/>
            <a:ext cx="76200" cy="63500"/>
          </a:xfrm>
          <a:custGeom>
            <a:avLst/>
            <a:gdLst/>
            <a:ahLst/>
            <a:cxnLst/>
            <a:rect l="l" t="t" r="r" b="b"/>
            <a:pathLst>
              <a:path w="6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6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3800" y="1130300"/>
            <a:ext cx="63500" cy="63500"/>
          </a:xfrm>
          <a:custGeom>
            <a:avLst/>
            <a:gdLst/>
            <a:ahLst/>
            <a:cxnLst/>
            <a:rect l="l" t="t" r="r" b="b"/>
            <a:pathLst>
              <a:path w="5" h="5">
                <a:moveTo>
                  <a:pt x="3" y="0"/>
                </a:moveTo>
                <a:lnTo>
                  <a:pt x="0" y="5"/>
                </a:lnTo>
                <a:lnTo>
                  <a:pt x="3" y="3"/>
                </a:lnTo>
                <a:lnTo>
                  <a:pt x="5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7094" y="1751087"/>
            <a:ext cx="4448301" cy="3824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2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 </a:t>
            </a:r>
            <a:r>
              <a:rPr sz="1942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033" y="2366614"/>
            <a:ext cx="5350362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5591" y="2563727"/>
            <a:ext cx="4489804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Mann-Whitney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06459" y="2759044"/>
            <a:ext cx="417893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U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8085" y="2351817"/>
            <a:ext cx="2597310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52369" y="1200615"/>
            <a:ext cx="1633026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6348" y="611053"/>
            <a:ext cx="3219047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132" y="891542"/>
            <a:ext cx="5079263" cy="254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5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 </a:t>
            </a:r>
            <a:r>
              <a:rPr sz="1295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3285" y="3150564"/>
            <a:ext cx="12211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1597731" y="-49246073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597731" y="-49008199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97731" y="-48532473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3578" y="315092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2598" y="3150567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197402" y="-23845746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607873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97731" y="-48532473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3578" y="315092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2598" y="3150567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554581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97402" y="-23607873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97731" y="-48532473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5011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Implementation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computation/neural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3578" y="315092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2598" y="3150567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554581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79245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597731" y="-48532473"/>
            <a:ext cx="47829" cy="47829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5011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Implementation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computation/neural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7390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earlier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3578" y="3150920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2598" y="3150567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554581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79245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197402" y="-23132144"/>
            <a:ext cx="47829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5011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Implementation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computation/neural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7390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earlier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5" y="1923783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3578" y="3150919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2598" y="3150565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554581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79245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5" y="2268182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Format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97231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compulsory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×30%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×40%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21018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50118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Implementation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computation/neural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7390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earlier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question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5" y="1923783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181" y="2214790"/>
            <a:ext cx="48712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related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3578" y="3150919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598" y="3150565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319" y="699119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9572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3578" y="3150918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2446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319" y="699119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9572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2" y="1215348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47345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Perceptron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3578" y="3150918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2446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319" y="699119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9572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2" y="1215348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47345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Perceptron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909" y="1731566"/>
            <a:ext cx="53124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Hybrid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Intelligent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98968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3578" y="3150918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2446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Exam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1319" y="699119"/>
            <a:ext cx="52840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Computation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9572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Genetic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Particle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swarm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2" y="1215348"/>
            <a:ext cx="53106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Artificial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47345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Perceptron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909" y="1731566"/>
            <a:ext cx="53124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Hybrid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Intelligent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98968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188" y="2247795"/>
            <a:ext cx="53122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4.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50591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Precision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Recall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Specificity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67798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3578" y="3150918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2446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3579" y="3150918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6474" y="3150564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Physical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Jeffrey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Cheah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3579" y="3150918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6474" y="3150564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Physical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Jeffrey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Cheah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5038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3579" y="3150918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6474" y="3150564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Physical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Jeffrey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Cheah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5038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80849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Sleep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3579" y="3150918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6474" y="3150564"/>
            <a:ext cx="118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Logistics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2026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(Tuesday)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–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11:10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Physical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Jeffrey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Cheah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55038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ruler,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80849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Sleep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2066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arrival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permitted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9:30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3576" y="3150918"/>
            <a:ext cx="8718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6471" y="3150564"/>
            <a:ext cx="1189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14" y="85905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321" y="85905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 feedforward neural network with 1 hidden layer of 3 neurons was designed to learn the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316" y="979245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making process for the prediction of marks obtained by a student based on the average number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16" y="109945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of hours in a day the student spent studying and the interest level of the student.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All inputs 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316" y="1219643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outputs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scaled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Sketch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14848" y="859052"/>
            <a:ext cx="870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914" y="1390458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321" y="1390458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(a)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317" y="151065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thresholds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point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317" y="1630856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average number of hours in a day the student spent studying 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 the interest level 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 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317" y="1751049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75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weight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connection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316" y="18712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threshold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316" y="199144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after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iteration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rate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α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0</a:t>
            </a:r>
            <a:r>
              <a:rPr sz="797" b="0">
                <a:solidFill>
                  <a:srgbClr val="000000"/>
                </a:solidFill>
                <a:latin typeface="Cambria Math"/>
              </a:rPr>
              <a:t>.</a:t>
            </a:r>
            <a:r>
              <a:rPr sz="7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2971" y="1390458"/>
            <a:ext cx="9024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5914" y="216226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321" y="216226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You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tasked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317" y="2282455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 best performance for the neural network in (a).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What is the Computational Intelligence (CI)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317" y="240266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approach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suitable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purpose?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Briefly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explain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mechanism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hybrid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650" y="2162262"/>
            <a:ext cx="9117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3589" y="3150564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49788" y="1497863"/>
            <a:ext cx="4639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27613" y="1497863"/>
            <a:ext cx="17174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316" y="118906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 client handed metal of volume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V</a:t>
            </a:r>
            <a:r>
              <a:rPr sz="5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over to a metalsmith to be melted and made into metal balls.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16" y="13092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By using Equation (9) as the fitness function to be minimised, particle swarm optimisation (PSO)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316" y="142245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radius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metal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ball.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function,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 =</a:t>
            </a:r>
            <a:r>
              <a:rPr sz="597" b="0">
                <a:solidFill>
                  <a:srgbClr val="000000"/>
                </a:solidFill>
                <a:latin typeface="Cambria Math"/>
              </a:rPr>
              <a:t> </a:t>
            </a:r>
            <a:r>
              <a:rPr sz="5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49788" y="1408329"/>
            <a:ext cx="16356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πr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</a:t>
            </a:r>
            <a:r>
              <a:rPr sz="597" b="0">
                <a:solidFill>
                  <a:srgbClr val="000000"/>
                </a:solidFill>
                <a:latin typeface="Cambria Math"/>
              </a:rPr>
              <a:t> 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  <a:r>
              <a:rPr sz="597" b="0">
                <a:solidFill>
                  <a:srgbClr val="000000"/>
                </a:solidFill>
                <a:latin typeface="Cambria Math"/>
              </a:rPr>
              <a:t>V</a:t>
            </a:r>
            <a:r>
              <a:rPr sz="498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49" y="1503531"/>
            <a:ext cx="11951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914" y="1616632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321" y="1616632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appropriate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termination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conditions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5518" y="1616632"/>
            <a:ext cx="8698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[3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14" y="1787434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321" y="1787434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Describe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aspect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317" y="190764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mechanism.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Discuss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effect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difference.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4645" y="1787435"/>
            <a:ext cx="8707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[6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2447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085453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08046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74541" y="1411465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85453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08046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74541" y="1568361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085453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508046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74541" y="1720189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85453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08046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74541" y="1872018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085453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08046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674541" y="2023859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085453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508046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674541" y="2175687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085453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08046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674541" y="2327516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085453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508046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74541" y="2479344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085453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508046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74541" y="2631173"/>
            <a:ext cx="0" cy="15182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085453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508046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674541" y="2783001"/>
            <a:ext cx="0" cy="15182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085453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508046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674541" y="2934830"/>
            <a:ext cx="0" cy="156896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082926" y="1408938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505519" y="1408938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082926" y="1565833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505519" y="1565833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82926" y="3089198"/>
            <a:ext cx="42766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05519" y="3089198"/>
            <a:ext cx="117156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9993" y="492669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5914" y="713053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2263" y="713053"/>
            <a:ext cx="51131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Assuming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optimisation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problem.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261" y="833245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defined by the particle indices.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Consider each neighbourhood consists of 3 particles.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 initialisa-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261" y="953451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tion,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particles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neighbourhood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position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2261" y="1073644"/>
            <a:ext cx="51131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particle.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V</a:t>
            </a:r>
            <a:r>
              <a:rPr sz="5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14848" y="713053"/>
            <a:ext cx="8705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90215" y="1310291"/>
            <a:ext cx="339518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A: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Initialised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particles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63901" y="1440149"/>
            <a:ext cx="362149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Particle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499" y="1438411"/>
            <a:ext cx="3198896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Radius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of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metal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ball,</a:t>
            </a:r>
            <a:r>
              <a:rPr sz="697" b="0">
                <a:solidFill>
                  <a:srgbClr val="000000"/>
                </a:solidFill>
                <a:latin typeface="Cambria Math"/>
              </a:rPr>
              <a:t> 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45981" y="1595307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36010" y="1597044"/>
            <a:ext cx="2749385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5981" y="1747135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36302" y="1748873"/>
            <a:ext cx="2749093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3.0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45981" y="1898964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42881" y="1900701"/>
            <a:ext cx="274251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2.7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45981" y="2050792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36302" y="2052530"/>
            <a:ext cx="2749093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5981" y="2202621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8825" y="2204358"/>
            <a:ext cx="273657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1.5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45981" y="2354449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44951" y="2356187"/>
            <a:ext cx="2740444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1.0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45981" y="2506278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40265" y="2508015"/>
            <a:ext cx="2745130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4.5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45981" y="2658119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39719" y="2659856"/>
            <a:ext cx="2745676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6.9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45981" y="2809948"/>
            <a:ext cx="3539414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36848" y="2811685"/>
            <a:ext cx="2748547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0.2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24455" y="2961776"/>
            <a:ext cx="3560940" cy="137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p</a:t>
            </a:r>
            <a:r>
              <a:rPr sz="498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042589" y="2963513"/>
            <a:ext cx="2742806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8.7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31700" y="3150564"/>
            <a:ext cx="15369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82102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06409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77222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77905" y="160825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482102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806409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77222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77905" y="178412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82102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06409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77222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77905" y="195492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482102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806409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77222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77905" y="2125738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482102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806409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077222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277905" y="2296553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482102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806409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77222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277905" y="24673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79562" y="1605724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803882" y="1605724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74695" y="1605724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479562" y="1781593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803882" y="1781593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074695" y="1781593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479562" y="2640698"/>
            <a:ext cx="3293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803882" y="2640698"/>
            <a:ext cx="127588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074695" y="2640698"/>
            <a:ext cx="12057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9993" y="791666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914" y="1012049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321" y="1012049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Global best PSO and local best PSO are used to solve the optimisation problem.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Each algorithm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316" y="1132241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executed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times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positions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recorded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test,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316" y="125244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algorithm.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04422" y="1012049"/>
            <a:ext cx="8809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03717" y="1490381"/>
            <a:ext cx="40816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B: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60537" y="1636723"/>
            <a:ext cx="42248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84847" y="1636723"/>
            <a:ext cx="390054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global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55668" y="1636723"/>
            <a:ext cx="26297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local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PSO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77390" y="1814463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65196" y="1812593"/>
            <a:ext cx="34201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02108" y="1812593"/>
            <a:ext cx="21832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77390" y="1985278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74912" y="1983408"/>
            <a:ext cx="3410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01904" y="1983408"/>
            <a:ext cx="21834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77390" y="2156080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59875" y="2154210"/>
            <a:ext cx="34255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11160" y="2154210"/>
            <a:ext cx="21742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77390" y="2326895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65806" y="2325026"/>
            <a:ext cx="34195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10511" y="2325026"/>
            <a:ext cx="21748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77390" y="2497697"/>
            <a:ext cx="42080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65552" y="2495828"/>
            <a:ext cx="34198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96289" y="2495828"/>
            <a:ext cx="21891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1.20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54776" y="3150564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755974" y="550249"/>
            <a:ext cx="852294" cy="17229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08269" y="550249"/>
            <a:ext cx="911916" cy="17229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55974" y="728294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55974" y="1767814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55974" y="2462745"/>
            <a:ext cx="1764211" cy="17229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755974" y="547381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608269" y="547381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55974" y="725412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608269" y="725412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55974" y="1764946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08269" y="1764946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55974" y="2459877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08269" y="2459877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755974" y="2982497"/>
            <a:ext cx="852295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08269" y="2982497"/>
            <a:ext cx="911916" cy="0"/>
          </a:xfrm>
          <a:prstGeom prst="line">
            <a:avLst/>
          </a:prstGeom>
          <a:ln w="573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912" y="889419"/>
            <a:ext cx="5469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5319" y="889419"/>
            <a:ext cx="5220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Mamdani-style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inference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327" y="1009625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traffic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situation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5327" y="112981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temperature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designed.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0186" y="889419"/>
            <a:ext cx="28152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[20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5327" y="1300633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Design and sketch the fit vectors for the linguistic vari-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5327" y="142083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ables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specified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respective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values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5327" y="1541031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(fuzzy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sets)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numerical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ranges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X.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912" y="1711846"/>
            <a:ext cx="54694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319" y="1711846"/>
            <a:ext cx="5220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years,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Rachel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has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collected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5327" y="183203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traffic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situation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corresponding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temperature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5327" y="1952244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 time of day.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 expert has provided 5 fuzzy rules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5327" y="2072437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to support the decision making.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Suggest a hybrid sys-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5327" y="2192642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tem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Rachel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validate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fuzzy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rules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327" y="2312835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collected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data.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Briefly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explain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how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system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5327" y="2433041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achieves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89618" y="1711846"/>
            <a:ext cx="27957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8877" y="448395"/>
            <a:ext cx="1916518" cy="1307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4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X: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Specification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of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linguistic</a:t>
            </a:r>
            <a:r>
              <a:rPr sz="664" b="0">
                <a:solidFill>
                  <a:srgbClr val="000000"/>
                </a:solidFill>
                <a:latin typeface="Josefin Sans"/>
              </a:rPr>
              <a:t> </a:t>
            </a:r>
            <a:r>
              <a:rPr sz="664" b="0">
                <a:solidFill>
                  <a:srgbClr val="000000"/>
                </a:solidFill>
                <a:latin typeface="Josefin Sans"/>
              </a:rPr>
              <a:t>variables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2114" y="583231"/>
            <a:ext cx="1943281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1">
                <a:solidFill>
                  <a:srgbClr val="FFFFFF"/>
                </a:solidFill>
                <a:latin typeface="Josefin Sans"/>
              </a:rPr>
              <a:t>Linguistic</a:t>
            </a:r>
            <a:r>
              <a:rPr sz="753" b="1">
                <a:solidFill>
                  <a:srgbClr val="FFFFFF"/>
                </a:solidFill>
                <a:latin typeface="Josefin Sans"/>
              </a:rPr>
              <a:t> </a:t>
            </a:r>
            <a:r>
              <a:rPr sz="753" b="1">
                <a:solidFill>
                  <a:srgbClr val="FFFFFF"/>
                </a:solidFill>
                <a:latin typeface="Josefin Sans"/>
              </a:rPr>
              <a:t>value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96369" y="583231"/>
            <a:ext cx="108902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1">
                <a:solidFill>
                  <a:srgbClr val="FFFFFF"/>
                </a:solidFill>
                <a:latin typeface="Josefin Sans"/>
              </a:rPr>
              <a:t>Numerical</a:t>
            </a:r>
            <a:r>
              <a:rPr sz="753" b="1">
                <a:solidFill>
                  <a:srgbClr val="FFFFFF"/>
                </a:solidFill>
                <a:latin typeface="Josefin Sans"/>
              </a:rPr>
              <a:t> </a:t>
            </a:r>
            <a:r>
              <a:rPr sz="753" b="1">
                <a:solidFill>
                  <a:srgbClr val="FFFFFF"/>
                </a:solidFill>
                <a:latin typeface="Josefin Sans"/>
              </a:rPr>
              <a:t>range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99661" y="760830"/>
            <a:ext cx="158573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of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day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0778" y="933125"/>
            <a:ext cx="177461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Morning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86408" y="933125"/>
            <a:ext cx="99898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00:00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12:00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68598" y="1105420"/>
            <a:ext cx="171679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Noon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14938" y="1105420"/>
            <a:ext cx="970457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11:00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13:00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9100" y="1277715"/>
            <a:ext cx="1806295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Afternoon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07856" y="1277715"/>
            <a:ext cx="977539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12:00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17:00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19973" y="1450024"/>
            <a:ext cx="1765422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Evening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9004" y="1450024"/>
            <a:ext cx="976391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16:00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19:30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64953" y="1622319"/>
            <a:ext cx="1720443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Night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04209" y="1622319"/>
            <a:ext cx="98118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19:00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-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23:59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87079" y="1800350"/>
            <a:ext cx="159831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Temperature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86541" y="1972645"/>
            <a:ext cx="169885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Cold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74789" y="1948863"/>
            <a:ext cx="91060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25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58451" y="2144955"/>
            <a:ext cx="1726944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Warm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7744" y="2121158"/>
            <a:ext cx="977651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20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1" b="0">
                <a:solidFill>
                  <a:srgbClr val="000000"/>
                </a:solidFill>
                <a:latin typeface="Cambria Math"/>
              </a:rPr>
              <a:t>35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05737" y="2317250"/>
            <a:ext cx="1679658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Hot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74788" y="2293453"/>
            <a:ext cx="910607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33</a:t>
            </a:r>
            <a:r>
              <a:rPr sz="565" b="0">
                <a:solidFill>
                  <a:srgbClr val="000000"/>
                </a:solidFill>
                <a:latin typeface="Cambria Math"/>
              </a:rPr>
              <a:t>◦</a:t>
            </a:r>
            <a:r>
              <a:rPr sz="791" b="0">
                <a:solidFill>
                  <a:srgbClr val="000000"/>
                </a:solidFill>
                <a:latin typeface="Cambria Math"/>
              </a:rPr>
              <a:t>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13717" y="2495281"/>
            <a:ext cx="1471678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Variable: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Traffic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36210" y="2667590"/>
            <a:ext cx="1849185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Free-flowing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94409" y="2665618"/>
            <a:ext cx="109098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80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cars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per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km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6029" y="2839885"/>
            <a:ext cx="1819366" cy="1483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3" b="0">
                <a:solidFill>
                  <a:srgbClr val="000000"/>
                </a:solidFill>
                <a:latin typeface="Josefin Sans"/>
              </a:rPr>
              <a:t>Congested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4409" y="2837913"/>
            <a:ext cx="1090986" cy="155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1" b="0">
                <a:solidFill>
                  <a:srgbClr val="000000"/>
                </a:solidFill>
                <a:latin typeface="Cambria Math"/>
              </a:rPr>
              <a:t>&gt;</a:t>
            </a:r>
            <a:r>
              <a:rPr sz="791" b="0">
                <a:solidFill>
                  <a:srgbClr val="000000"/>
                </a:solidFill>
                <a:latin typeface="Cambria Math"/>
              </a:rPr>
              <a:t> </a:t>
            </a:r>
            <a:r>
              <a:rPr sz="791" b="0">
                <a:solidFill>
                  <a:srgbClr val="000000"/>
                </a:solidFill>
                <a:latin typeface="Cambria Math"/>
              </a:rPr>
              <a:t>70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cars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per</a:t>
            </a:r>
            <a:r>
              <a:rPr sz="753" b="0">
                <a:solidFill>
                  <a:srgbClr val="000000"/>
                </a:solidFill>
                <a:latin typeface="Josefin Sans"/>
              </a:rPr>
              <a:t> </a:t>
            </a:r>
            <a:r>
              <a:rPr sz="753" b="0">
                <a:solidFill>
                  <a:srgbClr val="000000"/>
                </a:solidFill>
                <a:latin typeface="Josefin Sans"/>
              </a:rPr>
              <a:t>km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13579" y="3150919"/>
            <a:ext cx="8718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40210" y="3150565"/>
            <a:ext cx="14518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914" y="826146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017" y="826146"/>
            <a:ext cx="510037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Kayden has trained an artificial neural network to predict a student’s overall performance as 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012" y="94635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classes,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Excellent,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Average,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Quiz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012" y="1287969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35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Out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012" y="140816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students who are predicted to be Excellent, 4 obtained Excellent, 3 Average, and 3 Poor.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 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012" y="1528367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 students predicted to be Average, 10 obtained Average and 5 obtained Excellent.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Among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012" y="1648573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Poor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Average.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012" y="1990190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4603" y="1990190"/>
            <a:ext cx="8707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[9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012" y="2160992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19967" y="2160992"/>
            <a:ext cx="86542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[7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012" y="2331807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iii)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Discuss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student’s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012" y="2452000"/>
            <a:ext cx="5100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student’s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score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Quiz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5763" y="2331807"/>
            <a:ext cx="8696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[4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9218" y="3150564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449275" y="1616785"/>
            <a:ext cx="1221946" cy="16696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49275" y="1783748"/>
            <a:ext cx="61097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60249" y="1783748"/>
            <a:ext cx="61097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984" y="1950699"/>
            <a:ext cx="223358" cy="50087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1329" y="1950699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1330" y="2117662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1330" y="2284613"/>
            <a:ext cx="517933" cy="166963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69228" y="1615861"/>
            <a:ext cx="1225359" cy="16742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69228" y="1783291"/>
            <a:ext cx="6126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81908" y="1783291"/>
            <a:ext cx="6126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5866" y="1950708"/>
            <a:ext cx="223982" cy="5022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49836" y="1950708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49836" y="2118137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49836" y="2285554"/>
            <a:ext cx="519379" cy="16742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Sample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Questions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for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Final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993" y="593406"/>
            <a:ext cx="54254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Continuation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slide,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5914" y="813789"/>
            <a:ext cx="5349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321" y="813789"/>
            <a:ext cx="51000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lecturer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trained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(a)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predict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316" y="933982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two different subjects.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For each subject, the number of students predicted to obtain each grade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316" y="1054187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actually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are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specified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Y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Z.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54219" y="813789"/>
            <a:ext cx="9311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[20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marks]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9425" y="1389044"/>
            <a:ext cx="4265971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Y: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316" y="1486739"/>
            <a:ext cx="5100079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of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in</a:t>
            </a:r>
            <a:r>
              <a:rPr sz="779" b="0">
                <a:solidFill>
                  <a:srgbClr val="000000"/>
                </a:solidFill>
                <a:latin typeface="Josefin Sans"/>
              </a:rPr>
              <a:t> </a:t>
            </a:r>
            <a:r>
              <a:rPr sz="779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79" b="0">
                <a:solidFill>
                  <a:srgbClr val="000000"/>
                </a:solidFill>
                <a:latin typeface="MSBM10"/>
              </a:rPr>
              <a:t> </a:t>
            </a:r>
            <a:r>
              <a:rPr sz="779" b="0">
                <a:solidFill>
                  <a:srgbClr val="000000"/>
                </a:solidFill>
                <a:latin typeface="MSBM10"/>
              </a:rPr>
              <a:t>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3623" y="1644616"/>
            <a:ext cx="414177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FFFFFF"/>
                </a:solidFill>
                <a:latin typeface="Josefin Sans"/>
              </a:rPr>
              <a:t>Number</a:t>
            </a:r>
            <a:r>
              <a:rPr sz="779" b="0">
                <a:solidFill>
                  <a:srgbClr val="FFFFFF"/>
                </a:solidFill>
                <a:latin typeface="Josefin Sans"/>
              </a:rPr>
              <a:t> </a:t>
            </a:r>
            <a:r>
              <a:rPr sz="779" b="0">
                <a:solidFill>
                  <a:srgbClr val="FFFFFF"/>
                </a:solidFill>
                <a:latin typeface="Josefin Sans"/>
              </a:rPr>
              <a:t>of</a:t>
            </a:r>
            <a:r>
              <a:rPr sz="779" b="0">
                <a:solidFill>
                  <a:srgbClr val="FFFFFF"/>
                </a:solidFill>
                <a:latin typeface="Josefin Sans"/>
              </a:rPr>
              <a:t> </a:t>
            </a:r>
            <a:r>
              <a:rPr sz="779" b="0">
                <a:solidFill>
                  <a:srgbClr val="FFFFFF"/>
                </a:solidFill>
                <a:latin typeface="Josefin Sans"/>
              </a:rPr>
              <a:t>students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8813" y="1811579"/>
            <a:ext cx="422658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Predicted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29595" y="1811579"/>
            <a:ext cx="355580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Actual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040" y="2050645"/>
            <a:ext cx="5008355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FFFFFF"/>
                </a:solidFill>
                <a:latin typeface="Josefin Sans"/>
              </a:rPr>
              <a:t>Grade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538" y="1978530"/>
            <a:ext cx="4779857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08590" y="1978530"/>
            <a:ext cx="4076805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9615" y="1978530"/>
            <a:ext cx="344578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091" y="2145493"/>
            <a:ext cx="4771304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99037" y="2145493"/>
            <a:ext cx="4086358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14925" y="2145493"/>
            <a:ext cx="3470470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4631" y="2312456"/>
            <a:ext cx="4690764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28723" y="2312456"/>
            <a:ext cx="4056672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42137" y="2312456"/>
            <a:ext cx="3443258" cy="1533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9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37494" y="1387484"/>
            <a:ext cx="2047901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Z: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05899" y="1485452"/>
            <a:ext cx="2879496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of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for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grade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in</a:t>
            </a:r>
            <a:r>
              <a:rPr sz="781" b="0">
                <a:solidFill>
                  <a:srgbClr val="000000"/>
                </a:solidFill>
                <a:latin typeface="Josefin Sans"/>
              </a:rPr>
              <a:t> </a:t>
            </a:r>
            <a:r>
              <a:rPr sz="781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81" b="0">
                <a:solidFill>
                  <a:srgbClr val="000000"/>
                </a:solidFill>
                <a:latin typeface="MSBM10"/>
              </a:rPr>
              <a:t> </a:t>
            </a:r>
            <a:r>
              <a:rPr sz="781" b="0">
                <a:solidFill>
                  <a:srgbClr val="000000"/>
                </a:solidFill>
                <a:latin typeface="MSBM10"/>
              </a:rPr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4118" y="1643770"/>
            <a:ext cx="1921277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FFFFFF"/>
                </a:solidFill>
                <a:latin typeface="Josefin Sans"/>
              </a:rPr>
              <a:t>Number</a:t>
            </a:r>
            <a:r>
              <a:rPr sz="781" b="0">
                <a:solidFill>
                  <a:srgbClr val="FFFFFF"/>
                </a:solidFill>
                <a:latin typeface="Josefin Sans"/>
              </a:rPr>
              <a:t> </a:t>
            </a:r>
            <a:r>
              <a:rPr sz="781" b="0">
                <a:solidFill>
                  <a:srgbClr val="FFFFFF"/>
                </a:solidFill>
                <a:latin typeface="Josefin Sans"/>
              </a:rPr>
              <a:t>of</a:t>
            </a:r>
            <a:r>
              <a:rPr sz="781" b="0">
                <a:solidFill>
                  <a:srgbClr val="FFFFFF"/>
                </a:solidFill>
                <a:latin typeface="Josefin Sans"/>
              </a:rPr>
              <a:t> </a:t>
            </a:r>
            <a:r>
              <a:rPr sz="781" b="0">
                <a:solidFill>
                  <a:srgbClr val="FFFFFF"/>
                </a:solidFill>
                <a:latin typeface="Josefin Sans"/>
              </a:rPr>
              <a:t>students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79071" y="1811199"/>
            <a:ext cx="2006324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Predicted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51727" y="1811199"/>
            <a:ext cx="1333668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Actual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95115" y="2050933"/>
            <a:ext cx="2790280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FFFFFF"/>
                </a:solidFill>
                <a:latin typeface="Josefin Sans"/>
              </a:rPr>
              <a:t>Grade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24251" y="1978616"/>
            <a:ext cx="2561144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Excellent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24306" y="1978616"/>
            <a:ext cx="1861089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31893" y="1978616"/>
            <a:ext cx="1253502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32828" y="2146045"/>
            <a:ext cx="2552567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9092" y="2146045"/>
            <a:ext cx="1866303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2434" y="2146045"/>
            <a:ext cx="1252961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13593" y="2313475"/>
            <a:ext cx="2471802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Poor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19196" y="2313475"/>
            <a:ext cx="1866200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36307" y="2313475"/>
            <a:ext cx="1249088" cy="1537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1" b="0">
                <a:solidFill>
                  <a:srgbClr val="000000"/>
                </a:solidFill>
                <a:latin typeface="Josefin Sans"/>
              </a:rPr>
              <a:t>35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317" y="2642360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χ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test,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significance,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317" y="2778034"/>
            <a:ext cx="5100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predicting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grades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students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in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97" b="0">
                <a:solidFill>
                  <a:srgbClr val="000000"/>
                </a:solidFill>
                <a:latin typeface="MSBM10"/>
              </a:rPr>
              <a:t> </a:t>
            </a:r>
            <a:r>
              <a:rPr sz="797" b="0">
                <a:solidFill>
                  <a:srgbClr val="000000"/>
                </a:solidFill>
                <a:latin typeface="MSBM10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subject</a:t>
            </a:r>
            <a:r>
              <a:rPr sz="797" b="0">
                <a:solidFill>
                  <a:srgbClr val="000000"/>
                </a:solidFill>
                <a:latin typeface="MSBM10"/>
              </a:rPr>
              <a:t> </a:t>
            </a:r>
            <a:r>
              <a:rPr sz="797" b="0">
                <a:solidFill>
                  <a:srgbClr val="000000"/>
                </a:solidFill>
                <a:latin typeface="MSBM10"/>
              </a:rPr>
              <a:t>B</a:t>
            </a:r>
            <a:r>
              <a:rPr sz="797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13578" y="3150917"/>
            <a:ext cx="8718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9371" y="3150564"/>
            <a:ext cx="14602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Summary -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labs connect core CI algorithms with physical-AI simulation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Isaac Sim examples use its bundled Python 3.12 environment and current launchers.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Every simulator-dependent example includes a CPU/Matplotlib learning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- presentation</dc:title>
  <dc:subject>Editable objects converted from Summary - presentation.pdf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