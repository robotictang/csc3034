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</p:sldIdLst>
  <p:sldSz cx="5759996" cy="323999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60073" cy="324004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5862" y="1709649"/>
            <a:ext cx="1587500" cy="19329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5862" y="1709646"/>
            <a:ext cx="1587500" cy="206885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5862" y="1709646"/>
            <a:ext cx="1587500" cy="220474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5862" y="1709647"/>
            <a:ext cx="1587500" cy="23406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88" cy="3239998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0872" y="63277"/>
            <a:ext cx="575962" cy="231502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5158" y="88661"/>
            <a:ext cx="575974" cy="20611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225" y="918848"/>
            <a:ext cx="5324170" cy="4067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66" b="1">
                <a:solidFill>
                  <a:srgbClr val="003373"/>
                </a:solidFill>
                <a:latin typeface="Josefin Sans"/>
              </a:rPr>
              <a:t>Swarm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 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Intelligence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225" y="1255046"/>
            <a:ext cx="53241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5A7D"/>
                </a:solidFill>
                <a:latin typeface="Josefin Sans"/>
              </a:rPr>
              <a:t>CSC3034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 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Computational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 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225" y="1740729"/>
            <a:ext cx="53241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Dr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Richard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Wong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8690" y="3150693"/>
            <a:ext cx="1067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262" y="1728317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262" y="1741906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262" y="1755495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262" y="1769084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Outline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49008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Introduction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to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intelligence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72886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optimisation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7816" y="927129"/>
            <a:ext cx="52175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Background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7816" y="1125388"/>
            <a:ext cx="52175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7816" y="1323648"/>
            <a:ext cx="52175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Variants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7816" y="1521908"/>
            <a:ext cx="52175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Example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176068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Ant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colony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optimisation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7816" y="1958940"/>
            <a:ext cx="52175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Background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7816" y="2157200"/>
            <a:ext cx="52175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7816" y="2355460"/>
            <a:ext cx="52175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Example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7816" y="2553719"/>
            <a:ext cx="52175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Variants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9993" y="279250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Other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algorithms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98313" y="3150917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4123" y="3150693"/>
            <a:ext cx="1212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2874708"/>
            <a:ext cx="201597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Swarm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intelligence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What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is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swarm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intelligence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27781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subfield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focusing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collective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behaviour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44988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decentralised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self-organised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comprised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relatively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simple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agents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160148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interacting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locally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environment.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0394" y="2925197"/>
            <a:ext cx="53150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1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A.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Iglesias,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A.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G ´alvez,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and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P.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Su ´arez,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“Swarm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robotics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–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case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study: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Bat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robotics”,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Nature-Inspired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Computation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and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Swarm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Intelligence,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pp.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273–302,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3035530"/>
            <a:ext cx="54254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2020.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8313" y="3150918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3132" y="3150694"/>
            <a:ext cx="1222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951577" y="931986"/>
            <a:ext cx="11621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900967" y="982597"/>
            <a:ext cx="0" cy="1857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951577" y="1218986"/>
            <a:ext cx="116218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164376" y="982597"/>
            <a:ext cx="0" cy="1857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247688" y="1433531"/>
            <a:ext cx="99884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197077" y="1484141"/>
            <a:ext cx="0" cy="1628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247688" y="1697601"/>
            <a:ext cx="99884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297140" y="1484141"/>
            <a:ext cx="0" cy="1628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749886" y="1433531"/>
            <a:ext cx="113669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99275" y="1484141"/>
            <a:ext cx="0" cy="1857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49886" y="1720531"/>
            <a:ext cx="113669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937193" y="1484141"/>
            <a:ext cx="0" cy="1857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062900" y="1935075"/>
            <a:ext cx="9395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012289" y="1985686"/>
            <a:ext cx="0" cy="3578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062900" y="2394153"/>
            <a:ext cx="9395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053054" y="1985686"/>
            <a:ext cx="0" cy="3578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3695262" y="1935075"/>
            <a:ext cx="81706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644651" y="1985686"/>
            <a:ext cx="0" cy="3578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695262" y="2394153"/>
            <a:ext cx="81706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562942" y="1985686"/>
            <a:ext cx="0" cy="3578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1752600" y="1384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3263900" y="138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4"/>
                </a:moveTo>
                <a:lnTo>
                  <a:pt x="3" y="0"/>
                </a:lnTo>
                <a:lnTo>
                  <a:pt x="2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463800" y="1892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038600" y="1892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Swarm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intelligence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979523" y="1003583"/>
            <a:ext cx="38058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Intelligence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75638" y="1505106"/>
            <a:ext cx="45097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Robotics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77819" y="1505119"/>
            <a:ext cx="30075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90851" y="2006655"/>
            <a:ext cx="36945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52078" y="2178727"/>
            <a:ext cx="36333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773969" y="2006655"/>
            <a:ext cx="20114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Colony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723182" y="2178727"/>
            <a:ext cx="20622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63285" y="3150693"/>
            <a:ext cx="1221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Particle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swarm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optimisation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(PSO)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Background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1275065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Inspired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flocking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behaviour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birds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313" y="3150916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2599" y="3150692"/>
            <a:ext cx="1227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Particle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swarm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optimisation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(PSO)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Background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1275065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Inspired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flocking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behaviour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birds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53318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(individual)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peers’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direct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itself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4" y="1749010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313" y="3150918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2599" y="3150694"/>
            <a:ext cx="1227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0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History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965325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started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agents)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5" y="1181167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rendering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images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animations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create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natural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phenomena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5" y="1353240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clouds,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explosions,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etc.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309" y="3150916"/>
            <a:ext cx="887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2443" y="3150692"/>
            <a:ext cx="1229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History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965325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started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agents)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5" y="1181167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rendering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images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animations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create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natural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phenomena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5" y="1353240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clouds,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explosions,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etc.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1567585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used/improved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create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flocking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simulates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4" y="1783428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flocking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behaviour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birds.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8313" y="3150920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2446" y="3150696"/>
            <a:ext cx="122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History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965325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started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agents)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5" y="1181167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rendering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images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animations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create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natural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phenomena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5" y="1353240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clouds,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explosions,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etc.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1567585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used/improved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create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flocking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simulates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4" y="1783428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flocking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behaviour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birds.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057" y="199777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Eventually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researchers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generic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095" y="2213615"/>
            <a:ext cx="51483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simulation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just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simulating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bird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models.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8314" y="3150918"/>
            <a:ext cx="8870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2448" y="3150694"/>
            <a:ext cx="1229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Basic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principles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79325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search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space.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313" y="3150919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6472" y="3150695"/>
            <a:ext cx="118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Basic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principles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79325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search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space.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8" y="1051368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(individuals)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8313" y="3150916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6472" y="3150692"/>
            <a:ext cx="118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Basic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principles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79325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search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space.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8" y="1051368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(individuals)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8" y="1309482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potential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313" y="3150916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6472" y="3150692"/>
            <a:ext cx="118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Basic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principles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79325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search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space.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8" y="1051368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(individuals)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8" y="1309482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potential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8" y="1567584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modifications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throughout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opposed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6" y="1783426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GA,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created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destroyed)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8313" y="3150916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6472" y="3150692"/>
            <a:ext cx="118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38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38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Basic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principles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79325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search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space.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8" y="1051368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(individuals)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8" y="1309482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potential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8" y="1567584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modifications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throughout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opposed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6" y="1783426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GA,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created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destroyed)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059" y="1997770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“flown”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search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8313" y="3150913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6472" y="3150689"/>
            <a:ext cx="118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Basic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principles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79325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search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space.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8" y="1051368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(individuals)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8" y="1309482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potential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8" y="1567584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modifications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throughout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opposed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6" y="1783426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GA,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created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destroyed)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059" y="1997770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“flown”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search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058" y="2255884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direction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towards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“fly”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own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experience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7096" y="2471727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experience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8314" y="3150915"/>
            <a:ext cx="8870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6474" y="3150691"/>
            <a:ext cx="1189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7272077" y="-23548826"/>
            <a:ext cx="0" cy="1008261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272077" y="-23548826"/>
            <a:ext cx="2016522" cy="0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9288599" y="-23548826"/>
            <a:ext cx="0" cy="1008261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27272077" y="-22540565"/>
            <a:ext cx="2016522" cy="0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28598970" y="-22666909"/>
            <a:ext cx="34265" cy="45683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8575000" y="-22694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0"/>
                </a:moveTo>
                <a:lnTo>
                  <a:pt x="1" y="4"/>
                </a:lnTo>
                <a:lnTo>
                  <a:pt x="2" y="2"/>
                </a:lnTo>
                <a:lnTo>
                  <a:pt x="4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8600400" y="-226568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7856870" y="-23024524"/>
            <a:ext cx="286664" cy="105841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28130500" y="-22936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4" y="2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27825700" y="-230505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27493896" y="-22705972"/>
            <a:ext cx="465857" cy="64576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7940000" y="-2272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lnTo>
                  <a:pt x="4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7457400" y="-22669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4"/>
                </a:lnTo>
                <a:lnTo>
                  <a:pt x="4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H="1" flipV="1">
            <a:off x="28825949" y="-22677978"/>
            <a:ext cx="230754" cy="76921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8790900" y="-2269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0"/>
                </a:moveTo>
                <a:lnTo>
                  <a:pt x="3" y="3"/>
                </a:lnTo>
                <a:lnTo>
                  <a:pt x="3" y="1"/>
                </a:lnTo>
                <a:lnTo>
                  <a:pt x="4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29032200" y="-22631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4" y="2"/>
                </a:move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7776208" y="-22822876"/>
            <a:ext cx="324352" cy="17771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8079700" y="-22821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1" y="0"/>
                </a:lnTo>
                <a:lnTo>
                  <a:pt x="2" y="1"/>
                </a:lnTo>
                <a:lnTo>
                  <a:pt x="0" y="3"/>
                </a:lnTo>
                <a:lnTo>
                  <a:pt x="4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27749500" y="-22847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H="1" flipV="1">
            <a:off x="28827598" y="-22729986"/>
            <a:ext cx="229105" cy="38189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28790900" y="-2274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3" y="1"/>
                </a:lnTo>
                <a:lnTo>
                  <a:pt x="4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9032200" y="-22720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4" y="2"/>
                </a:move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>
            <a:off x="28913069" y="-22923709"/>
            <a:ext cx="315038" cy="62122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28879800" y="-2288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2"/>
                </a:moveTo>
                <a:lnTo>
                  <a:pt x="4" y="3"/>
                </a:lnTo>
                <a:lnTo>
                  <a:pt x="2" y="2"/>
                </a:lnTo>
                <a:lnTo>
                  <a:pt x="3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9197300" y="-229489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5" y="3"/>
                </a:lnTo>
                <a:lnTo>
                  <a:pt x="5" y="2"/>
                </a:lnTo>
                <a:lnTo>
                  <a:pt x="5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27332570" y="-22723005"/>
            <a:ext cx="546301" cy="51361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27863800" y="-2274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7305000" y="-227076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5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H="1">
            <a:off x="28833616" y="-23246343"/>
            <a:ext cx="253334" cy="204435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28803600" y="-23063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29057600" y="-232791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8486100" y="-2280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Basic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principles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0057" y="62580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parameters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98313" y="3150919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3589" y="3150695"/>
            <a:ext cx="1218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7272077" y="-23548826"/>
            <a:ext cx="0" cy="1008261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272077" y="-23548826"/>
            <a:ext cx="2016522" cy="0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9288599" y="-23548826"/>
            <a:ext cx="0" cy="1008261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27272077" y="-22540565"/>
            <a:ext cx="2016522" cy="0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28598970" y="-22666909"/>
            <a:ext cx="34265" cy="45683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8575000" y="-22694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0"/>
                </a:moveTo>
                <a:lnTo>
                  <a:pt x="1" y="4"/>
                </a:lnTo>
                <a:lnTo>
                  <a:pt x="2" y="2"/>
                </a:lnTo>
                <a:lnTo>
                  <a:pt x="4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8600400" y="-226568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7856870" y="-23024524"/>
            <a:ext cx="286664" cy="105841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28130500" y="-22936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4" y="2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27825700" y="-230505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27493896" y="-22705972"/>
            <a:ext cx="465857" cy="64576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7940000" y="-2272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lnTo>
                  <a:pt x="4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7457400" y="-22669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4"/>
                </a:lnTo>
                <a:lnTo>
                  <a:pt x="4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H="1" flipV="1">
            <a:off x="28825949" y="-22677978"/>
            <a:ext cx="230754" cy="76921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8790900" y="-2269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0"/>
                </a:moveTo>
                <a:lnTo>
                  <a:pt x="3" y="3"/>
                </a:lnTo>
                <a:lnTo>
                  <a:pt x="3" y="1"/>
                </a:lnTo>
                <a:lnTo>
                  <a:pt x="4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29032200" y="-22631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4" y="2"/>
                </a:move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7776208" y="-22822876"/>
            <a:ext cx="324352" cy="17771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8079700" y="-22821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1" y="0"/>
                </a:lnTo>
                <a:lnTo>
                  <a:pt x="2" y="1"/>
                </a:lnTo>
                <a:lnTo>
                  <a:pt x="0" y="3"/>
                </a:lnTo>
                <a:lnTo>
                  <a:pt x="4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27749500" y="-22847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H="1" flipV="1">
            <a:off x="28827598" y="-22729986"/>
            <a:ext cx="229105" cy="38189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28790900" y="-2274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3" y="1"/>
                </a:lnTo>
                <a:lnTo>
                  <a:pt x="4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9032200" y="-22720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4" y="2"/>
                </a:move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>
            <a:off x="28913069" y="-22923709"/>
            <a:ext cx="315038" cy="62122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28879800" y="-2288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2"/>
                </a:moveTo>
                <a:lnTo>
                  <a:pt x="4" y="3"/>
                </a:lnTo>
                <a:lnTo>
                  <a:pt x="2" y="2"/>
                </a:lnTo>
                <a:lnTo>
                  <a:pt x="3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9197300" y="-229489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5" y="3"/>
                </a:lnTo>
                <a:lnTo>
                  <a:pt x="5" y="2"/>
                </a:lnTo>
                <a:lnTo>
                  <a:pt x="5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27332570" y="-22723005"/>
            <a:ext cx="546301" cy="51361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27863800" y="-2274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7305000" y="-227076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5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H="1">
            <a:off x="28833616" y="-23246343"/>
            <a:ext cx="253334" cy="204435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28803600" y="-23063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29057600" y="-232791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8486100" y="-2280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Basic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principles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0057" y="62580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parameters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60057" y="883906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89060" y="1188100"/>
            <a:ext cx="359633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98313" y="3150919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3589" y="3150695"/>
            <a:ext cx="1218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7272077" y="-23548826"/>
            <a:ext cx="0" cy="1008261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272077" y="-23548826"/>
            <a:ext cx="2016522" cy="0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9288599" y="-23548826"/>
            <a:ext cx="0" cy="1008261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27272077" y="-22540565"/>
            <a:ext cx="2016522" cy="0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28598970" y="-22666909"/>
            <a:ext cx="34265" cy="45683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8575000" y="-22694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0"/>
                </a:moveTo>
                <a:lnTo>
                  <a:pt x="1" y="4"/>
                </a:lnTo>
                <a:lnTo>
                  <a:pt x="2" y="2"/>
                </a:lnTo>
                <a:lnTo>
                  <a:pt x="4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8600400" y="-226568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4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7856870" y="-23024524"/>
            <a:ext cx="286664" cy="105841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28130500" y="-22936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4" y="2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27825700" y="-230505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27493896" y="-22705972"/>
            <a:ext cx="465857" cy="64576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7940000" y="-2272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lnTo>
                  <a:pt x="4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7457400" y="-22669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4"/>
                </a:lnTo>
                <a:lnTo>
                  <a:pt x="4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H="1" flipV="1">
            <a:off x="28825949" y="-22677978"/>
            <a:ext cx="230754" cy="76921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8790900" y="-2269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0"/>
                </a:moveTo>
                <a:lnTo>
                  <a:pt x="3" y="3"/>
                </a:lnTo>
                <a:lnTo>
                  <a:pt x="3" y="1"/>
                </a:lnTo>
                <a:lnTo>
                  <a:pt x="4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29032200" y="-22631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4" y="2"/>
                </a:move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7776208" y="-22822876"/>
            <a:ext cx="324352" cy="17771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8079700" y="-22821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1" y="0"/>
                </a:lnTo>
                <a:lnTo>
                  <a:pt x="2" y="1"/>
                </a:lnTo>
                <a:lnTo>
                  <a:pt x="0" y="3"/>
                </a:lnTo>
                <a:lnTo>
                  <a:pt x="4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27749500" y="-22847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H="1" flipV="1">
            <a:off x="28827598" y="-22729986"/>
            <a:ext cx="229105" cy="38189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28790900" y="-2274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3" y="1"/>
                </a:lnTo>
                <a:lnTo>
                  <a:pt x="4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9032200" y="-22720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4" y="2"/>
                </a:move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>
            <a:off x="28913069" y="-22923709"/>
            <a:ext cx="315038" cy="62122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28879800" y="-2288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2"/>
                </a:moveTo>
                <a:lnTo>
                  <a:pt x="4" y="3"/>
                </a:lnTo>
                <a:lnTo>
                  <a:pt x="2" y="2"/>
                </a:lnTo>
                <a:lnTo>
                  <a:pt x="3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9197300" y="-229489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5" y="3"/>
                </a:lnTo>
                <a:lnTo>
                  <a:pt x="5" y="2"/>
                </a:lnTo>
                <a:lnTo>
                  <a:pt x="5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27332570" y="-22723005"/>
            <a:ext cx="546301" cy="51361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27863800" y="-2274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7305000" y="-227076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5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H="1">
            <a:off x="28833616" y="-23246343"/>
            <a:ext cx="253334" cy="204435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28803600" y="-23063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29057600" y="-232791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8486100" y="-2280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Basic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principles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0057" y="62580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parameters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60057" y="883906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89060" y="1188100"/>
            <a:ext cx="359633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0057" y="1400135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experience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7095" y="1615965"/>
            <a:ext cx="51483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calculation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formula)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898313" y="3150919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63589" y="3150695"/>
            <a:ext cx="1218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871750" y="1851500"/>
            <a:ext cx="0" cy="1008261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871750" y="1851500"/>
            <a:ext cx="2016522" cy="0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888272" y="1851500"/>
            <a:ext cx="0" cy="1008261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871750" y="2859761"/>
            <a:ext cx="2016522" cy="0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3198643" y="2733417"/>
            <a:ext cx="34266" cy="45682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3175000" y="2705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0"/>
                </a:moveTo>
                <a:lnTo>
                  <a:pt x="1" y="4"/>
                </a:lnTo>
                <a:lnTo>
                  <a:pt x="2" y="2"/>
                </a:lnTo>
                <a:lnTo>
                  <a:pt x="4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3200400" y="27432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456544" y="2375801"/>
            <a:ext cx="286663" cy="105842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2717800" y="246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4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2425700" y="23495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2093568" y="2694354"/>
            <a:ext cx="465857" cy="64575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540000" y="2679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lnTo>
                  <a:pt x="4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057400" y="2730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4"/>
                </a:lnTo>
                <a:lnTo>
                  <a:pt x="4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H="1" flipV="1">
            <a:off x="3425621" y="2722348"/>
            <a:ext cx="230755" cy="76920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3390900" y="2705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3" y="3"/>
                </a:lnTo>
                <a:lnTo>
                  <a:pt x="3" y="1"/>
                </a:lnTo>
                <a:lnTo>
                  <a:pt x="4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632200" y="2768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4" y="2"/>
                </a:move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375880" y="2577450"/>
            <a:ext cx="324353" cy="17771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679700" y="2578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1" y="0"/>
                </a:lnTo>
                <a:lnTo>
                  <a:pt x="2" y="1"/>
                </a:lnTo>
                <a:lnTo>
                  <a:pt x="0" y="3"/>
                </a:lnTo>
                <a:lnTo>
                  <a:pt x="4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2349500" y="2552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H="1" flipV="1">
            <a:off x="3427270" y="2670340"/>
            <a:ext cx="229106" cy="38189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3390900" y="2654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3" y="1"/>
                </a:lnTo>
                <a:lnTo>
                  <a:pt x="4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3632200" y="267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4" y="2"/>
                </a:move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>
            <a:off x="3512741" y="2476618"/>
            <a:ext cx="315037" cy="62120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479800" y="2514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2"/>
                </a:moveTo>
                <a:lnTo>
                  <a:pt x="4" y="3"/>
                </a:lnTo>
                <a:lnTo>
                  <a:pt x="2" y="2"/>
                </a:lnTo>
                <a:lnTo>
                  <a:pt x="3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3797300" y="24511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5" y="3"/>
                </a:lnTo>
                <a:lnTo>
                  <a:pt x="5" y="2"/>
                </a:lnTo>
                <a:lnTo>
                  <a:pt x="5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932243" y="2677320"/>
            <a:ext cx="546300" cy="51363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2463800" y="2667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4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lnTo>
                  <a:pt x="4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1905000" y="26924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4" y="2"/>
                </a:ln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5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5" y="3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H="1">
            <a:off x="3433290" y="2153982"/>
            <a:ext cx="253332" cy="204437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403600" y="233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3657600" y="21209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3086100" y="2590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4" y="2"/>
                </a:move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5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Basic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principles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0057" y="62580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parameters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60057" y="883906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89060" y="1188100"/>
            <a:ext cx="359633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0057" y="1400135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experience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7095" y="1615965"/>
            <a:ext cx="51483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calculation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formula)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804541" y="2250020"/>
            <a:ext cx="2980854" cy="30071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7" b="0">
                <a:solidFill>
                  <a:srgbClr val="000000"/>
                </a:solidFill>
                <a:latin typeface="Cambria Math"/>
              </a:rPr>
              <a:t>×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98313" y="3150919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3589" y="3150695"/>
            <a:ext cx="1218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871750" y="1851500"/>
            <a:ext cx="0" cy="1008261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871750" y="1851500"/>
            <a:ext cx="2016522" cy="0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888272" y="1851500"/>
            <a:ext cx="0" cy="1008261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871750" y="2859761"/>
            <a:ext cx="2016522" cy="0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3198643" y="2733417"/>
            <a:ext cx="34266" cy="45682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3175000" y="2705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0"/>
                </a:moveTo>
                <a:lnTo>
                  <a:pt x="1" y="4"/>
                </a:lnTo>
                <a:lnTo>
                  <a:pt x="2" y="2"/>
                </a:lnTo>
                <a:lnTo>
                  <a:pt x="4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3200400" y="27432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456544" y="2375801"/>
            <a:ext cx="286663" cy="105842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2717800" y="246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4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2425700" y="23495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2093568" y="2694354"/>
            <a:ext cx="465857" cy="64575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540000" y="2679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lnTo>
                  <a:pt x="4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057400" y="2730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4"/>
                </a:lnTo>
                <a:lnTo>
                  <a:pt x="4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H="1" flipV="1">
            <a:off x="3425621" y="2722348"/>
            <a:ext cx="230755" cy="76920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3390900" y="2705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3" y="3"/>
                </a:lnTo>
                <a:lnTo>
                  <a:pt x="3" y="1"/>
                </a:lnTo>
                <a:lnTo>
                  <a:pt x="4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632200" y="2768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4" y="2"/>
                </a:move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375880" y="2577450"/>
            <a:ext cx="324353" cy="17771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679700" y="2578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1" y="0"/>
                </a:lnTo>
                <a:lnTo>
                  <a:pt x="2" y="1"/>
                </a:lnTo>
                <a:lnTo>
                  <a:pt x="0" y="3"/>
                </a:lnTo>
                <a:lnTo>
                  <a:pt x="4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2349500" y="2552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H="1" flipV="1">
            <a:off x="3427270" y="2670340"/>
            <a:ext cx="229106" cy="38189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3390900" y="2654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3" y="1"/>
                </a:lnTo>
                <a:lnTo>
                  <a:pt x="4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3632200" y="267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4" y="2"/>
                </a:move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>
            <a:off x="3512741" y="2476618"/>
            <a:ext cx="315037" cy="62120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479800" y="2514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2"/>
                </a:moveTo>
                <a:lnTo>
                  <a:pt x="4" y="3"/>
                </a:lnTo>
                <a:lnTo>
                  <a:pt x="2" y="2"/>
                </a:lnTo>
                <a:lnTo>
                  <a:pt x="3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3797300" y="24511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5" y="3"/>
                </a:lnTo>
                <a:lnTo>
                  <a:pt x="5" y="2"/>
                </a:lnTo>
                <a:lnTo>
                  <a:pt x="5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932243" y="2677320"/>
            <a:ext cx="546300" cy="51363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2463800" y="2667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4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lnTo>
                  <a:pt x="4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1905000" y="26924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4" y="2"/>
                </a:ln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5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5" y="3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H="1">
            <a:off x="3433290" y="2153982"/>
            <a:ext cx="253332" cy="204437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403600" y="233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3657600" y="21209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3086100" y="2590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4" y="2"/>
                </a:move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5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Basic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principles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0057" y="62580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parameters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60057" y="883906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89060" y="1188100"/>
            <a:ext cx="359633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0057" y="1400135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experience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7095" y="1615965"/>
            <a:ext cx="51483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calculation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formula)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804541" y="2250020"/>
            <a:ext cx="2980854" cy="30071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7" b="0">
                <a:solidFill>
                  <a:srgbClr val="000000"/>
                </a:solidFill>
                <a:latin typeface="Cambria Math"/>
              </a:rPr>
              <a:t>×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98313" y="3150919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3589" y="3150695"/>
            <a:ext cx="1218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871750" y="1851500"/>
            <a:ext cx="0" cy="1008261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871750" y="1851500"/>
            <a:ext cx="2016522" cy="0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888272" y="1851500"/>
            <a:ext cx="0" cy="1008261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871750" y="2859761"/>
            <a:ext cx="2016522" cy="0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3198643" y="2733417"/>
            <a:ext cx="34266" cy="45682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3175000" y="2705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0"/>
                </a:moveTo>
                <a:lnTo>
                  <a:pt x="1" y="4"/>
                </a:lnTo>
                <a:lnTo>
                  <a:pt x="2" y="2"/>
                </a:lnTo>
                <a:lnTo>
                  <a:pt x="4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3200400" y="27432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456544" y="2375801"/>
            <a:ext cx="286663" cy="105842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2717800" y="246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4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2425700" y="23495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2093568" y="2694354"/>
            <a:ext cx="465857" cy="64575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540000" y="2679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lnTo>
                  <a:pt x="4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057400" y="2730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4"/>
                </a:lnTo>
                <a:lnTo>
                  <a:pt x="4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H="1" flipV="1">
            <a:off x="3425621" y="2722348"/>
            <a:ext cx="230755" cy="76920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3390900" y="2705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3" y="3"/>
                </a:lnTo>
                <a:lnTo>
                  <a:pt x="3" y="1"/>
                </a:lnTo>
                <a:lnTo>
                  <a:pt x="4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632200" y="2768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4" y="2"/>
                </a:move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375880" y="2577450"/>
            <a:ext cx="324353" cy="17771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679700" y="2578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1" y="0"/>
                </a:lnTo>
                <a:lnTo>
                  <a:pt x="2" y="1"/>
                </a:lnTo>
                <a:lnTo>
                  <a:pt x="0" y="3"/>
                </a:lnTo>
                <a:lnTo>
                  <a:pt x="4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2349500" y="2552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H="1" flipV="1">
            <a:off x="3427270" y="2670340"/>
            <a:ext cx="229106" cy="38189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3390900" y="2654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3" y="1"/>
                </a:lnTo>
                <a:lnTo>
                  <a:pt x="4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3632200" y="267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4" y="2"/>
                </a:move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>
            <a:off x="3512741" y="2476618"/>
            <a:ext cx="315037" cy="62120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479800" y="2514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2"/>
                </a:moveTo>
                <a:lnTo>
                  <a:pt x="4" y="3"/>
                </a:lnTo>
                <a:lnTo>
                  <a:pt x="2" y="2"/>
                </a:lnTo>
                <a:lnTo>
                  <a:pt x="3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3797300" y="24511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5" y="3"/>
                </a:lnTo>
                <a:lnTo>
                  <a:pt x="5" y="2"/>
                </a:lnTo>
                <a:lnTo>
                  <a:pt x="5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932243" y="2677320"/>
            <a:ext cx="546300" cy="51363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2463800" y="2667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4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lnTo>
                  <a:pt x="4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1905000" y="26924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4" y="2"/>
                </a:ln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5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5" y="3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H="1">
            <a:off x="3433290" y="2153982"/>
            <a:ext cx="253332" cy="204437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403600" y="233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3657600" y="21209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3086100" y="2590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4" y="2"/>
                </a:move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5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Basic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principles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0057" y="62580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parameters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60057" y="883906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89060" y="1188100"/>
            <a:ext cx="359633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0057" y="1400135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experience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7095" y="1615965"/>
            <a:ext cx="51483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calculation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formula)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804541" y="2250020"/>
            <a:ext cx="2980854" cy="30071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7" b="0">
                <a:solidFill>
                  <a:srgbClr val="000000"/>
                </a:solidFill>
                <a:latin typeface="Cambria Math"/>
              </a:rPr>
              <a:t>×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98313" y="3150919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3589" y="3150695"/>
            <a:ext cx="1218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871750" y="1851500"/>
            <a:ext cx="0" cy="1008261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871750" y="1851500"/>
            <a:ext cx="2016522" cy="0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888272" y="1851500"/>
            <a:ext cx="0" cy="1008261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871750" y="2859761"/>
            <a:ext cx="2016522" cy="0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3198643" y="2733417"/>
            <a:ext cx="34266" cy="45682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3175000" y="2705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0"/>
                </a:moveTo>
                <a:lnTo>
                  <a:pt x="1" y="4"/>
                </a:lnTo>
                <a:lnTo>
                  <a:pt x="2" y="2"/>
                </a:lnTo>
                <a:lnTo>
                  <a:pt x="4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3200400" y="27432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456544" y="2375801"/>
            <a:ext cx="286663" cy="105842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2717800" y="246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4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2425700" y="23495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2093568" y="2694354"/>
            <a:ext cx="465857" cy="64575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540000" y="2679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lnTo>
                  <a:pt x="4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057400" y="2730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4"/>
                </a:lnTo>
                <a:lnTo>
                  <a:pt x="4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H="1" flipV="1">
            <a:off x="3425621" y="2722348"/>
            <a:ext cx="230755" cy="76920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3390900" y="2705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3" y="3"/>
                </a:lnTo>
                <a:lnTo>
                  <a:pt x="3" y="1"/>
                </a:lnTo>
                <a:lnTo>
                  <a:pt x="4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632200" y="2768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4" y="2"/>
                </a:move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375880" y="2577450"/>
            <a:ext cx="324353" cy="17771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679700" y="2578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1" y="0"/>
                </a:lnTo>
                <a:lnTo>
                  <a:pt x="2" y="1"/>
                </a:lnTo>
                <a:lnTo>
                  <a:pt x="0" y="3"/>
                </a:lnTo>
                <a:lnTo>
                  <a:pt x="4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2349500" y="2552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H="1" flipV="1">
            <a:off x="3427270" y="2670340"/>
            <a:ext cx="229106" cy="38189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3390900" y="2654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3" y="1"/>
                </a:lnTo>
                <a:lnTo>
                  <a:pt x="4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3632200" y="267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4" y="2"/>
                </a:move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>
            <a:off x="3512741" y="2476618"/>
            <a:ext cx="315037" cy="62120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479800" y="2514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2"/>
                </a:moveTo>
                <a:lnTo>
                  <a:pt x="4" y="3"/>
                </a:lnTo>
                <a:lnTo>
                  <a:pt x="2" y="2"/>
                </a:lnTo>
                <a:lnTo>
                  <a:pt x="3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3797300" y="24511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5" y="3"/>
                </a:lnTo>
                <a:lnTo>
                  <a:pt x="5" y="2"/>
                </a:lnTo>
                <a:lnTo>
                  <a:pt x="5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932243" y="2677320"/>
            <a:ext cx="546300" cy="51363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2463800" y="2667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4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lnTo>
                  <a:pt x="4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1905000" y="26924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4" y="2"/>
                </a:ln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5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5" y="3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H="1">
            <a:off x="3433290" y="2153982"/>
            <a:ext cx="253332" cy="204437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403600" y="233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3657600" y="21209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3086100" y="2590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4" y="2"/>
                </a:move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5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Basic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principles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0057" y="62580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parameters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60057" y="883906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89060" y="1188100"/>
            <a:ext cx="359633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0057" y="1400135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experience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7095" y="1615965"/>
            <a:ext cx="51483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calculation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formula)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804541" y="2250020"/>
            <a:ext cx="2980854" cy="30071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7" b="0">
                <a:solidFill>
                  <a:srgbClr val="000000"/>
                </a:solidFill>
                <a:latin typeface="Cambria Math"/>
              </a:rPr>
              <a:t>×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98313" y="3150919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3589" y="3150695"/>
            <a:ext cx="1218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871750" y="1851500"/>
            <a:ext cx="0" cy="1008261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871750" y="1851500"/>
            <a:ext cx="2016522" cy="0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888272" y="1851500"/>
            <a:ext cx="0" cy="1008261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871750" y="2859761"/>
            <a:ext cx="2016522" cy="0"/>
          </a:xfrm>
          <a:prstGeom prst="line">
            <a:avLst/>
          </a:prstGeom>
          <a:ln w="63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3198643" y="2733417"/>
            <a:ext cx="34266" cy="45682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3175000" y="2705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0"/>
                </a:moveTo>
                <a:lnTo>
                  <a:pt x="1" y="4"/>
                </a:lnTo>
                <a:lnTo>
                  <a:pt x="2" y="2"/>
                </a:lnTo>
                <a:lnTo>
                  <a:pt x="4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3200400" y="27432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5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456544" y="2375801"/>
            <a:ext cx="286663" cy="105842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2717800" y="246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4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lnTo>
                  <a:pt x="4" y="2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2425700" y="23495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2093568" y="2694354"/>
            <a:ext cx="465857" cy="64575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540000" y="2679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lnTo>
                  <a:pt x="4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057400" y="2730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5" y="1"/>
                </a:lnTo>
                <a:lnTo>
                  <a:pt x="5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4"/>
                </a:lnTo>
                <a:lnTo>
                  <a:pt x="4" y="4"/>
                </a:lnTo>
                <a:lnTo>
                  <a:pt x="5" y="4"/>
                </a:lnTo>
                <a:lnTo>
                  <a:pt x="5" y="4"/>
                </a:lnTo>
                <a:lnTo>
                  <a:pt x="5" y="3"/>
                </a:lnTo>
                <a:lnTo>
                  <a:pt x="5" y="3"/>
                </a:lnTo>
                <a:lnTo>
                  <a:pt x="5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H="1" flipV="1">
            <a:off x="3425621" y="2722348"/>
            <a:ext cx="230755" cy="76920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3390900" y="2705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3" y="3"/>
                </a:lnTo>
                <a:lnTo>
                  <a:pt x="3" y="1"/>
                </a:lnTo>
                <a:lnTo>
                  <a:pt x="4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632200" y="2768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4" y="2"/>
                </a:move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375880" y="2577450"/>
            <a:ext cx="324353" cy="17771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679700" y="2578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1" y="0"/>
                </a:lnTo>
                <a:lnTo>
                  <a:pt x="2" y="1"/>
                </a:lnTo>
                <a:lnTo>
                  <a:pt x="0" y="3"/>
                </a:lnTo>
                <a:lnTo>
                  <a:pt x="4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2349500" y="2552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2"/>
                </a:move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H="1" flipV="1">
            <a:off x="3427270" y="2670340"/>
            <a:ext cx="229106" cy="38189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3390900" y="2654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1"/>
                </a:moveTo>
                <a:lnTo>
                  <a:pt x="4" y="3"/>
                </a:lnTo>
                <a:lnTo>
                  <a:pt x="3" y="1"/>
                </a:lnTo>
                <a:lnTo>
                  <a:pt x="4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3632200" y="267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4" y="2"/>
                </a:move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>
            <a:off x="3512741" y="2476618"/>
            <a:ext cx="315037" cy="62120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479800" y="2514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2"/>
                </a:moveTo>
                <a:lnTo>
                  <a:pt x="4" y="3"/>
                </a:lnTo>
                <a:lnTo>
                  <a:pt x="2" y="2"/>
                </a:lnTo>
                <a:lnTo>
                  <a:pt x="3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3797300" y="24511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5" y="2"/>
                </a:moveTo>
                <a:lnTo>
                  <a:pt x="5" y="2"/>
                </a:lnTo>
                <a:lnTo>
                  <a:pt x="5" y="1"/>
                </a:lnTo>
                <a:lnTo>
                  <a:pt x="4" y="1"/>
                </a:lnTo>
                <a:lnTo>
                  <a:pt x="4" y="0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5" y="3"/>
                </a:lnTo>
                <a:lnTo>
                  <a:pt x="5" y="2"/>
                </a:lnTo>
                <a:lnTo>
                  <a:pt x="5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932243" y="2677320"/>
            <a:ext cx="546300" cy="51363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reeform 61"/>
          <p:cNvSpPr/>
          <p:nvPr/>
        </p:nvSpPr>
        <p:spPr>
          <a:xfrm>
            <a:off x="2463800" y="2667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4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lnTo>
                  <a:pt x="4" y="1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1905000" y="26924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4" y="2"/>
                </a:ln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0" y="5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4" y="3"/>
                </a:lnTo>
                <a:lnTo>
                  <a:pt x="5" y="3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H="1">
            <a:off x="3433290" y="2153982"/>
            <a:ext cx="253332" cy="204437"/>
          </a:xfrm>
          <a:prstGeom prst="line">
            <a:avLst/>
          </a:prstGeom>
          <a:ln w="70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403600" y="233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 w="708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3657600" y="21209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5" y="3"/>
                </a:moveTo>
                <a:lnTo>
                  <a:pt x="5" y="2"/>
                </a:ln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0" y="4"/>
                </a:lnTo>
                <a:lnTo>
                  <a:pt x="1" y="4"/>
                </a:lnTo>
                <a:lnTo>
                  <a:pt x="1" y="5"/>
                </a:lnTo>
                <a:lnTo>
                  <a:pt x="1" y="5"/>
                </a:lnTo>
                <a:lnTo>
                  <a:pt x="2" y="5"/>
                </a:lnTo>
                <a:lnTo>
                  <a:pt x="2" y="5"/>
                </a:lnTo>
                <a:lnTo>
                  <a:pt x="3" y="5"/>
                </a:lnTo>
                <a:lnTo>
                  <a:pt x="3" y="5"/>
                </a:lnTo>
                <a:lnTo>
                  <a:pt x="4" y="5"/>
                </a:lnTo>
                <a:lnTo>
                  <a:pt x="4" y="4"/>
                </a:lnTo>
                <a:lnTo>
                  <a:pt x="4" y="4"/>
                </a:lnTo>
                <a:lnTo>
                  <a:pt x="4" y="4"/>
                </a:lnTo>
                <a:lnTo>
                  <a:pt x="5" y="3"/>
                </a:lnTo>
                <a:lnTo>
                  <a:pt x="5" y="3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3086100" y="2590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4" y="2"/>
                </a:moveTo>
                <a:lnTo>
                  <a:pt x="4" y="2"/>
                </a:lnTo>
                <a:lnTo>
                  <a:pt x="4" y="1"/>
                </a:lnTo>
                <a:lnTo>
                  <a:pt x="4" y="1"/>
                </a:lnTo>
                <a:lnTo>
                  <a:pt x="4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0" y="4"/>
                </a:lnTo>
                <a:lnTo>
                  <a:pt x="1" y="4"/>
                </a:lnTo>
                <a:lnTo>
                  <a:pt x="1" y="4"/>
                </a:lnTo>
                <a:lnTo>
                  <a:pt x="2" y="4"/>
                </a:lnTo>
                <a:lnTo>
                  <a:pt x="2" y="5"/>
                </a:lnTo>
                <a:lnTo>
                  <a:pt x="3" y="4"/>
                </a:lnTo>
                <a:lnTo>
                  <a:pt x="3" y="4"/>
                </a:lnTo>
                <a:lnTo>
                  <a:pt x="3" y="4"/>
                </a:lnTo>
                <a:lnTo>
                  <a:pt x="4" y="4"/>
                </a:lnTo>
                <a:lnTo>
                  <a:pt x="4" y="3"/>
                </a:lnTo>
                <a:lnTo>
                  <a:pt x="4" y="3"/>
                </a:lnTo>
                <a:lnTo>
                  <a:pt x="4" y="3"/>
                </a:lnTo>
                <a:lnTo>
                  <a:pt x="4" y="2"/>
                </a:lnTo>
                <a:close/>
              </a:path>
            </a:pathLst>
          </a:custGeom>
          <a:solidFill>
            <a:srgbClr val="7F807F"/>
          </a:solidFill>
          <a:ln w="63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Basic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principles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0057" y="62580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parameters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60057" y="883906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89060" y="1188100"/>
            <a:ext cx="359633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0057" y="1400135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experience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7095" y="1615965"/>
            <a:ext cx="51483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calculation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formula)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804541" y="2250020"/>
            <a:ext cx="2980854" cy="30071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7" b="0">
                <a:solidFill>
                  <a:srgbClr val="000000"/>
                </a:solidFill>
                <a:latin typeface="Cambria Math"/>
              </a:rPr>
              <a:t>×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98313" y="3150919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3589" y="3150695"/>
            <a:ext cx="1218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Global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1275065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8313" y="3150916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2446" y="3150692"/>
            <a:ext cx="122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Global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1275065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8" y="1533180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neighbourhood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entire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(population),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6" y="1749010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directly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8314" y="3150918"/>
            <a:ext cx="8870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2448" y="3150694"/>
            <a:ext cx="1229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78574" y="1647384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1054100" y="1625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676004" y="1962783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651000" y="2032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733154" y="1962783"/>
            <a:ext cx="0" cy="22202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717800" y="2171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4378424" y="1609541"/>
            <a:ext cx="0" cy="1172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4356100" y="1587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22794" y="1962783"/>
            <a:ext cx="5115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539529" y="1962783"/>
            <a:ext cx="27295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017655" y="1962783"/>
            <a:ext cx="143099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653828" y="1962783"/>
            <a:ext cx="144919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1750685" y="1896638"/>
            <a:ext cx="266970" cy="180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7272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H="1" flipV="1">
            <a:off x="2280562" y="1594669"/>
            <a:ext cx="21951" cy="13215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2606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2" y="2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761809" y="1962783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743200" y="2286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3170711" y="1385303"/>
            <a:ext cx="45867" cy="34151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2004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>
            <a:off x="3386857" y="1896638"/>
            <a:ext cx="266971" cy="180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3655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 flipV="1">
            <a:off x="3796560" y="1488013"/>
            <a:ext cx="108245" cy="2388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784600" y="1460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0"/>
                </a:moveTo>
                <a:lnTo>
                  <a:pt x="0" y="4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407080" y="1965696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381500" y="2286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H="1" flipV="1">
            <a:off x="4671229" y="1591918"/>
            <a:ext cx="73627" cy="1349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46609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0"/>
                </a:moveTo>
                <a:lnTo>
                  <a:pt x="0" y="3"/>
                </a:lnTo>
                <a:lnTo>
                  <a:pt x="1" y="1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Global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9993" y="83612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5321" y="1755955"/>
            <a:ext cx="49600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0684" y="1436526"/>
            <a:ext cx="50847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17688" y="2109258"/>
            <a:ext cx="456770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11704" y="2254825"/>
            <a:ext cx="35736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65704" y="2426898"/>
            <a:ext cx="34196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20692" y="1226608"/>
            <a:ext cx="18647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10951" y="1398680"/>
            <a:ext cx="17744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8773" y="2132576"/>
            <a:ext cx="49266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06169" y="2304648"/>
            <a:ext cx="45792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15972" y="1215610"/>
            <a:ext cx="3969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30754" y="1387682"/>
            <a:ext cx="36546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25509" y="2371107"/>
            <a:ext cx="36598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3395" y="1174665"/>
            <a:ext cx="30020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494914" y="2132576"/>
            <a:ext cx="3290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842323" y="2304648"/>
            <a:ext cx="29430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68827" y="1110873"/>
            <a:ext cx="25165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83609" y="1282945"/>
            <a:ext cx="22017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34485" y="2374028"/>
            <a:ext cx="19509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54258" y="1384151"/>
            <a:ext cx="16311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31700" y="3150693"/>
            <a:ext cx="1536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78574" y="1647384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1054100" y="1625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676004" y="1962783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651000" y="2032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733154" y="1962783"/>
            <a:ext cx="0" cy="22202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717800" y="2171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4378424" y="1609541"/>
            <a:ext cx="0" cy="1172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4356100" y="1587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22794" y="1962783"/>
            <a:ext cx="5115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539529" y="1962783"/>
            <a:ext cx="27295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017655" y="1962783"/>
            <a:ext cx="143099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653828" y="1962783"/>
            <a:ext cx="144919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1750685" y="1896638"/>
            <a:ext cx="266970" cy="180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7272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H="1" flipV="1">
            <a:off x="2280562" y="1594669"/>
            <a:ext cx="21951" cy="13215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2606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2" y="2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761809" y="1962783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743200" y="2286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3170711" y="1385303"/>
            <a:ext cx="45867" cy="34151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2004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>
            <a:off x="3386857" y="1896638"/>
            <a:ext cx="266971" cy="180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3655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 flipV="1">
            <a:off x="3796560" y="1488013"/>
            <a:ext cx="108245" cy="2388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784600" y="1460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0"/>
                </a:moveTo>
                <a:lnTo>
                  <a:pt x="0" y="4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407080" y="1965696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381500" y="2286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H="1" flipV="1">
            <a:off x="4671229" y="1591918"/>
            <a:ext cx="73627" cy="1349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46609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0"/>
                </a:moveTo>
                <a:lnTo>
                  <a:pt x="0" y="3"/>
                </a:lnTo>
                <a:lnTo>
                  <a:pt x="1" y="1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Global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9993" y="83612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5321" y="1755955"/>
            <a:ext cx="49600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0684" y="1436526"/>
            <a:ext cx="50847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17688" y="2109258"/>
            <a:ext cx="456770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11704" y="2254825"/>
            <a:ext cx="35736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65704" y="2426898"/>
            <a:ext cx="34196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20692" y="1226608"/>
            <a:ext cx="18647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10951" y="1398680"/>
            <a:ext cx="17744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8773" y="2132576"/>
            <a:ext cx="49266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06169" y="2304648"/>
            <a:ext cx="45792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15972" y="1215610"/>
            <a:ext cx="3969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30754" y="1387682"/>
            <a:ext cx="36546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25509" y="2371107"/>
            <a:ext cx="36598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3395" y="1174665"/>
            <a:ext cx="30020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494914" y="2132576"/>
            <a:ext cx="3290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842323" y="2304648"/>
            <a:ext cx="29430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68827" y="1110873"/>
            <a:ext cx="25165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83609" y="1282945"/>
            <a:ext cx="22017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34485" y="2374028"/>
            <a:ext cx="19509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54258" y="1384151"/>
            <a:ext cx="16311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31700" y="3150693"/>
            <a:ext cx="1536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78574" y="1647384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1054100" y="1625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676004" y="1962783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651000" y="2032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733154" y="1962783"/>
            <a:ext cx="0" cy="22202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717800" y="2171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4378424" y="1609541"/>
            <a:ext cx="0" cy="1172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4356100" y="1587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22794" y="1962783"/>
            <a:ext cx="5115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539529" y="1962783"/>
            <a:ext cx="27295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017655" y="1962783"/>
            <a:ext cx="143099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653828" y="1962783"/>
            <a:ext cx="144919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1750685" y="1896638"/>
            <a:ext cx="266970" cy="180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7272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H="1" flipV="1">
            <a:off x="2280562" y="1594669"/>
            <a:ext cx="21951" cy="13215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2606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2" y="2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761809" y="1962783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743200" y="2286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3170711" y="1385303"/>
            <a:ext cx="45867" cy="34151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2004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>
            <a:off x="3386857" y="1896638"/>
            <a:ext cx="266971" cy="180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3655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 flipV="1">
            <a:off x="3796560" y="1488013"/>
            <a:ext cx="108245" cy="2388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784600" y="1460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0"/>
                </a:moveTo>
                <a:lnTo>
                  <a:pt x="0" y="4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407080" y="1965696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381500" y="2286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H="1" flipV="1">
            <a:off x="4671229" y="1591918"/>
            <a:ext cx="73627" cy="1349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46609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0"/>
                </a:moveTo>
                <a:lnTo>
                  <a:pt x="0" y="3"/>
                </a:lnTo>
                <a:lnTo>
                  <a:pt x="1" y="1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Global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9993" y="83612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5321" y="1755955"/>
            <a:ext cx="49600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0684" y="1436526"/>
            <a:ext cx="50847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17688" y="2109258"/>
            <a:ext cx="456770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11704" y="2254825"/>
            <a:ext cx="35736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65704" y="2426898"/>
            <a:ext cx="34196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20692" y="1226608"/>
            <a:ext cx="18647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10951" y="1398680"/>
            <a:ext cx="17744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8773" y="2132576"/>
            <a:ext cx="49266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06169" y="2304648"/>
            <a:ext cx="45792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15972" y="1215610"/>
            <a:ext cx="3969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30754" y="1387682"/>
            <a:ext cx="36546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25509" y="2371107"/>
            <a:ext cx="36598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3395" y="1174665"/>
            <a:ext cx="30020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494914" y="2132576"/>
            <a:ext cx="3290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842323" y="2304648"/>
            <a:ext cx="29430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68827" y="1110873"/>
            <a:ext cx="25165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83609" y="1282945"/>
            <a:ext cx="22017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34485" y="2374028"/>
            <a:ext cx="19509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54258" y="1384151"/>
            <a:ext cx="16311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31700" y="3150693"/>
            <a:ext cx="1536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78574" y="1647384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1054100" y="1625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676004" y="1962783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651000" y="2032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733154" y="1962783"/>
            <a:ext cx="0" cy="22202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717800" y="2171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4378424" y="1609541"/>
            <a:ext cx="0" cy="1172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4356100" y="1587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22794" y="1962783"/>
            <a:ext cx="5115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539529" y="1962783"/>
            <a:ext cx="27295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017655" y="1962783"/>
            <a:ext cx="143099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653828" y="1962783"/>
            <a:ext cx="144919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1750685" y="1896638"/>
            <a:ext cx="266970" cy="180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7272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H="1" flipV="1">
            <a:off x="2280562" y="1594669"/>
            <a:ext cx="21951" cy="13215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2606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2" y="2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761809" y="1962783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743200" y="2286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3170711" y="1385303"/>
            <a:ext cx="45867" cy="34151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2004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>
            <a:off x="3386857" y="1896638"/>
            <a:ext cx="266971" cy="180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3655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 flipV="1">
            <a:off x="3796560" y="1488013"/>
            <a:ext cx="108245" cy="2388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784600" y="1460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0"/>
                </a:moveTo>
                <a:lnTo>
                  <a:pt x="0" y="4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407080" y="1965696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381500" y="2286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H="1" flipV="1">
            <a:off x="4671229" y="1591918"/>
            <a:ext cx="73627" cy="1349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46609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0"/>
                </a:moveTo>
                <a:lnTo>
                  <a:pt x="0" y="3"/>
                </a:lnTo>
                <a:lnTo>
                  <a:pt x="1" y="1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Global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9993" y="83612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5321" y="1755955"/>
            <a:ext cx="49600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0684" y="1436526"/>
            <a:ext cx="50847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17688" y="2109258"/>
            <a:ext cx="456770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11704" y="2254825"/>
            <a:ext cx="35736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65704" y="2426898"/>
            <a:ext cx="34196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20692" y="1226608"/>
            <a:ext cx="18647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10951" y="1398680"/>
            <a:ext cx="17744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8773" y="2132576"/>
            <a:ext cx="49266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06169" y="2304648"/>
            <a:ext cx="45792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15972" y="1215610"/>
            <a:ext cx="3969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30754" y="1387682"/>
            <a:ext cx="36546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25509" y="2371107"/>
            <a:ext cx="36598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3395" y="1174665"/>
            <a:ext cx="30020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494914" y="2132576"/>
            <a:ext cx="3290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842323" y="2304648"/>
            <a:ext cx="29430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68827" y="1110873"/>
            <a:ext cx="25165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83609" y="1282945"/>
            <a:ext cx="22017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34485" y="2374028"/>
            <a:ext cx="19509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54258" y="1384151"/>
            <a:ext cx="16311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31700" y="3150693"/>
            <a:ext cx="1536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78574" y="1647384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1054100" y="1625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676004" y="1962783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651000" y="2032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733154" y="1962783"/>
            <a:ext cx="0" cy="22202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717800" y="2171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4378424" y="1609541"/>
            <a:ext cx="0" cy="1172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4356100" y="1587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22794" y="1962783"/>
            <a:ext cx="5115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539529" y="1962783"/>
            <a:ext cx="27295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017655" y="1962783"/>
            <a:ext cx="143099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653828" y="1962783"/>
            <a:ext cx="144919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1750685" y="1896638"/>
            <a:ext cx="266970" cy="180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7272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H="1" flipV="1">
            <a:off x="2280562" y="1594669"/>
            <a:ext cx="21951" cy="13215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2606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2" y="2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761809" y="1962783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743200" y="2286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3170711" y="1385303"/>
            <a:ext cx="45867" cy="34151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2004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>
            <a:off x="3386857" y="1896638"/>
            <a:ext cx="266971" cy="180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3655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 flipV="1">
            <a:off x="3796560" y="1488013"/>
            <a:ext cx="108245" cy="2388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784600" y="1460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0"/>
                </a:moveTo>
                <a:lnTo>
                  <a:pt x="0" y="4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407080" y="1965696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381500" y="2286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H="1" flipV="1">
            <a:off x="4671229" y="1591918"/>
            <a:ext cx="73627" cy="1349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46609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0"/>
                </a:moveTo>
                <a:lnTo>
                  <a:pt x="0" y="3"/>
                </a:lnTo>
                <a:lnTo>
                  <a:pt x="1" y="1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Global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9993" y="83612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5321" y="1755955"/>
            <a:ext cx="49600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0684" y="1436526"/>
            <a:ext cx="50847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17688" y="2109258"/>
            <a:ext cx="456770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11704" y="2254825"/>
            <a:ext cx="35736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65704" y="2426898"/>
            <a:ext cx="34196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20692" y="1226608"/>
            <a:ext cx="18647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10951" y="1398680"/>
            <a:ext cx="17744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8773" y="2132576"/>
            <a:ext cx="49266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06169" y="2304648"/>
            <a:ext cx="45792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15972" y="1215610"/>
            <a:ext cx="3969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30754" y="1387682"/>
            <a:ext cx="36546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25509" y="2371107"/>
            <a:ext cx="36598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3395" y="1174665"/>
            <a:ext cx="30020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494914" y="2132576"/>
            <a:ext cx="3290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842323" y="2304648"/>
            <a:ext cx="29430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68827" y="1110873"/>
            <a:ext cx="25165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83609" y="1282945"/>
            <a:ext cx="22017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34485" y="2374028"/>
            <a:ext cx="19509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54258" y="1384151"/>
            <a:ext cx="16311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31700" y="3150693"/>
            <a:ext cx="1536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78574" y="1647384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1054100" y="1625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676004" y="1962783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651000" y="2032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733154" y="1962783"/>
            <a:ext cx="0" cy="22202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717800" y="2171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4378424" y="1609541"/>
            <a:ext cx="0" cy="1172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4356100" y="1587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22794" y="1962783"/>
            <a:ext cx="5115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539529" y="1962783"/>
            <a:ext cx="27295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017655" y="1962783"/>
            <a:ext cx="143099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653828" y="1962783"/>
            <a:ext cx="144919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1750685" y="1896638"/>
            <a:ext cx="266970" cy="180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7272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H="1" flipV="1">
            <a:off x="2280562" y="1594669"/>
            <a:ext cx="21951" cy="13215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2606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2" y="2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761809" y="1962783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743200" y="2286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3170711" y="1385303"/>
            <a:ext cx="45867" cy="34151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2004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>
            <a:off x="3386857" y="1896638"/>
            <a:ext cx="266971" cy="180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3655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 flipV="1">
            <a:off x="3796560" y="1488013"/>
            <a:ext cx="108245" cy="2388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784600" y="1460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0"/>
                </a:moveTo>
                <a:lnTo>
                  <a:pt x="0" y="4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407080" y="1965696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381500" y="2286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H="1" flipV="1">
            <a:off x="4671229" y="1591918"/>
            <a:ext cx="73627" cy="1349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46609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0"/>
                </a:moveTo>
                <a:lnTo>
                  <a:pt x="0" y="3"/>
                </a:lnTo>
                <a:lnTo>
                  <a:pt x="1" y="1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Global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9993" y="83612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5321" y="1755955"/>
            <a:ext cx="49600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0684" y="1436526"/>
            <a:ext cx="50847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17688" y="2109258"/>
            <a:ext cx="456770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11704" y="2254825"/>
            <a:ext cx="35736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65704" y="2426898"/>
            <a:ext cx="34196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20692" y="1226608"/>
            <a:ext cx="18647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10951" y="1398680"/>
            <a:ext cx="17744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8773" y="2132576"/>
            <a:ext cx="49266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06169" y="2304648"/>
            <a:ext cx="45792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15972" y="1215610"/>
            <a:ext cx="3969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30754" y="1387682"/>
            <a:ext cx="36546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25509" y="2371107"/>
            <a:ext cx="36598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3395" y="1174665"/>
            <a:ext cx="30020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494914" y="2132576"/>
            <a:ext cx="3290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842323" y="2304648"/>
            <a:ext cx="29430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68827" y="1110873"/>
            <a:ext cx="25165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83609" y="1282945"/>
            <a:ext cx="22017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34485" y="2374028"/>
            <a:ext cx="19509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54258" y="1384151"/>
            <a:ext cx="16311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31700" y="3150693"/>
            <a:ext cx="1536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78574" y="1647384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1054100" y="1625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676004" y="1962783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651000" y="2032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733154" y="1962783"/>
            <a:ext cx="0" cy="22202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717800" y="2171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4378424" y="1609541"/>
            <a:ext cx="0" cy="1172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4356100" y="1587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22794" y="1962783"/>
            <a:ext cx="5115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539529" y="1962783"/>
            <a:ext cx="27295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017655" y="1962783"/>
            <a:ext cx="143099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653828" y="1962783"/>
            <a:ext cx="144919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1750685" y="1896638"/>
            <a:ext cx="266970" cy="180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7272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H="1" flipV="1">
            <a:off x="2280562" y="1594669"/>
            <a:ext cx="21951" cy="13215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2606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2" y="2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761809" y="1962783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743200" y="2286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3170711" y="1385303"/>
            <a:ext cx="45867" cy="34151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2004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>
            <a:off x="3386857" y="1896638"/>
            <a:ext cx="266971" cy="180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3655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 flipV="1">
            <a:off x="3796560" y="1488013"/>
            <a:ext cx="108245" cy="2388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784600" y="1460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0"/>
                </a:moveTo>
                <a:lnTo>
                  <a:pt x="0" y="4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407080" y="1965696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381500" y="2286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H="1" flipV="1">
            <a:off x="4671229" y="1591918"/>
            <a:ext cx="73627" cy="1349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46609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0"/>
                </a:moveTo>
                <a:lnTo>
                  <a:pt x="0" y="3"/>
                </a:lnTo>
                <a:lnTo>
                  <a:pt x="1" y="1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Global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9993" y="83612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5321" y="1755955"/>
            <a:ext cx="49600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0684" y="1436526"/>
            <a:ext cx="50847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17688" y="2109258"/>
            <a:ext cx="456770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11704" y="2254825"/>
            <a:ext cx="35736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65704" y="2426898"/>
            <a:ext cx="34196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20692" y="1226608"/>
            <a:ext cx="18647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10951" y="1398680"/>
            <a:ext cx="17744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8773" y="2132576"/>
            <a:ext cx="49266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06169" y="2304648"/>
            <a:ext cx="45792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15972" y="1215610"/>
            <a:ext cx="3969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30754" y="1387682"/>
            <a:ext cx="36546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25509" y="2371107"/>
            <a:ext cx="36598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3395" y="1174665"/>
            <a:ext cx="30020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494914" y="2132576"/>
            <a:ext cx="3290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842323" y="2304648"/>
            <a:ext cx="29430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68827" y="1110873"/>
            <a:ext cx="25165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83609" y="1282945"/>
            <a:ext cx="22017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34485" y="2374028"/>
            <a:ext cx="19509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54258" y="1384151"/>
            <a:ext cx="16311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31700" y="3150693"/>
            <a:ext cx="1536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78574" y="1647384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1054100" y="1625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676004" y="1962783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651000" y="2032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733154" y="1962783"/>
            <a:ext cx="0" cy="22202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717800" y="2171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4378424" y="1609541"/>
            <a:ext cx="0" cy="1172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4356100" y="1587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22794" y="1962783"/>
            <a:ext cx="5115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539529" y="1962783"/>
            <a:ext cx="27295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017655" y="1962783"/>
            <a:ext cx="143099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653828" y="1962783"/>
            <a:ext cx="144919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1750685" y="1896638"/>
            <a:ext cx="266970" cy="180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7272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H="1" flipV="1">
            <a:off x="2280562" y="1594669"/>
            <a:ext cx="21951" cy="13215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2606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2" y="2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761809" y="1962783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743200" y="2286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3170711" y="1385303"/>
            <a:ext cx="45867" cy="34151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2004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>
            <a:off x="3386857" y="1896638"/>
            <a:ext cx="266971" cy="180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3655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 flipV="1">
            <a:off x="3796560" y="1488013"/>
            <a:ext cx="108245" cy="2388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784600" y="1460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0"/>
                </a:moveTo>
                <a:lnTo>
                  <a:pt x="0" y="4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407080" y="1965696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381500" y="2286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H="1" flipV="1">
            <a:off x="4671229" y="1591918"/>
            <a:ext cx="73627" cy="1349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46609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0"/>
                </a:moveTo>
                <a:lnTo>
                  <a:pt x="0" y="3"/>
                </a:lnTo>
                <a:lnTo>
                  <a:pt x="1" y="1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Global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9993" y="83612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5321" y="1755955"/>
            <a:ext cx="49600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0684" y="1436526"/>
            <a:ext cx="50847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17688" y="2109258"/>
            <a:ext cx="456770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11704" y="2254825"/>
            <a:ext cx="35736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65704" y="2426898"/>
            <a:ext cx="34196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20692" y="1226608"/>
            <a:ext cx="18647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10951" y="1398680"/>
            <a:ext cx="17744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8773" y="2132576"/>
            <a:ext cx="49266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06169" y="2304648"/>
            <a:ext cx="45792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15972" y="1215610"/>
            <a:ext cx="3969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30754" y="1387682"/>
            <a:ext cx="36546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25509" y="2371107"/>
            <a:ext cx="36598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3395" y="1174665"/>
            <a:ext cx="30020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494914" y="2132576"/>
            <a:ext cx="3290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842323" y="2304648"/>
            <a:ext cx="29430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68827" y="1110873"/>
            <a:ext cx="25165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83609" y="1282945"/>
            <a:ext cx="22017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34485" y="2374028"/>
            <a:ext cx="19509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54258" y="1384151"/>
            <a:ext cx="16311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31700" y="3150693"/>
            <a:ext cx="1536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78574" y="1647384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1054100" y="1625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676004" y="1962783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651000" y="2032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733154" y="1962783"/>
            <a:ext cx="0" cy="22202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717800" y="2171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4378424" y="1609541"/>
            <a:ext cx="0" cy="1172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4356100" y="1587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22794" y="1962783"/>
            <a:ext cx="5115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539529" y="1962783"/>
            <a:ext cx="27295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017655" y="1962783"/>
            <a:ext cx="143099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653828" y="1962783"/>
            <a:ext cx="144919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1750685" y="1896638"/>
            <a:ext cx="266970" cy="180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7272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H="1" flipV="1">
            <a:off x="2280562" y="1594669"/>
            <a:ext cx="21951" cy="13215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2606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2" y="2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761809" y="1962783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743200" y="2286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3170711" y="1385303"/>
            <a:ext cx="45867" cy="34151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2004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>
            <a:off x="3386857" y="1896638"/>
            <a:ext cx="266971" cy="180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3655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 flipV="1">
            <a:off x="3796560" y="1488013"/>
            <a:ext cx="108245" cy="2388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784600" y="1460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0"/>
                </a:moveTo>
                <a:lnTo>
                  <a:pt x="0" y="4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407080" y="1965696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381500" y="2286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H="1" flipV="1">
            <a:off x="4671229" y="1591918"/>
            <a:ext cx="73627" cy="1349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46609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0"/>
                </a:moveTo>
                <a:lnTo>
                  <a:pt x="0" y="3"/>
                </a:lnTo>
                <a:lnTo>
                  <a:pt x="1" y="1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Global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9993" y="83612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5321" y="1755955"/>
            <a:ext cx="49600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0684" y="1436526"/>
            <a:ext cx="50847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17688" y="2109258"/>
            <a:ext cx="456770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11704" y="2254825"/>
            <a:ext cx="35736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65704" y="2426898"/>
            <a:ext cx="34196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20692" y="1226608"/>
            <a:ext cx="18647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10951" y="1398680"/>
            <a:ext cx="17744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8773" y="2132576"/>
            <a:ext cx="49266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06169" y="2304648"/>
            <a:ext cx="45792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15972" y="1215610"/>
            <a:ext cx="3969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30754" y="1387682"/>
            <a:ext cx="36546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25509" y="2371107"/>
            <a:ext cx="36598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3395" y="1174665"/>
            <a:ext cx="30020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494914" y="2132576"/>
            <a:ext cx="3290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842323" y="2304648"/>
            <a:ext cx="29430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68827" y="1110873"/>
            <a:ext cx="25165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83609" y="1282945"/>
            <a:ext cx="22017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34485" y="2374028"/>
            <a:ext cx="19509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54258" y="1384151"/>
            <a:ext cx="16311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31700" y="3150693"/>
            <a:ext cx="1536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78574" y="1647384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1054100" y="1625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676004" y="1962783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651000" y="2032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733154" y="1962783"/>
            <a:ext cx="0" cy="22202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717800" y="2171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4378424" y="1609541"/>
            <a:ext cx="0" cy="1172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4356100" y="1587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22794" y="1962783"/>
            <a:ext cx="5115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539529" y="1962783"/>
            <a:ext cx="27295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017655" y="1962783"/>
            <a:ext cx="143099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653828" y="1962783"/>
            <a:ext cx="144919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1750685" y="1896638"/>
            <a:ext cx="266970" cy="180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7272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H="1" flipV="1">
            <a:off x="2280562" y="1594669"/>
            <a:ext cx="21951" cy="13215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2606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2" y="2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761809" y="1962783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743200" y="2286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3170711" y="1385303"/>
            <a:ext cx="45867" cy="34151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2004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>
            <a:off x="3386857" y="1896638"/>
            <a:ext cx="266971" cy="180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3655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 flipV="1">
            <a:off x="3796560" y="1488013"/>
            <a:ext cx="108245" cy="2388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784600" y="1460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0"/>
                </a:moveTo>
                <a:lnTo>
                  <a:pt x="0" y="4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407080" y="1965696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381500" y="2286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H="1" flipV="1">
            <a:off x="4671229" y="1591918"/>
            <a:ext cx="73627" cy="1349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46609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0"/>
                </a:moveTo>
                <a:lnTo>
                  <a:pt x="0" y="3"/>
                </a:lnTo>
                <a:lnTo>
                  <a:pt x="1" y="1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Global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9993" y="83612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5321" y="1755955"/>
            <a:ext cx="49600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0684" y="1436526"/>
            <a:ext cx="50847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17688" y="2109258"/>
            <a:ext cx="456770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11704" y="2254825"/>
            <a:ext cx="35736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65704" y="2426898"/>
            <a:ext cx="34196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20692" y="1226608"/>
            <a:ext cx="18647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10951" y="1398680"/>
            <a:ext cx="17744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8773" y="2132576"/>
            <a:ext cx="49266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06169" y="2304648"/>
            <a:ext cx="45792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15972" y="1215610"/>
            <a:ext cx="3969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30754" y="1387682"/>
            <a:ext cx="36546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25509" y="2371107"/>
            <a:ext cx="36598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3395" y="1174665"/>
            <a:ext cx="30020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494914" y="2132576"/>
            <a:ext cx="3290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842323" y="2304648"/>
            <a:ext cx="29430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68827" y="1110873"/>
            <a:ext cx="25165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83609" y="1282945"/>
            <a:ext cx="22017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34485" y="2374028"/>
            <a:ext cx="19509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54258" y="1384151"/>
            <a:ext cx="16311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31700" y="3150693"/>
            <a:ext cx="1536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78574" y="1647384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1054100" y="1625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676004" y="1962783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651000" y="2032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733154" y="1962783"/>
            <a:ext cx="0" cy="22202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717800" y="2171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4378424" y="1609541"/>
            <a:ext cx="0" cy="1172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4356100" y="1587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22794" y="1962783"/>
            <a:ext cx="5115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539529" y="1962783"/>
            <a:ext cx="27295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017655" y="1962783"/>
            <a:ext cx="143099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653828" y="1962783"/>
            <a:ext cx="144919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1750685" y="1896638"/>
            <a:ext cx="266970" cy="180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7272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H="1" flipV="1">
            <a:off x="2280562" y="1594669"/>
            <a:ext cx="21951" cy="13215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2606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2" y="2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761809" y="1962783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743200" y="2286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3170711" y="1385303"/>
            <a:ext cx="45867" cy="34151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2004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>
            <a:off x="3386857" y="1896638"/>
            <a:ext cx="266971" cy="180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3655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 flipV="1">
            <a:off x="3796560" y="1488013"/>
            <a:ext cx="108245" cy="2388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784600" y="1460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0"/>
                </a:moveTo>
                <a:lnTo>
                  <a:pt x="0" y="4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407080" y="1965696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381500" y="2286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H="1" flipV="1">
            <a:off x="4671229" y="1591918"/>
            <a:ext cx="73627" cy="1349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46609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0"/>
                </a:moveTo>
                <a:lnTo>
                  <a:pt x="0" y="3"/>
                </a:lnTo>
                <a:lnTo>
                  <a:pt x="1" y="1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Global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9993" y="83612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5321" y="1755955"/>
            <a:ext cx="49600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0684" y="1436526"/>
            <a:ext cx="50847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17688" y="2109258"/>
            <a:ext cx="456770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11704" y="2254825"/>
            <a:ext cx="35736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65704" y="2426898"/>
            <a:ext cx="34196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20692" y="1226608"/>
            <a:ext cx="18647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10951" y="1398680"/>
            <a:ext cx="17744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8773" y="2132576"/>
            <a:ext cx="49266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06169" y="2304648"/>
            <a:ext cx="45792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15972" y="1215610"/>
            <a:ext cx="3969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30754" y="1387682"/>
            <a:ext cx="36546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25509" y="2371107"/>
            <a:ext cx="36598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3395" y="1174665"/>
            <a:ext cx="30020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494914" y="2132576"/>
            <a:ext cx="3290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842323" y="2304648"/>
            <a:ext cx="29430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68827" y="1110873"/>
            <a:ext cx="25165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83609" y="1282945"/>
            <a:ext cx="22017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34485" y="2374028"/>
            <a:ext cx="19509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54258" y="1384151"/>
            <a:ext cx="16311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31700" y="3150693"/>
            <a:ext cx="1536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78574" y="1647384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1054100" y="1625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676004" y="1962783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651000" y="2032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733154" y="1962783"/>
            <a:ext cx="0" cy="22202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717800" y="2171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4378424" y="1609541"/>
            <a:ext cx="0" cy="1172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4356100" y="1587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22794" y="1962783"/>
            <a:ext cx="5115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539529" y="1962783"/>
            <a:ext cx="27295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017655" y="1962783"/>
            <a:ext cx="143099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653828" y="1962783"/>
            <a:ext cx="144919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1750685" y="1896638"/>
            <a:ext cx="266970" cy="180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7272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H="1" flipV="1">
            <a:off x="2280562" y="1594669"/>
            <a:ext cx="21951" cy="13215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2606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2" y="2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761809" y="1962783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743200" y="2286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3170711" y="1385303"/>
            <a:ext cx="45867" cy="34151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2004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>
            <a:off x="3386857" y="1896638"/>
            <a:ext cx="266971" cy="180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3655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 flipV="1">
            <a:off x="3796560" y="1488013"/>
            <a:ext cx="108245" cy="2388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784600" y="1460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0"/>
                </a:moveTo>
                <a:lnTo>
                  <a:pt x="0" y="4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407080" y="1965696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381500" y="2286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H="1" flipV="1">
            <a:off x="4671229" y="1591918"/>
            <a:ext cx="73627" cy="1349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46609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0"/>
                </a:moveTo>
                <a:lnTo>
                  <a:pt x="0" y="3"/>
                </a:lnTo>
                <a:lnTo>
                  <a:pt x="1" y="1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Global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9993" y="83612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5321" y="1755955"/>
            <a:ext cx="49600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0684" y="1436526"/>
            <a:ext cx="50847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17688" y="2109258"/>
            <a:ext cx="456770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11704" y="2254825"/>
            <a:ext cx="35736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65704" y="2426898"/>
            <a:ext cx="34196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20692" y="1226608"/>
            <a:ext cx="18647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10951" y="1398680"/>
            <a:ext cx="17744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8773" y="2132576"/>
            <a:ext cx="49266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06169" y="2304648"/>
            <a:ext cx="45792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15972" y="1215610"/>
            <a:ext cx="3969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30754" y="1387682"/>
            <a:ext cx="36546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25509" y="2371107"/>
            <a:ext cx="36598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3395" y="1174665"/>
            <a:ext cx="30020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494914" y="2132576"/>
            <a:ext cx="3290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842323" y="2304648"/>
            <a:ext cx="29430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68827" y="1110873"/>
            <a:ext cx="25165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83609" y="1282945"/>
            <a:ext cx="22017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34485" y="2374028"/>
            <a:ext cx="19509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54258" y="1384151"/>
            <a:ext cx="16311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31700" y="3150693"/>
            <a:ext cx="1536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78574" y="1647384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1054100" y="1625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676004" y="1962783"/>
            <a:ext cx="0" cy="79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651000" y="2032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733154" y="1962783"/>
            <a:ext cx="0" cy="22202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717800" y="2171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4378424" y="1609541"/>
            <a:ext cx="0" cy="1172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4356100" y="1587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22794" y="1962783"/>
            <a:ext cx="5115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539529" y="1962783"/>
            <a:ext cx="27295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017655" y="1962783"/>
            <a:ext cx="143099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653828" y="1962783"/>
            <a:ext cx="144919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1750685" y="1896638"/>
            <a:ext cx="266970" cy="180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7272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H="1" flipV="1">
            <a:off x="2280562" y="1594669"/>
            <a:ext cx="21951" cy="13215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2606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2" y="2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761809" y="1962783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743200" y="2286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3170711" y="1385303"/>
            <a:ext cx="45867" cy="34151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2004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>
            <a:off x="3386857" y="1896638"/>
            <a:ext cx="266971" cy="1800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3655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2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 flipV="1">
            <a:off x="3796560" y="1488013"/>
            <a:ext cx="108245" cy="2388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784600" y="1460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0"/>
                </a:moveTo>
                <a:lnTo>
                  <a:pt x="0" y="4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407080" y="1965696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381500" y="2286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H="1" flipV="1">
            <a:off x="4671229" y="1591918"/>
            <a:ext cx="73627" cy="1349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46609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0"/>
                </a:moveTo>
                <a:lnTo>
                  <a:pt x="0" y="3"/>
                </a:lnTo>
                <a:lnTo>
                  <a:pt x="1" y="1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Global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9993" y="83612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5321" y="1755955"/>
            <a:ext cx="49600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0684" y="1436526"/>
            <a:ext cx="50847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17688" y="2109258"/>
            <a:ext cx="456770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11704" y="2254825"/>
            <a:ext cx="35736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65704" y="2426898"/>
            <a:ext cx="34196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20692" y="1226608"/>
            <a:ext cx="18647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10951" y="1398680"/>
            <a:ext cx="17744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8773" y="2132576"/>
            <a:ext cx="49266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06169" y="2304648"/>
            <a:ext cx="45792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15972" y="1215610"/>
            <a:ext cx="396942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30754" y="1387682"/>
            <a:ext cx="36546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25509" y="2371107"/>
            <a:ext cx="36598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3395" y="1174665"/>
            <a:ext cx="30020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494914" y="2132576"/>
            <a:ext cx="3290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842323" y="2304648"/>
            <a:ext cx="29430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68827" y="1110873"/>
            <a:ext cx="25165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83609" y="1282945"/>
            <a:ext cx="22017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34485" y="2374028"/>
            <a:ext cx="19509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54258" y="1384151"/>
            <a:ext cx="16311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31700" y="3150693"/>
            <a:ext cx="1536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645223"/>
            <a:ext cx="5039995" cy="0"/>
          </a:xfrm>
          <a:prstGeom prst="line">
            <a:avLst/>
          </a:prstGeom>
          <a:ln w="1012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59993" y="840930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5760320" y="-22625372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0" y="3146746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3" y="3146746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Global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736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313" y="3150922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54776" y="3150698"/>
            <a:ext cx="1306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645223"/>
            <a:ext cx="5039995" cy="0"/>
          </a:xfrm>
          <a:prstGeom prst="line">
            <a:avLst/>
          </a:prstGeom>
          <a:ln w="1012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59993" y="840930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59996" y="2774949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6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Global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736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550" y="861800"/>
            <a:ext cx="52868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Create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-dimensional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551" y="1034282"/>
            <a:ext cx="52868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8552" y="2582548"/>
            <a:ext cx="52868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8316" y="3150917"/>
            <a:ext cx="8870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54779" y="3150693"/>
            <a:ext cx="1306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645223"/>
            <a:ext cx="5039995" cy="0"/>
          </a:xfrm>
          <a:prstGeom prst="line">
            <a:avLst/>
          </a:prstGeom>
          <a:ln w="1012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59993" y="840930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59996" y="2774952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6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Global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736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550" y="861800"/>
            <a:ext cx="52868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Create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-dimensional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551" y="1034282"/>
            <a:ext cx="52868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6362" y="1205957"/>
            <a:ext cx="50790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6363" y="1722584"/>
            <a:ext cx="50790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8552" y="2582551"/>
            <a:ext cx="52868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8316" y="3150920"/>
            <a:ext cx="8870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54779" y="3150696"/>
            <a:ext cx="1306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645223"/>
            <a:ext cx="5039995" cy="0"/>
          </a:xfrm>
          <a:prstGeom prst="line">
            <a:avLst/>
          </a:prstGeom>
          <a:ln w="1012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59993" y="840930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59996" y="2774949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6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Global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736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550" y="861800"/>
            <a:ext cx="52868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Create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-dimensional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551" y="1034282"/>
            <a:ext cx="52868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6362" y="1205957"/>
            <a:ext cx="50790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185" y="1378030"/>
            <a:ext cx="4871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6363" y="1722583"/>
            <a:ext cx="50790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8552" y="2582548"/>
            <a:ext cx="52868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8316" y="3150917"/>
            <a:ext cx="8870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54779" y="3150693"/>
            <a:ext cx="1306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645223"/>
            <a:ext cx="5039995" cy="0"/>
          </a:xfrm>
          <a:prstGeom prst="line">
            <a:avLst/>
          </a:prstGeom>
          <a:ln w="1012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59993" y="840930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59996" y="2774952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6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Global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736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550" y="861800"/>
            <a:ext cx="52868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Create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-dimensional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551" y="1034282"/>
            <a:ext cx="52868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6362" y="1205957"/>
            <a:ext cx="50790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185" y="1378030"/>
            <a:ext cx="4871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186" y="1550102"/>
            <a:ext cx="48712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(global)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6363" y="1722584"/>
            <a:ext cx="50790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8552" y="2582551"/>
            <a:ext cx="52868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98316" y="3150920"/>
            <a:ext cx="8870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54779" y="3150696"/>
            <a:ext cx="1306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645223"/>
            <a:ext cx="5039995" cy="0"/>
          </a:xfrm>
          <a:prstGeom prst="line">
            <a:avLst/>
          </a:prstGeom>
          <a:ln w="1012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59993" y="840930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59996" y="2774949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6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Global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736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550" y="861800"/>
            <a:ext cx="52868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Create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-dimensional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551" y="1034282"/>
            <a:ext cx="52868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6362" y="1205957"/>
            <a:ext cx="50790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185" y="1378030"/>
            <a:ext cx="4871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186" y="1550102"/>
            <a:ext cx="48712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(global)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6363" y="1722584"/>
            <a:ext cx="50790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6362" y="1894248"/>
            <a:ext cx="50790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6363" y="2410886"/>
            <a:ext cx="50790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8552" y="2582549"/>
            <a:ext cx="52868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98316" y="3150917"/>
            <a:ext cx="8870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54779" y="3150693"/>
            <a:ext cx="1306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645223"/>
            <a:ext cx="5039995" cy="0"/>
          </a:xfrm>
          <a:prstGeom prst="line">
            <a:avLst/>
          </a:prstGeom>
          <a:ln w="1012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59993" y="840930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59996" y="2774949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6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Global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736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550" y="861800"/>
            <a:ext cx="52868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Create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-dimensional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551" y="1034282"/>
            <a:ext cx="52868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6362" y="1205957"/>
            <a:ext cx="50790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185" y="1378030"/>
            <a:ext cx="4871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186" y="1550102"/>
            <a:ext cx="48712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(global)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6363" y="1722584"/>
            <a:ext cx="50790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6362" y="1894248"/>
            <a:ext cx="50790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185" y="2066333"/>
            <a:ext cx="4871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6363" y="2410886"/>
            <a:ext cx="50790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8552" y="2582549"/>
            <a:ext cx="52868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8316" y="3150917"/>
            <a:ext cx="8870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54779" y="3150693"/>
            <a:ext cx="1306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645223"/>
            <a:ext cx="5039995" cy="0"/>
          </a:xfrm>
          <a:prstGeom prst="line">
            <a:avLst/>
          </a:prstGeom>
          <a:ln w="1012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59993" y="840930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59996" y="2774949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6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Global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736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550" y="861800"/>
            <a:ext cx="52868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Create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-dimensional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551" y="1034282"/>
            <a:ext cx="52868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6362" y="1205957"/>
            <a:ext cx="50790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185" y="1378030"/>
            <a:ext cx="4871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186" y="1550102"/>
            <a:ext cx="48712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(global)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6363" y="1722584"/>
            <a:ext cx="50790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6362" y="1894248"/>
            <a:ext cx="50790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185" y="2066333"/>
            <a:ext cx="4871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185" y="2238404"/>
            <a:ext cx="4871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6363" y="2410885"/>
            <a:ext cx="50790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8552" y="2582548"/>
            <a:ext cx="52868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98316" y="3150917"/>
            <a:ext cx="8870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54779" y="3150693"/>
            <a:ext cx="1306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6197402" y="-24425474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197402" y="-24247459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197402" y="-24069442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197399" y="-23891426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197399" y="-23561581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-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80000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implementation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1319" y="734064"/>
            <a:ext cx="5284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Parameter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definition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8309" y="3150916"/>
            <a:ext cx="887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40206" y="3150692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5" y="974852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197402" y="-24247459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197402" y="-24069442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197399" y="-23891426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197399" y="-23561581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-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80000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implementation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1319" y="734064"/>
            <a:ext cx="5284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Parameter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definition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182" y="921676"/>
            <a:ext cx="48712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particles,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8309" y="3150916"/>
            <a:ext cx="887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40206" y="3150692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5" y="974852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075" y="1152867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197402" y="-24069444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197399" y="-23891428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197399" y="-23561585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-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80000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implementation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1319" y="734064"/>
            <a:ext cx="5284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Parameter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definition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182" y="921676"/>
            <a:ext cx="48712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particles,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181" y="1099692"/>
            <a:ext cx="487121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formula,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PSO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8309" y="3150916"/>
            <a:ext cx="887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40206" y="3150692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5" y="974852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075" y="1152867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7074" y="1330883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197399" y="-23891428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197399" y="-23561585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-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80000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implementation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1319" y="734064"/>
            <a:ext cx="5284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Parameter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definition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182" y="921676"/>
            <a:ext cx="48712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particles,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181" y="1099692"/>
            <a:ext cx="487121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formula,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PSO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181" y="1277707"/>
            <a:ext cx="487121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parameters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required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formula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8309" y="3150916"/>
            <a:ext cx="887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40206" y="3150692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5" y="974852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075" y="1152867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7074" y="1330883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7073" y="1508898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6197399" y="-23561583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-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80000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implementation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1319" y="734064"/>
            <a:ext cx="5284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Parameter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definition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182" y="921676"/>
            <a:ext cx="48712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particles,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181" y="1099692"/>
            <a:ext cx="487121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formula,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PSO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181" y="1277707"/>
            <a:ext cx="487121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parameters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required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formula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179" y="1455723"/>
            <a:ext cx="48712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function,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how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decide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position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better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than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179" y="1607551"/>
            <a:ext cx="48712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others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98309" y="3150916"/>
            <a:ext cx="887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40206" y="3150692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5" y="974852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075" y="1152867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7074" y="1330883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7073" y="1508898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7072" y="1838743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-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80000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implementation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1319" y="734064"/>
            <a:ext cx="5284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Parameter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definition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182" y="921676"/>
            <a:ext cx="48712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particles,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181" y="1099692"/>
            <a:ext cx="487121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formula,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PSO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181" y="1277707"/>
            <a:ext cx="487121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parameters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required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formula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179" y="1455723"/>
            <a:ext cx="48712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function,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how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decide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position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better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than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179" y="1607551"/>
            <a:ext cx="48712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others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179" y="1785568"/>
            <a:ext cx="48712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condition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98309" y="3150916"/>
            <a:ext cx="887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40206" y="3150692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5" y="974852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075" y="1152867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7074" y="1330883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7073" y="1508898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7072" y="1838743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-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80000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implementation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1319" y="734064"/>
            <a:ext cx="5284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Parameter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definition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182" y="921676"/>
            <a:ext cx="48712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particles,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181" y="1099692"/>
            <a:ext cx="487121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formula,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PSO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181" y="1277707"/>
            <a:ext cx="487121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parameters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required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formula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179" y="1455723"/>
            <a:ext cx="48712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function,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how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decide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position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better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than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179" y="1607551"/>
            <a:ext cx="48712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others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179" y="1785568"/>
            <a:ext cx="48712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condition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4709" y="1974230"/>
            <a:ext cx="53106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2.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98309" y="3150916"/>
            <a:ext cx="887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40206" y="3150692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5" y="974852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075" y="1152867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7074" y="1330883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7073" y="1508898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7072" y="1838743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-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80000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implementation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1319" y="734064"/>
            <a:ext cx="5284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Parameter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definition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182" y="921676"/>
            <a:ext cx="48712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particles,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181" y="1099692"/>
            <a:ext cx="487121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formula,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PSO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181" y="1277707"/>
            <a:ext cx="487121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parameters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required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formula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179" y="1455723"/>
            <a:ext cx="48712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function,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how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decide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position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better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than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179" y="1607551"/>
            <a:ext cx="48712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others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179" y="1785568"/>
            <a:ext cx="48712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condition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4709" y="1974230"/>
            <a:ext cx="53106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2.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2906" y="2152246"/>
            <a:ext cx="53124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3.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8309" y="3150916"/>
            <a:ext cx="887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40206" y="3150692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5" y="974852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075" y="1152867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7074" y="1330883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7073" y="1508898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7072" y="1838743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-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80000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implementation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1319" y="734064"/>
            <a:ext cx="5284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Parameter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definition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182" y="921676"/>
            <a:ext cx="48712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particles,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181" y="1099692"/>
            <a:ext cx="487121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formula,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PSO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181" y="1277707"/>
            <a:ext cx="487121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parameters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required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formula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179" y="1455723"/>
            <a:ext cx="48712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function,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how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decide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position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better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than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179" y="1607551"/>
            <a:ext cx="48712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others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179" y="1785568"/>
            <a:ext cx="48712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condition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4709" y="1974230"/>
            <a:ext cx="53106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2.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2906" y="2152246"/>
            <a:ext cx="53124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3.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8385" y="2339858"/>
            <a:ext cx="50670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3.1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loop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particles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neighbourhood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98309" y="3150916"/>
            <a:ext cx="887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40206" y="3150692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5" y="974852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075" y="1152867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7074" y="1330883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7073" y="1508898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7072" y="1838743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-2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80002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implementation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1319" y="734064"/>
            <a:ext cx="5284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Parameter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definition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182" y="921676"/>
            <a:ext cx="48712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particles,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181" y="1099692"/>
            <a:ext cx="487121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formula,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PSO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181" y="1277707"/>
            <a:ext cx="487121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parameters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required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formula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179" y="1455723"/>
            <a:ext cx="48712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function,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how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decide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position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better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than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179" y="1607551"/>
            <a:ext cx="48712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others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179" y="1785568"/>
            <a:ext cx="48712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condition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4709" y="1974230"/>
            <a:ext cx="53106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2.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2906" y="2152246"/>
            <a:ext cx="53124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3.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8385" y="2339858"/>
            <a:ext cx="50670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3.1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loop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particles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neighbourhood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4090" y="2517873"/>
            <a:ext cx="509130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3.2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loop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particles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98311" y="3150916"/>
            <a:ext cx="8870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40207" y="3150692"/>
            <a:ext cx="1451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4372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39218" y="3150693"/>
            <a:ext cx="146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Local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922818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8313" y="3150916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39370" y="3150692"/>
            <a:ext cx="146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Local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922818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8" y="1180933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smaller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neighbourhood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313" y="3150916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39370" y="3150692"/>
            <a:ext cx="146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Local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922818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8" y="1180933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smaller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neighbourhood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8" y="1439035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7" y="1794583"/>
            <a:ext cx="46972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313" y="3150916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39370" y="3150692"/>
            <a:ext cx="1460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6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Local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922818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8" y="1180933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smaller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neighbourhood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8" y="1439035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7" y="1794583"/>
            <a:ext cx="46972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7" y="2105308"/>
            <a:ext cx="514829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exception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8" y="2277380"/>
            <a:ext cx="514829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neighbourhood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8316" y="3150916"/>
            <a:ext cx="8870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39373" y="3150692"/>
            <a:ext cx="1460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90639" y="1476759"/>
            <a:ext cx="0" cy="794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965200" y="1447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588069" y="1792158"/>
            <a:ext cx="0" cy="794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562100" y="1854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645219" y="1792158"/>
            <a:ext cx="0" cy="22202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628900" y="1993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1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4290489" y="1438917"/>
            <a:ext cx="0" cy="1172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4267200" y="1409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734859" y="1792158"/>
            <a:ext cx="5115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451594" y="1792158"/>
            <a:ext cx="27295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29720" y="1792158"/>
            <a:ext cx="143099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565893" y="1792158"/>
            <a:ext cx="144919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1662750" y="1726014"/>
            <a:ext cx="266970" cy="18005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638300" y="1879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3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H="1" flipV="1">
            <a:off x="2192627" y="1424045"/>
            <a:ext cx="21951" cy="13215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171700" y="139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0"/>
                </a:moveTo>
                <a:lnTo>
                  <a:pt x="0" y="4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673875" y="1792158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654300" y="2120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3082776" y="1214679"/>
            <a:ext cx="45867" cy="34151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111500" y="119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>
            <a:off x="3298923" y="1726014"/>
            <a:ext cx="266970" cy="18005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276600" y="1879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3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 flipV="1">
            <a:off x="3708625" y="1317388"/>
            <a:ext cx="108245" cy="238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695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0"/>
                </a:moveTo>
                <a:lnTo>
                  <a:pt x="0" y="3"/>
                </a:lnTo>
                <a:lnTo>
                  <a:pt x="1" y="2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319145" y="1795072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292600" y="2120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H="1" flipV="1">
            <a:off x="4583295" y="1421294"/>
            <a:ext cx="73626" cy="1349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4572000" y="139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0"/>
                </a:moveTo>
                <a:lnTo>
                  <a:pt x="0" y="4"/>
                </a:lnTo>
                <a:lnTo>
                  <a:pt x="1" y="2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Local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7387" y="1585343"/>
            <a:ext cx="50480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2749" y="1265902"/>
            <a:ext cx="517264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29753" y="1938646"/>
            <a:ext cx="465564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23769" y="2084201"/>
            <a:ext cx="36616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77770" y="2256273"/>
            <a:ext cx="35076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77145" y="1055984"/>
            <a:ext cx="220825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neighbourhood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23017" y="1228056"/>
            <a:ext cx="18623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70838" y="1961951"/>
            <a:ext cx="50145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18234" y="2134036"/>
            <a:ext cx="466716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28037" y="1044985"/>
            <a:ext cx="40573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42820" y="1217058"/>
            <a:ext cx="37425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037574" y="2200495"/>
            <a:ext cx="374782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695460" y="1004053"/>
            <a:ext cx="308993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406979" y="1961951"/>
            <a:ext cx="33784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754388" y="2134036"/>
            <a:ext cx="303100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80892" y="940249"/>
            <a:ext cx="26045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495674" y="1112321"/>
            <a:ext cx="228972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490937" y="2203403"/>
            <a:ext cx="22944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neighbourhood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66336" y="1213527"/>
            <a:ext cx="17190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38685" y="3150693"/>
            <a:ext cx="146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90639" y="1476759"/>
            <a:ext cx="0" cy="794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965200" y="1447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588069" y="1792158"/>
            <a:ext cx="0" cy="794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562100" y="1854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645219" y="1792158"/>
            <a:ext cx="0" cy="22202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628900" y="1993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1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4290489" y="1438917"/>
            <a:ext cx="0" cy="1172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4267200" y="1409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734859" y="1792158"/>
            <a:ext cx="5115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451594" y="1792158"/>
            <a:ext cx="27295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29720" y="1792158"/>
            <a:ext cx="143099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565893" y="1792158"/>
            <a:ext cx="144919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1662750" y="1726014"/>
            <a:ext cx="266970" cy="18005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638300" y="1879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3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H="1" flipV="1">
            <a:off x="2192627" y="1424045"/>
            <a:ext cx="21951" cy="13215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171700" y="139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0"/>
                </a:moveTo>
                <a:lnTo>
                  <a:pt x="0" y="4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673875" y="1792158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654300" y="2120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3082776" y="1214679"/>
            <a:ext cx="45867" cy="34151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111500" y="119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>
            <a:off x="3298923" y="1726014"/>
            <a:ext cx="266970" cy="18005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276600" y="1879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3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 flipV="1">
            <a:off x="3708625" y="1317388"/>
            <a:ext cx="108245" cy="238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695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0"/>
                </a:moveTo>
                <a:lnTo>
                  <a:pt x="0" y="3"/>
                </a:lnTo>
                <a:lnTo>
                  <a:pt x="1" y="2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319145" y="1795072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292600" y="2120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H="1" flipV="1">
            <a:off x="4583295" y="1421294"/>
            <a:ext cx="73626" cy="1349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4572000" y="139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0"/>
                </a:moveTo>
                <a:lnTo>
                  <a:pt x="0" y="4"/>
                </a:lnTo>
                <a:lnTo>
                  <a:pt x="1" y="2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Local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7387" y="1585343"/>
            <a:ext cx="50480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2749" y="1265902"/>
            <a:ext cx="517264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29753" y="1938646"/>
            <a:ext cx="465564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23769" y="2084201"/>
            <a:ext cx="36616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77770" y="2256273"/>
            <a:ext cx="35076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77145" y="1055984"/>
            <a:ext cx="220825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neighbourhood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23017" y="1228056"/>
            <a:ext cx="18623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70838" y="1961951"/>
            <a:ext cx="50145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18234" y="2134036"/>
            <a:ext cx="466716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28037" y="1044985"/>
            <a:ext cx="40573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42820" y="1217058"/>
            <a:ext cx="37425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037574" y="2200495"/>
            <a:ext cx="374782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695460" y="1004053"/>
            <a:ext cx="308993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406979" y="1961951"/>
            <a:ext cx="33784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754388" y="2134036"/>
            <a:ext cx="303100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80892" y="940249"/>
            <a:ext cx="26045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495674" y="1112321"/>
            <a:ext cx="228972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490937" y="2203403"/>
            <a:ext cx="22944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neighbourhood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66336" y="1213527"/>
            <a:ext cx="17190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38685" y="3150693"/>
            <a:ext cx="146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90639" y="1476759"/>
            <a:ext cx="0" cy="794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965200" y="1447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4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588069" y="1792158"/>
            <a:ext cx="0" cy="794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562100" y="1854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645219" y="1792158"/>
            <a:ext cx="0" cy="22202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628900" y="1993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1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4290489" y="1438917"/>
            <a:ext cx="0" cy="11727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4267200" y="1409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734859" y="1792158"/>
            <a:ext cx="51156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451594" y="1792158"/>
            <a:ext cx="27295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29720" y="1792158"/>
            <a:ext cx="143099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565893" y="1792158"/>
            <a:ext cx="144919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1662750" y="1726014"/>
            <a:ext cx="266970" cy="18005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638300" y="1879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3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H="1" flipV="1">
            <a:off x="2192627" y="1424045"/>
            <a:ext cx="21951" cy="13215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171700" y="139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0"/>
                </a:moveTo>
                <a:lnTo>
                  <a:pt x="0" y="4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673875" y="1792158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654300" y="2120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3082776" y="1214679"/>
            <a:ext cx="45867" cy="34151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3111500" y="119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>
            <a:off x="3298923" y="1726014"/>
            <a:ext cx="266970" cy="18005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276600" y="1879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3"/>
                </a:moveTo>
                <a:lnTo>
                  <a:pt x="4" y="3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 flipV="1">
            <a:off x="3708625" y="1317388"/>
            <a:ext cx="108245" cy="2388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36957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0"/>
                </a:moveTo>
                <a:lnTo>
                  <a:pt x="0" y="3"/>
                </a:lnTo>
                <a:lnTo>
                  <a:pt x="1" y="2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319145" y="1795072"/>
            <a:ext cx="0" cy="3412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292600" y="2120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H="1" flipV="1">
            <a:off x="4583295" y="1421294"/>
            <a:ext cx="73626" cy="1349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4572000" y="139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0"/>
                </a:moveTo>
                <a:lnTo>
                  <a:pt x="0" y="4"/>
                </a:lnTo>
                <a:lnTo>
                  <a:pt x="1" y="2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Local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7387" y="1585343"/>
            <a:ext cx="50480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2749" y="1265902"/>
            <a:ext cx="517264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29753" y="1938646"/>
            <a:ext cx="465564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23769" y="2084201"/>
            <a:ext cx="36616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77770" y="2256273"/>
            <a:ext cx="35076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77145" y="1055984"/>
            <a:ext cx="220825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Effect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neighbourhood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23017" y="1228056"/>
            <a:ext cx="18623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70838" y="1961951"/>
            <a:ext cx="50145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18234" y="2134036"/>
            <a:ext cx="466716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28037" y="1044985"/>
            <a:ext cx="40573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42820" y="1217058"/>
            <a:ext cx="37425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037574" y="2200495"/>
            <a:ext cx="374782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695460" y="1004053"/>
            <a:ext cx="308993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406979" y="1961951"/>
            <a:ext cx="33784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acceleration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754388" y="2134036"/>
            <a:ext cx="303100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80892" y="940249"/>
            <a:ext cx="26045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495674" y="1112321"/>
            <a:ext cx="228972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(0,1)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490937" y="2203403"/>
            <a:ext cx="229445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neighbourhood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66336" y="1213527"/>
            <a:ext cx="17190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current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38685" y="3150693"/>
            <a:ext cx="146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645223"/>
            <a:ext cx="5039995" cy="0"/>
          </a:xfrm>
          <a:prstGeom prst="line">
            <a:avLst/>
          </a:prstGeom>
          <a:ln w="1012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59993" y="840930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59996" y="2774951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6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Local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736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550" y="861800"/>
            <a:ext cx="52868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Create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-dimensional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8316" y="3150919"/>
            <a:ext cx="8870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38535" y="3150695"/>
            <a:ext cx="1468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645223"/>
            <a:ext cx="5039995" cy="0"/>
          </a:xfrm>
          <a:prstGeom prst="line">
            <a:avLst/>
          </a:prstGeom>
          <a:ln w="1012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59993" y="840930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59996" y="2774949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6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Local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736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550" y="861800"/>
            <a:ext cx="52868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Create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-dimensional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551" y="1034282"/>
            <a:ext cx="52868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8552" y="2582548"/>
            <a:ext cx="52868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8316" y="3150917"/>
            <a:ext cx="8870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38535" y="3150693"/>
            <a:ext cx="1468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645223"/>
            <a:ext cx="5039995" cy="0"/>
          </a:xfrm>
          <a:prstGeom prst="line">
            <a:avLst/>
          </a:prstGeom>
          <a:ln w="1012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59993" y="840930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59996" y="2774952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6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Local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736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550" y="861800"/>
            <a:ext cx="52868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Create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-dimensional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551" y="1034282"/>
            <a:ext cx="52868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6362" y="1205957"/>
            <a:ext cx="50790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6363" y="1722584"/>
            <a:ext cx="50790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8552" y="2582551"/>
            <a:ext cx="52868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8316" y="3150920"/>
            <a:ext cx="8870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38535" y="3150696"/>
            <a:ext cx="1468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645223"/>
            <a:ext cx="5039995" cy="0"/>
          </a:xfrm>
          <a:prstGeom prst="line">
            <a:avLst/>
          </a:prstGeom>
          <a:ln w="1012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59993" y="840930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59996" y="2774949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6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Local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736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550" y="861800"/>
            <a:ext cx="52868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Create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-dimensional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551" y="1034282"/>
            <a:ext cx="52868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6362" y="1205957"/>
            <a:ext cx="50790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185" y="1378030"/>
            <a:ext cx="4871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6363" y="1722583"/>
            <a:ext cx="50790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8552" y="2582548"/>
            <a:ext cx="52868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8316" y="3150917"/>
            <a:ext cx="8870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38535" y="3150693"/>
            <a:ext cx="1468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645223"/>
            <a:ext cx="5039995" cy="0"/>
          </a:xfrm>
          <a:prstGeom prst="line">
            <a:avLst/>
          </a:prstGeom>
          <a:ln w="1012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59993" y="840930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59996" y="2774952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6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Local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736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550" y="861800"/>
            <a:ext cx="52868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Create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-dimensional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551" y="1034282"/>
            <a:ext cx="52868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6362" y="1205957"/>
            <a:ext cx="50790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185" y="1378030"/>
            <a:ext cx="4871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186" y="1550102"/>
            <a:ext cx="48712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neighbourhood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6363" y="1722584"/>
            <a:ext cx="50790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8552" y="2582551"/>
            <a:ext cx="52868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98316" y="3150920"/>
            <a:ext cx="8870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38535" y="3150696"/>
            <a:ext cx="1468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645223"/>
            <a:ext cx="5039995" cy="0"/>
          </a:xfrm>
          <a:prstGeom prst="line">
            <a:avLst/>
          </a:prstGeom>
          <a:ln w="1012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59993" y="840930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59996" y="2774949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6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Local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736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550" y="861800"/>
            <a:ext cx="52868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Create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-dimensional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551" y="1034282"/>
            <a:ext cx="52868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6362" y="1205957"/>
            <a:ext cx="50790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185" y="1378030"/>
            <a:ext cx="4871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186" y="1550102"/>
            <a:ext cx="48712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neighbourhood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6363" y="1722584"/>
            <a:ext cx="50790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6362" y="1894248"/>
            <a:ext cx="50790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6363" y="2410886"/>
            <a:ext cx="50790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8552" y="2582549"/>
            <a:ext cx="52868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98316" y="3150917"/>
            <a:ext cx="8870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38535" y="3150693"/>
            <a:ext cx="1468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645223"/>
            <a:ext cx="5039995" cy="0"/>
          </a:xfrm>
          <a:prstGeom prst="line">
            <a:avLst/>
          </a:prstGeom>
          <a:ln w="1012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59993" y="840930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59996" y="2774949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6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Local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736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550" y="861800"/>
            <a:ext cx="52868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Create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-dimensional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551" y="1034282"/>
            <a:ext cx="52868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6362" y="1205957"/>
            <a:ext cx="50790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185" y="1378030"/>
            <a:ext cx="4871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186" y="1550102"/>
            <a:ext cx="48712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neighbourhood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6363" y="1722584"/>
            <a:ext cx="50790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6362" y="1894248"/>
            <a:ext cx="50790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185" y="2066333"/>
            <a:ext cx="4871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6363" y="2410886"/>
            <a:ext cx="50790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8552" y="2582549"/>
            <a:ext cx="52868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8316" y="3150917"/>
            <a:ext cx="8870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38535" y="3150693"/>
            <a:ext cx="1468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645223"/>
            <a:ext cx="5039995" cy="0"/>
          </a:xfrm>
          <a:prstGeom prst="line">
            <a:avLst/>
          </a:prstGeom>
          <a:ln w="1012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59993" y="840930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59996" y="2774949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6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Local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7368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550" y="861800"/>
            <a:ext cx="52868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Create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-dimensional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551" y="1034282"/>
            <a:ext cx="52868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6362" y="1205957"/>
            <a:ext cx="50790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185" y="1378030"/>
            <a:ext cx="4871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186" y="1550102"/>
            <a:ext cx="48712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neighbourhood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6363" y="1722584"/>
            <a:ext cx="50790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6362" y="1894248"/>
            <a:ext cx="50790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185" y="2066333"/>
            <a:ext cx="4871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185" y="2238404"/>
            <a:ext cx="48712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6363" y="2410885"/>
            <a:ext cx="50790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8552" y="2582548"/>
            <a:ext cx="52868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98316" y="3150917"/>
            <a:ext cx="8870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38535" y="3150693"/>
            <a:ext cx="1468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213459" y="1203794"/>
            <a:ext cx="209016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416151" y="1203794"/>
            <a:ext cx="8252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492351" y="1203794"/>
            <a:ext cx="164960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654149" y="1203794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693519" y="1203794"/>
            <a:ext cx="1084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795627" y="1203794"/>
            <a:ext cx="29380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6613786" y="-23508242"/>
            <a:ext cx="21262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6820083" y="-23508242"/>
            <a:ext cx="191148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7008069" y="-23508242"/>
            <a:ext cx="4253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7047440" y="-23508242"/>
            <a:ext cx="19752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238625" y="-23508242"/>
            <a:ext cx="3750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7269802" y="-23508242"/>
            <a:ext cx="162331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7425798" y="-23508242"/>
            <a:ext cx="145427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Local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Definition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of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neighbourhood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of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particle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0057" y="1034159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indices.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neighbourhood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7094" y="124998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neighbourhood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7094" y="151042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597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597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+1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. . . 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+1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. . . 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597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98313" y="3150918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42558" y="3150694"/>
            <a:ext cx="1428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213459" y="1203794"/>
            <a:ext cx="209016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416151" y="1203794"/>
            <a:ext cx="82524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492351" y="1203794"/>
            <a:ext cx="164960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654149" y="1203794"/>
            <a:ext cx="425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693519" y="1203794"/>
            <a:ext cx="10843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795627" y="1203794"/>
            <a:ext cx="293802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213457" y="1892084"/>
            <a:ext cx="21262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419756" y="1892084"/>
            <a:ext cx="191148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607741" y="1892084"/>
            <a:ext cx="4253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647111" y="1892084"/>
            <a:ext cx="19752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838297" y="1892084"/>
            <a:ext cx="37503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869476" y="1892084"/>
            <a:ext cx="162331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025470" y="1892084"/>
            <a:ext cx="145427" cy="0"/>
          </a:xfrm>
          <a:prstGeom prst="line">
            <a:avLst/>
          </a:prstGeom>
          <a:ln w="523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Local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Definition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of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neighbourhood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of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particle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0057" y="1034159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indices.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neighbourhood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7094" y="124998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neighbourhood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7094" y="151042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597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597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+1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. . . 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+1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. . . , 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597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0055" y="1722462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spatial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similarity.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Neighbourhood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7093" y="1938291"/>
            <a:ext cx="51483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(Euclidean)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certain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proximity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7093" y="2110364"/>
            <a:ext cx="51483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included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neighbourhood.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98311" y="3150918"/>
            <a:ext cx="8870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42557" y="3150694"/>
            <a:ext cx="1428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Global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local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1343887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converges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faster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diversity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8313" y="3150918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39675" y="3150694"/>
            <a:ext cx="1457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Global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vs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local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best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1343887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converges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faster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diversity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60200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larger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diversity,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possible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trapped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minima.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313" y="3150918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39675" y="3150694"/>
            <a:ext cx="1457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Termination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conditions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7467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criteria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8313" y="3150916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38532" y="3150692"/>
            <a:ext cx="1468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Termination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conditions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7467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criteria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18902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iterations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exceeded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313" y="3150916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38532" y="3150692"/>
            <a:ext cx="1468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Termination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conditions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7467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criteria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18902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iterations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exceeded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447137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acceptable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found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8313" y="3150916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38532" y="3150692"/>
            <a:ext cx="1468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Termination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conditions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7467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criteria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18902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iterations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exceeded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447137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acceptable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found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7" y="1705252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improvement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observed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313" y="3150916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38532" y="3150692"/>
            <a:ext cx="1468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Termination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conditions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7467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criteria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18902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iterations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exceeded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447137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acceptable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found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7" y="1705252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improvement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observed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196336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close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together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8313" y="3150916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38532" y="3150692"/>
            <a:ext cx="1468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Termination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conditions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7467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criteria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18902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iterations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exceeded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447137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acceptable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found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7" y="1705252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improvement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observed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196336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close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together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7" y="2221468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change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approximately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zero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8313" y="3150916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38532" y="3150692"/>
            <a:ext cx="1468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4663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Variants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tweak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aspects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41872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algorithm.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313" y="3150916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17133" y="3150692"/>
            <a:ext cx="1682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4663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Variants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tweak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aspects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41872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algorithm.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67682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reduce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possibility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flying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search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space,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clamping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84890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introduced.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limits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[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Josefin Sans"/>
              </a:rPr>
              <a:t>max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v</a:t>
            </a:r>
            <a:r>
              <a:rPr sz="797" b="0">
                <a:solidFill>
                  <a:srgbClr val="000000"/>
                </a:solidFill>
                <a:latin typeface="Josefin Sans"/>
              </a:rPr>
              <a:t>max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]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313" y="3150916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17133" y="3150692"/>
            <a:ext cx="1682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20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3215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equation,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591" y="1243937"/>
            <a:ext cx="48358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313" y="3150916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40209" y="3150692"/>
            <a:ext cx="1451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0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3215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equation,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591" y="1243937"/>
            <a:ext cx="48358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55466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without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memory,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8309" y="3150916"/>
            <a:ext cx="887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40206" y="3150692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0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3215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equation,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591" y="1243937"/>
            <a:ext cx="48358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55466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without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memory,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29811" y="1812776"/>
            <a:ext cx="30555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converges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309" y="3150916"/>
            <a:ext cx="887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40206" y="3150692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0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3215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equation,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591" y="1243937"/>
            <a:ext cx="48358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55466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without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memory,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29811" y="1812776"/>
            <a:ext cx="30555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converges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2070890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memory,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8309" y="3150916"/>
            <a:ext cx="887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40206" y="3150692"/>
            <a:ext cx="1451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3215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equation,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591" y="1243937"/>
            <a:ext cx="48358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55466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without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memory,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29811" y="1812776"/>
            <a:ext cx="30555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converges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2070890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memory,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70045" y="2329005"/>
            <a:ext cx="331535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expands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8311" y="3150916"/>
            <a:ext cx="8870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40207" y="3150692"/>
            <a:ext cx="1451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30504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Inertia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weight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control/balance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behaviour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8311" y="3150917"/>
            <a:ext cx="8870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5627" y="3150693"/>
            <a:ext cx="1597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30504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Inertia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weight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control/balance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behaviour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8142" y="1616822"/>
            <a:ext cx="488725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313" y="3150917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5629" y="3150693"/>
            <a:ext cx="1597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025644" y="-23510896"/>
            <a:ext cx="1166496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676662" y="-23483197"/>
            <a:ext cx="476987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85611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Alternatively,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constriction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factor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χ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control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behaviour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8313" y="3150918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4638" y="3150694"/>
            <a:ext cx="1607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23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025644" y="-23510896"/>
            <a:ext cx="1166496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676662" y="-23483197"/>
            <a:ext cx="476987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85611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Alternatively,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constriction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factor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χ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control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behaviour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6980" y="1167889"/>
            <a:ext cx="49484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χ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{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313" y="3150918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4638" y="3150694"/>
            <a:ext cx="1607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25318" y="1889430"/>
            <a:ext cx="1166495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276332" y="1917128"/>
            <a:ext cx="476986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85611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Alternatively,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constriction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factor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χ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control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behaviour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6980" y="1167889"/>
            <a:ext cx="49484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χ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{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53005" y="1813462"/>
            <a:ext cx="38323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χ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=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73919" y="1722059"/>
            <a:ext cx="26114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5318" y="1926651"/>
            <a:ext cx="31600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|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60876" y="1809836"/>
            <a:ext cx="26245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76332" y="1886633"/>
            <a:ext cx="25090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|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56917" y="2131826"/>
            <a:ext cx="37284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 &gt;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8313" y="3150918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24638" y="3150694"/>
            <a:ext cx="1607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25318" y="1889430"/>
            <a:ext cx="1166495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276332" y="1917128"/>
            <a:ext cx="476986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85611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Alternatively,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constriction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factor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χ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control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behaviour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6980" y="1167889"/>
            <a:ext cx="49484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χ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{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53005" y="1813462"/>
            <a:ext cx="38323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χ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=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73919" y="1722059"/>
            <a:ext cx="26114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5318" y="1926651"/>
            <a:ext cx="31600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|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60876" y="1809836"/>
            <a:ext cx="26245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76332" y="1886633"/>
            <a:ext cx="25090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4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|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56917" y="2131826"/>
            <a:ext cx="37284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 &gt;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9993" y="244307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constriction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factor,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clamping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needed.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98313" y="3150918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24638" y="3150694"/>
            <a:ext cx="1607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23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Cognition-only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model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3570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Cognition-only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model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313" y="3150917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5934" y="3150693"/>
            <a:ext cx="1594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Cognition-only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model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3570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Cognition-only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model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4" y="1393409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4" y="1565481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becomes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313" y="3150917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5934" y="3150693"/>
            <a:ext cx="1594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Cognition-only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model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3570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Cognition-only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model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4" y="1393409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4" y="1565481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becomes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79575" y="1877260"/>
            <a:ext cx="410582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8314" y="3150917"/>
            <a:ext cx="8870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5935" y="3150693"/>
            <a:ext cx="1594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0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Social-only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model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3338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Social-only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model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309" y="3150917"/>
            <a:ext cx="887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4102" y="3150693"/>
            <a:ext cx="1612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0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Social-only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model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3338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Social-only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model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2" y="1391085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2" y="1563157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becomes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309" y="3150919"/>
            <a:ext cx="887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4102" y="3150695"/>
            <a:ext cx="1612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Social-only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model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3338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Social-only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model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2" y="1391085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global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personal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velocity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2" y="1563157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becomes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70466" y="1874936"/>
            <a:ext cx="411492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v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α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8311" y="3150917"/>
            <a:ext cx="8870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4103" y="3150693"/>
            <a:ext cx="161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Selfless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model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1923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Selfless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model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311" y="3150918"/>
            <a:ext cx="8870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951" y="3150694"/>
            <a:ext cx="1614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26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Selfless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model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1923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Selfless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model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2" y="1576937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basically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social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model,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2" y="1749010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neighbourhood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itself.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311" y="3150918"/>
            <a:ext cx="8870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951" y="3150694"/>
            <a:ext cx="1614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26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6530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Problem: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15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assuming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8765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integers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1319" y="1645772"/>
            <a:ext cx="5284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4712" y="1903874"/>
            <a:ext cx="53106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2.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lbest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7979" y="3150693"/>
            <a:ext cx="1574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27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7405192" y="-23671076"/>
            <a:ext cx="2533166" cy="1472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405192" y="-23480453"/>
            <a:ext cx="288004" cy="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7693196" y="-23480453"/>
            <a:ext cx="935323" cy="540007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8628519" y="-23480453"/>
            <a:ext cx="935319" cy="540007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9563838" y="-23480453"/>
            <a:ext cx="374520" cy="1472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8053202" y="-23480453"/>
            <a:ext cx="575217" cy="332104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628419" y="-23480453"/>
            <a:ext cx="575417" cy="332104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8053202" y="-23480453"/>
            <a:ext cx="1150634" cy="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26898600" y="-237109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6"/>
                </a:moveTo>
                <a:lnTo>
                  <a:pt x="10" y="5"/>
                </a:ln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1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26720800" y="-237109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6"/>
                </a:moveTo>
                <a:lnTo>
                  <a:pt x="10" y="5"/>
                </a:lnTo>
                <a:lnTo>
                  <a:pt x="10" y="4"/>
                </a:lnTo>
                <a:lnTo>
                  <a:pt x="9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1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26543000" y="-237109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6"/>
                </a:moveTo>
                <a:lnTo>
                  <a:pt x="10" y="5"/>
                </a:lnTo>
                <a:lnTo>
                  <a:pt x="10" y="4"/>
                </a:lnTo>
                <a:lnTo>
                  <a:pt x="9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1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26911300" y="-23520400"/>
            <a:ext cx="101600" cy="114300"/>
          </a:xfrm>
          <a:custGeom>
            <a:avLst/>
            <a:gdLst/>
            <a:ahLst/>
            <a:cxnLst/>
            <a:rect l="l" t="t" r="r" b="b"/>
            <a:pathLst>
              <a:path w="8" h="9">
                <a:moveTo>
                  <a:pt x="4" y="0"/>
                </a:moveTo>
                <a:lnTo>
                  <a:pt x="2" y="3"/>
                </a:lnTo>
                <a:lnTo>
                  <a:pt x="0" y="5"/>
                </a:lnTo>
                <a:lnTo>
                  <a:pt x="2" y="7"/>
                </a:lnTo>
                <a:lnTo>
                  <a:pt x="4" y="9"/>
                </a:lnTo>
                <a:lnTo>
                  <a:pt x="6" y="7"/>
                </a:lnTo>
                <a:lnTo>
                  <a:pt x="8" y="5"/>
                </a:lnTo>
                <a:lnTo>
                  <a:pt x="6" y="3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6733500" y="-23520400"/>
            <a:ext cx="101600" cy="114300"/>
          </a:xfrm>
          <a:custGeom>
            <a:avLst/>
            <a:gdLst/>
            <a:ahLst/>
            <a:cxnLst/>
            <a:rect l="l" t="t" r="r" b="b"/>
            <a:pathLst>
              <a:path w="8" h="9">
                <a:moveTo>
                  <a:pt x="4" y="0"/>
                </a:moveTo>
                <a:lnTo>
                  <a:pt x="2" y="3"/>
                </a:lnTo>
                <a:lnTo>
                  <a:pt x="0" y="5"/>
                </a:lnTo>
                <a:lnTo>
                  <a:pt x="2" y="7"/>
                </a:lnTo>
                <a:lnTo>
                  <a:pt x="4" y="9"/>
                </a:lnTo>
                <a:lnTo>
                  <a:pt x="6" y="7"/>
                </a:lnTo>
                <a:lnTo>
                  <a:pt x="8" y="5"/>
                </a:lnTo>
                <a:lnTo>
                  <a:pt x="6" y="3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6555700" y="-23520400"/>
            <a:ext cx="101600" cy="114300"/>
          </a:xfrm>
          <a:custGeom>
            <a:avLst/>
            <a:gdLst/>
            <a:ahLst/>
            <a:cxnLst/>
            <a:rect l="l" t="t" r="r" b="b"/>
            <a:pathLst>
              <a:path w="8" h="9">
                <a:moveTo>
                  <a:pt x="4" y="0"/>
                </a:moveTo>
                <a:lnTo>
                  <a:pt x="2" y="3"/>
                </a:lnTo>
                <a:lnTo>
                  <a:pt x="0" y="5"/>
                </a:lnTo>
                <a:lnTo>
                  <a:pt x="2" y="7"/>
                </a:lnTo>
                <a:lnTo>
                  <a:pt x="4" y="9"/>
                </a:lnTo>
                <a:lnTo>
                  <a:pt x="6" y="7"/>
                </a:lnTo>
                <a:lnTo>
                  <a:pt x="8" y="5"/>
                </a:lnTo>
                <a:lnTo>
                  <a:pt x="6" y="3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3146738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80003" y="3146738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Ant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colony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optimisation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(ACO)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Background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0057" y="880388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efficient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bringing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back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(foraging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behaviour).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98313" y="3150913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25096" y="3150689"/>
            <a:ext cx="1602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28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7405192" y="-23671074"/>
            <a:ext cx="2533166" cy="1472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405192" y="-23480452"/>
            <a:ext cx="288004" cy="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7693196" y="-23480452"/>
            <a:ext cx="935323" cy="540008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8628519" y="-23480452"/>
            <a:ext cx="935319" cy="540008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9563838" y="-23480452"/>
            <a:ext cx="374520" cy="1472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8053202" y="-23480452"/>
            <a:ext cx="575217" cy="332104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628419" y="-23480452"/>
            <a:ext cx="575417" cy="332104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8053202" y="-23480452"/>
            <a:ext cx="1150634" cy="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26898600" y="-237109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6"/>
                </a:moveTo>
                <a:lnTo>
                  <a:pt x="10" y="5"/>
                </a:ln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1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26720800" y="-237109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6"/>
                </a:moveTo>
                <a:lnTo>
                  <a:pt x="10" y="5"/>
                </a:lnTo>
                <a:lnTo>
                  <a:pt x="10" y="4"/>
                </a:lnTo>
                <a:lnTo>
                  <a:pt x="9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1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26543000" y="-237109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6"/>
                </a:moveTo>
                <a:lnTo>
                  <a:pt x="10" y="5"/>
                </a:lnTo>
                <a:lnTo>
                  <a:pt x="10" y="4"/>
                </a:lnTo>
                <a:lnTo>
                  <a:pt x="9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1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26911300" y="-23520400"/>
            <a:ext cx="101600" cy="114300"/>
          </a:xfrm>
          <a:custGeom>
            <a:avLst/>
            <a:gdLst/>
            <a:ahLst/>
            <a:cxnLst/>
            <a:rect l="l" t="t" r="r" b="b"/>
            <a:pathLst>
              <a:path w="8" h="9">
                <a:moveTo>
                  <a:pt x="4" y="0"/>
                </a:moveTo>
                <a:lnTo>
                  <a:pt x="2" y="3"/>
                </a:lnTo>
                <a:lnTo>
                  <a:pt x="0" y="5"/>
                </a:lnTo>
                <a:lnTo>
                  <a:pt x="2" y="7"/>
                </a:lnTo>
                <a:lnTo>
                  <a:pt x="4" y="9"/>
                </a:lnTo>
                <a:lnTo>
                  <a:pt x="6" y="7"/>
                </a:lnTo>
                <a:lnTo>
                  <a:pt x="8" y="5"/>
                </a:lnTo>
                <a:lnTo>
                  <a:pt x="6" y="3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6733500" y="-23520400"/>
            <a:ext cx="101600" cy="114300"/>
          </a:xfrm>
          <a:custGeom>
            <a:avLst/>
            <a:gdLst/>
            <a:ahLst/>
            <a:cxnLst/>
            <a:rect l="l" t="t" r="r" b="b"/>
            <a:pathLst>
              <a:path w="8" h="9">
                <a:moveTo>
                  <a:pt x="4" y="0"/>
                </a:moveTo>
                <a:lnTo>
                  <a:pt x="2" y="3"/>
                </a:lnTo>
                <a:lnTo>
                  <a:pt x="0" y="5"/>
                </a:lnTo>
                <a:lnTo>
                  <a:pt x="2" y="7"/>
                </a:lnTo>
                <a:lnTo>
                  <a:pt x="4" y="9"/>
                </a:lnTo>
                <a:lnTo>
                  <a:pt x="6" y="7"/>
                </a:lnTo>
                <a:lnTo>
                  <a:pt x="8" y="5"/>
                </a:lnTo>
                <a:lnTo>
                  <a:pt x="6" y="3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6555700" y="-23520400"/>
            <a:ext cx="101600" cy="114300"/>
          </a:xfrm>
          <a:custGeom>
            <a:avLst/>
            <a:gdLst/>
            <a:ahLst/>
            <a:cxnLst/>
            <a:rect l="l" t="t" r="r" b="b"/>
            <a:pathLst>
              <a:path w="8" h="9">
                <a:moveTo>
                  <a:pt x="4" y="0"/>
                </a:moveTo>
                <a:lnTo>
                  <a:pt x="2" y="3"/>
                </a:lnTo>
                <a:lnTo>
                  <a:pt x="0" y="5"/>
                </a:lnTo>
                <a:lnTo>
                  <a:pt x="2" y="7"/>
                </a:lnTo>
                <a:lnTo>
                  <a:pt x="4" y="9"/>
                </a:lnTo>
                <a:lnTo>
                  <a:pt x="6" y="7"/>
                </a:lnTo>
                <a:lnTo>
                  <a:pt x="8" y="5"/>
                </a:lnTo>
                <a:lnTo>
                  <a:pt x="6" y="3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80003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Ant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colony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optimisation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(ACO)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Background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0057" y="880388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efficient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bringing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back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(foraging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behaviour).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0055" y="1138502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left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behind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chemical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along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7093" y="1354331"/>
            <a:ext cx="51483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follow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concentration.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98313" y="3150919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25096" y="3150695"/>
            <a:ext cx="1602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28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004863" y="1729252"/>
            <a:ext cx="2533166" cy="14721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004863" y="1919875"/>
            <a:ext cx="288005" cy="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292868" y="1919875"/>
            <a:ext cx="935321" cy="540007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228189" y="1919875"/>
            <a:ext cx="935322" cy="540007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163511" y="1919875"/>
            <a:ext cx="374518" cy="14721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652872" y="1919875"/>
            <a:ext cx="575218" cy="332104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228090" y="1919875"/>
            <a:ext cx="575416" cy="332104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652872" y="1919875"/>
            <a:ext cx="1150634" cy="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1498600" y="16891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6"/>
                </a:moveTo>
                <a:lnTo>
                  <a:pt x="10" y="5"/>
                </a:lnTo>
                <a:lnTo>
                  <a:pt x="10" y="4"/>
                </a:lnTo>
                <a:lnTo>
                  <a:pt x="9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1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8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1320800" y="16891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6"/>
                </a:moveTo>
                <a:lnTo>
                  <a:pt x="10" y="5"/>
                </a:lnTo>
                <a:lnTo>
                  <a:pt x="10" y="4"/>
                </a:lnTo>
                <a:lnTo>
                  <a:pt x="9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1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1143000" y="16891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6"/>
                </a:moveTo>
                <a:lnTo>
                  <a:pt x="10" y="5"/>
                </a:lnTo>
                <a:lnTo>
                  <a:pt x="10" y="4"/>
                </a:lnTo>
                <a:lnTo>
                  <a:pt x="9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1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511300" y="18923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4" y="0"/>
                </a:moveTo>
                <a:lnTo>
                  <a:pt x="2" y="2"/>
                </a:lnTo>
                <a:lnTo>
                  <a:pt x="0" y="4"/>
                </a:lnTo>
                <a:lnTo>
                  <a:pt x="2" y="6"/>
                </a:lnTo>
                <a:lnTo>
                  <a:pt x="4" y="8"/>
                </a:lnTo>
                <a:lnTo>
                  <a:pt x="6" y="6"/>
                </a:lnTo>
                <a:lnTo>
                  <a:pt x="8" y="4"/>
                </a:lnTo>
                <a:lnTo>
                  <a:pt x="6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1333500" y="18923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4" y="0"/>
                </a:moveTo>
                <a:lnTo>
                  <a:pt x="2" y="2"/>
                </a:lnTo>
                <a:lnTo>
                  <a:pt x="0" y="4"/>
                </a:lnTo>
                <a:lnTo>
                  <a:pt x="2" y="6"/>
                </a:lnTo>
                <a:lnTo>
                  <a:pt x="4" y="8"/>
                </a:lnTo>
                <a:lnTo>
                  <a:pt x="6" y="6"/>
                </a:lnTo>
                <a:lnTo>
                  <a:pt x="8" y="4"/>
                </a:lnTo>
                <a:lnTo>
                  <a:pt x="6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1155700" y="18923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4" y="0"/>
                </a:moveTo>
                <a:lnTo>
                  <a:pt x="2" y="2"/>
                </a:lnTo>
                <a:lnTo>
                  <a:pt x="0" y="4"/>
                </a:lnTo>
                <a:lnTo>
                  <a:pt x="2" y="6"/>
                </a:lnTo>
                <a:lnTo>
                  <a:pt x="4" y="8"/>
                </a:lnTo>
                <a:lnTo>
                  <a:pt x="6" y="6"/>
                </a:lnTo>
                <a:lnTo>
                  <a:pt x="8" y="4"/>
                </a:lnTo>
                <a:lnTo>
                  <a:pt x="6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Ant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colony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optimisation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(ACO)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Background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0057" y="880388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efficient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bringing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back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(foraging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behaviour).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0055" y="1138502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left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behind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chemical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along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their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7093" y="1354331"/>
            <a:ext cx="51483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follow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concentration.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21736" y="1759259"/>
            <a:ext cx="40636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nest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86704" y="1773978"/>
            <a:ext cx="11986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food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98311" y="3150918"/>
            <a:ext cx="8870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25094" y="3150694"/>
            <a:ext cx="1603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28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736946" y="1564406"/>
            <a:ext cx="2533166" cy="14721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736946" y="1755029"/>
            <a:ext cx="288004" cy="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024950" y="1755029"/>
            <a:ext cx="935322" cy="540006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960272" y="1755029"/>
            <a:ext cx="935322" cy="540006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895594" y="1755029"/>
            <a:ext cx="374518" cy="1472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84955" y="1755029"/>
            <a:ext cx="575218" cy="332104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60173" y="1755029"/>
            <a:ext cx="575416" cy="332104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384955" y="1755029"/>
            <a:ext cx="1150634" cy="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736946" y="1667078"/>
            <a:ext cx="145315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736946" y="1667078"/>
            <a:ext cx="30600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042952" y="1667078"/>
            <a:ext cx="545604" cy="315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3200400" y="16002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8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8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3378200" y="16002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556000" y="16002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2603500" y="19685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4" y="0"/>
                </a:moveTo>
                <a:lnTo>
                  <a:pt x="2" y="2"/>
                </a:lnTo>
                <a:lnTo>
                  <a:pt x="0" y="4"/>
                </a:lnTo>
                <a:lnTo>
                  <a:pt x="2" y="6"/>
                </a:lnTo>
                <a:lnTo>
                  <a:pt x="4" y="8"/>
                </a:lnTo>
                <a:lnTo>
                  <a:pt x="6" y="6"/>
                </a:lnTo>
                <a:lnTo>
                  <a:pt x="8" y="4"/>
                </a:lnTo>
                <a:lnTo>
                  <a:pt x="6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2755900" y="20574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4" y="0"/>
                </a:moveTo>
                <a:lnTo>
                  <a:pt x="2" y="2"/>
                </a:lnTo>
                <a:lnTo>
                  <a:pt x="0" y="4"/>
                </a:lnTo>
                <a:lnTo>
                  <a:pt x="2" y="6"/>
                </a:lnTo>
                <a:lnTo>
                  <a:pt x="4" y="8"/>
                </a:lnTo>
                <a:lnTo>
                  <a:pt x="6" y="6"/>
                </a:lnTo>
                <a:lnTo>
                  <a:pt x="8" y="4"/>
                </a:lnTo>
                <a:lnTo>
                  <a:pt x="6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2908300" y="2146300"/>
            <a:ext cx="114300" cy="101600"/>
          </a:xfrm>
          <a:custGeom>
            <a:avLst/>
            <a:gdLst/>
            <a:ahLst/>
            <a:cxnLst/>
            <a:rect l="l" t="t" r="r" b="b"/>
            <a:pathLst>
              <a:path w="9" h="8">
                <a:moveTo>
                  <a:pt x="4" y="0"/>
                </a:moveTo>
                <a:lnTo>
                  <a:pt x="2" y="2"/>
                </a:lnTo>
                <a:lnTo>
                  <a:pt x="0" y="4"/>
                </a:lnTo>
                <a:lnTo>
                  <a:pt x="2" y="6"/>
                </a:lnTo>
                <a:lnTo>
                  <a:pt x="4" y="8"/>
                </a:lnTo>
                <a:lnTo>
                  <a:pt x="6" y="6"/>
                </a:lnTo>
                <a:lnTo>
                  <a:pt x="9" y="4"/>
                </a:lnTo>
                <a:lnTo>
                  <a:pt x="6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0057" y="99029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stages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foraging,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take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possible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7095" y="1206123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53819" y="1594400"/>
            <a:ext cx="43315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nest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18786" y="1609119"/>
            <a:ext cx="14666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food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23953" y="3150693"/>
            <a:ext cx="1614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29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736946" y="1652684"/>
            <a:ext cx="2533166" cy="1472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736946" y="1843306"/>
            <a:ext cx="288004" cy="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024950" y="1843306"/>
            <a:ext cx="935322" cy="540007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960272" y="1843306"/>
            <a:ext cx="935322" cy="540007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895594" y="1843306"/>
            <a:ext cx="374518" cy="14721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84955" y="1843306"/>
            <a:ext cx="575218" cy="332105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60173" y="1843306"/>
            <a:ext cx="575416" cy="332105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384955" y="1843306"/>
            <a:ext cx="1150634" cy="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736946" y="1755355"/>
            <a:ext cx="253316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736946" y="1755355"/>
            <a:ext cx="30600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042952" y="1755355"/>
            <a:ext cx="919731" cy="531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962683" y="2106356"/>
            <a:ext cx="311774" cy="180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4165600" y="16891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0" y="4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3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lnTo>
                  <a:pt x="11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4064000" y="16891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9" y="2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2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9" y="8"/>
                </a:lnTo>
                <a:lnTo>
                  <a:pt x="10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3949700" y="1689100"/>
            <a:ext cx="139700" cy="127000"/>
          </a:xfrm>
          <a:custGeom>
            <a:avLst/>
            <a:gdLst/>
            <a:ahLst/>
            <a:cxnLst/>
            <a:rect l="l" t="t" r="r" b="b"/>
            <a:pathLst>
              <a:path w="11" h="10">
                <a:moveTo>
                  <a:pt x="11" y="5"/>
                </a:moveTo>
                <a:lnTo>
                  <a:pt x="10" y="4"/>
                </a:lnTo>
                <a:lnTo>
                  <a:pt x="10" y="3"/>
                </a:lnTo>
                <a:lnTo>
                  <a:pt x="10" y="2"/>
                </a:lnTo>
                <a:lnTo>
                  <a:pt x="9" y="2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3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7"/>
                </a:lnTo>
                <a:lnTo>
                  <a:pt x="1" y="8"/>
                </a:lnTo>
                <a:lnTo>
                  <a:pt x="2" y="9"/>
                </a:lnTo>
                <a:lnTo>
                  <a:pt x="3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9" y="9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lnTo>
                  <a:pt x="11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289300" y="20193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4" y="0"/>
                </a:moveTo>
                <a:lnTo>
                  <a:pt x="2" y="2"/>
                </a:lnTo>
                <a:lnTo>
                  <a:pt x="0" y="4"/>
                </a:lnTo>
                <a:lnTo>
                  <a:pt x="2" y="6"/>
                </a:lnTo>
                <a:lnTo>
                  <a:pt x="4" y="8"/>
                </a:lnTo>
                <a:lnTo>
                  <a:pt x="6" y="6"/>
                </a:lnTo>
                <a:lnTo>
                  <a:pt x="8" y="4"/>
                </a:lnTo>
                <a:lnTo>
                  <a:pt x="6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3441700" y="19304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8" h="8">
                <a:moveTo>
                  <a:pt x="4" y="0"/>
                </a:moveTo>
                <a:lnTo>
                  <a:pt x="2" y="2"/>
                </a:lnTo>
                <a:lnTo>
                  <a:pt x="0" y="4"/>
                </a:lnTo>
                <a:lnTo>
                  <a:pt x="2" y="6"/>
                </a:lnTo>
                <a:lnTo>
                  <a:pt x="4" y="8"/>
                </a:lnTo>
                <a:lnTo>
                  <a:pt x="6" y="6"/>
                </a:lnTo>
                <a:lnTo>
                  <a:pt x="8" y="4"/>
                </a:lnTo>
                <a:lnTo>
                  <a:pt x="6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3594100" y="1841500"/>
            <a:ext cx="114300" cy="101600"/>
          </a:xfrm>
          <a:custGeom>
            <a:avLst/>
            <a:gdLst/>
            <a:ahLst/>
            <a:cxnLst/>
            <a:rect l="l" t="t" r="r" b="b"/>
            <a:pathLst>
              <a:path w="9" h="8">
                <a:moveTo>
                  <a:pt x="4" y="0"/>
                </a:moveTo>
                <a:lnTo>
                  <a:pt x="2" y="2"/>
                </a:lnTo>
                <a:lnTo>
                  <a:pt x="0" y="4"/>
                </a:lnTo>
                <a:lnTo>
                  <a:pt x="2" y="6"/>
                </a:lnTo>
                <a:lnTo>
                  <a:pt x="4" y="8"/>
                </a:lnTo>
                <a:lnTo>
                  <a:pt x="6" y="6"/>
                </a:lnTo>
                <a:lnTo>
                  <a:pt x="9" y="4"/>
                </a:lnTo>
                <a:lnTo>
                  <a:pt x="6" y="2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0057" y="931429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shorter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arrive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earlier,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7095" y="114727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route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deposited,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likely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choose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7095" y="1319343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shorter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return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nest.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53819" y="1682690"/>
            <a:ext cx="43315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nest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18786" y="1697409"/>
            <a:ext cx="146660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food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16142" y="3150693"/>
            <a:ext cx="1692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30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7137270" y="-24136706"/>
            <a:ext cx="2533167" cy="1472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137270" y="-23946084"/>
            <a:ext cx="288004" cy="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7425274" y="-23946084"/>
            <a:ext cx="935323" cy="540008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8360597" y="-23946084"/>
            <a:ext cx="935320" cy="540008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9295917" y="-23946084"/>
            <a:ext cx="374520" cy="1472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7785280" y="-23946084"/>
            <a:ext cx="575218" cy="332104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360498" y="-23946084"/>
            <a:ext cx="575416" cy="332104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7785280" y="-23946084"/>
            <a:ext cx="1150634" cy="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7137270" y="-24034035"/>
            <a:ext cx="253316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7137270" y="-24034035"/>
            <a:ext cx="30600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7443276" y="-24034035"/>
            <a:ext cx="919730" cy="531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8363006" y="-24034035"/>
            <a:ext cx="919733" cy="531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9282739" y="-24034035"/>
            <a:ext cx="38769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8970966" y="-24005922"/>
            <a:ext cx="263066" cy="151889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29578300" y="-24091900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9" h="9">
                <a:moveTo>
                  <a:pt x="4" y="0"/>
                </a:moveTo>
                <a:lnTo>
                  <a:pt x="2" y="3"/>
                </a:lnTo>
                <a:lnTo>
                  <a:pt x="0" y="5"/>
                </a:lnTo>
                <a:lnTo>
                  <a:pt x="2" y="7"/>
                </a:lnTo>
                <a:lnTo>
                  <a:pt x="4" y="9"/>
                </a:lnTo>
                <a:lnTo>
                  <a:pt x="6" y="7"/>
                </a:lnTo>
                <a:lnTo>
                  <a:pt x="9" y="5"/>
                </a:lnTo>
                <a:lnTo>
                  <a:pt x="6" y="3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29476700" y="-24091900"/>
            <a:ext cx="101600" cy="114300"/>
          </a:xfrm>
          <a:custGeom>
            <a:avLst/>
            <a:gdLst/>
            <a:ahLst/>
            <a:cxnLst/>
            <a:rect l="l" t="t" r="r" b="b"/>
            <a:pathLst>
              <a:path w="8" h="9">
                <a:moveTo>
                  <a:pt x="4" y="0"/>
                </a:moveTo>
                <a:lnTo>
                  <a:pt x="2" y="3"/>
                </a:lnTo>
                <a:lnTo>
                  <a:pt x="0" y="5"/>
                </a:lnTo>
                <a:lnTo>
                  <a:pt x="2" y="7"/>
                </a:lnTo>
                <a:lnTo>
                  <a:pt x="4" y="9"/>
                </a:lnTo>
                <a:lnTo>
                  <a:pt x="6" y="7"/>
                </a:lnTo>
                <a:lnTo>
                  <a:pt x="8" y="5"/>
                </a:lnTo>
                <a:lnTo>
                  <a:pt x="6" y="3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29362400" y="-24091900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9" h="9">
                <a:moveTo>
                  <a:pt x="4" y="0"/>
                </a:moveTo>
                <a:lnTo>
                  <a:pt x="2" y="3"/>
                </a:lnTo>
                <a:lnTo>
                  <a:pt x="0" y="5"/>
                </a:lnTo>
                <a:lnTo>
                  <a:pt x="2" y="7"/>
                </a:lnTo>
                <a:lnTo>
                  <a:pt x="4" y="9"/>
                </a:lnTo>
                <a:lnTo>
                  <a:pt x="6" y="7"/>
                </a:lnTo>
                <a:lnTo>
                  <a:pt x="9" y="5"/>
                </a:lnTo>
                <a:lnTo>
                  <a:pt x="6" y="3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H="1">
            <a:off x="28698421" y="-24034035"/>
            <a:ext cx="662518" cy="0"/>
          </a:xfrm>
          <a:prstGeom prst="line">
            <a:avLst/>
          </a:prstGeom>
          <a:ln w="72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28600400" y="-241046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6"/>
                </a:moveTo>
                <a:lnTo>
                  <a:pt x="10" y="5"/>
                </a:lnTo>
                <a:lnTo>
                  <a:pt x="10" y="4"/>
                </a:lnTo>
                <a:lnTo>
                  <a:pt x="9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1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9" y="8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28486100" y="-241046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6"/>
                </a:moveTo>
                <a:lnTo>
                  <a:pt x="10" y="5"/>
                </a:ln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1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3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8"/>
                </a:lnTo>
                <a:lnTo>
                  <a:pt x="10" y="7"/>
                </a:lnTo>
                <a:lnTo>
                  <a:pt x="11" y="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8879800" y="-239014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9" y="3"/>
                </a:lnTo>
                <a:lnTo>
                  <a:pt x="9" y="2"/>
                </a:lnTo>
                <a:lnTo>
                  <a:pt x="8" y="2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8" y="9"/>
                </a:lnTo>
                <a:lnTo>
                  <a:pt x="9" y="8"/>
                </a:lnTo>
                <a:lnTo>
                  <a:pt x="9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-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80000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0057" y="542365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repeats,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shorter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7095" y="758207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concentration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routes.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choose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shorter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7095" y="93027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route.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98309" y="3150917"/>
            <a:ext cx="887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39215" y="3150693"/>
            <a:ext cx="1461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31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736944" y="1263619"/>
            <a:ext cx="2533167" cy="14721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736944" y="1454242"/>
            <a:ext cx="288005" cy="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024949" y="1454242"/>
            <a:ext cx="935321" cy="540007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960270" y="1454242"/>
            <a:ext cx="935322" cy="540007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895592" y="1454242"/>
            <a:ext cx="374519" cy="14721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84953" y="1454242"/>
            <a:ext cx="575219" cy="332104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60172" y="1454242"/>
            <a:ext cx="575416" cy="332104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384953" y="1454242"/>
            <a:ext cx="1150635" cy="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736944" y="1366291"/>
            <a:ext cx="253316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736944" y="1366291"/>
            <a:ext cx="30600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042950" y="1366291"/>
            <a:ext cx="919732" cy="531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962682" y="1366291"/>
            <a:ext cx="919732" cy="531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882414" y="1366291"/>
            <a:ext cx="38769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3570640" y="1394404"/>
            <a:ext cx="263066" cy="151889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4178300" y="1308100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9" h="9">
                <a:moveTo>
                  <a:pt x="4" y="0"/>
                </a:moveTo>
                <a:lnTo>
                  <a:pt x="2" y="3"/>
                </a:lnTo>
                <a:lnTo>
                  <a:pt x="0" y="5"/>
                </a:lnTo>
                <a:lnTo>
                  <a:pt x="2" y="7"/>
                </a:lnTo>
                <a:lnTo>
                  <a:pt x="4" y="9"/>
                </a:lnTo>
                <a:lnTo>
                  <a:pt x="6" y="7"/>
                </a:lnTo>
                <a:lnTo>
                  <a:pt x="9" y="5"/>
                </a:lnTo>
                <a:lnTo>
                  <a:pt x="6" y="3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4076700" y="1308100"/>
            <a:ext cx="101600" cy="114300"/>
          </a:xfrm>
          <a:custGeom>
            <a:avLst/>
            <a:gdLst/>
            <a:ahLst/>
            <a:cxnLst/>
            <a:rect l="l" t="t" r="r" b="b"/>
            <a:pathLst>
              <a:path w="8" h="9">
                <a:moveTo>
                  <a:pt x="4" y="0"/>
                </a:moveTo>
                <a:lnTo>
                  <a:pt x="2" y="3"/>
                </a:lnTo>
                <a:lnTo>
                  <a:pt x="0" y="5"/>
                </a:lnTo>
                <a:lnTo>
                  <a:pt x="2" y="7"/>
                </a:lnTo>
                <a:lnTo>
                  <a:pt x="4" y="9"/>
                </a:lnTo>
                <a:lnTo>
                  <a:pt x="6" y="7"/>
                </a:lnTo>
                <a:lnTo>
                  <a:pt x="8" y="5"/>
                </a:lnTo>
                <a:lnTo>
                  <a:pt x="6" y="3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3962400" y="1308100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9" h="9">
                <a:moveTo>
                  <a:pt x="4" y="0"/>
                </a:moveTo>
                <a:lnTo>
                  <a:pt x="2" y="3"/>
                </a:lnTo>
                <a:lnTo>
                  <a:pt x="0" y="5"/>
                </a:lnTo>
                <a:lnTo>
                  <a:pt x="2" y="7"/>
                </a:lnTo>
                <a:lnTo>
                  <a:pt x="4" y="9"/>
                </a:lnTo>
                <a:lnTo>
                  <a:pt x="6" y="7"/>
                </a:lnTo>
                <a:lnTo>
                  <a:pt x="9" y="5"/>
                </a:lnTo>
                <a:lnTo>
                  <a:pt x="6" y="3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H="1">
            <a:off x="3298095" y="1366291"/>
            <a:ext cx="662518" cy="0"/>
          </a:xfrm>
          <a:prstGeom prst="line">
            <a:avLst/>
          </a:prstGeom>
          <a:ln w="72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3200400" y="12954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6"/>
                </a:moveTo>
                <a:lnTo>
                  <a:pt x="10" y="5"/>
                </a:lnTo>
                <a:lnTo>
                  <a:pt x="10" y="4"/>
                </a:lnTo>
                <a:lnTo>
                  <a:pt x="9" y="3"/>
                </a:lnTo>
                <a:lnTo>
                  <a:pt x="8" y="2"/>
                </a:lnTo>
                <a:lnTo>
                  <a:pt x="8" y="1"/>
                </a:lnTo>
                <a:lnTo>
                  <a:pt x="7" y="1"/>
                </a:lnTo>
                <a:lnTo>
                  <a:pt x="6" y="1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8" y="10"/>
                </a:lnTo>
                <a:lnTo>
                  <a:pt x="8" y="9"/>
                </a:lnTo>
                <a:lnTo>
                  <a:pt x="9" y="8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3086100" y="12954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6"/>
                </a:moveTo>
                <a:lnTo>
                  <a:pt x="10" y="5"/>
                </a:ln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1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3479800" y="14986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9" y="3"/>
                </a:lnTo>
                <a:lnTo>
                  <a:pt x="9" y="2"/>
                </a:lnTo>
                <a:lnTo>
                  <a:pt x="8" y="2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8" y="9"/>
                </a:lnTo>
                <a:lnTo>
                  <a:pt x="9" y="8"/>
                </a:lnTo>
                <a:lnTo>
                  <a:pt x="9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-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80000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0057" y="542365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repeats,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shorter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7095" y="758207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concentration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routes.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choose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shorter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7095" y="93027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route.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53818" y="1293626"/>
            <a:ext cx="433157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18785" y="1308345"/>
            <a:ext cx="14666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food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98309" y="3150917"/>
            <a:ext cx="887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39215" y="3150693"/>
            <a:ext cx="1461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736944" y="1263619"/>
            <a:ext cx="2533167" cy="14721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736944" y="1454242"/>
            <a:ext cx="288005" cy="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024949" y="1454242"/>
            <a:ext cx="935321" cy="540007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960270" y="1454242"/>
            <a:ext cx="935322" cy="540007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895592" y="1454242"/>
            <a:ext cx="374519" cy="14721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84953" y="1454242"/>
            <a:ext cx="575219" cy="332104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60172" y="1454242"/>
            <a:ext cx="575416" cy="332104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384953" y="1454242"/>
            <a:ext cx="1150635" cy="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736944" y="1366291"/>
            <a:ext cx="253316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736944" y="1366291"/>
            <a:ext cx="30600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042950" y="1366291"/>
            <a:ext cx="919732" cy="531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962682" y="1366291"/>
            <a:ext cx="919732" cy="531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882414" y="1366291"/>
            <a:ext cx="38769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3570640" y="1394404"/>
            <a:ext cx="263066" cy="151889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4178300" y="1308100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9" h="9">
                <a:moveTo>
                  <a:pt x="4" y="0"/>
                </a:moveTo>
                <a:lnTo>
                  <a:pt x="2" y="3"/>
                </a:lnTo>
                <a:lnTo>
                  <a:pt x="0" y="5"/>
                </a:lnTo>
                <a:lnTo>
                  <a:pt x="2" y="7"/>
                </a:lnTo>
                <a:lnTo>
                  <a:pt x="4" y="9"/>
                </a:lnTo>
                <a:lnTo>
                  <a:pt x="6" y="7"/>
                </a:lnTo>
                <a:lnTo>
                  <a:pt x="9" y="5"/>
                </a:lnTo>
                <a:lnTo>
                  <a:pt x="6" y="3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4076700" y="1308100"/>
            <a:ext cx="101600" cy="114300"/>
          </a:xfrm>
          <a:custGeom>
            <a:avLst/>
            <a:gdLst/>
            <a:ahLst/>
            <a:cxnLst/>
            <a:rect l="l" t="t" r="r" b="b"/>
            <a:pathLst>
              <a:path w="8" h="9">
                <a:moveTo>
                  <a:pt x="4" y="0"/>
                </a:moveTo>
                <a:lnTo>
                  <a:pt x="2" y="3"/>
                </a:lnTo>
                <a:lnTo>
                  <a:pt x="0" y="5"/>
                </a:lnTo>
                <a:lnTo>
                  <a:pt x="2" y="7"/>
                </a:lnTo>
                <a:lnTo>
                  <a:pt x="4" y="9"/>
                </a:lnTo>
                <a:lnTo>
                  <a:pt x="6" y="7"/>
                </a:lnTo>
                <a:lnTo>
                  <a:pt x="8" y="5"/>
                </a:lnTo>
                <a:lnTo>
                  <a:pt x="6" y="3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3962400" y="1308100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9" h="9">
                <a:moveTo>
                  <a:pt x="4" y="0"/>
                </a:moveTo>
                <a:lnTo>
                  <a:pt x="2" y="3"/>
                </a:lnTo>
                <a:lnTo>
                  <a:pt x="0" y="5"/>
                </a:lnTo>
                <a:lnTo>
                  <a:pt x="2" y="7"/>
                </a:lnTo>
                <a:lnTo>
                  <a:pt x="4" y="9"/>
                </a:lnTo>
                <a:lnTo>
                  <a:pt x="6" y="7"/>
                </a:lnTo>
                <a:lnTo>
                  <a:pt x="9" y="5"/>
                </a:lnTo>
                <a:lnTo>
                  <a:pt x="6" y="3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H="1">
            <a:off x="3298095" y="1366291"/>
            <a:ext cx="662518" cy="0"/>
          </a:xfrm>
          <a:prstGeom prst="line">
            <a:avLst/>
          </a:prstGeom>
          <a:ln w="72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3200400" y="12954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6"/>
                </a:moveTo>
                <a:lnTo>
                  <a:pt x="10" y="5"/>
                </a:lnTo>
                <a:lnTo>
                  <a:pt x="10" y="4"/>
                </a:lnTo>
                <a:lnTo>
                  <a:pt x="9" y="3"/>
                </a:lnTo>
                <a:lnTo>
                  <a:pt x="8" y="2"/>
                </a:lnTo>
                <a:lnTo>
                  <a:pt x="8" y="1"/>
                </a:lnTo>
                <a:lnTo>
                  <a:pt x="7" y="1"/>
                </a:lnTo>
                <a:lnTo>
                  <a:pt x="6" y="1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8" y="10"/>
                </a:lnTo>
                <a:lnTo>
                  <a:pt x="8" y="9"/>
                </a:lnTo>
                <a:lnTo>
                  <a:pt x="9" y="8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3086100" y="12954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6"/>
                </a:moveTo>
                <a:lnTo>
                  <a:pt x="10" y="5"/>
                </a:ln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1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3479800" y="14986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9" y="3"/>
                </a:lnTo>
                <a:lnTo>
                  <a:pt x="9" y="2"/>
                </a:lnTo>
                <a:lnTo>
                  <a:pt x="8" y="2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8" y="9"/>
                </a:lnTo>
                <a:lnTo>
                  <a:pt x="9" y="8"/>
                </a:lnTo>
                <a:lnTo>
                  <a:pt x="9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-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80000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0057" y="542365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repeats,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shorter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7095" y="758207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concentration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routes.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choose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shorter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7095" y="93027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route.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53818" y="1293626"/>
            <a:ext cx="433157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18785" y="1308345"/>
            <a:ext cx="14666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food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0055" y="2115996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evaporate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time.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98309" y="3150917"/>
            <a:ext cx="887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39215" y="3150693"/>
            <a:ext cx="1461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31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736944" y="1263619"/>
            <a:ext cx="2533167" cy="14721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736944" y="1454242"/>
            <a:ext cx="288005" cy="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024949" y="1454242"/>
            <a:ext cx="935321" cy="540007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960270" y="1454242"/>
            <a:ext cx="935322" cy="540007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895592" y="1454242"/>
            <a:ext cx="374519" cy="14721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84953" y="1454242"/>
            <a:ext cx="575219" cy="332104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60172" y="1454242"/>
            <a:ext cx="575416" cy="332104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384953" y="1454242"/>
            <a:ext cx="1150635" cy="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736944" y="1366291"/>
            <a:ext cx="253316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736944" y="1366291"/>
            <a:ext cx="30600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042950" y="1366291"/>
            <a:ext cx="919732" cy="531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962682" y="1366291"/>
            <a:ext cx="919732" cy="531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882414" y="1366291"/>
            <a:ext cx="38769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3570640" y="1394404"/>
            <a:ext cx="263066" cy="151889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4178300" y="1308100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9" h="9">
                <a:moveTo>
                  <a:pt x="4" y="0"/>
                </a:moveTo>
                <a:lnTo>
                  <a:pt x="2" y="3"/>
                </a:lnTo>
                <a:lnTo>
                  <a:pt x="0" y="5"/>
                </a:lnTo>
                <a:lnTo>
                  <a:pt x="2" y="7"/>
                </a:lnTo>
                <a:lnTo>
                  <a:pt x="4" y="9"/>
                </a:lnTo>
                <a:lnTo>
                  <a:pt x="6" y="7"/>
                </a:lnTo>
                <a:lnTo>
                  <a:pt x="9" y="5"/>
                </a:lnTo>
                <a:lnTo>
                  <a:pt x="6" y="3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4076700" y="1308100"/>
            <a:ext cx="101600" cy="114300"/>
          </a:xfrm>
          <a:custGeom>
            <a:avLst/>
            <a:gdLst/>
            <a:ahLst/>
            <a:cxnLst/>
            <a:rect l="l" t="t" r="r" b="b"/>
            <a:pathLst>
              <a:path w="8" h="9">
                <a:moveTo>
                  <a:pt x="4" y="0"/>
                </a:moveTo>
                <a:lnTo>
                  <a:pt x="2" y="3"/>
                </a:lnTo>
                <a:lnTo>
                  <a:pt x="0" y="5"/>
                </a:lnTo>
                <a:lnTo>
                  <a:pt x="2" y="7"/>
                </a:lnTo>
                <a:lnTo>
                  <a:pt x="4" y="9"/>
                </a:lnTo>
                <a:lnTo>
                  <a:pt x="6" y="7"/>
                </a:lnTo>
                <a:lnTo>
                  <a:pt x="8" y="5"/>
                </a:lnTo>
                <a:lnTo>
                  <a:pt x="6" y="3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3962400" y="1308100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9" h="9">
                <a:moveTo>
                  <a:pt x="4" y="0"/>
                </a:moveTo>
                <a:lnTo>
                  <a:pt x="2" y="3"/>
                </a:lnTo>
                <a:lnTo>
                  <a:pt x="0" y="5"/>
                </a:lnTo>
                <a:lnTo>
                  <a:pt x="2" y="7"/>
                </a:lnTo>
                <a:lnTo>
                  <a:pt x="4" y="9"/>
                </a:lnTo>
                <a:lnTo>
                  <a:pt x="6" y="7"/>
                </a:lnTo>
                <a:lnTo>
                  <a:pt x="9" y="5"/>
                </a:lnTo>
                <a:lnTo>
                  <a:pt x="6" y="3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H="1">
            <a:off x="3298095" y="1366291"/>
            <a:ext cx="662518" cy="0"/>
          </a:xfrm>
          <a:prstGeom prst="line">
            <a:avLst/>
          </a:prstGeom>
          <a:ln w="72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3200400" y="12954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6"/>
                </a:moveTo>
                <a:lnTo>
                  <a:pt x="10" y="5"/>
                </a:lnTo>
                <a:lnTo>
                  <a:pt x="10" y="4"/>
                </a:lnTo>
                <a:lnTo>
                  <a:pt x="9" y="3"/>
                </a:lnTo>
                <a:lnTo>
                  <a:pt x="8" y="2"/>
                </a:lnTo>
                <a:lnTo>
                  <a:pt x="8" y="1"/>
                </a:lnTo>
                <a:lnTo>
                  <a:pt x="7" y="1"/>
                </a:lnTo>
                <a:lnTo>
                  <a:pt x="6" y="1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8" y="10"/>
                </a:lnTo>
                <a:lnTo>
                  <a:pt x="8" y="9"/>
                </a:lnTo>
                <a:lnTo>
                  <a:pt x="9" y="8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3086100" y="12954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6"/>
                </a:moveTo>
                <a:lnTo>
                  <a:pt x="10" y="5"/>
                </a:ln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1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3479800" y="14986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9" y="3"/>
                </a:lnTo>
                <a:lnTo>
                  <a:pt x="9" y="2"/>
                </a:lnTo>
                <a:lnTo>
                  <a:pt x="8" y="2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8" y="9"/>
                </a:lnTo>
                <a:lnTo>
                  <a:pt x="9" y="8"/>
                </a:lnTo>
                <a:lnTo>
                  <a:pt x="9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-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80000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0057" y="542365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repeats,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shorter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7095" y="758207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concentration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routes.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choose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shorter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7095" y="93027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route.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53818" y="1293626"/>
            <a:ext cx="433157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18785" y="1308345"/>
            <a:ext cx="14666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food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0055" y="2115996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evaporate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time.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60054" y="2374110"/>
            <a:ext cx="53253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Eventually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take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shortest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route.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98309" y="3150917"/>
            <a:ext cx="887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39215" y="3150693"/>
            <a:ext cx="1461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31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736944" y="1263619"/>
            <a:ext cx="2533167" cy="14721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736944" y="1454242"/>
            <a:ext cx="288005" cy="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024949" y="1454242"/>
            <a:ext cx="935321" cy="540007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960270" y="1454242"/>
            <a:ext cx="935322" cy="540007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895592" y="1454242"/>
            <a:ext cx="374519" cy="14721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384953" y="1454242"/>
            <a:ext cx="575219" cy="332104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60172" y="1454242"/>
            <a:ext cx="575416" cy="332104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384953" y="1454242"/>
            <a:ext cx="1150635" cy="0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736944" y="1366291"/>
            <a:ext cx="253316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736944" y="1366291"/>
            <a:ext cx="30600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042950" y="1366291"/>
            <a:ext cx="919732" cy="531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962682" y="1366291"/>
            <a:ext cx="919732" cy="531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882414" y="1366291"/>
            <a:ext cx="38769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3570640" y="1394404"/>
            <a:ext cx="263066" cy="151889"/>
          </a:xfrm>
          <a:prstGeom prst="line">
            <a:avLst/>
          </a:prstGeom>
          <a:ln w="36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4178300" y="1308100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9" h="9">
                <a:moveTo>
                  <a:pt x="4" y="0"/>
                </a:moveTo>
                <a:lnTo>
                  <a:pt x="2" y="3"/>
                </a:lnTo>
                <a:lnTo>
                  <a:pt x="0" y="5"/>
                </a:lnTo>
                <a:lnTo>
                  <a:pt x="2" y="7"/>
                </a:lnTo>
                <a:lnTo>
                  <a:pt x="4" y="9"/>
                </a:lnTo>
                <a:lnTo>
                  <a:pt x="6" y="7"/>
                </a:lnTo>
                <a:lnTo>
                  <a:pt x="9" y="5"/>
                </a:lnTo>
                <a:lnTo>
                  <a:pt x="6" y="3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4076700" y="1308100"/>
            <a:ext cx="101600" cy="114300"/>
          </a:xfrm>
          <a:custGeom>
            <a:avLst/>
            <a:gdLst/>
            <a:ahLst/>
            <a:cxnLst/>
            <a:rect l="l" t="t" r="r" b="b"/>
            <a:pathLst>
              <a:path w="8" h="9">
                <a:moveTo>
                  <a:pt x="4" y="0"/>
                </a:moveTo>
                <a:lnTo>
                  <a:pt x="2" y="3"/>
                </a:lnTo>
                <a:lnTo>
                  <a:pt x="0" y="5"/>
                </a:lnTo>
                <a:lnTo>
                  <a:pt x="2" y="7"/>
                </a:lnTo>
                <a:lnTo>
                  <a:pt x="4" y="9"/>
                </a:lnTo>
                <a:lnTo>
                  <a:pt x="6" y="7"/>
                </a:lnTo>
                <a:lnTo>
                  <a:pt x="8" y="5"/>
                </a:lnTo>
                <a:lnTo>
                  <a:pt x="6" y="3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3962400" y="1308100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9" h="9">
                <a:moveTo>
                  <a:pt x="4" y="0"/>
                </a:moveTo>
                <a:lnTo>
                  <a:pt x="2" y="3"/>
                </a:lnTo>
                <a:lnTo>
                  <a:pt x="0" y="5"/>
                </a:lnTo>
                <a:lnTo>
                  <a:pt x="2" y="7"/>
                </a:lnTo>
                <a:lnTo>
                  <a:pt x="4" y="9"/>
                </a:lnTo>
                <a:lnTo>
                  <a:pt x="6" y="7"/>
                </a:lnTo>
                <a:lnTo>
                  <a:pt x="9" y="5"/>
                </a:lnTo>
                <a:lnTo>
                  <a:pt x="6" y="3"/>
                </a:lnTo>
                <a:lnTo>
                  <a:pt x="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H="1">
            <a:off x="3298095" y="1366291"/>
            <a:ext cx="662518" cy="0"/>
          </a:xfrm>
          <a:prstGeom prst="line">
            <a:avLst/>
          </a:prstGeom>
          <a:ln w="720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3200400" y="12954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6"/>
                </a:moveTo>
                <a:lnTo>
                  <a:pt x="10" y="5"/>
                </a:lnTo>
                <a:lnTo>
                  <a:pt x="10" y="4"/>
                </a:lnTo>
                <a:lnTo>
                  <a:pt x="9" y="3"/>
                </a:lnTo>
                <a:lnTo>
                  <a:pt x="8" y="2"/>
                </a:lnTo>
                <a:lnTo>
                  <a:pt x="8" y="1"/>
                </a:lnTo>
                <a:lnTo>
                  <a:pt x="7" y="1"/>
                </a:lnTo>
                <a:lnTo>
                  <a:pt x="6" y="1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8" y="10"/>
                </a:lnTo>
                <a:lnTo>
                  <a:pt x="8" y="9"/>
                </a:lnTo>
                <a:lnTo>
                  <a:pt x="9" y="8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3086100" y="1295400"/>
            <a:ext cx="127000" cy="139700"/>
          </a:xfrm>
          <a:custGeom>
            <a:avLst/>
            <a:gdLst/>
            <a:ahLst/>
            <a:cxnLst/>
            <a:rect l="l" t="t" r="r" b="b"/>
            <a:pathLst>
              <a:path w="10" h="11">
                <a:moveTo>
                  <a:pt x="10" y="6"/>
                </a:moveTo>
                <a:lnTo>
                  <a:pt x="10" y="5"/>
                </a:lnTo>
                <a:lnTo>
                  <a:pt x="10" y="4"/>
                </a:lnTo>
                <a:lnTo>
                  <a:pt x="10" y="3"/>
                </a:lnTo>
                <a:lnTo>
                  <a:pt x="9" y="2"/>
                </a:lnTo>
                <a:lnTo>
                  <a:pt x="8" y="1"/>
                </a:lnTo>
                <a:lnTo>
                  <a:pt x="7" y="1"/>
                </a:lnTo>
                <a:lnTo>
                  <a:pt x="6" y="1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8"/>
                </a:lnTo>
                <a:lnTo>
                  <a:pt x="2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0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0" y="8"/>
                </a:lnTo>
                <a:lnTo>
                  <a:pt x="10" y="7"/>
                </a:lnTo>
                <a:lnTo>
                  <a:pt x="10" y="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3479800" y="14986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0" h="10">
                <a:moveTo>
                  <a:pt x="10" y="5"/>
                </a:moveTo>
                <a:lnTo>
                  <a:pt x="10" y="4"/>
                </a:lnTo>
                <a:lnTo>
                  <a:pt x="9" y="3"/>
                </a:lnTo>
                <a:lnTo>
                  <a:pt x="9" y="2"/>
                </a:lnTo>
                <a:lnTo>
                  <a:pt x="8" y="2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2"/>
                </a:lnTo>
                <a:lnTo>
                  <a:pt x="0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0"/>
                </a:lnTo>
                <a:lnTo>
                  <a:pt x="5" y="10"/>
                </a:lnTo>
                <a:lnTo>
                  <a:pt x="6" y="10"/>
                </a:lnTo>
                <a:lnTo>
                  <a:pt x="7" y="10"/>
                </a:lnTo>
                <a:lnTo>
                  <a:pt x="8" y="9"/>
                </a:lnTo>
                <a:lnTo>
                  <a:pt x="8" y="9"/>
                </a:lnTo>
                <a:lnTo>
                  <a:pt x="9" y="8"/>
                </a:lnTo>
                <a:lnTo>
                  <a:pt x="9" y="7"/>
                </a:lnTo>
                <a:lnTo>
                  <a:pt x="10" y="6"/>
                </a:lnTo>
                <a:lnTo>
                  <a:pt x="10" y="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-2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80002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Background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0057" y="542365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repeats,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shorter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7095" y="758207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concentration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routes.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choose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shorter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7095" y="93027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route.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53818" y="1293626"/>
            <a:ext cx="433157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18785" y="1308345"/>
            <a:ext cx="14666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food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0055" y="2115996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evaporate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time.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60054" y="2374110"/>
            <a:ext cx="53253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Eventually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take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shortest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route.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60054" y="2632212"/>
            <a:ext cx="53253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indirect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communication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via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7092" y="2848054"/>
            <a:ext cx="51483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stigmergy.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98311" y="3150916"/>
            <a:ext cx="8870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39217" y="3150692"/>
            <a:ext cx="1461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31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Ant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colony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optimisation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(ACO)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974901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foraging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behaviour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inspired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colony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5" y="1190730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(ACO)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colony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(ACS)).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313" y="3150918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5019" y="3150694"/>
            <a:ext cx="1603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32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Ant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colony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optimisation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(ACO)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974901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foraging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behaviour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inspired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colony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5" y="1190730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(ACO)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colony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(ACS)).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405089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combinatorial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5" y="1620918"/>
            <a:ext cx="51483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(optimal)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combination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(ordering)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finite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discrete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objects.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313" y="3150918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5019" y="3150694"/>
            <a:ext cx="1603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32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Ant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colony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optimisation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(ACO)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974901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foraging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behaviour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inspired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colony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5" y="1190730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(ACO)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colony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(ACS)).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405089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combinatorial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5" y="1620918"/>
            <a:ext cx="51483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(optimal)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combination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(ordering)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finite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discrete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objects.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7" y="1835276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travelling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salesman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(TSP):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8313" y="3150918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5019" y="3150694"/>
            <a:ext cx="1603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32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Ant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colony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optimisation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(ACO)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974901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foraging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behaviour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inspired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introduction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colony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5" y="1190730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(ACO)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colony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(ACS)).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405089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combinatorial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5" y="1620918"/>
            <a:ext cx="51483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(optimal)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combination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(ordering)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finite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discrete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objects.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7" y="1835276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travelling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salesman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(TSP):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6" y="2026879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Given a list of cities and the distances between each pair of cities, what is the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6" y="2198952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shortest possible route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visits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 city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returns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city?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8314" y="3150920"/>
            <a:ext cx="8870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5021" y="3150696"/>
            <a:ext cx="1603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32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166076" y="1321589"/>
            <a:ext cx="323809" cy="560851"/>
          </a:xfrm>
          <a:prstGeom prst="line">
            <a:avLst/>
          </a:prstGeom>
          <a:ln w="427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647912" y="1230352"/>
            <a:ext cx="639355" cy="0"/>
          </a:xfrm>
          <a:prstGeom prst="line">
            <a:avLst/>
          </a:prstGeom>
          <a:ln w="427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446409" y="1322232"/>
            <a:ext cx="319679" cy="553698"/>
          </a:xfrm>
          <a:prstGeom prst="line">
            <a:avLst/>
          </a:prstGeom>
          <a:ln w="427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3446409" y="2058404"/>
            <a:ext cx="319679" cy="553698"/>
          </a:xfrm>
          <a:prstGeom prst="line">
            <a:avLst/>
          </a:prstGeom>
          <a:ln w="427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649203" y="2703982"/>
            <a:ext cx="638064" cy="0"/>
          </a:xfrm>
          <a:prstGeom prst="line">
            <a:avLst/>
          </a:prstGeom>
          <a:ln w="427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 flipV="1">
            <a:off x="2166076" y="2051894"/>
            <a:ext cx="323163" cy="559734"/>
          </a:xfrm>
          <a:prstGeom prst="line">
            <a:avLst/>
          </a:prstGeom>
          <a:ln w="427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214996" y="1967167"/>
            <a:ext cx="649208" cy="0"/>
          </a:xfrm>
          <a:prstGeom prst="line">
            <a:avLst/>
          </a:prstGeom>
          <a:ln w="427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 flipV="1">
            <a:off x="2595234" y="1321589"/>
            <a:ext cx="320850" cy="555723"/>
          </a:xfrm>
          <a:prstGeom prst="line">
            <a:avLst/>
          </a:prstGeom>
          <a:ln w="427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633796" y="1283027"/>
            <a:ext cx="1093730" cy="631466"/>
          </a:xfrm>
          <a:prstGeom prst="line">
            <a:avLst/>
          </a:prstGeom>
          <a:ln w="427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634913" y="2019842"/>
            <a:ext cx="1092613" cy="630820"/>
          </a:xfrm>
          <a:prstGeom prst="line">
            <a:avLst/>
          </a:prstGeom>
          <a:ln w="427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595879" y="2057022"/>
            <a:ext cx="320205" cy="554606"/>
          </a:xfrm>
          <a:prstGeom prst="line">
            <a:avLst/>
          </a:prstGeom>
          <a:ln w="427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019838" y="1322232"/>
            <a:ext cx="320479" cy="555080"/>
          </a:xfrm>
          <a:prstGeom prst="line">
            <a:avLst/>
          </a:prstGeom>
          <a:ln w="427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201887" y="1283398"/>
            <a:ext cx="1099596" cy="634853"/>
          </a:xfrm>
          <a:prstGeom prst="line">
            <a:avLst/>
          </a:prstGeom>
          <a:ln w="427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201887" y="2016083"/>
            <a:ext cx="1099596" cy="634853"/>
          </a:xfrm>
          <a:prstGeom prst="line">
            <a:avLst/>
          </a:prstGeom>
          <a:ln w="427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3019838" y="2057022"/>
            <a:ext cx="320479" cy="555080"/>
          </a:xfrm>
          <a:prstGeom prst="line">
            <a:avLst/>
          </a:prstGeom>
          <a:ln w="427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071718" y="1967167"/>
            <a:ext cx="641692" cy="0"/>
          </a:xfrm>
          <a:prstGeom prst="line">
            <a:avLst/>
          </a:prstGeom>
          <a:ln w="427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3393363" y="1336448"/>
            <a:ext cx="0" cy="1261438"/>
          </a:xfrm>
          <a:prstGeom prst="line">
            <a:avLst/>
          </a:prstGeom>
          <a:ln w="427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542559" y="1335705"/>
            <a:ext cx="0" cy="1261634"/>
          </a:xfrm>
          <a:prstGeom prst="line">
            <a:avLst/>
          </a:prstGeom>
          <a:ln w="427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0057" y="631010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Generally,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combinatorial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7095" y="846840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shortest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graph.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98733" y="1911849"/>
            <a:ext cx="3686662" cy="1812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12906" y="1175046"/>
            <a:ext cx="3272489" cy="1812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62936" y="1174489"/>
            <a:ext cx="2422459" cy="1812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88450" y="1911849"/>
            <a:ext cx="1996945" cy="1812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62529" y="2648104"/>
            <a:ext cx="2422866" cy="1812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11620" y="2648104"/>
            <a:ext cx="3273775" cy="1812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40113" y="1911849"/>
            <a:ext cx="2845282" cy="1812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39627" y="1527034"/>
            <a:ext cx="3645768" cy="1812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0">
                <a:solidFill>
                  <a:srgbClr val="000000"/>
                </a:solidFill>
                <a:latin typeface="Cambria Math"/>
              </a:rPr>
              <a:t>τ</a:t>
            </a:r>
            <a:r>
              <a:rPr sz="672" b="0">
                <a:solidFill>
                  <a:srgbClr val="000000"/>
                </a:solidFill>
                <a:latin typeface="Cambria Math"/>
              </a:rPr>
              <a:t>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93956" y="1080318"/>
            <a:ext cx="2891439" cy="1812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0">
                <a:solidFill>
                  <a:srgbClr val="000000"/>
                </a:solidFill>
                <a:latin typeface="Cambria Math"/>
              </a:rPr>
              <a:t>τ</a:t>
            </a:r>
            <a:r>
              <a:rPr sz="672" b="0">
                <a:solidFill>
                  <a:srgbClr val="000000"/>
                </a:solidFill>
                <a:latin typeface="Cambria Math"/>
              </a:rPr>
              <a:t>23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47330" y="1524097"/>
            <a:ext cx="2138065" cy="1812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0">
                <a:solidFill>
                  <a:srgbClr val="000000"/>
                </a:solidFill>
                <a:latin typeface="Cambria Math"/>
              </a:rPr>
              <a:t>τ</a:t>
            </a:r>
            <a:r>
              <a:rPr sz="672" b="0">
                <a:solidFill>
                  <a:srgbClr val="000000"/>
                </a:solidFill>
                <a:latin typeface="Cambria Math"/>
              </a:rPr>
              <a:t>34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47341" y="2260256"/>
            <a:ext cx="2138054" cy="1812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0">
                <a:solidFill>
                  <a:srgbClr val="000000"/>
                </a:solidFill>
                <a:latin typeface="Cambria Math"/>
              </a:rPr>
              <a:t>τ</a:t>
            </a:r>
            <a:r>
              <a:rPr sz="672" b="0">
                <a:solidFill>
                  <a:srgbClr val="000000"/>
                </a:solidFill>
                <a:latin typeface="Cambria Math"/>
              </a:rPr>
              <a:t>45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94599" y="2704046"/>
            <a:ext cx="2890796" cy="1812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0">
                <a:solidFill>
                  <a:srgbClr val="000000"/>
                </a:solidFill>
                <a:latin typeface="Cambria Math"/>
              </a:rPr>
              <a:t>τ</a:t>
            </a:r>
            <a:r>
              <a:rPr sz="672" b="0">
                <a:solidFill>
                  <a:srgbClr val="000000"/>
                </a:solidFill>
                <a:latin typeface="Cambria Math"/>
              </a:rPr>
              <a:t>56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139306" y="2256773"/>
            <a:ext cx="3646089" cy="1812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0">
                <a:solidFill>
                  <a:srgbClr val="000000"/>
                </a:solidFill>
                <a:latin typeface="Cambria Math"/>
              </a:rPr>
              <a:t>τ</a:t>
            </a:r>
            <a:r>
              <a:rPr sz="672" b="0">
                <a:solidFill>
                  <a:srgbClr val="000000"/>
                </a:solidFill>
                <a:latin typeface="Cambria Math"/>
              </a:rPr>
              <a:t>16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628278" y="1817120"/>
            <a:ext cx="3157117" cy="1812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0">
                <a:solidFill>
                  <a:srgbClr val="000000"/>
                </a:solidFill>
                <a:latin typeface="Cambria Math"/>
              </a:rPr>
              <a:t>τ</a:t>
            </a:r>
            <a:r>
              <a:rPr sz="672" b="0">
                <a:solidFill>
                  <a:srgbClr val="000000"/>
                </a:solidFill>
                <a:latin typeface="Cambria Math"/>
              </a:rPr>
              <a:t>17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76966" y="1663395"/>
            <a:ext cx="2908429" cy="1812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0">
                <a:solidFill>
                  <a:srgbClr val="000000"/>
                </a:solidFill>
                <a:latin typeface="Cambria Math"/>
              </a:rPr>
              <a:t>τ</a:t>
            </a:r>
            <a:r>
              <a:rPr sz="672" b="0">
                <a:solidFill>
                  <a:srgbClr val="000000"/>
                </a:solidFill>
                <a:latin typeface="Cambria Math"/>
              </a:rPr>
              <a:t>27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495180" y="1681639"/>
            <a:ext cx="2290215" cy="1812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0">
                <a:solidFill>
                  <a:srgbClr val="000000"/>
                </a:solidFill>
                <a:latin typeface="Cambria Math"/>
              </a:rPr>
              <a:t>τ</a:t>
            </a:r>
            <a:r>
              <a:rPr sz="672" b="0">
                <a:solidFill>
                  <a:srgbClr val="000000"/>
                </a:solidFill>
                <a:latin typeface="Cambria Math"/>
              </a:rPr>
              <a:t>24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495459" y="2102554"/>
            <a:ext cx="2289936" cy="1812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0">
                <a:solidFill>
                  <a:srgbClr val="000000"/>
                </a:solidFill>
                <a:latin typeface="Cambria Math"/>
              </a:rPr>
              <a:t>τ</a:t>
            </a:r>
            <a:r>
              <a:rPr sz="672" b="0">
                <a:solidFill>
                  <a:srgbClr val="000000"/>
                </a:solidFill>
                <a:latin typeface="Cambria Math"/>
              </a:rPr>
              <a:t>46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647669" y="2120680"/>
            <a:ext cx="3137726" cy="1812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0">
                <a:solidFill>
                  <a:srgbClr val="000000"/>
                </a:solidFill>
                <a:latin typeface="Cambria Math"/>
              </a:rPr>
              <a:t>τ</a:t>
            </a:r>
            <a:r>
              <a:rPr sz="672" b="0">
                <a:solidFill>
                  <a:srgbClr val="000000"/>
                </a:solidFill>
                <a:latin typeface="Cambria Math"/>
              </a:rPr>
              <a:t>67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141047" y="1738612"/>
            <a:ext cx="2644349" cy="1812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0">
                <a:solidFill>
                  <a:srgbClr val="000000"/>
                </a:solidFill>
                <a:latin typeface="Cambria Math"/>
              </a:rPr>
              <a:t>τ</a:t>
            </a:r>
            <a:r>
              <a:rPr sz="672" b="0">
                <a:solidFill>
                  <a:srgbClr val="000000"/>
                </a:solidFill>
                <a:latin typeface="Cambria Math"/>
              </a:rPr>
              <a:t>37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63329" y="1525845"/>
            <a:ext cx="3222066" cy="1812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0">
                <a:solidFill>
                  <a:srgbClr val="000000"/>
                </a:solidFill>
                <a:latin typeface="Cambria Math"/>
              </a:rPr>
              <a:t>τ</a:t>
            </a:r>
            <a:r>
              <a:rPr sz="672" b="0">
                <a:solidFill>
                  <a:srgbClr val="000000"/>
                </a:solidFill>
                <a:latin typeface="Cambria Math"/>
              </a:rP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52955" y="2492287"/>
            <a:ext cx="2832440" cy="1812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0">
                <a:solidFill>
                  <a:srgbClr val="000000"/>
                </a:solidFill>
                <a:latin typeface="Cambria Math"/>
              </a:rPr>
              <a:t>τ</a:t>
            </a:r>
            <a:r>
              <a:rPr sz="672" b="0">
                <a:solidFill>
                  <a:srgbClr val="000000"/>
                </a:solidFill>
                <a:latin typeface="Cambria Math"/>
              </a:rPr>
              <a:t>15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911600" y="2120798"/>
            <a:ext cx="2873795" cy="1812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0">
                <a:solidFill>
                  <a:srgbClr val="000000"/>
                </a:solidFill>
                <a:latin typeface="Cambria Math"/>
              </a:rPr>
              <a:t>τ</a:t>
            </a:r>
            <a:r>
              <a:rPr sz="672" b="0">
                <a:solidFill>
                  <a:srgbClr val="000000"/>
                </a:solidFill>
                <a:latin typeface="Cambria Math"/>
              </a:rPr>
              <a:t>57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58508" y="1967233"/>
            <a:ext cx="2626887" cy="1812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0">
                <a:solidFill>
                  <a:srgbClr val="000000"/>
                </a:solidFill>
                <a:latin typeface="Cambria Math"/>
              </a:rPr>
              <a:t>τ</a:t>
            </a:r>
            <a:r>
              <a:rPr sz="672" b="0">
                <a:solidFill>
                  <a:srgbClr val="000000"/>
                </a:solidFill>
                <a:latin typeface="Cambria Math"/>
              </a:rPr>
              <a:t>47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34456" y="1501769"/>
            <a:ext cx="2350939" cy="1812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0">
                <a:solidFill>
                  <a:srgbClr val="000000"/>
                </a:solidFill>
                <a:latin typeface="Cambria Math"/>
              </a:rPr>
              <a:t>τ</a:t>
            </a:r>
            <a:r>
              <a:rPr sz="672" b="0">
                <a:solidFill>
                  <a:srgbClr val="000000"/>
                </a:solidFill>
                <a:latin typeface="Cambria Math"/>
              </a:rPr>
              <a:t>35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354207" y="2281995"/>
            <a:ext cx="3431189" cy="1812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0">
                <a:solidFill>
                  <a:srgbClr val="000000"/>
                </a:solidFill>
                <a:latin typeface="Cambria Math"/>
              </a:rPr>
              <a:t>τ</a:t>
            </a:r>
            <a:r>
              <a:rPr sz="672" b="0">
                <a:solidFill>
                  <a:srgbClr val="000000"/>
                </a:solidFill>
                <a:latin typeface="Cambria Math"/>
              </a:rPr>
              <a:t>26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58974" y="1904859"/>
            <a:ext cx="4126421" cy="1812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0">
                <a:solidFill>
                  <a:srgbClr val="000000"/>
                </a:solidFill>
                <a:latin typeface="Josefin Sans"/>
              </a:rPr>
              <a:t>Origin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540545" y="2652199"/>
            <a:ext cx="2244850" cy="1812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0">
                <a:solidFill>
                  <a:srgbClr val="000000"/>
                </a:solidFill>
                <a:latin typeface="Josefin Sans"/>
              </a:rPr>
              <a:t>Destination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24271" y="3150693"/>
            <a:ext cx="1611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33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7547999" y="-24159331"/>
            <a:ext cx="677189" cy="451461"/>
          </a:xfrm>
          <a:prstGeom prst="line">
            <a:avLst/>
          </a:prstGeom>
          <a:ln w="38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391063" y="-24169659"/>
            <a:ext cx="381776" cy="190889"/>
          </a:xfrm>
          <a:prstGeom prst="line">
            <a:avLst/>
          </a:prstGeom>
          <a:ln w="38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28107949" y="-23881830"/>
            <a:ext cx="670923" cy="447283"/>
          </a:xfrm>
          <a:prstGeom prst="line">
            <a:avLst/>
          </a:prstGeom>
          <a:ln w="38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8058389" y="-24121478"/>
            <a:ext cx="216359" cy="649077"/>
          </a:xfrm>
          <a:prstGeom prst="line">
            <a:avLst/>
          </a:prstGeom>
          <a:ln w="38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7553561" y="-23618477"/>
            <a:ext cx="388513" cy="194258"/>
          </a:xfrm>
          <a:prstGeom prst="line">
            <a:avLst/>
          </a:prstGeom>
          <a:ln w="38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561251" y="-23916526"/>
            <a:ext cx="1203250" cy="240651"/>
          </a:xfrm>
          <a:prstGeom prst="line">
            <a:avLst/>
          </a:prstGeom>
          <a:ln w="38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85608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Taking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graph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4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8312" y="3150918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813" y="3150694"/>
            <a:ext cx="1615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34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147672" y="1240995"/>
            <a:ext cx="677190" cy="451461"/>
          </a:xfrm>
          <a:prstGeom prst="line">
            <a:avLst/>
          </a:prstGeom>
          <a:ln w="38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990739" y="1230666"/>
            <a:ext cx="381775" cy="190890"/>
          </a:xfrm>
          <a:prstGeom prst="line">
            <a:avLst/>
          </a:prstGeom>
          <a:ln w="38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2707624" y="1518495"/>
            <a:ext cx="670923" cy="447283"/>
          </a:xfrm>
          <a:prstGeom prst="line">
            <a:avLst/>
          </a:prstGeom>
          <a:ln w="38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658063" y="1278849"/>
            <a:ext cx="216360" cy="649075"/>
          </a:xfrm>
          <a:prstGeom prst="line">
            <a:avLst/>
          </a:prstGeom>
          <a:ln w="38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153235" y="1781849"/>
            <a:ext cx="388512" cy="194258"/>
          </a:xfrm>
          <a:prstGeom prst="line">
            <a:avLst/>
          </a:prstGeom>
          <a:ln w="38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160925" y="1483800"/>
            <a:ext cx="1203250" cy="240651"/>
          </a:xfrm>
          <a:prstGeom prst="line">
            <a:avLst/>
          </a:prstGeom>
          <a:ln w="38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85608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Taking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graph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4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56637" y="1691497"/>
            <a:ext cx="3728758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77760" y="1137255"/>
            <a:ext cx="2907635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31308" y="1413873"/>
            <a:ext cx="2354087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00047" y="1968613"/>
            <a:ext cx="3185348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14484" y="1398337"/>
            <a:ext cx="3470911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τ</a:t>
            </a:r>
            <a:r>
              <a:rPr sz="613" b="0">
                <a:solidFill>
                  <a:srgbClr val="000000"/>
                </a:solidFill>
                <a:latin typeface="Cambria Math"/>
              </a:rPr>
              <a:t>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19106" y="1257725"/>
            <a:ext cx="2566289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τ</a:t>
            </a:r>
            <a:r>
              <a:rPr sz="613" b="0">
                <a:solidFill>
                  <a:srgbClr val="000000"/>
                </a:solidFill>
                <a:latin typeface="Cambria Math"/>
              </a:rPr>
              <a:t>23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80567" y="1742195"/>
            <a:ext cx="2704828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τ</a:t>
            </a:r>
            <a:r>
              <a:rPr sz="613" b="0">
                <a:solidFill>
                  <a:srgbClr val="000000"/>
                </a:solidFill>
                <a:latin typeface="Cambria Math"/>
              </a:rPr>
              <a:t>34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40373" y="1697264"/>
            <a:ext cx="3245022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τ</a:t>
            </a:r>
            <a:r>
              <a:rPr sz="613" b="0">
                <a:solidFill>
                  <a:srgbClr val="000000"/>
                </a:solidFill>
                <a:latin typeface="Cambria Math"/>
              </a:rPr>
              <a:t>24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75711" y="1810580"/>
            <a:ext cx="3609684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τ</a:t>
            </a:r>
            <a:r>
              <a:rPr sz="613" b="0">
                <a:solidFill>
                  <a:srgbClr val="000000"/>
                </a:solidFill>
                <a:latin typeface="Cambria Math"/>
              </a:rPr>
              <a:t>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96208" y="1407125"/>
            <a:ext cx="2789187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τ</a:t>
            </a:r>
            <a:r>
              <a:rPr sz="613" b="0">
                <a:solidFill>
                  <a:srgbClr val="000000"/>
                </a:solidFill>
                <a:latin typeface="Cambria Math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55558" y="1685123"/>
            <a:ext cx="4129837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Origin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3290" y="1417597"/>
            <a:ext cx="2192105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Destination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98314" y="3150918"/>
            <a:ext cx="8870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814" y="3150694"/>
            <a:ext cx="1615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34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147672" y="1240995"/>
            <a:ext cx="677190" cy="451461"/>
          </a:xfrm>
          <a:prstGeom prst="line">
            <a:avLst/>
          </a:prstGeom>
          <a:ln w="38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990739" y="1230666"/>
            <a:ext cx="381775" cy="190890"/>
          </a:xfrm>
          <a:prstGeom prst="line">
            <a:avLst/>
          </a:prstGeom>
          <a:ln w="38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2707624" y="1518495"/>
            <a:ext cx="670923" cy="447283"/>
          </a:xfrm>
          <a:prstGeom prst="line">
            <a:avLst/>
          </a:prstGeom>
          <a:ln w="38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658063" y="1278849"/>
            <a:ext cx="216360" cy="649075"/>
          </a:xfrm>
          <a:prstGeom prst="line">
            <a:avLst/>
          </a:prstGeom>
          <a:ln w="38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153235" y="1781849"/>
            <a:ext cx="388512" cy="194258"/>
          </a:xfrm>
          <a:prstGeom prst="line">
            <a:avLst/>
          </a:prstGeom>
          <a:ln w="38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160925" y="1483800"/>
            <a:ext cx="1203250" cy="240651"/>
          </a:xfrm>
          <a:prstGeom prst="line">
            <a:avLst/>
          </a:prstGeom>
          <a:ln w="38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85608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Taking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graph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4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56637" y="1691497"/>
            <a:ext cx="3728758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77760" y="1137255"/>
            <a:ext cx="2907635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31308" y="1413873"/>
            <a:ext cx="2354087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00047" y="1968613"/>
            <a:ext cx="3185348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14484" y="1398337"/>
            <a:ext cx="3470911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τ</a:t>
            </a:r>
            <a:r>
              <a:rPr sz="613" b="0">
                <a:solidFill>
                  <a:srgbClr val="000000"/>
                </a:solidFill>
                <a:latin typeface="Cambria Math"/>
              </a:rPr>
              <a:t>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19106" y="1257725"/>
            <a:ext cx="2566289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τ</a:t>
            </a:r>
            <a:r>
              <a:rPr sz="613" b="0">
                <a:solidFill>
                  <a:srgbClr val="000000"/>
                </a:solidFill>
                <a:latin typeface="Cambria Math"/>
              </a:rPr>
              <a:t>23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80567" y="1742195"/>
            <a:ext cx="2704828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τ</a:t>
            </a:r>
            <a:r>
              <a:rPr sz="613" b="0">
                <a:solidFill>
                  <a:srgbClr val="000000"/>
                </a:solidFill>
                <a:latin typeface="Cambria Math"/>
              </a:rPr>
              <a:t>34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40373" y="1697264"/>
            <a:ext cx="3245022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τ</a:t>
            </a:r>
            <a:r>
              <a:rPr sz="613" b="0">
                <a:solidFill>
                  <a:srgbClr val="000000"/>
                </a:solidFill>
                <a:latin typeface="Cambria Math"/>
              </a:rPr>
              <a:t>24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75711" y="1810580"/>
            <a:ext cx="3609684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τ</a:t>
            </a:r>
            <a:r>
              <a:rPr sz="613" b="0">
                <a:solidFill>
                  <a:srgbClr val="000000"/>
                </a:solidFill>
                <a:latin typeface="Cambria Math"/>
              </a:rPr>
              <a:t>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96208" y="1407125"/>
            <a:ext cx="2789187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τ</a:t>
            </a:r>
            <a:r>
              <a:rPr sz="613" b="0">
                <a:solidFill>
                  <a:srgbClr val="000000"/>
                </a:solidFill>
                <a:latin typeface="Cambria Math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55558" y="1685123"/>
            <a:ext cx="4129837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Origin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3290" y="1417597"/>
            <a:ext cx="2192105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Destination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0007" y="2262661"/>
            <a:ext cx="54253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 aim is to go from node 1 to node 3.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 the pheromone amount deposited on the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0007" y="2434734"/>
            <a:ext cx="54253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98314" y="3150917"/>
            <a:ext cx="8870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23814" y="3150693"/>
            <a:ext cx="1615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34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9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085" y="745285"/>
            <a:ext cx="52783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amount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Strictly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5" y="897114"/>
            <a:ext cx="51483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speaking,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not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beginning.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319" y="3150919"/>
            <a:ext cx="8870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133" y="3150695"/>
            <a:ext cx="1622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35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9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085" y="745285"/>
            <a:ext cx="52783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amount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Strictly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5" y="897114"/>
            <a:ext cx="51483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speaking,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not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beginning.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2790" y="1124864"/>
            <a:ext cx="530260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Start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origin.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8319" y="3150919"/>
            <a:ext cx="8870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133" y="3150695"/>
            <a:ext cx="1622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35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9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085" y="745285"/>
            <a:ext cx="52783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amount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Strictly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5" y="897114"/>
            <a:ext cx="51483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speaking,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not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beginning.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2790" y="1124864"/>
            <a:ext cx="530260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Start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origin.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1151" y="1352612"/>
            <a:ext cx="530424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3.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destination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probability.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319" y="3150919"/>
            <a:ext cx="8870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133" y="3150695"/>
            <a:ext cx="16226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085" y="745285"/>
            <a:ext cx="52783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amount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Strictly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5" y="897114"/>
            <a:ext cx="51483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speaking,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not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beginning.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2790" y="1124864"/>
            <a:ext cx="530260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Start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origin.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1151" y="1352612"/>
            <a:ext cx="530424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3.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destination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probability.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1406" y="1580362"/>
            <a:ext cx="530398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4.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8313" y="3150919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3127" y="3150695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085" y="745285"/>
            <a:ext cx="52783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amount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Strictly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5" y="897114"/>
            <a:ext cx="51483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speaking,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not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beginning.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2790" y="1124864"/>
            <a:ext cx="530260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Start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origin.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1151" y="1352612"/>
            <a:ext cx="530424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3.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destination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probability.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1406" y="1580362"/>
            <a:ext cx="530398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4.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263" y="1808097"/>
            <a:ext cx="530513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5.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Evaporate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8313" y="3150919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127" y="3150695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35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085" y="745285"/>
            <a:ext cx="52783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amount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Strictly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5" y="897114"/>
            <a:ext cx="51483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speaking,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not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beginning.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2790" y="1124864"/>
            <a:ext cx="530260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Start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origin.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1151" y="1352612"/>
            <a:ext cx="530424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3.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destination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probability.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1406" y="1580362"/>
            <a:ext cx="530398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4.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263" y="1808097"/>
            <a:ext cx="530513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5.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Evaporate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0008" y="2035847"/>
            <a:ext cx="530538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6.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Deposit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increment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094" y="2187675"/>
            <a:ext cx="51483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amount.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8313" y="3150919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3127" y="3150695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35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085" y="745285"/>
            <a:ext cx="52783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amount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Strictly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5" y="897114"/>
            <a:ext cx="51483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speaking,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not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beginning.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2790" y="1124864"/>
            <a:ext cx="530260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Start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origin.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1151" y="1352612"/>
            <a:ext cx="530424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3.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destination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probability.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1406" y="1580362"/>
            <a:ext cx="530398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4.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263" y="1808097"/>
            <a:ext cx="530513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5.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Evaporate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0008" y="2035847"/>
            <a:ext cx="530538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6.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Deposit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increment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094" y="2187675"/>
            <a:ext cx="51483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amount.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6714" y="2415425"/>
            <a:ext cx="52986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7.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3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6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true.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8313" y="3150919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23127" y="3150695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35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085" y="745285"/>
            <a:ext cx="52783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amount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Strictly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5" y="897114"/>
            <a:ext cx="51483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speaking,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not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beginning.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2790" y="1124864"/>
            <a:ext cx="530260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Start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origin.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1151" y="1352612"/>
            <a:ext cx="530424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3.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destination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probability.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1406" y="1580362"/>
            <a:ext cx="530398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4.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263" y="1808097"/>
            <a:ext cx="530513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5.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Evaporate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0008" y="2035847"/>
            <a:ext cx="530538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6.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Deposit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increment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094" y="2187675"/>
            <a:ext cx="51483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amount.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6714" y="2415425"/>
            <a:ext cx="52986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7.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3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6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true.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914" y="2643174"/>
            <a:ext cx="53034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8.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shortest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solution.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8314" y="3150919"/>
            <a:ext cx="8870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23129" y="3150695"/>
            <a:ext cx="1622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35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085" y="684554"/>
            <a:ext cx="52783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amount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Strictly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5" y="836383"/>
            <a:ext cx="51483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speaking,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not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beginning.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2790" y="1064131"/>
            <a:ext cx="530260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Start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origin.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1151" y="1291880"/>
            <a:ext cx="530424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3.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Identify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the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path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of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each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ant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from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origin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to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destination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based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on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the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edge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5" y="1444082"/>
            <a:ext cx="51483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3373"/>
                </a:solidFill>
                <a:latin typeface="Josefin Sans"/>
              </a:rPr>
              <a:t>probability.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1406" y="1671458"/>
            <a:ext cx="530398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4.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0263" y="1899207"/>
            <a:ext cx="530513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5.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Evaporate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0008" y="2126943"/>
            <a:ext cx="530538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6.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Deposit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increment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7094" y="2278784"/>
            <a:ext cx="51483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amount.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6714" y="2506520"/>
            <a:ext cx="52986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7.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3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6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true.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1914" y="2734269"/>
            <a:ext cx="53034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8.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shortest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solution.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98314" y="3150917"/>
            <a:ext cx="8870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22976" y="3150693"/>
            <a:ext cx="1624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36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291994" y="1016126"/>
            <a:ext cx="4741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998013" y="1016126"/>
            <a:ext cx="479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985768" y="712332"/>
            <a:ext cx="503918" cy="2519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985768" y="1067960"/>
            <a:ext cx="504706" cy="25235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8033482" y="-23301856"/>
            <a:ext cx="861988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80005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60280" y="950586"/>
            <a:ext cx="29251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66984" y="950586"/>
            <a:ext cx="22184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66083" y="589931"/>
            <a:ext cx="22193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223" y="1310593"/>
            <a:ext cx="22191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19223" y="950281"/>
            <a:ext cx="36661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41879" y="838367"/>
            <a:ext cx="33435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70249" y="838367"/>
            <a:ext cx="251514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76485" y="597562"/>
            <a:ext cx="25089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77069" y="1079464"/>
            <a:ext cx="25083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8314" y="3150916"/>
            <a:ext cx="8870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7002" y="3150692"/>
            <a:ext cx="1583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37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291994" y="1016126"/>
            <a:ext cx="4741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998013" y="1016126"/>
            <a:ext cx="479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985768" y="712332"/>
            <a:ext cx="503918" cy="2519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985768" y="1067960"/>
            <a:ext cx="504706" cy="25235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633154" y="2098470"/>
            <a:ext cx="861986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80005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60280" y="950586"/>
            <a:ext cx="29251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66984" y="950586"/>
            <a:ext cx="22184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66083" y="589931"/>
            <a:ext cx="22193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223" y="1310593"/>
            <a:ext cx="22191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19223" y="950281"/>
            <a:ext cx="36661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41879" y="838367"/>
            <a:ext cx="33435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70249" y="838367"/>
            <a:ext cx="251514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76485" y="597562"/>
            <a:ext cx="25089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77069" y="1079464"/>
            <a:ext cx="25083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9993" y="164846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choosing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2)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49664" y="2024826"/>
            <a:ext cx="35357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76929" y="1910004"/>
            <a:ext cx="28084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α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037495" y="1997393"/>
            <a:ext cx="274790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33154" y="2101317"/>
            <a:ext cx="315224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α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93720" y="2101317"/>
            <a:ext cx="30916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37496" y="2101317"/>
            <a:ext cx="27478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α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81273" y="2188718"/>
            <a:ext cx="240412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98314" y="3150916"/>
            <a:ext cx="8870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27002" y="3150692"/>
            <a:ext cx="1583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37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291994" y="1016126"/>
            <a:ext cx="4741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998013" y="1016126"/>
            <a:ext cx="479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985768" y="712332"/>
            <a:ext cx="503918" cy="2519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985768" y="1067960"/>
            <a:ext cx="504706" cy="25235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633154" y="2098470"/>
            <a:ext cx="861986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-2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80002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60280" y="950586"/>
            <a:ext cx="29251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66984" y="950586"/>
            <a:ext cx="22184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66083" y="589931"/>
            <a:ext cx="22193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223" y="1310593"/>
            <a:ext cx="22191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19223" y="950281"/>
            <a:ext cx="36661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41879" y="838367"/>
            <a:ext cx="33435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70249" y="838367"/>
            <a:ext cx="251514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76485" y="597562"/>
            <a:ext cx="25089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77069" y="1079464"/>
            <a:ext cx="25083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9993" y="164846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choosing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2)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49664" y="2024826"/>
            <a:ext cx="35357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76929" y="1910004"/>
            <a:ext cx="28084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α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037495" y="1997393"/>
            <a:ext cx="274790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33154" y="2101317"/>
            <a:ext cx="315224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α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93720" y="2101317"/>
            <a:ext cx="30916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37496" y="2101317"/>
            <a:ext cx="27478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α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81273" y="2188718"/>
            <a:ext cx="240412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9993" y="259187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amplify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influence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98311" y="3150916"/>
            <a:ext cx="8870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26999" y="3150692"/>
            <a:ext cx="1583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37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291994" y="1016126"/>
            <a:ext cx="4741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998013" y="1016126"/>
            <a:ext cx="4792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985768" y="712332"/>
            <a:ext cx="503918" cy="2519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985768" y="1067960"/>
            <a:ext cx="504706" cy="25235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633154" y="2098470"/>
            <a:ext cx="861986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60280" y="950586"/>
            <a:ext cx="29251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66984" y="950586"/>
            <a:ext cx="221841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66083" y="589931"/>
            <a:ext cx="22193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223" y="1310593"/>
            <a:ext cx="22191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19223" y="950281"/>
            <a:ext cx="36661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41879" y="838367"/>
            <a:ext cx="33435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70249" y="838367"/>
            <a:ext cx="251514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76485" y="597562"/>
            <a:ext cx="25089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77069" y="1079464"/>
            <a:ext cx="25083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9993" y="164846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choosing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2)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49664" y="2024826"/>
            <a:ext cx="35357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76929" y="1910004"/>
            <a:ext cx="28084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α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037495" y="1997393"/>
            <a:ext cx="274790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33154" y="2101317"/>
            <a:ext cx="315224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α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93720" y="2101317"/>
            <a:ext cx="30916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37496" y="2101317"/>
            <a:ext cx="27478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α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81273" y="2188718"/>
            <a:ext cx="240412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9993" y="259187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α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positive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amplify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influence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9992" y="2849985"/>
            <a:ext cx="54254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case,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edges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2)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3)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4)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98311" y="3150917"/>
            <a:ext cx="8870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26999" y="3150693"/>
            <a:ext cx="1583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37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56891" y="1536700"/>
            <a:ext cx="4741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549542" y="827622"/>
            <a:ext cx="102470" cy="58114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25177" y="1471159"/>
            <a:ext cx="2560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84119" y="1470842"/>
            <a:ext cx="33012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06775" y="1358927"/>
            <a:ext cx="297862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181411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0,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19861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8313" y="3150916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4105" y="3150692"/>
            <a:ext cx="16129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38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56891" y="1536700"/>
            <a:ext cx="47419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549542" y="827622"/>
            <a:ext cx="102470" cy="58114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25177" y="1471159"/>
            <a:ext cx="2560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84119" y="1470842"/>
            <a:ext cx="33012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06775" y="1358927"/>
            <a:ext cx="297862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181411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0,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19861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0)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9993" y="224429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create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loops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constructed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loops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removed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9993" y="241636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constructed,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destination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reached.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8313" y="3150916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24105" y="3150692"/>
            <a:ext cx="16129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38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085" y="745285"/>
            <a:ext cx="52783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amount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Strictly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5" y="897114"/>
            <a:ext cx="51483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speaking,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not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beginning.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2790" y="1124864"/>
            <a:ext cx="530260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Start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origin.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1151" y="1352612"/>
            <a:ext cx="530424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3.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destination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probability.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1406" y="1580362"/>
            <a:ext cx="530398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4.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Calculate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the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path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length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of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each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ant.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262" y="1808097"/>
            <a:ext cx="530513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5.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Evaporate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0008" y="2035847"/>
            <a:ext cx="530538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6.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Deposit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increment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094" y="2187675"/>
            <a:ext cx="51483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amount.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6714" y="2415425"/>
            <a:ext cx="52986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7.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3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6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true.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914" y="2643174"/>
            <a:ext cx="53034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8.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shortest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solution.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8314" y="3150919"/>
            <a:ext cx="8870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22976" y="3150695"/>
            <a:ext cx="1624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39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37179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L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chosen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5941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questions.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equivalent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PSO.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16295" y="3150693"/>
            <a:ext cx="1691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40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085" y="745285"/>
            <a:ext cx="52783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amount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Strictly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5" y="897114"/>
            <a:ext cx="51483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speaking,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not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beginning.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2790" y="1124864"/>
            <a:ext cx="530260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Start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origin.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1151" y="1352612"/>
            <a:ext cx="530424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3.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destination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probability.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1406" y="1580362"/>
            <a:ext cx="530398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4.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263" y="1808097"/>
            <a:ext cx="530513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5.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Evaporate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the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pheromone.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0008" y="2035847"/>
            <a:ext cx="530538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6.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Deposit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increment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094" y="2187675"/>
            <a:ext cx="51483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amount.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6714" y="2415425"/>
            <a:ext cx="52986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7.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3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6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true.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914" y="2643174"/>
            <a:ext cx="53034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8.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shortest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solution.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8314" y="3150919"/>
            <a:ext cx="8870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39372" y="3150695"/>
            <a:ext cx="1460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41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7306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evaporation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formula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5801" y="1484843"/>
            <a:ext cx="33595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(1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ρ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313" y="3150919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4791" y="3150695"/>
            <a:ext cx="1606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42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7306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evaporation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formula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5801" y="1484843"/>
            <a:ext cx="33595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(1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ρ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79556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ρ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constant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inclusively,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specifies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96765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evaporate.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313" y="3150919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4791" y="3150695"/>
            <a:ext cx="1606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085" y="745285"/>
            <a:ext cx="52783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amount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Strictly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5" y="897114"/>
            <a:ext cx="51483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speaking,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not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beginning.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2790" y="1124864"/>
            <a:ext cx="530260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Start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origin.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1151" y="1352612"/>
            <a:ext cx="530424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3.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destination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probability.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1406" y="1580362"/>
            <a:ext cx="530398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4.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263" y="1808097"/>
            <a:ext cx="530513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5.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Evaporate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0008" y="2035847"/>
            <a:ext cx="530538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6.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Deposit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the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pheromone,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i.e.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calculate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the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increment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of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pheromone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on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each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edge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094" y="2188049"/>
            <a:ext cx="51483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3373"/>
                </a:solidFill>
                <a:latin typeface="Josefin Sans"/>
              </a:rPr>
              <a:t>based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on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the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path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length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and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update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the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pheromone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amount.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6712" y="2415425"/>
            <a:ext cx="529868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7.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3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6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true.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911" y="2643174"/>
            <a:ext cx="530348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8.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shortest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solution.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8311" y="3150919"/>
            <a:ext cx="8870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23811" y="3150695"/>
            <a:ext cx="1615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43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427182" y="-24140132"/>
            <a:ext cx="159308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434006" y="-23570765"/>
            <a:ext cx="131216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65106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amount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deposit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inversely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82314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proportional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took.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314" y="3150917"/>
            <a:ext cx="8870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967" y="3150693"/>
            <a:ext cx="1614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44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026855" y="1260194"/>
            <a:ext cx="159309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434006" y="-23570764"/>
            <a:ext cx="131216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65106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amount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deposit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inversely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82314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proportional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took.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58657" y="1158520"/>
            <a:ext cx="32267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∆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34679" y="1092836"/>
            <a:ext cx="30507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∝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26855" y="1270775"/>
            <a:ext cx="27585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L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8314" y="3150919"/>
            <a:ext cx="8870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967" y="3150695"/>
            <a:ext cx="1614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44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026855" y="1260194"/>
            <a:ext cx="159309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033677" y="1829561"/>
            <a:ext cx="131216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65106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amount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deposit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inversely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82314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proportional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took.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58657" y="1158520"/>
            <a:ext cx="32267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∆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34679" y="1092836"/>
            <a:ext cx="30507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∝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26855" y="1270775"/>
            <a:ext cx="27585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L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9995" y="1734821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simplest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∆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41501" y="1755929"/>
            <a:ext cx="40438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72399" y="1730541"/>
            <a:ext cx="37129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33677" y="1753607"/>
            <a:ext cx="37517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L</a:t>
            </a:r>
            <a:r>
              <a:rPr sz="5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98314" y="3150917"/>
            <a:ext cx="8870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23967" y="3150693"/>
            <a:ext cx="1614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44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026855" y="1260194"/>
            <a:ext cx="159309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033677" y="1829561"/>
            <a:ext cx="131216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65106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amount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deposit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inversely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82314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proportional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took.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58657" y="1158520"/>
            <a:ext cx="32267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∆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34679" y="1092836"/>
            <a:ext cx="30507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∝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26855" y="1270775"/>
            <a:ext cx="27585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L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9995" y="1734821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simplest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∆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41501" y="1755929"/>
            <a:ext cx="40438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72399" y="1730541"/>
            <a:ext cx="37129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33677" y="1753607"/>
            <a:ext cx="37517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L</a:t>
            </a:r>
            <a:r>
              <a:rPr sz="5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9995" y="2064084"/>
            <a:ext cx="5425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concentration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9995" y="2236156"/>
            <a:ext cx="54254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system,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04390" y="2513547"/>
            <a:ext cx="34810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02509" y="2363991"/>
            <a:ext cx="278288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597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64117" y="2481543"/>
            <a:ext cx="28212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66111" y="2712301"/>
            <a:ext cx="28192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187320" y="2485505"/>
            <a:ext cx="25980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∆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63341" y="2576970"/>
            <a:ext cx="24220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98314" y="3150917"/>
            <a:ext cx="8870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967" y="3150693"/>
            <a:ext cx="1614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44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085" y="745285"/>
            <a:ext cx="527831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amount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Strictly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5" y="897114"/>
            <a:ext cx="51483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speaking,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not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beginning.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2790" y="1124864"/>
            <a:ext cx="530260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Start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origin.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1151" y="1352612"/>
            <a:ext cx="530424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3.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destination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probability.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1406" y="1580362"/>
            <a:ext cx="530398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4.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263" y="1808097"/>
            <a:ext cx="530513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5.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Evaporate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0008" y="2035847"/>
            <a:ext cx="530538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6.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Deposit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increment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094" y="2187675"/>
            <a:ext cx="51483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amount.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6714" y="2415425"/>
            <a:ext cx="52986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7.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Repeat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3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6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termination</a:t>
            </a:r>
            <a:r>
              <a:rPr sz="996" b="1">
                <a:solidFill>
                  <a:srgbClr val="003373"/>
                </a:solidFill>
                <a:latin typeface="Josefin Sans"/>
              </a:rPr>
              <a:t> </a:t>
            </a:r>
            <a:r>
              <a:rPr sz="996" b="1">
                <a:solidFill>
                  <a:srgbClr val="003373"/>
                </a:solidFill>
                <a:latin typeface="Josefin Sans"/>
              </a:rPr>
              <a:t>condition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true.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913" y="2643174"/>
            <a:ext cx="530348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8.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shortest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solution.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8313" y="3150919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23280" y="3150695"/>
            <a:ext cx="1621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45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8116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conditions: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8313" y="3150920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127" y="3150696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46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8116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conditions: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1395512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iterations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exceeded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313" y="3150917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127" y="3150693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46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8116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conditions: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1395512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iterations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exceeded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653627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acceptable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found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8313" y="3150917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127" y="3150693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46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8116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conditions: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1395512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iterations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exceeded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653627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acceptable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found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7" y="1911742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follow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314" y="3150917"/>
            <a:ext cx="8870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129" y="3150693"/>
            <a:ext cx="1622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46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33285" y="711695"/>
            <a:ext cx="4535970" cy="0"/>
          </a:xfrm>
          <a:prstGeom prst="line">
            <a:avLst/>
          </a:prstGeom>
          <a:ln w="1012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33285" y="907402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33283" y="2153399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12012" y="2255875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12013" y="3847250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12012" y="2255875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7192516" y="-22353381"/>
            <a:ext cx="253709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12016" y="3812959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3285" y="740160"/>
            <a:ext cx="51521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27153" y="3150693"/>
            <a:ext cx="1582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33285" y="711695"/>
            <a:ext cx="4535970" cy="0"/>
          </a:xfrm>
          <a:prstGeom prst="line">
            <a:avLst/>
          </a:prstGeom>
          <a:ln w="1012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33285" y="907402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33283" y="2153399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12012" y="2255875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12013" y="3847250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12012" y="2255875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7192516" y="-22353381"/>
            <a:ext cx="253709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12016" y="3812959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3285" y="740160"/>
            <a:ext cx="51521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1828" y="928552"/>
            <a:ext cx="50135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(0)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zero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(0)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27153" y="3150693"/>
            <a:ext cx="1582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33285" y="711695"/>
            <a:ext cx="4535970" cy="0"/>
          </a:xfrm>
          <a:prstGeom prst="line">
            <a:avLst/>
          </a:prstGeom>
          <a:ln w="1012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33285" y="907402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33286" y="2153396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12012" y="2255875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12013" y="3847250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12012" y="2255875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7192516" y="-22353381"/>
            <a:ext cx="253709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12016" y="3812959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3285" y="740160"/>
            <a:ext cx="51521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1828" y="928552"/>
            <a:ext cx="50135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(0)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zero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(0)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1827" y="1101033"/>
            <a:ext cx="50135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1829" y="1788924"/>
            <a:ext cx="50135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7153" y="3150693"/>
            <a:ext cx="1582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33285" y="711695"/>
            <a:ext cx="4535970" cy="0"/>
          </a:xfrm>
          <a:prstGeom prst="line">
            <a:avLst/>
          </a:prstGeom>
          <a:ln w="1012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33285" y="907402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33286" y="2153396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12012" y="2255875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12013" y="3847250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12012" y="2255875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7192516" y="-22353381"/>
            <a:ext cx="253709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12016" y="3812959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3285" y="740160"/>
            <a:ext cx="51521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1828" y="928552"/>
            <a:ext cx="50135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(0)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zero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(0)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1827" y="1101033"/>
            <a:ext cx="50135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9638" y="1272696"/>
            <a:ext cx="48057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Place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1829" y="1788924"/>
            <a:ext cx="50135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27153" y="3150693"/>
            <a:ext cx="1582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33285" y="711695"/>
            <a:ext cx="4535970" cy="0"/>
          </a:xfrm>
          <a:prstGeom prst="line">
            <a:avLst/>
          </a:prstGeom>
          <a:ln w="1012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33285" y="907402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33286" y="2153396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12012" y="2255875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12013" y="3847250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12012" y="2255875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7192516" y="-22353381"/>
            <a:ext cx="253709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12016" y="3812959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3285" y="740160"/>
            <a:ext cx="51521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1828" y="928552"/>
            <a:ext cx="50135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(0)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zero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(0)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1827" y="1101033"/>
            <a:ext cx="50135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9638" y="1272696"/>
            <a:ext cx="48057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Place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9638" y="1444780"/>
            <a:ext cx="48057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{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1829" y="1788924"/>
            <a:ext cx="50135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7153" y="3150693"/>
            <a:ext cx="1582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33285" y="711695"/>
            <a:ext cx="4535970" cy="0"/>
          </a:xfrm>
          <a:prstGeom prst="line">
            <a:avLst/>
          </a:prstGeom>
          <a:ln w="1012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33285" y="907402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33286" y="2153396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12012" y="2255875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12013" y="3847250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12012" y="2255875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7192516" y="-22353381"/>
            <a:ext cx="253709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12016" y="3812959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3285" y="740160"/>
            <a:ext cx="51521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1828" y="928552"/>
            <a:ext cx="50135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(0)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zero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(0)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1827" y="1101033"/>
            <a:ext cx="50135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9638" y="1272696"/>
            <a:ext cx="48057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Place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9638" y="1444780"/>
            <a:ext cx="48057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{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9639" y="1616853"/>
            <a:ext cx="48057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concentration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1829" y="1788924"/>
            <a:ext cx="50135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7153" y="3150693"/>
            <a:ext cx="1582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33285" y="711695"/>
            <a:ext cx="4535970" cy="0"/>
          </a:xfrm>
          <a:prstGeom prst="line">
            <a:avLst/>
          </a:prstGeom>
          <a:ln w="10121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33285" y="907402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33286" y="2153396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12012" y="2255875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12013" y="3847250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12012" y="2255875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7192516" y="-22353381"/>
            <a:ext cx="253709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12016" y="3812959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3285" y="740160"/>
            <a:ext cx="515211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1828" y="928552"/>
            <a:ext cx="50135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(0)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zero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(0)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1827" y="1101033"/>
            <a:ext cx="50135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9638" y="1272696"/>
            <a:ext cx="48057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Place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9638" y="1444780"/>
            <a:ext cx="48057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{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9639" y="1616853"/>
            <a:ext cx="48057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concentration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1829" y="1788924"/>
            <a:ext cx="50135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1829" y="1960996"/>
            <a:ext cx="50135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Return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smallest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27153" y="3150693"/>
            <a:ext cx="1582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890560" y="623256"/>
            <a:ext cx="1978862" cy="0"/>
          </a:xfrm>
          <a:prstGeom prst="line">
            <a:avLst/>
          </a:prstGeom>
          <a:ln w="4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890560" y="708636"/>
            <a:ext cx="197886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890559" y="1252214"/>
            <a:ext cx="197886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12012" y="1353261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12013" y="2944635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12012" y="1353261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7192516" y="-23255994"/>
            <a:ext cx="253709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12016" y="2910344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90560" y="635669"/>
            <a:ext cx="389483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475" b="1">
                <a:solidFill>
                  <a:srgbClr val="000000"/>
                </a:solidFill>
                <a:latin typeface="Josefin Sans"/>
              </a:rPr>
              <a:t> </a:t>
            </a:r>
            <a:r>
              <a:rPr sz="475" b="1">
                <a:solidFill>
                  <a:srgbClr val="000000"/>
                </a:solidFill>
                <a:latin typeface="Josefin Sans"/>
              </a:rPr>
              <a:t>3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ACO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51001" y="717863"/>
            <a:ext cx="3834394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τ</a:t>
            </a:r>
            <a:r>
              <a:rPr sz="347" b="0">
                <a:solidFill>
                  <a:srgbClr val="000000"/>
                </a:solidFill>
                <a:latin typeface="Cambria Math"/>
              </a:rPr>
              <a:t>ij</a:t>
            </a:r>
            <a:r>
              <a:rPr sz="475" b="0">
                <a:solidFill>
                  <a:srgbClr val="000000"/>
                </a:solidFill>
                <a:latin typeface="Cambria Math"/>
              </a:rPr>
              <a:t>(0)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or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zero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(0)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951002" y="793109"/>
            <a:ext cx="3834393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41667" y="867999"/>
            <a:ext cx="3743729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Place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n</a:t>
            </a:r>
            <a:r>
              <a:rPr sz="347" b="0">
                <a:solidFill>
                  <a:srgbClr val="000000"/>
                </a:solidFill>
                <a:latin typeface="Cambria Math"/>
              </a:rPr>
              <a:t>k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node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41666" y="943067"/>
            <a:ext cx="3743729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for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ant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{</a:t>
            </a:r>
            <a:r>
              <a:rPr sz="475" b="0">
                <a:solidFill>
                  <a:srgbClr val="000000"/>
                </a:solidFill>
                <a:latin typeface="Cambria Math"/>
              </a:rPr>
              <a:t>1</a:t>
            </a:r>
            <a:r>
              <a:rPr sz="475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347" b="0">
                <a:solidFill>
                  <a:srgbClr val="000000"/>
                </a:solidFill>
                <a:latin typeface="Cambria Math"/>
              </a:rPr>
              <a:t>k</a:t>
            </a:r>
            <a:r>
              <a:rPr sz="475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41665" y="1018141"/>
            <a:ext cx="3743730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concentration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(</a:t>
            </a:r>
            <a:r>
              <a:rPr sz="475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475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51001" y="1093209"/>
            <a:ext cx="383439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is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51001" y="1168277"/>
            <a:ext cx="383439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Return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smallest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cost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solution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27153" y="3150693"/>
            <a:ext cx="1582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890560" y="623256"/>
            <a:ext cx="1978862" cy="0"/>
          </a:xfrm>
          <a:prstGeom prst="line">
            <a:avLst/>
          </a:prstGeom>
          <a:ln w="4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890560" y="708636"/>
            <a:ext cx="197886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040286" y="951337"/>
            <a:ext cx="113729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51257" y="951337"/>
            <a:ext cx="83024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32902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250077" y="951337"/>
            <a:ext cx="82786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1484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348660" y="951337"/>
            <a:ext cx="121104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468384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85560" y="951337"/>
            <a:ext cx="7347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557653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574828" y="951337"/>
            <a:ext cx="12309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96548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13729" y="951337"/>
            <a:ext cx="8713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99485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16660" y="951337"/>
            <a:ext cx="292383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890559" y="1252214"/>
            <a:ext cx="197886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12012" y="1353261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12013" y="2944635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12012" y="1353261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7192516" y="-23255994"/>
            <a:ext cx="253709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12016" y="2910344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90560" y="635669"/>
            <a:ext cx="389483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475" b="1">
                <a:solidFill>
                  <a:srgbClr val="000000"/>
                </a:solidFill>
                <a:latin typeface="Josefin Sans"/>
              </a:rPr>
              <a:t> </a:t>
            </a:r>
            <a:r>
              <a:rPr sz="475" b="1">
                <a:solidFill>
                  <a:srgbClr val="000000"/>
                </a:solidFill>
                <a:latin typeface="Josefin Sans"/>
              </a:rPr>
              <a:t>3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ACO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51001" y="717863"/>
            <a:ext cx="3834394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τ</a:t>
            </a:r>
            <a:r>
              <a:rPr sz="347" b="0">
                <a:solidFill>
                  <a:srgbClr val="000000"/>
                </a:solidFill>
                <a:latin typeface="Cambria Math"/>
              </a:rPr>
              <a:t>ij</a:t>
            </a:r>
            <a:r>
              <a:rPr sz="475" b="0">
                <a:solidFill>
                  <a:srgbClr val="000000"/>
                </a:solidFill>
                <a:latin typeface="Cambria Math"/>
              </a:rPr>
              <a:t>(0)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or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zero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(0)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951002" y="793109"/>
            <a:ext cx="3834393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41667" y="867999"/>
            <a:ext cx="3743729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Place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n</a:t>
            </a:r>
            <a:r>
              <a:rPr sz="347" b="0">
                <a:solidFill>
                  <a:srgbClr val="000000"/>
                </a:solidFill>
                <a:latin typeface="Cambria Math"/>
              </a:rPr>
              <a:t>k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node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41666" y="943067"/>
            <a:ext cx="3743729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for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ant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{</a:t>
            </a:r>
            <a:r>
              <a:rPr sz="475" b="0">
                <a:solidFill>
                  <a:srgbClr val="000000"/>
                </a:solidFill>
                <a:latin typeface="Cambria Math"/>
              </a:rPr>
              <a:t>1</a:t>
            </a:r>
            <a:r>
              <a:rPr sz="475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347" b="0">
                <a:solidFill>
                  <a:srgbClr val="000000"/>
                </a:solidFill>
                <a:latin typeface="Cambria Math"/>
              </a:rPr>
              <a:t>k</a:t>
            </a:r>
            <a:r>
              <a:rPr sz="475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41665" y="1018141"/>
            <a:ext cx="3743730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concentration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(</a:t>
            </a:r>
            <a:r>
              <a:rPr sz="475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475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951001" y="1093209"/>
            <a:ext cx="383439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is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51001" y="1168277"/>
            <a:ext cx="383439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Return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smallest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cost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solution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50558" y="1380062"/>
            <a:ext cx="50348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0557" y="2776709"/>
            <a:ext cx="50348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27153" y="3150693"/>
            <a:ext cx="1582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890560" y="623256"/>
            <a:ext cx="1978862" cy="0"/>
          </a:xfrm>
          <a:prstGeom prst="line">
            <a:avLst/>
          </a:prstGeom>
          <a:ln w="4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890560" y="708636"/>
            <a:ext cx="197886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040286" y="951337"/>
            <a:ext cx="113729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51257" y="951337"/>
            <a:ext cx="83024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32902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250077" y="951337"/>
            <a:ext cx="82786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1484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348660" y="951337"/>
            <a:ext cx="121104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468384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85560" y="951337"/>
            <a:ext cx="7347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557653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574828" y="951337"/>
            <a:ext cx="12309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96548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13729" y="951337"/>
            <a:ext cx="8713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99485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16660" y="951337"/>
            <a:ext cx="292383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890559" y="1252214"/>
            <a:ext cx="197886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12012" y="1353261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12013" y="2944632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12012" y="1353261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7192516" y="-23255994"/>
            <a:ext cx="253709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12016" y="2910344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90560" y="635669"/>
            <a:ext cx="389483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475" b="1">
                <a:solidFill>
                  <a:srgbClr val="000000"/>
                </a:solidFill>
                <a:latin typeface="Josefin Sans"/>
              </a:rPr>
              <a:t> </a:t>
            </a:r>
            <a:r>
              <a:rPr sz="475" b="1">
                <a:solidFill>
                  <a:srgbClr val="000000"/>
                </a:solidFill>
                <a:latin typeface="Josefin Sans"/>
              </a:rPr>
              <a:t>3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ACO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51001" y="717863"/>
            <a:ext cx="3834394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τ</a:t>
            </a:r>
            <a:r>
              <a:rPr sz="347" b="0">
                <a:solidFill>
                  <a:srgbClr val="000000"/>
                </a:solidFill>
                <a:latin typeface="Cambria Math"/>
              </a:rPr>
              <a:t>ij</a:t>
            </a:r>
            <a:r>
              <a:rPr sz="475" b="0">
                <a:solidFill>
                  <a:srgbClr val="000000"/>
                </a:solidFill>
                <a:latin typeface="Cambria Math"/>
              </a:rPr>
              <a:t>(0)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or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zero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(0)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951002" y="793109"/>
            <a:ext cx="3834393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41667" y="867999"/>
            <a:ext cx="3743729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Place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n</a:t>
            </a:r>
            <a:r>
              <a:rPr sz="347" b="0">
                <a:solidFill>
                  <a:srgbClr val="000000"/>
                </a:solidFill>
                <a:latin typeface="Cambria Math"/>
              </a:rPr>
              <a:t>k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node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41666" y="943067"/>
            <a:ext cx="3743729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for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ant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{</a:t>
            </a:r>
            <a:r>
              <a:rPr sz="475" b="0">
                <a:solidFill>
                  <a:srgbClr val="000000"/>
                </a:solidFill>
                <a:latin typeface="Cambria Math"/>
              </a:rPr>
              <a:t>1</a:t>
            </a:r>
            <a:r>
              <a:rPr sz="475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347" b="0">
                <a:solidFill>
                  <a:srgbClr val="000000"/>
                </a:solidFill>
                <a:latin typeface="Cambria Math"/>
              </a:rPr>
              <a:t>k</a:t>
            </a:r>
            <a:r>
              <a:rPr sz="475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41665" y="1018141"/>
            <a:ext cx="3743730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concentration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(</a:t>
            </a:r>
            <a:r>
              <a:rPr sz="475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475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951001" y="1093209"/>
            <a:ext cx="383439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is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51001" y="1168277"/>
            <a:ext cx="383439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Return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smallest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cost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solution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50558" y="1380062"/>
            <a:ext cx="50348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58380" y="1524201"/>
            <a:ext cx="48270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Initiate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empty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  <a:r>
              <a:rPr sz="1090" b="0">
                <a:solidFill>
                  <a:srgbClr val="000000"/>
                </a:solidFill>
                <a:latin typeface="MSBM10"/>
              </a:rPr>
              <a:t> ∅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0557" y="2776708"/>
            <a:ext cx="50348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27153" y="3150693"/>
            <a:ext cx="1582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890560" y="623256"/>
            <a:ext cx="1978862" cy="0"/>
          </a:xfrm>
          <a:prstGeom prst="line">
            <a:avLst/>
          </a:prstGeom>
          <a:ln w="4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890560" y="708636"/>
            <a:ext cx="197886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040286" y="951337"/>
            <a:ext cx="113729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51257" y="951337"/>
            <a:ext cx="83024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32902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250077" y="951337"/>
            <a:ext cx="82786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1484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348660" y="951337"/>
            <a:ext cx="121104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468384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85560" y="951337"/>
            <a:ext cx="7347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557653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574828" y="951337"/>
            <a:ext cx="12309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96548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13729" y="951337"/>
            <a:ext cx="8713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99485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16660" y="951337"/>
            <a:ext cx="292383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890559" y="1252214"/>
            <a:ext cx="197886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12012" y="1353261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12013" y="2944632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12012" y="1353261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7192516" y="-23255994"/>
            <a:ext cx="253709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12016" y="2910344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90560" y="635669"/>
            <a:ext cx="389483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475" b="1">
                <a:solidFill>
                  <a:srgbClr val="000000"/>
                </a:solidFill>
                <a:latin typeface="Josefin Sans"/>
              </a:rPr>
              <a:t> </a:t>
            </a:r>
            <a:r>
              <a:rPr sz="475" b="1">
                <a:solidFill>
                  <a:srgbClr val="000000"/>
                </a:solidFill>
                <a:latin typeface="Josefin Sans"/>
              </a:rPr>
              <a:t>3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ACO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51001" y="717863"/>
            <a:ext cx="3834394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τ</a:t>
            </a:r>
            <a:r>
              <a:rPr sz="347" b="0">
                <a:solidFill>
                  <a:srgbClr val="000000"/>
                </a:solidFill>
                <a:latin typeface="Cambria Math"/>
              </a:rPr>
              <a:t>ij</a:t>
            </a:r>
            <a:r>
              <a:rPr sz="475" b="0">
                <a:solidFill>
                  <a:srgbClr val="000000"/>
                </a:solidFill>
                <a:latin typeface="Cambria Math"/>
              </a:rPr>
              <a:t>(0)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or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zero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(0)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951002" y="793109"/>
            <a:ext cx="3834393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41667" y="867999"/>
            <a:ext cx="3743729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Place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n</a:t>
            </a:r>
            <a:r>
              <a:rPr sz="347" b="0">
                <a:solidFill>
                  <a:srgbClr val="000000"/>
                </a:solidFill>
                <a:latin typeface="Cambria Math"/>
              </a:rPr>
              <a:t>k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node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41666" y="943067"/>
            <a:ext cx="3743729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for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ant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{</a:t>
            </a:r>
            <a:r>
              <a:rPr sz="475" b="0">
                <a:solidFill>
                  <a:srgbClr val="000000"/>
                </a:solidFill>
                <a:latin typeface="Cambria Math"/>
              </a:rPr>
              <a:t>1</a:t>
            </a:r>
            <a:r>
              <a:rPr sz="475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347" b="0">
                <a:solidFill>
                  <a:srgbClr val="000000"/>
                </a:solidFill>
                <a:latin typeface="Cambria Math"/>
              </a:rPr>
              <a:t>k</a:t>
            </a:r>
            <a:r>
              <a:rPr sz="475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41665" y="1018141"/>
            <a:ext cx="3743730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concentration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(</a:t>
            </a:r>
            <a:r>
              <a:rPr sz="475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475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951001" y="1093209"/>
            <a:ext cx="383439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is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51001" y="1168277"/>
            <a:ext cx="383439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Return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smallest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cost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solution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50558" y="1380062"/>
            <a:ext cx="50348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58380" y="1524201"/>
            <a:ext cx="48270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Initiate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empty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  <a:r>
              <a:rPr sz="1090" b="0">
                <a:solidFill>
                  <a:srgbClr val="000000"/>
                </a:solidFill>
                <a:latin typeface="MSBM10"/>
              </a:rPr>
              <a:t> ∅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8380" y="1724628"/>
            <a:ext cx="48270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58382" y="2260070"/>
            <a:ext cx="48270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destination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reached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0557" y="2776708"/>
            <a:ext cx="50348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27153" y="3150693"/>
            <a:ext cx="1582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890560" y="623256"/>
            <a:ext cx="1978862" cy="0"/>
          </a:xfrm>
          <a:prstGeom prst="line">
            <a:avLst/>
          </a:prstGeom>
          <a:ln w="4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890560" y="708636"/>
            <a:ext cx="197886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040286" y="951337"/>
            <a:ext cx="113729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51257" y="951337"/>
            <a:ext cx="83024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32902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250077" y="951337"/>
            <a:ext cx="82786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1484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348660" y="951337"/>
            <a:ext cx="121104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468384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85560" y="951337"/>
            <a:ext cx="7347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557653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574828" y="951337"/>
            <a:ext cx="12309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96548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13729" y="951337"/>
            <a:ext cx="8713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99485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16660" y="951337"/>
            <a:ext cx="292383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890559" y="1252214"/>
            <a:ext cx="197886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12012" y="1353261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12013" y="2944632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12012" y="1353261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7192516" y="-23255994"/>
            <a:ext cx="253709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12016" y="2910344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90560" y="635669"/>
            <a:ext cx="389483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475" b="1">
                <a:solidFill>
                  <a:srgbClr val="000000"/>
                </a:solidFill>
                <a:latin typeface="Josefin Sans"/>
              </a:rPr>
              <a:t> </a:t>
            </a:r>
            <a:r>
              <a:rPr sz="475" b="1">
                <a:solidFill>
                  <a:srgbClr val="000000"/>
                </a:solidFill>
                <a:latin typeface="Josefin Sans"/>
              </a:rPr>
              <a:t>3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ACO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51001" y="717863"/>
            <a:ext cx="3834394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τ</a:t>
            </a:r>
            <a:r>
              <a:rPr sz="347" b="0">
                <a:solidFill>
                  <a:srgbClr val="000000"/>
                </a:solidFill>
                <a:latin typeface="Cambria Math"/>
              </a:rPr>
              <a:t>ij</a:t>
            </a:r>
            <a:r>
              <a:rPr sz="475" b="0">
                <a:solidFill>
                  <a:srgbClr val="000000"/>
                </a:solidFill>
                <a:latin typeface="Cambria Math"/>
              </a:rPr>
              <a:t>(0)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or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zero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(0)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951002" y="793109"/>
            <a:ext cx="3834393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41667" y="867999"/>
            <a:ext cx="3743729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Place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n</a:t>
            </a:r>
            <a:r>
              <a:rPr sz="347" b="0">
                <a:solidFill>
                  <a:srgbClr val="000000"/>
                </a:solidFill>
                <a:latin typeface="Cambria Math"/>
              </a:rPr>
              <a:t>k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node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41666" y="943067"/>
            <a:ext cx="3743729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for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ant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{</a:t>
            </a:r>
            <a:r>
              <a:rPr sz="475" b="0">
                <a:solidFill>
                  <a:srgbClr val="000000"/>
                </a:solidFill>
                <a:latin typeface="Cambria Math"/>
              </a:rPr>
              <a:t>1</a:t>
            </a:r>
            <a:r>
              <a:rPr sz="475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347" b="0">
                <a:solidFill>
                  <a:srgbClr val="000000"/>
                </a:solidFill>
                <a:latin typeface="Cambria Math"/>
              </a:rPr>
              <a:t>k</a:t>
            </a:r>
            <a:r>
              <a:rPr sz="475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41665" y="1018141"/>
            <a:ext cx="3743730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concentration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(</a:t>
            </a:r>
            <a:r>
              <a:rPr sz="475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475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951001" y="1093209"/>
            <a:ext cx="383439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is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51001" y="1168277"/>
            <a:ext cx="383439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Return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smallest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cost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solution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50558" y="1380062"/>
            <a:ext cx="50348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58380" y="1524201"/>
            <a:ext cx="48270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Initiate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empty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  <a:r>
              <a:rPr sz="1090" b="0">
                <a:solidFill>
                  <a:srgbClr val="000000"/>
                </a:solidFill>
                <a:latin typeface="MSBM10"/>
              </a:rPr>
              <a:t> ∅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8380" y="1724628"/>
            <a:ext cx="48270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66204" y="1877504"/>
            <a:ext cx="46191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93365" y="1896290"/>
            <a:ext cx="22920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(Slide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37)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58382" y="2260068"/>
            <a:ext cx="48270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destination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reached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0557" y="2776708"/>
            <a:ext cx="50348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27153" y="3150693"/>
            <a:ext cx="1582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890560" y="623256"/>
            <a:ext cx="1978862" cy="0"/>
          </a:xfrm>
          <a:prstGeom prst="line">
            <a:avLst/>
          </a:prstGeom>
          <a:ln w="4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890560" y="708636"/>
            <a:ext cx="197886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040286" y="951337"/>
            <a:ext cx="113729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51257" y="951337"/>
            <a:ext cx="83024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32902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250077" y="951337"/>
            <a:ext cx="82786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1484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348660" y="951337"/>
            <a:ext cx="121104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468384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85560" y="951337"/>
            <a:ext cx="7347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557653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574828" y="951337"/>
            <a:ext cx="12309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96548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13729" y="951337"/>
            <a:ext cx="8713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99485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16660" y="951337"/>
            <a:ext cx="292383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890559" y="1252214"/>
            <a:ext cx="197886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12012" y="1353261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12013" y="2944632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12012" y="1353261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7192516" y="-23255994"/>
            <a:ext cx="253709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12016" y="2910344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90560" y="635669"/>
            <a:ext cx="389483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475" b="1">
                <a:solidFill>
                  <a:srgbClr val="000000"/>
                </a:solidFill>
                <a:latin typeface="Josefin Sans"/>
              </a:rPr>
              <a:t> </a:t>
            </a:r>
            <a:r>
              <a:rPr sz="475" b="1">
                <a:solidFill>
                  <a:srgbClr val="000000"/>
                </a:solidFill>
                <a:latin typeface="Josefin Sans"/>
              </a:rPr>
              <a:t>3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ACO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51001" y="717863"/>
            <a:ext cx="3834394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τ</a:t>
            </a:r>
            <a:r>
              <a:rPr sz="347" b="0">
                <a:solidFill>
                  <a:srgbClr val="000000"/>
                </a:solidFill>
                <a:latin typeface="Cambria Math"/>
              </a:rPr>
              <a:t>ij</a:t>
            </a:r>
            <a:r>
              <a:rPr sz="475" b="0">
                <a:solidFill>
                  <a:srgbClr val="000000"/>
                </a:solidFill>
                <a:latin typeface="Cambria Math"/>
              </a:rPr>
              <a:t>(0)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or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zero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(0)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951002" y="793109"/>
            <a:ext cx="3834393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41667" y="867999"/>
            <a:ext cx="3743729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Place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n</a:t>
            </a:r>
            <a:r>
              <a:rPr sz="347" b="0">
                <a:solidFill>
                  <a:srgbClr val="000000"/>
                </a:solidFill>
                <a:latin typeface="Cambria Math"/>
              </a:rPr>
              <a:t>k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node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41666" y="943067"/>
            <a:ext cx="3743729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for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ant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{</a:t>
            </a:r>
            <a:r>
              <a:rPr sz="475" b="0">
                <a:solidFill>
                  <a:srgbClr val="000000"/>
                </a:solidFill>
                <a:latin typeface="Cambria Math"/>
              </a:rPr>
              <a:t>1</a:t>
            </a:r>
            <a:r>
              <a:rPr sz="475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347" b="0">
                <a:solidFill>
                  <a:srgbClr val="000000"/>
                </a:solidFill>
                <a:latin typeface="Cambria Math"/>
              </a:rPr>
              <a:t>k</a:t>
            </a:r>
            <a:r>
              <a:rPr sz="475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41665" y="1018141"/>
            <a:ext cx="3743730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concentration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(</a:t>
            </a:r>
            <a:r>
              <a:rPr sz="475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475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951001" y="1093209"/>
            <a:ext cx="383439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is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51001" y="1168277"/>
            <a:ext cx="383439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Return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smallest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cost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solution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50558" y="1380062"/>
            <a:ext cx="50348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58380" y="1524201"/>
            <a:ext cx="48270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Initiate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empty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  <a:r>
              <a:rPr sz="1090" b="0">
                <a:solidFill>
                  <a:srgbClr val="000000"/>
                </a:solidFill>
                <a:latin typeface="MSBM10"/>
              </a:rPr>
              <a:t> ∅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8380" y="1724628"/>
            <a:ext cx="48270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66204" y="1877504"/>
            <a:ext cx="46191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93365" y="1896290"/>
            <a:ext cx="22920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(Slide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37)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66204" y="2069210"/>
            <a:ext cx="46191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Add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8382" y="2260068"/>
            <a:ext cx="48270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destination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reached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0557" y="2776708"/>
            <a:ext cx="50348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27153" y="3150693"/>
            <a:ext cx="1582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890560" y="623256"/>
            <a:ext cx="1978862" cy="0"/>
          </a:xfrm>
          <a:prstGeom prst="line">
            <a:avLst/>
          </a:prstGeom>
          <a:ln w="4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890560" y="708636"/>
            <a:ext cx="197886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040286" y="951337"/>
            <a:ext cx="113729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51257" y="951337"/>
            <a:ext cx="83024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32902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250077" y="951337"/>
            <a:ext cx="82786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1484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348660" y="951337"/>
            <a:ext cx="121104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468384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85560" y="951337"/>
            <a:ext cx="7347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557653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574828" y="951337"/>
            <a:ext cx="12309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96548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13729" y="951337"/>
            <a:ext cx="8713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99485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16660" y="951337"/>
            <a:ext cx="292383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890559" y="1252214"/>
            <a:ext cx="197886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12012" y="1353261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12013" y="2944632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12012" y="1353261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7192516" y="-23255994"/>
            <a:ext cx="253709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12016" y="2910344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90560" y="635669"/>
            <a:ext cx="389483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475" b="1">
                <a:solidFill>
                  <a:srgbClr val="000000"/>
                </a:solidFill>
                <a:latin typeface="Josefin Sans"/>
              </a:rPr>
              <a:t> </a:t>
            </a:r>
            <a:r>
              <a:rPr sz="475" b="1">
                <a:solidFill>
                  <a:srgbClr val="000000"/>
                </a:solidFill>
                <a:latin typeface="Josefin Sans"/>
              </a:rPr>
              <a:t>3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ACO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51001" y="717863"/>
            <a:ext cx="3834394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τ</a:t>
            </a:r>
            <a:r>
              <a:rPr sz="347" b="0">
                <a:solidFill>
                  <a:srgbClr val="000000"/>
                </a:solidFill>
                <a:latin typeface="Cambria Math"/>
              </a:rPr>
              <a:t>ij</a:t>
            </a:r>
            <a:r>
              <a:rPr sz="475" b="0">
                <a:solidFill>
                  <a:srgbClr val="000000"/>
                </a:solidFill>
                <a:latin typeface="Cambria Math"/>
              </a:rPr>
              <a:t>(0)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or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zero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(0)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951002" y="793109"/>
            <a:ext cx="3834393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41667" y="867999"/>
            <a:ext cx="3743729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Place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n</a:t>
            </a:r>
            <a:r>
              <a:rPr sz="347" b="0">
                <a:solidFill>
                  <a:srgbClr val="000000"/>
                </a:solidFill>
                <a:latin typeface="Cambria Math"/>
              </a:rPr>
              <a:t>k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node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41666" y="943067"/>
            <a:ext cx="3743729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for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ant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{</a:t>
            </a:r>
            <a:r>
              <a:rPr sz="475" b="0">
                <a:solidFill>
                  <a:srgbClr val="000000"/>
                </a:solidFill>
                <a:latin typeface="Cambria Math"/>
              </a:rPr>
              <a:t>1</a:t>
            </a:r>
            <a:r>
              <a:rPr sz="475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347" b="0">
                <a:solidFill>
                  <a:srgbClr val="000000"/>
                </a:solidFill>
                <a:latin typeface="Cambria Math"/>
              </a:rPr>
              <a:t>k</a:t>
            </a:r>
            <a:r>
              <a:rPr sz="475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41665" y="1018141"/>
            <a:ext cx="3743730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concentration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(</a:t>
            </a:r>
            <a:r>
              <a:rPr sz="475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475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951001" y="1093209"/>
            <a:ext cx="383439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is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51001" y="1168277"/>
            <a:ext cx="383439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Return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smallest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cost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solution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50558" y="1380062"/>
            <a:ext cx="50348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58380" y="1524201"/>
            <a:ext cx="48270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Initiate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empty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  <a:r>
              <a:rPr sz="1090" b="0">
                <a:solidFill>
                  <a:srgbClr val="000000"/>
                </a:solidFill>
                <a:latin typeface="MSBM10"/>
              </a:rPr>
              <a:t> ∅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8380" y="1724628"/>
            <a:ext cx="48270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66204" y="1877504"/>
            <a:ext cx="46191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93365" y="1896290"/>
            <a:ext cx="22920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(Slide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37)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66204" y="2069210"/>
            <a:ext cx="46191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Add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8382" y="2260068"/>
            <a:ext cx="48270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destination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reached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8382" y="2413368"/>
            <a:ext cx="48270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Remove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loops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50557" y="2776708"/>
            <a:ext cx="50348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27153" y="3150693"/>
            <a:ext cx="1582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890560" y="623256"/>
            <a:ext cx="1978862" cy="0"/>
          </a:xfrm>
          <a:prstGeom prst="line">
            <a:avLst/>
          </a:prstGeom>
          <a:ln w="4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890560" y="708636"/>
            <a:ext cx="197886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040286" y="951337"/>
            <a:ext cx="113729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51257" y="951337"/>
            <a:ext cx="83024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32902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250077" y="951337"/>
            <a:ext cx="82786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1484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348660" y="951337"/>
            <a:ext cx="121104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468384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85560" y="951337"/>
            <a:ext cx="7347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557653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574828" y="951337"/>
            <a:ext cx="12309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96548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13729" y="951337"/>
            <a:ext cx="8713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99485" y="951337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16660" y="951337"/>
            <a:ext cx="292383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890559" y="1252214"/>
            <a:ext cx="197886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12012" y="1353261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12013" y="2944632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12012" y="1353261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7192516" y="-23255994"/>
            <a:ext cx="253709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12016" y="2910344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90560" y="635669"/>
            <a:ext cx="389483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475" b="1">
                <a:solidFill>
                  <a:srgbClr val="000000"/>
                </a:solidFill>
                <a:latin typeface="Josefin Sans"/>
              </a:rPr>
              <a:t> </a:t>
            </a:r>
            <a:r>
              <a:rPr sz="475" b="1">
                <a:solidFill>
                  <a:srgbClr val="000000"/>
                </a:solidFill>
                <a:latin typeface="Josefin Sans"/>
              </a:rPr>
              <a:t>3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ACO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51001" y="717863"/>
            <a:ext cx="3834394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τ</a:t>
            </a:r>
            <a:r>
              <a:rPr sz="347" b="0">
                <a:solidFill>
                  <a:srgbClr val="000000"/>
                </a:solidFill>
                <a:latin typeface="Cambria Math"/>
              </a:rPr>
              <a:t>ij</a:t>
            </a:r>
            <a:r>
              <a:rPr sz="475" b="0">
                <a:solidFill>
                  <a:srgbClr val="000000"/>
                </a:solidFill>
                <a:latin typeface="Cambria Math"/>
              </a:rPr>
              <a:t>(0)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or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zero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(0)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951002" y="793109"/>
            <a:ext cx="3834393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41667" y="867999"/>
            <a:ext cx="3743729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Place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n</a:t>
            </a:r>
            <a:r>
              <a:rPr sz="347" b="0">
                <a:solidFill>
                  <a:srgbClr val="000000"/>
                </a:solidFill>
                <a:latin typeface="Cambria Math"/>
              </a:rPr>
              <a:t>k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node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41666" y="943067"/>
            <a:ext cx="3743729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for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ant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{</a:t>
            </a:r>
            <a:r>
              <a:rPr sz="475" b="0">
                <a:solidFill>
                  <a:srgbClr val="000000"/>
                </a:solidFill>
                <a:latin typeface="Cambria Math"/>
              </a:rPr>
              <a:t>1</a:t>
            </a:r>
            <a:r>
              <a:rPr sz="475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347" b="0">
                <a:solidFill>
                  <a:srgbClr val="000000"/>
                </a:solidFill>
                <a:latin typeface="Cambria Math"/>
              </a:rPr>
              <a:t>k</a:t>
            </a:r>
            <a:r>
              <a:rPr sz="475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41665" y="1018141"/>
            <a:ext cx="3743730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concentration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(</a:t>
            </a:r>
            <a:r>
              <a:rPr sz="475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475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951001" y="1093209"/>
            <a:ext cx="383439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is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51001" y="1168277"/>
            <a:ext cx="383439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Return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smallest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cost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solution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50558" y="1380062"/>
            <a:ext cx="50348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58380" y="1524201"/>
            <a:ext cx="48270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Initiate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empty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  <a:r>
              <a:rPr sz="1090" b="0">
                <a:solidFill>
                  <a:srgbClr val="000000"/>
                </a:solidFill>
                <a:latin typeface="MSBM10"/>
              </a:rPr>
              <a:t> ∅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8380" y="1724628"/>
            <a:ext cx="48270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66204" y="1877504"/>
            <a:ext cx="46191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93365" y="1896290"/>
            <a:ext cx="22920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(Slide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37)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66204" y="2069210"/>
            <a:ext cx="46191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Add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8382" y="2260068"/>
            <a:ext cx="48270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destination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reached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8382" y="2413368"/>
            <a:ext cx="48270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Remove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loops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8381" y="2585441"/>
            <a:ext cx="48270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L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50557" y="2776708"/>
            <a:ext cx="50348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7153" y="3150693"/>
            <a:ext cx="1582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890560" y="623256"/>
            <a:ext cx="1978862" cy="0"/>
          </a:xfrm>
          <a:prstGeom prst="line">
            <a:avLst/>
          </a:prstGeom>
          <a:ln w="4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890560" y="708636"/>
            <a:ext cx="197886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040286" y="1026405"/>
            <a:ext cx="79461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16983" y="1026405"/>
            <a:ext cx="119591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35201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252376" y="1026405"/>
            <a:ext cx="287502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538493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555669" y="1026405"/>
            <a:ext cx="91246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644156" y="1026405"/>
            <a:ext cx="89312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730710" y="1026405"/>
            <a:ext cx="7655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04509" y="1026405"/>
            <a:ext cx="98316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901446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18621" y="1026405"/>
            <a:ext cx="65073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82321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999496" y="1026405"/>
            <a:ext cx="12309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121216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38391" y="1026405"/>
            <a:ext cx="129686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266698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283873" y="1026405"/>
            <a:ext cx="12580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890559" y="1252214"/>
            <a:ext cx="197886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12012" y="1353261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12013" y="2944632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12012" y="1353261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7192513" y="-23255994"/>
            <a:ext cx="253709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612016" y="2910344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90560" y="635669"/>
            <a:ext cx="389483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475" b="1">
                <a:solidFill>
                  <a:srgbClr val="000000"/>
                </a:solidFill>
                <a:latin typeface="Josefin Sans"/>
              </a:rPr>
              <a:t> </a:t>
            </a:r>
            <a:r>
              <a:rPr sz="475" b="1">
                <a:solidFill>
                  <a:srgbClr val="000000"/>
                </a:solidFill>
                <a:latin typeface="Josefin Sans"/>
              </a:rPr>
              <a:t>3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ACO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51001" y="717863"/>
            <a:ext cx="3834394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τ</a:t>
            </a:r>
            <a:r>
              <a:rPr sz="347" b="0">
                <a:solidFill>
                  <a:srgbClr val="000000"/>
                </a:solidFill>
                <a:latin typeface="Cambria Math"/>
              </a:rPr>
              <a:t>ij</a:t>
            </a:r>
            <a:r>
              <a:rPr sz="475" b="0">
                <a:solidFill>
                  <a:srgbClr val="000000"/>
                </a:solidFill>
                <a:latin typeface="Cambria Math"/>
              </a:rPr>
              <a:t>(0)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or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zero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(0)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51002" y="793109"/>
            <a:ext cx="3834393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41667" y="867999"/>
            <a:ext cx="3743729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Place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n</a:t>
            </a:r>
            <a:r>
              <a:rPr sz="347" b="0">
                <a:solidFill>
                  <a:srgbClr val="000000"/>
                </a:solidFill>
                <a:latin typeface="Cambria Math"/>
              </a:rPr>
              <a:t>k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node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41666" y="943067"/>
            <a:ext cx="3743729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for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ant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{</a:t>
            </a:r>
            <a:r>
              <a:rPr sz="475" b="0">
                <a:solidFill>
                  <a:srgbClr val="000000"/>
                </a:solidFill>
                <a:latin typeface="Cambria Math"/>
              </a:rPr>
              <a:t>1</a:t>
            </a:r>
            <a:r>
              <a:rPr sz="475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347" b="0">
                <a:solidFill>
                  <a:srgbClr val="000000"/>
                </a:solidFill>
                <a:latin typeface="Cambria Math"/>
              </a:rPr>
              <a:t>k</a:t>
            </a:r>
            <a:r>
              <a:rPr sz="475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041665" y="1018141"/>
            <a:ext cx="3743730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concentration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(</a:t>
            </a:r>
            <a:r>
              <a:rPr sz="475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475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51001" y="1093209"/>
            <a:ext cx="383439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is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51001" y="1168277"/>
            <a:ext cx="383439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Return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smallest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cost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solution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0558" y="1380062"/>
            <a:ext cx="50348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8380" y="1524201"/>
            <a:ext cx="48270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Initiate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empty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  <a:r>
              <a:rPr sz="1090" b="0">
                <a:solidFill>
                  <a:srgbClr val="000000"/>
                </a:solidFill>
                <a:latin typeface="MSBM10"/>
              </a:rPr>
              <a:t> 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58380" y="1724628"/>
            <a:ext cx="48270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66204" y="1877504"/>
            <a:ext cx="46191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93365" y="1896290"/>
            <a:ext cx="22920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(Slide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37)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66204" y="2069210"/>
            <a:ext cx="46191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Add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58382" y="2260068"/>
            <a:ext cx="48270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destination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reached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58382" y="2413368"/>
            <a:ext cx="48270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Remove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loops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58381" y="2585441"/>
            <a:ext cx="48270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L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50557" y="2776708"/>
            <a:ext cx="50348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50558" y="1380062"/>
            <a:ext cx="50348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0559" y="2742420"/>
            <a:ext cx="50348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627153" y="3150693"/>
            <a:ext cx="1582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890560" y="623256"/>
            <a:ext cx="1978862" cy="0"/>
          </a:xfrm>
          <a:prstGeom prst="line">
            <a:avLst/>
          </a:prstGeom>
          <a:ln w="4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890560" y="708636"/>
            <a:ext cx="197886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040286" y="1026405"/>
            <a:ext cx="79461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16983" y="1026405"/>
            <a:ext cx="119591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35201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252376" y="1026405"/>
            <a:ext cx="287502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538493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555669" y="1026405"/>
            <a:ext cx="91246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644156" y="1026405"/>
            <a:ext cx="89312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730710" y="1026405"/>
            <a:ext cx="7655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04509" y="1026405"/>
            <a:ext cx="98316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901446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18621" y="1026405"/>
            <a:ext cx="65073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82321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999496" y="1026405"/>
            <a:ext cx="12309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121216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38391" y="1026405"/>
            <a:ext cx="129686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266698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283873" y="1026405"/>
            <a:ext cx="12580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890559" y="1252214"/>
            <a:ext cx="197886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12012" y="1353261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12013" y="2944632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12012" y="1353261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7192513" y="-23255995"/>
            <a:ext cx="253709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612016" y="2910343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90560" y="635669"/>
            <a:ext cx="389483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475" b="1">
                <a:solidFill>
                  <a:srgbClr val="000000"/>
                </a:solidFill>
                <a:latin typeface="Josefin Sans"/>
              </a:rPr>
              <a:t> </a:t>
            </a:r>
            <a:r>
              <a:rPr sz="475" b="1">
                <a:solidFill>
                  <a:srgbClr val="000000"/>
                </a:solidFill>
                <a:latin typeface="Josefin Sans"/>
              </a:rPr>
              <a:t>3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ACO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51001" y="717863"/>
            <a:ext cx="3834394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τ</a:t>
            </a:r>
            <a:r>
              <a:rPr sz="347" b="0">
                <a:solidFill>
                  <a:srgbClr val="000000"/>
                </a:solidFill>
                <a:latin typeface="Cambria Math"/>
              </a:rPr>
              <a:t>ij</a:t>
            </a:r>
            <a:r>
              <a:rPr sz="475" b="0">
                <a:solidFill>
                  <a:srgbClr val="000000"/>
                </a:solidFill>
                <a:latin typeface="Cambria Math"/>
              </a:rPr>
              <a:t>(0)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or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zero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(0)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51002" y="793109"/>
            <a:ext cx="3834393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41667" y="867999"/>
            <a:ext cx="3743729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Place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n</a:t>
            </a:r>
            <a:r>
              <a:rPr sz="347" b="0">
                <a:solidFill>
                  <a:srgbClr val="000000"/>
                </a:solidFill>
                <a:latin typeface="Cambria Math"/>
              </a:rPr>
              <a:t>k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node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41666" y="943067"/>
            <a:ext cx="3743729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for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ant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{</a:t>
            </a:r>
            <a:r>
              <a:rPr sz="475" b="0">
                <a:solidFill>
                  <a:srgbClr val="000000"/>
                </a:solidFill>
                <a:latin typeface="Cambria Math"/>
              </a:rPr>
              <a:t>1</a:t>
            </a:r>
            <a:r>
              <a:rPr sz="475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347" b="0">
                <a:solidFill>
                  <a:srgbClr val="000000"/>
                </a:solidFill>
                <a:latin typeface="Cambria Math"/>
              </a:rPr>
              <a:t>k</a:t>
            </a:r>
            <a:r>
              <a:rPr sz="475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041665" y="1018141"/>
            <a:ext cx="3743730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concentration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(</a:t>
            </a:r>
            <a:r>
              <a:rPr sz="475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475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51001" y="1093209"/>
            <a:ext cx="383439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is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51001" y="1168277"/>
            <a:ext cx="383439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Return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smallest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cost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solution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0558" y="1380062"/>
            <a:ext cx="50348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8380" y="1524201"/>
            <a:ext cx="48270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Initiate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empty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  <a:r>
              <a:rPr sz="1090" b="0">
                <a:solidFill>
                  <a:srgbClr val="000000"/>
                </a:solidFill>
                <a:latin typeface="MSBM10"/>
              </a:rPr>
              <a:t> 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58380" y="1724628"/>
            <a:ext cx="48270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66204" y="1877504"/>
            <a:ext cx="46191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93365" y="1896290"/>
            <a:ext cx="22920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(Slide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37)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66204" y="2069210"/>
            <a:ext cx="46191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Add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58382" y="2260068"/>
            <a:ext cx="48270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destination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reached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58382" y="2413368"/>
            <a:ext cx="48270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Remove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loops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58381" y="2585441"/>
            <a:ext cx="48270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L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50557" y="2776708"/>
            <a:ext cx="50348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50558" y="1380062"/>
            <a:ext cx="50348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58379" y="1552147"/>
            <a:ext cx="48270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Evaporate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(1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ρ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0559" y="2742418"/>
            <a:ext cx="50348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27153" y="3150693"/>
            <a:ext cx="1582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890560" y="623256"/>
            <a:ext cx="1978862" cy="0"/>
          </a:xfrm>
          <a:prstGeom prst="line">
            <a:avLst/>
          </a:prstGeom>
          <a:ln w="4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890560" y="708636"/>
            <a:ext cx="197886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040286" y="1026405"/>
            <a:ext cx="79461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16983" y="1026405"/>
            <a:ext cx="119591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35201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252376" y="1026405"/>
            <a:ext cx="287502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538493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555669" y="1026405"/>
            <a:ext cx="91246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644156" y="1026405"/>
            <a:ext cx="89312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730710" y="1026405"/>
            <a:ext cx="7655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04509" y="1026405"/>
            <a:ext cx="98316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901446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18621" y="1026405"/>
            <a:ext cx="65073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82321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999496" y="1026405"/>
            <a:ext cx="12309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121216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38391" y="1026405"/>
            <a:ext cx="129686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266698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283873" y="1026405"/>
            <a:ext cx="12580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890559" y="1252214"/>
            <a:ext cx="197886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12012" y="1353261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12013" y="2944632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12012" y="1353261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7192513" y="-23255995"/>
            <a:ext cx="253709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612016" y="2910343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90560" y="635669"/>
            <a:ext cx="389483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475" b="1">
                <a:solidFill>
                  <a:srgbClr val="000000"/>
                </a:solidFill>
                <a:latin typeface="Josefin Sans"/>
              </a:rPr>
              <a:t> </a:t>
            </a:r>
            <a:r>
              <a:rPr sz="475" b="1">
                <a:solidFill>
                  <a:srgbClr val="000000"/>
                </a:solidFill>
                <a:latin typeface="Josefin Sans"/>
              </a:rPr>
              <a:t>3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ACO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51001" y="717863"/>
            <a:ext cx="3834394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τ</a:t>
            </a:r>
            <a:r>
              <a:rPr sz="347" b="0">
                <a:solidFill>
                  <a:srgbClr val="000000"/>
                </a:solidFill>
                <a:latin typeface="Cambria Math"/>
              </a:rPr>
              <a:t>ij</a:t>
            </a:r>
            <a:r>
              <a:rPr sz="475" b="0">
                <a:solidFill>
                  <a:srgbClr val="000000"/>
                </a:solidFill>
                <a:latin typeface="Cambria Math"/>
              </a:rPr>
              <a:t>(0)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or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zero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(0)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51002" y="793109"/>
            <a:ext cx="3834393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41667" y="867999"/>
            <a:ext cx="3743729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Place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n</a:t>
            </a:r>
            <a:r>
              <a:rPr sz="347" b="0">
                <a:solidFill>
                  <a:srgbClr val="000000"/>
                </a:solidFill>
                <a:latin typeface="Cambria Math"/>
              </a:rPr>
              <a:t>k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node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41666" y="943067"/>
            <a:ext cx="3743729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for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ant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{</a:t>
            </a:r>
            <a:r>
              <a:rPr sz="475" b="0">
                <a:solidFill>
                  <a:srgbClr val="000000"/>
                </a:solidFill>
                <a:latin typeface="Cambria Math"/>
              </a:rPr>
              <a:t>1</a:t>
            </a:r>
            <a:r>
              <a:rPr sz="475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347" b="0">
                <a:solidFill>
                  <a:srgbClr val="000000"/>
                </a:solidFill>
                <a:latin typeface="Cambria Math"/>
              </a:rPr>
              <a:t>k</a:t>
            </a:r>
            <a:r>
              <a:rPr sz="475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041665" y="1018141"/>
            <a:ext cx="3743730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concentration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(</a:t>
            </a:r>
            <a:r>
              <a:rPr sz="475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475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51001" y="1093209"/>
            <a:ext cx="383439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is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51001" y="1168277"/>
            <a:ext cx="383439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Return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smallest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cost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solution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0558" y="1380062"/>
            <a:ext cx="50348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8380" y="1524201"/>
            <a:ext cx="48270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Initiate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empty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  <a:r>
              <a:rPr sz="1090" b="0">
                <a:solidFill>
                  <a:srgbClr val="000000"/>
                </a:solidFill>
                <a:latin typeface="MSBM10"/>
              </a:rPr>
              <a:t> 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58380" y="1724628"/>
            <a:ext cx="48270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66204" y="1877504"/>
            <a:ext cx="46191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93365" y="1896290"/>
            <a:ext cx="22920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(Slide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37)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66204" y="2069210"/>
            <a:ext cx="46191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Add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58382" y="2260068"/>
            <a:ext cx="48270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destination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reached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58382" y="2413368"/>
            <a:ext cx="48270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Remove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loops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58381" y="2585441"/>
            <a:ext cx="48270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L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50557" y="2776708"/>
            <a:ext cx="50348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50558" y="1380062"/>
            <a:ext cx="50348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58379" y="1552147"/>
            <a:ext cx="48270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Evaporate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(1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ρ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8380" y="1724218"/>
            <a:ext cx="48270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58382" y="2270638"/>
            <a:ext cx="48270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50559" y="2742418"/>
            <a:ext cx="50348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27153" y="3150693"/>
            <a:ext cx="1582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890560" y="623256"/>
            <a:ext cx="1978862" cy="0"/>
          </a:xfrm>
          <a:prstGeom prst="line">
            <a:avLst/>
          </a:prstGeom>
          <a:ln w="4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890560" y="708636"/>
            <a:ext cx="197886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040286" y="1026405"/>
            <a:ext cx="79461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16983" y="1026405"/>
            <a:ext cx="119591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35201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252376" y="1026405"/>
            <a:ext cx="287502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538493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555669" y="1026405"/>
            <a:ext cx="91246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644156" y="1026405"/>
            <a:ext cx="89312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730710" y="1026405"/>
            <a:ext cx="7655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04509" y="1026405"/>
            <a:ext cx="98316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901446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18621" y="1026405"/>
            <a:ext cx="65073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82321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999496" y="1026405"/>
            <a:ext cx="12309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121216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38391" y="1026405"/>
            <a:ext cx="129686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266698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283873" y="1026405"/>
            <a:ext cx="12580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890559" y="1252214"/>
            <a:ext cx="197886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12012" y="1353261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12013" y="2944632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12012" y="1353261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792186" y="2144329"/>
            <a:ext cx="253708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612016" y="2910343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90560" y="635669"/>
            <a:ext cx="389483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475" b="1">
                <a:solidFill>
                  <a:srgbClr val="000000"/>
                </a:solidFill>
                <a:latin typeface="Josefin Sans"/>
              </a:rPr>
              <a:t> </a:t>
            </a:r>
            <a:r>
              <a:rPr sz="475" b="1">
                <a:solidFill>
                  <a:srgbClr val="000000"/>
                </a:solidFill>
                <a:latin typeface="Josefin Sans"/>
              </a:rPr>
              <a:t>3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ACO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51001" y="717863"/>
            <a:ext cx="3834394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τ</a:t>
            </a:r>
            <a:r>
              <a:rPr sz="347" b="0">
                <a:solidFill>
                  <a:srgbClr val="000000"/>
                </a:solidFill>
                <a:latin typeface="Cambria Math"/>
              </a:rPr>
              <a:t>ij</a:t>
            </a:r>
            <a:r>
              <a:rPr sz="475" b="0">
                <a:solidFill>
                  <a:srgbClr val="000000"/>
                </a:solidFill>
                <a:latin typeface="Cambria Math"/>
              </a:rPr>
              <a:t>(0)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or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zero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(0)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51002" y="793109"/>
            <a:ext cx="3834393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41667" y="867999"/>
            <a:ext cx="3743729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Place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n</a:t>
            </a:r>
            <a:r>
              <a:rPr sz="347" b="0">
                <a:solidFill>
                  <a:srgbClr val="000000"/>
                </a:solidFill>
                <a:latin typeface="Cambria Math"/>
              </a:rPr>
              <a:t>k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node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41666" y="943067"/>
            <a:ext cx="3743729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for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ant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{</a:t>
            </a:r>
            <a:r>
              <a:rPr sz="475" b="0">
                <a:solidFill>
                  <a:srgbClr val="000000"/>
                </a:solidFill>
                <a:latin typeface="Cambria Math"/>
              </a:rPr>
              <a:t>1</a:t>
            </a:r>
            <a:r>
              <a:rPr sz="475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347" b="0">
                <a:solidFill>
                  <a:srgbClr val="000000"/>
                </a:solidFill>
                <a:latin typeface="Cambria Math"/>
              </a:rPr>
              <a:t>k</a:t>
            </a:r>
            <a:r>
              <a:rPr sz="475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041665" y="1018141"/>
            <a:ext cx="3743730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concentration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(</a:t>
            </a:r>
            <a:r>
              <a:rPr sz="475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475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51001" y="1093209"/>
            <a:ext cx="383439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is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51001" y="1168277"/>
            <a:ext cx="383439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Return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smallest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cost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solution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0558" y="1380062"/>
            <a:ext cx="50348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8380" y="1524201"/>
            <a:ext cx="48270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Initiate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empty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  <a:r>
              <a:rPr sz="1090" b="0">
                <a:solidFill>
                  <a:srgbClr val="000000"/>
                </a:solidFill>
                <a:latin typeface="MSBM10"/>
              </a:rPr>
              <a:t> 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58380" y="1724628"/>
            <a:ext cx="48270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66204" y="1877504"/>
            <a:ext cx="46191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93365" y="1896290"/>
            <a:ext cx="22920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(Slide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37)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66204" y="2069210"/>
            <a:ext cx="46191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Add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58382" y="2260068"/>
            <a:ext cx="48270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destination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reached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58382" y="2413368"/>
            <a:ext cx="48270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Remove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loops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58381" y="2585441"/>
            <a:ext cx="48270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L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50557" y="2776708"/>
            <a:ext cx="50348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50558" y="1380062"/>
            <a:ext cx="50348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58379" y="1552147"/>
            <a:ext cx="48270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Evaporate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(1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ρ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8380" y="1724218"/>
            <a:ext cx="48270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66203" y="1896290"/>
            <a:ext cx="46191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deposited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66191" y="2049576"/>
            <a:ext cx="46192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∆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42213" y="2070685"/>
            <a:ext cx="44431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92148" y="2045309"/>
            <a:ext cx="38932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186" y="2146035"/>
            <a:ext cx="399320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L</a:t>
            </a:r>
            <a:r>
              <a:rPr sz="597" b="0">
                <a:solidFill>
                  <a:srgbClr val="000000"/>
                </a:solidFill>
                <a:latin typeface="Cambria Math"/>
              </a:rPr>
              <a:t>k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t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58382" y="2270638"/>
            <a:ext cx="48270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0559" y="2742418"/>
            <a:ext cx="50348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7153" y="3150693"/>
            <a:ext cx="1582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890560" y="623256"/>
            <a:ext cx="1978862" cy="0"/>
          </a:xfrm>
          <a:prstGeom prst="line">
            <a:avLst/>
          </a:prstGeom>
          <a:ln w="441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890560" y="708636"/>
            <a:ext cx="197886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040286" y="1026405"/>
            <a:ext cx="79461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16983" y="1026405"/>
            <a:ext cx="119591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35201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252376" y="1026405"/>
            <a:ext cx="287502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538493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555669" y="1026405"/>
            <a:ext cx="91246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644156" y="1026405"/>
            <a:ext cx="89312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730710" y="1026405"/>
            <a:ext cx="7655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04509" y="1026405"/>
            <a:ext cx="98316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901446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18621" y="1026405"/>
            <a:ext cx="65073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82321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999496" y="1026405"/>
            <a:ext cx="12309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121216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38391" y="1026405"/>
            <a:ext cx="129686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266698" y="1026405"/>
            <a:ext cx="18555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283873" y="1026405"/>
            <a:ext cx="125808" cy="57117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890559" y="1252214"/>
            <a:ext cx="197886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12012" y="1353261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12013" y="2944632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12012" y="1353261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792186" y="2144329"/>
            <a:ext cx="253708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612016" y="2910343"/>
            <a:ext cx="453597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ACO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90560" y="635669"/>
            <a:ext cx="389483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475" b="1">
                <a:solidFill>
                  <a:srgbClr val="000000"/>
                </a:solidFill>
                <a:latin typeface="Josefin Sans"/>
              </a:rPr>
              <a:t> </a:t>
            </a:r>
            <a:r>
              <a:rPr sz="475" b="1">
                <a:solidFill>
                  <a:srgbClr val="000000"/>
                </a:solidFill>
                <a:latin typeface="Josefin Sans"/>
              </a:rPr>
              <a:t>3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ACO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51001" y="717863"/>
            <a:ext cx="3834394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Initialise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τ</a:t>
            </a:r>
            <a:r>
              <a:rPr sz="347" b="0">
                <a:solidFill>
                  <a:srgbClr val="000000"/>
                </a:solidFill>
                <a:latin typeface="Cambria Math"/>
              </a:rPr>
              <a:t>ij</a:t>
            </a:r>
            <a:r>
              <a:rPr sz="475" b="0">
                <a:solidFill>
                  <a:srgbClr val="000000"/>
                </a:solidFill>
                <a:latin typeface="Cambria Math"/>
              </a:rPr>
              <a:t>(0)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or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zero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(0)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51002" y="793109"/>
            <a:ext cx="3834393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41667" y="867999"/>
            <a:ext cx="3743729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Place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n</a:t>
            </a:r>
            <a:r>
              <a:rPr sz="347" b="0">
                <a:solidFill>
                  <a:srgbClr val="000000"/>
                </a:solidFill>
                <a:latin typeface="Cambria Math"/>
              </a:rPr>
              <a:t>k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ants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origin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node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41666" y="943067"/>
            <a:ext cx="3743729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for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ant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{</a:t>
            </a:r>
            <a:r>
              <a:rPr sz="475" b="0">
                <a:solidFill>
                  <a:srgbClr val="000000"/>
                </a:solidFill>
                <a:latin typeface="Cambria Math"/>
              </a:rPr>
              <a:t>1</a:t>
            </a:r>
            <a:r>
              <a:rPr sz="475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347" b="0">
                <a:solidFill>
                  <a:srgbClr val="000000"/>
                </a:solidFill>
                <a:latin typeface="Cambria Math"/>
              </a:rPr>
              <a:t>k</a:t>
            </a:r>
            <a:r>
              <a:rPr sz="475" b="0">
                <a:solidFill>
                  <a:srgbClr val="000000"/>
                </a:solidFill>
                <a:latin typeface="Cambria Math"/>
              </a:rPr>
              <a:t>}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041665" y="1018141"/>
            <a:ext cx="3743730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concentration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475" b="0">
                <a:solidFill>
                  <a:srgbClr val="000000"/>
                </a:solidFill>
                <a:latin typeface="Cambria Math"/>
              </a:rPr>
              <a:t> </a:t>
            </a:r>
            <a:r>
              <a:rPr sz="475" b="0">
                <a:solidFill>
                  <a:srgbClr val="000000"/>
                </a:solidFill>
                <a:latin typeface="Cambria Math"/>
              </a:rPr>
              <a:t>(</a:t>
            </a:r>
            <a:r>
              <a:rPr sz="475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475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51001" y="1093209"/>
            <a:ext cx="383439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termination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condition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is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true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51001" y="1168277"/>
            <a:ext cx="3834395" cy="9368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5" b="0">
                <a:solidFill>
                  <a:srgbClr val="000000"/>
                </a:solidFill>
                <a:latin typeface="Josefin Sans"/>
              </a:rPr>
              <a:t>Return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the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smallest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cost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as</a:t>
            </a:r>
            <a:r>
              <a:rPr sz="475" b="0">
                <a:solidFill>
                  <a:srgbClr val="000000"/>
                </a:solidFill>
                <a:latin typeface="Josefin Sans"/>
              </a:rPr>
              <a:t> </a:t>
            </a:r>
            <a:r>
              <a:rPr sz="475" b="0">
                <a:solidFill>
                  <a:srgbClr val="000000"/>
                </a:solidFill>
                <a:latin typeface="Josefin Sans"/>
              </a:rPr>
              <a:t>solution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0558" y="1380062"/>
            <a:ext cx="50348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8380" y="1524201"/>
            <a:ext cx="48270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Initiate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empty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  <a:r>
              <a:rPr sz="1090" b="0">
                <a:solidFill>
                  <a:srgbClr val="000000"/>
                </a:solidFill>
                <a:latin typeface="MSBM10"/>
              </a:rPr>
              <a:t> 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58380" y="1724628"/>
            <a:ext cx="48270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repeat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66204" y="1877504"/>
            <a:ext cx="46191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Select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93365" y="1896290"/>
            <a:ext cx="229203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(Slide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37)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66204" y="2069210"/>
            <a:ext cx="46191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Add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58382" y="2260068"/>
            <a:ext cx="48270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destination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reached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58382" y="2413368"/>
            <a:ext cx="48270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Remove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loops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58381" y="2585441"/>
            <a:ext cx="482701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L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50557" y="2776708"/>
            <a:ext cx="50348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50558" y="1380062"/>
            <a:ext cx="50348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i, 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58379" y="1552147"/>
            <a:ext cx="48270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Evaporate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 (1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ρ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8380" y="1724218"/>
            <a:ext cx="48270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, . . . , 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66203" y="1896290"/>
            <a:ext cx="46191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Calculate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deposited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66191" y="2049576"/>
            <a:ext cx="46192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∆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42213" y="2070685"/>
            <a:ext cx="44431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92148" y="2045309"/>
            <a:ext cx="38932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92186" y="2146035"/>
            <a:ext cx="399320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L</a:t>
            </a:r>
            <a:r>
              <a:rPr sz="597" b="0">
                <a:solidFill>
                  <a:srgbClr val="000000"/>
                </a:solidFill>
                <a:latin typeface="Cambria Math"/>
              </a:rPr>
              <a:t>k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t</a:t>
            </a:r>
            <a:r>
              <a:rPr sz="797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58382" y="2270638"/>
            <a:ext cx="48270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58381" y="2478789"/>
            <a:ext cx="482701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+ 1)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+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420009" y="2373122"/>
            <a:ext cx="236538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597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408553" y="2476818"/>
            <a:ext cx="237684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383623" y="2638298"/>
            <a:ext cx="24017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02825" y="2460003"/>
            <a:ext cx="21825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∆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τ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778848" y="2481111"/>
            <a:ext cx="200654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ij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50559" y="2742418"/>
            <a:ext cx="50348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27153" y="3150693"/>
            <a:ext cx="1582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35685" y="1290198"/>
            <a:ext cx="677190" cy="451461"/>
          </a:xfrm>
          <a:prstGeom prst="line">
            <a:avLst/>
          </a:prstGeom>
          <a:ln w="38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778752" y="1279869"/>
            <a:ext cx="381775" cy="190889"/>
          </a:xfrm>
          <a:prstGeom prst="line">
            <a:avLst/>
          </a:prstGeom>
          <a:ln w="38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495637" y="1567698"/>
            <a:ext cx="670923" cy="447283"/>
          </a:xfrm>
          <a:prstGeom prst="line">
            <a:avLst/>
          </a:prstGeom>
          <a:ln w="38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446076" y="1328052"/>
            <a:ext cx="216360" cy="649075"/>
          </a:xfrm>
          <a:prstGeom prst="line">
            <a:avLst/>
          </a:prstGeom>
          <a:ln w="38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41248" y="1831052"/>
            <a:ext cx="388512" cy="194258"/>
          </a:xfrm>
          <a:prstGeom prst="line">
            <a:avLst/>
          </a:prstGeom>
          <a:ln w="38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948938" y="1533003"/>
            <a:ext cx="1203250" cy="240651"/>
          </a:xfrm>
          <a:prstGeom prst="line">
            <a:avLst/>
          </a:prstGeom>
          <a:ln w="38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351833" y="1350822"/>
            <a:ext cx="0" cy="186204"/>
          </a:xfrm>
          <a:prstGeom prst="line">
            <a:avLst/>
          </a:prstGeom>
          <a:ln w="45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4374658" y="1350822"/>
            <a:ext cx="0" cy="186204"/>
          </a:xfrm>
          <a:prstGeom prst="line">
            <a:avLst/>
          </a:prstGeom>
          <a:ln w="45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374375" y="1539305"/>
            <a:ext cx="1977741" cy="0"/>
          </a:xfrm>
          <a:prstGeom prst="line">
            <a:avLst/>
          </a:prstGeom>
          <a:ln w="45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351833" y="1541584"/>
            <a:ext cx="0" cy="186204"/>
          </a:xfrm>
          <a:prstGeom prst="line">
            <a:avLst/>
          </a:prstGeom>
          <a:ln w="45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374658" y="1541584"/>
            <a:ext cx="0" cy="186204"/>
          </a:xfrm>
          <a:prstGeom prst="line">
            <a:avLst/>
          </a:prstGeom>
          <a:ln w="45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351833" y="1727788"/>
            <a:ext cx="0" cy="186204"/>
          </a:xfrm>
          <a:prstGeom prst="line">
            <a:avLst/>
          </a:prstGeom>
          <a:ln w="45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4374658" y="1727788"/>
            <a:ext cx="0" cy="186204"/>
          </a:xfrm>
          <a:prstGeom prst="line">
            <a:avLst/>
          </a:prstGeom>
          <a:ln w="45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4351833" y="1913992"/>
            <a:ext cx="0" cy="186203"/>
          </a:xfrm>
          <a:prstGeom prst="line">
            <a:avLst/>
          </a:prstGeom>
          <a:ln w="45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4374658" y="1913992"/>
            <a:ext cx="0" cy="186203"/>
          </a:xfrm>
          <a:prstGeom prst="line">
            <a:avLst/>
          </a:prstGeom>
          <a:ln w="45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880001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8012" y="991327"/>
            <a:ext cx="53773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Taking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graph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4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nodes.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4640" y="1740710"/>
            <a:ext cx="4940755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65763" y="1186467"/>
            <a:ext cx="4119632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219312" y="1463075"/>
            <a:ext cx="3566083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388061" y="2017826"/>
            <a:ext cx="4397335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2498" y="1447549"/>
            <a:ext cx="4682898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τ</a:t>
            </a:r>
            <a:r>
              <a:rPr sz="613" b="0">
                <a:solidFill>
                  <a:srgbClr val="000000"/>
                </a:solidFill>
                <a:latin typeface="Cambria Math"/>
              </a:rPr>
              <a:t>12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007119" y="1306938"/>
            <a:ext cx="3778276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τ</a:t>
            </a:r>
            <a:r>
              <a:rPr sz="613" b="0">
                <a:solidFill>
                  <a:srgbClr val="000000"/>
                </a:solidFill>
                <a:latin typeface="Cambria Math"/>
              </a:rPr>
              <a:t>23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68580" y="1791408"/>
            <a:ext cx="3916815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τ</a:t>
            </a:r>
            <a:r>
              <a:rPr sz="613" b="0">
                <a:solidFill>
                  <a:srgbClr val="000000"/>
                </a:solidFill>
                <a:latin typeface="Cambria Math"/>
              </a:rPr>
              <a:t>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328377" y="1746476"/>
            <a:ext cx="4457018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τ</a:t>
            </a:r>
            <a:r>
              <a:rPr sz="613" b="0">
                <a:solidFill>
                  <a:srgbClr val="000000"/>
                </a:solidFill>
                <a:latin typeface="Cambria Math"/>
              </a:rPr>
              <a:t>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3724" y="1859792"/>
            <a:ext cx="4821671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τ</a:t>
            </a:r>
            <a:r>
              <a:rPr sz="613" b="0">
                <a:solidFill>
                  <a:srgbClr val="000000"/>
                </a:solidFill>
                <a:latin typeface="Cambria Math"/>
              </a:rPr>
              <a:t>14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784222" y="1456328"/>
            <a:ext cx="4001173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Cambria Math"/>
              </a:rPr>
              <a:t>τ</a:t>
            </a:r>
            <a:r>
              <a:rPr sz="613" b="0">
                <a:solidFill>
                  <a:srgbClr val="000000"/>
                </a:solidFill>
                <a:latin typeface="Cambria Math"/>
              </a:rPr>
              <a:t>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571" y="1734336"/>
            <a:ext cx="5341824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Origin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81303" y="1466810"/>
            <a:ext cx="3404092" cy="1653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Josefin Sans"/>
              </a:rPr>
              <a:t>Destination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336021" y="1055488"/>
            <a:ext cx="24493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Edge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length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442837" y="1381796"/>
            <a:ext cx="2342558" cy="1936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3" b="1">
                <a:solidFill>
                  <a:srgbClr val="000000"/>
                </a:solidFill>
                <a:latin typeface="Josefin Sans"/>
              </a:rPr>
              <a:t>Edge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877860" y="1381796"/>
            <a:ext cx="1907535" cy="1936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3" b="1">
                <a:solidFill>
                  <a:srgbClr val="000000"/>
                </a:solidFill>
                <a:latin typeface="Josefin Sans"/>
              </a:rPr>
              <a:t>Length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43108" y="1381796"/>
            <a:ext cx="1342287" cy="1936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3" b="1">
                <a:solidFill>
                  <a:srgbClr val="000000"/>
                </a:solidFill>
                <a:latin typeface="Josefin Sans"/>
              </a:rPr>
              <a:t>Edge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78131" y="1381796"/>
            <a:ext cx="907264" cy="1936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3" b="1">
                <a:solidFill>
                  <a:srgbClr val="000000"/>
                </a:solidFill>
                <a:latin typeface="Josefin Sans"/>
              </a:rPr>
              <a:t>Length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477996" y="1572200"/>
            <a:ext cx="2307399" cy="1936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3" b="0">
                <a:solidFill>
                  <a:srgbClr val="000000"/>
                </a:solidFill>
                <a:latin typeface="Josefin Sans"/>
              </a:rPr>
              <a:t>(1,2)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48073" y="1572200"/>
            <a:ext cx="1737322" cy="1936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3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465475" y="1572200"/>
            <a:ext cx="1319920" cy="1936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3" b="0">
                <a:solidFill>
                  <a:srgbClr val="000000"/>
                </a:solidFill>
                <a:latin typeface="Josefin Sans"/>
              </a:rPr>
              <a:t>(2,3)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22560" y="1572200"/>
            <a:ext cx="762835" cy="1936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3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77194" y="1758404"/>
            <a:ext cx="2308201" cy="1936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3" b="0">
                <a:solidFill>
                  <a:srgbClr val="000000"/>
                </a:solidFill>
                <a:latin typeface="Josefin Sans"/>
              </a:rPr>
              <a:t>(1,3)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10291" y="1758404"/>
            <a:ext cx="1775104" cy="1936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3" b="0">
                <a:solidFill>
                  <a:srgbClr val="000000"/>
                </a:solidFill>
                <a:latin typeface="Josefin Sans"/>
              </a:rPr>
              <a:t>20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65601" y="1758404"/>
            <a:ext cx="1319794" cy="1936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3" b="0">
                <a:solidFill>
                  <a:srgbClr val="000000"/>
                </a:solidFill>
                <a:latin typeface="Josefin Sans"/>
              </a:rPr>
              <a:t>(2,4)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61166" y="1758404"/>
            <a:ext cx="724229" cy="1936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3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477309" y="1944608"/>
            <a:ext cx="2308086" cy="1936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3" b="0">
                <a:solidFill>
                  <a:srgbClr val="000000"/>
                </a:solidFill>
                <a:latin typeface="Josefin Sans"/>
              </a:rPr>
              <a:t>(1,4)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47637" y="1944608"/>
            <a:ext cx="1737758" cy="1936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3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464788" y="1944608"/>
            <a:ext cx="1320607" cy="1936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3" b="0">
                <a:solidFill>
                  <a:srgbClr val="000000"/>
                </a:solidFill>
                <a:latin typeface="Josefin Sans"/>
              </a:rPr>
              <a:t>(3,4)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48358" y="1944608"/>
            <a:ext cx="737037" cy="1936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3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98311" y="3150917"/>
            <a:ext cx="8870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624269" y="3150693"/>
            <a:ext cx="1611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48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Max-Min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Ant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System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(MMAS)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08830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Max-Min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(MMAS)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313" y="3150918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127" y="3150694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49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Max-Min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Ant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System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(MMAS)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08830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Max-Min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(MMAS)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30224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sometimes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causes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prematurely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stagnation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complex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5" y="1518086"/>
            <a:ext cx="51483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follow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exactly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little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exploration.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313" y="3150918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127" y="3150694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49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Max-Min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Ant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System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(MMAS)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08830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Max-Min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(MMAS)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302243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sometimes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causes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prematurely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stagnation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complex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5" y="1518086"/>
            <a:ext cx="51483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follow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exactly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little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exploration.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8" y="1732431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MMAS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restricts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intensities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interval.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6" y="1948274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strategies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developed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achieve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restriction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6" y="2120346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intensities.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8314" y="3150918"/>
            <a:ext cx="8870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129" y="3150694"/>
            <a:ext cx="1622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49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Fast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Ant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System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1274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Fast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System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8313" y="3150918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15609" y="3150694"/>
            <a:ext cx="1697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50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Fast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Ant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System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1274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Fast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System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5" y="1326690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8313" y="3150918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15609" y="3150694"/>
            <a:ext cx="1697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50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Fast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Ant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System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1274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Fast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System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5" y="1326690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4" y="1584792"/>
            <a:ext cx="53253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Significantly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reduces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complexity.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313" y="3150918"/>
            <a:ext cx="8870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15609" y="3150694"/>
            <a:ext cx="1697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50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Variants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Fast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Ant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System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1274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Fast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System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5" y="1326690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4" y="1584792"/>
            <a:ext cx="53253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Significantly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reduces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complexity.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5" y="1842907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update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evaporation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pheromone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3" y="2058749"/>
            <a:ext cx="51483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happens.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8311" y="3150917"/>
            <a:ext cx="8870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15607" y="3150693"/>
            <a:ext cx="1697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50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Other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swarm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7" y="941411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colony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clustering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1199526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457641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Dragonfly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7" y="1715755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7" y="1973858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Slime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7" y="2231972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 . 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8313" y="3150917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38685" y="3150693"/>
            <a:ext cx="146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51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60073" cy="324004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88" cy="32399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22610" y="1461234"/>
            <a:ext cx="1662785" cy="4879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78" b="1">
                <a:solidFill>
                  <a:srgbClr val="FFFFFF"/>
                </a:solidFill>
                <a:latin typeface="Josefin Sans"/>
              </a:rPr>
              <a:t>Thank</a:t>
            </a:r>
            <a:r>
              <a:rPr sz="2478" b="1">
                <a:solidFill>
                  <a:srgbClr val="914300"/>
                </a:solidFill>
                <a:latin typeface="Josefin Sans"/>
              </a:rPr>
              <a:t> </a:t>
            </a:r>
            <a:r>
              <a:rPr sz="2478" b="1">
                <a:solidFill>
                  <a:srgbClr val="914300"/>
                </a:solidFill>
                <a:latin typeface="Josefin Sans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8313" y="3150918"/>
            <a:ext cx="887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4106" y="3150694"/>
            <a:ext cx="1612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52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9284" y="479056"/>
            <a:ext cx="4181140" cy="1434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8" b="0">
                <a:solidFill>
                  <a:srgbClr val="0D3361"/>
                </a:solidFill>
                <a:latin typeface="Arial"/>
              </a:rPr>
              <a:t>CSC3034 Current Course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9284" y="722056"/>
            <a:ext cx="4181140" cy="2391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14" b="1">
                <a:solidFill>
                  <a:srgbClr val="0D3361"/>
                </a:solidFill>
                <a:latin typeface="Arial"/>
              </a:rPr>
              <a:t>05 Swarm Intelligence -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9284" y="1027928"/>
            <a:ext cx="4181140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Synchronized from the current CSC3034 course site on 14 August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998" y="1367356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Current Labs 4 and 5 cover PSO target search and ACO route finding.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998" y="1629642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Physical examples account for robot speed limits, obstacles, and waypoint motion.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998" y="1891927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Current runnable scripts are included in the synchronized Lab Solutions folders.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9284" y="2670916"/>
            <a:ext cx="4181140" cy="1315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8" b="1">
                <a:solidFill>
                  <a:srgbClr val="0D3361"/>
                </a:solidFill>
                <a:latin typeface="Arial"/>
              </a:rPr>
              <a:t>Current materials author: Dr Tang Tiong Yew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9284" y="2856791"/>
            <a:ext cx="4181140" cy="1076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6" b="0">
                <a:solidFill>
                  <a:srgbClr val="0D3361"/>
                </a:solidFill>
                <a:latin typeface="Arial"/>
              </a:rPr>
              <a:t>See the synchronized lab notes and runnable examples for full instructions.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05 Swarm Intelligence - presentation</dc:title>
  <dc:subject>Editable objects converted from 05 Swarm Intelligence - presentation.pdf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