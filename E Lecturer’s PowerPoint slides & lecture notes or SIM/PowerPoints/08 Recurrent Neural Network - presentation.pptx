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</p:sldIdLst>
  <p:sldSz cx="5759996" cy="323999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60073" cy="324004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146742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880004" y="3146742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35862" y="1709649"/>
            <a:ext cx="1587500" cy="193292"/>
          </a:xfrm>
          <a:prstGeom prst="rect">
            <a:avLst/>
          </a:prstGeom>
          <a:solidFill>
            <a:srgbClr val="E8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35862" y="1709646"/>
            <a:ext cx="1587500" cy="206885"/>
          </a:xfrm>
          <a:prstGeom prst="rect">
            <a:avLst/>
          </a:prstGeom>
          <a:solidFill>
            <a:srgbClr val="E8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5862" y="1709646"/>
            <a:ext cx="1587500" cy="220474"/>
          </a:xfrm>
          <a:prstGeom prst="rect">
            <a:avLst/>
          </a:prstGeom>
          <a:solidFill>
            <a:srgbClr val="E8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5862" y="1709647"/>
            <a:ext cx="1587500" cy="234062"/>
          </a:xfrm>
          <a:prstGeom prst="rect">
            <a:avLst/>
          </a:prstGeom>
          <a:solidFill>
            <a:srgbClr val="E8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59988" cy="3239998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0872" y="63277"/>
            <a:ext cx="575962" cy="231502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5158" y="88661"/>
            <a:ext cx="575974" cy="20611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61225" y="918848"/>
            <a:ext cx="5324170" cy="40674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66" b="1">
                <a:solidFill>
                  <a:srgbClr val="003373"/>
                </a:solidFill>
                <a:latin typeface="Josefin Sans"/>
              </a:rPr>
              <a:t>Recurrent</a:t>
            </a:r>
            <a:r>
              <a:rPr sz="2066" b="1">
                <a:solidFill>
                  <a:srgbClr val="003373"/>
                </a:solidFill>
                <a:latin typeface="Josefin Sans"/>
              </a:rPr>
              <a:t> </a:t>
            </a:r>
            <a:r>
              <a:rPr sz="2066" b="1">
                <a:solidFill>
                  <a:srgbClr val="003373"/>
                </a:solidFill>
                <a:latin typeface="Josefin Sans"/>
              </a:rPr>
              <a:t>Neural</a:t>
            </a:r>
            <a:r>
              <a:rPr sz="2066" b="1">
                <a:solidFill>
                  <a:srgbClr val="003373"/>
                </a:solidFill>
                <a:latin typeface="Josefin Sans"/>
              </a:rPr>
              <a:t> </a:t>
            </a:r>
            <a:r>
              <a:rPr sz="2066" b="1">
                <a:solidFill>
                  <a:srgbClr val="003373"/>
                </a:solidFill>
                <a:latin typeface="Josefin Sans"/>
              </a:rPr>
              <a:t>Network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225" y="1255046"/>
            <a:ext cx="5324170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1">
                <a:solidFill>
                  <a:srgbClr val="005A7D"/>
                </a:solidFill>
                <a:latin typeface="Josefin Sans"/>
              </a:rPr>
              <a:t>CSC3034</a:t>
            </a:r>
            <a:r>
              <a:rPr sz="1090" b="1">
                <a:solidFill>
                  <a:srgbClr val="005A7D"/>
                </a:solidFill>
                <a:latin typeface="Josefin Sans"/>
              </a:rPr>
              <a:t> </a:t>
            </a:r>
            <a:r>
              <a:rPr sz="1090" b="1">
                <a:solidFill>
                  <a:srgbClr val="005A7D"/>
                </a:solidFill>
                <a:latin typeface="Josefin Sans"/>
              </a:rPr>
              <a:t>Computational</a:t>
            </a:r>
            <a:r>
              <a:rPr sz="1090" b="1">
                <a:solidFill>
                  <a:srgbClr val="005A7D"/>
                </a:solidFill>
                <a:latin typeface="Josefin Sans"/>
              </a:rPr>
              <a:t> </a:t>
            </a:r>
            <a:r>
              <a:rPr sz="1090" b="1">
                <a:solidFill>
                  <a:srgbClr val="005A7D"/>
                </a:solidFill>
                <a:latin typeface="Josefin Sans"/>
              </a:rPr>
              <a:t>Intelligence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225" y="1740729"/>
            <a:ext cx="5324170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Josefin Sans"/>
              </a:rPr>
              <a:t>Dr</a:t>
            </a:r>
            <a:r>
              <a:rPr sz="1090" b="0">
                <a:solidFill>
                  <a:srgbClr val="003373"/>
                </a:solidFill>
                <a:latin typeface="Josefin Sans"/>
              </a:rPr>
              <a:t> </a:t>
            </a:r>
            <a:r>
              <a:rPr sz="1090" b="0">
                <a:solidFill>
                  <a:srgbClr val="003373"/>
                </a:solidFill>
                <a:latin typeface="Josefin Sans"/>
              </a:rPr>
              <a:t>Richard</a:t>
            </a:r>
            <a:r>
              <a:rPr sz="1090" b="0">
                <a:solidFill>
                  <a:srgbClr val="003373"/>
                </a:solidFill>
                <a:latin typeface="Josefin Sans"/>
              </a:rPr>
              <a:t> </a:t>
            </a:r>
            <a:r>
              <a:rPr sz="1090" b="0">
                <a:solidFill>
                  <a:srgbClr val="003373"/>
                </a:solidFill>
                <a:latin typeface="Josefin Sans"/>
              </a:rPr>
              <a:t>Wong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98161" y="3150917"/>
            <a:ext cx="887234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78690" y="3150693"/>
            <a:ext cx="106705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262" y="1728317"/>
            <a:ext cx="5324133" cy="1968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D3361"/>
                </a:solidFill>
                <a:latin typeface="Arial"/>
              </a:rPr>
              <a:t>Dr Tang Tiong Yew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262" y="1741906"/>
            <a:ext cx="5324133" cy="1968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D3361"/>
                </a:solidFill>
                <a:latin typeface="Arial"/>
              </a:rPr>
              <a:t>Dr Tang Tiong Yew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262" y="1755495"/>
            <a:ext cx="5324133" cy="1968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D3361"/>
                </a:solidFill>
                <a:latin typeface="Arial"/>
              </a:rPr>
              <a:t>Dr Tang Tiong Yew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1262" y="1769084"/>
            <a:ext cx="5324133" cy="1968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D3361"/>
                </a:solidFill>
                <a:latin typeface="Arial"/>
              </a:rPr>
              <a:t>Dr Tang Tiong Yew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0" y="3146742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880003" y="3146742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Lecture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outline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9993" y="656555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Josefin Sans"/>
              </a:rPr>
              <a:t>ANN</a:t>
            </a:r>
            <a:r>
              <a:rPr sz="1090" b="0">
                <a:solidFill>
                  <a:srgbClr val="003373"/>
                </a:solidFill>
                <a:latin typeface="Josefin Sans"/>
              </a:rPr>
              <a:t> </a:t>
            </a:r>
            <a:r>
              <a:rPr sz="1090" b="0">
                <a:solidFill>
                  <a:srgbClr val="003373"/>
                </a:solidFill>
                <a:latin typeface="Josefin Sans"/>
              </a:rPr>
              <a:t>with</a:t>
            </a:r>
            <a:r>
              <a:rPr sz="1090" b="0">
                <a:solidFill>
                  <a:srgbClr val="003373"/>
                </a:solidFill>
                <a:latin typeface="Josefin Sans"/>
              </a:rPr>
              <a:t> </a:t>
            </a:r>
            <a:r>
              <a:rPr sz="1090" b="0">
                <a:solidFill>
                  <a:srgbClr val="003373"/>
                </a:solidFill>
                <a:latin typeface="Josefin Sans"/>
              </a:rPr>
              <a:t>Recurrent</a:t>
            </a:r>
            <a:r>
              <a:rPr sz="1090" b="0">
                <a:solidFill>
                  <a:srgbClr val="003373"/>
                </a:solidFill>
                <a:latin typeface="Josefin Sans"/>
              </a:rPr>
              <a:t> </a:t>
            </a:r>
            <a:r>
              <a:rPr sz="1090" b="0">
                <a:solidFill>
                  <a:srgbClr val="003373"/>
                </a:solidFill>
                <a:latin typeface="Josefin Sans"/>
              </a:rPr>
              <a:t>Architecture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9993" y="1070016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Josefin Sans"/>
              </a:rPr>
              <a:t>Recurrent</a:t>
            </a:r>
            <a:r>
              <a:rPr sz="1090" b="0">
                <a:solidFill>
                  <a:srgbClr val="003373"/>
                </a:solidFill>
                <a:latin typeface="Josefin Sans"/>
              </a:rPr>
              <a:t> </a:t>
            </a:r>
            <a:r>
              <a:rPr sz="1090" b="0">
                <a:solidFill>
                  <a:srgbClr val="003373"/>
                </a:solidFill>
                <a:latin typeface="Josefin Sans"/>
              </a:rPr>
              <a:t>Neural</a:t>
            </a:r>
            <a:r>
              <a:rPr sz="1090" b="0">
                <a:solidFill>
                  <a:srgbClr val="003373"/>
                </a:solidFill>
                <a:latin typeface="Josefin Sans"/>
              </a:rPr>
              <a:t> </a:t>
            </a:r>
            <a:r>
              <a:rPr sz="1090" b="0">
                <a:solidFill>
                  <a:srgbClr val="003373"/>
                </a:solidFill>
                <a:latin typeface="Josefin Sans"/>
              </a:rPr>
              <a:t>Networks</a:t>
            </a:r>
            <a:r>
              <a:rPr sz="1090" b="0">
                <a:solidFill>
                  <a:srgbClr val="003373"/>
                </a:solidFill>
                <a:latin typeface="Josefin Sans"/>
              </a:rPr>
              <a:t> </a:t>
            </a:r>
            <a:r>
              <a:rPr sz="1090" b="0">
                <a:solidFill>
                  <a:srgbClr val="003373"/>
                </a:solidFill>
                <a:latin typeface="Josefin Sans"/>
              </a:rPr>
              <a:t>(RNN)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9993" y="1502883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Josefin Sans"/>
              </a:rPr>
              <a:t>Long</a:t>
            </a:r>
            <a:r>
              <a:rPr sz="1090" b="0">
                <a:solidFill>
                  <a:srgbClr val="003373"/>
                </a:solidFill>
                <a:latin typeface="Josefin Sans"/>
              </a:rPr>
              <a:t> </a:t>
            </a:r>
            <a:r>
              <a:rPr sz="1090" b="0">
                <a:solidFill>
                  <a:srgbClr val="003373"/>
                </a:solidFill>
                <a:latin typeface="Josefin Sans"/>
              </a:rPr>
              <a:t>Short-Term</a:t>
            </a:r>
            <a:r>
              <a:rPr sz="1090" b="0">
                <a:solidFill>
                  <a:srgbClr val="003373"/>
                </a:solidFill>
                <a:latin typeface="Josefin Sans"/>
              </a:rPr>
              <a:t> </a:t>
            </a:r>
            <a:r>
              <a:rPr sz="1090" b="0">
                <a:solidFill>
                  <a:srgbClr val="003373"/>
                </a:solidFill>
                <a:latin typeface="Josefin Sans"/>
              </a:rPr>
              <a:t>Memory</a:t>
            </a:r>
            <a:r>
              <a:rPr sz="1090" b="0">
                <a:solidFill>
                  <a:srgbClr val="003373"/>
                </a:solidFill>
                <a:latin typeface="Josefin Sans"/>
              </a:rPr>
              <a:t> </a:t>
            </a:r>
            <a:r>
              <a:rPr sz="1090" b="0">
                <a:solidFill>
                  <a:srgbClr val="003373"/>
                </a:solidFill>
                <a:latin typeface="Josefin Sans"/>
              </a:rPr>
              <a:t>(LSTM)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9993" y="1939280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Josefin Sans"/>
              </a:rPr>
              <a:t>Gaterd</a:t>
            </a:r>
            <a:r>
              <a:rPr sz="1090" b="0">
                <a:solidFill>
                  <a:srgbClr val="003373"/>
                </a:solidFill>
                <a:latin typeface="Josefin Sans"/>
              </a:rPr>
              <a:t> </a:t>
            </a:r>
            <a:r>
              <a:rPr sz="1090" b="0">
                <a:solidFill>
                  <a:srgbClr val="003373"/>
                </a:solidFill>
                <a:latin typeface="Josefin Sans"/>
              </a:rPr>
              <a:t>Recurrent</a:t>
            </a:r>
            <a:r>
              <a:rPr sz="1090" b="0">
                <a:solidFill>
                  <a:srgbClr val="003373"/>
                </a:solidFill>
                <a:latin typeface="Josefin Sans"/>
              </a:rPr>
              <a:t> </a:t>
            </a:r>
            <a:r>
              <a:rPr sz="1090" b="0">
                <a:solidFill>
                  <a:srgbClr val="003373"/>
                </a:solidFill>
                <a:latin typeface="Josefin Sans"/>
              </a:rPr>
              <a:t>Units</a:t>
            </a:r>
            <a:r>
              <a:rPr sz="1090" b="0">
                <a:solidFill>
                  <a:srgbClr val="003373"/>
                </a:solidFill>
                <a:latin typeface="Josefin Sans"/>
              </a:rPr>
              <a:t> </a:t>
            </a:r>
            <a:r>
              <a:rPr sz="1090" b="0">
                <a:solidFill>
                  <a:srgbClr val="003373"/>
                </a:solidFill>
                <a:latin typeface="Josefin Sans"/>
              </a:rPr>
              <a:t>(GRU)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59993" y="2368325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Josefin Sans"/>
              </a:rPr>
              <a:t>Comparisons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59993" y="2804722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Josefin Sans"/>
              </a:rPr>
              <a:t>Consideration</a:t>
            </a:r>
            <a:r>
              <a:rPr sz="1090" b="0">
                <a:solidFill>
                  <a:srgbClr val="003373"/>
                </a:solidFill>
                <a:latin typeface="Josefin Sans"/>
              </a:rPr>
              <a:t> </a:t>
            </a:r>
            <a:r>
              <a:rPr sz="1090" b="0">
                <a:solidFill>
                  <a:srgbClr val="003373"/>
                </a:solidFill>
                <a:latin typeface="Josefin Sans"/>
              </a:rPr>
              <a:t>in</a:t>
            </a:r>
            <a:r>
              <a:rPr sz="1090" b="0">
                <a:solidFill>
                  <a:srgbClr val="003373"/>
                </a:solidFill>
                <a:latin typeface="Josefin Sans"/>
              </a:rPr>
              <a:t> </a:t>
            </a:r>
            <a:r>
              <a:rPr sz="1090" b="0">
                <a:solidFill>
                  <a:srgbClr val="003373"/>
                </a:solidFill>
                <a:latin typeface="Josefin Sans"/>
              </a:rPr>
              <a:t>Neural</a:t>
            </a:r>
            <a:r>
              <a:rPr sz="1090" b="0">
                <a:solidFill>
                  <a:srgbClr val="003373"/>
                </a:solidFill>
                <a:latin typeface="Josefin Sans"/>
              </a:rPr>
              <a:t> </a:t>
            </a:r>
            <a:r>
              <a:rPr sz="1090" b="0">
                <a:solidFill>
                  <a:srgbClr val="003373"/>
                </a:solidFill>
                <a:latin typeface="Josefin Sans"/>
              </a:rPr>
              <a:t>Network</a:t>
            </a:r>
            <a:r>
              <a:rPr sz="1090" b="0">
                <a:solidFill>
                  <a:srgbClr val="003373"/>
                </a:solidFill>
                <a:latin typeface="Josefin Sans"/>
              </a:rPr>
              <a:t> </a:t>
            </a:r>
            <a:r>
              <a:rPr sz="1090" b="0">
                <a:solidFill>
                  <a:srgbClr val="003373"/>
                </a:solidFill>
                <a:latin typeface="Josefin Sans"/>
              </a:rPr>
              <a:t>Design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898160" y="3150917"/>
            <a:ext cx="887235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64122" y="3150693"/>
            <a:ext cx="121273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0" y="3146741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880003" y="3146741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ANN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with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Recurrent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Architecture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9993" y="940261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1">
                <a:solidFill>
                  <a:srgbClr val="000000"/>
                </a:solidFill>
                <a:latin typeface="Josefin Sans"/>
              </a:rPr>
              <a:t>Recurrent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Neural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Networks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(RNNs),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Long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Short-Term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Memory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(LSTM)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networks,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9993" y="1112333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and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Gated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Recurrent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Units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(GRU)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are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among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most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prominent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architectures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9993" y="1284406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particularly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tasks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involving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sequences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of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data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like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60056" y="1498763"/>
            <a:ext cx="532533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time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series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forecasting,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60056" y="1756878"/>
            <a:ext cx="532533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natural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language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processing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(NLP),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and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60056" y="2014980"/>
            <a:ext cx="532533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video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analysis.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898160" y="3150917"/>
            <a:ext cx="887235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63132" y="3150693"/>
            <a:ext cx="122263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0" y="3146741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880003" y="3146741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ANN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with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Recurrent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Architecture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9993" y="940261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1">
                <a:solidFill>
                  <a:srgbClr val="000000"/>
                </a:solidFill>
                <a:latin typeface="Josefin Sans"/>
              </a:rPr>
              <a:t>Recurrent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Neural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Networks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(RNNs),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Long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Short-Term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Memory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(LSTM)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networks,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9993" y="1112333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and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Gated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Recurrent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Units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(GRU)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are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among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most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prominent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architectures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9993" y="1284406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particularly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tasks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involving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sequences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of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data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like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60056" y="1498763"/>
            <a:ext cx="532533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time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series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forecasting,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60056" y="1756878"/>
            <a:ext cx="532533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natural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language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processing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(NLP),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and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60056" y="2014980"/>
            <a:ext cx="532533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video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analysis.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59993" y="2316852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All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of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them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include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feedback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mechanisms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incorporate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sequential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information.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898160" y="3150917"/>
            <a:ext cx="887235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663132" y="3150693"/>
            <a:ext cx="122263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0" y="3146743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880003" y="3146743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Recurrent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Neural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Networks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(RNN)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9993" y="1249989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Recurrent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Neural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Networks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(RNNs)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are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class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of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neural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networks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designed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for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9993" y="1422074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sequential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data.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898160" y="3150918"/>
            <a:ext cx="887235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63284" y="3150694"/>
            <a:ext cx="122111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0" y="3146741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880003" y="3146741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Recurrent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Neural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Networks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(RNN)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9993" y="1249989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Recurrent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Neural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Networks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(RNNs)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are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class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of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neural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networks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designed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for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9993" y="1422074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sequential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data.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9993" y="1680176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RNNs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have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feedback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loops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that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allow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information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persist,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making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them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capable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of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9993" y="1852261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remembering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previous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inputs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and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using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them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influence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future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predictions.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898160" y="3150916"/>
            <a:ext cx="887235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63284" y="3150692"/>
            <a:ext cx="122111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H="1">
            <a:off x="28198021" y="-23595998"/>
            <a:ext cx="175871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28147410" y="-23545386"/>
            <a:ext cx="0" cy="314418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28198021" y="-23180355"/>
            <a:ext cx="175871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28424503" y="-23545386"/>
            <a:ext cx="0" cy="314418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27142715" y="-23388177"/>
            <a:ext cx="334699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Freeform 40"/>
          <p:cNvSpPr/>
          <p:nvPr/>
        </p:nvSpPr>
        <p:spPr>
          <a:xfrm>
            <a:off x="27457400" y="-234061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4" y="1"/>
                </a:moveTo>
                <a:lnTo>
                  <a:pt x="0" y="0"/>
                </a:lnTo>
                <a:lnTo>
                  <a:pt x="2" y="1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2" name="Connector 41"/>
          <p:cNvCxnSpPr/>
          <p:nvPr/>
        </p:nvCxnSpPr>
        <p:spPr>
          <a:xfrm>
            <a:off x="27784874" y="-23388177"/>
            <a:ext cx="334699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Freeform 42"/>
          <p:cNvSpPr/>
          <p:nvPr/>
        </p:nvSpPr>
        <p:spPr>
          <a:xfrm>
            <a:off x="28105100" y="-234061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1"/>
                </a:moveTo>
                <a:lnTo>
                  <a:pt x="0" y="0"/>
                </a:lnTo>
                <a:lnTo>
                  <a:pt x="1" y="1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4" name="Connector 43"/>
          <p:cNvCxnSpPr/>
          <p:nvPr/>
        </p:nvCxnSpPr>
        <p:spPr>
          <a:xfrm>
            <a:off x="28427033" y="-23388177"/>
            <a:ext cx="334699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Freeform 44"/>
          <p:cNvSpPr/>
          <p:nvPr/>
        </p:nvSpPr>
        <p:spPr>
          <a:xfrm>
            <a:off x="28752800" y="-234061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1"/>
                </a:moveTo>
                <a:lnTo>
                  <a:pt x="0" y="0"/>
                </a:lnTo>
                <a:lnTo>
                  <a:pt x="1" y="1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6" name="Connector 45"/>
          <p:cNvCxnSpPr/>
          <p:nvPr/>
        </p:nvCxnSpPr>
        <p:spPr>
          <a:xfrm>
            <a:off x="29069196" y="-23388177"/>
            <a:ext cx="334699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Freeform 46"/>
          <p:cNvSpPr/>
          <p:nvPr/>
        </p:nvSpPr>
        <p:spPr>
          <a:xfrm>
            <a:off x="29387800" y="-234061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1"/>
                </a:moveTo>
                <a:lnTo>
                  <a:pt x="0" y="0"/>
                </a:lnTo>
                <a:lnTo>
                  <a:pt x="1" y="1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8" name="Connector 47"/>
          <p:cNvCxnSpPr/>
          <p:nvPr/>
        </p:nvCxnSpPr>
        <p:spPr>
          <a:xfrm>
            <a:off x="28607038" y="-23388177"/>
            <a:ext cx="0" cy="309394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H="1">
            <a:off x="28336568" y="-23028172"/>
            <a:ext cx="219859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28285957" y="-23152521"/>
            <a:ext cx="0" cy="73738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Freeform 50"/>
          <p:cNvSpPr/>
          <p:nvPr/>
        </p:nvSpPr>
        <p:spPr>
          <a:xfrm>
            <a:off x="28270200" y="-231775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0"/>
                </a:moveTo>
                <a:lnTo>
                  <a:pt x="0" y="3"/>
                </a:lnTo>
                <a:lnTo>
                  <a:pt x="1" y="2"/>
                </a:lnTo>
                <a:lnTo>
                  <a:pt x="3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2" name="Connector 51"/>
          <p:cNvCxnSpPr/>
          <p:nvPr/>
        </p:nvCxnSpPr>
        <p:spPr>
          <a:xfrm>
            <a:off x="28521666" y="-23376861"/>
            <a:ext cx="697378" cy="348689"/>
          </a:xfrm>
          <a:prstGeom prst="line">
            <a:avLst/>
          </a:prstGeom>
          <a:ln w="5060">
            <a:solidFill>
              <a:srgbClr val="26A8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Freeform 52"/>
          <p:cNvSpPr/>
          <p:nvPr/>
        </p:nvSpPr>
        <p:spPr>
          <a:xfrm>
            <a:off x="28498800" y="-233934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0" y="0"/>
                </a:moveTo>
                <a:lnTo>
                  <a:pt x="2" y="3"/>
                </a:lnTo>
                <a:lnTo>
                  <a:pt x="2" y="1"/>
                </a:lnTo>
                <a:lnTo>
                  <a:pt x="4" y="0"/>
                </a:lnTo>
                <a:close/>
              </a:path>
            </a:pathLst>
          </a:cu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0" y="3146742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2880003" y="3146742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6" name="Picture 5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57" name="Picture 5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Recurrent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Neural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Networks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(RNN)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8000" y="359888"/>
            <a:ext cx="5677395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1">
                <a:solidFill>
                  <a:srgbClr val="003373"/>
                </a:solidFill>
                <a:latin typeface="Josefin Sans"/>
              </a:rPr>
              <a:t>Architecture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59993" y="853215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RNN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structure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has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repeating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loop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(recurrent)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that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passes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hidden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states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from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59993" y="1025287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one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time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step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next.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898160" y="3150917"/>
            <a:ext cx="887235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662598" y="3150693"/>
            <a:ext cx="122797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H="1">
            <a:off x="28198021" y="-23595998"/>
            <a:ext cx="175871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28147410" y="-23545386"/>
            <a:ext cx="0" cy="314418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28198021" y="-23180355"/>
            <a:ext cx="175871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28424503" y="-23545386"/>
            <a:ext cx="0" cy="314418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27142715" y="-23388177"/>
            <a:ext cx="334699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Freeform 40"/>
          <p:cNvSpPr/>
          <p:nvPr/>
        </p:nvSpPr>
        <p:spPr>
          <a:xfrm>
            <a:off x="27457400" y="-234061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4" y="1"/>
                </a:moveTo>
                <a:lnTo>
                  <a:pt x="0" y="0"/>
                </a:lnTo>
                <a:lnTo>
                  <a:pt x="2" y="1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2" name="Connector 41"/>
          <p:cNvCxnSpPr/>
          <p:nvPr/>
        </p:nvCxnSpPr>
        <p:spPr>
          <a:xfrm>
            <a:off x="27784874" y="-23388177"/>
            <a:ext cx="334699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Freeform 42"/>
          <p:cNvSpPr/>
          <p:nvPr/>
        </p:nvSpPr>
        <p:spPr>
          <a:xfrm>
            <a:off x="28105100" y="-234061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1"/>
                </a:moveTo>
                <a:lnTo>
                  <a:pt x="0" y="0"/>
                </a:lnTo>
                <a:lnTo>
                  <a:pt x="1" y="1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4" name="Connector 43"/>
          <p:cNvCxnSpPr/>
          <p:nvPr/>
        </p:nvCxnSpPr>
        <p:spPr>
          <a:xfrm>
            <a:off x="28427033" y="-23388177"/>
            <a:ext cx="334699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Freeform 44"/>
          <p:cNvSpPr/>
          <p:nvPr/>
        </p:nvSpPr>
        <p:spPr>
          <a:xfrm>
            <a:off x="28752800" y="-234061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1"/>
                </a:moveTo>
                <a:lnTo>
                  <a:pt x="0" y="0"/>
                </a:lnTo>
                <a:lnTo>
                  <a:pt x="1" y="1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6" name="Connector 45"/>
          <p:cNvCxnSpPr/>
          <p:nvPr/>
        </p:nvCxnSpPr>
        <p:spPr>
          <a:xfrm>
            <a:off x="29069196" y="-23388177"/>
            <a:ext cx="334699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Freeform 46"/>
          <p:cNvSpPr/>
          <p:nvPr/>
        </p:nvSpPr>
        <p:spPr>
          <a:xfrm>
            <a:off x="29387800" y="-234061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1"/>
                </a:moveTo>
                <a:lnTo>
                  <a:pt x="0" y="0"/>
                </a:lnTo>
                <a:lnTo>
                  <a:pt x="1" y="1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8" name="Connector 47"/>
          <p:cNvCxnSpPr/>
          <p:nvPr/>
        </p:nvCxnSpPr>
        <p:spPr>
          <a:xfrm>
            <a:off x="28607038" y="-23388177"/>
            <a:ext cx="0" cy="309394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H="1">
            <a:off x="28336568" y="-23028172"/>
            <a:ext cx="219859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28285957" y="-23152521"/>
            <a:ext cx="0" cy="73738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Freeform 50"/>
          <p:cNvSpPr/>
          <p:nvPr/>
        </p:nvSpPr>
        <p:spPr>
          <a:xfrm>
            <a:off x="28270200" y="-231775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0"/>
                </a:moveTo>
                <a:lnTo>
                  <a:pt x="0" y="3"/>
                </a:lnTo>
                <a:lnTo>
                  <a:pt x="1" y="2"/>
                </a:lnTo>
                <a:lnTo>
                  <a:pt x="3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2" name="Connector 51"/>
          <p:cNvCxnSpPr/>
          <p:nvPr/>
        </p:nvCxnSpPr>
        <p:spPr>
          <a:xfrm>
            <a:off x="28521666" y="-23376861"/>
            <a:ext cx="697378" cy="348689"/>
          </a:xfrm>
          <a:prstGeom prst="line">
            <a:avLst/>
          </a:prstGeom>
          <a:ln w="5060">
            <a:solidFill>
              <a:srgbClr val="26A8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Freeform 52"/>
          <p:cNvSpPr/>
          <p:nvPr/>
        </p:nvSpPr>
        <p:spPr>
          <a:xfrm>
            <a:off x="28498800" y="-233934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0" y="0"/>
                </a:moveTo>
                <a:lnTo>
                  <a:pt x="2" y="3"/>
                </a:lnTo>
                <a:lnTo>
                  <a:pt x="2" y="1"/>
                </a:lnTo>
                <a:lnTo>
                  <a:pt x="4" y="0"/>
                </a:lnTo>
                <a:close/>
              </a:path>
            </a:pathLst>
          </a:cu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0" y="3146742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2880003" y="3146742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6" name="Picture 5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57" name="Picture 5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Recurrent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Neural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Networks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(RNN)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8000" y="359888"/>
            <a:ext cx="5677395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1">
                <a:solidFill>
                  <a:srgbClr val="003373"/>
                </a:solidFill>
                <a:latin typeface="Josefin Sans"/>
              </a:rPr>
              <a:t>Architecture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59993" y="853215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RNN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structure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has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repeating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loop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(recurrent)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that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passes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hidden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states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from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59993" y="1025287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one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time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step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next.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each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time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step,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RNN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takes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two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inputs: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898160" y="3150917"/>
            <a:ext cx="887235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662598" y="3150693"/>
            <a:ext cx="122797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H="1">
            <a:off x="28198021" y="-23595998"/>
            <a:ext cx="175871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28147410" y="-23545386"/>
            <a:ext cx="0" cy="314418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28198021" y="-23180355"/>
            <a:ext cx="175871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28424503" y="-23545386"/>
            <a:ext cx="0" cy="314418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27142715" y="-23388177"/>
            <a:ext cx="334699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Freeform 40"/>
          <p:cNvSpPr/>
          <p:nvPr/>
        </p:nvSpPr>
        <p:spPr>
          <a:xfrm>
            <a:off x="27457400" y="-234061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4" y="1"/>
                </a:moveTo>
                <a:lnTo>
                  <a:pt x="0" y="0"/>
                </a:lnTo>
                <a:lnTo>
                  <a:pt x="2" y="1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2" name="Connector 41"/>
          <p:cNvCxnSpPr/>
          <p:nvPr/>
        </p:nvCxnSpPr>
        <p:spPr>
          <a:xfrm>
            <a:off x="27784874" y="-23388177"/>
            <a:ext cx="334699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Freeform 42"/>
          <p:cNvSpPr/>
          <p:nvPr/>
        </p:nvSpPr>
        <p:spPr>
          <a:xfrm>
            <a:off x="28105100" y="-234061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1"/>
                </a:moveTo>
                <a:lnTo>
                  <a:pt x="0" y="0"/>
                </a:lnTo>
                <a:lnTo>
                  <a:pt x="1" y="1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4" name="Connector 43"/>
          <p:cNvCxnSpPr/>
          <p:nvPr/>
        </p:nvCxnSpPr>
        <p:spPr>
          <a:xfrm>
            <a:off x="28427033" y="-23388177"/>
            <a:ext cx="334699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Freeform 44"/>
          <p:cNvSpPr/>
          <p:nvPr/>
        </p:nvSpPr>
        <p:spPr>
          <a:xfrm>
            <a:off x="28752800" y="-234061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1"/>
                </a:moveTo>
                <a:lnTo>
                  <a:pt x="0" y="0"/>
                </a:lnTo>
                <a:lnTo>
                  <a:pt x="1" y="1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6" name="Connector 45"/>
          <p:cNvCxnSpPr/>
          <p:nvPr/>
        </p:nvCxnSpPr>
        <p:spPr>
          <a:xfrm>
            <a:off x="29069196" y="-23388177"/>
            <a:ext cx="334699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Freeform 46"/>
          <p:cNvSpPr/>
          <p:nvPr/>
        </p:nvSpPr>
        <p:spPr>
          <a:xfrm>
            <a:off x="29387800" y="-234061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1"/>
                </a:moveTo>
                <a:lnTo>
                  <a:pt x="0" y="0"/>
                </a:lnTo>
                <a:lnTo>
                  <a:pt x="1" y="1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8" name="Connector 47"/>
          <p:cNvCxnSpPr/>
          <p:nvPr/>
        </p:nvCxnSpPr>
        <p:spPr>
          <a:xfrm>
            <a:off x="28607038" y="-23388177"/>
            <a:ext cx="0" cy="309394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H="1">
            <a:off x="28336568" y="-23028172"/>
            <a:ext cx="219859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28285957" y="-23152521"/>
            <a:ext cx="0" cy="73738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Freeform 50"/>
          <p:cNvSpPr/>
          <p:nvPr/>
        </p:nvSpPr>
        <p:spPr>
          <a:xfrm>
            <a:off x="28270200" y="-231775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0"/>
                </a:moveTo>
                <a:lnTo>
                  <a:pt x="0" y="3"/>
                </a:lnTo>
                <a:lnTo>
                  <a:pt x="1" y="2"/>
                </a:lnTo>
                <a:lnTo>
                  <a:pt x="3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2" name="Connector 51"/>
          <p:cNvCxnSpPr/>
          <p:nvPr/>
        </p:nvCxnSpPr>
        <p:spPr>
          <a:xfrm>
            <a:off x="28521666" y="-23376861"/>
            <a:ext cx="697378" cy="348689"/>
          </a:xfrm>
          <a:prstGeom prst="line">
            <a:avLst/>
          </a:prstGeom>
          <a:ln w="5060">
            <a:solidFill>
              <a:srgbClr val="26A8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Freeform 52"/>
          <p:cNvSpPr/>
          <p:nvPr/>
        </p:nvSpPr>
        <p:spPr>
          <a:xfrm>
            <a:off x="28498800" y="-233934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0" y="0"/>
                </a:moveTo>
                <a:lnTo>
                  <a:pt x="2" y="3"/>
                </a:lnTo>
                <a:lnTo>
                  <a:pt x="2" y="1"/>
                </a:lnTo>
                <a:lnTo>
                  <a:pt x="4" y="0"/>
                </a:lnTo>
                <a:close/>
              </a:path>
            </a:pathLst>
          </a:cu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0" y="3146742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2880003" y="3146742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6" name="Picture 5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57" name="Picture 5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Recurrent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Neural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Networks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(RNN)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8000" y="359888"/>
            <a:ext cx="5677395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1">
                <a:solidFill>
                  <a:srgbClr val="003373"/>
                </a:solidFill>
                <a:latin typeface="Josefin Sans"/>
              </a:rPr>
              <a:t>Architecture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59993" y="853215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RNN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structure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has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repeating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loop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(recurrent)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that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passes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hidden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states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from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59993" y="1025287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one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time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step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next.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each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time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step,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RNN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takes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two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inputs: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60056" y="1239646"/>
            <a:ext cx="532533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Current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input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x</a:t>
            </a:r>
            <a:r>
              <a:rPr sz="797" b="0">
                <a:solidFill>
                  <a:srgbClr val="000000"/>
                </a:solidFill>
                <a:latin typeface="Cambria Math"/>
              </a:rPr>
              <a:t>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: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input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current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time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step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898160" y="3150917"/>
            <a:ext cx="887235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662598" y="3150693"/>
            <a:ext cx="122797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H="1">
            <a:off x="28198018" y="-23595995"/>
            <a:ext cx="175871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28147407" y="-23545384"/>
            <a:ext cx="0" cy="314418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28198018" y="-23180355"/>
            <a:ext cx="175871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28424500" y="-23545384"/>
            <a:ext cx="0" cy="314418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27142712" y="-23388175"/>
            <a:ext cx="334699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Freeform 40"/>
          <p:cNvSpPr/>
          <p:nvPr/>
        </p:nvSpPr>
        <p:spPr>
          <a:xfrm>
            <a:off x="27457400" y="-234061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4" y="1"/>
                </a:moveTo>
                <a:lnTo>
                  <a:pt x="0" y="0"/>
                </a:lnTo>
                <a:lnTo>
                  <a:pt x="2" y="1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2" name="Connector 41"/>
          <p:cNvCxnSpPr/>
          <p:nvPr/>
        </p:nvCxnSpPr>
        <p:spPr>
          <a:xfrm>
            <a:off x="27784871" y="-23388175"/>
            <a:ext cx="334699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Freeform 42"/>
          <p:cNvSpPr/>
          <p:nvPr/>
        </p:nvSpPr>
        <p:spPr>
          <a:xfrm>
            <a:off x="28105100" y="-234061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1"/>
                </a:moveTo>
                <a:lnTo>
                  <a:pt x="0" y="0"/>
                </a:lnTo>
                <a:lnTo>
                  <a:pt x="1" y="1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4" name="Connector 43"/>
          <p:cNvCxnSpPr/>
          <p:nvPr/>
        </p:nvCxnSpPr>
        <p:spPr>
          <a:xfrm>
            <a:off x="28427030" y="-23388175"/>
            <a:ext cx="334699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Freeform 44"/>
          <p:cNvSpPr/>
          <p:nvPr/>
        </p:nvSpPr>
        <p:spPr>
          <a:xfrm>
            <a:off x="28752800" y="-234061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1"/>
                </a:moveTo>
                <a:lnTo>
                  <a:pt x="0" y="0"/>
                </a:lnTo>
                <a:lnTo>
                  <a:pt x="1" y="1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6" name="Connector 45"/>
          <p:cNvCxnSpPr/>
          <p:nvPr/>
        </p:nvCxnSpPr>
        <p:spPr>
          <a:xfrm>
            <a:off x="29069189" y="-23388175"/>
            <a:ext cx="334703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Freeform 46"/>
          <p:cNvSpPr/>
          <p:nvPr/>
        </p:nvSpPr>
        <p:spPr>
          <a:xfrm>
            <a:off x="29387800" y="-234061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1"/>
                </a:moveTo>
                <a:lnTo>
                  <a:pt x="0" y="0"/>
                </a:lnTo>
                <a:lnTo>
                  <a:pt x="1" y="1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8" name="Connector 47"/>
          <p:cNvCxnSpPr/>
          <p:nvPr/>
        </p:nvCxnSpPr>
        <p:spPr>
          <a:xfrm>
            <a:off x="28607035" y="-23388175"/>
            <a:ext cx="0" cy="309394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H="1">
            <a:off x="28336564" y="-23028171"/>
            <a:ext cx="219860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28285954" y="-23152520"/>
            <a:ext cx="0" cy="73739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Freeform 50"/>
          <p:cNvSpPr/>
          <p:nvPr/>
        </p:nvSpPr>
        <p:spPr>
          <a:xfrm>
            <a:off x="28270200" y="-231775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0"/>
                </a:moveTo>
                <a:lnTo>
                  <a:pt x="0" y="3"/>
                </a:lnTo>
                <a:lnTo>
                  <a:pt x="1" y="2"/>
                </a:lnTo>
                <a:lnTo>
                  <a:pt x="3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2" name="Connector 51"/>
          <p:cNvCxnSpPr/>
          <p:nvPr/>
        </p:nvCxnSpPr>
        <p:spPr>
          <a:xfrm>
            <a:off x="28521663" y="-23376859"/>
            <a:ext cx="697378" cy="348688"/>
          </a:xfrm>
          <a:prstGeom prst="line">
            <a:avLst/>
          </a:prstGeom>
          <a:ln w="5060">
            <a:solidFill>
              <a:srgbClr val="26A8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Freeform 52"/>
          <p:cNvSpPr/>
          <p:nvPr/>
        </p:nvSpPr>
        <p:spPr>
          <a:xfrm>
            <a:off x="28498800" y="-233934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0" y="0"/>
                </a:moveTo>
                <a:lnTo>
                  <a:pt x="2" y="3"/>
                </a:lnTo>
                <a:lnTo>
                  <a:pt x="2" y="1"/>
                </a:lnTo>
                <a:lnTo>
                  <a:pt x="4" y="0"/>
                </a:lnTo>
                <a:close/>
              </a:path>
            </a:pathLst>
          </a:cu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-4" y="3146743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2880000" y="3146743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6" name="Picture 5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57" name="Picture 5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Recurrent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Neural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Networks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(RNN)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8000" y="359888"/>
            <a:ext cx="5677395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1">
                <a:solidFill>
                  <a:srgbClr val="003373"/>
                </a:solidFill>
                <a:latin typeface="Josefin Sans"/>
              </a:rPr>
              <a:t>Architecture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59993" y="853215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RNN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structure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has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repeating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loop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(recurrent)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that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passes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hidden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states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from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59993" y="1025287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one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time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step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next.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each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time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step,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RNN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takes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two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inputs: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60056" y="1239646"/>
            <a:ext cx="532533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Current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input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x</a:t>
            </a:r>
            <a:r>
              <a:rPr sz="797" b="0">
                <a:solidFill>
                  <a:srgbClr val="000000"/>
                </a:solidFill>
                <a:latin typeface="Cambria Math"/>
              </a:rPr>
              <a:t>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: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input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current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time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step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60055" y="1497748"/>
            <a:ext cx="5325340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Previous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hidden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state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h</a:t>
            </a:r>
            <a:r>
              <a:rPr sz="797" b="0">
                <a:solidFill>
                  <a:srgbClr val="000000"/>
                </a:solidFill>
                <a:latin typeface="Cambria Math"/>
              </a:rPr>
              <a:t>t</a:t>
            </a:r>
            <a:r>
              <a:rPr sz="797" b="0">
                <a:solidFill>
                  <a:srgbClr val="000000"/>
                </a:solidFill>
                <a:latin typeface="Cambria Math"/>
              </a:rPr>
              <a:t>−</a:t>
            </a:r>
            <a:r>
              <a:rPr sz="797" b="0">
                <a:solidFill>
                  <a:srgbClr val="000000"/>
                </a:solidFill>
                <a:latin typeface="Cambria Math"/>
              </a:rPr>
              <a:t>1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: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hidden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state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from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previous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time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step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898157" y="3150919"/>
            <a:ext cx="887238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662595" y="3150695"/>
            <a:ext cx="122800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H="1">
            <a:off x="2797692" y="1804330"/>
            <a:ext cx="175872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2747081" y="1854941"/>
            <a:ext cx="0" cy="314419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2797692" y="2219971"/>
            <a:ext cx="175872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3024175" y="1854941"/>
            <a:ext cx="0" cy="314419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1742386" y="2012150"/>
            <a:ext cx="334699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Freeform 40"/>
          <p:cNvSpPr/>
          <p:nvPr/>
        </p:nvSpPr>
        <p:spPr>
          <a:xfrm>
            <a:off x="2057400" y="19939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4" y="1"/>
                </a:moveTo>
                <a:lnTo>
                  <a:pt x="0" y="0"/>
                </a:lnTo>
                <a:lnTo>
                  <a:pt x="2" y="1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2" name="Connector 41"/>
          <p:cNvCxnSpPr/>
          <p:nvPr/>
        </p:nvCxnSpPr>
        <p:spPr>
          <a:xfrm>
            <a:off x="2384546" y="2012150"/>
            <a:ext cx="334699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Freeform 42"/>
          <p:cNvSpPr/>
          <p:nvPr/>
        </p:nvSpPr>
        <p:spPr>
          <a:xfrm>
            <a:off x="2705100" y="19939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1"/>
                </a:moveTo>
                <a:lnTo>
                  <a:pt x="0" y="0"/>
                </a:lnTo>
                <a:lnTo>
                  <a:pt x="1" y="1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4" name="Connector 43"/>
          <p:cNvCxnSpPr/>
          <p:nvPr/>
        </p:nvCxnSpPr>
        <p:spPr>
          <a:xfrm>
            <a:off x="3026705" y="2012150"/>
            <a:ext cx="334700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Freeform 44"/>
          <p:cNvSpPr/>
          <p:nvPr/>
        </p:nvSpPr>
        <p:spPr>
          <a:xfrm>
            <a:off x="3340100" y="19939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4" y="1"/>
                </a:moveTo>
                <a:lnTo>
                  <a:pt x="0" y="0"/>
                </a:lnTo>
                <a:lnTo>
                  <a:pt x="2" y="1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6" name="Connector 45"/>
          <p:cNvCxnSpPr/>
          <p:nvPr/>
        </p:nvCxnSpPr>
        <p:spPr>
          <a:xfrm>
            <a:off x="3668865" y="2012150"/>
            <a:ext cx="334700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Freeform 46"/>
          <p:cNvSpPr/>
          <p:nvPr/>
        </p:nvSpPr>
        <p:spPr>
          <a:xfrm>
            <a:off x="3987800" y="19939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1"/>
                </a:moveTo>
                <a:lnTo>
                  <a:pt x="0" y="0"/>
                </a:lnTo>
                <a:lnTo>
                  <a:pt x="1" y="1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8" name="Connector 47"/>
          <p:cNvCxnSpPr/>
          <p:nvPr/>
        </p:nvCxnSpPr>
        <p:spPr>
          <a:xfrm>
            <a:off x="3206708" y="2012150"/>
            <a:ext cx="0" cy="309394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H="1">
            <a:off x="2936239" y="2372155"/>
            <a:ext cx="219858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2885628" y="2247806"/>
            <a:ext cx="0" cy="73738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Freeform 50"/>
          <p:cNvSpPr/>
          <p:nvPr/>
        </p:nvSpPr>
        <p:spPr>
          <a:xfrm>
            <a:off x="2870200" y="22225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0"/>
                </a:moveTo>
                <a:lnTo>
                  <a:pt x="0" y="3"/>
                </a:lnTo>
                <a:lnTo>
                  <a:pt x="1" y="2"/>
                </a:lnTo>
                <a:lnTo>
                  <a:pt x="3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2" name="Connector 51"/>
          <p:cNvCxnSpPr/>
          <p:nvPr/>
        </p:nvCxnSpPr>
        <p:spPr>
          <a:xfrm>
            <a:off x="3121337" y="2023466"/>
            <a:ext cx="697377" cy="348689"/>
          </a:xfrm>
          <a:prstGeom prst="line">
            <a:avLst/>
          </a:prstGeom>
          <a:ln w="5060">
            <a:solidFill>
              <a:srgbClr val="26A8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Freeform 52"/>
          <p:cNvSpPr/>
          <p:nvPr/>
        </p:nvSpPr>
        <p:spPr>
          <a:xfrm>
            <a:off x="3098800" y="20066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0" y="0"/>
                </a:moveTo>
                <a:lnTo>
                  <a:pt x="2" y="3"/>
                </a:lnTo>
                <a:lnTo>
                  <a:pt x="2" y="1"/>
                </a:lnTo>
                <a:lnTo>
                  <a:pt x="4" y="0"/>
                </a:lnTo>
                <a:close/>
              </a:path>
            </a:pathLst>
          </a:cu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-2" y="3146743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2880001" y="3146743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6" name="Picture 5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57" name="Picture 5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Recurrent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Neural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Networks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(RNN)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8000" y="359888"/>
            <a:ext cx="5677395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1">
                <a:solidFill>
                  <a:srgbClr val="003373"/>
                </a:solidFill>
                <a:latin typeface="Josefin Sans"/>
              </a:rPr>
              <a:t>Architecture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59993" y="853215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RNN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structure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has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repeating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loop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(recurrent)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that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passes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hidden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states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from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59993" y="1025287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one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time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step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next.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each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time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step,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RNN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takes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two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inputs: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60056" y="1239646"/>
            <a:ext cx="532533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Current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input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x</a:t>
            </a:r>
            <a:r>
              <a:rPr sz="797" b="0">
                <a:solidFill>
                  <a:srgbClr val="000000"/>
                </a:solidFill>
                <a:latin typeface="Cambria Math"/>
              </a:rPr>
              <a:t>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: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input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current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time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step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60055" y="1497748"/>
            <a:ext cx="5325340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Previous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hidden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state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h</a:t>
            </a:r>
            <a:r>
              <a:rPr sz="797" b="0">
                <a:solidFill>
                  <a:srgbClr val="000000"/>
                </a:solidFill>
                <a:latin typeface="Cambria Math"/>
              </a:rPr>
              <a:t>t</a:t>
            </a:r>
            <a:r>
              <a:rPr sz="797" b="0">
                <a:solidFill>
                  <a:srgbClr val="000000"/>
                </a:solidFill>
                <a:latin typeface="Cambria Math"/>
              </a:rPr>
              <a:t>−</a:t>
            </a:r>
            <a:r>
              <a:rPr sz="797" b="0">
                <a:solidFill>
                  <a:srgbClr val="000000"/>
                </a:solidFill>
                <a:latin typeface="Cambria Math"/>
              </a:rPr>
              <a:t>1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: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hidden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state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from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previous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time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step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569349" y="1923304"/>
            <a:ext cx="4216046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Cambria Math"/>
              </a:rPr>
              <a:t>x</a:t>
            </a:r>
            <a:r>
              <a:rPr sz="797" b="0">
                <a:solidFill>
                  <a:srgbClr val="000000"/>
                </a:solidFill>
                <a:latin typeface="Cambria Math"/>
              </a:rPr>
              <a:t>t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077561" y="1920230"/>
            <a:ext cx="1707834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Cambria Math"/>
              </a:rPr>
              <a:t>y</a:t>
            </a:r>
            <a:r>
              <a:rPr sz="797" b="0">
                <a:solidFill>
                  <a:srgbClr val="000000"/>
                </a:solidFill>
                <a:latin typeface="Cambria Math"/>
              </a:rPr>
              <a:t>t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464978" y="1832600"/>
            <a:ext cx="3320417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FFFFFF"/>
                </a:solidFill>
                <a:latin typeface="Cambria Math"/>
              </a:rPr>
              <a:t>W</a:t>
            </a:r>
            <a:r>
              <a:rPr sz="797" b="0">
                <a:solidFill>
                  <a:srgbClr val="FFFFFF"/>
                </a:solidFill>
                <a:latin typeface="Cambria Math"/>
              </a:rPr>
              <a:t>h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464978" y="1832600"/>
            <a:ext cx="3320417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Cambria Math"/>
              </a:rPr>
              <a:t>W</a:t>
            </a:r>
            <a:r>
              <a:rPr sz="797" b="0">
                <a:solidFill>
                  <a:srgbClr val="000000"/>
                </a:solidFill>
                <a:latin typeface="Cambria Math"/>
              </a:rPr>
              <a:t>h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109719" y="1814706"/>
            <a:ext cx="2675676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FFFFFF"/>
                </a:solidFill>
                <a:latin typeface="Cambria Math"/>
              </a:rPr>
              <a:t>W</a:t>
            </a:r>
            <a:r>
              <a:rPr sz="797" b="0">
                <a:solidFill>
                  <a:srgbClr val="FFFFFF"/>
                </a:solidFill>
                <a:latin typeface="Cambria Math"/>
              </a:rPr>
              <a:t>y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109719" y="1814706"/>
            <a:ext cx="2675676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Cambria Math"/>
              </a:rPr>
              <a:t>W</a:t>
            </a:r>
            <a:r>
              <a:rPr sz="797" b="0">
                <a:solidFill>
                  <a:srgbClr val="000000"/>
                </a:solidFill>
                <a:latin typeface="Cambria Math"/>
              </a:rPr>
              <a:t>y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964711" y="2407250"/>
            <a:ext cx="2820684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FFFFFF"/>
                </a:solidFill>
                <a:latin typeface="Cambria Math"/>
              </a:rPr>
              <a:t>U</a:t>
            </a:r>
            <a:r>
              <a:rPr sz="797" b="0">
                <a:solidFill>
                  <a:srgbClr val="FFFFFF"/>
                </a:solidFill>
                <a:latin typeface="Cambria Math"/>
              </a:rPr>
              <a:t>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964711" y="2407250"/>
            <a:ext cx="2820684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Cambria Math"/>
              </a:rPr>
              <a:t>U</a:t>
            </a:r>
            <a:r>
              <a:rPr sz="797" b="0">
                <a:solidFill>
                  <a:srgbClr val="000000"/>
                </a:solidFill>
                <a:latin typeface="Cambria Math"/>
              </a:rPr>
              <a:t>h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867414" y="2301586"/>
            <a:ext cx="1917981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FFFFFF"/>
                </a:solidFill>
                <a:latin typeface="Cambria Math"/>
              </a:rPr>
              <a:t>h</a:t>
            </a:r>
            <a:r>
              <a:rPr sz="797" b="0">
                <a:solidFill>
                  <a:srgbClr val="FFFFFF"/>
                </a:solidFill>
                <a:latin typeface="Cambria Math"/>
              </a:rPr>
              <a:t>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867414" y="2301586"/>
            <a:ext cx="1917981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5A7D"/>
                </a:solidFill>
                <a:latin typeface="Cambria Math"/>
              </a:rPr>
              <a:t>h</a:t>
            </a:r>
            <a:r>
              <a:rPr sz="797" b="0">
                <a:solidFill>
                  <a:srgbClr val="005A7D"/>
                </a:solidFill>
                <a:latin typeface="Cambria Math"/>
              </a:rPr>
              <a:t>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898159" y="3150919"/>
            <a:ext cx="887236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662596" y="3150695"/>
            <a:ext cx="122799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H="1">
            <a:off x="2797692" y="1804330"/>
            <a:ext cx="175872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2747081" y="1854941"/>
            <a:ext cx="0" cy="314419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2797692" y="2219971"/>
            <a:ext cx="175872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3024175" y="1854941"/>
            <a:ext cx="0" cy="314419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1742386" y="2012150"/>
            <a:ext cx="334699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Freeform 40"/>
          <p:cNvSpPr/>
          <p:nvPr/>
        </p:nvSpPr>
        <p:spPr>
          <a:xfrm>
            <a:off x="2057400" y="19939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4" y="1"/>
                </a:moveTo>
                <a:lnTo>
                  <a:pt x="0" y="0"/>
                </a:lnTo>
                <a:lnTo>
                  <a:pt x="2" y="1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2" name="Connector 41"/>
          <p:cNvCxnSpPr/>
          <p:nvPr/>
        </p:nvCxnSpPr>
        <p:spPr>
          <a:xfrm>
            <a:off x="2384546" y="2012150"/>
            <a:ext cx="334699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Freeform 42"/>
          <p:cNvSpPr/>
          <p:nvPr/>
        </p:nvSpPr>
        <p:spPr>
          <a:xfrm>
            <a:off x="2705100" y="19939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1"/>
                </a:moveTo>
                <a:lnTo>
                  <a:pt x="0" y="0"/>
                </a:lnTo>
                <a:lnTo>
                  <a:pt x="1" y="1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4" name="Connector 43"/>
          <p:cNvCxnSpPr/>
          <p:nvPr/>
        </p:nvCxnSpPr>
        <p:spPr>
          <a:xfrm>
            <a:off x="3026705" y="2012150"/>
            <a:ext cx="334700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Freeform 44"/>
          <p:cNvSpPr/>
          <p:nvPr/>
        </p:nvSpPr>
        <p:spPr>
          <a:xfrm>
            <a:off x="3340100" y="19939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4" y="1"/>
                </a:moveTo>
                <a:lnTo>
                  <a:pt x="0" y="0"/>
                </a:lnTo>
                <a:lnTo>
                  <a:pt x="2" y="1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6" name="Connector 45"/>
          <p:cNvCxnSpPr/>
          <p:nvPr/>
        </p:nvCxnSpPr>
        <p:spPr>
          <a:xfrm>
            <a:off x="3668865" y="2012150"/>
            <a:ext cx="334700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Freeform 46"/>
          <p:cNvSpPr/>
          <p:nvPr/>
        </p:nvSpPr>
        <p:spPr>
          <a:xfrm>
            <a:off x="3987800" y="19939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1"/>
                </a:moveTo>
                <a:lnTo>
                  <a:pt x="0" y="0"/>
                </a:lnTo>
                <a:lnTo>
                  <a:pt x="1" y="1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8" name="Connector 47"/>
          <p:cNvCxnSpPr/>
          <p:nvPr/>
        </p:nvCxnSpPr>
        <p:spPr>
          <a:xfrm>
            <a:off x="3206708" y="2012150"/>
            <a:ext cx="0" cy="309394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H="1">
            <a:off x="2936239" y="2372155"/>
            <a:ext cx="219858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2885628" y="2247806"/>
            <a:ext cx="0" cy="73738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Freeform 50"/>
          <p:cNvSpPr/>
          <p:nvPr/>
        </p:nvSpPr>
        <p:spPr>
          <a:xfrm>
            <a:off x="2870200" y="22225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0"/>
                </a:moveTo>
                <a:lnTo>
                  <a:pt x="0" y="3"/>
                </a:lnTo>
                <a:lnTo>
                  <a:pt x="1" y="2"/>
                </a:lnTo>
                <a:lnTo>
                  <a:pt x="3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2" name="Connector 51"/>
          <p:cNvCxnSpPr/>
          <p:nvPr/>
        </p:nvCxnSpPr>
        <p:spPr>
          <a:xfrm>
            <a:off x="3121337" y="2023466"/>
            <a:ext cx="697377" cy="348689"/>
          </a:xfrm>
          <a:prstGeom prst="line">
            <a:avLst/>
          </a:prstGeom>
          <a:ln w="5060">
            <a:solidFill>
              <a:srgbClr val="26A8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Freeform 52"/>
          <p:cNvSpPr/>
          <p:nvPr/>
        </p:nvSpPr>
        <p:spPr>
          <a:xfrm>
            <a:off x="3098800" y="20066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0" y="0"/>
                </a:moveTo>
                <a:lnTo>
                  <a:pt x="2" y="3"/>
                </a:lnTo>
                <a:lnTo>
                  <a:pt x="2" y="1"/>
                </a:lnTo>
                <a:lnTo>
                  <a:pt x="4" y="0"/>
                </a:lnTo>
                <a:close/>
              </a:path>
            </a:pathLst>
          </a:cu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-2" y="3146743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2880001" y="3146743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6" name="Picture 5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57" name="Picture 5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Recurrent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Neural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Networks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(RNN)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8000" y="359888"/>
            <a:ext cx="5677395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1">
                <a:solidFill>
                  <a:srgbClr val="003373"/>
                </a:solidFill>
                <a:latin typeface="Josefin Sans"/>
              </a:rPr>
              <a:t>Architecture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59993" y="853215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RNN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structure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has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repeating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loop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(recurrent)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that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passes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hidden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states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from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59993" y="1025287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one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time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step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next.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each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time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step,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RNN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takes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two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inputs: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60056" y="1239646"/>
            <a:ext cx="532533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Current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input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x</a:t>
            </a:r>
            <a:r>
              <a:rPr sz="797" b="0">
                <a:solidFill>
                  <a:srgbClr val="000000"/>
                </a:solidFill>
                <a:latin typeface="Cambria Math"/>
              </a:rPr>
              <a:t>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: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input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current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time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step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60055" y="1497748"/>
            <a:ext cx="5325340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Previous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hidden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state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h</a:t>
            </a:r>
            <a:r>
              <a:rPr sz="797" b="0">
                <a:solidFill>
                  <a:srgbClr val="000000"/>
                </a:solidFill>
                <a:latin typeface="Cambria Math"/>
              </a:rPr>
              <a:t>t</a:t>
            </a:r>
            <a:r>
              <a:rPr sz="797" b="0">
                <a:solidFill>
                  <a:srgbClr val="000000"/>
                </a:solidFill>
                <a:latin typeface="Cambria Math"/>
              </a:rPr>
              <a:t>−</a:t>
            </a:r>
            <a:r>
              <a:rPr sz="797" b="0">
                <a:solidFill>
                  <a:srgbClr val="000000"/>
                </a:solidFill>
                <a:latin typeface="Cambria Math"/>
              </a:rPr>
              <a:t>1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: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hidden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state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from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previous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time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step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569349" y="1923304"/>
            <a:ext cx="4216046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Cambria Math"/>
              </a:rPr>
              <a:t>x</a:t>
            </a:r>
            <a:r>
              <a:rPr sz="797" b="0">
                <a:solidFill>
                  <a:srgbClr val="000000"/>
                </a:solidFill>
                <a:latin typeface="Cambria Math"/>
              </a:rPr>
              <a:t>t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077561" y="1920230"/>
            <a:ext cx="1707834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Cambria Math"/>
              </a:rPr>
              <a:t>y</a:t>
            </a:r>
            <a:r>
              <a:rPr sz="797" b="0">
                <a:solidFill>
                  <a:srgbClr val="000000"/>
                </a:solidFill>
                <a:latin typeface="Cambria Math"/>
              </a:rPr>
              <a:t>t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464978" y="1832600"/>
            <a:ext cx="3320417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FFFFFF"/>
                </a:solidFill>
                <a:latin typeface="Cambria Math"/>
              </a:rPr>
              <a:t>W</a:t>
            </a:r>
            <a:r>
              <a:rPr sz="797" b="0">
                <a:solidFill>
                  <a:srgbClr val="FFFFFF"/>
                </a:solidFill>
                <a:latin typeface="Cambria Math"/>
              </a:rPr>
              <a:t>h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464978" y="1832600"/>
            <a:ext cx="3320417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Cambria Math"/>
              </a:rPr>
              <a:t>W</a:t>
            </a:r>
            <a:r>
              <a:rPr sz="797" b="0">
                <a:solidFill>
                  <a:srgbClr val="000000"/>
                </a:solidFill>
                <a:latin typeface="Cambria Math"/>
              </a:rPr>
              <a:t>h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109719" y="1814706"/>
            <a:ext cx="2675676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FFFFFF"/>
                </a:solidFill>
                <a:latin typeface="Cambria Math"/>
              </a:rPr>
              <a:t>W</a:t>
            </a:r>
            <a:r>
              <a:rPr sz="797" b="0">
                <a:solidFill>
                  <a:srgbClr val="FFFFFF"/>
                </a:solidFill>
                <a:latin typeface="Cambria Math"/>
              </a:rPr>
              <a:t>y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109719" y="1814706"/>
            <a:ext cx="2675676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Cambria Math"/>
              </a:rPr>
              <a:t>W</a:t>
            </a:r>
            <a:r>
              <a:rPr sz="797" b="0">
                <a:solidFill>
                  <a:srgbClr val="000000"/>
                </a:solidFill>
                <a:latin typeface="Cambria Math"/>
              </a:rPr>
              <a:t>y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964711" y="2407250"/>
            <a:ext cx="2820684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FFFFFF"/>
                </a:solidFill>
                <a:latin typeface="Cambria Math"/>
              </a:rPr>
              <a:t>U</a:t>
            </a:r>
            <a:r>
              <a:rPr sz="797" b="0">
                <a:solidFill>
                  <a:srgbClr val="FFFFFF"/>
                </a:solidFill>
                <a:latin typeface="Cambria Math"/>
              </a:rPr>
              <a:t>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964711" y="2407250"/>
            <a:ext cx="2820684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Cambria Math"/>
              </a:rPr>
              <a:t>U</a:t>
            </a:r>
            <a:r>
              <a:rPr sz="797" b="0">
                <a:solidFill>
                  <a:srgbClr val="000000"/>
                </a:solidFill>
                <a:latin typeface="Cambria Math"/>
              </a:rPr>
              <a:t>h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867414" y="2301586"/>
            <a:ext cx="1917981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FFFFFF"/>
                </a:solidFill>
                <a:latin typeface="Cambria Math"/>
              </a:rPr>
              <a:t>h</a:t>
            </a:r>
            <a:r>
              <a:rPr sz="797" b="0">
                <a:solidFill>
                  <a:srgbClr val="FFFFFF"/>
                </a:solidFill>
                <a:latin typeface="Cambria Math"/>
              </a:rPr>
              <a:t>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867414" y="2301586"/>
            <a:ext cx="1917981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5A7D"/>
                </a:solidFill>
                <a:latin typeface="Cambria Math"/>
              </a:rPr>
              <a:t>h</a:t>
            </a:r>
            <a:r>
              <a:rPr sz="797" b="0">
                <a:solidFill>
                  <a:srgbClr val="005A7D"/>
                </a:solidFill>
                <a:latin typeface="Cambria Math"/>
              </a:rPr>
              <a:t>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898159" y="3150919"/>
            <a:ext cx="887236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662596" y="3150695"/>
            <a:ext cx="122799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H="1">
            <a:off x="451284" y="1301774"/>
            <a:ext cx="143223" cy="0"/>
          </a:xfrm>
          <a:prstGeom prst="line">
            <a:avLst/>
          </a:prstGeom>
          <a:ln w="412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410068" y="1342990"/>
            <a:ext cx="0" cy="256050"/>
          </a:xfrm>
          <a:prstGeom prst="line">
            <a:avLst/>
          </a:prstGeom>
          <a:ln w="412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451284" y="1640256"/>
            <a:ext cx="143223" cy="0"/>
          </a:xfrm>
          <a:prstGeom prst="line">
            <a:avLst/>
          </a:prstGeom>
          <a:ln w="412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635723" y="1342990"/>
            <a:ext cx="0" cy="256050"/>
          </a:xfrm>
          <a:prstGeom prst="line">
            <a:avLst/>
          </a:prstGeom>
          <a:ln w="412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522895" y="2039287"/>
            <a:ext cx="0" cy="125979"/>
          </a:xfrm>
          <a:prstGeom prst="line">
            <a:avLst/>
          </a:prstGeom>
          <a:ln w="412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Freeform 40"/>
          <p:cNvSpPr/>
          <p:nvPr/>
        </p:nvSpPr>
        <p:spPr>
          <a:xfrm>
            <a:off x="508000" y="20193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1" y="0"/>
                </a:moveTo>
                <a:lnTo>
                  <a:pt x="0" y="3"/>
                </a:lnTo>
                <a:lnTo>
                  <a:pt x="1" y="2"/>
                </a:lnTo>
                <a:lnTo>
                  <a:pt x="2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2" name="Connector 41"/>
          <p:cNvCxnSpPr/>
          <p:nvPr/>
        </p:nvCxnSpPr>
        <p:spPr>
          <a:xfrm flipV="1">
            <a:off x="522895" y="1662924"/>
            <a:ext cx="0" cy="125979"/>
          </a:xfrm>
          <a:prstGeom prst="line">
            <a:avLst/>
          </a:prstGeom>
          <a:ln w="412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Freeform 42"/>
          <p:cNvSpPr/>
          <p:nvPr/>
        </p:nvSpPr>
        <p:spPr>
          <a:xfrm>
            <a:off x="508000" y="16383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1" y="0"/>
                </a:moveTo>
                <a:lnTo>
                  <a:pt x="0" y="3"/>
                </a:lnTo>
                <a:lnTo>
                  <a:pt x="1" y="2"/>
                </a:lnTo>
                <a:lnTo>
                  <a:pt x="2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4" name="Connector 43"/>
          <p:cNvCxnSpPr/>
          <p:nvPr/>
        </p:nvCxnSpPr>
        <p:spPr>
          <a:xfrm flipV="1">
            <a:off x="522895" y="1173734"/>
            <a:ext cx="0" cy="125979"/>
          </a:xfrm>
          <a:prstGeom prst="line">
            <a:avLst/>
          </a:prstGeom>
          <a:ln w="412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Freeform 44"/>
          <p:cNvSpPr/>
          <p:nvPr/>
        </p:nvSpPr>
        <p:spPr>
          <a:xfrm>
            <a:off x="508000" y="1155700"/>
            <a:ext cx="25400" cy="25400"/>
          </a:xfrm>
          <a:custGeom>
            <a:avLst/>
            <a:gdLst/>
            <a:ahLst/>
            <a:cxnLst/>
            <a:rect l="l" t="t" r="r" b="b"/>
            <a:pathLst>
              <a:path w="2" h="2">
                <a:moveTo>
                  <a:pt x="1" y="0"/>
                </a:moveTo>
                <a:lnTo>
                  <a:pt x="0" y="2"/>
                </a:lnTo>
                <a:lnTo>
                  <a:pt x="1" y="1"/>
                </a:lnTo>
                <a:lnTo>
                  <a:pt x="2" y="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6" name="Connector 45"/>
          <p:cNvCxnSpPr/>
          <p:nvPr/>
        </p:nvCxnSpPr>
        <p:spPr>
          <a:xfrm flipV="1">
            <a:off x="522895" y="797372"/>
            <a:ext cx="0" cy="125979"/>
          </a:xfrm>
          <a:prstGeom prst="line">
            <a:avLst/>
          </a:prstGeom>
          <a:ln w="412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Freeform 46"/>
          <p:cNvSpPr/>
          <p:nvPr/>
        </p:nvSpPr>
        <p:spPr>
          <a:xfrm>
            <a:off x="508000" y="774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1" y="0"/>
                </a:moveTo>
                <a:lnTo>
                  <a:pt x="0" y="3"/>
                </a:lnTo>
                <a:lnTo>
                  <a:pt x="1" y="2"/>
                </a:lnTo>
                <a:lnTo>
                  <a:pt x="2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8" name="Connector 47"/>
          <p:cNvCxnSpPr/>
          <p:nvPr/>
        </p:nvCxnSpPr>
        <p:spPr>
          <a:xfrm>
            <a:off x="637783" y="1471015"/>
            <a:ext cx="157678" cy="0"/>
          </a:xfrm>
          <a:prstGeom prst="line">
            <a:avLst/>
          </a:prstGeom>
          <a:ln w="412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Freeform 48"/>
          <p:cNvSpPr/>
          <p:nvPr/>
        </p:nvSpPr>
        <p:spPr>
          <a:xfrm>
            <a:off x="787400" y="1460500"/>
            <a:ext cx="25400" cy="25400"/>
          </a:xfrm>
          <a:custGeom>
            <a:avLst/>
            <a:gdLst/>
            <a:ahLst/>
            <a:cxnLst/>
            <a:rect l="l" t="t" r="r" b="b"/>
            <a:pathLst>
              <a:path w="2" h="2">
                <a:moveTo>
                  <a:pt x="2" y="1"/>
                </a:moveTo>
                <a:lnTo>
                  <a:pt x="0" y="0"/>
                </a:lnTo>
                <a:lnTo>
                  <a:pt x="1" y="1"/>
                </a:lnTo>
                <a:lnTo>
                  <a:pt x="0" y="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0" name="Connector 49"/>
          <p:cNvCxnSpPr/>
          <p:nvPr/>
        </p:nvCxnSpPr>
        <p:spPr>
          <a:xfrm flipH="1">
            <a:off x="859345" y="1301774"/>
            <a:ext cx="143224" cy="0"/>
          </a:xfrm>
          <a:prstGeom prst="line">
            <a:avLst/>
          </a:prstGeom>
          <a:ln w="412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818129" y="1342990"/>
            <a:ext cx="0" cy="256050"/>
          </a:xfrm>
          <a:prstGeom prst="line">
            <a:avLst/>
          </a:prstGeom>
          <a:ln w="412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859345" y="1640256"/>
            <a:ext cx="143224" cy="0"/>
          </a:xfrm>
          <a:prstGeom prst="line">
            <a:avLst/>
          </a:prstGeom>
          <a:ln w="412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1043784" y="1342990"/>
            <a:ext cx="0" cy="256050"/>
          </a:xfrm>
          <a:prstGeom prst="line">
            <a:avLst/>
          </a:prstGeom>
          <a:ln w="412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930957" y="2039287"/>
            <a:ext cx="0" cy="125979"/>
          </a:xfrm>
          <a:prstGeom prst="line">
            <a:avLst/>
          </a:prstGeom>
          <a:ln w="412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Freeform 54"/>
          <p:cNvSpPr/>
          <p:nvPr/>
        </p:nvSpPr>
        <p:spPr>
          <a:xfrm>
            <a:off x="914400" y="20193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0"/>
                </a:moveTo>
                <a:lnTo>
                  <a:pt x="0" y="3"/>
                </a:lnTo>
                <a:lnTo>
                  <a:pt x="1" y="2"/>
                </a:lnTo>
                <a:lnTo>
                  <a:pt x="3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" name="Connector 55"/>
          <p:cNvCxnSpPr/>
          <p:nvPr/>
        </p:nvCxnSpPr>
        <p:spPr>
          <a:xfrm flipV="1">
            <a:off x="930957" y="1662924"/>
            <a:ext cx="0" cy="125979"/>
          </a:xfrm>
          <a:prstGeom prst="line">
            <a:avLst/>
          </a:prstGeom>
          <a:ln w="412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Freeform 56"/>
          <p:cNvSpPr/>
          <p:nvPr/>
        </p:nvSpPr>
        <p:spPr>
          <a:xfrm>
            <a:off x="914400" y="16383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0"/>
                </a:moveTo>
                <a:lnTo>
                  <a:pt x="0" y="3"/>
                </a:lnTo>
                <a:lnTo>
                  <a:pt x="1" y="2"/>
                </a:lnTo>
                <a:lnTo>
                  <a:pt x="3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" name="Connector 57"/>
          <p:cNvCxnSpPr/>
          <p:nvPr/>
        </p:nvCxnSpPr>
        <p:spPr>
          <a:xfrm flipV="1">
            <a:off x="930957" y="1173734"/>
            <a:ext cx="0" cy="125979"/>
          </a:xfrm>
          <a:prstGeom prst="line">
            <a:avLst/>
          </a:prstGeom>
          <a:ln w="412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Freeform 58"/>
          <p:cNvSpPr/>
          <p:nvPr/>
        </p:nvSpPr>
        <p:spPr>
          <a:xfrm>
            <a:off x="914400" y="11557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0"/>
                </a:moveTo>
                <a:lnTo>
                  <a:pt x="0" y="2"/>
                </a:lnTo>
                <a:lnTo>
                  <a:pt x="1" y="1"/>
                </a:lnTo>
                <a:lnTo>
                  <a:pt x="3" y="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0" name="Connector 59"/>
          <p:cNvCxnSpPr/>
          <p:nvPr/>
        </p:nvCxnSpPr>
        <p:spPr>
          <a:xfrm flipV="1">
            <a:off x="930957" y="797372"/>
            <a:ext cx="0" cy="125979"/>
          </a:xfrm>
          <a:prstGeom prst="line">
            <a:avLst/>
          </a:prstGeom>
          <a:ln w="412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Freeform 60"/>
          <p:cNvSpPr/>
          <p:nvPr/>
        </p:nvSpPr>
        <p:spPr>
          <a:xfrm>
            <a:off x="914400" y="7747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0"/>
                </a:moveTo>
                <a:lnTo>
                  <a:pt x="0" y="3"/>
                </a:lnTo>
                <a:lnTo>
                  <a:pt x="1" y="2"/>
                </a:lnTo>
                <a:lnTo>
                  <a:pt x="3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2" name="Connector 61"/>
          <p:cNvCxnSpPr/>
          <p:nvPr/>
        </p:nvCxnSpPr>
        <p:spPr>
          <a:xfrm>
            <a:off x="1045845" y="1471015"/>
            <a:ext cx="157678" cy="0"/>
          </a:xfrm>
          <a:prstGeom prst="line">
            <a:avLst/>
          </a:prstGeom>
          <a:ln w="412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Freeform 62"/>
          <p:cNvSpPr/>
          <p:nvPr/>
        </p:nvSpPr>
        <p:spPr>
          <a:xfrm>
            <a:off x="1193800" y="1460500"/>
            <a:ext cx="25400" cy="25400"/>
          </a:xfrm>
          <a:custGeom>
            <a:avLst/>
            <a:gdLst/>
            <a:ahLst/>
            <a:cxnLst/>
            <a:rect l="l" t="t" r="r" b="b"/>
            <a:pathLst>
              <a:path w="2" h="2">
                <a:moveTo>
                  <a:pt x="2" y="1"/>
                </a:moveTo>
                <a:lnTo>
                  <a:pt x="0" y="0"/>
                </a:lnTo>
                <a:lnTo>
                  <a:pt x="1" y="1"/>
                </a:lnTo>
                <a:lnTo>
                  <a:pt x="0" y="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4" name="Connector 63"/>
          <p:cNvCxnSpPr/>
          <p:nvPr/>
        </p:nvCxnSpPr>
        <p:spPr>
          <a:xfrm flipH="1">
            <a:off x="1267406" y="1301774"/>
            <a:ext cx="143224" cy="0"/>
          </a:xfrm>
          <a:prstGeom prst="line">
            <a:avLst/>
          </a:prstGeom>
          <a:ln w="412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1226191" y="1342990"/>
            <a:ext cx="0" cy="256050"/>
          </a:xfrm>
          <a:prstGeom prst="line">
            <a:avLst/>
          </a:prstGeom>
          <a:ln w="412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1267406" y="1640256"/>
            <a:ext cx="143224" cy="0"/>
          </a:xfrm>
          <a:prstGeom prst="line">
            <a:avLst/>
          </a:prstGeom>
          <a:ln w="412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1451845" y="1342990"/>
            <a:ext cx="0" cy="256050"/>
          </a:xfrm>
          <a:prstGeom prst="line">
            <a:avLst/>
          </a:prstGeom>
          <a:ln w="412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1339018" y="2039287"/>
            <a:ext cx="0" cy="125979"/>
          </a:xfrm>
          <a:prstGeom prst="line">
            <a:avLst/>
          </a:prstGeom>
          <a:ln w="412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Freeform 68"/>
          <p:cNvSpPr/>
          <p:nvPr/>
        </p:nvSpPr>
        <p:spPr>
          <a:xfrm>
            <a:off x="1320800" y="20193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0"/>
                </a:moveTo>
                <a:lnTo>
                  <a:pt x="0" y="3"/>
                </a:lnTo>
                <a:lnTo>
                  <a:pt x="1" y="2"/>
                </a:lnTo>
                <a:lnTo>
                  <a:pt x="3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0" name="Connector 69"/>
          <p:cNvCxnSpPr/>
          <p:nvPr/>
        </p:nvCxnSpPr>
        <p:spPr>
          <a:xfrm flipV="1">
            <a:off x="1339018" y="1662924"/>
            <a:ext cx="0" cy="125979"/>
          </a:xfrm>
          <a:prstGeom prst="line">
            <a:avLst/>
          </a:prstGeom>
          <a:ln w="412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Freeform 70"/>
          <p:cNvSpPr/>
          <p:nvPr/>
        </p:nvSpPr>
        <p:spPr>
          <a:xfrm>
            <a:off x="1320800" y="16383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0"/>
                </a:moveTo>
                <a:lnTo>
                  <a:pt x="0" y="3"/>
                </a:lnTo>
                <a:lnTo>
                  <a:pt x="1" y="2"/>
                </a:lnTo>
                <a:lnTo>
                  <a:pt x="3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2" name="Connector 71"/>
          <p:cNvCxnSpPr/>
          <p:nvPr/>
        </p:nvCxnSpPr>
        <p:spPr>
          <a:xfrm flipV="1">
            <a:off x="1339018" y="1173734"/>
            <a:ext cx="0" cy="125979"/>
          </a:xfrm>
          <a:prstGeom prst="line">
            <a:avLst/>
          </a:prstGeom>
          <a:ln w="412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Freeform 72"/>
          <p:cNvSpPr/>
          <p:nvPr/>
        </p:nvSpPr>
        <p:spPr>
          <a:xfrm>
            <a:off x="1320800" y="11557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0"/>
                </a:moveTo>
                <a:lnTo>
                  <a:pt x="0" y="2"/>
                </a:lnTo>
                <a:lnTo>
                  <a:pt x="1" y="1"/>
                </a:lnTo>
                <a:lnTo>
                  <a:pt x="3" y="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4" name="Connector 73"/>
          <p:cNvCxnSpPr/>
          <p:nvPr/>
        </p:nvCxnSpPr>
        <p:spPr>
          <a:xfrm flipV="1">
            <a:off x="1339018" y="797372"/>
            <a:ext cx="0" cy="125979"/>
          </a:xfrm>
          <a:prstGeom prst="line">
            <a:avLst/>
          </a:prstGeom>
          <a:ln w="412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Freeform 74"/>
          <p:cNvSpPr/>
          <p:nvPr/>
        </p:nvSpPr>
        <p:spPr>
          <a:xfrm>
            <a:off x="1320800" y="7747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0"/>
                </a:moveTo>
                <a:lnTo>
                  <a:pt x="0" y="3"/>
                </a:lnTo>
                <a:lnTo>
                  <a:pt x="1" y="2"/>
                </a:lnTo>
                <a:lnTo>
                  <a:pt x="3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6" name="Connector 75"/>
          <p:cNvCxnSpPr/>
          <p:nvPr/>
        </p:nvCxnSpPr>
        <p:spPr>
          <a:xfrm>
            <a:off x="1453906" y="1471015"/>
            <a:ext cx="157678" cy="0"/>
          </a:xfrm>
          <a:prstGeom prst="line">
            <a:avLst/>
          </a:prstGeom>
          <a:ln w="412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Freeform 76"/>
          <p:cNvSpPr/>
          <p:nvPr/>
        </p:nvSpPr>
        <p:spPr>
          <a:xfrm>
            <a:off x="1600200" y="14605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3" y="1"/>
                </a:moveTo>
                <a:lnTo>
                  <a:pt x="0" y="0"/>
                </a:lnTo>
                <a:lnTo>
                  <a:pt x="1" y="1"/>
                </a:lnTo>
                <a:lnTo>
                  <a:pt x="0" y="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8" name="Connector 77"/>
          <p:cNvCxnSpPr/>
          <p:nvPr/>
        </p:nvCxnSpPr>
        <p:spPr>
          <a:xfrm flipH="1">
            <a:off x="1675467" y="1301774"/>
            <a:ext cx="143224" cy="0"/>
          </a:xfrm>
          <a:prstGeom prst="line">
            <a:avLst/>
          </a:prstGeom>
          <a:ln w="412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1634252" y="1342990"/>
            <a:ext cx="0" cy="256050"/>
          </a:xfrm>
          <a:prstGeom prst="line">
            <a:avLst/>
          </a:prstGeom>
          <a:ln w="412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1675467" y="1640256"/>
            <a:ext cx="143224" cy="0"/>
          </a:xfrm>
          <a:prstGeom prst="line">
            <a:avLst/>
          </a:prstGeom>
          <a:ln w="412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1859907" y="1342990"/>
            <a:ext cx="0" cy="256050"/>
          </a:xfrm>
          <a:prstGeom prst="line">
            <a:avLst/>
          </a:prstGeom>
          <a:ln w="412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1747079" y="2039287"/>
            <a:ext cx="0" cy="125979"/>
          </a:xfrm>
          <a:prstGeom prst="line">
            <a:avLst/>
          </a:prstGeom>
          <a:ln w="412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Freeform 82"/>
          <p:cNvSpPr/>
          <p:nvPr/>
        </p:nvSpPr>
        <p:spPr>
          <a:xfrm>
            <a:off x="1727200" y="20193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2" y="0"/>
                </a:moveTo>
                <a:lnTo>
                  <a:pt x="0" y="3"/>
                </a:lnTo>
                <a:lnTo>
                  <a:pt x="2" y="2"/>
                </a:lnTo>
                <a:lnTo>
                  <a:pt x="3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4" name="Connector 83"/>
          <p:cNvCxnSpPr/>
          <p:nvPr/>
        </p:nvCxnSpPr>
        <p:spPr>
          <a:xfrm flipV="1">
            <a:off x="1747079" y="1662924"/>
            <a:ext cx="0" cy="125979"/>
          </a:xfrm>
          <a:prstGeom prst="line">
            <a:avLst/>
          </a:prstGeom>
          <a:ln w="412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Freeform 84"/>
          <p:cNvSpPr/>
          <p:nvPr/>
        </p:nvSpPr>
        <p:spPr>
          <a:xfrm>
            <a:off x="1727200" y="16383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2" y="0"/>
                </a:moveTo>
                <a:lnTo>
                  <a:pt x="0" y="3"/>
                </a:lnTo>
                <a:lnTo>
                  <a:pt x="2" y="2"/>
                </a:lnTo>
                <a:lnTo>
                  <a:pt x="3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6" name="Connector 85"/>
          <p:cNvCxnSpPr/>
          <p:nvPr/>
        </p:nvCxnSpPr>
        <p:spPr>
          <a:xfrm flipV="1">
            <a:off x="1747079" y="1173734"/>
            <a:ext cx="0" cy="125979"/>
          </a:xfrm>
          <a:prstGeom prst="line">
            <a:avLst/>
          </a:prstGeom>
          <a:ln w="412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Freeform 86"/>
          <p:cNvSpPr/>
          <p:nvPr/>
        </p:nvSpPr>
        <p:spPr>
          <a:xfrm>
            <a:off x="1727200" y="11557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2" y="0"/>
                </a:moveTo>
                <a:lnTo>
                  <a:pt x="0" y="2"/>
                </a:lnTo>
                <a:lnTo>
                  <a:pt x="2" y="1"/>
                </a:lnTo>
                <a:lnTo>
                  <a:pt x="3" y="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8" name="Connector 87"/>
          <p:cNvCxnSpPr/>
          <p:nvPr/>
        </p:nvCxnSpPr>
        <p:spPr>
          <a:xfrm flipV="1">
            <a:off x="1747079" y="797372"/>
            <a:ext cx="0" cy="125979"/>
          </a:xfrm>
          <a:prstGeom prst="line">
            <a:avLst/>
          </a:prstGeom>
          <a:ln w="412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Freeform 88"/>
          <p:cNvSpPr/>
          <p:nvPr/>
        </p:nvSpPr>
        <p:spPr>
          <a:xfrm>
            <a:off x="1727200" y="7747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2" y="0"/>
                </a:moveTo>
                <a:lnTo>
                  <a:pt x="0" y="3"/>
                </a:lnTo>
                <a:lnTo>
                  <a:pt x="2" y="2"/>
                </a:lnTo>
                <a:lnTo>
                  <a:pt x="3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0" name="Connector 89"/>
          <p:cNvCxnSpPr/>
          <p:nvPr/>
        </p:nvCxnSpPr>
        <p:spPr>
          <a:xfrm>
            <a:off x="1861967" y="1471015"/>
            <a:ext cx="157678" cy="0"/>
          </a:xfrm>
          <a:prstGeom prst="line">
            <a:avLst/>
          </a:prstGeom>
          <a:ln w="412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Freeform 90"/>
          <p:cNvSpPr/>
          <p:nvPr/>
        </p:nvSpPr>
        <p:spPr>
          <a:xfrm>
            <a:off x="2006600" y="14605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3" y="1"/>
                </a:moveTo>
                <a:lnTo>
                  <a:pt x="0" y="0"/>
                </a:lnTo>
                <a:lnTo>
                  <a:pt x="1" y="1"/>
                </a:lnTo>
                <a:lnTo>
                  <a:pt x="0" y="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2" name="Connector 91"/>
          <p:cNvCxnSpPr/>
          <p:nvPr/>
        </p:nvCxnSpPr>
        <p:spPr>
          <a:xfrm flipH="1">
            <a:off x="2083529" y="1301774"/>
            <a:ext cx="143223" cy="0"/>
          </a:xfrm>
          <a:prstGeom prst="line">
            <a:avLst/>
          </a:prstGeom>
          <a:ln w="412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2042313" y="1342990"/>
            <a:ext cx="0" cy="256050"/>
          </a:xfrm>
          <a:prstGeom prst="line">
            <a:avLst/>
          </a:prstGeom>
          <a:ln w="412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2083529" y="1640256"/>
            <a:ext cx="143223" cy="0"/>
          </a:xfrm>
          <a:prstGeom prst="line">
            <a:avLst/>
          </a:prstGeom>
          <a:ln w="412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 flipV="1">
            <a:off x="2267968" y="1342990"/>
            <a:ext cx="0" cy="256050"/>
          </a:xfrm>
          <a:prstGeom prst="line">
            <a:avLst/>
          </a:prstGeom>
          <a:ln w="412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V="1">
            <a:off x="2155141" y="2039287"/>
            <a:ext cx="0" cy="125979"/>
          </a:xfrm>
          <a:prstGeom prst="line">
            <a:avLst/>
          </a:prstGeom>
          <a:ln w="412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Freeform 96"/>
          <p:cNvSpPr/>
          <p:nvPr/>
        </p:nvSpPr>
        <p:spPr>
          <a:xfrm>
            <a:off x="2133600" y="20193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2" y="0"/>
                </a:moveTo>
                <a:lnTo>
                  <a:pt x="0" y="3"/>
                </a:lnTo>
                <a:lnTo>
                  <a:pt x="2" y="2"/>
                </a:lnTo>
                <a:lnTo>
                  <a:pt x="3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8" name="Connector 97"/>
          <p:cNvCxnSpPr/>
          <p:nvPr/>
        </p:nvCxnSpPr>
        <p:spPr>
          <a:xfrm flipV="1">
            <a:off x="2155141" y="1662924"/>
            <a:ext cx="0" cy="125979"/>
          </a:xfrm>
          <a:prstGeom prst="line">
            <a:avLst/>
          </a:prstGeom>
          <a:ln w="412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Freeform 98"/>
          <p:cNvSpPr/>
          <p:nvPr/>
        </p:nvSpPr>
        <p:spPr>
          <a:xfrm>
            <a:off x="2133600" y="16383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2" y="0"/>
                </a:moveTo>
                <a:lnTo>
                  <a:pt x="0" y="3"/>
                </a:lnTo>
                <a:lnTo>
                  <a:pt x="2" y="2"/>
                </a:lnTo>
                <a:lnTo>
                  <a:pt x="3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0" name="Connector 99"/>
          <p:cNvCxnSpPr/>
          <p:nvPr/>
        </p:nvCxnSpPr>
        <p:spPr>
          <a:xfrm flipV="1">
            <a:off x="2155141" y="1173734"/>
            <a:ext cx="0" cy="125979"/>
          </a:xfrm>
          <a:prstGeom prst="line">
            <a:avLst/>
          </a:prstGeom>
          <a:ln w="412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Freeform 100"/>
          <p:cNvSpPr/>
          <p:nvPr/>
        </p:nvSpPr>
        <p:spPr>
          <a:xfrm>
            <a:off x="2133600" y="11557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2" y="0"/>
                </a:moveTo>
                <a:lnTo>
                  <a:pt x="0" y="2"/>
                </a:lnTo>
                <a:lnTo>
                  <a:pt x="2" y="1"/>
                </a:lnTo>
                <a:lnTo>
                  <a:pt x="3" y="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2" name="Connector 101"/>
          <p:cNvCxnSpPr/>
          <p:nvPr/>
        </p:nvCxnSpPr>
        <p:spPr>
          <a:xfrm flipV="1">
            <a:off x="2155141" y="797372"/>
            <a:ext cx="0" cy="125979"/>
          </a:xfrm>
          <a:prstGeom prst="line">
            <a:avLst/>
          </a:prstGeom>
          <a:ln w="412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" name="Freeform 102"/>
          <p:cNvSpPr/>
          <p:nvPr/>
        </p:nvSpPr>
        <p:spPr>
          <a:xfrm>
            <a:off x="2133600" y="7747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2" y="0"/>
                </a:moveTo>
                <a:lnTo>
                  <a:pt x="0" y="3"/>
                </a:lnTo>
                <a:lnTo>
                  <a:pt x="2" y="2"/>
                </a:lnTo>
                <a:lnTo>
                  <a:pt x="3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4" name="Connector 103"/>
          <p:cNvCxnSpPr/>
          <p:nvPr/>
        </p:nvCxnSpPr>
        <p:spPr>
          <a:xfrm>
            <a:off x="2270029" y="1471015"/>
            <a:ext cx="157678" cy="0"/>
          </a:xfrm>
          <a:prstGeom prst="line">
            <a:avLst/>
          </a:prstGeom>
          <a:ln w="412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Freeform 104"/>
          <p:cNvSpPr/>
          <p:nvPr/>
        </p:nvSpPr>
        <p:spPr>
          <a:xfrm>
            <a:off x="2413000" y="14605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3" y="1"/>
                </a:moveTo>
                <a:lnTo>
                  <a:pt x="0" y="0"/>
                </a:lnTo>
                <a:lnTo>
                  <a:pt x="1" y="1"/>
                </a:lnTo>
                <a:lnTo>
                  <a:pt x="0" y="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Freeform 105"/>
          <p:cNvSpPr/>
          <p:nvPr/>
        </p:nvSpPr>
        <p:spPr>
          <a:xfrm>
            <a:off x="3467100" y="952500"/>
            <a:ext cx="1600200" cy="1066800"/>
          </a:xfrm>
          <a:custGeom>
            <a:avLst/>
            <a:gdLst/>
            <a:ahLst/>
            <a:cxnLst/>
            <a:rect l="l" t="t" r="r" b="b"/>
            <a:pathLst>
              <a:path w="126" h="84">
                <a:moveTo>
                  <a:pt x="123" y="0"/>
                </a:moveTo>
                <a:lnTo>
                  <a:pt x="3" y="0"/>
                </a:lnTo>
                <a:lnTo>
                  <a:pt x="3" y="0"/>
                </a:lnTo>
                <a:lnTo>
                  <a:pt x="2" y="0"/>
                </a:lnTo>
                <a:lnTo>
                  <a:pt x="1" y="0"/>
                </a:lnTo>
                <a:lnTo>
                  <a:pt x="1" y="1"/>
                </a:lnTo>
                <a:lnTo>
                  <a:pt x="1" y="1"/>
                </a:lnTo>
                <a:lnTo>
                  <a:pt x="0" y="2"/>
                </a:lnTo>
                <a:lnTo>
                  <a:pt x="0" y="2"/>
                </a:lnTo>
                <a:lnTo>
                  <a:pt x="0" y="3"/>
                </a:lnTo>
                <a:lnTo>
                  <a:pt x="0" y="81"/>
                </a:lnTo>
                <a:lnTo>
                  <a:pt x="0" y="81"/>
                </a:lnTo>
                <a:lnTo>
                  <a:pt x="0" y="82"/>
                </a:lnTo>
                <a:lnTo>
                  <a:pt x="1" y="83"/>
                </a:lnTo>
                <a:lnTo>
                  <a:pt x="1" y="83"/>
                </a:lnTo>
                <a:lnTo>
                  <a:pt x="1" y="83"/>
                </a:lnTo>
                <a:lnTo>
                  <a:pt x="2" y="84"/>
                </a:lnTo>
                <a:lnTo>
                  <a:pt x="3" y="84"/>
                </a:lnTo>
                <a:lnTo>
                  <a:pt x="3" y="84"/>
                </a:lnTo>
                <a:lnTo>
                  <a:pt x="123" y="84"/>
                </a:lnTo>
                <a:lnTo>
                  <a:pt x="124" y="84"/>
                </a:lnTo>
                <a:lnTo>
                  <a:pt x="125" y="84"/>
                </a:lnTo>
                <a:lnTo>
                  <a:pt x="125" y="83"/>
                </a:lnTo>
                <a:lnTo>
                  <a:pt x="126" y="83"/>
                </a:lnTo>
                <a:lnTo>
                  <a:pt x="126" y="83"/>
                </a:lnTo>
                <a:lnTo>
                  <a:pt x="126" y="82"/>
                </a:lnTo>
                <a:lnTo>
                  <a:pt x="126" y="81"/>
                </a:lnTo>
                <a:lnTo>
                  <a:pt x="126" y="81"/>
                </a:lnTo>
                <a:lnTo>
                  <a:pt x="126" y="3"/>
                </a:lnTo>
                <a:lnTo>
                  <a:pt x="126" y="2"/>
                </a:lnTo>
                <a:lnTo>
                  <a:pt x="126" y="2"/>
                </a:lnTo>
                <a:lnTo>
                  <a:pt x="126" y="1"/>
                </a:lnTo>
                <a:lnTo>
                  <a:pt x="126" y="1"/>
                </a:lnTo>
                <a:lnTo>
                  <a:pt x="125" y="0"/>
                </a:lnTo>
                <a:lnTo>
                  <a:pt x="125" y="0"/>
                </a:lnTo>
                <a:lnTo>
                  <a:pt x="124" y="0"/>
                </a:lnTo>
                <a:lnTo>
                  <a:pt x="123" y="0"/>
                </a:lnTo>
                <a:close/>
              </a:path>
            </a:pathLst>
          </a:custGeom>
          <a:solidFill>
            <a:srgbClr val="93D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Freeform 106"/>
          <p:cNvSpPr/>
          <p:nvPr/>
        </p:nvSpPr>
        <p:spPr>
          <a:xfrm>
            <a:off x="4089400" y="1358900"/>
            <a:ext cx="368300" cy="241300"/>
          </a:xfrm>
          <a:custGeom>
            <a:avLst/>
            <a:gdLst/>
            <a:ahLst/>
            <a:cxnLst/>
            <a:rect l="l" t="t" r="r" b="b"/>
            <a:pathLst>
              <a:path w="29" h="19">
                <a:moveTo>
                  <a:pt x="26" y="0"/>
                </a:moveTo>
                <a:lnTo>
                  <a:pt x="3" y="0"/>
                </a:lnTo>
                <a:lnTo>
                  <a:pt x="2" y="1"/>
                </a:lnTo>
                <a:lnTo>
                  <a:pt x="1" y="1"/>
                </a:lnTo>
                <a:lnTo>
                  <a:pt x="1" y="1"/>
                </a:lnTo>
                <a:lnTo>
                  <a:pt x="0" y="1"/>
                </a:lnTo>
                <a:lnTo>
                  <a:pt x="0" y="2"/>
                </a:lnTo>
                <a:lnTo>
                  <a:pt x="0" y="2"/>
                </a:lnTo>
                <a:lnTo>
                  <a:pt x="0" y="3"/>
                </a:lnTo>
                <a:lnTo>
                  <a:pt x="0" y="4"/>
                </a:lnTo>
                <a:lnTo>
                  <a:pt x="0" y="16"/>
                </a:lnTo>
                <a:lnTo>
                  <a:pt x="0" y="17"/>
                </a:lnTo>
                <a:lnTo>
                  <a:pt x="0" y="17"/>
                </a:lnTo>
                <a:lnTo>
                  <a:pt x="0" y="18"/>
                </a:lnTo>
                <a:lnTo>
                  <a:pt x="0" y="18"/>
                </a:lnTo>
                <a:lnTo>
                  <a:pt x="1" y="18"/>
                </a:lnTo>
                <a:lnTo>
                  <a:pt x="1" y="19"/>
                </a:lnTo>
                <a:lnTo>
                  <a:pt x="2" y="19"/>
                </a:lnTo>
                <a:lnTo>
                  <a:pt x="3" y="19"/>
                </a:lnTo>
                <a:lnTo>
                  <a:pt x="26" y="19"/>
                </a:lnTo>
                <a:lnTo>
                  <a:pt x="27" y="19"/>
                </a:lnTo>
                <a:lnTo>
                  <a:pt x="27" y="19"/>
                </a:lnTo>
                <a:lnTo>
                  <a:pt x="28" y="18"/>
                </a:lnTo>
                <a:lnTo>
                  <a:pt x="28" y="18"/>
                </a:lnTo>
                <a:lnTo>
                  <a:pt x="29" y="18"/>
                </a:lnTo>
                <a:lnTo>
                  <a:pt x="29" y="17"/>
                </a:lnTo>
                <a:lnTo>
                  <a:pt x="29" y="17"/>
                </a:lnTo>
                <a:lnTo>
                  <a:pt x="29" y="16"/>
                </a:lnTo>
                <a:lnTo>
                  <a:pt x="29" y="4"/>
                </a:lnTo>
                <a:lnTo>
                  <a:pt x="29" y="3"/>
                </a:lnTo>
                <a:lnTo>
                  <a:pt x="29" y="2"/>
                </a:lnTo>
                <a:lnTo>
                  <a:pt x="29" y="2"/>
                </a:lnTo>
                <a:lnTo>
                  <a:pt x="28" y="1"/>
                </a:lnTo>
                <a:lnTo>
                  <a:pt x="28" y="1"/>
                </a:lnTo>
                <a:lnTo>
                  <a:pt x="27" y="1"/>
                </a:lnTo>
                <a:lnTo>
                  <a:pt x="27" y="1"/>
                </a:lnTo>
                <a:lnTo>
                  <a:pt x="26" y="0"/>
                </a:lnTo>
                <a:close/>
              </a:path>
            </a:pathLst>
          </a:custGeom>
          <a:solidFill>
            <a:srgbClr val="F79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Freeform 107"/>
          <p:cNvSpPr/>
          <p:nvPr/>
        </p:nvSpPr>
        <p:spPr>
          <a:xfrm>
            <a:off x="3683000" y="1371600"/>
            <a:ext cx="215900" cy="215900"/>
          </a:xfrm>
          <a:custGeom>
            <a:avLst/>
            <a:gdLst/>
            <a:ahLst/>
            <a:cxnLst/>
            <a:rect l="l" t="t" r="r" b="b"/>
            <a:pathLst>
              <a:path w="17" h="17">
                <a:moveTo>
                  <a:pt x="17" y="9"/>
                </a:moveTo>
                <a:lnTo>
                  <a:pt x="17" y="7"/>
                </a:lnTo>
                <a:lnTo>
                  <a:pt x="16" y="5"/>
                </a:lnTo>
                <a:lnTo>
                  <a:pt x="15" y="4"/>
                </a:lnTo>
                <a:lnTo>
                  <a:pt x="14" y="3"/>
                </a:lnTo>
                <a:lnTo>
                  <a:pt x="13" y="2"/>
                </a:lnTo>
                <a:lnTo>
                  <a:pt x="12" y="1"/>
                </a:lnTo>
                <a:lnTo>
                  <a:pt x="10" y="0"/>
                </a:lnTo>
                <a:lnTo>
                  <a:pt x="8" y="0"/>
                </a:lnTo>
                <a:lnTo>
                  <a:pt x="7" y="0"/>
                </a:lnTo>
                <a:lnTo>
                  <a:pt x="5" y="1"/>
                </a:lnTo>
                <a:lnTo>
                  <a:pt x="4" y="2"/>
                </a:lnTo>
                <a:lnTo>
                  <a:pt x="2" y="3"/>
                </a:lnTo>
                <a:lnTo>
                  <a:pt x="1" y="4"/>
                </a:lnTo>
                <a:lnTo>
                  <a:pt x="1" y="5"/>
                </a:lnTo>
                <a:lnTo>
                  <a:pt x="0" y="7"/>
                </a:lnTo>
                <a:lnTo>
                  <a:pt x="0" y="9"/>
                </a:lnTo>
                <a:lnTo>
                  <a:pt x="0" y="10"/>
                </a:lnTo>
                <a:lnTo>
                  <a:pt x="1" y="12"/>
                </a:lnTo>
                <a:lnTo>
                  <a:pt x="1" y="13"/>
                </a:lnTo>
                <a:lnTo>
                  <a:pt x="2" y="15"/>
                </a:lnTo>
                <a:lnTo>
                  <a:pt x="4" y="16"/>
                </a:lnTo>
                <a:lnTo>
                  <a:pt x="5" y="17"/>
                </a:lnTo>
                <a:lnTo>
                  <a:pt x="7" y="17"/>
                </a:lnTo>
                <a:lnTo>
                  <a:pt x="8" y="17"/>
                </a:lnTo>
                <a:lnTo>
                  <a:pt x="10" y="17"/>
                </a:lnTo>
                <a:lnTo>
                  <a:pt x="12" y="17"/>
                </a:lnTo>
                <a:lnTo>
                  <a:pt x="13" y="16"/>
                </a:lnTo>
                <a:lnTo>
                  <a:pt x="14" y="15"/>
                </a:lnTo>
                <a:lnTo>
                  <a:pt x="15" y="13"/>
                </a:lnTo>
                <a:lnTo>
                  <a:pt x="16" y="12"/>
                </a:lnTo>
                <a:lnTo>
                  <a:pt x="17" y="10"/>
                </a:lnTo>
                <a:lnTo>
                  <a:pt x="17" y="9"/>
                </a:lnTo>
                <a:close/>
              </a:path>
            </a:pathLst>
          </a:cu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9" name="Connector 108"/>
          <p:cNvCxnSpPr/>
          <p:nvPr/>
        </p:nvCxnSpPr>
        <p:spPr>
          <a:xfrm>
            <a:off x="3359863" y="1482621"/>
            <a:ext cx="310999" cy="0"/>
          </a:xfrm>
          <a:prstGeom prst="line">
            <a:avLst/>
          </a:prstGeom>
          <a:ln w="781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 flipV="1">
            <a:off x="3788534" y="1600293"/>
            <a:ext cx="0" cy="526124"/>
          </a:xfrm>
          <a:prstGeom prst="line">
            <a:avLst/>
          </a:prstGeom>
          <a:ln w="781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>
            <a:off x="3906205" y="1482621"/>
            <a:ext cx="141586" cy="0"/>
          </a:xfrm>
          <a:prstGeom prst="line">
            <a:avLst/>
          </a:prstGeom>
          <a:ln w="781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Freeform 111"/>
          <p:cNvSpPr/>
          <p:nvPr/>
        </p:nvSpPr>
        <p:spPr>
          <a:xfrm>
            <a:off x="4038600" y="14605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2"/>
                </a:moveTo>
                <a:lnTo>
                  <a:pt x="0" y="0"/>
                </a:lnTo>
                <a:lnTo>
                  <a:pt x="1" y="2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3" name="Connector 112"/>
          <p:cNvCxnSpPr/>
          <p:nvPr/>
        </p:nvCxnSpPr>
        <p:spPr>
          <a:xfrm>
            <a:off x="4468994" y="1482621"/>
            <a:ext cx="687929" cy="0"/>
          </a:xfrm>
          <a:prstGeom prst="line">
            <a:avLst/>
          </a:prstGeom>
          <a:ln w="781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" name="Freeform 113"/>
          <p:cNvSpPr/>
          <p:nvPr/>
        </p:nvSpPr>
        <p:spPr>
          <a:xfrm>
            <a:off x="5143500" y="14605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2"/>
                </a:moveTo>
                <a:lnTo>
                  <a:pt x="0" y="0"/>
                </a:lnTo>
                <a:lnTo>
                  <a:pt x="1" y="2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5" name="Connector 114"/>
          <p:cNvCxnSpPr/>
          <p:nvPr/>
        </p:nvCxnSpPr>
        <p:spPr>
          <a:xfrm flipV="1">
            <a:off x="4753651" y="864225"/>
            <a:ext cx="0" cy="618396"/>
          </a:xfrm>
          <a:prstGeom prst="line">
            <a:avLst/>
          </a:prstGeom>
          <a:ln w="781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Freeform 115"/>
          <p:cNvSpPr/>
          <p:nvPr/>
        </p:nvSpPr>
        <p:spPr>
          <a:xfrm>
            <a:off x="4737100" y="8382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0"/>
                </a:moveTo>
                <a:lnTo>
                  <a:pt x="0" y="3"/>
                </a:lnTo>
                <a:lnTo>
                  <a:pt x="1" y="2"/>
                </a:lnTo>
                <a:lnTo>
                  <a:pt x="3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-2" y="3146742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2880002" y="3146742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9" name="Picture 11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120" name="Picture 11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121" name="TextBox 120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Recurrent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Neural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Networks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(RNN)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108000" y="359888"/>
            <a:ext cx="5677395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1">
                <a:solidFill>
                  <a:srgbClr val="003373"/>
                </a:solidFill>
                <a:latin typeface="Josefin Sans"/>
              </a:rPr>
              <a:t>Architecture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466188" y="2165321"/>
            <a:ext cx="5319207" cy="1748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8" b="0">
                <a:solidFill>
                  <a:srgbClr val="000000"/>
                </a:solidFill>
                <a:latin typeface="Cambria Math"/>
              </a:rPr>
              <a:t>x</a:t>
            </a:r>
            <a:r>
              <a:rPr sz="649" b="0">
                <a:solidFill>
                  <a:srgbClr val="000000"/>
                </a:solidFill>
                <a:latin typeface="Cambria Math"/>
              </a:rPr>
              <a:t>1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470770" y="626997"/>
            <a:ext cx="5314625" cy="1748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8" b="0">
                <a:solidFill>
                  <a:srgbClr val="000000"/>
                </a:solidFill>
                <a:latin typeface="Cambria Math"/>
              </a:rPr>
              <a:t>y</a:t>
            </a:r>
            <a:r>
              <a:rPr sz="649" b="0">
                <a:solidFill>
                  <a:srgbClr val="000000"/>
                </a:solidFill>
                <a:latin typeface="Cambria Math"/>
              </a:rPr>
              <a:t>1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874236" y="2165321"/>
            <a:ext cx="4911159" cy="1748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8" b="0">
                <a:solidFill>
                  <a:srgbClr val="000000"/>
                </a:solidFill>
                <a:latin typeface="Cambria Math"/>
              </a:rPr>
              <a:t>x</a:t>
            </a:r>
            <a:r>
              <a:rPr sz="649" b="0">
                <a:solidFill>
                  <a:srgbClr val="000000"/>
                </a:solidFill>
                <a:latin typeface="Cambria Math"/>
              </a:rPr>
              <a:t>2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878818" y="626997"/>
            <a:ext cx="4906577" cy="1748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8" b="0">
                <a:solidFill>
                  <a:srgbClr val="000000"/>
                </a:solidFill>
                <a:latin typeface="Cambria Math"/>
              </a:rPr>
              <a:t>y</a:t>
            </a:r>
            <a:r>
              <a:rPr sz="649" b="0">
                <a:solidFill>
                  <a:srgbClr val="000000"/>
                </a:solidFill>
                <a:latin typeface="Cambria Math"/>
              </a:rPr>
              <a:t>2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1282294" y="2165321"/>
            <a:ext cx="4503101" cy="1748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8" b="0">
                <a:solidFill>
                  <a:srgbClr val="000000"/>
                </a:solidFill>
                <a:latin typeface="Cambria Math"/>
              </a:rPr>
              <a:t>x</a:t>
            </a:r>
            <a:r>
              <a:rPr sz="649" b="0">
                <a:solidFill>
                  <a:srgbClr val="000000"/>
                </a:solidFill>
                <a:latin typeface="Cambria Math"/>
              </a:rPr>
              <a:t>3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1286876" y="626997"/>
            <a:ext cx="4498519" cy="1748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8" b="0">
                <a:solidFill>
                  <a:srgbClr val="000000"/>
                </a:solidFill>
                <a:latin typeface="Cambria Math"/>
              </a:rPr>
              <a:t>y</a:t>
            </a:r>
            <a:r>
              <a:rPr sz="649" b="0">
                <a:solidFill>
                  <a:srgbClr val="000000"/>
                </a:solidFill>
                <a:latin typeface="Cambria Math"/>
              </a:rPr>
              <a:t>3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1690353" y="2165321"/>
            <a:ext cx="4095042" cy="1748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8" b="0">
                <a:solidFill>
                  <a:srgbClr val="000000"/>
                </a:solidFill>
                <a:latin typeface="Cambria Math"/>
              </a:rPr>
              <a:t>x</a:t>
            </a:r>
            <a:r>
              <a:rPr sz="649" b="0">
                <a:solidFill>
                  <a:srgbClr val="000000"/>
                </a:solidFill>
                <a:latin typeface="Cambria Math"/>
              </a:rPr>
              <a:t>4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1694934" y="626997"/>
            <a:ext cx="4090461" cy="1748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8" b="0">
                <a:solidFill>
                  <a:srgbClr val="000000"/>
                </a:solidFill>
                <a:latin typeface="Cambria Math"/>
              </a:rPr>
              <a:t>y</a:t>
            </a:r>
            <a:r>
              <a:rPr sz="649" b="0">
                <a:solidFill>
                  <a:srgbClr val="000000"/>
                </a:solidFill>
                <a:latin typeface="Cambria Math"/>
              </a:rPr>
              <a:t>4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2098411" y="2165321"/>
            <a:ext cx="3686984" cy="1748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8" b="0">
                <a:solidFill>
                  <a:srgbClr val="000000"/>
                </a:solidFill>
                <a:latin typeface="Cambria Math"/>
              </a:rPr>
              <a:t>x</a:t>
            </a:r>
            <a:r>
              <a:rPr sz="649" b="0">
                <a:solidFill>
                  <a:srgbClr val="000000"/>
                </a:solidFill>
                <a:latin typeface="Cambria Math"/>
              </a:rPr>
              <a:t>5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2102993" y="626997"/>
            <a:ext cx="3682402" cy="1748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8" b="0">
                <a:solidFill>
                  <a:srgbClr val="000000"/>
                </a:solidFill>
                <a:latin typeface="Cambria Math"/>
              </a:rPr>
              <a:t>y</a:t>
            </a:r>
            <a:r>
              <a:rPr sz="649" b="0">
                <a:solidFill>
                  <a:srgbClr val="000000"/>
                </a:solidFill>
                <a:latin typeface="Cambria Math"/>
              </a:rPr>
              <a:t>5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2487957" y="1406456"/>
            <a:ext cx="3297439" cy="1748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8" b="0">
                <a:solidFill>
                  <a:srgbClr val="000000"/>
                </a:solidFill>
                <a:latin typeface="Cambria Math"/>
              </a:rPr>
              <a:t>· · ·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4164121" y="1436163"/>
            <a:ext cx="1621274" cy="16580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2" b="0">
                <a:solidFill>
                  <a:srgbClr val="000000"/>
                </a:solidFill>
                <a:latin typeface="Cambria Math"/>
              </a:rPr>
              <a:t>tanh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3119656" y="1424073"/>
            <a:ext cx="2665739" cy="16580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2" b="0">
                <a:solidFill>
                  <a:srgbClr val="000000"/>
                </a:solidFill>
                <a:latin typeface="Cambria Math"/>
              </a:rPr>
              <a:t>h</a:t>
            </a:r>
            <a:r>
              <a:rPr sz="615" b="0">
                <a:solidFill>
                  <a:srgbClr val="000000"/>
                </a:solidFill>
                <a:latin typeface="Cambria Math"/>
              </a:rPr>
              <a:t>t</a:t>
            </a:r>
            <a:r>
              <a:rPr sz="615" b="0">
                <a:solidFill>
                  <a:srgbClr val="000000"/>
                </a:solidFill>
                <a:latin typeface="Cambria Math"/>
              </a:rPr>
              <a:t>−</a:t>
            </a:r>
            <a:r>
              <a:rPr sz="615" b="0">
                <a:solidFill>
                  <a:srgbClr val="000000"/>
                </a:solidFill>
                <a:latin typeface="Cambria Math"/>
              </a:rPr>
              <a:t>1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3740530" y="2126472"/>
            <a:ext cx="2044865" cy="16580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2" b="0">
                <a:solidFill>
                  <a:srgbClr val="000000"/>
                </a:solidFill>
                <a:latin typeface="Cambria Math"/>
              </a:rPr>
              <a:t>x</a:t>
            </a:r>
            <a:r>
              <a:rPr sz="615" b="0">
                <a:solidFill>
                  <a:srgbClr val="000000"/>
                </a:solidFill>
                <a:latin typeface="Cambria Math"/>
              </a:rPr>
              <a:t>t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5219921" y="1428142"/>
            <a:ext cx="565474" cy="16580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2" b="0">
                <a:solidFill>
                  <a:srgbClr val="000000"/>
                </a:solidFill>
                <a:latin typeface="Cambria Math"/>
              </a:rPr>
              <a:t>h</a:t>
            </a:r>
            <a:r>
              <a:rPr sz="615" b="0">
                <a:solidFill>
                  <a:srgbClr val="000000"/>
                </a:solidFill>
                <a:latin typeface="Cambria Math"/>
              </a:rPr>
              <a:t>t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705391" y="701582"/>
            <a:ext cx="1080004" cy="16580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2" b="0">
                <a:solidFill>
                  <a:srgbClr val="000000"/>
                </a:solidFill>
                <a:latin typeface="Cambria Math"/>
              </a:rPr>
              <a:t>h</a:t>
            </a:r>
            <a:r>
              <a:rPr sz="615" b="0">
                <a:solidFill>
                  <a:srgbClr val="000000"/>
                </a:solidFill>
                <a:latin typeface="Cambria Math"/>
              </a:rPr>
              <a:t>t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3746943" y="1411754"/>
            <a:ext cx="2038452" cy="16580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2" b="0">
                <a:solidFill>
                  <a:srgbClr val="FFFFFF"/>
                </a:solidFill>
                <a:latin typeface="MSAM10"/>
              </a:rPr>
              <a:t>⊞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359991" y="2399758"/>
            <a:ext cx="5425404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hidden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state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updated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based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these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two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inputs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1973590" y="2711536"/>
            <a:ext cx="3811805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Cambria Math"/>
              </a:rPr>
              <a:t>h</a:t>
            </a:r>
            <a:r>
              <a:rPr sz="797" b="0">
                <a:solidFill>
                  <a:srgbClr val="000000"/>
                </a:solidFill>
                <a:latin typeface="Cambria Math"/>
              </a:rPr>
              <a:t>t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= tanh(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W</a:t>
            </a:r>
            <a:r>
              <a:rPr sz="797" b="0">
                <a:solidFill>
                  <a:srgbClr val="000000"/>
                </a:solidFill>
                <a:latin typeface="Cambria Math"/>
              </a:rPr>
              <a:t>h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·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x</a:t>
            </a:r>
            <a:r>
              <a:rPr sz="797" b="0">
                <a:solidFill>
                  <a:srgbClr val="000000"/>
                </a:solidFill>
                <a:latin typeface="Cambria Math"/>
              </a:rPr>
              <a:t>t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+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U</a:t>
            </a:r>
            <a:r>
              <a:rPr sz="797" b="0">
                <a:solidFill>
                  <a:srgbClr val="000000"/>
                </a:solidFill>
                <a:latin typeface="Cambria Math"/>
              </a:rPr>
              <a:t>h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·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h</a:t>
            </a:r>
            <a:r>
              <a:rPr sz="797" b="0">
                <a:solidFill>
                  <a:srgbClr val="000000"/>
                </a:solidFill>
                <a:latin typeface="Cambria Math"/>
              </a:rPr>
              <a:t>t</a:t>
            </a:r>
            <a:r>
              <a:rPr sz="797" b="0">
                <a:solidFill>
                  <a:srgbClr val="000000"/>
                </a:solidFill>
                <a:latin typeface="Cambria Math"/>
              </a:rPr>
              <a:t>−</a:t>
            </a:r>
            <a:r>
              <a:rPr sz="797" b="0">
                <a:solidFill>
                  <a:srgbClr val="000000"/>
                </a:solidFill>
                <a:latin typeface="Cambria Math"/>
              </a:rPr>
              <a:t>1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)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4898159" y="3150917"/>
            <a:ext cx="887236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5662445" y="3150693"/>
            <a:ext cx="122951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-2" y="3146743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880002" y="3146743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Recurrent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Neural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Networks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(RNN)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8000" y="359888"/>
            <a:ext cx="5677395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1">
                <a:solidFill>
                  <a:srgbClr val="003373"/>
                </a:solidFill>
                <a:latin typeface="Josefin Sans"/>
              </a:rPr>
              <a:t>Training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9993" y="1249989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Backpropagation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Through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Time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(BPTT)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used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train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RNNs.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898159" y="3150918"/>
            <a:ext cx="887236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66470" y="3150694"/>
            <a:ext cx="118925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-2" y="3146743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880002" y="3146743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Recurrent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Neural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Networks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(RNN)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8000" y="359888"/>
            <a:ext cx="5677395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1">
                <a:solidFill>
                  <a:srgbClr val="003373"/>
                </a:solidFill>
                <a:latin typeface="Josefin Sans"/>
              </a:rPr>
              <a:t>Training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9993" y="1249988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Backpropagation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Through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Time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(BPTT)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used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train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RNNs.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Similar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error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9992" y="1422073"/>
            <a:ext cx="5425403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backpropagation,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where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errors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are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propagated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backwards.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898159" y="3150918"/>
            <a:ext cx="887236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666470" y="3150694"/>
            <a:ext cx="118925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-2" y="3146741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880002" y="3146741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Recurrent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Neural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Networks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(RNN)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8000" y="359888"/>
            <a:ext cx="5677395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1">
                <a:solidFill>
                  <a:srgbClr val="003373"/>
                </a:solidFill>
                <a:latin typeface="Josefin Sans"/>
              </a:rPr>
              <a:t>Training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9993" y="1249988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Backpropagation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Through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Time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(BPTT)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used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train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RNNs.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Similar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error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9992" y="1422073"/>
            <a:ext cx="5425403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backpropagation,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where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errors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are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propagated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backwards.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9992" y="1680176"/>
            <a:ext cx="5425403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network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unrolled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across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time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steps,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and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gradients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are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calculated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across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59992" y="1852261"/>
            <a:ext cx="5425403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sequence.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898159" y="3150916"/>
            <a:ext cx="887236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666470" y="3150692"/>
            <a:ext cx="118925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0" y="3146742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880004" y="3146742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Recurrent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Neural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Networks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(RNN)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8000" y="359888"/>
            <a:ext cx="5677395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1">
                <a:solidFill>
                  <a:srgbClr val="003373"/>
                </a:solidFill>
                <a:latin typeface="Josefin Sans"/>
              </a:rPr>
              <a:t>Strengths</a:t>
            </a:r>
            <a:r>
              <a:rPr sz="896" b="1">
                <a:solidFill>
                  <a:srgbClr val="003373"/>
                </a:solidFill>
                <a:latin typeface="Josefin Sans"/>
              </a:rPr>
              <a:t> </a:t>
            </a:r>
            <a:r>
              <a:rPr sz="896" b="1">
                <a:solidFill>
                  <a:srgbClr val="003373"/>
                </a:solidFill>
                <a:latin typeface="Josefin Sans"/>
              </a:rPr>
              <a:t>and</a:t>
            </a:r>
            <a:r>
              <a:rPr sz="896" b="1">
                <a:solidFill>
                  <a:srgbClr val="003373"/>
                </a:solidFill>
                <a:latin typeface="Josefin Sans"/>
              </a:rPr>
              <a:t> </a:t>
            </a:r>
            <a:r>
              <a:rPr sz="896" b="1">
                <a:solidFill>
                  <a:srgbClr val="003373"/>
                </a:solidFill>
                <a:latin typeface="Josefin Sans"/>
              </a:rPr>
              <a:t>Limitations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9993" y="1353649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1">
                <a:solidFill>
                  <a:srgbClr val="000000"/>
                </a:solidFill>
                <a:latin typeface="Josefin Sans"/>
              </a:rPr>
              <a:t>Strength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9993" y="1525312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RNNs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have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short-term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memory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and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are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ideal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for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handling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sequences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where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9993" y="1697384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relationship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between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current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and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previous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steps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crucial.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898161" y="3150917"/>
            <a:ext cx="887234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63589" y="3150693"/>
            <a:ext cx="121806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H="1">
            <a:off x="1827635" y="2049453"/>
            <a:ext cx="138187" cy="0"/>
          </a:xfrm>
          <a:prstGeom prst="line">
            <a:avLst/>
          </a:prstGeom>
          <a:ln w="3976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1787869" y="2089219"/>
            <a:ext cx="0" cy="247046"/>
          </a:xfrm>
          <a:prstGeom prst="line">
            <a:avLst/>
          </a:prstGeom>
          <a:ln w="3976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1827635" y="2376031"/>
            <a:ext cx="138187" cy="0"/>
          </a:xfrm>
          <a:prstGeom prst="line">
            <a:avLst/>
          </a:prstGeom>
          <a:ln w="3976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2005588" y="2089219"/>
            <a:ext cx="0" cy="247046"/>
          </a:xfrm>
          <a:prstGeom prst="line">
            <a:avLst/>
          </a:prstGeom>
          <a:ln w="3976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1896729" y="2761028"/>
            <a:ext cx="0" cy="121548"/>
          </a:xfrm>
          <a:prstGeom prst="line">
            <a:avLst/>
          </a:prstGeom>
          <a:ln w="3976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Freeform 40"/>
          <p:cNvSpPr/>
          <p:nvPr/>
        </p:nvSpPr>
        <p:spPr>
          <a:xfrm>
            <a:off x="1879600" y="27432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0"/>
                </a:moveTo>
                <a:lnTo>
                  <a:pt x="0" y="2"/>
                </a:lnTo>
                <a:lnTo>
                  <a:pt x="1" y="1"/>
                </a:lnTo>
                <a:lnTo>
                  <a:pt x="3" y="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2" name="Connector 41"/>
          <p:cNvCxnSpPr/>
          <p:nvPr/>
        </p:nvCxnSpPr>
        <p:spPr>
          <a:xfrm flipV="1">
            <a:off x="1896729" y="2397901"/>
            <a:ext cx="0" cy="121549"/>
          </a:xfrm>
          <a:prstGeom prst="line">
            <a:avLst/>
          </a:prstGeom>
          <a:ln w="3976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Freeform 42"/>
          <p:cNvSpPr/>
          <p:nvPr/>
        </p:nvSpPr>
        <p:spPr>
          <a:xfrm>
            <a:off x="1879600" y="23749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0"/>
                </a:moveTo>
                <a:lnTo>
                  <a:pt x="0" y="3"/>
                </a:lnTo>
                <a:lnTo>
                  <a:pt x="1" y="2"/>
                </a:lnTo>
                <a:lnTo>
                  <a:pt x="3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4" name="Connector 43"/>
          <p:cNvCxnSpPr/>
          <p:nvPr/>
        </p:nvCxnSpPr>
        <p:spPr>
          <a:xfrm flipV="1">
            <a:off x="1896729" y="1925916"/>
            <a:ext cx="0" cy="121549"/>
          </a:xfrm>
          <a:prstGeom prst="line">
            <a:avLst/>
          </a:prstGeom>
          <a:ln w="3976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Freeform 44"/>
          <p:cNvSpPr/>
          <p:nvPr/>
        </p:nvSpPr>
        <p:spPr>
          <a:xfrm>
            <a:off x="1879600" y="19050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0"/>
                </a:moveTo>
                <a:lnTo>
                  <a:pt x="0" y="3"/>
                </a:lnTo>
                <a:lnTo>
                  <a:pt x="1" y="2"/>
                </a:lnTo>
                <a:lnTo>
                  <a:pt x="3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6" name="Connector 45"/>
          <p:cNvCxnSpPr/>
          <p:nvPr/>
        </p:nvCxnSpPr>
        <p:spPr>
          <a:xfrm flipV="1">
            <a:off x="1896729" y="1562790"/>
            <a:ext cx="0" cy="121548"/>
          </a:xfrm>
          <a:prstGeom prst="line">
            <a:avLst/>
          </a:prstGeom>
          <a:ln w="3976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Freeform 46"/>
          <p:cNvSpPr/>
          <p:nvPr/>
        </p:nvSpPr>
        <p:spPr>
          <a:xfrm>
            <a:off x="1879600" y="15367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0"/>
                </a:moveTo>
                <a:lnTo>
                  <a:pt x="0" y="3"/>
                </a:lnTo>
                <a:lnTo>
                  <a:pt x="1" y="2"/>
                </a:lnTo>
                <a:lnTo>
                  <a:pt x="3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8" name="Connector 47"/>
          <p:cNvCxnSpPr/>
          <p:nvPr/>
        </p:nvCxnSpPr>
        <p:spPr>
          <a:xfrm>
            <a:off x="2007576" y="2212742"/>
            <a:ext cx="152133" cy="0"/>
          </a:xfrm>
          <a:prstGeom prst="line">
            <a:avLst/>
          </a:prstGeom>
          <a:ln w="3976">
            <a:solidFill>
              <a:srgbClr val="F794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Freeform 48"/>
          <p:cNvSpPr/>
          <p:nvPr/>
        </p:nvSpPr>
        <p:spPr>
          <a:xfrm>
            <a:off x="2146300" y="21971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3" y="1"/>
                </a:moveTo>
                <a:lnTo>
                  <a:pt x="0" y="0"/>
                </a:lnTo>
                <a:lnTo>
                  <a:pt x="1" y="1"/>
                </a:lnTo>
                <a:lnTo>
                  <a:pt x="0" y="2"/>
                </a:lnTo>
                <a:close/>
              </a:path>
            </a:pathLst>
          </a:custGeom>
          <a:solidFill>
            <a:srgbClr val="F79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0" name="Connector 49"/>
          <p:cNvCxnSpPr/>
          <p:nvPr/>
        </p:nvCxnSpPr>
        <p:spPr>
          <a:xfrm flipH="1">
            <a:off x="2221346" y="2049453"/>
            <a:ext cx="138186" cy="0"/>
          </a:xfrm>
          <a:prstGeom prst="line">
            <a:avLst/>
          </a:prstGeom>
          <a:ln w="3976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2181580" y="2089219"/>
            <a:ext cx="0" cy="247046"/>
          </a:xfrm>
          <a:prstGeom prst="line">
            <a:avLst/>
          </a:prstGeom>
          <a:ln w="3976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2221346" y="2376031"/>
            <a:ext cx="138186" cy="0"/>
          </a:xfrm>
          <a:prstGeom prst="line">
            <a:avLst/>
          </a:prstGeom>
          <a:ln w="3976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2399298" y="2089219"/>
            <a:ext cx="0" cy="247046"/>
          </a:xfrm>
          <a:prstGeom prst="line">
            <a:avLst/>
          </a:prstGeom>
          <a:ln w="3976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2290439" y="2761028"/>
            <a:ext cx="0" cy="121548"/>
          </a:xfrm>
          <a:prstGeom prst="line">
            <a:avLst/>
          </a:prstGeom>
          <a:ln w="3976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Freeform 54"/>
          <p:cNvSpPr/>
          <p:nvPr/>
        </p:nvSpPr>
        <p:spPr>
          <a:xfrm>
            <a:off x="2273300" y="27432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0"/>
                </a:moveTo>
                <a:lnTo>
                  <a:pt x="0" y="2"/>
                </a:lnTo>
                <a:lnTo>
                  <a:pt x="1" y="1"/>
                </a:lnTo>
                <a:lnTo>
                  <a:pt x="3" y="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" name="Connector 55"/>
          <p:cNvCxnSpPr/>
          <p:nvPr/>
        </p:nvCxnSpPr>
        <p:spPr>
          <a:xfrm flipV="1">
            <a:off x="2290439" y="2397901"/>
            <a:ext cx="0" cy="121549"/>
          </a:xfrm>
          <a:prstGeom prst="line">
            <a:avLst/>
          </a:prstGeom>
          <a:ln w="3976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Freeform 56"/>
          <p:cNvSpPr/>
          <p:nvPr/>
        </p:nvSpPr>
        <p:spPr>
          <a:xfrm>
            <a:off x="2273300" y="23749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0"/>
                </a:moveTo>
                <a:lnTo>
                  <a:pt x="0" y="3"/>
                </a:lnTo>
                <a:lnTo>
                  <a:pt x="1" y="2"/>
                </a:lnTo>
                <a:lnTo>
                  <a:pt x="3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" name="Connector 57"/>
          <p:cNvCxnSpPr/>
          <p:nvPr/>
        </p:nvCxnSpPr>
        <p:spPr>
          <a:xfrm flipV="1">
            <a:off x="2290439" y="1925916"/>
            <a:ext cx="0" cy="121549"/>
          </a:xfrm>
          <a:prstGeom prst="line">
            <a:avLst/>
          </a:prstGeom>
          <a:ln w="3976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Freeform 58"/>
          <p:cNvSpPr/>
          <p:nvPr/>
        </p:nvSpPr>
        <p:spPr>
          <a:xfrm>
            <a:off x="2273300" y="19050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0"/>
                </a:moveTo>
                <a:lnTo>
                  <a:pt x="0" y="3"/>
                </a:lnTo>
                <a:lnTo>
                  <a:pt x="1" y="2"/>
                </a:lnTo>
                <a:lnTo>
                  <a:pt x="3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0" name="Connector 59"/>
          <p:cNvCxnSpPr/>
          <p:nvPr/>
        </p:nvCxnSpPr>
        <p:spPr>
          <a:xfrm flipV="1">
            <a:off x="2290439" y="1562790"/>
            <a:ext cx="0" cy="121548"/>
          </a:xfrm>
          <a:prstGeom prst="line">
            <a:avLst/>
          </a:prstGeom>
          <a:ln w="3976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Freeform 60"/>
          <p:cNvSpPr/>
          <p:nvPr/>
        </p:nvSpPr>
        <p:spPr>
          <a:xfrm>
            <a:off x="2273300" y="15367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0"/>
                </a:moveTo>
                <a:lnTo>
                  <a:pt x="0" y="3"/>
                </a:lnTo>
                <a:lnTo>
                  <a:pt x="1" y="2"/>
                </a:lnTo>
                <a:lnTo>
                  <a:pt x="3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2" name="Connector 61"/>
          <p:cNvCxnSpPr/>
          <p:nvPr/>
        </p:nvCxnSpPr>
        <p:spPr>
          <a:xfrm>
            <a:off x="2401287" y="2212742"/>
            <a:ext cx="152132" cy="0"/>
          </a:xfrm>
          <a:prstGeom prst="line">
            <a:avLst/>
          </a:prstGeom>
          <a:ln w="3976">
            <a:solidFill>
              <a:srgbClr val="F794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Freeform 62"/>
          <p:cNvSpPr/>
          <p:nvPr/>
        </p:nvSpPr>
        <p:spPr>
          <a:xfrm>
            <a:off x="2540000" y="21971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3" y="1"/>
                </a:moveTo>
                <a:lnTo>
                  <a:pt x="0" y="0"/>
                </a:lnTo>
                <a:lnTo>
                  <a:pt x="1" y="1"/>
                </a:lnTo>
                <a:lnTo>
                  <a:pt x="0" y="2"/>
                </a:lnTo>
                <a:close/>
              </a:path>
            </a:pathLst>
          </a:custGeom>
          <a:solidFill>
            <a:srgbClr val="F79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4" name="Connector 63"/>
          <p:cNvCxnSpPr/>
          <p:nvPr/>
        </p:nvCxnSpPr>
        <p:spPr>
          <a:xfrm flipH="1">
            <a:off x="2615056" y="2049453"/>
            <a:ext cx="138187" cy="0"/>
          </a:xfrm>
          <a:prstGeom prst="line">
            <a:avLst/>
          </a:prstGeom>
          <a:ln w="3976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2575290" y="2089219"/>
            <a:ext cx="0" cy="247046"/>
          </a:xfrm>
          <a:prstGeom prst="line">
            <a:avLst/>
          </a:prstGeom>
          <a:ln w="3976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2615056" y="2376031"/>
            <a:ext cx="138187" cy="0"/>
          </a:xfrm>
          <a:prstGeom prst="line">
            <a:avLst/>
          </a:prstGeom>
          <a:ln w="3976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2793008" y="2089219"/>
            <a:ext cx="0" cy="247046"/>
          </a:xfrm>
          <a:prstGeom prst="line">
            <a:avLst/>
          </a:prstGeom>
          <a:ln w="3976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2684149" y="2761028"/>
            <a:ext cx="0" cy="121548"/>
          </a:xfrm>
          <a:prstGeom prst="line">
            <a:avLst/>
          </a:prstGeom>
          <a:ln w="3976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Freeform 68"/>
          <p:cNvSpPr/>
          <p:nvPr/>
        </p:nvSpPr>
        <p:spPr>
          <a:xfrm>
            <a:off x="2667000" y="27432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0"/>
                </a:moveTo>
                <a:lnTo>
                  <a:pt x="0" y="2"/>
                </a:lnTo>
                <a:lnTo>
                  <a:pt x="1" y="1"/>
                </a:lnTo>
                <a:lnTo>
                  <a:pt x="3" y="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0" name="Connector 69"/>
          <p:cNvCxnSpPr/>
          <p:nvPr/>
        </p:nvCxnSpPr>
        <p:spPr>
          <a:xfrm flipV="1">
            <a:off x="2684149" y="2397901"/>
            <a:ext cx="0" cy="121549"/>
          </a:xfrm>
          <a:prstGeom prst="line">
            <a:avLst/>
          </a:prstGeom>
          <a:ln w="3976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Freeform 70"/>
          <p:cNvSpPr/>
          <p:nvPr/>
        </p:nvSpPr>
        <p:spPr>
          <a:xfrm>
            <a:off x="2667000" y="23749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0"/>
                </a:moveTo>
                <a:lnTo>
                  <a:pt x="0" y="3"/>
                </a:lnTo>
                <a:lnTo>
                  <a:pt x="1" y="2"/>
                </a:lnTo>
                <a:lnTo>
                  <a:pt x="3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2" name="Connector 71"/>
          <p:cNvCxnSpPr/>
          <p:nvPr/>
        </p:nvCxnSpPr>
        <p:spPr>
          <a:xfrm flipV="1">
            <a:off x="2684149" y="1925916"/>
            <a:ext cx="0" cy="121549"/>
          </a:xfrm>
          <a:prstGeom prst="line">
            <a:avLst/>
          </a:prstGeom>
          <a:ln w="3976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Freeform 72"/>
          <p:cNvSpPr/>
          <p:nvPr/>
        </p:nvSpPr>
        <p:spPr>
          <a:xfrm>
            <a:off x="2667000" y="19050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0"/>
                </a:moveTo>
                <a:lnTo>
                  <a:pt x="0" y="3"/>
                </a:lnTo>
                <a:lnTo>
                  <a:pt x="1" y="2"/>
                </a:lnTo>
                <a:lnTo>
                  <a:pt x="3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4" name="Connector 73"/>
          <p:cNvCxnSpPr/>
          <p:nvPr/>
        </p:nvCxnSpPr>
        <p:spPr>
          <a:xfrm flipV="1">
            <a:off x="2684149" y="1562790"/>
            <a:ext cx="0" cy="121548"/>
          </a:xfrm>
          <a:prstGeom prst="line">
            <a:avLst/>
          </a:prstGeom>
          <a:ln w="3976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Freeform 74"/>
          <p:cNvSpPr/>
          <p:nvPr/>
        </p:nvSpPr>
        <p:spPr>
          <a:xfrm>
            <a:off x="2667000" y="15367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0"/>
                </a:moveTo>
                <a:lnTo>
                  <a:pt x="0" y="3"/>
                </a:lnTo>
                <a:lnTo>
                  <a:pt x="1" y="2"/>
                </a:lnTo>
                <a:lnTo>
                  <a:pt x="3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6" name="Connector 75"/>
          <p:cNvCxnSpPr/>
          <p:nvPr/>
        </p:nvCxnSpPr>
        <p:spPr>
          <a:xfrm>
            <a:off x="2794997" y="2212742"/>
            <a:ext cx="152132" cy="0"/>
          </a:xfrm>
          <a:prstGeom prst="line">
            <a:avLst/>
          </a:prstGeom>
          <a:ln w="3976">
            <a:solidFill>
              <a:srgbClr val="F794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Freeform 76"/>
          <p:cNvSpPr/>
          <p:nvPr/>
        </p:nvSpPr>
        <p:spPr>
          <a:xfrm>
            <a:off x="2933700" y="21971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3" y="1"/>
                </a:moveTo>
                <a:lnTo>
                  <a:pt x="0" y="0"/>
                </a:lnTo>
                <a:lnTo>
                  <a:pt x="1" y="1"/>
                </a:lnTo>
                <a:lnTo>
                  <a:pt x="0" y="2"/>
                </a:lnTo>
                <a:close/>
              </a:path>
            </a:pathLst>
          </a:custGeom>
          <a:solidFill>
            <a:srgbClr val="F79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8" name="Connector 77"/>
          <p:cNvCxnSpPr/>
          <p:nvPr/>
        </p:nvCxnSpPr>
        <p:spPr>
          <a:xfrm flipH="1">
            <a:off x="3008766" y="2049453"/>
            <a:ext cx="138187" cy="0"/>
          </a:xfrm>
          <a:prstGeom prst="line">
            <a:avLst/>
          </a:prstGeom>
          <a:ln w="3976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2969000" y="2089219"/>
            <a:ext cx="0" cy="247046"/>
          </a:xfrm>
          <a:prstGeom prst="line">
            <a:avLst/>
          </a:prstGeom>
          <a:ln w="3976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3008766" y="2376031"/>
            <a:ext cx="138187" cy="0"/>
          </a:xfrm>
          <a:prstGeom prst="line">
            <a:avLst/>
          </a:prstGeom>
          <a:ln w="3976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3186719" y="2089219"/>
            <a:ext cx="0" cy="247046"/>
          </a:xfrm>
          <a:prstGeom prst="line">
            <a:avLst/>
          </a:prstGeom>
          <a:ln w="3976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3077859" y="2761028"/>
            <a:ext cx="0" cy="121548"/>
          </a:xfrm>
          <a:prstGeom prst="line">
            <a:avLst/>
          </a:prstGeom>
          <a:ln w="3976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Freeform 82"/>
          <p:cNvSpPr/>
          <p:nvPr/>
        </p:nvSpPr>
        <p:spPr>
          <a:xfrm>
            <a:off x="3060700" y="27432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0"/>
                </a:moveTo>
                <a:lnTo>
                  <a:pt x="0" y="2"/>
                </a:lnTo>
                <a:lnTo>
                  <a:pt x="1" y="1"/>
                </a:lnTo>
                <a:lnTo>
                  <a:pt x="3" y="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4" name="Connector 83"/>
          <p:cNvCxnSpPr/>
          <p:nvPr/>
        </p:nvCxnSpPr>
        <p:spPr>
          <a:xfrm flipV="1">
            <a:off x="3077859" y="2397901"/>
            <a:ext cx="0" cy="121549"/>
          </a:xfrm>
          <a:prstGeom prst="line">
            <a:avLst/>
          </a:prstGeom>
          <a:ln w="3976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Freeform 84"/>
          <p:cNvSpPr/>
          <p:nvPr/>
        </p:nvSpPr>
        <p:spPr>
          <a:xfrm>
            <a:off x="3060700" y="23749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0"/>
                </a:moveTo>
                <a:lnTo>
                  <a:pt x="0" y="3"/>
                </a:lnTo>
                <a:lnTo>
                  <a:pt x="1" y="2"/>
                </a:lnTo>
                <a:lnTo>
                  <a:pt x="3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6" name="Connector 85"/>
          <p:cNvCxnSpPr/>
          <p:nvPr/>
        </p:nvCxnSpPr>
        <p:spPr>
          <a:xfrm flipV="1">
            <a:off x="3077859" y="1925916"/>
            <a:ext cx="0" cy="121549"/>
          </a:xfrm>
          <a:prstGeom prst="line">
            <a:avLst/>
          </a:prstGeom>
          <a:ln w="3976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Freeform 86"/>
          <p:cNvSpPr/>
          <p:nvPr/>
        </p:nvSpPr>
        <p:spPr>
          <a:xfrm>
            <a:off x="3060700" y="19050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0"/>
                </a:moveTo>
                <a:lnTo>
                  <a:pt x="0" y="3"/>
                </a:lnTo>
                <a:lnTo>
                  <a:pt x="1" y="2"/>
                </a:lnTo>
                <a:lnTo>
                  <a:pt x="3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8" name="Connector 87"/>
          <p:cNvCxnSpPr/>
          <p:nvPr/>
        </p:nvCxnSpPr>
        <p:spPr>
          <a:xfrm flipV="1">
            <a:off x="3077859" y="1562790"/>
            <a:ext cx="0" cy="121548"/>
          </a:xfrm>
          <a:prstGeom prst="line">
            <a:avLst/>
          </a:prstGeom>
          <a:ln w="3976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Freeform 88"/>
          <p:cNvSpPr/>
          <p:nvPr/>
        </p:nvSpPr>
        <p:spPr>
          <a:xfrm>
            <a:off x="3060700" y="15367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0"/>
                </a:moveTo>
                <a:lnTo>
                  <a:pt x="0" y="3"/>
                </a:lnTo>
                <a:lnTo>
                  <a:pt x="1" y="2"/>
                </a:lnTo>
                <a:lnTo>
                  <a:pt x="3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0" name="Connector 89"/>
          <p:cNvCxnSpPr/>
          <p:nvPr/>
        </p:nvCxnSpPr>
        <p:spPr>
          <a:xfrm>
            <a:off x="3188707" y="2212742"/>
            <a:ext cx="152133" cy="0"/>
          </a:xfrm>
          <a:prstGeom prst="line">
            <a:avLst/>
          </a:prstGeom>
          <a:ln w="3976">
            <a:solidFill>
              <a:srgbClr val="F794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Freeform 90"/>
          <p:cNvSpPr/>
          <p:nvPr/>
        </p:nvSpPr>
        <p:spPr>
          <a:xfrm>
            <a:off x="3327400" y="21971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3" y="1"/>
                </a:moveTo>
                <a:lnTo>
                  <a:pt x="0" y="0"/>
                </a:lnTo>
                <a:lnTo>
                  <a:pt x="1" y="1"/>
                </a:lnTo>
                <a:lnTo>
                  <a:pt x="0" y="2"/>
                </a:lnTo>
                <a:close/>
              </a:path>
            </a:pathLst>
          </a:custGeom>
          <a:solidFill>
            <a:srgbClr val="F79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2" name="Connector 91"/>
          <p:cNvCxnSpPr/>
          <p:nvPr/>
        </p:nvCxnSpPr>
        <p:spPr>
          <a:xfrm flipH="1">
            <a:off x="3402476" y="2049453"/>
            <a:ext cx="138187" cy="0"/>
          </a:xfrm>
          <a:prstGeom prst="line">
            <a:avLst/>
          </a:prstGeom>
          <a:ln w="3976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3362711" y="2089219"/>
            <a:ext cx="0" cy="247046"/>
          </a:xfrm>
          <a:prstGeom prst="line">
            <a:avLst/>
          </a:prstGeom>
          <a:ln w="3976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3402476" y="2376031"/>
            <a:ext cx="138187" cy="0"/>
          </a:xfrm>
          <a:prstGeom prst="line">
            <a:avLst/>
          </a:prstGeom>
          <a:ln w="3976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 flipV="1">
            <a:off x="3580429" y="2089219"/>
            <a:ext cx="0" cy="247046"/>
          </a:xfrm>
          <a:prstGeom prst="line">
            <a:avLst/>
          </a:prstGeom>
          <a:ln w="3976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V="1">
            <a:off x="3471570" y="2761028"/>
            <a:ext cx="0" cy="121548"/>
          </a:xfrm>
          <a:prstGeom prst="line">
            <a:avLst/>
          </a:prstGeom>
          <a:ln w="3976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Freeform 96"/>
          <p:cNvSpPr/>
          <p:nvPr/>
        </p:nvSpPr>
        <p:spPr>
          <a:xfrm>
            <a:off x="3454400" y="27432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0"/>
                </a:moveTo>
                <a:lnTo>
                  <a:pt x="0" y="2"/>
                </a:lnTo>
                <a:lnTo>
                  <a:pt x="1" y="1"/>
                </a:lnTo>
                <a:lnTo>
                  <a:pt x="3" y="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8" name="Connector 97"/>
          <p:cNvCxnSpPr/>
          <p:nvPr/>
        </p:nvCxnSpPr>
        <p:spPr>
          <a:xfrm flipV="1">
            <a:off x="3471570" y="2397901"/>
            <a:ext cx="0" cy="121549"/>
          </a:xfrm>
          <a:prstGeom prst="line">
            <a:avLst/>
          </a:prstGeom>
          <a:ln w="3976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Freeform 98"/>
          <p:cNvSpPr/>
          <p:nvPr/>
        </p:nvSpPr>
        <p:spPr>
          <a:xfrm>
            <a:off x="3454400" y="23749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0"/>
                </a:moveTo>
                <a:lnTo>
                  <a:pt x="0" y="3"/>
                </a:lnTo>
                <a:lnTo>
                  <a:pt x="1" y="2"/>
                </a:lnTo>
                <a:lnTo>
                  <a:pt x="3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0" name="Connector 99"/>
          <p:cNvCxnSpPr/>
          <p:nvPr/>
        </p:nvCxnSpPr>
        <p:spPr>
          <a:xfrm flipV="1">
            <a:off x="3471570" y="1925916"/>
            <a:ext cx="0" cy="121549"/>
          </a:xfrm>
          <a:prstGeom prst="line">
            <a:avLst/>
          </a:prstGeom>
          <a:ln w="3976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Freeform 100"/>
          <p:cNvSpPr/>
          <p:nvPr/>
        </p:nvSpPr>
        <p:spPr>
          <a:xfrm>
            <a:off x="3454400" y="19050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0"/>
                </a:moveTo>
                <a:lnTo>
                  <a:pt x="0" y="3"/>
                </a:lnTo>
                <a:lnTo>
                  <a:pt x="1" y="2"/>
                </a:lnTo>
                <a:lnTo>
                  <a:pt x="3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2" name="Connector 101"/>
          <p:cNvCxnSpPr/>
          <p:nvPr/>
        </p:nvCxnSpPr>
        <p:spPr>
          <a:xfrm flipV="1">
            <a:off x="3471570" y="1562790"/>
            <a:ext cx="0" cy="121548"/>
          </a:xfrm>
          <a:prstGeom prst="line">
            <a:avLst/>
          </a:prstGeom>
          <a:ln w="3976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" name="Freeform 102"/>
          <p:cNvSpPr/>
          <p:nvPr/>
        </p:nvSpPr>
        <p:spPr>
          <a:xfrm>
            <a:off x="3454400" y="15367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0"/>
                </a:moveTo>
                <a:lnTo>
                  <a:pt x="0" y="3"/>
                </a:lnTo>
                <a:lnTo>
                  <a:pt x="1" y="2"/>
                </a:lnTo>
                <a:lnTo>
                  <a:pt x="3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4" name="Connector 103"/>
          <p:cNvCxnSpPr/>
          <p:nvPr/>
        </p:nvCxnSpPr>
        <p:spPr>
          <a:xfrm>
            <a:off x="3582417" y="2212742"/>
            <a:ext cx="152133" cy="0"/>
          </a:xfrm>
          <a:prstGeom prst="line">
            <a:avLst/>
          </a:prstGeom>
          <a:ln w="3976">
            <a:solidFill>
              <a:srgbClr val="F794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Freeform 104"/>
          <p:cNvSpPr/>
          <p:nvPr/>
        </p:nvSpPr>
        <p:spPr>
          <a:xfrm>
            <a:off x="3721100" y="21971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3" y="1"/>
                </a:moveTo>
                <a:lnTo>
                  <a:pt x="0" y="0"/>
                </a:lnTo>
                <a:lnTo>
                  <a:pt x="1" y="1"/>
                </a:lnTo>
                <a:lnTo>
                  <a:pt x="0" y="2"/>
                </a:lnTo>
                <a:close/>
              </a:path>
            </a:pathLst>
          </a:custGeom>
          <a:solidFill>
            <a:srgbClr val="F79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0" y="3146742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2880004" y="3146742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8" name="Picture 10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109" name="Picture 10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110" name="TextBox 109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Recurrent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Neural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Networks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(RNN)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108000" y="359888"/>
            <a:ext cx="5677395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1">
                <a:solidFill>
                  <a:srgbClr val="003373"/>
                </a:solidFill>
                <a:latin typeface="Josefin Sans"/>
              </a:rPr>
              <a:t>Strengths</a:t>
            </a:r>
            <a:r>
              <a:rPr sz="896" b="1">
                <a:solidFill>
                  <a:srgbClr val="003373"/>
                </a:solidFill>
                <a:latin typeface="Josefin Sans"/>
              </a:rPr>
              <a:t> </a:t>
            </a:r>
            <a:r>
              <a:rPr sz="896" b="1">
                <a:solidFill>
                  <a:srgbClr val="003373"/>
                </a:solidFill>
                <a:latin typeface="Josefin Sans"/>
              </a:rPr>
              <a:t>and</a:t>
            </a:r>
            <a:r>
              <a:rPr sz="896" b="1">
                <a:solidFill>
                  <a:srgbClr val="003373"/>
                </a:solidFill>
                <a:latin typeface="Josefin Sans"/>
              </a:rPr>
              <a:t> </a:t>
            </a:r>
            <a:r>
              <a:rPr sz="896" b="1">
                <a:solidFill>
                  <a:srgbClr val="003373"/>
                </a:solidFill>
                <a:latin typeface="Josefin Sans"/>
              </a:rPr>
              <a:t>Limitations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359993" y="562934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1">
                <a:solidFill>
                  <a:srgbClr val="000000"/>
                </a:solidFill>
                <a:latin typeface="Josefin Sans"/>
              </a:rPr>
              <a:t>Vanishing/Exploding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Gradient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Problem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359993" y="820640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During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backpropagation,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gradients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either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shrink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(vanish)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grow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too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large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359993" y="992712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(explode)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are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passed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back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through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many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time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steps.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This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limits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network’s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359993" y="1164784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ability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learn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long-term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dependencies.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842016" y="2882630"/>
            <a:ext cx="3943379" cy="16872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7" b="0">
                <a:solidFill>
                  <a:srgbClr val="000000"/>
                </a:solidFill>
                <a:latin typeface="Cambria Math"/>
              </a:rPr>
              <a:t>x</a:t>
            </a:r>
            <a:r>
              <a:rPr sz="626" b="0">
                <a:solidFill>
                  <a:srgbClr val="000000"/>
                </a:solidFill>
                <a:latin typeface="Cambria Math"/>
              </a:rPr>
              <a:t>1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846436" y="1398407"/>
            <a:ext cx="3938959" cy="16872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7" b="0">
                <a:solidFill>
                  <a:srgbClr val="000000"/>
                </a:solidFill>
                <a:latin typeface="Cambria Math"/>
              </a:rPr>
              <a:t>y</a:t>
            </a:r>
            <a:r>
              <a:rPr sz="626" b="0">
                <a:solidFill>
                  <a:srgbClr val="000000"/>
                </a:solidFill>
                <a:latin typeface="Cambria Math"/>
              </a:rPr>
              <a:t>1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2235723" y="2882630"/>
            <a:ext cx="3549672" cy="16872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7" b="0">
                <a:solidFill>
                  <a:srgbClr val="000000"/>
                </a:solidFill>
                <a:latin typeface="Cambria Math"/>
              </a:rPr>
              <a:t>x</a:t>
            </a:r>
            <a:r>
              <a:rPr sz="626" b="0">
                <a:solidFill>
                  <a:srgbClr val="000000"/>
                </a:solidFill>
                <a:latin typeface="Cambria Math"/>
              </a:rPr>
              <a:t>2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2240144" y="1398407"/>
            <a:ext cx="3545251" cy="16872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7" b="0">
                <a:solidFill>
                  <a:srgbClr val="000000"/>
                </a:solidFill>
                <a:latin typeface="Cambria Math"/>
              </a:rPr>
              <a:t>y</a:t>
            </a:r>
            <a:r>
              <a:rPr sz="626" b="0">
                <a:solidFill>
                  <a:srgbClr val="000000"/>
                </a:solidFill>
                <a:latin typeface="Cambria Math"/>
              </a:rPr>
              <a:t>2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2629421" y="2882630"/>
            <a:ext cx="3155974" cy="16872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7" b="0">
                <a:solidFill>
                  <a:srgbClr val="000000"/>
                </a:solidFill>
                <a:latin typeface="Cambria Math"/>
              </a:rPr>
              <a:t>x</a:t>
            </a:r>
            <a:r>
              <a:rPr sz="626" b="0">
                <a:solidFill>
                  <a:srgbClr val="000000"/>
                </a:solidFill>
                <a:latin typeface="Cambria Math"/>
              </a:rPr>
              <a:t>3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2633851" y="1398407"/>
            <a:ext cx="3151544" cy="16872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7" b="0">
                <a:solidFill>
                  <a:srgbClr val="000000"/>
                </a:solidFill>
                <a:latin typeface="Cambria Math"/>
              </a:rPr>
              <a:t>y</a:t>
            </a:r>
            <a:r>
              <a:rPr sz="626" b="0">
                <a:solidFill>
                  <a:srgbClr val="000000"/>
                </a:solidFill>
                <a:latin typeface="Cambria Math"/>
              </a:rPr>
              <a:t>3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3023128" y="2882630"/>
            <a:ext cx="2762267" cy="16872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7" b="0">
                <a:solidFill>
                  <a:srgbClr val="000000"/>
                </a:solidFill>
                <a:latin typeface="Cambria Math"/>
              </a:rPr>
              <a:t>x</a:t>
            </a:r>
            <a:r>
              <a:rPr sz="626" b="0">
                <a:solidFill>
                  <a:srgbClr val="000000"/>
                </a:solidFill>
                <a:latin typeface="Cambria Math"/>
              </a:rPr>
              <a:t>4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3027548" y="1398407"/>
            <a:ext cx="2757847" cy="16872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7" b="0">
                <a:solidFill>
                  <a:srgbClr val="000000"/>
                </a:solidFill>
                <a:latin typeface="Cambria Math"/>
              </a:rPr>
              <a:t>y</a:t>
            </a:r>
            <a:r>
              <a:rPr sz="626" b="0">
                <a:solidFill>
                  <a:srgbClr val="000000"/>
                </a:solidFill>
                <a:latin typeface="Cambria Math"/>
              </a:rPr>
              <a:t>4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416835" y="2882630"/>
            <a:ext cx="2368560" cy="16872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7" b="0">
                <a:solidFill>
                  <a:srgbClr val="000000"/>
                </a:solidFill>
                <a:latin typeface="Cambria Math"/>
              </a:rPr>
              <a:t>x</a:t>
            </a:r>
            <a:r>
              <a:rPr sz="626" b="0">
                <a:solidFill>
                  <a:srgbClr val="000000"/>
                </a:solidFill>
                <a:latin typeface="Cambria Math"/>
              </a:rPr>
              <a:t>5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3421256" y="1398407"/>
            <a:ext cx="2364139" cy="16872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7" b="0">
                <a:solidFill>
                  <a:srgbClr val="000000"/>
                </a:solidFill>
                <a:latin typeface="Cambria Math"/>
              </a:rPr>
              <a:t>y</a:t>
            </a:r>
            <a:r>
              <a:rPr sz="626" b="0">
                <a:solidFill>
                  <a:srgbClr val="000000"/>
                </a:solidFill>
                <a:latin typeface="Cambria Math"/>
              </a:rPr>
              <a:t>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3792681" y="2150443"/>
            <a:ext cx="1992714" cy="16872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7" b="0">
                <a:solidFill>
                  <a:srgbClr val="000000"/>
                </a:solidFill>
                <a:latin typeface="Cambria Math"/>
              </a:rPr>
              <a:t>· · ·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4898161" y="3150917"/>
            <a:ext cx="887234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5662447" y="3150693"/>
            <a:ext cx="122949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0" y="3146742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880004" y="3146742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Long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Short-Term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Memory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(LSTM)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9993" y="1353240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Long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Short-Term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Memory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(LSTM)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networks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are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specialized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type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of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RNN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designed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9993" y="1525312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to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solve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vanishing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gradient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problem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and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capture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long-term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dependencies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more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9993" y="1697384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effectively.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898161" y="3150917"/>
            <a:ext cx="887234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631700" y="3150693"/>
            <a:ext cx="153696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10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0" y="3146742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880004" y="3146742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Long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Short-Term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Memory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(LSTM)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8000" y="359888"/>
            <a:ext cx="5677395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1">
                <a:solidFill>
                  <a:srgbClr val="003373"/>
                </a:solidFill>
                <a:latin typeface="Josefin Sans"/>
              </a:rPr>
              <a:t>Architecture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9993" y="907711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core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of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LSTM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its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memory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cell,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which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can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retain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information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for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long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periods.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9993" y="1079796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also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has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gates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control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flow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of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information: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898161" y="3150917"/>
            <a:ext cx="887234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654776" y="3150693"/>
            <a:ext cx="130619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11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0" y="3146742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880004" y="3146742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Long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Short-Term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Memory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(LSTM)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8000" y="359888"/>
            <a:ext cx="5677395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1">
                <a:solidFill>
                  <a:srgbClr val="003373"/>
                </a:solidFill>
                <a:latin typeface="Josefin Sans"/>
              </a:rPr>
              <a:t>Architecture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9993" y="907711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core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of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LSTM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its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memory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cell,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which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can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retain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information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for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long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periods.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9993" y="1079796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also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has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gates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control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flow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of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information: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60056" y="1294140"/>
            <a:ext cx="532533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Forget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Gate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7094" y="1529665"/>
            <a:ext cx="5148301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Josefin Sans"/>
              </a:rPr>
              <a:t>Decides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what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information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from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cell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state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should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be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discarded.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898161" y="3150917"/>
            <a:ext cx="887234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654776" y="3150693"/>
            <a:ext cx="130619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11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0" y="3146742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880004" y="3146742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Long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Short-Term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Memory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(LSTM)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8000" y="359888"/>
            <a:ext cx="5677395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1">
                <a:solidFill>
                  <a:srgbClr val="003373"/>
                </a:solidFill>
                <a:latin typeface="Josefin Sans"/>
              </a:rPr>
              <a:t>Architecture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9993" y="907711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core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of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LSTM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its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memory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cell,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which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can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retain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information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for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long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periods.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9993" y="1079796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also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has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gates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control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flow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of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information: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60056" y="1294140"/>
            <a:ext cx="532533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Forget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Gate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7094" y="1529665"/>
            <a:ext cx="5148301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Josefin Sans"/>
              </a:rPr>
              <a:t>Decides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what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information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from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cell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state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should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be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discarded.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60056" y="1724327"/>
            <a:ext cx="532533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Input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Gate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7094" y="1959853"/>
            <a:ext cx="5148301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Josefin Sans"/>
              </a:rPr>
              <a:t>Decides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which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information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should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be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updated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in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cell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state.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898161" y="3150917"/>
            <a:ext cx="887234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654776" y="3150693"/>
            <a:ext cx="130619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11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0" y="3146740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880004" y="3146740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Long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Short-Term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Memory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(LSTM)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8000" y="359888"/>
            <a:ext cx="5677395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1">
                <a:solidFill>
                  <a:srgbClr val="003373"/>
                </a:solidFill>
                <a:latin typeface="Josefin Sans"/>
              </a:rPr>
              <a:t>Architecture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9993" y="907711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core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of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LSTM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its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memory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cell,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which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can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retain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information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for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long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periods.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9993" y="1079796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also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has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gates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control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flow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of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information: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60056" y="1294140"/>
            <a:ext cx="532533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Forget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Gate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7094" y="1529665"/>
            <a:ext cx="5148301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Josefin Sans"/>
              </a:rPr>
              <a:t>Decides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what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information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from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cell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state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should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be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discarded.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60056" y="1724327"/>
            <a:ext cx="532533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Input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Gate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7094" y="1959853"/>
            <a:ext cx="5148301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Josefin Sans"/>
              </a:rPr>
              <a:t>Decides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which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information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should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be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updated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in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cell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state.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60056" y="2154514"/>
            <a:ext cx="532533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Output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Gate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7094" y="2390039"/>
            <a:ext cx="5148301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Josefin Sans"/>
              </a:rPr>
              <a:t>Decides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what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information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from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current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cell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should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be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passed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to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next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hidden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state.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898161" y="3150916"/>
            <a:ext cx="887234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654776" y="3150692"/>
            <a:ext cx="130619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11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Freeform 35"/>
          <p:cNvSpPr/>
          <p:nvPr/>
        </p:nvSpPr>
        <p:spPr>
          <a:xfrm>
            <a:off x="647700" y="1028700"/>
            <a:ext cx="2311400" cy="1536700"/>
          </a:xfrm>
          <a:custGeom>
            <a:avLst/>
            <a:gdLst/>
            <a:ahLst/>
            <a:cxnLst/>
            <a:rect l="l" t="t" r="r" b="b"/>
            <a:pathLst>
              <a:path w="182" h="121">
                <a:moveTo>
                  <a:pt x="179" y="0"/>
                </a:moveTo>
                <a:lnTo>
                  <a:pt x="3" y="0"/>
                </a:lnTo>
                <a:lnTo>
                  <a:pt x="3" y="0"/>
                </a:lnTo>
                <a:lnTo>
                  <a:pt x="2" y="0"/>
                </a:lnTo>
                <a:lnTo>
                  <a:pt x="2" y="0"/>
                </a:lnTo>
                <a:lnTo>
                  <a:pt x="1" y="1"/>
                </a:lnTo>
                <a:lnTo>
                  <a:pt x="1" y="1"/>
                </a:lnTo>
                <a:lnTo>
                  <a:pt x="1" y="2"/>
                </a:lnTo>
                <a:lnTo>
                  <a:pt x="0" y="2"/>
                </a:lnTo>
                <a:lnTo>
                  <a:pt x="0" y="3"/>
                </a:lnTo>
                <a:lnTo>
                  <a:pt x="0" y="118"/>
                </a:lnTo>
                <a:lnTo>
                  <a:pt x="0" y="119"/>
                </a:lnTo>
                <a:lnTo>
                  <a:pt x="1" y="119"/>
                </a:lnTo>
                <a:lnTo>
                  <a:pt x="1" y="120"/>
                </a:lnTo>
                <a:lnTo>
                  <a:pt x="1" y="120"/>
                </a:lnTo>
                <a:lnTo>
                  <a:pt x="2" y="121"/>
                </a:lnTo>
                <a:lnTo>
                  <a:pt x="2" y="121"/>
                </a:lnTo>
                <a:lnTo>
                  <a:pt x="3" y="121"/>
                </a:lnTo>
                <a:lnTo>
                  <a:pt x="3" y="121"/>
                </a:lnTo>
                <a:lnTo>
                  <a:pt x="179" y="121"/>
                </a:lnTo>
                <a:lnTo>
                  <a:pt x="180" y="121"/>
                </a:lnTo>
                <a:lnTo>
                  <a:pt x="180" y="121"/>
                </a:lnTo>
                <a:lnTo>
                  <a:pt x="181" y="121"/>
                </a:lnTo>
                <a:lnTo>
                  <a:pt x="181" y="120"/>
                </a:lnTo>
                <a:lnTo>
                  <a:pt x="182" y="120"/>
                </a:lnTo>
                <a:lnTo>
                  <a:pt x="182" y="119"/>
                </a:lnTo>
                <a:lnTo>
                  <a:pt x="182" y="119"/>
                </a:lnTo>
                <a:lnTo>
                  <a:pt x="182" y="118"/>
                </a:lnTo>
                <a:lnTo>
                  <a:pt x="182" y="3"/>
                </a:lnTo>
                <a:lnTo>
                  <a:pt x="182" y="2"/>
                </a:lnTo>
                <a:lnTo>
                  <a:pt x="182" y="2"/>
                </a:lnTo>
                <a:lnTo>
                  <a:pt x="182" y="1"/>
                </a:lnTo>
                <a:lnTo>
                  <a:pt x="181" y="1"/>
                </a:lnTo>
                <a:lnTo>
                  <a:pt x="181" y="0"/>
                </a:lnTo>
                <a:lnTo>
                  <a:pt x="180" y="0"/>
                </a:lnTo>
                <a:lnTo>
                  <a:pt x="180" y="0"/>
                </a:lnTo>
                <a:lnTo>
                  <a:pt x="179" y="0"/>
                </a:lnTo>
                <a:close/>
              </a:path>
            </a:pathLst>
          </a:custGeom>
          <a:solidFill>
            <a:srgbClr val="93D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Freeform 36"/>
          <p:cNvSpPr/>
          <p:nvPr/>
        </p:nvSpPr>
        <p:spPr>
          <a:xfrm>
            <a:off x="1612900" y="1828800"/>
            <a:ext cx="381000" cy="241300"/>
          </a:xfrm>
          <a:custGeom>
            <a:avLst/>
            <a:gdLst/>
            <a:ahLst/>
            <a:cxnLst/>
            <a:rect l="l" t="t" r="r" b="b"/>
            <a:pathLst>
              <a:path w="30" h="19">
                <a:moveTo>
                  <a:pt x="27" y="0"/>
                </a:moveTo>
                <a:lnTo>
                  <a:pt x="3" y="0"/>
                </a:lnTo>
                <a:lnTo>
                  <a:pt x="3" y="0"/>
                </a:lnTo>
                <a:lnTo>
                  <a:pt x="2" y="0"/>
                </a:lnTo>
                <a:lnTo>
                  <a:pt x="1" y="1"/>
                </a:lnTo>
                <a:lnTo>
                  <a:pt x="1" y="1"/>
                </a:lnTo>
                <a:lnTo>
                  <a:pt x="1" y="2"/>
                </a:lnTo>
                <a:lnTo>
                  <a:pt x="0" y="2"/>
                </a:lnTo>
                <a:lnTo>
                  <a:pt x="0" y="3"/>
                </a:lnTo>
                <a:lnTo>
                  <a:pt x="0" y="3"/>
                </a:lnTo>
                <a:lnTo>
                  <a:pt x="0" y="16"/>
                </a:lnTo>
                <a:lnTo>
                  <a:pt x="0" y="17"/>
                </a:lnTo>
                <a:lnTo>
                  <a:pt x="0" y="17"/>
                </a:lnTo>
                <a:lnTo>
                  <a:pt x="1" y="18"/>
                </a:lnTo>
                <a:lnTo>
                  <a:pt x="1" y="18"/>
                </a:lnTo>
                <a:lnTo>
                  <a:pt x="1" y="19"/>
                </a:lnTo>
                <a:lnTo>
                  <a:pt x="2" y="19"/>
                </a:lnTo>
                <a:lnTo>
                  <a:pt x="3" y="19"/>
                </a:lnTo>
                <a:lnTo>
                  <a:pt x="3" y="19"/>
                </a:lnTo>
                <a:lnTo>
                  <a:pt x="27" y="19"/>
                </a:lnTo>
                <a:lnTo>
                  <a:pt x="28" y="19"/>
                </a:lnTo>
                <a:lnTo>
                  <a:pt x="28" y="19"/>
                </a:lnTo>
                <a:lnTo>
                  <a:pt x="29" y="19"/>
                </a:lnTo>
                <a:lnTo>
                  <a:pt x="29" y="18"/>
                </a:lnTo>
                <a:lnTo>
                  <a:pt x="30" y="18"/>
                </a:lnTo>
                <a:lnTo>
                  <a:pt x="30" y="17"/>
                </a:lnTo>
                <a:lnTo>
                  <a:pt x="30" y="17"/>
                </a:lnTo>
                <a:lnTo>
                  <a:pt x="30" y="16"/>
                </a:lnTo>
                <a:lnTo>
                  <a:pt x="30" y="3"/>
                </a:lnTo>
                <a:lnTo>
                  <a:pt x="30" y="3"/>
                </a:lnTo>
                <a:lnTo>
                  <a:pt x="30" y="2"/>
                </a:lnTo>
                <a:lnTo>
                  <a:pt x="30" y="2"/>
                </a:lnTo>
                <a:lnTo>
                  <a:pt x="29" y="1"/>
                </a:lnTo>
                <a:lnTo>
                  <a:pt x="29" y="1"/>
                </a:lnTo>
                <a:lnTo>
                  <a:pt x="28" y="0"/>
                </a:lnTo>
                <a:lnTo>
                  <a:pt x="28" y="0"/>
                </a:lnTo>
                <a:lnTo>
                  <a:pt x="27" y="0"/>
                </a:lnTo>
                <a:close/>
              </a:path>
            </a:pathLst>
          </a:custGeom>
          <a:solidFill>
            <a:srgbClr val="F79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Freeform 37"/>
          <p:cNvSpPr/>
          <p:nvPr/>
        </p:nvSpPr>
        <p:spPr>
          <a:xfrm>
            <a:off x="1270000" y="1841500"/>
            <a:ext cx="241300" cy="215900"/>
          </a:xfrm>
          <a:custGeom>
            <a:avLst/>
            <a:gdLst/>
            <a:ahLst/>
            <a:cxnLst/>
            <a:rect l="l" t="t" r="r" b="b"/>
            <a:pathLst>
              <a:path w="19" h="17">
                <a:moveTo>
                  <a:pt x="15" y="0"/>
                </a:moveTo>
                <a:lnTo>
                  <a:pt x="4" y="0"/>
                </a:lnTo>
                <a:lnTo>
                  <a:pt x="3" y="0"/>
                </a:lnTo>
                <a:lnTo>
                  <a:pt x="2" y="1"/>
                </a:lnTo>
                <a:lnTo>
                  <a:pt x="2" y="1"/>
                </a:lnTo>
                <a:lnTo>
                  <a:pt x="1" y="1"/>
                </a:lnTo>
                <a:lnTo>
                  <a:pt x="1" y="2"/>
                </a:lnTo>
                <a:lnTo>
                  <a:pt x="1" y="2"/>
                </a:lnTo>
                <a:lnTo>
                  <a:pt x="0" y="3"/>
                </a:lnTo>
                <a:lnTo>
                  <a:pt x="0" y="3"/>
                </a:lnTo>
                <a:lnTo>
                  <a:pt x="0" y="14"/>
                </a:lnTo>
                <a:lnTo>
                  <a:pt x="0" y="15"/>
                </a:lnTo>
                <a:lnTo>
                  <a:pt x="1" y="15"/>
                </a:lnTo>
                <a:lnTo>
                  <a:pt x="1" y="16"/>
                </a:lnTo>
                <a:lnTo>
                  <a:pt x="1" y="16"/>
                </a:lnTo>
                <a:lnTo>
                  <a:pt x="2" y="17"/>
                </a:lnTo>
                <a:lnTo>
                  <a:pt x="2" y="17"/>
                </a:lnTo>
                <a:lnTo>
                  <a:pt x="3" y="17"/>
                </a:lnTo>
                <a:lnTo>
                  <a:pt x="4" y="17"/>
                </a:lnTo>
                <a:lnTo>
                  <a:pt x="15" y="17"/>
                </a:lnTo>
                <a:lnTo>
                  <a:pt x="16" y="17"/>
                </a:lnTo>
                <a:lnTo>
                  <a:pt x="17" y="17"/>
                </a:lnTo>
                <a:lnTo>
                  <a:pt x="17" y="17"/>
                </a:lnTo>
                <a:lnTo>
                  <a:pt x="18" y="16"/>
                </a:lnTo>
                <a:lnTo>
                  <a:pt x="18" y="16"/>
                </a:lnTo>
                <a:lnTo>
                  <a:pt x="18" y="15"/>
                </a:lnTo>
                <a:lnTo>
                  <a:pt x="19" y="15"/>
                </a:lnTo>
                <a:lnTo>
                  <a:pt x="19" y="14"/>
                </a:lnTo>
                <a:lnTo>
                  <a:pt x="19" y="3"/>
                </a:lnTo>
                <a:lnTo>
                  <a:pt x="19" y="3"/>
                </a:lnTo>
                <a:lnTo>
                  <a:pt x="18" y="2"/>
                </a:lnTo>
                <a:lnTo>
                  <a:pt x="18" y="2"/>
                </a:lnTo>
                <a:lnTo>
                  <a:pt x="18" y="1"/>
                </a:lnTo>
                <a:lnTo>
                  <a:pt x="17" y="1"/>
                </a:lnTo>
                <a:lnTo>
                  <a:pt x="17" y="1"/>
                </a:lnTo>
                <a:lnTo>
                  <a:pt x="16" y="0"/>
                </a:lnTo>
                <a:lnTo>
                  <a:pt x="15" y="0"/>
                </a:lnTo>
                <a:close/>
              </a:path>
            </a:pathLst>
          </a:custGeom>
          <a:solidFill>
            <a:srgbClr val="F79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Freeform 38"/>
          <p:cNvSpPr/>
          <p:nvPr/>
        </p:nvSpPr>
        <p:spPr>
          <a:xfrm>
            <a:off x="939800" y="1841500"/>
            <a:ext cx="228600" cy="215900"/>
          </a:xfrm>
          <a:custGeom>
            <a:avLst/>
            <a:gdLst/>
            <a:ahLst/>
            <a:cxnLst/>
            <a:rect l="l" t="t" r="r" b="b"/>
            <a:pathLst>
              <a:path w="18" h="17">
                <a:moveTo>
                  <a:pt x="15" y="0"/>
                </a:moveTo>
                <a:lnTo>
                  <a:pt x="3" y="0"/>
                </a:lnTo>
                <a:lnTo>
                  <a:pt x="2" y="0"/>
                </a:lnTo>
                <a:lnTo>
                  <a:pt x="2" y="1"/>
                </a:lnTo>
                <a:lnTo>
                  <a:pt x="1" y="1"/>
                </a:lnTo>
                <a:lnTo>
                  <a:pt x="1" y="1"/>
                </a:lnTo>
                <a:lnTo>
                  <a:pt x="0" y="2"/>
                </a:lnTo>
                <a:lnTo>
                  <a:pt x="0" y="2"/>
                </a:lnTo>
                <a:lnTo>
                  <a:pt x="0" y="3"/>
                </a:lnTo>
                <a:lnTo>
                  <a:pt x="0" y="3"/>
                </a:lnTo>
                <a:lnTo>
                  <a:pt x="0" y="14"/>
                </a:lnTo>
                <a:lnTo>
                  <a:pt x="0" y="15"/>
                </a:lnTo>
                <a:lnTo>
                  <a:pt x="0" y="15"/>
                </a:lnTo>
                <a:lnTo>
                  <a:pt x="0" y="16"/>
                </a:lnTo>
                <a:lnTo>
                  <a:pt x="1" y="16"/>
                </a:lnTo>
                <a:lnTo>
                  <a:pt x="1" y="17"/>
                </a:lnTo>
                <a:lnTo>
                  <a:pt x="2" y="17"/>
                </a:lnTo>
                <a:lnTo>
                  <a:pt x="2" y="17"/>
                </a:lnTo>
                <a:lnTo>
                  <a:pt x="3" y="17"/>
                </a:lnTo>
                <a:lnTo>
                  <a:pt x="15" y="17"/>
                </a:lnTo>
                <a:lnTo>
                  <a:pt x="15" y="17"/>
                </a:lnTo>
                <a:lnTo>
                  <a:pt x="16" y="17"/>
                </a:lnTo>
                <a:lnTo>
                  <a:pt x="16" y="17"/>
                </a:lnTo>
                <a:lnTo>
                  <a:pt x="17" y="16"/>
                </a:lnTo>
                <a:lnTo>
                  <a:pt x="17" y="16"/>
                </a:lnTo>
                <a:lnTo>
                  <a:pt x="18" y="15"/>
                </a:lnTo>
                <a:lnTo>
                  <a:pt x="18" y="15"/>
                </a:lnTo>
                <a:lnTo>
                  <a:pt x="18" y="14"/>
                </a:lnTo>
                <a:lnTo>
                  <a:pt x="18" y="3"/>
                </a:lnTo>
                <a:lnTo>
                  <a:pt x="18" y="3"/>
                </a:lnTo>
                <a:lnTo>
                  <a:pt x="18" y="2"/>
                </a:lnTo>
                <a:lnTo>
                  <a:pt x="17" y="2"/>
                </a:lnTo>
                <a:lnTo>
                  <a:pt x="17" y="1"/>
                </a:lnTo>
                <a:lnTo>
                  <a:pt x="16" y="1"/>
                </a:lnTo>
                <a:lnTo>
                  <a:pt x="16" y="1"/>
                </a:lnTo>
                <a:lnTo>
                  <a:pt x="15" y="0"/>
                </a:lnTo>
                <a:lnTo>
                  <a:pt x="15" y="0"/>
                </a:lnTo>
                <a:close/>
              </a:path>
            </a:pathLst>
          </a:custGeom>
          <a:solidFill>
            <a:srgbClr val="F79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Freeform 39"/>
          <p:cNvSpPr/>
          <p:nvPr/>
        </p:nvSpPr>
        <p:spPr>
          <a:xfrm>
            <a:off x="2108200" y="1841500"/>
            <a:ext cx="228600" cy="215900"/>
          </a:xfrm>
          <a:custGeom>
            <a:avLst/>
            <a:gdLst/>
            <a:ahLst/>
            <a:cxnLst/>
            <a:rect l="l" t="t" r="r" b="b"/>
            <a:pathLst>
              <a:path w="18" h="17">
                <a:moveTo>
                  <a:pt x="15" y="0"/>
                </a:moveTo>
                <a:lnTo>
                  <a:pt x="3" y="0"/>
                </a:lnTo>
                <a:lnTo>
                  <a:pt x="2" y="0"/>
                </a:lnTo>
                <a:lnTo>
                  <a:pt x="2" y="1"/>
                </a:lnTo>
                <a:lnTo>
                  <a:pt x="1" y="1"/>
                </a:lnTo>
                <a:lnTo>
                  <a:pt x="1" y="1"/>
                </a:lnTo>
                <a:lnTo>
                  <a:pt x="0" y="2"/>
                </a:lnTo>
                <a:lnTo>
                  <a:pt x="0" y="2"/>
                </a:lnTo>
                <a:lnTo>
                  <a:pt x="0" y="3"/>
                </a:lnTo>
                <a:lnTo>
                  <a:pt x="0" y="3"/>
                </a:lnTo>
                <a:lnTo>
                  <a:pt x="0" y="14"/>
                </a:lnTo>
                <a:lnTo>
                  <a:pt x="0" y="15"/>
                </a:lnTo>
                <a:lnTo>
                  <a:pt x="0" y="15"/>
                </a:lnTo>
                <a:lnTo>
                  <a:pt x="0" y="16"/>
                </a:lnTo>
                <a:lnTo>
                  <a:pt x="1" y="16"/>
                </a:lnTo>
                <a:lnTo>
                  <a:pt x="1" y="17"/>
                </a:lnTo>
                <a:lnTo>
                  <a:pt x="2" y="17"/>
                </a:lnTo>
                <a:lnTo>
                  <a:pt x="2" y="17"/>
                </a:lnTo>
                <a:lnTo>
                  <a:pt x="3" y="17"/>
                </a:lnTo>
                <a:lnTo>
                  <a:pt x="15" y="17"/>
                </a:lnTo>
                <a:lnTo>
                  <a:pt x="16" y="17"/>
                </a:lnTo>
                <a:lnTo>
                  <a:pt x="16" y="17"/>
                </a:lnTo>
                <a:lnTo>
                  <a:pt x="17" y="17"/>
                </a:lnTo>
                <a:lnTo>
                  <a:pt x="17" y="16"/>
                </a:lnTo>
                <a:lnTo>
                  <a:pt x="18" y="16"/>
                </a:lnTo>
                <a:lnTo>
                  <a:pt x="18" y="15"/>
                </a:lnTo>
                <a:lnTo>
                  <a:pt x="18" y="15"/>
                </a:lnTo>
                <a:lnTo>
                  <a:pt x="18" y="14"/>
                </a:lnTo>
                <a:lnTo>
                  <a:pt x="18" y="3"/>
                </a:lnTo>
                <a:lnTo>
                  <a:pt x="18" y="3"/>
                </a:lnTo>
                <a:lnTo>
                  <a:pt x="18" y="2"/>
                </a:lnTo>
                <a:lnTo>
                  <a:pt x="18" y="2"/>
                </a:lnTo>
                <a:lnTo>
                  <a:pt x="17" y="1"/>
                </a:lnTo>
                <a:lnTo>
                  <a:pt x="17" y="1"/>
                </a:lnTo>
                <a:lnTo>
                  <a:pt x="16" y="1"/>
                </a:lnTo>
                <a:lnTo>
                  <a:pt x="16" y="0"/>
                </a:lnTo>
                <a:lnTo>
                  <a:pt x="15" y="0"/>
                </a:lnTo>
                <a:close/>
              </a:path>
            </a:pathLst>
          </a:custGeom>
          <a:solidFill>
            <a:srgbClr val="F79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Freeform 40"/>
          <p:cNvSpPr/>
          <p:nvPr/>
        </p:nvSpPr>
        <p:spPr>
          <a:xfrm>
            <a:off x="2413000" y="1638300"/>
            <a:ext cx="215900" cy="215900"/>
          </a:xfrm>
          <a:custGeom>
            <a:avLst/>
            <a:gdLst/>
            <a:ahLst/>
            <a:cxnLst/>
            <a:rect l="l" t="t" r="r" b="b"/>
            <a:pathLst>
              <a:path w="17" h="17">
                <a:moveTo>
                  <a:pt x="17" y="9"/>
                </a:moveTo>
                <a:lnTo>
                  <a:pt x="17" y="7"/>
                </a:lnTo>
                <a:lnTo>
                  <a:pt x="17" y="5"/>
                </a:lnTo>
                <a:lnTo>
                  <a:pt x="16" y="4"/>
                </a:lnTo>
                <a:lnTo>
                  <a:pt x="15" y="3"/>
                </a:lnTo>
                <a:lnTo>
                  <a:pt x="13" y="2"/>
                </a:lnTo>
                <a:lnTo>
                  <a:pt x="12" y="1"/>
                </a:lnTo>
                <a:lnTo>
                  <a:pt x="10" y="0"/>
                </a:lnTo>
                <a:lnTo>
                  <a:pt x="9" y="0"/>
                </a:lnTo>
                <a:lnTo>
                  <a:pt x="7" y="0"/>
                </a:lnTo>
                <a:lnTo>
                  <a:pt x="5" y="1"/>
                </a:lnTo>
                <a:lnTo>
                  <a:pt x="4" y="2"/>
                </a:lnTo>
                <a:lnTo>
                  <a:pt x="2" y="3"/>
                </a:lnTo>
                <a:lnTo>
                  <a:pt x="1" y="4"/>
                </a:lnTo>
                <a:lnTo>
                  <a:pt x="1" y="5"/>
                </a:lnTo>
                <a:lnTo>
                  <a:pt x="0" y="7"/>
                </a:lnTo>
                <a:lnTo>
                  <a:pt x="0" y="9"/>
                </a:lnTo>
                <a:lnTo>
                  <a:pt x="0" y="10"/>
                </a:lnTo>
                <a:lnTo>
                  <a:pt x="1" y="12"/>
                </a:lnTo>
                <a:lnTo>
                  <a:pt x="1" y="14"/>
                </a:lnTo>
                <a:lnTo>
                  <a:pt x="2" y="15"/>
                </a:lnTo>
                <a:lnTo>
                  <a:pt x="4" y="16"/>
                </a:lnTo>
                <a:lnTo>
                  <a:pt x="5" y="17"/>
                </a:lnTo>
                <a:lnTo>
                  <a:pt x="7" y="17"/>
                </a:lnTo>
                <a:lnTo>
                  <a:pt x="9" y="17"/>
                </a:lnTo>
                <a:lnTo>
                  <a:pt x="10" y="17"/>
                </a:lnTo>
                <a:lnTo>
                  <a:pt x="12" y="17"/>
                </a:lnTo>
                <a:lnTo>
                  <a:pt x="13" y="16"/>
                </a:lnTo>
                <a:lnTo>
                  <a:pt x="15" y="15"/>
                </a:lnTo>
                <a:lnTo>
                  <a:pt x="16" y="14"/>
                </a:lnTo>
                <a:lnTo>
                  <a:pt x="17" y="12"/>
                </a:lnTo>
                <a:lnTo>
                  <a:pt x="17" y="10"/>
                </a:lnTo>
                <a:lnTo>
                  <a:pt x="17" y="9"/>
                </a:lnTo>
                <a:close/>
              </a:path>
            </a:pathLst>
          </a:cu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Freeform 41"/>
          <p:cNvSpPr/>
          <p:nvPr/>
        </p:nvSpPr>
        <p:spPr>
          <a:xfrm>
            <a:off x="2324100" y="1295400"/>
            <a:ext cx="393700" cy="241300"/>
          </a:xfrm>
          <a:custGeom>
            <a:avLst/>
            <a:gdLst/>
            <a:ahLst/>
            <a:cxnLst/>
            <a:rect l="l" t="t" r="r" b="b"/>
            <a:pathLst>
              <a:path w="31" h="19">
                <a:moveTo>
                  <a:pt x="28" y="0"/>
                </a:moveTo>
                <a:lnTo>
                  <a:pt x="4" y="0"/>
                </a:lnTo>
                <a:lnTo>
                  <a:pt x="3" y="0"/>
                </a:lnTo>
                <a:lnTo>
                  <a:pt x="2" y="0"/>
                </a:lnTo>
                <a:lnTo>
                  <a:pt x="2" y="0"/>
                </a:lnTo>
                <a:lnTo>
                  <a:pt x="1" y="0"/>
                </a:lnTo>
                <a:lnTo>
                  <a:pt x="1" y="1"/>
                </a:lnTo>
                <a:lnTo>
                  <a:pt x="1" y="1"/>
                </a:lnTo>
                <a:lnTo>
                  <a:pt x="0" y="2"/>
                </a:lnTo>
                <a:lnTo>
                  <a:pt x="0" y="3"/>
                </a:lnTo>
                <a:lnTo>
                  <a:pt x="0" y="15"/>
                </a:lnTo>
                <a:lnTo>
                  <a:pt x="0" y="16"/>
                </a:lnTo>
                <a:lnTo>
                  <a:pt x="1" y="17"/>
                </a:lnTo>
                <a:lnTo>
                  <a:pt x="1" y="17"/>
                </a:lnTo>
                <a:lnTo>
                  <a:pt x="1" y="18"/>
                </a:lnTo>
                <a:lnTo>
                  <a:pt x="2" y="18"/>
                </a:lnTo>
                <a:lnTo>
                  <a:pt x="2" y="18"/>
                </a:lnTo>
                <a:lnTo>
                  <a:pt x="3" y="18"/>
                </a:lnTo>
                <a:lnTo>
                  <a:pt x="4" y="19"/>
                </a:lnTo>
                <a:lnTo>
                  <a:pt x="28" y="19"/>
                </a:lnTo>
                <a:lnTo>
                  <a:pt x="28" y="18"/>
                </a:lnTo>
                <a:lnTo>
                  <a:pt x="29" y="18"/>
                </a:lnTo>
                <a:lnTo>
                  <a:pt x="29" y="18"/>
                </a:lnTo>
                <a:lnTo>
                  <a:pt x="30" y="18"/>
                </a:lnTo>
                <a:lnTo>
                  <a:pt x="30" y="17"/>
                </a:lnTo>
                <a:lnTo>
                  <a:pt x="30" y="17"/>
                </a:lnTo>
                <a:lnTo>
                  <a:pt x="31" y="16"/>
                </a:lnTo>
                <a:lnTo>
                  <a:pt x="31" y="15"/>
                </a:lnTo>
                <a:lnTo>
                  <a:pt x="31" y="3"/>
                </a:lnTo>
                <a:lnTo>
                  <a:pt x="31" y="2"/>
                </a:lnTo>
                <a:lnTo>
                  <a:pt x="30" y="1"/>
                </a:lnTo>
                <a:lnTo>
                  <a:pt x="30" y="1"/>
                </a:lnTo>
                <a:lnTo>
                  <a:pt x="30" y="0"/>
                </a:lnTo>
                <a:lnTo>
                  <a:pt x="29" y="0"/>
                </a:lnTo>
                <a:lnTo>
                  <a:pt x="29" y="0"/>
                </a:lnTo>
                <a:lnTo>
                  <a:pt x="28" y="0"/>
                </a:lnTo>
                <a:lnTo>
                  <a:pt x="28" y="0"/>
                </a:lnTo>
                <a:close/>
              </a:path>
            </a:pathLst>
          </a:custGeom>
          <a:solidFill>
            <a:srgbClr val="F79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Freeform 42"/>
          <p:cNvSpPr/>
          <p:nvPr/>
        </p:nvSpPr>
        <p:spPr>
          <a:xfrm>
            <a:off x="1701800" y="1498600"/>
            <a:ext cx="215900" cy="228600"/>
          </a:xfrm>
          <a:custGeom>
            <a:avLst/>
            <a:gdLst/>
            <a:ahLst/>
            <a:cxnLst/>
            <a:rect l="l" t="t" r="r" b="b"/>
            <a:pathLst>
              <a:path w="17" h="18">
                <a:moveTo>
                  <a:pt x="17" y="9"/>
                </a:moveTo>
                <a:lnTo>
                  <a:pt x="17" y="7"/>
                </a:lnTo>
                <a:lnTo>
                  <a:pt x="16" y="6"/>
                </a:lnTo>
                <a:lnTo>
                  <a:pt x="15" y="4"/>
                </a:lnTo>
                <a:lnTo>
                  <a:pt x="14" y="3"/>
                </a:lnTo>
                <a:lnTo>
                  <a:pt x="13" y="2"/>
                </a:lnTo>
                <a:lnTo>
                  <a:pt x="12" y="1"/>
                </a:lnTo>
                <a:lnTo>
                  <a:pt x="10" y="1"/>
                </a:lnTo>
                <a:lnTo>
                  <a:pt x="8" y="0"/>
                </a:lnTo>
                <a:lnTo>
                  <a:pt x="7" y="1"/>
                </a:lnTo>
                <a:lnTo>
                  <a:pt x="5" y="1"/>
                </a:lnTo>
                <a:lnTo>
                  <a:pt x="3" y="2"/>
                </a:lnTo>
                <a:lnTo>
                  <a:pt x="2" y="3"/>
                </a:lnTo>
                <a:lnTo>
                  <a:pt x="1" y="4"/>
                </a:lnTo>
                <a:lnTo>
                  <a:pt x="0" y="6"/>
                </a:lnTo>
                <a:lnTo>
                  <a:pt x="0" y="7"/>
                </a:lnTo>
                <a:lnTo>
                  <a:pt x="0" y="9"/>
                </a:lnTo>
                <a:lnTo>
                  <a:pt x="0" y="11"/>
                </a:lnTo>
                <a:lnTo>
                  <a:pt x="0" y="12"/>
                </a:lnTo>
                <a:lnTo>
                  <a:pt x="1" y="14"/>
                </a:lnTo>
                <a:lnTo>
                  <a:pt x="2" y="15"/>
                </a:lnTo>
                <a:lnTo>
                  <a:pt x="3" y="16"/>
                </a:lnTo>
                <a:lnTo>
                  <a:pt x="5" y="17"/>
                </a:lnTo>
                <a:lnTo>
                  <a:pt x="7" y="18"/>
                </a:lnTo>
                <a:lnTo>
                  <a:pt x="8" y="18"/>
                </a:lnTo>
                <a:lnTo>
                  <a:pt x="10" y="18"/>
                </a:lnTo>
                <a:lnTo>
                  <a:pt x="12" y="17"/>
                </a:lnTo>
                <a:lnTo>
                  <a:pt x="13" y="16"/>
                </a:lnTo>
                <a:lnTo>
                  <a:pt x="14" y="15"/>
                </a:lnTo>
                <a:lnTo>
                  <a:pt x="15" y="14"/>
                </a:lnTo>
                <a:lnTo>
                  <a:pt x="16" y="12"/>
                </a:lnTo>
                <a:lnTo>
                  <a:pt x="17" y="11"/>
                </a:lnTo>
                <a:lnTo>
                  <a:pt x="17" y="9"/>
                </a:lnTo>
                <a:close/>
              </a:path>
            </a:pathLst>
          </a:cu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Freeform 43"/>
          <p:cNvSpPr/>
          <p:nvPr/>
        </p:nvSpPr>
        <p:spPr>
          <a:xfrm>
            <a:off x="1701800" y="1066800"/>
            <a:ext cx="215900" cy="228600"/>
          </a:xfrm>
          <a:custGeom>
            <a:avLst/>
            <a:gdLst/>
            <a:ahLst/>
            <a:cxnLst/>
            <a:rect l="l" t="t" r="r" b="b"/>
            <a:pathLst>
              <a:path w="17" h="18">
                <a:moveTo>
                  <a:pt x="17" y="9"/>
                </a:moveTo>
                <a:lnTo>
                  <a:pt x="17" y="7"/>
                </a:lnTo>
                <a:lnTo>
                  <a:pt x="16" y="5"/>
                </a:lnTo>
                <a:lnTo>
                  <a:pt x="15" y="4"/>
                </a:lnTo>
                <a:lnTo>
                  <a:pt x="14" y="3"/>
                </a:lnTo>
                <a:lnTo>
                  <a:pt x="13" y="2"/>
                </a:lnTo>
                <a:lnTo>
                  <a:pt x="12" y="1"/>
                </a:lnTo>
                <a:lnTo>
                  <a:pt x="10" y="0"/>
                </a:lnTo>
                <a:lnTo>
                  <a:pt x="8" y="0"/>
                </a:lnTo>
                <a:lnTo>
                  <a:pt x="7" y="0"/>
                </a:lnTo>
                <a:lnTo>
                  <a:pt x="5" y="1"/>
                </a:lnTo>
                <a:lnTo>
                  <a:pt x="3" y="2"/>
                </a:lnTo>
                <a:lnTo>
                  <a:pt x="2" y="3"/>
                </a:lnTo>
                <a:lnTo>
                  <a:pt x="1" y="4"/>
                </a:lnTo>
                <a:lnTo>
                  <a:pt x="0" y="5"/>
                </a:lnTo>
                <a:lnTo>
                  <a:pt x="0" y="7"/>
                </a:lnTo>
                <a:lnTo>
                  <a:pt x="0" y="9"/>
                </a:lnTo>
                <a:lnTo>
                  <a:pt x="0" y="11"/>
                </a:lnTo>
                <a:lnTo>
                  <a:pt x="0" y="12"/>
                </a:lnTo>
                <a:lnTo>
                  <a:pt x="1" y="14"/>
                </a:lnTo>
                <a:lnTo>
                  <a:pt x="2" y="15"/>
                </a:lnTo>
                <a:lnTo>
                  <a:pt x="3" y="16"/>
                </a:lnTo>
                <a:lnTo>
                  <a:pt x="5" y="17"/>
                </a:lnTo>
                <a:lnTo>
                  <a:pt x="7" y="17"/>
                </a:lnTo>
                <a:lnTo>
                  <a:pt x="8" y="18"/>
                </a:lnTo>
                <a:lnTo>
                  <a:pt x="10" y="17"/>
                </a:lnTo>
                <a:lnTo>
                  <a:pt x="12" y="17"/>
                </a:lnTo>
                <a:lnTo>
                  <a:pt x="13" y="16"/>
                </a:lnTo>
                <a:lnTo>
                  <a:pt x="14" y="15"/>
                </a:lnTo>
                <a:lnTo>
                  <a:pt x="15" y="14"/>
                </a:lnTo>
                <a:lnTo>
                  <a:pt x="16" y="12"/>
                </a:lnTo>
                <a:lnTo>
                  <a:pt x="17" y="11"/>
                </a:lnTo>
                <a:lnTo>
                  <a:pt x="17" y="9"/>
                </a:lnTo>
                <a:close/>
              </a:path>
            </a:pathLst>
          </a:cu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Freeform 44"/>
          <p:cNvSpPr/>
          <p:nvPr/>
        </p:nvSpPr>
        <p:spPr>
          <a:xfrm>
            <a:off x="939800" y="1066800"/>
            <a:ext cx="215900" cy="228600"/>
          </a:xfrm>
          <a:custGeom>
            <a:avLst/>
            <a:gdLst/>
            <a:ahLst/>
            <a:cxnLst/>
            <a:rect l="l" t="t" r="r" b="b"/>
            <a:pathLst>
              <a:path w="17" h="18">
                <a:moveTo>
                  <a:pt x="17" y="9"/>
                </a:moveTo>
                <a:lnTo>
                  <a:pt x="17" y="7"/>
                </a:lnTo>
                <a:lnTo>
                  <a:pt x="17" y="5"/>
                </a:lnTo>
                <a:lnTo>
                  <a:pt x="16" y="4"/>
                </a:lnTo>
                <a:lnTo>
                  <a:pt x="15" y="3"/>
                </a:lnTo>
                <a:lnTo>
                  <a:pt x="14" y="2"/>
                </a:lnTo>
                <a:lnTo>
                  <a:pt x="12" y="1"/>
                </a:lnTo>
                <a:lnTo>
                  <a:pt x="10" y="0"/>
                </a:lnTo>
                <a:lnTo>
                  <a:pt x="9" y="0"/>
                </a:lnTo>
                <a:lnTo>
                  <a:pt x="7" y="0"/>
                </a:lnTo>
                <a:lnTo>
                  <a:pt x="5" y="1"/>
                </a:lnTo>
                <a:lnTo>
                  <a:pt x="4" y="2"/>
                </a:lnTo>
                <a:lnTo>
                  <a:pt x="3" y="3"/>
                </a:lnTo>
                <a:lnTo>
                  <a:pt x="2" y="4"/>
                </a:lnTo>
                <a:lnTo>
                  <a:pt x="1" y="5"/>
                </a:lnTo>
                <a:lnTo>
                  <a:pt x="0" y="7"/>
                </a:lnTo>
                <a:lnTo>
                  <a:pt x="0" y="9"/>
                </a:lnTo>
                <a:lnTo>
                  <a:pt x="0" y="11"/>
                </a:lnTo>
                <a:lnTo>
                  <a:pt x="1" y="12"/>
                </a:lnTo>
                <a:lnTo>
                  <a:pt x="2" y="14"/>
                </a:lnTo>
                <a:lnTo>
                  <a:pt x="3" y="15"/>
                </a:lnTo>
                <a:lnTo>
                  <a:pt x="4" y="16"/>
                </a:lnTo>
                <a:lnTo>
                  <a:pt x="5" y="17"/>
                </a:lnTo>
                <a:lnTo>
                  <a:pt x="7" y="17"/>
                </a:lnTo>
                <a:lnTo>
                  <a:pt x="9" y="18"/>
                </a:lnTo>
                <a:lnTo>
                  <a:pt x="10" y="17"/>
                </a:lnTo>
                <a:lnTo>
                  <a:pt x="12" y="17"/>
                </a:lnTo>
                <a:lnTo>
                  <a:pt x="14" y="16"/>
                </a:lnTo>
                <a:lnTo>
                  <a:pt x="15" y="15"/>
                </a:lnTo>
                <a:lnTo>
                  <a:pt x="16" y="14"/>
                </a:lnTo>
                <a:lnTo>
                  <a:pt x="17" y="12"/>
                </a:lnTo>
                <a:lnTo>
                  <a:pt x="17" y="11"/>
                </a:lnTo>
                <a:lnTo>
                  <a:pt x="17" y="9"/>
                </a:lnTo>
                <a:close/>
              </a:path>
            </a:pathLst>
          </a:cu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Freeform 45"/>
          <p:cNvSpPr/>
          <p:nvPr/>
        </p:nvSpPr>
        <p:spPr>
          <a:xfrm>
            <a:off x="774700" y="2311400"/>
            <a:ext cx="215900" cy="215900"/>
          </a:xfrm>
          <a:custGeom>
            <a:avLst/>
            <a:gdLst/>
            <a:ahLst/>
            <a:cxnLst/>
            <a:rect l="l" t="t" r="r" b="b"/>
            <a:pathLst>
              <a:path w="17" h="17">
                <a:moveTo>
                  <a:pt x="17" y="8"/>
                </a:moveTo>
                <a:lnTo>
                  <a:pt x="17" y="6"/>
                </a:lnTo>
                <a:lnTo>
                  <a:pt x="16" y="5"/>
                </a:lnTo>
                <a:lnTo>
                  <a:pt x="16" y="3"/>
                </a:lnTo>
                <a:lnTo>
                  <a:pt x="14" y="2"/>
                </a:lnTo>
                <a:lnTo>
                  <a:pt x="13" y="1"/>
                </a:lnTo>
                <a:lnTo>
                  <a:pt x="12" y="0"/>
                </a:lnTo>
                <a:lnTo>
                  <a:pt x="10" y="0"/>
                </a:lnTo>
                <a:lnTo>
                  <a:pt x="8" y="0"/>
                </a:lnTo>
                <a:lnTo>
                  <a:pt x="7" y="0"/>
                </a:lnTo>
                <a:lnTo>
                  <a:pt x="5" y="0"/>
                </a:lnTo>
                <a:lnTo>
                  <a:pt x="3" y="1"/>
                </a:lnTo>
                <a:lnTo>
                  <a:pt x="2" y="2"/>
                </a:lnTo>
                <a:lnTo>
                  <a:pt x="1" y="3"/>
                </a:lnTo>
                <a:lnTo>
                  <a:pt x="0" y="5"/>
                </a:lnTo>
                <a:lnTo>
                  <a:pt x="0" y="6"/>
                </a:lnTo>
                <a:lnTo>
                  <a:pt x="0" y="8"/>
                </a:lnTo>
                <a:lnTo>
                  <a:pt x="0" y="10"/>
                </a:lnTo>
                <a:lnTo>
                  <a:pt x="0" y="12"/>
                </a:lnTo>
                <a:lnTo>
                  <a:pt x="1" y="13"/>
                </a:lnTo>
                <a:lnTo>
                  <a:pt x="2" y="14"/>
                </a:lnTo>
                <a:lnTo>
                  <a:pt x="3" y="15"/>
                </a:lnTo>
                <a:lnTo>
                  <a:pt x="5" y="16"/>
                </a:lnTo>
                <a:lnTo>
                  <a:pt x="7" y="17"/>
                </a:lnTo>
                <a:lnTo>
                  <a:pt x="8" y="17"/>
                </a:lnTo>
                <a:lnTo>
                  <a:pt x="10" y="17"/>
                </a:lnTo>
                <a:lnTo>
                  <a:pt x="12" y="16"/>
                </a:lnTo>
                <a:lnTo>
                  <a:pt x="13" y="15"/>
                </a:lnTo>
                <a:lnTo>
                  <a:pt x="14" y="14"/>
                </a:lnTo>
                <a:lnTo>
                  <a:pt x="16" y="13"/>
                </a:lnTo>
                <a:lnTo>
                  <a:pt x="16" y="12"/>
                </a:lnTo>
                <a:lnTo>
                  <a:pt x="17" y="10"/>
                </a:lnTo>
                <a:lnTo>
                  <a:pt x="17" y="8"/>
                </a:lnTo>
                <a:close/>
              </a:path>
            </a:pathLst>
          </a:cu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7" name="Connector 46"/>
          <p:cNvCxnSpPr/>
          <p:nvPr/>
        </p:nvCxnSpPr>
        <p:spPr>
          <a:xfrm flipV="1">
            <a:off x="2848444" y="941015"/>
            <a:ext cx="0" cy="1474188"/>
          </a:xfrm>
          <a:prstGeom prst="line">
            <a:avLst/>
          </a:prstGeom>
          <a:ln w="80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Freeform 47"/>
          <p:cNvSpPr/>
          <p:nvPr/>
        </p:nvSpPr>
        <p:spPr>
          <a:xfrm>
            <a:off x="2832100" y="9144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0"/>
                </a:moveTo>
                <a:lnTo>
                  <a:pt x="0" y="3"/>
                </a:lnTo>
                <a:lnTo>
                  <a:pt x="1" y="2"/>
                </a:lnTo>
                <a:lnTo>
                  <a:pt x="3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9" name="Connector 48"/>
          <p:cNvCxnSpPr/>
          <p:nvPr/>
        </p:nvCxnSpPr>
        <p:spPr>
          <a:xfrm>
            <a:off x="539039" y="2415203"/>
            <a:ext cx="220520" cy="0"/>
          </a:xfrm>
          <a:prstGeom prst="line">
            <a:avLst/>
          </a:prstGeom>
          <a:ln w="80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880617" y="2536261"/>
            <a:ext cx="0" cy="143478"/>
          </a:xfrm>
          <a:prstGeom prst="line">
            <a:avLst/>
          </a:prstGeom>
          <a:ln w="80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1001675" y="2415203"/>
            <a:ext cx="48912" cy="0"/>
          </a:xfrm>
          <a:prstGeom prst="line">
            <a:avLst/>
          </a:prstGeom>
          <a:ln w="80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1050587" y="2415203"/>
            <a:ext cx="339713" cy="0"/>
          </a:xfrm>
          <a:prstGeom prst="line">
            <a:avLst/>
          </a:prstGeom>
          <a:ln w="80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1390300" y="2415203"/>
            <a:ext cx="416349" cy="0"/>
          </a:xfrm>
          <a:prstGeom prst="line">
            <a:avLst/>
          </a:prstGeom>
          <a:ln w="80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1806649" y="2415203"/>
            <a:ext cx="416349" cy="0"/>
          </a:xfrm>
          <a:prstGeom prst="line">
            <a:avLst/>
          </a:prstGeom>
          <a:ln w="80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1050587" y="2095163"/>
            <a:ext cx="0" cy="320040"/>
          </a:xfrm>
          <a:prstGeom prst="line">
            <a:avLst/>
          </a:prstGeom>
          <a:ln w="80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Freeform 55"/>
          <p:cNvSpPr/>
          <p:nvPr/>
        </p:nvSpPr>
        <p:spPr>
          <a:xfrm>
            <a:off x="1028700" y="20701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2" y="0"/>
                </a:moveTo>
                <a:lnTo>
                  <a:pt x="0" y="3"/>
                </a:lnTo>
                <a:lnTo>
                  <a:pt x="2" y="2"/>
                </a:lnTo>
                <a:lnTo>
                  <a:pt x="3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" name="Connector 56"/>
          <p:cNvCxnSpPr/>
          <p:nvPr/>
        </p:nvCxnSpPr>
        <p:spPr>
          <a:xfrm flipV="1">
            <a:off x="1390300" y="2095163"/>
            <a:ext cx="0" cy="320040"/>
          </a:xfrm>
          <a:prstGeom prst="line">
            <a:avLst/>
          </a:prstGeom>
          <a:ln w="80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Freeform 57"/>
          <p:cNvSpPr/>
          <p:nvPr/>
        </p:nvSpPr>
        <p:spPr>
          <a:xfrm>
            <a:off x="1371600" y="20701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0"/>
                </a:moveTo>
                <a:lnTo>
                  <a:pt x="0" y="3"/>
                </a:lnTo>
                <a:lnTo>
                  <a:pt x="1" y="2"/>
                </a:lnTo>
                <a:lnTo>
                  <a:pt x="3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9" name="Connector 58"/>
          <p:cNvCxnSpPr/>
          <p:nvPr/>
        </p:nvCxnSpPr>
        <p:spPr>
          <a:xfrm flipV="1">
            <a:off x="1806649" y="2109684"/>
            <a:ext cx="0" cy="305519"/>
          </a:xfrm>
          <a:prstGeom prst="line">
            <a:avLst/>
          </a:prstGeom>
          <a:ln w="80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Freeform 59"/>
          <p:cNvSpPr/>
          <p:nvPr/>
        </p:nvSpPr>
        <p:spPr>
          <a:xfrm>
            <a:off x="1790700" y="20828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0"/>
                </a:moveTo>
                <a:lnTo>
                  <a:pt x="0" y="3"/>
                </a:lnTo>
                <a:lnTo>
                  <a:pt x="1" y="2"/>
                </a:lnTo>
                <a:lnTo>
                  <a:pt x="3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1" name="Connector 60"/>
          <p:cNvCxnSpPr/>
          <p:nvPr/>
        </p:nvCxnSpPr>
        <p:spPr>
          <a:xfrm flipV="1">
            <a:off x="2222998" y="2095163"/>
            <a:ext cx="0" cy="320040"/>
          </a:xfrm>
          <a:prstGeom prst="line">
            <a:avLst/>
          </a:prstGeom>
          <a:ln w="80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Freeform 61"/>
          <p:cNvSpPr/>
          <p:nvPr/>
        </p:nvSpPr>
        <p:spPr>
          <a:xfrm>
            <a:off x="2197100" y="20701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2" y="0"/>
                </a:moveTo>
                <a:lnTo>
                  <a:pt x="0" y="3"/>
                </a:lnTo>
                <a:lnTo>
                  <a:pt x="2" y="2"/>
                </a:lnTo>
                <a:lnTo>
                  <a:pt x="4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3" name="Connector 62"/>
          <p:cNvCxnSpPr/>
          <p:nvPr/>
        </p:nvCxnSpPr>
        <p:spPr>
          <a:xfrm flipV="1">
            <a:off x="1050587" y="1326610"/>
            <a:ext cx="0" cy="507950"/>
          </a:xfrm>
          <a:prstGeom prst="line">
            <a:avLst/>
          </a:prstGeom>
          <a:ln w="80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Freeform 63"/>
          <p:cNvSpPr/>
          <p:nvPr/>
        </p:nvSpPr>
        <p:spPr>
          <a:xfrm>
            <a:off x="1028700" y="12954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2" y="0"/>
                </a:moveTo>
                <a:lnTo>
                  <a:pt x="0" y="4"/>
                </a:lnTo>
                <a:lnTo>
                  <a:pt x="2" y="2"/>
                </a:lnTo>
                <a:lnTo>
                  <a:pt x="3" y="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" name="Connector 64"/>
          <p:cNvCxnSpPr/>
          <p:nvPr/>
        </p:nvCxnSpPr>
        <p:spPr>
          <a:xfrm flipV="1">
            <a:off x="1390300" y="1613191"/>
            <a:ext cx="0" cy="221369"/>
          </a:xfrm>
          <a:prstGeom prst="line">
            <a:avLst/>
          </a:prstGeom>
          <a:ln w="80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1390300" y="1613191"/>
            <a:ext cx="269160" cy="0"/>
          </a:xfrm>
          <a:prstGeom prst="line">
            <a:avLst/>
          </a:prstGeom>
          <a:ln w="80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Freeform 66"/>
          <p:cNvSpPr/>
          <p:nvPr/>
        </p:nvSpPr>
        <p:spPr>
          <a:xfrm>
            <a:off x="1638300" y="15875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4" y="2"/>
                </a:moveTo>
                <a:lnTo>
                  <a:pt x="0" y="0"/>
                </a:lnTo>
                <a:lnTo>
                  <a:pt x="2" y="2"/>
                </a:lnTo>
                <a:lnTo>
                  <a:pt x="0" y="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8" name="Connector 67"/>
          <p:cNvCxnSpPr/>
          <p:nvPr/>
        </p:nvCxnSpPr>
        <p:spPr>
          <a:xfrm flipV="1">
            <a:off x="1806649" y="1760380"/>
            <a:ext cx="0" cy="59659"/>
          </a:xfrm>
          <a:prstGeom prst="line">
            <a:avLst/>
          </a:prstGeom>
          <a:ln w="80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Freeform 68"/>
          <p:cNvSpPr/>
          <p:nvPr/>
        </p:nvSpPr>
        <p:spPr>
          <a:xfrm>
            <a:off x="1790700" y="17399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0"/>
                </a:moveTo>
                <a:lnTo>
                  <a:pt x="0" y="3"/>
                </a:lnTo>
                <a:lnTo>
                  <a:pt x="1" y="2"/>
                </a:lnTo>
                <a:lnTo>
                  <a:pt x="3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0" name="Connector 69"/>
          <p:cNvCxnSpPr/>
          <p:nvPr/>
        </p:nvCxnSpPr>
        <p:spPr>
          <a:xfrm flipV="1">
            <a:off x="2222998" y="1748959"/>
            <a:ext cx="0" cy="85601"/>
          </a:xfrm>
          <a:prstGeom prst="line">
            <a:avLst/>
          </a:prstGeom>
          <a:ln w="80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2222998" y="1748959"/>
            <a:ext cx="151163" cy="0"/>
          </a:xfrm>
          <a:prstGeom prst="line">
            <a:avLst/>
          </a:prstGeom>
          <a:ln w="80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Freeform 71"/>
          <p:cNvSpPr/>
          <p:nvPr/>
        </p:nvSpPr>
        <p:spPr>
          <a:xfrm>
            <a:off x="2362200" y="17272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2"/>
                </a:moveTo>
                <a:lnTo>
                  <a:pt x="0" y="0"/>
                </a:lnTo>
                <a:lnTo>
                  <a:pt x="1" y="2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3" name="Connector 72"/>
          <p:cNvCxnSpPr/>
          <p:nvPr/>
        </p:nvCxnSpPr>
        <p:spPr>
          <a:xfrm>
            <a:off x="2521350" y="1870017"/>
            <a:ext cx="0" cy="545186"/>
          </a:xfrm>
          <a:prstGeom prst="line">
            <a:avLst/>
          </a:prstGeom>
          <a:ln w="80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2521350" y="2415203"/>
            <a:ext cx="526779" cy="0"/>
          </a:xfrm>
          <a:prstGeom prst="line">
            <a:avLst/>
          </a:prstGeom>
          <a:ln w="80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Freeform 74"/>
          <p:cNvSpPr/>
          <p:nvPr/>
        </p:nvSpPr>
        <p:spPr>
          <a:xfrm>
            <a:off x="3035300" y="24003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1"/>
                </a:moveTo>
                <a:lnTo>
                  <a:pt x="0" y="0"/>
                </a:lnTo>
                <a:lnTo>
                  <a:pt x="1" y="1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6" name="Connector 75"/>
          <p:cNvCxnSpPr/>
          <p:nvPr/>
        </p:nvCxnSpPr>
        <p:spPr>
          <a:xfrm>
            <a:off x="539039" y="1179421"/>
            <a:ext cx="364359" cy="0"/>
          </a:xfrm>
          <a:prstGeom prst="line">
            <a:avLst/>
          </a:prstGeom>
          <a:ln w="80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Freeform 76"/>
          <p:cNvSpPr/>
          <p:nvPr/>
        </p:nvSpPr>
        <p:spPr>
          <a:xfrm>
            <a:off x="889000" y="11557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3" y="2"/>
                </a:moveTo>
                <a:lnTo>
                  <a:pt x="0" y="0"/>
                </a:lnTo>
                <a:lnTo>
                  <a:pt x="1" y="2"/>
                </a:lnTo>
                <a:lnTo>
                  <a:pt x="0" y="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8" name="Connector 77"/>
          <p:cNvCxnSpPr/>
          <p:nvPr/>
        </p:nvCxnSpPr>
        <p:spPr>
          <a:xfrm>
            <a:off x="1171645" y="1179421"/>
            <a:ext cx="487815" cy="0"/>
          </a:xfrm>
          <a:prstGeom prst="line">
            <a:avLst/>
          </a:prstGeom>
          <a:ln w="80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Freeform 78"/>
          <p:cNvSpPr/>
          <p:nvPr/>
        </p:nvSpPr>
        <p:spPr>
          <a:xfrm>
            <a:off x="1638300" y="11557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4" y="2"/>
                </a:moveTo>
                <a:lnTo>
                  <a:pt x="0" y="0"/>
                </a:lnTo>
                <a:lnTo>
                  <a:pt x="2" y="2"/>
                </a:lnTo>
                <a:lnTo>
                  <a:pt x="0" y="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0" name="Connector 79"/>
          <p:cNvCxnSpPr/>
          <p:nvPr/>
        </p:nvCxnSpPr>
        <p:spPr>
          <a:xfrm>
            <a:off x="1927707" y="1179421"/>
            <a:ext cx="1036500" cy="0"/>
          </a:xfrm>
          <a:prstGeom prst="line">
            <a:avLst/>
          </a:prstGeom>
          <a:ln w="30151">
            <a:solidFill>
              <a:srgbClr val="93D4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1927707" y="1179421"/>
            <a:ext cx="1120422" cy="0"/>
          </a:xfrm>
          <a:prstGeom prst="line">
            <a:avLst/>
          </a:prstGeom>
          <a:ln w="80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Freeform 81"/>
          <p:cNvSpPr/>
          <p:nvPr/>
        </p:nvSpPr>
        <p:spPr>
          <a:xfrm>
            <a:off x="3035300" y="11557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3" y="2"/>
                </a:moveTo>
                <a:lnTo>
                  <a:pt x="0" y="0"/>
                </a:lnTo>
                <a:lnTo>
                  <a:pt x="1" y="2"/>
                </a:lnTo>
                <a:lnTo>
                  <a:pt x="0" y="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3" name="Connector 82"/>
          <p:cNvCxnSpPr/>
          <p:nvPr/>
        </p:nvCxnSpPr>
        <p:spPr>
          <a:xfrm flipV="1">
            <a:off x="1806649" y="1326610"/>
            <a:ext cx="0" cy="165523"/>
          </a:xfrm>
          <a:prstGeom prst="line">
            <a:avLst/>
          </a:prstGeom>
          <a:ln w="80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Freeform 83"/>
          <p:cNvSpPr/>
          <p:nvPr/>
        </p:nvSpPr>
        <p:spPr>
          <a:xfrm>
            <a:off x="1790700" y="12954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1" y="0"/>
                </a:moveTo>
                <a:lnTo>
                  <a:pt x="0" y="4"/>
                </a:lnTo>
                <a:lnTo>
                  <a:pt x="1" y="2"/>
                </a:lnTo>
                <a:lnTo>
                  <a:pt x="3" y="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5" name="Connector 84"/>
          <p:cNvCxnSpPr/>
          <p:nvPr/>
        </p:nvCxnSpPr>
        <p:spPr>
          <a:xfrm>
            <a:off x="2521350" y="1179421"/>
            <a:ext cx="0" cy="73044"/>
          </a:xfrm>
          <a:prstGeom prst="line">
            <a:avLst/>
          </a:prstGeom>
          <a:ln w="80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Freeform 85"/>
          <p:cNvSpPr/>
          <p:nvPr/>
        </p:nvSpPr>
        <p:spPr>
          <a:xfrm>
            <a:off x="2501900" y="12319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2" y="4"/>
                </a:moveTo>
                <a:lnTo>
                  <a:pt x="3" y="0"/>
                </a:lnTo>
                <a:lnTo>
                  <a:pt x="2" y="2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7" name="Connector 86"/>
          <p:cNvCxnSpPr/>
          <p:nvPr/>
        </p:nvCxnSpPr>
        <p:spPr>
          <a:xfrm>
            <a:off x="2521350" y="1542111"/>
            <a:ext cx="0" cy="59659"/>
          </a:xfrm>
          <a:prstGeom prst="line">
            <a:avLst/>
          </a:prstGeom>
          <a:ln w="80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Freeform 87"/>
          <p:cNvSpPr/>
          <p:nvPr/>
        </p:nvSpPr>
        <p:spPr>
          <a:xfrm>
            <a:off x="2501900" y="15875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2" y="3"/>
                </a:moveTo>
                <a:lnTo>
                  <a:pt x="3" y="0"/>
                </a:ln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-2" y="3146742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2880002" y="3146742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1" name="Picture 9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92" name="Picture 9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93" name="TextBox 92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Long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Short-Term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Memory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(LSTM)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08000" y="359888"/>
            <a:ext cx="5677395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1">
                <a:solidFill>
                  <a:srgbClr val="003373"/>
                </a:solidFill>
                <a:latin typeface="Josefin Sans"/>
              </a:rPr>
              <a:t>Architecture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291927" y="2354958"/>
            <a:ext cx="5493468" cy="17057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6" b="0">
                <a:solidFill>
                  <a:srgbClr val="000000"/>
                </a:solidFill>
                <a:latin typeface="Cambria Math"/>
              </a:rPr>
              <a:t>h</a:t>
            </a:r>
            <a:r>
              <a:rPr sz="633" b="0">
                <a:solidFill>
                  <a:srgbClr val="000000"/>
                </a:solidFill>
                <a:latin typeface="Cambria Math"/>
              </a:rPr>
              <a:t>t</a:t>
            </a:r>
            <a:r>
              <a:rPr sz="633" b="0">
                <a:solidFill>
                  <a:srgbClr val="000000"/>
                </a:solidFill>
                <a:latin typeface="Cambria Math"/>
              </a:rPr>
              <a:t>−</a:t>
            </a:r>
            <a:r>
              <a:rPr sz="633" b="0">
                <a:solidFill>
                  <a:srgbClr val="000000"/>
                </a:solidFill>
                <a:latin typeface="Cambria Math"/>
              </a:rPr>
              <a:t>1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31241" y="2679801"/>
            <a:ext cx="4954154" cy="17057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6" b="0">
                <a:solidFill>
                  <a:srgbClr val="000000"/>
                </a:solidFill>
                <a:latin typeface="Cambria Math"/>
              </a:rPr>
              <a:t>x</a:t>
            </a:r>
            <a:r>
              <a:rPr sz="633" b="0">
                <a:solidFill>
                  <a:srgbClr val="000000"/>
                </a:solidFill>
                <a:latin typeface="Cambria Math"/>
              </a:rPr>
              <a:t>t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3112933" y="2359154"/>
            <a:ext cx="2672462" cy="17057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6" b="0">
                <a:solidFill>
                  <a:srgbClr val="000000"/>
                </a:solidFill>
                <a:latin typeface="Cambria Math"/>
              </a:rPr>
              <a:t>h</a:t>
            </a:r>
            <a:r>
              <a:rPr sz="633" b="0">
                <a:solidFill>
                  <a:srgbClr val="000000"/>
                </a:solidFill>
                <a:latin typeface="Cambria Math"/>
              </a:rPr>
              <a:t>t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2798793" y="773695"/>
            <a:ext cx="2986602" cy="17057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6" b="0">
                <a:solidFill>
                  <a:srgbClr val="000000"/>
                </a:solidFill>
                <a:latin typeface="Cambria Math"/>
              </a:rPr>
              <a:t>h</a:t>
            </a:r>
            <a:r>
              <a:rPr sz="633" b="0">
                <a:solidFill>
                  <a:srgbClr val="000000"/>
                </a:solidFill>
                <a:latin typeface="Cambria Math"/>
              </a:rPr>
              <a:t>t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276684" y="1118584"/>
            <a:ext cx="5508711" cy="17057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6" b="0">
                <a:solidFill>
                  <a:srgbClr val="000000"/>
                </a:solidFill>
                <a:latin typeface="Cambria Math"/>
              </a:rPr>
              <a:t>C</a:t>
            </a:r>
            <a:r>
              <a:rPr sz="633" b="0">
                <a:solidFill>
                  <a:srgbClr val="000000"/>
                </a:solidFill>
                <a:latin typeface="Cambria Math"/>
              </a:rPr>
              <a:t>t</a:t>
            </a:r>
            <a:r>
              <a:rPr sz="633" b="0">
                <a:solidFill>
                  <a:srgbClr val="000000"/>
                </a:solidFill>
                <a:latin typeface="Cambria Math"/>
              </a:rPr>
              <a:t>−</a:t>
            </a:r>
            <a:r>
              <a:rPr sz="633" b="0">
                <a:solidFill>
                  <a:srgbClr val="000000"/>
                </a:solidFill>
                <a:latin typeface="Cambria Math"/>
              </a:rPr>
              <a:t>1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3112933" y="1122770"/>
            <a:ext cx="2672462" cy="17057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6" b="0">
                <a:solidFill>
                  <a:srgbClr val="000000"/>
                </a:solidFill>
                <a:latin typeface="Cambria Math"/>
              </a:rPr>
              <a:t>C</a:t>
            </a:r>
            <a:r>
              <a:rPr sz="633" b="0">
                <a:solidFill>
                  <a:srgbClr val="000000"/>
                </a:solidFill>
                <a:latin typeface="Cambria Math"/>
              </a:rPr>
              <a:t>t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696599" y="1904004"/>
            <a:ext cx="4088796" cy="17057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6" b="0">
                <a:solidFill>
                  <a:srgbClr val="000000"/>
                </a:solidFill>
                <a:latin typeface="Cambria Math"/>
              </a:rPr>
              <a:t>tanh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356896" y="1889478"/>
            <a:ext cx="4428499" cy="17057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6" b="0">
                <a:solidFill>
                  <a:srgbClr val="000000"/>
                </a:solidFill>
                <a:latin typeface="Cambria Math"/>
              </a:rPr>
              <a:t>σ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17183" y="1889478"/>
            <a:ext cx="4768212" cy="17057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6" b="0">
                <a:solidFill>
                  <a:srgbClr val="000000"/>
                </a:solidFill>
                <a:latin typeface="Cambria Math"/>
              </a:rPr>
              <a:t>σ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2189579" y="1889478"/>
            <a:ext cx="3595816" cy="17057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6" b="0">
                <a:solidFill>
                  <a:srgbClr val="000000"/>
                </a:solidFill>
                <a:latin typeface="Cambria Math"/>
              </a:rPr>
              <a:t>σ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2478549" y="1689046"/>
            <a:ext cx="3306846" cy="17057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6" b="0">
                <a:solidFill>
                  <a:srgbClr val="FFFFFF"/>
                </a:solidFill>
                <a:latin typeface="Cambria Math"/>
              </a:rPr>
              <a:t>×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2411293" y="1362562"/>
            <a:ext cx="3374102" cy="17057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6" b="0">
                <a:solidFill>
                  <a:srgbClr val="000000"/>
                </a:solidFill>
                <a:latin typeface="Cambria Math"/>
              </a:rPr>
              <a:t>tanh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763856" y="1553271"/>
            <a:ext cx="4021539" cy="17057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6" b="0">
                <a:solidFill>
                  <a:srgbClr val="FFFFFF"/>
                </a:solidFill>
                <a:latin typeface="Cambria Math"/>
              </a:rPr>
              <a:t>×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1763856" y="1120934"/>
            <a:ext cx="4021539" cy="17057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6" b="0">
                <a:solidFill>
                  <a:srgbClr val="FFFFFF"/>
                </a:solidFill>
                <a:latin typeface="Cambria Math"/>
              </a:rPr>
              <a:t>+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007801" y="1119508"/>
            <a:ext cx="4777594" cy="17057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6" b="0">
                <a:solidFill>
                  <a:srgbClr val="FFFFFF"/>
                </a:solidFill>
                <a:latin typeface="Cambria Math"/>
              </a:rPr>
              <a:t>×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837839" y="2342295"/>
            <a:ext cx="4947557" cy="17057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6" b="0">
                <a:solidFill>
                  <a:srgbClr val="FFFFFF"/>
                </a:solidFill>
                <a:latin typeface="MSAM10"/>
              </a:rPr>
              <a:t>⊞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3604093" y="1096529"/>
            <a:ext cx="21813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Forget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Gate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3604093" y="1268602"/>
            <a:ext cx="21813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Input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Gate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3604093" y="1440674"/>
            <a:ext cx="21813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Output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Gate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4898159" y="3150918"/>
            <a:ext cx="887236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5640207" y="3150694"/>
            <a:ext cx="145188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12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Freeform 35"/>
          <p:cNvSpPr/>
          <p:nvPr/>
        </p:nvSpPr>
        <p:spPr>
          <a:xfrm>
            <a:off x="647700" y="1028700"/>
            <a:ext cx="2311400" cy="1536700"/>
          </a:xfrm>
          <a:custGeom>
            <a:avLst/>
            <a:gdLst/>
            <a:ahLst/>
            <a:cxnLst/>
            <a:rect l="l" t="t" r="r" b="b"/>
            <a:pathLst>
              <a:path w="182" h="121">
                <a:moveTo>
                  <a:pt x="179" y="0"/>
                </a:moveTo>
                <a:lnTo>
                  <a:pt x="3" y="0"/>
                </a:lnTo>
                <a:lnTo>
                  <a:pt x="3" y="0"/>
                </a:lnTo>
                <a:lnTo>
                  <a:pt x="2" y="0"/>
                </a:lnTo>
                <a:lnTo>
                  <a:pt x="2" y="0"/>
                </a:lnTo>
                <a:lnTo>
                  <a:pt x="1" y="1"/>
                </a:lnTo>
                <a:lnTo>
                  <a:pt x="1" y="1"/>
                </a:lnTo>
                <a:lnTo>
                  <a:pt x="1" y="2"/>
                </a:lnTo>
                <a:lnTo>
                  <a:pt x="0" y="2"/>
                </a:lnTo>
                <a:lnTo>
                  <a:pt x="0" y="3"/>
                </a:lnTo>
                <a:lnTo>
                  <a:pt x="0" y="118"/>
                </a:lnTo>
                <a:lnTo>
                  <a:pt x="0" y="119"/>
                </a:lnTo>
                <a:lnTo>
                  <a:pt x="1" y="119"/>
                </a:lnTo>
                <a:lnTo>
                  <a:pt x="1" y="120"/>
                </a:lnTo>
                <a:lnTo>
                  <a:pt x="1" y="120"/>
                </a:lnTo>
                <a:lnTo>
                  <a:pt x="2" y="121"/>
                </a:lnTo>
                <a:lnTo>
                  <a:pt x="2" y="121"/>
                </a:lnTo>
                <a:lnTo>
                  <a:pt x="3" y="121"/>
                </a:lnTo>
                <a:lnTo>
                  <a:pt x="3" y="121"/>
                </a:lnTo>
                <a:lnTo>
                  <a:pt x="179" y="121"/>
                </a:lnTo>
                <a:lnTo>
                  <a:pt x="180" y="121"/>
                </a:lnTo>
                <a:lnTo>
                  <a:pt x="180" y="121"/>
                </a:lnTo>
                <a:lnTo>
                  <a:pt x="181" y="121"/>
                </a:lnTo>
                <a:lnTo>
                  <a:pt x="181" y="120"/>
                </a:lnTo>
                <a:lnTo>
                  <a:pt x="182" y="120"/>
                </a:lnTo>
                <a:lnTo>
                  <a:pt x="182" y="119"/>
                </a:lnTo>
                <a:lnTo>
                  <a:pt x="182" y="119"/>
                </a:lnTo>
                <a:lnTo>
                  <a:pt x="182" y="118"/>
                </a:lnTo>
                <a:lnTo>
                  <a:pt x="182" y="3"/>
                </a:lnTo>
                <a:lnTo>
                  <a:pt x="182" y="2"/>
                </a:lnTo>
                <a:lnTo>
                  <a:pt x="182" y="2"/>
                </a:lnTo>
                <a:lnTo>
                  <a:pt x="182" y="1"/>
                </a:lnTo>
                <a:lnTo>
                  <a:pt x="181" y="1"/>
                </a:lnTo>
                <a:lnTo>
                  <a:pt x="181" y="0"/>
                </a:lnTo>
                <a:lnTo>
                  <a:pt x="180" y="0"/>
                </a:lnTo>
                <a:lnTo>
                  <a:pt x="180" y="0"/>
                </a:lnTo>
                <a:lnTo>
                  <a:pt x="179" y="0"/>
                </a:lnTo>
                <a:close/>
              </a:path>
            </a:pathLst>
          </a:custGeom>
          <a:solidFill>
            <a:srgbClr val="93D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Freeform 36"/>
          <p:cNvSpPr/>
          <p:nvPr/>
        </p:nvSpPr>
        <p:spPr>
          <a:xfrm>
            <a:off x="1612900" y="1828800"/>
            <a:ext cx="381000" cy="241300"/>
          </a:xfrm>
          <a:custGeom>
            <a:avLst/>
            <a:gdLst/>
            <a:ahLst/>
            <a:cxnLst/>
            <a:rect l="l" t="t" r="r" b="b"/>
            <a:pathLst>
              <a:path w="30" h="19">
                <a:moveTo>
                  <a:pt x="27" y="0"/>
                </a:moveTo>
                <a:lnTo>
                  <a:pt x="3" y="0"/>
                </a:lnTo>
                <a:lnTo>
                  <a:pt x="3" y="0"/>
                </a:lnTo>
                <a:lnTo>
                  <a:pt x="2" y="0"/>
                </a:lnTo>
                <a:lnTo>
                  <a:pt x="1" y="1"/>
                </a:lnTo>
                <a:lnTo>
                  <a:pt x="1" y="1"/>
                </a:lnTo>
                <a:lnTo>
                  <a:pt x="1" y="2"/>
                </a:lnTo>
                <a:lnTo>
                  <a:pt x="0" y="2"/>
                </a:lnTo>
                <a:lnTo>
                  <a:pt x="0" y="3"/>
                </a:lnTo>
                <a:lnTo>
                  <a:pt x="0" y="3"/>
                </a:lnTo>
                <a:lnTo>
                  <a:pt x="0" y="16"/>
                </a:lnTo>
                <a:lnTo>
                  <a:pt x="0" y="17"/>
                </a:lnTo>
                <a:lnTo>
                  <a:pt x="0" y="17"/>
                </a:lnTo>
                <a:lnTo>
                  <a:pt x="1" y="18"/>
                </a:lnTo>
                <a:lnTo>
                  <a:pt x="1" y="18"/>
                </a:lnTo>
                <a:lnTo>
                  <a:pt x="1" y="19"/>
                </a:lnTo>
                <a:lnTo>
                  <a:pt x="2" y="19"/>
                </a:lnTo>
                <a:lnTo>
                  <a:pt x="3" y="19"/>
                </a:lnTo>
                <a:lnTo>
                  <a:pt x="3" y="19"/>
                </a:lnTo>
                <a:lnTo>
                  <a:pt x="27" y="19"/>
                </a:lnTo>
                <a:lnTo>
                  <a:pt x="28" y="19"/>
                </a:lnTo>
                <a:lnTo>
                  <a:pt x="28" y="19"/>
                </a:lnTo>
                <a:lnTo>
                  <a:pt x="29" y="19"/>
                </a:lnTo>
                <a:lnTo>
                  <a:pt x="29" y="18"/>
                </a:lnTo>
                <a:lnTo>
                  <a:pt x="30" y="18"/>
                </a:lnTo>
                <a:lnTo>
                  <a:pt x="30" y="17"/>
                </a:lnTo>
                <a:lnTo>
                  <a:pt x="30" y="17"/>
                </a:lnTo>
                <a:lnTo>
                  <a:pt x="30" y="16"/>
                </a:lnTo>
                <a:lnTo>
                  <a:pt x="30" y="3"/>
                </a:lnTo>
                <a:lnTo>
                  <a:pt x="30" y="3"/>
                </a:lnTo>
                <a:lnTo>
                  <a:pt x="30" y="2"/>
                </a:lnTo>
                <a:lnTo>
                  <a:pt x="30" y="2"/>
                </a:lnTo>
                <a:lnTo>
                  <a:pt x="29" y="1"/>
                </a:lnTo>
                <a:lnTo>
                  <a:pt x="29" y="1"/>
                </a:lnTo>
                <a:lnTo>
                  <a:pt x="28" y="0"/>
                </a:lnTo>
                <a:lnTo>
                  <a:pt x="28" y="0"/>
                </a:lnTo>
                <a:lnTo>
                  <a:pt x="27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Freeform 37"/>
          <p:cNvSpPr/>
          <p:nvPr/>
        </p:nvSpPr>
        <p:spPr>
          <a:xfrm>
            <a:off x="1270000" y="1841500"/>
            <a:ext cx="241300" cy="215900"/>
          </a:xfrm>
          <a:custGeom>
            <a:avLst/>
            <a:gdLst/>
            <a:ahLst/>
            <a:cxnLst/>
            <a:rect l="l" t="t" r="r" b="b"/>
            <a:pathLst>
              <a:path w="19" h="17">
                <a:moveTo>
                  <a:pt x="15" y="0"/>
                </a:moveTo>
                <a:lnTo>
                  <a:pt x="4" y="0"/>
                </a:lnTo>
                <a:lnTo>
                  <a:pt x="3" y="0"/>
                </a:lnTo>
                <a:lnTo>
                  <a:pt x="2" y="1"/>
                </a:lnTo>
                <a:lnTo>
                  <a:pt x="2" y="1"/>
                </a:lnTo>
                <a:lnTo>
                  <a:pt x="1" y="1"/>
                </a:lnTo>
                <a:lnTo>
                  <a:pt x="1" y="2"/>
                </a:lnTo>
                <a:lnTo>
                  <a:pt x="1" y="2"/>
                </a:lnTo>
                <a:lnTo>
                  <a:pt x="0" y="3"/>
                </a:lnTo>
                <a:lnTo>
                  <a:pt x="0" y="3"/>
                </a:lnTo>
                <a:lnTo>
                  <a:pt x="0" y="14"/>
                </a:lnTo>
                <a:lnTo>
                  <a:pt x="0" y="15"/>
                </a:lnTo>
                <a:lnTo>
                  <a:pt x="1" y="15"/>
                </a:lnTo>
                <a:lnTo>
                  <a:pt x="1" y="16"/>
                </a:lnTo>
                <a:lnTo>
                  <a:pt x="1" y="16"/>
                </a:lnTo>
                <a:lnTo>
                  <a:pt x="2" y="17"/>
                </a:lnTo>
                <a:lnTo>
                  <a:pt x="2" y="17"/>
                </a:lnTo>
                <a:lnTo>
                  <a:pt x="3" y="17"/>
                </a:lnTo>
                <a:lnTo>
                  <a:pt x="4" y="17"/>
                </a:lnTo>
                <a:lnTo>
                  <a:pt x="15" y="17"/>
                </a:lnTo>
                <a:lnTo>
                  <a:pt x="16" y="17"/>
                </a:lnTo>
                <a:lnTo>
                  <a:pt x="17" y="17"/>
                </a:lnTo>
                <a:lnTo>
                  <a:pt x="17" y="17"/>
                </a:lnTo>
                <a:lnTo>
                  <a:pt x="18" y="16"/>
                </a:lnTo>
                <a:lnTo>
                  <a:pt x="18" y="16"/>
                </a:lnTo>
                <a:lnTo>
                  <a:pt x="18" y="15"/>
                </a:lnTo>
                <a:lnTo>
                  <a:pt x="19" y="15"/>
                </a:lnTo>
                <a:lnTo>
                  <a:pt x="19" y="14"/>
                </a:lnTo>
                <a:lnTo>
                  <a:pt x="19" y="3"/>
                </a:lnTo>
                <a:lnTo>
                  <a:pt x="19" y="3"/>
                </a:lnTo>
                <a:lnTo>
                  <a:pt x="18" y="2"/>
                </a:lnTo>
                <a:lnTo>
                  <a:pt x="18" y="2"/>
                </a:lnTo>
                <a:lnTo>
                  <a:pt x="18" y="1"/>
                </a:lnTo>
                <a:lnTo>
                  <a:pt x="17" y="1"/>
                </a:lnTo>
                <a:lnTo>
                  <a:pt x="17" y="1"/>
                </a:lnTo>
                <a:lnTo>
                  <a:pt x="16" y="0"/>
                </a:lnTo>
                <a:lnTo>
                  <a:pt x="15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Freeform 38"/>
          <p:cNvSpPr/>
          <p:nvPr/>
        </p:nvSpPr>
        <p:spPr>
          <a:xfrm>
            <a:off x="939800" y="1841500"/>
            <a:ext cx="228600" cy="215900"/>
          </a:xfrm>
          <a:custGeom>
            <a:avLst/>
            <a:gdLst/>
            <a:ahLst/>
            <a:cxnLst/>
            <a:rect l="l" t="t" r="r" b="b"/>
            <a:pathLst>
              <a:path w="18" h="17">
                <a:moveTo>
                  <a:pt x="15" y="0"/>
                </a:moveTo>
                <a:lnTo>
                  <a:pt x="3" y="0"/>
                </a:lnTo>
                <a:lnTo>
                  <a:pt x="2" y="0"/>
                </a:lnTo>
                <a:lnTo>
                  <a:pt x="2" y="1"/>
                </a:lnTo>
                <a:lnTo>
                  <a:pt x="1" y="1"/>
                </a:lnTo>
                <a:lnTo>
                  <a:pt x="1" y="1"/>
                </a:lnTo>
                <a:lnTo>
                  <a:pt x="0" y="2"/>
                </a:lnTo>
                <a:lnTo>
                  <a:pt x="0" y="2"/>
                </a:lnTo>
                <a:lnTo>
                  <a:pt x="0" y="3"/>
                </a:lnTo>
                <a:lnTo>
                  <a:pt x="0" y="3"/>
                </a:lnTo>
                <a:lnTo>
                  <a:pt x="0" y="14"/>
                </a:lnTo>
                <a:lnTo>
                  <a:pt x="0" y="15"/>
                </a:lnTo>
                <a:lnTo>
                  <a:pt x="0" y="15"/>
                </a:lnTo>
                <a:lnTo>
                  <a:pt x="0" y="16"/>
                </a:lnTo>
                <a:lnTo>
                  <a:pt x="1" y="16"/>
                </a:lnTo>
                <a:lnTo>
                  <a:pt x="1" y="17"/>
                </a:lnTo>
                <a:lnTo>
                  <a:pt x="2" y="17"/>
                </a:lnTo>
                <a:lnTo>
                  <a:pt x="2" y="17"/>
                </a:lnTo>
                <a:lnTo>
                  <a:pt x="3" y="17"/>
                </a:lnTo>
                <a:lnTo>
                  <a:pt x="15" y="17"/>
                </a:lnTo>
                <a:lnTo>
                  <a:pt x="15" y="17"/>
                </a:lnTo>
                <a:lnTo>
                  <a:pt x="16" y="17"/>
                </a:lnTo>
                <a:lnTo>
                  <a:pt x="16" y="17"/>
                </a:lnTo>
                <a:lnTo>
                  <a:pt x="17" y="16"/>
                </a:lnTo>
                <a:lnTo>
                  <a:pt x="17" y="16"/>
                </a:lnTo>
                <a:lnTo>
                  <a:pt x="18" y="15"/>
                </a:lnTo>
                <a:lnTo>
                  <a:pt x="18" y="15"/>
                </a:lnTo>
                <a:lnTo>
                  <a:pt x="18" y="14"/>
                </a:lnTo>
                <a:lnTo>
                  <a:pt x="18" y="3"/>
                </a:lnTo>
                <a:lnTo>
                  <a:pt x="18" y="3"/>
                </a:lnTo>
                <a:lnTo>
                  <a:pt x="18" y="2"/>
                </a:lnTo>
                <a:lnTo>
                  <a:pt x="17" y="2"/>
                </a:lnTo>
                <a:lnTo>
                  <a:pt x="17" y="1"/>
                </a:lnTo>
                <a:lnTo>
                  <a:pt x="16" y="1"/>
                </a:lnTo>
                <a:lnTo>
                  <a:pt x="16" y="1"/>
                </a:lnTo>
                <a:lnTo>
                  <a:pt x="15" y="0"/>
                </a:lnTo>
                <a:lnTo>
                  <a:pt x="15" y="0"/>
                </a:lnTo>
                <a:close/>
              </a:path>
            </a:pathLst>
          </a:custGeom>
          <a:solidFill>
            <a:srgbClr val="F79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Freeform 39"/>
          <p:cNvSpPr/>
          <p:nvPr/>
        </p:nvSpPr>
        <p:spPr>
          <a:xfrm>
            <a:off x="2108200" y="1841500"/>
            <a:ext cx="228600" cy="215900"/>
          </a:xfrm>
          <a:custGeom>
            <a:avLst/>
            <a:gdLst/>
            <a:ahLst/>
            <a:cxnLst/>
            <a:rect l="l" t="t" r="r" b="b"/>
            <a:pathLst>
              <a:path w="18" h="17">
                <a:moveTo>
                  <a:pt x="15" y="0"/>
                </a:moveTo>
                <a:lnTo>
                  <a:pt x="3" y="0"/>
                </a:lnTo>
                <a:lnTo>
                  <a:pt x="2" y="0"/>
                </a:lnTo>
                <a:lnTo>
                  <a:pt x="2" y="1"/>
                </a:lnTo>
                <a:lnTo>
                  <a:pt x="1" y="1"/>
                </a:lnTo>
                <a:lnTo>
                  <a:pt x="1" y="1"/>
                </a:lnTo>
                <a:lnTo>
                  <a:pt x="0" y="2"/>
                </a:lnTo>
                <a:lnTo>
                  <a:pt x="0" y="2"/>
                </a:lnTo>
                <a:lnTo>
                  <a:pt x="0" y="3"/>
                </a:lnTo>
                <a:lnTo>
                  <a:pt x="0" y="3"/>
                </a:lnTo>
                <a:lnTo>
                  <a:pt x="0" y="14"/>
                </a:lnTo>
                <a:lnTo>
                  <a:pt x="0" y="15"/>
                </a:lnTo>
                <a:lnTo>
                  <a:pt x="0" y="15"/>
                </a:lnTo>
                <a:lnTo>
                  <a:pt x="0" y="16"/>
                </a:lnTo>
                <a:lnTo>
                  <a:pt x="1" y="16"/>
                </a:lnTo>
                <a:lnTo>
                  <a:pt x="1" y="17"/>
                </a:lnTo>
                <a:lnTo>
                  <a:pt x="2" y="17"/>
                </a:lnTo>
                <a:lnTo>
                  <a:pt x="2" y="17"/>
                </a:lnTo>
                <a:lnTo>
                  <a:pt x="3" y="17"/>
                </a:lnTo>
                <a:lnTo>
                  <a:pt x="15" y="17"/>
                </a:lnTo>
                <a:lnTo>
                  <a:pt x="16" y="17"/>
                </a:lnTo>
                <a:lnTo>
                  <a:pt x="16" y="17"/>
                </a:lnTo>
                <a:lnTo>
                  <a:pt x="17" y="17"/>
                </a:lnTo>
                <a:lnTo>
                  <a:pt x="17" y="16"/>
                </a:lnTo>
                <a:lnTo>
                  <a:pt x="18" y="16"/>
                </a:lnTo>
                <a:lnTo>
                  <a:pt x="18" y="15"/>
                </a:lnTo>
                <a:lnTo>
                  <a:pt x="18" y="15"/>
                </a:lnTo>
                <a:lnTo>
                  <a:pt x="18" y="14"/>
                </a:lnTo>
                <a:lnTo>
                  <a:pt x="18" y="3"/>
                </a:lnTo>
                <a:lnTo>
                  <a:pt x="18" y="3"/>
                </a:lnTo>
                <a:lnTo>
                  <a:pt x="18" y="2"/>
                </a:lnTo>
                <a:lnTo>
                  <a:pt x="18" y="2"/>
                </a:lnTo>
                <a:lnTo>
                  <a:pt x="17" y="1"/>
                </a:lnTo>
                <a:lnTo>
                  <a:pt x="17" y="1"/>
                </a:lnTo>
                <a:lnTo>
                  <a:pt x="16" y="1"/>
                </a:lnTo>
                <a:lnTo>
                  <a:pt x="16" y="0"/>
                </a:lnTo>
                <a:lnTo>
                  <a:pt x="15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Freeform 40"/>
          <p:cNvSpPr/>
          <p:nvPr/>
        </p:nvSpPr>
        <p:spPr>
          <a:xfrm>
            <a:off x="2413000" y="1638300"/>
            <a:ext cx="215900" cy="215900"/>
          </a:xfrm>
          <a:custGeom>
            <a:avLst/>
            <a:gdLst/>
            <a:ahLst/>
            <a:cxnLst/>
            <a:rect l="l" t="t" r="r" b="b"/>
            <a:pathLst>
              <a:path w="17" h="17">
                <a:moveTo>
                  <a:pt x="17" y="9"/>
                </a:moveTo>
                <a:lnTo>
                  <a:pt x="17" y="7"/>
                </a:lnTo>
                <a:lnTo>
                  <a:pt x="17" y="5"/>
                </a:lnTo>
                <a:lnTo>
                  <a:pt x="16" y="4"/>
                </a:lnTo>
                <a:lnTo>
                  <a:pt x="15" y="3"/>
                </a:lnTo>
                <a:lnTo>
                  <a:pt x="13" y="2"/>
                </a:lnTo>
                <a:lnTo>
                  <a:pt x="12" y="1"/>
                </a:lnTo>
                <a:lnTo>
                  <a:pt x="10" y="0"/>
                </a:lnTo>
                <a:lnTo>
                  <a:pt x="9" y="0"/>
                </a:lnTo>
                <a:lnTo>
                  <a:pt x="7" y="0"/>
                </a:lnTo>
                <a:lnTo>
                  <a:pt x="5" y="1"/>
                </a:lnTo>
                <a:lnTo>
                  <a:pt x="4" y="2"/>
                </a:lnTo>
                <a:lnTo>
                  <a:pt x="2" y="3"/>
                </a:lnTo>
                <a:lnTo>
                  <a:pt x="1" y="4"/>
                </a:lnTo>
                <a:lnTo>
                  <a:pt x="1" y="5"/>
                </a:lnTo>
                <a:lnTo>
                  <a:pt x="0" y="7"/>
                </a:lnTo>
                <a:lnTo>
                  <a:pt x="0" y="9"/>
                </a:lnTo>
                <a:lnTo>
                  <a:pt x="0" y="10"/>
                </a:lnTo>
                <a:lnTo>
                  <a:pt x="1" y="12"/>
                </a:lnTo>
                <a:lnTo>
                  <a:pt x="1" y="14"/>
                </a:lnTo>
                <a:lnTo>
                  <a:pt x="2" y="15"/>
                </a:lnTo>
                <a:lnTo>
                  <a:pt x="4" y="16"/>
                </a:lnTo>
                <a:lnTo>
                  <a:pt x="5" y="17"/>
                </a:lnTo>
                <a:lnTo>
                  <a:pt x="7" y="17"/>
                </a:lnTo>
                <a:lnTo>
                  <a:pt x="9" y="17"/>
                </a:lnTo>
                <a:lnTo>
                  <a:pt x="10" y="17"/>
                </a:lnTo>
                <a:lnTo>
                  <a:pt x="12" y="17"/>
                </a:lnTo>
                <a:lnTo>
                  <a:pt x="13" y="16"/>
                </a:lnTo>
                <a:lnTo>
                  <a:pt x="15" y="15"/>
                </a:lnTo>
                <a:lnTo>
                  <a:pt x="16" y="14"/>
                </a:lnTo>
                <a:lnTo>
                  <a:pt x="17" y="12"/>
                </a:lnTo>
                <a:lnTo>
                  <a:pt x="17" y="10"/>
                </a:lnTo>
                <a:lnTo>
                  <a:pt x="17" y="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Freeform 41"/>
          <p:cNvSpPr/>
          <p:nvPr/>
        </p:nvSpPr>
        <p:spPr>
          <a:xfrm>
            <a:off x="2324100" y="1295400"/>
            <a:ext cx="393700" cy="241300"/>
          </a:xfrm>
          <a:custGeom>
            <a:avLst/>
            <a:gdLst/>
            <a:ahLst/>
            <a:cxnLst/>
            <a:rect l="l" t="t" r="r" b="b"/>
            <a:pathLst>
              <a:path w="31" h="19">
                <a:moveTo>
                  <a:pt x="28" y="0"/>
                </a:moveTo>
                <a:lnTo>
                  <a:pt x="4" y="0"/>
                </a:lnTo>
                <a:lnTo>
                  <a:pt x="3" y="0"/>
                </a:lnTo>
                <a:lnTo>
                  <a:pt x="2" y="0"/>
                </a:lnTo>
                <a:lnTo>
                  <a:pt x="2" y="0"/>
                </a:lnTo>
                <a:lnTo>
                  <a:pt x="1" y="0"/>
                </a:lnTo>
                <a:lnTo>
                  <a:pt x="1" y="1"/>
                </a:lnTo>
                <a:lnTo>
                  <a:pt x="1" y="1"/>
                </a:lnTo>
                <a:lnTo>
                  <a:pt x="0" y="2"/>
                </a:lnTo>
                <a:lnTo>
                  <a:pt x="0" y="3"/>
                </a:lnTo>
                <a:lnTo>
                  <a:pt x="0" y="15"/>
                </a:lnTo>
                <a:lnTo>
                  <a:pt x="0" y="16"/>
                </a:lnTo>
                <a:lnTo>
                  <a:pt x="1" y="17"/>
                </a:lnTo>
                <a:lnTo>
                  <a:pt x="1" y="17"/>
                </a:lnTo>
                <a:lnTo>
                  <a:pt x="1" y="18"/>
                </a:lnTo>
                <a:lnTo>
                  <a:pt x="2" y="18"/>
                </a:lnTo>
                <a:lnTo>
                  <a:pt x="2" y="18"/>
                </a:lnTo>
                <a:lnTo>
                  <a:pt x="3" y="18"/>
                </a:lnTo>
                <a:lnTo>
                  <a:pt x="4" y="19"/>
                </a:lnTo>
                <a:lnTo>
                  <a:pt x="28" y="19"/>
                </a:lnTo>
                <a:lnTo>
                  <a:pt x="28" y="18"/>
                </a:lnTo>
                <a:lnTo>
                  <a:pt x="29" y="18"/>
                </a:lnTo>
                <a:lnTo>
                  <a:pt x="29" y="18"/>
                </a:lnTo>
                <a:lnTo>
                  <a:pt x="30" y="18"/>
                </a:lnTo>
                <a:lnTo>
                  <a:pt x="30" y="17"/>
                </a:lnTo>
                <a:lnTo>
                  <a:pt x="30" y="17"/>
                </a:lnTo>
                <a:lnTo>
                  <a:pt x="31" y="16"/>
                </a:lnTo>
                <a:lnTo>
                  <a:pt x="31" y="15"/>
                </a:lnTo>
                <a:lnTo>
                  <a:pt x="31" y="3"/>
                </a:lnTo>
                <a:lnTo>
                  <a:pt x="31" y="2"/>
                </a:lnTo>
                <a:lnTo>
                  <a:pt x="30" y="1"/>
                </a:lnTo>
                <a:lnTo>
                  <a:pt x="30" y="1"/>
                </a:lnTo>
                <a:lnTo>
                  <a:pt x="30" y="0"/>
                </a:lnTo>
                <a:lnTo>
                  <a:pt x="29" y="0"/>
                </a:lnTo>
                <a:lnTo>
                  <a:pt x="29" y="0"/>
                </a:lnTo>
                <a:lnTo>
                  <a:pt x="28" y="0"/>
                </a:lnTo>
                <a:lnTo>
                  <a:pt x="28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Freeform 42"/>
          <p:cNvSpPr/>
          <p:nvPr/>
        </p:nvSpPr>
        <p:spPr>
          <a:xfrm>
            <a:off x="1701800" y="1498600"/>
            <a:ext cx="215900" cy="228600"/>
          </a:xfrm>
          <a:custGeom>
            <a:avLst/>
            <a:gdLst/>
            <a:ahLst/>
            <a:cxnLst/>
            <a:rect l="l" t="t" r="r" b="b"/>
            <a:pathLst>
              <a:path w="17" h="18">
                <a:moveTo>
                  <a:pt x="17" y="9"/>
                </a:moveTo>
                <a:lnTo>
                  <a:pt x="17" y="7"/>
                </a:lnTo>
                <a:lnTo>
                  <a:pt x="16" y="6"/>
                </a:lnTo>
                <a:lnTo>
                  <a:pt x="15" y="4"/>
                </a:lnTo>
                <a:lnTo>
                  <a:pt x="14" y="3"/>
                </a:lnTo>
                <a:lnTo>
                  <a:pt x="13" y="2"/>
                </a:lnTo>
                <a:lnTo>
                  <a:pt x="12" y="1"/>
                </a:lnTo>
                <a:lnTo>
                  <a:pt x="10" y="1"/>
                </a:lnTo>
                <a:lnTo>
                  <a:pt x="8" y="0"/>
                </a:lnTo>
                <a:lnTo>
                  <a:pt x="7" y="1"/>
                </a:lnTo>
                <a:lnTo>
                  <a:pt x="5" y="1"/>
                </a:lnTo>
                <a:lnTo>
                  <a:pt x="3" y="2"/>
                </a:lnTo>
                <a:lnTo>
                  <a:pt x="2" y="3"/>
                </a:lnTo>
                <a:lnTo>
                  <a:pt x="1" y="4"/>
                </a:lnTo>
                <a:lnTo>
                  <a:pt x="0" y="6"/>
                </a:lnTo>
                <a:lnTo>
                  <a:pt x="0" y="7"/>
                </a:lnTo>
                <a:lnTo>
                  <a:pt x="0" y="9"/>
                </a:lnTo>
                <a:lnTo>
                  <a:pt x="0" y="11"/>
                </a:lnTo>
                <a:lnTo>
                  <a:pt x="0" y="12"/>
                </a:lnTo>
                <a:lnTo>
                  <a:pt x="1" y="14"/>
                </a:lnTo>
                <a:lnTo>
                  <a:pt x="2" y="15"/>
                </a:lnTo>
                <a:lnTo>
                  <a:pt x="3" y="16"/>
                </a:lnTo>
                <a:lnTo>
                  <a:pt x="5" y="17"/>
                </a:lnTo>
                <a:lnTo>
                  <a:pt x="7" y="18"/>
                </a:lnTo>
                <a:lnTo>
                  <a:pt x="8" y="18"/>
                </a:lnTo>
                <a:lnTo>
                  <a:pt x="10" y="18"/>
                </a:lnTo>
                <a:lnTo>
                  <a:pt x="12" y="17"/>
                </a:lnTo>
                <a:lnTo>
                  <a:pt x="13" y="16"/>
                </a:lnTo>
                <a:lnTo>
                  <a:pt x="14" y="15"/>
                </a:lnTo>
                <a:lnTo>
                  <a:pt x="15" y="14"/>
                </a:lnTo>
                <a:lnTo>
                  <a:pt x="16" y="12"/>
                </a:lnTo>
                <a:lnTo>
                  <a:pt x="17" y="11"/>
                </a:lnTo>
                <a:lnTo>
                  <a:pt x="17" y="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Freeform 43"/>
          <p:cNvSpPr/>
          <p:nvPr/>
        </p:nvSpPr>
        <p:spPr>
          <a:xfrm>
            <a:off x="1701800" y="1066800"/>
            <a:ext cx="215900" cy="228600"/>
          </a:xfrm>
          <a:custGeom>
            <a:avLst/>
            <a:gdLst/>
            <a:ahLst/>
            <a:cxnLst/>
            <a:rect l="l" t="t" r="r" b="b"/>
            <a:pathLst>
              <a:path w="17" h="18">
                <a:moveTo>
                  <a:pt x="17" y="9"/>
                </a:moveTo>
                <a:lnTo>
                  <a:pt x="17" y="7"/>
                </a:lnTo>
                <a:lnTo>
                  <a:pt x="16" y="5"/>
                </a:lnTo>
                <a:lnTo>
                  <a:pt x="15" y="4"/>
                </a:lnTo>
                <a:lnTo>
                  <a:pt x="14" y="3"/>
                </a:lnTo>
                <a:lnTo>
                  <a:pt x="13" y="2"/>
                </a:lnTo>
                <a:lnTo>
                  <a:pt x="12" y="1"/>
                </a:lnTo>
                <a:lnTo>
                  <a:pt x="10" y="0"/>
                </a:lnTo>
                <a:lnTo>
                  <a:pt x="8" y="0"/>
                </a:lnTo>
                <a:lnTo>
                  <a:pt x="7" y="0"/>
                </a:lnTo>
                <a:lnTo>
                  <a:pt x="5" y="1"/>
                </a:lnTo>
                <a:lnTo>
                  <a:pt x="3" y="2"/>
                </a:lnTo>
                <a:lnTo>
                  <a:pt x="2" y="3"/>
                </a:lnTo>
                <a:lnTo>
                  <a:pt x="1" y="4"/>
                </a:lnTo>
                <a:lnTo>
                  <a:pt x="0" y="5"/>
                </a:lnTo>
                <a:lnTo>
                  <a:pt x="0" y="7"/>
                </a:lnTo>
                <a:lnTo>
                  <a:pt x="0" y="9"/>
                </a:lnTo>
                <a:lnTo>
                  <a:pt x="0" y="11"/>
                </a:lnTo>
                <a:lnTo>
                  <a:pt x="0" y="12"/>
                </a:lnTo>
                <a:lnTo>
                  <a:pt x="1" y="14"/>
                </a:lnTo>
                <a:lnTo>
                  <a:pt x="2" y="15"/>
                </a:lnTo>
                <a:lnTo>
                  <a:pt x="3" y="16"/>
                </a:lnTo>
                <a:lnTo>
                  <a:pt x="5" y="17"/>
                </a:lnTo>
                <a:lnTo>
                  <a:pt x="7" y="17"/>
                </a:lnTo>
                <a:lnTo>
                  <a:pt x="8" y="18"/>
                </a:lnTo>
                <a:lnTo>
                  <a:pt x="10" y="17"/>
                </a:lnTo>
                <a:lnTo>
                  <a:pt x="12" y="17"/>
                </a:lnTo>
                <a:lnTo>
                  <a:pt x="13" y="16"/>
                </a:lnTo>
                <a:lnTo>
                  <a:pt x="14" y="15"/>
                </a:lnTo>
                <a:lnTo>
                  <a:pt x="15" y="14"/>
                </a:lnTo>
                <a:lnTo>
                  <a:pt x="16" y="12"/>
                </a:lnTo>
                <a:lnTo>
                  <a:pt x="17" y="11"/>
                </a:lnTo>
                <a:lnTo>
                  <a:pt x="17" y="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Freeform 44"/>
          <p:cNvSpPr/>
          <p:nvPr/>
        </p:nvSpPr>
        <p:spPr>
          <a:xfrm>
            <a:off x="939800" y="1066800"/>
            <a:ext cx="215900" cy="228600"/>
          </a:xfrm>
          <a:custGeom>
            <a:avLst/>
            <a:gdLst/>
            <a:ahLst/>
            <a:cxnLst/>
            <a:rect l="l" t="t" r="r" b="b"/>
            <a:pathLst>
              <a:path w="17" h="18">
                <a:moveTo>
                  <a:pt x="17" y="9"/>
                </a:moveTo>
                <a:lnTo>
                  <a:pt x="17" y="7"/>
                </a:lnTo>
                <a:lnTo>
                  <a:pt x="17" y="5"/>
                </a:lnTo>
                <a:lnTo>
                  <a:pt x="16" y="4"/>
                </a:lnTo>
                <a:lnTo>
                  <a:pt x="15" y="3"/>
                </a:lnTo>
                <a:lnTo>
                  <a:pt x="14" y="2"/>
                </a:lnTo>
                <a:lnTo>
                  <a:pt x="12" y="1"/>
                </a:lnTo>
                <a:lnTo>
                  <a:pt x="10" y="0"/>
                </a:lnTo>
                <a:lnTo>
                  <a:pt x="9" y="0"/>
                </a:lnTo>
                <a:lnTo>
                  <a:pt x="7" y="0"/>
                </a:lnTo>
                <a:lnTo>
                  <a:pt x="5" y="1"/>
                </a:lnTo>
                <a:lnTo>
                  <a:pt x="4" y="2"/>
                </a:lnTo>
                <a:lnTo>
                  <a:pt x="3" y="3"/>
                </a:lnTo>
                <a:lnTo>
                  <a:pt x="2" y="4"/>
                </a:lnTo>
                <a:lnTo>
                  <a:pt x="1" y="5"/>
                </a:lnTo>
                <a:lnTo>
                  <a:pt x="0" y="7"/>
                </a:lnTo>
                <a:lnTo>
                  <a:pt x="0" y="9"/>
                </a:lnTo>
                <a:lnTo>
                  <a:pt x="0" y="11"/>
                </a:lnTo>
                <a:lnTo>
                  <a:pt x="1" y="12"/>
                </a:lnTo>
                <a:lnTo>
                  <a:pt x="2" y="14"/>
                </a:lnTo>
                <a:lnTo>
                  <a:pt x="3" y="15"/>
                </a:lnTo>
                <a:lnTo>
                  <a:pt x="4" y="16"/>
                </a:lnTo>
                <a:lnTo>
                  <a:pt x="5" y="17"/>
                </a:lnTo>
                <a:lnTo>
                  <a:pt x="7" y="17"/>
                </a:lnTo>
                <a:lnTo>
                  <a:pt x="9" y="18"/>
                </a:lnTo>
                <a:lnTo>
                  <a:pt x="10" y="17"/>
                </a:lnTo>
                <a:lnTo>
                  <a:pt x="12" y="17"/>
                </a:lnTo>
                <a:lnTo>
                  <a:pt x="14" y="16"/>
                </a:lnTo>
                <a:lnTo>
                  <a:pt x="15" y="15"/>
                </a:lnTo>
                <a:lnTo>
                  <a:pt x="16" y="14"/>
                </a:lnTo>
                <a:lnTo>
                  <a:pt x="17" y="12"/>
                </a:lnTo>
                <a:lnTo>
                  <a:pt x="17" y="11"/>
                </a:lnTo>
                <a:lnTo>
                  <a:pt x="17" y="9"/>
                </a:lnTo>
                <a:close/>
              </a:path>
            </a:pathLst>
          </a:cu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Freeform 45"/>
          <p:cNvSpPr/>
          <p:nvPr/>
        </p:nvSpPr>
        <p:spPr>
          <a:xfrm>
            <a:off x="774700" y="2311400"/>
            <a:ext cx="215900" cy="215900"/>
          </a:xfrm>
          <a:custGeom>
            <a:avLst/>
            <a:gdLst/>
            <a:ahLst/>
            <a:cxnLst/>
            <a:rect l="l" t="t" r="r" b="b"/>
            <a:pathLst>
              <a:path w="17" h="17">
                <a:moveTo>
                  <a:pt x="17" y="8"/>
                </a:moveTo>
                <a:lnTo>
                  <a:pt x="17" y="6"/>
                </a:lnTo>
                <a:lnTo>
                  <a:pt x="16" y="5"/>
                </a:lnTo>
                <a:lnTo>
                  <a:pt x="16" y="3"/>
                </a:lnTo>
                <a:lnTo>
                  <a:pt x="14" y="2"/>
                </a:lnTo>
                <a:lnTo>
                  <a:pt x="13" y="1"/>
                </a:lnTo>
                <a:lnTo>
                  <a:pt x="12" y="0"/>
                </a:lnTo>
                <a:lnTo>
                  <a:pt x="10" y="0"/>
                </a:lnTo>
                <a:lnTo>
                  <a:pt x="8" y="0"/>
                </a:lnTo>
                <a:lnTo>
                  <a:pt x="7" y="0"/>
                </a:lnTo>
                <a:lnTo>
                  <a:pt x="5" y="0"/>
                </a:lnTo>
                <a:lnTo>
                  <a:pt x="3" y="1"/>
                </a:lnTo>
                <a:lnTo>
                  <a:pt x="2" y="2"/>
                </a:lnTo>
                <a:lnTo>
                  <a:pt x="1" y="3"/>
                </a:lnTo>
                <a:lnTo>
                  <a:pt x="0" y="5"/>
                </a:lnTo>
                <a:lnTo>
                  <a:pt x="0" y="6"/>
                </a:lnTo>
                <a:lnTo>
                  <a:pt x="0" y="8"/>
                </a:lnTo>
                <a:lnTo>
                  <a:pt x="0" y="10"/>
                </a:lnTo>
                <a:lnTo>
                  <a:pt x="0" y="12"/>
                </a:lnTo>
                <a:lnTo>
                  <a:pt x="1" y="13"/>
                </a:lnTo>
                <a:lnTo>
                  <a:pt x="2" y="14"/>
                </a:lnTo>
                <a:lnTo>
                  <a:pt x="3" y="15"/>
                </a:lnTo>
                <a:lnTo>
                  <a:pt x="5" y="16"/>
                </a:lnTo>
                <a:lnTo>
                  <a:pt x="7" y="17"/>
                </a:lnTo>
                <a:lnTo>
                  <a:pt x="8" y="17"/>
                </a:lnTo>
                <a:lnTo>
                  <a:pt x="10" y="17"/>
                </a:lnTo>
                <a:lnTo>
                  <a:pt x="12" y="16"/>
                </a:lnTo>
                <a:lnTo>
                  <a:pt x="13" y="15"/>
                </a:lnTo>
                <a:lnTo>
                  <a:pt x="14" y="14"/>
                </a:lnTo>
                <a:lnTo>
                  <a:pt x="16" y="13"/>
                </a:lnTo>
                <a:lnTo>
                  <a:pt x="16" y="12"/>
                </a:lnTo>
                <a:lnTo>
                  <a:pt x="17" y="10"/>
                </a:lnTo>
                <a:lnTo>
                  <a:pt x="17" y="8"/>
                </a:lnTo>
                <a:close/>
              </a:path>
            </a:pathLst>
          </a:cu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7" name="Connector 46"/>
          <p:cNvCxnSpPr/>
          <p:nvPr/>
        </p:nvCxnSpPr>
        <p:spPr>
          <a:xfrm flipV="1">
            <a:off x="2848444" y="941015"/>
            <a:ext cx="0" cy="1474188"/>
          </a:xfrm>
          <a:prstGeom prst="line">
            <a:avLst/>
          </a:prstGeom>
          <a:ln w="80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Freeform 47"/>
          <p:cNvSpPr/>
          <p:nvPr/>
        </p:nvSpPr>
        <p:spPr>
          <a:xfrm>
            <a:off x="2832100" y="9144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0"/>
                </a:moveTo>
                <a:lnTo>
                  <a:pt x="0" y="3"/>
                </a:lnTo>
                <a:lnTo>
                  <a:pt x="1" y="2"/>
                </a:lnTo>
                <a:lnTo>
                  <a:pt x="3" y="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9" name="Connector 48"/>
          <p:cNvCxnSpPr/>
          <p:nvPr/>
        </p:nvCxnSpPr>
        <p:spPr>
          <a:xfrm>
            <a:off x="539039" y="2415203"/>
            <a:ext cx="220520" cy="0"/>
          </a:xfrm>
          <a:prstGeom prst="line">
            <a:avLst/>
          </a:prstGeom>
          <a:ln w="80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880617" y="2536261"/>
            <a:ext cx="0" cy="143478"/>
          </a:xfrm>
          <a:prstGeom prst="line">
            <a:avLst/>
          </a:prstGeom>
          <a:ln w="80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1001675" y="2415203"/>
            <a:ext cx="48912" cy="0"/>
          </a:xfrm>
          <a:prstGeom prst="line">
            <a:avLst/>
          </a:prstGeom>
          <a:ln w="80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1050587" y="2415203"/>
            <a:ext cx="339713" cy="0"/>
          </a:xfrm>
          <a:prstGeom prst="line">
            <a:avLst/>
          </a:prstGeom>
          <a:ln w="80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1390300" y="2415203"/>
            <a:ext cx="416349" cy="0"/>
          </a:xfrm>
          <a:prstGeom prst="line">
            <a:avLst/>
          </a:prstGeom>
          <a:ln w="80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1806649" y="2415203"/>
            <a:ext cx="416349" cy="0"/>
          </a:xfrm>
          <a:prstGeom prst="line">
            <a:avLst/>
          </a:prstGeom>
          <a:ln w="80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1050587" y="2095163"/>
            <a:ext cx="0" cy="320040"/>
          </a:xfrm>
          <a:prstGeom prst="line">
            <a:avLst/>
          </a:prstGeom>
          <a:ln w="80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Freeform 55"/>
          <p:cNvSpPr/>
          <p:nvPr/>
        </p:nvSpPr>
        <p:spPr>
          <a:xfrm>
            <a:off x="1028700" y="20701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2" y="0"/>
                </a:moveTo>
                <a:lnTo>
                  <a:pt x="0" y="3"/>
                </a:lnTo>
                <a:lnTo>
                  <a:pt x="2" y="2"/>
                </a:lnTo>
                <a:lnTo>
                  <a:pt x="3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" name="Connector 56"/>
          <p:cNvCxnSpPr/>
          <p:nvPr/>
        </p:nvCxnSpPr>
        <p:spPr>
          <a:xfrm flipV="1">
            <a:off x="1390300" y="2095163"/>
            <a:ext cx="0" cy="320040"/>
          </a:xfrm>
          <a:prstGeom prst="line">
            <a:avLst/>
          </a:prstGeom>
          <a:ln w="80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Freeform 57"/>
          <p:cNvSpPr/>
          <p:nvPr/>
        </p:nvSpPr>
        <p:spPr>
          <a:xfrm>
            <a:off x="1371600" y="20701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0"/>
                </a:moveTo>
                <a:lnTo>
                  <a:pt x="0" y="3"/>
                </a:lnTo>
                <a:lnTo>
                  <a:pt x="1" y="2"/>
                </a:lnTo>
                <a:lnTo>
                  <a:pt x="3" y="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9" name="Connector 58"/>
          <p:cNvCxnSpPr/>
          <p:nvPr/>
        </p:nvCxnSpPr>
        <p:spPr>
          <a:xfrm flipV="1">
            <a:off x="1806649" y="2109684"/>
            <a:ext cx="0" cy="305519"/>
          </a:xfrm>
          <a:prstGeom prst="line">
            <a:avLst/>
          </a:prstGeom>
          <a:ln w="80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Freeform 59"/>
          <p:cNvSpPr/>
          <p:nvPr/>
        </p:nvSpPr>
        <p:spPr>
          <a:xfrm>
            <a:off x="1790700" y="20828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0"/>
                </a:moveTo>
                <a:lnTo>
                  <a:pt x="0" y="3"/>
                </a:lnTo>
                <a:lnTo>
                  <a:pt x="1" y="2"/>
                </a:lnTo>
                <a:lnTo>
                  <a:pt x="3" y="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1" name="Connector 60"/>
          <p:cNvCxnSpPr/>
          <p:nvPr/>
        </p:nvCxnSpPr>
        <p:spPr>
          <a:xfrm flipV="1">
            <a:off x="2222998" y="2095163"/>
            <a:ext cx="0" cy="320040"/>
          </a:xfrm>
          <a:prstGeom prst="line">
            <a:avLst/>
          </a:prstGeom>
          <a:ln w="80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Freeform 61"/>
          <p:cNvSpPr/>
          <p:nvPr/>
        </p:nvSpPr>
        <p:spPr>
          <a:xfrm>
            <a:off x="2197100" y="20701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2" y="0"/>
                </a:moveTo>
                <a:lnTo>
                  <a:pt x="0" y="3"/>
                </a:lnTo>
                <a:lnTo>
                  <a:pt x="2" y="2"/>
                </a:lnTo>
                <a:lnTo>
                  <a:pt x="4" y="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3" name="Connector 62"/>
          <p:cNvCxnSpPr/>
          <p:nvPr/>
        </p:nvCxnSpPr>
        <p:spPr>
          <a:xfrm flipV="1">
            <a:off x="1050587" y="1326610"/>
            <a:ext cx="0" cy="507950"/>
          </a:xfrm>
          <a:prstGeom prst="line">
            <a:avLst/>
          </a:prstGeom>
          <a:ln w="80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Freeform 63"/>
          <p:cNvSpPr/>
          <p:nvPr/>
        </p:nvSpPr>
        <p:spPr>
          <a:xfrm>
            <a:off x="1028700" y="12954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2" y="0"/>
                </a:moveTo>
                <a:lnTo>
                  <a:pt x="0" y="4"/>
                </a:lnTo>
                <a:lnTo>
                  <a:pt x="2" y="2"/>
                </a:lnTo>
                <a:lnTo>
                  <a:pt x="3" y="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" name="Connector 64"/>
          <p:cNvCxnSpPr/>
          <p:nvPr/>
        </p:nvCxnSpPr>
        <p:spPr>
          <a:xfrm flipV="1">
            <a:off x="1390300" y="1613191"/>
            <a:ext cx="0" cy="221369"/>
          </a:xfrm>
          <a:prstGeom prst="line">
            <a:avLst/>
          </a:prstGeom>
          <a:ln w="80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1390300" y="1613191"/>
            <a:ext cx="269160" cy="0"/>
          </a:xfrm>
          <a:prstGeom prst="line">
            <a:avLst/>
          </a:prstGeom>
          <a:ln w="80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Freeform 66"/>
          <p:cNvSpPr/>
          <p:nvPr/>
        </p:nvSpPr>
        <p:spPr>
          <a:xfrm>
            <a:off x="1638300" y="15875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4" y="2"/>
                </a:moveTo>
                <a:lnTo>
                  <a:pt x="0" y="0"/>
                </a:lnTo>
                <a:lnTo>
                  <a:pt x="2" y="2"/>
                </a:lnTo>
                <a:lnTo>
                  <a:pt x="0" y="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8" name="Connector 67"/>
          <p:cNvCxnSpPr/>
          <p:nvPr/>
        </p:nvCxnSpPr>
        <p:spPr>
          <a:xfrm flipV="1">
            <a:off x="1806649" y="1760380"/>
            <a:ext cx="0" cy="59659"/>
          </a:xfrm>
          <a:prstGeom prst="line">
            <a:avLst/>
          </a:prstGeom>
          <a:ln w="80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Freeform 68"/>
          <p:cNvSpPr/>
          <p:nvPr/>
        </p:nvSpPr>
        <p:spPr>
          <a:xfrm>
            <a:off x="1790700" y="17399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0"/>
                </a:moveTo>
                <a:lnTo>
                  <a:pt x="0" y="3"/>
                </a:lnTo>
                <a:lnTo>
                  <a:pt x="1" y="2"/>
                </a:lnTo>
                <a:lnTo>
                  <a:pt x="3" y="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0" name="Connector 69"/>
          <p:cNvCxnSpPr/>
          <p:nvPr/>
        </p:nvCxnSpPr>
        <p:spPr>
          <a:xfrm flipV="1">
            <a:off x="2222998" y="1748959"/>
            <a:ext cx="0" cy="85601"/>
          </a:xfrm>
          <a:prstGeom prst="line">
            <a:avLst/>
          </a:prstGeom>
          <a:ln w="80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2222998" y="1748959"/>
            <a:ext cx="151163" cy="0"/>
          </a:xfrm>
          <a:prstGeom prst="line">
            <a:avLst/>
          </a:prstGeom>
          <a:ln w="80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Freeform 71"/>
          <p:cNvSpPr/>
          <p:nvPr/>
        </p:nvSpPr>
        <p:spPr>
          <a:xfrm>
            <a:off x="2362200" y="17272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2"/>
                </a:moveTo>
                <a:lnTo>
                  <a:pt x="0" y="0"/>
                </a:lnTo>
                <a:lnTo>
                  <a:pt x="1" y="2"/>
                </a:lnTo>
                <a:lnTo>
                  <a:pt x="0" y="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3" name="Connector 72"/>
          <p:cNvCxnSpPr/>
          <p:nvPr/>
        </p:nvCxnSpPr>
        <p:spPr>
          <a:xfrm>
            <a:off x="2521350" y="1870017"/>
            <a:ext cx="0" cy="545186"/>
          </a:xfrm>
          <a:prstGeom prst="line">
            <a:avLst/>
          </a:prstGeom>
          <a:ln w="80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2521350" y="2415203"/>
            <a:ext cx="526779" cy="0"/>
          </a:xfrm>
          <a:prstGeom prst="line">
            <a:avLst/>
          </a:prstGeom>
          <a:ln w="80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Freeform 74"/>
          <p:cNvSpPr/>
          <p:nvPr/>
        </p:nvSpPr>
        <p:spPr>
          <a:xfrm>
            <a:off x="3035300" y="24003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1"/>
                </a:moveTo>
                <a:lnTo>
                  <a:pt x="0" y="0"/>
                </a:lnTo>
                <a:lnTo>
                  <a:pt x="1" y="1"/>
                </a:lnTo>
                <a:lnTo>
                  <a:pt x="0" y="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6" name="Connector 75"/>
          <p:cNvCxnSpPr/>
          <p:nvPr/>
        </p:nvCxnSpPr>
        <p:spPr>
          <a:xfrm>
            <a:off x="539039" y="1179421"/>
            <a:ext cx="364359" cy="0"/>
          </a:xfrm>
          <a:prstGeom prst="line">
            <a:avLst/>
          </a:prstGeom>
          <a:ln w="80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Freeform 76"/>
          <p:cNvSpPr/>
          <p:nvPr/>
        </p:nvSpPr>
        <p:spPr>
          <a:xfrm>
            <a:off x="889000" y="11557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3" y="2"/>
                </a:moveTo>
                <a:lnTo>
                  <a:pt x="0" y="0"/>
                </a:lnTo>
                <a:lnTo>
                  <a:pt x="1" y="2"/>
                </a:lnTo>
                <a:lnTo>
                  <a:pt x="0" y="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8" name="Connector 77"/>
          <p:cNvCxnSpPr/>
          <p:nvPr/>
        </p:nvCxnSpPr>
        <p:spPr>
          <a:xfrm>
            <a:off x="1171645" y="1179421"/>
            <a:ext cx="487815" cy="0"/>
          </a:xfrm>
          <a:prstGeom prst="line">
            <a:avLst/>
          </a:prstGeom>
          <a:ln w="80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Freeform 78"/>
          <p:cNvSpPr/>
          <p:nvPr/>
        </p:nvSpPr>
        <p:spPr>
          <a:xfrm>
            <a:off x="1638300" y="11557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4" y="2"/>
                </a:moveTo>
                <a:lnTo>
                  <a:pt x="0" y="0"/>
                </a:lnTo>
                <a:lnTo>
                  <a:pt x="2" y="2"/>
                </a:lnTo>
                <a:lnTo>
                  <a:pt x="0" y="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0" name="Connector 79"/>
          <p:cNvCxnSpPr/>
          <p:nvPr/>
        </p:nvCxnSpPr>
        <p:spPr>
          <a:xfrm>
            <a:off x="1927707" y="1179421"/>
            <a:ext cx="1036500" cy="0"/>
          </a:xfrm>
          <a:prstGeom prst="line">
            <a:avLst/>
          </a:prstGeom>
          <a:ln w="30151">
            <a:solidFill>
              <a:srgbClr val="93D4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1927707" y="1179421"/>
            <a:ext cx="1120422" cy="0"/>
          </a:xfrm>
          <a:prstGeom prst="line">
            <a:avLst/>
          </a:prstGeom>
          <a:ln w="80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Freeform 81"/>
          <p:cNvSpPr/>
          <p:nvPr/>
        </p:nvSpPr>
        <p:spPr>
          <a:xfrm>
            <a:off x="3035300" y="11557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3" y="2"/>
                </a:moveTo>
                <a:lnTo>
                  <a:pt x="0" y="0"/>
                </a:lnTo>
                <a:lnTo>
                  <a:pt x="1" y="2"/>
                </a:lnTo>
                <a:lnTo>
                  <a:pt x="0" y="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3" name="Connector 82"/>
          <p:cNvCxnSpPr/>
          <p:nvPr/>
        </p:nvCxnSpPr>
        <p:spPr>
          <a:xfrm flipV="1">
            <a:off x="1806649" y="1326610"/>
            <a:ext cx="0" cy="165523"/>
          </a:xfrm>
          <a:prstGeom prst="line">
            <a:avLst/>
          </a:prstGeom>
          <a:ln w="80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Freeform 83"/>
          <p:cNvSpPr/>
          <p:nvPr/>
        </p:nvSpPr>
        <p:spPr>
          <a:xfrm>
            <a:off x="1790700" y="12954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1" y="0"/>
                </a:moveTo>
                <a:lnTo>
                  <a:pt x="0" y="4"/>
                </a:lnTo>
                <a:lnTo>
                  <a:pt x="1" y="2"/>
                </a:lnTo>
                <a:lnTo>
                  <a:pt x="3" y="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5" name="Connector 84"/>
          <p:cNvCxnSpPr/>
          <p:nvPr/>
        </p:nvCxnSpPr>
        <p:spPr>
          <a:xfrm>
            <a:off x="2521350" y="1179421"/>
            <a:ext cx="0" cy="73044"/>
          </a:xfrm>
          <a:prstGeom prst="line">
            <a:avLst/>
          </a:prstGeom>
          <a:ln w="80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Freeform 85"/>
          <p:cNvSpPr/>
          <p:nvPr/>
        </p:nvSpPr>
        <p:spPr>
          <a:xfrm>
            <a:off x="2501900" y="12319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2" y="4"/>
                </a:moveTo>
                <a:lnTo>
                  <a:pt x="3" y="0"/>
                </a:lnTo>
                <a:lnTo>
                  <a:pt x="2" y="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7" name="Connector 86"/>
          <p:cNvCxnSpPr/>
          <p:nvPr/>
        </p:nvCxnSpPr>
        <p:spPr>
          <a:xfrm>
            <a:off x="2521350" y="1542111"/>
            <a:ext cx="0" cy="59659"/>
          </a:xfrm>
          <a:prstGeom prst="line">
            <a:avLst/>
          </a:prstGeom>
          <a:ln w="80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Freeform 87"/>
          <p:cNvSpPr/>
          <p:nvPr/>
        </p:nvSpPr>
        <p:spPr>
          <a:xfrm>
            <a:off x="2501900" y="15875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2" y="3"/>
                </a:moveTo>
                <a:lnTo>
                  <a:pt x="3" y="0"/>
                </a:ln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-2" y="3146742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2880002" y="3146742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1" name="Picture 9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92" name="Picture 9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93" name="TextBox 92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Long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Short-Term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Memory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(LSTM)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08000" y="359888"/>
            <a:ext cx="5677395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1">
                <a:solidFill>
                  <a:srgbClr val="003373"/>
                </a:solidFill>
                <a:latin typeface="Josefin Sans"/>
              </a:rPr>
              <a:t>Architecture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291927" y="2354958"/>
            <a:ext cx="5493468" cy="17057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6" b="0">
                <a:solidFill>
                  <a:srgbClr val="000000"/>
                </a:solidFill>
                <a:latin typeface="Cambria Math"/>
              </a:rPr>
              <a:t>h</a:t>
            </a:r>
            <a:r>
              <a:rPr sz="633" b="0">
                <a:solidFill>
                  <a:srgbClr val="000000"/>
                </a:solidFill>
                <a:latin typeface="Cambria Math"/>
              </a:rPr>
              <a:t>t</a:t>
            </a:r>
            <a:r>
              <a:rPr sz="633" b="0">
                <a:solidFill>
                  <a:srgbClr val="000000"/>
                </a:solidFill>
                <a:latin typeface="Cambria Math"/>
              </a:rPr>
              <a:t>−</a:t>
            </a:r>
            <a:r>
              <a:rPr sz="633" b="0">
                <a:solidFill>
                  <a:srgbClr val="000000"/>
                </a:solidFill>
                <a:latin typeface="Cambria Math"/>
              </a:rPr>
              <a:t>1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31241" y="2679801"/>
            <a:ext cx="4954154" cy="17057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6" b="0">
                <a:solidFill>
                  <a:srgbClr val="000000"/>
                </a:solidFill>
                <a:latin typeface="Cambria Math"/>
              </a:rPr>
              <a:t>x</a:t>
            </a:r>
            <a:r>
              <a:rPr sz="633" b="0">
                <a:solidFill>
                  <a:srgbClr val="000000"/>
                </a:solidFill>
                <a:latin typeface="Cambria Math"/>
              </a:rPr>
              <a:t>t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3112933" y="2359154"/>
            <a:ext cx="2672462" cy="17057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6" b="0">
                <a:solidFill>
                  <a:srgbClr val="FFFFFF"/>
                </a:solidFill>
                <a:latin typeface="Cambria Math"/>
              </a:rPr>
              <a:t>h</a:t>
            </a:r>
            <a:r>
              <a:rPr sz="633" b="0">
                <a:solidFill>
                  <a:srgbClr val="FFFFFF"/>
                </a:solidFill>
                <a:latin typeface="Cambria Math"/>
              </a:rPr>
              <a:t>t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2798793" y="773695"/>
            <a:ext cx="2986602" cy="17057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6" b="0">
                <a:solidFill>
                  <a:srgbClr val="FFFFFF"/>
                </a:solidFill>
                <a:latin typeface="Cambria Math"/>
              </a:rPr>
              <a:t>h</a:t>
            </a:r>
            <a:r>
              <a:rPr sz="633" b="0">
                <a:solidFill>
                  <a:srgbClr val="FFFFFF"/>
                </a:solidFill>
                <a:latin typeface="Cambria Math"/>
              </a:rPr>
              <a:t>t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276684" y="1118584"/>
            <a:ext cx="5508711" cy="17057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6" b="0">
                <a:solidFill>
                  <a:srgbClr val="000000"/>
                </a:solidFill>
                <a:latin typeface="Cambria Math"/>
              </a:rPr>
              <a:t>C</a:t>
            </a:r>
            <a:r>
              <a:rPr sz="633" b="0">
                <a:solidFill>
                  <a:srgbClr val="000000"/>
                </a:solidFill>
                <a:latin typeface="Cambria Math"/>
              </a:rPr>
              <a:t>t</a:t>
            </a:r>
            <a:r>
              <a:rPr sz="633" b="0">
                <a:solidFill>
                  <a:srgbClr val="000000"/>
                </a:solidFill>
                <a:latin typeface="Cambria Math"/>
              </a:rPr>
              <a:t>−</a:t>
            </a:r>
            <a:r>
              <a:rPr sz="633" b="0">
                <a:solidFill>
                  <a:srgbClr val="000000"/>
                </a:solidFill>
                <a:latin typeface="Cambria Math"/>
              </a:rPr>
              <a:t>1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3112933" y="1122770"/>
            <a:ext cx="2672462" cy="17057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6" b="0">
                <a:solidFill>
                  <a:srgbClr val="FFFFFF"/>
                </a:solidFill>
                <a:latin typeface="Cambria Math"/>
              </a:rPr>
              <a:t>C</a:t>
            </a:r>
            <a:r>
              <a:rPr sz="633" b="0">
                <a:solidFill>
                  <a:srgbClr val="FFFFFF"/>
                </a:solidFill>
                <a:latin typeface="Cambria Math"/>
              </a:rPr>
              <a:t>t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696599" y="1904004"/>
            <a:ext cx="4088796" cy="17057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6" b="0">
                <a:solidFill>
                  <a:srgbClr val="FFFFFF"/>
                </a:solidFill>
                <a:latin typeface="Cambria Math"/>
              </a:rPr>
              <a:t>tanh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356896" y="1889478"/>
            <a:ext cx="4428499" cy="17057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6" b="0">
                <a:solidFill>
                  <a:srgbClr val="FFFFFF"/>
                </a:solidFill>
                <a:latin typeface="Cambria Math"/>
              </a:rPr>
              <a:t>σ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17183" y="1889478"/>
            <a:ext cx="4768212" cy="17057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6" b="0">
                <a:solidFill>
                  <a:srgbClr val="000000"/>
                </a:solidFill>
                <a:latin typeface="Cambria Math"/>
              </a:rPr>
              <a:t>σ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2189579" y="1889478"/>
            <a:ext cx="3595816" cy="17057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6" b="0">
                <a:solidFill>
                  <a:srgbClr val="FFFFFF"/>
                </a:solidFill>
                <a:latin typeface="Cambria Math"/>
              </a:rPr>
              <a:t>σ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2478549" y="1689046"/>
            <a:ext cx="3306846" cy="17057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6" b="0">
                <a:solidFill>
                  <a:srgbClr val="FFFFFF"/>
                </a:solidFill>
                <a:latin typeface="Cambria Math"/>
              </a:rPr>
              <a:t>×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2411293" y="1362562"/>
            <a:ext cx="3374102" cy="17057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6" b="0">
                <a:solidFill>
                  <a:srgbClr val="FFFFFF"/>
                </a:solidFill>
                <a:latin typeface="Cambria Math"/>
              </a:rPr>
              <a:t>tanh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763856" y="1553271"/>
            <a:ext cx="4021539" cy="17057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6" b="0">
                <a:solidFill>
                  <a:srgbClr val="FFFFFF"/>
                </a:solidFill>
                <a:latin typeface="Cambria Math"/>
              </a:rPr>
              <a:t>×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1763856" y="1120934"/>
            <a:ext cx="4021539" cy="17057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6" b="0">
                <a:solidFill>
                  <a:srgbClr val="FFFFFF"/>
                </a:solidFill>
                <a:latin typeface="Cambria Math"/>
              </a:rPr>
              <a:t>+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007801" y="1119508"/>
            <a:ext cx="4777594" cy="17057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6" b="0">
                <a:solidFill>
                  <a:srgbClr val="FFFFFF"/>
                </a:solidFill>
                <a:latin typeface="Cambria Math"/>
              </a:rPr>
              <a:t>×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837839" y="2342295"/>
            <a:ext cx="4947557" cy="17057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6" b="0">
                <a:solidFill>
                  <a:srgbClr val="FFFFFF"/>
                </a:solidFill>
                <a:latin typeface="MSAM10"/>
              </a:rPr>
              <a:t>⊞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3504029" y="1207752"/>
            <a:ext cx="2281366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1">
                <a:solidFill>
                  <a:srgbClr val="000000"/>
                </a:solidFill>
                <a:latin typeface="Josefin Sans"/>
              </a:rPr>
              <a:t>Forget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Gate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3504029" y="1379415"/>
            <a:ext cx="2281366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Decides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what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information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from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3504029" y="1551487"/>
            <a:ext cx="2281366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cell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state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should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be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discarded.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3694009" y="1863278"/>
            <a:ext cx="2091386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Cambria Math"/>
              </a:rPr>
              <a:t>f</a:t>
            </a:r>
            <a:r>
              <a:rPr sz="797" b="0">
                <a:solidFill>
                  <a:srgbClr val="000000"/>
                </a:solidFill>
                <a:latin typeface="Cambria Math"/>
              </a:rPr>
              <a:t>t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=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σ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(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W</a:t>
            </a:r>
            <a:r>
              <a:rPr sz="797" b="0">
                <a:solidFill>
                  <a:srgbClr val="000000"/>
                </a:solidFill>
                <a:latin typeface="Cambria Math"/>
              </a:rPr>
              <a:t>f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·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[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h</a:t>
            </a:r>
            <a:r>
              <a:rPr sz="797" b="0">
                <a:solidFill>
                  <a:srgbClr val="000000"/>
                </a:solidFill>
                <a:latin typeface="Cambria Math"/>
              </a:rPr>
              <a:t>t</a:t>
            </a:r>
            <a:r>
              <a:rPr sz="797" b="0">
                <a:solidFill>
                  <a:srgbClr val="000000"/>
                </a:solidFill>
                <a:latin typeface="Cambria Math"/>
              </a:rPr>
              <a:t>−</a:t>
            </a:r>
            <a:r>
              <a:rPr sz="797" b="0">
                <a:solidFill>
                  <a:srgbClr val="000000"/>
                </a:solidFill>
                <a:latin typeface="Cambria Math"/>
              </a:rPr>
              <a:t>1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, x</a:t>
            </a:r>
            <a:r>
              <a:rPr sz="797" b="0">
                <a:solidFill>
                  <a:srgbClr val="000000"/>
                </a:solidFill>
                <a:latin typeface="Cambria Math"/>
              </a:rPr>
              <a:t>t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] +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b</a:t>
            </a:r>
            <a:r>
              <a:rPr sz="797" b="0">
                <a:solidFill>
                  <a:srgbClr val="000000"/>
                </a:solidFill>
                <a:latin typeface="Cambria Math"/>
              </a:rPr>
              <a:t>f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)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4898159" y="3150918"/>
            <a:ext cx="887236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5640207" y="3150694"/>
            <a:ext cx="145188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12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Freeform 35"/>
          <p:cNvSpPr/>
          <p:nvPr/>
        </p:nvSpPr>
        <p:spPr>
          <a:xfrm>
            <a:off x="647700" y="1028700"/>
            <a:ext cx="2311400" cy="1536700"/>
          </a:xfrm>
          <a:custGeom>
            <a:avLst/>
            <a:gdLst/>
            <a:ahLst/>
            <a:cxnLst/>
            <a:rect l="l" t="t" r="r" b="b"/>
            <a:pathLst>
              <a:path w="182" h="121">
                <a:moveTo>
                  <a:pt x="179" y="0"/>
                </a:moveTo>
                <a:lnTo>
                  <a:pt x="3" y="0"/>
                </a:lnTo>
                <a:lnTo>
                  <a:pt x="3" y="0"/>
                </a:lnTo>
                <a:lnTo>
                  <a:pt x="2" y="0"/>
                </a:lnTo>
                <a:lnTo>
                  <a:pt x="2" y="0"/>
                </a:lnTo>
                <a:lnTo>
                  <a:pt x="1" y="1"/>
                </a:lnTo>
                <a:lnTo>
                  <a:pt x="1" y="1"/>
                </a:lnTo>
                <a:lnTo>
                  <a:pt x="1" y="2"/>
                </a:lnTo>
                <a:lnTo>
                  <a:pt x="0" y="2"/>
                </a:lnTo>
                <a:lnTo>
                  <a:pt x="0" y="3"/>
                </a:lnTo>
                <a:lnTo>
                  <a:pt x="0" y="118"/>
                </a:lnTo>
                <a:lnTo>
                  <a:pt x="0" y="119"/>
                </a:lnTo>
                <a:lnTo>
                  <a:pt x="1" y="119"/>
                </a:lnTo>
                <a:lnTo>
                  <a:pt x="1" y="120"/>
                </a:lnTo>
                <a:lnTo>
                  <a:pt x="1" y="120"/>
                </a:lnTo>
                <a:lnTo>
                  <a:pt x="2" y="121"/>
                </a:lnTo>
                <a:lnTo>
                  <a:pt x="2" y="121"/>
                </a:lnTo>
                <a:lnTo>
                  <a:pt x="3" y="121"/>
                </a:lnTo>
                <a:lnTo>
                  <a:pt x="3" y="121"/>
                </a:lnTo>
                <a:lnTo>
                  <a:pt x="179" y="121"/>
                </a:lnTo>
                <a:lnTo>
                  <a:pt x="180" y="121"/>
                </a:lnTo>
                <a:lnTo>
                  <a:pt x="180" y="121"/>
                </a:lnTo>
                <a:lnTo>
                  <a:pt x="181" y="121"/>
                </a:lnTo>
                <a:lnTo>
                  <a:pt x="181" y="120"/>
                </a:lnTo>
                <a:lnTo>
                  <a:pt x="182" y="120"/>
                </a:lnTo>
                <a:lnTo>
                  <a:pt x="182" y="119"/>
                </a:lnTo>
                <a:lnTo>
                  <a:pt x="182" y="119"/>
                </a:lnTo>
                <a:lnTo>
                  <a:pt x="182" y="118"/>
                </a:lnTo>
                <a:lnTo>
                  <a:pt x="182" y="3"/>
                </a:lnTo>
                <a:lnTo>
                  <a:pt x="182" y="2"/>
                </a:lnTo>
                <a:lnTo>
                  <a:pt x="182" y="2"/>
                </a:lnTo>
                <a:lnTo>
                  <a:pt x="182" y="1"/>
                </a:lnTo>
                <a:lnTo>
                  <a:pt x="181" y="1"/>
                </a:lnTo>
                <a:lnTo>
                  <a:pt x="181" y="0"/>
                </a:lnTo>
                <a:lnTo>
                  <a:pt x="180" y="0"/>
                </a:lnTo>
                <a:lnTo>
                  <a:pt x="180" y="0"/>
                </a:lnTo>
                <a:lnTo>
                  <a:pt x="179" y="0"/>
                </a:lnTo>
                <a:close/>
              </a:path>
            </a:pathLst>
          </a:custGeom>
          <a:solidFill>
            <a:srgbClr val="93D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Freeform 36"/>
          <p:cNvSpPr/>
          <p:nvPr/>
        </p:nvSpPr>
        <p:spPr>
          <a:xfrm>
            <a:off x="1612900" y="1828800"/>
            <a:ext cx="381000" cy="241300"/>
          </a:xfrm>
          <a:custGeom>
            <a:avLst/>
            <a:gdLst/>
            <a:ahLst/>
            <a:cxnLst/>
            <a:rect l="l" t="t" r="r" b="b"/>
            <a:pathLst>
              <a:path w="30" h="19">
                <a:moveTo>
                  <a:pt x="27" y="0"/>
                </a:moveTo>
                <a:lnTo>
                  <a:pt x="3" y="0"/>
                </a:lnTo>
                <a:lnTo>
                  <a:pt x="3" y="0"/>
                </a:lnTo>
                <a:lnTo>
                  <a:pt x="2" y="0"/>
                </a:lnTo>
                <a:lnTo>
                  <a:pt x="1" y="1"/>
                </a:lnTo>
                <a:lnTo>
                  <a:pt x="1" y="1"/>
                </a:lnTo>
                <a:lnTo>
                  <a:pt x="1" y="2"/>
                </a:lnTo>
                <a:lnTo>
                  <a:pt x="0" y="2"/>
                </a:lnTo>
                <a:lnTo>
                  <a:pt x="0" y="3"/>
                </a:lnTo>
                <a:lnTo>
                  <a:pt x="0" y="3"/>
                </a:lnTo>
                <a:lnTo>
                  <a:pt x="0" y="16"/>
                </a:lnTo>
                <a:lnTo>
                  <a:pt x="0" y="17"/>
                </a:lnTo>
                <a:lnTo>
                  <a:pt x="0" y="17"/>
                </a:lnTo>
                <a:lnTo>
                  <a:pt x="1" y="18"/>
                </a:lnTo>
                <a:lnTo>
                  <a:pt x="1" y="18"/>
                </a:lnTo>
                <a:lnTo>
                  <a:pt x="1" y="19"/>
                </a:lnTo>
                <a:lnTo>
                  <a:pt x="2" y="19"/>
                </a:lnTo>
                <a:lnTo>
                  <a:pt x="3" y="19"/>
                </a:lnTo>
                <a:lnTo>
                  <a:pt x="3" y="19"/>
                </a:lnTo>
                <a:lnTo>
                  <a:pt x="27" y="19"/>
                </a:lnTo>
                <a:lnTo>
                  <a:pt x="28" y="19"/>
                </a:lnTo>
                <a:lnTo>
                  <a:pt x="28" y="19"/>
                </a:lnTo>
                <a:lnTo>
                  <a:pt x="29" y="19"/>
                </a:lnTo>
                <a:lnTo>
                  <a:pt x="29" y="18"/>
                </a:lnTo>
                <a:lnTo>
                  <a:pt x="30" y="18"/>
                </a:lnTo>
                <a:lnTo>
                  <a:pt x="30" y="17"/>
                </a:lnTo>
                <a:lnTo>
                  <a:pt x="30" y="17"/>
                </a:lnTo>
                <a:lnTo>
                  <a:pt x="30" y="16"/>
                </a:lnTo>
                <a:lnTo>
                  <a:pt x="30" y="3"/>
                </a:lnTo>
                <a:lnTo>
                  <a:pt x="30" y="3"/>
                </a:lnTo>
                <a:lnTo>
                  <a:pt x="30" y="2"/>
                </a:lnTo>
                <a:lnTo>
                  <a:pt x="30" y="2"/>
                </a:lnTo>
                <a:lnTo>
                  <a:pt x="29" y="1"/>
                </a:lnTo>
                <a:lnTo>
                  <a:pt x="29" y="1"/>
                </a:lnTo>
                <a:lnTo>
                  <a:pt x="28" y="0"/>
                </a:lnTo>
                <a:lnTo>
                  <a:pt x="28" y="0"/>
                </a:lnTo>
                <a:lnTo>
                  <a:pt x="27" y="0"/>
                </a:lnTo>
                <a:close/>
              </a:path>
            </a:pathLst>
          </a:custGeom>
          <a:solidFill>
            <a:srgbClr val="F79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Freeform 37"/>
          <p:cNvSpPr/>
          <p:nvPr/>
        </p:nvSpPr>
        <p:spPr>
          <a:xfrm>
            <a:off x="1270000" y="1841500"/>
            <a:ext cx="241300" cy="215900"/>
          </a:xfrm>
          <a:custGeom>
            <a:avLst/>
            <a:gdLst/>
            <a:ahLst/>
            <a:cxnLst/>
            <a:rect l="l" t="t" r="r" b="b"/>
            <a:pathLst>
              <a:path w="19" h="17">
                <a:moveTo>
                  <a:pt x="15" y="0"/>
                </a:moveTo>
                <a:lnTo>
                  <a:pt x="4" y="0"/>
                </a:lnTo>
                <a:lnTo>
                  <a:pt x="3" y="0"/>
                </a:lnTo>
                <a:lnTo>
                  <a:pt x="2" y="1"/>
                </a:lnTo>
                <a:lnTo>
                  <a:pt x="2" y="1"/>
                </a:lnTo>
                <a:lnTo>
                  <a:pt x="1" y="1"/>
                </a:lnTo>
                <a:lnTo>
                  <a:pt x="1" y="2"/>
                </a:lnTo>
                <a:lnTo>
                  <a:pt x="1" y="2"/>
                </a:lnTo>
                <a:lnTo>
                  <a:pt x="0" y="3"/>
                </a:lnTo>
                <a:lnTo>
                  <a:pt x="0" y="3"/>
                </a:lnTo>
                <a:lnTo>
                  <a:pt x="0" y="14"/>
                </a:lnTo>
                <a:lnTo>
                  <a:pt x="0" y="15"/>
                </a:lnTo>
                <a:lnTo>
                  <a:pt x="1" y="15"/>
                </a:lnTo>
                <a:lnTo>
                  <a:pt x="1" y="16"/>
                </a:lnTo>
                <a:lnTo>
                  <a:pt x="1" y="16"/>
                </a:lnTo>
                <a:lnTo>
                  <a:pt x="2" y="17"/>
                </a:lnTo>
                <a:lnTo>
                  <a:pt x="2" y="17"/>
                </a:lnTo>
                <a:lnTo>
                  <a:pt x="3" y="17"/>
                </a:lnTo>
                <a:lnTo>
                  <a:pt x="4" y="17"/>
                </a:lnTo>
                <a:lnTo>
                  <a:pt x="15" y="17"/>
                </a:lnTo>
                <a:lnTo>
                  <a:pt x="16" y="17"/>
                </a:lnTo>
                <a:lnTo>
                  <a:pt x="17" y="17"/>
                </a:lnTo>
                <a:lnTo>
                  <a:pt x="17" y="17"/>
                </a:lnTo>
                <a:lnTo>
                  <a:pt x="18" y="16"/>
                </a:lnTo>
                <a:lnTo>
                  <a:pt x="18" y="16"/>
                </a:lnTo>
                <a:lnTo>
                  <a:pt x="18" y="15"/>
                </a:lnTo>
                <a:lnTo>
                  <a:pt x="19" y="15"/>
                </a:lnTo>
                <a:lnTo>
                  <a:pt x="19" y="14"/>
                </a:lnTo>
                <a:lnTo>
                  <a:pt x="19" y="3"/>
                </a:lnTo>
                <a:lnTo>
                  <a:pt x="19" y="3"/>
                </a:lnTo>
                <a:lnTo>
                  <a:pt x="18" y="2"/>
                </a:lnTo>
                <a:lnTo>
                  <a:pt x="18" y="2"/>
                </a:lnTo>
                <a:lnTo>
                  <a:pt x="18" y="1"/>
                </a:lnTo>
                <a:lnTo>
                  <a:pt x="17" y="1"/>
                </a:lnTo>
                <a:lnTo>
                  <a:pt x="17" y="1"/>
                </a:lnTo>
                <a:lnTo>
                  <a:pt x="16" y="0"/>
                </a:lnTo>
                <a:lnTo>
                  <a:pt x="15" y="0"/>
                </a:lnTo>
                <a:close/>
              </a:path>
            </a:pathLst>
          </a:custGeom>
          <a:solidFill>
            <a:srgbClr val="F79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Freeform 38"/>
          <p:cNvSpPr/>
          <p:nvPr/>
        </p:nvSpPr>
        <p:spPr>
          <a:xfrm>
            <a:off x="939800" y="1841500"/>
            <a:ext cx="228600" cy="215900"/>
          </a:xfrm>
          <a:custGeom>
            <a:avLst/>
            <a:gdLst/>
            <a:ahLst/>
            <a:cxnLst/>
            <a:rect l="l" t="t" r="r" b="b"/>
            <a:pathLst>
              <a:path w="18" h="17">
                <a:moveTo>
                  <a:pt x="15" y="0"/>
                </a:moveTo>
                <a:lnTo>
                  <a:pt x="3" y="0"/>
                </a:lnTo>
                <a:lnTo>
                  <a:pt x="2" y="0"/>
                </a:lnTo>
                <a:lnTo>
                  <a:pt x="2" y="1"/>
                </a:lnTo>
                <a:lnTo>
                  <a:pt x="1" y="1"/>
                </a:lnTo>
                <a:lnTo>
                  <a:pt x="1" y="1"/>
                </a:lnTo>
                <a:lnTo>
                  <a:pt x="0" y="2"/>
                </a:lnTo>
                <a:lnTo>
                  <a:pt x="0" y="2"/>
                </a:lnTo>
                <a:lnTo>
                  <a:pt x="0" y="3"/>
                </a:lnTo>
                <a:lnTo>
                  <a:pt x="0" y="3"/>
                </a:lnTo>
                <a:lnTo>
                  <a:pt x="0" y="14"/>
                </a:lnTo>
                <a:lnTo>
                  <a:pt x="0" y="15"/>
                </a:lnTo>
                <a:lnTo>
                  <a:pt x="0" y="15"/>
                </a:lnTo>
                <a:lnTo>
                  <a:pt x="0" y="16"/>
                </a:lnTo>
                <a:lnTo>
                  <a:pt x="1" y="16"/>
                </a:lnTo>
                <a:lnTo>
                  <a:pt x="1" y="17"/>
                </a:lnTo>
                <a:lnTo>
                  <a:pt x="2" y="17"/>
                </a:lnTo>
                <a:lnTo>
                  <a:pt x="2" y="17"/>
                </a:lnTo>
                <a:lnTo>
                  <a:pt x="3" y="17"/>
                </a:lnTo>
                <a:lnTo>
                  <a:pt x="15" y="17"/>
                </a:lnTo>
                <a:lnTo>
                  <a:pt x="15" y="17"/>
                </a:lnTo>
                <a:lnTo>
                  <a:pt x="16" y="17"/>
                </a:lnTo>
                <a:lnTo>
                  <a:pt x="16" y="17"/>
                </a:lnTo>
                <a:lnTo>
                  <a:pt x="17" y="16"/>
                </a:lnTo>
                <a:lnTo>
                  <a:pt x="17" y="16"/>
                </a:lnTo>
                <a:lnTo>
                  <a:pt x="18" y="15"/>
                </a:lnTo>
                <a:lnTo>
                  <a:pt x="18" y="15"/>
                </a:lnTo>
                <a:lnTo>
                  <a:pt x="18" y="14"/>
                </a:lnTo>
                <a:lnTo>
                  <a:pt x="18" y="3"/>
                </a:lnTo>
                <a:lnTo>
                  <a:pt x="18" y="3"/>
                </a:lnTo>
                <a:lnTo>
                  <a:pt x="18" y="2"/>
                </a:lnTo>
                <a:lnTo>
                  <a:pt x="17" y="2"/>
                </a:lnTo>
                <a:lnTo>
                  <a:pt x="17" y="1"/>
                </a:lnTo>
                <a:lnTo>
                  <a:pt x="16" y="1"/>
                </a:lnTo>
                <a:lnTo>
                  <a:pt x="16" y="1"/>
                </a:lnTo>
                <a:lnTo>
                  <a:pt x="15" y="0"/>
                </a:lnTo>
                <a:lnTo>
                  <a:pt x="15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Freeform 39"/>
          <p:cNvSpPr/>
          <p:nvPr/>
        </p:nvSpPr>
        <p:spPr>
          <a:xfrm>
            <a:off x="2108200" y="1841500"/>
            <a:ext cx="228600" cy="215900"/>
          </a:xfrm>
          <a:custGeom>
            <a:avLst/>
            <a:gdLst/>
            <a:ahLst/>
            <a:cxnLst/>
            <a:rect l="l" t="t" r="r" b="b"/>
            <a:pathLst>
              <a:path w="18" h="17">
                <a:moveTo>
                  <a:pt x="15" y="0"/>
                </a:moveTo>
                <a:lnTo>
                  <a:pt x="3" y="0"/>
                </a:lnTo>
                <a:lnTo>
                  <a:pt x="2" y="0"/>
                </a:lnTo>
                <a:lnTo>
                  <a:pt x="2" y="1"/>
                </a:lnTo>
                <a:lnTo>
                  <a:pt x="1" y="1"/>
                </a:lnTo>
                <a:lnTo>
                  <a:pt x="1" y="1"/>
                </a:lnTo>
                <a:lnTo>
                  <a:pt x="0" y="2"/>
                </a:lnTo>
                <a:lnTo>
                  <a:pt x="0" y="2"/>
                </a:lnTo>
                <a:lnTo>
                  <a:pt x="0" y="3"/>
                </a:lnTo>
                <a:lnTo>
                  <a:pt x="0" y="3"/>
                </a:lnTo>
                <a:lnTo>
                  <a:pt x="0" y="14"/>
                </a:lnTo>
                <a:lnTo>
                  <a:pt x="0" y="15"/>
                </a:lnTo>
                <a:lnTo>
                  <a:pt x="0" y="15"/>
                </a:lnTo>
                <a:lnTo>
                  <a:pt x="0" y="16"/>
                </a:lnTo>
                <a:lnTo>
                  <a:pt x="1" y="16"/>
                </a:lnTo>
                <a:lnTo>
                  <a:pt x="1" y="17"/>
                </a:lnTo>
                <a:lnTo>
                  <a:pt x="2" y="17"/>
                </a:lnTo>
                <a:lnTo>
                  <a:pt x="2" y="17"/>
                </a:lnTo>
                <a:lnTo>
                  <a:pt x="3" y="17"/>
                </a:lnTo>
                <a:lnTo>
                  <a:pt x="15" y="17"/>
                </a:lnTo>
                <a:lnTo>
                  <a:pt x="16" y="17"/>
                </a:lnTo>
                <a:lnTo>
                  <a:pt x="16" y="17"/>
                </a:lnTo>
                <a:lnTo>
                  <a:pt x="17" y="17"/>
                </a:lnTo>
                <a:lnTo>
                  <a:pt x="17" y="16"/>
                </a:lnTo>
                <a:lnTo>
                  <a:pt x="18" y="16"/>
                </a:lnTo>
                <a:lnTo>
                  <a:pt x="18" y="15"/>
                </a:lnTo>
                <a:lnTo>
                  <a:pt x="18" y="15"/>
                </a:lnTo>
                <a:lnTo>
                  <a:pt x="18" y="14"/>
                </a:lnTo>
                <a:lnTo>
                  <a:pt x="18" y="3"/>
                </a:lnTo>
                <a:lnTo>
                  <a:pt x="18" y="3"/>
                </a:lnTo>
                <a:lnTo>
                  <a:pt x="18" y="2"/>
                </a:lnTo>
                <a:lnTo>
                  <a:pt x="18" y="2"/>
                </a:lnTo>
                <a:lnTo>
                  <a:pt x="17" y="1"/>
                </a:lnTo>
                <a:lnTo>
                  <a:pt x="17" y="1"/>
                </a:lnTo>
                <a:lnTo>
                  <a:pt x="16" y="1"/>
                </a:lnTo>
                <a:lnTo>
                  <a:pt x="16" y="0"/>
                </a:lnTo>
                <a:lnTo>
                  <a:pt x="15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Freeform 40"/>
          <p:cNvSpPr/>
          <p:nvPr/>
        </p:nvSpPr>
        <p:spPr>
          <a:xfrm>
            <a:off x="2413000" y="1638300"/>
            <a:ext cx="215900" cy="215900"/>
          </a:xfrm>
          <a:custGeom>
            <a:avLst/>
            <a:gdLst/>
            <a:ahLst/>
            <a:cxnLst/>
            <a:rect l="l" t="t" r="r" b="b"/>
            <a:pathLst>
              <a:path w="17" h="17">
                <a:moveTo>
                  <a:pt x="17" y="9"/>
                </a:moveTo>
                <a:lnTo>
                  <a:pt x="17" y="7"/>
                </a:lnTo>
                <a:lnTo>
                  <a:pt x="17" y="5"/>
                </a:lnTo>
                <a:lnTo>
                  <a:pt x="16" y="4"/>
                </a:lnTo>
                <a:lnTo>
                  <a:pt x="15" y="3"/>
                </a:lnTo>
                <a:lnTo>
                  <a:pt x="13" y="2"/>
                </a:lnTo>
                <a:lnTo>
                  <a:pt x="12" y="1"/>
                </a:lnTo>
                <a:lnTo>
                  <a:pt x="10" y="0"/>
                </a:lnTo>
                <a:lnTo>
                  <a:pt x="9" y="0"/>
                </a:lnTo>
                <a:lnTo>
                  <a:pt x="7" y="0"/>
                </a:lnTo>
                <a:lnTo>
                  <a:pt x="5" y="1"/>
                </a:lnTo>
                <a:lnTo>
                  <a:pt x="4" y="2"/>
                </a:lnTo>
                <a:lnTo>
                  <a:pt x="2" y="3"/>
                </a:lnTo>
                <a:lnTo>
                  <a:pt x="1" y="4"/>
                </a:lnTo>
                <a:lnTo>
                  <a:pt x="1" y="5"/>
                </a:lnTo>
                <a:lnTo>
                  <a:pt x="0" y="7"/>
                </a:lnTo>
                <a:lnTo>
                  <a:pt x="0" y="9"/>
                </a:lnTo>
                <a:lnTo>
                  <a:pt x="0" y="10"/>
                </a:lnTo>
                <a:lnTo>
                  <a:pt x="1" y="12"/>
                </a:lnTo>
                <a:lnTo>
                  <a:pt x="1" y="14"/>
                </a:lnTo>
                <a:lnTo>
                  <a:pt x="2" y="15"/>
                </a:lnTo>
                <a:lnTo>
                  <a:pt x="4" y="16"/>
                </a:lnTo>
                <a:lnTo>
                  <a:pt x="5" y="17"/>
                </a:lnTo>
                <a:lnTo>
                  <a:pt x="7" y="17"/>
                </a:lnTo>
                <a:lnTo>
                  <a:pt x="9" y="17"/>
                </a:lnTo>
                <a:lnTo>
                  <a:pt x="10" y="17"/>
                </a:lnTo>
                <a:lnTo>
                  <a:pt x="12" y="17"/>
                </a:lnTo>
                <a:lnTo>
                  <a:pt x="13" y="16"/>
                </a:lnTo>
                <a:lnTo>
                  <a:pt x="15" y="15"/>
                </a:lnTo>
                <a:lnTo>
                  <a:pt x="16" y="14"/>
                </a:lnTo>
                <a:lnTo>
                  <a:pt x="17" y="12"/>
                </a:lnTo>
                <a:lnTo>
                  <a:pt x="17" y="10"/>
                </a:lnTo>
                <a:lnTo>
                  <a:pt x="17" y="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Freeform 41"/>
          <p:cNvSpPr/>
          <p:nvPr/>
        </p:nvSpPr>
        <p:spPr>
          <a:xfrm>
            <a:off x="2324100" y="1295400"/>
            <a:ext cx="393700" cy="241300"/>
          </a:xfrm>
          <a:custGeom>
            <a:avLst/>
            <a:gdLst/>
            <a:ahLst/>
            <a:cxnLst/>
            <a:rect l="l" t="t" r="r" b="b"/>
            <a:pathLst>
              <a:path w="31" h="19">
                <a:moveTo>
                  <a:pt x="28" y="0"/>
                </a:moveTo>
                <a:lnTo>
                  <a:pt x="4" y="0"/>
                </a:lnTo>
                <a:lnTo>
                  <a:pt x="3" y="0"/>
                </a:lnTo>
                <a:lnTo>
                  <a:pt x="2" y="0"/>
                </a:lnTo>
                <a:lnTo>
                  <a:pt x="2" y="0"/>
                </a:lnTo>
                <a:lnTo>
                  <a:pt x="1" y="0"/>
                </a:lnTo>
                <a:lnTo>
                  <a:pt x="1" y="1"/>
                </a:lnTo>
                <a:lnTo>
                  <a:pt x="1" y="1"/>
                </a:lnTo>
                <a:lnTo>
                  <a:pt x="0" y="2"/>
                </a:lnTo>
                <a:lnTo>
                  <a:pt x="0" y="3"/>
                </a:lnTo>
                <a:lnTo>
                  <a:pt x="0" y="15"/>
                </a:lnTo>
                <a:lnTo>
                  <a:pt x="0" y="16"/>
                </a:lnTo>
                <a:lnTo>
                  <a:pt x="1" y="17"/>
                </a:lnTo>
                <a:lnTo>
                  <a:pt x="1" y="17"/>
                </a:lnTo>
                <a:lnTo>
                  <a:pt x="1" y="18"/>
                </a:lnTo>
                <a:lnTo>
                  <a:pt x="2" y="18"/>
                </a:lnTo>
                <a:lnTo>
                  <a:pt x="2" y="18"/>
                </a:lnTo>
                <a:lnTo>
                  <a:pt x="3" y="18"/>
                </a:lnTo>
                <a:lnTo>
                  <a:pt x="4" y="19"/>
                </a:lnTo>
                <a:lnTo>
                  <a:pt x="28" y="19"/>
                </a:lnTo>
                <a:lnTo>
                  <a:pt x="28" y="18"/>
                </a:lnTo>
                <a:lnTo>
                  <a:pt x="29" y="18"/>
                </a:lnTo>
                <a:lnTo>
                  <a:pt x="29" y="18"/>
                </a:lnTo>
                <a:lnTo>
                  <a:pt x="30" y="18"/>
                </a:lnTo>
                <a:lnTo>
                  <a:pt x="30" y="17"/>
                </a:lnTo>
                <a:lnTo>
                  <a:pt x="30" y="17"/>
                </a:lnTo>
                <a:lnTo>
                  <a:pt x="31" y="16"/>
                </a:lnTo>
                <a:lnTo>
                  <a:pt x="31" y="15"/>
                </a:lnTo>
                <a:lnTo>
                  <a:pt x="31" y="3"/>
                </a:lnTo>
                <a:lnTo>
                  <a:pt x="31" y="2"/>
                </a:lnTo>
                <a:lnTo>
                  <a:pt x="30" y="1"/>
                </a:lnTo>
                <a:lnTo>
                  <a:pt x="30" y="1"/>
                </a:lnTo>
                <a:lnTo>
                  <a:pt x="30" y="0"/>
                </a:lnTo>
                <a:lnTo>
                  <a:pt x="29" y="0"/>
                </a:lnTo>
                <a:lnTo>
                  <a:pt x="29" y="0"/>
                </a:lnTo>
                <a:lnTo>
                  <a:pt x="28" y="0"/>
                </a:lnTo>
                <a:lnTo>
                  <a:pt x="28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Freeform 42"/>
          <p:cNvSpPr/>
          <p:nvPr/>
        </p:nvSpPr>
        <p:spPr>
          <a:xfrm>
            <a:off x="1701800" y="1498600"/>
            <a:ext cx="215900" cy="228600"/>
          </a:xfrm>
          <a:custGeom>
            <a:avLst/>
            <a:gdLst/>
            <a:ahLst/>
            <a:cxnLst/>
            <a:rect l="l" t="t" r="r" b="b"/>
            <a:pathLst>
              <a:path w="17" h="18">
                <a:moveTo>
                  <a:pt x="17" y="9"/>
                </a:moveTo>
                <a:lnTo>
                  <a:pt x="17" y="7"/>
                </a:lnTo>
                <a:lnTo>
                  <a:pt x="16" y="6"/>
                </a:lnTo>
                <a:lnTo>
                  <a:pt x="15" y="4"/>
                </a:lnTo>
                <a:lnTo>
                  <a:pt x="14" y="3"/>
                </a:lnTo>
                <a:lnTo>
                  <a:pt x="13" y="2"/>
                </a:lnTo>
                <a:lnTo>
                  <a:pt x="12" y="1"/>
                </a:lnTo>
                <a:lnTo>
                  <a:pt x="10" y="1"/>
                </a:lnTo>
                <a:lnTo>
                  <a:pt x="8" y="0"/>
                </a:lnTo>
                <a:lnTo>
                  <a:pt x="7" y="1"/>
                </a:lnTo>
                <a:lnTo>
                  <a:pt x="5" y="1"/>
                </a:lnTo>
                <a:lnTo>
                  <a:pt x="3" y="2"/>
                </a:lnTo>
                <a:lnTo>
                  <a:pt x="2" y="3"/>
                </a:lnTo>
                <a:lnTo>
                  <a:pt x="1" y="4"/>
                </a:lnTo>
                <a:lnTo>
                  <a:pt x="0" y="6"/>
                </a:lnTo>
                <a:lnTo>
                  <a:pt x="0" y="7"/>
                </a:lnTo>
                <a:lnTo>
                  <a:pt x="0" y="9"/>
                </a:lnTo>
                <a:lnTo>
                  <a:pt x="0" y="11"/>
                </a:lnTo>
                <a:lnTo>
                  <a:pt x="0" y="12"/>
                </a:lnTo>
                <a:lnTo>
                  <a:pt x="1" y="14"/>
                </a:lnTo>
                <a:lnTo>
                  <a:pt x="2" y="15"/>
                </a:lnTo>
                <a:lnTo>
                  <a:pt x="3" y="16"/>
                </a:lnTo>
                <a:lnTo>
                  <a:pt x="5" y="17"/>
                </a:lnTo>
                <a:lnTo>
                  <a:pt x="7" y="18"/>
                </a:lnTo>
                <a:lnTo>
                  <a:pt x="8" y="18"/>
                </a:lnTo>
                <a:lnTo>
                  <a:pt x="10" y="18"/>
                </a:lnTo>
                <a:lnTo>
                  <a:pt x="12" y="17"/>
                </a:lnTo>
                <a:lnTo>
                  <a:pt x="13" y="16"/>
                </a:lnTo>
                <a:lnTo>
                  <a:pt x="14" y="15"/>
                </a:lnTo>
                <a:lnTo>
                  <a:pt x="15" y="14"/>
                </a:lnTo>
                <a:lnTo>
                  <a:pt x="16" y="12"/>
                </a:lnTo>
                <a:lnTo>
                  <a:pt x="17" y="11"/>
                </a:lnTo>
                <a:lnTo>
                  <a:pt x="17" y="9"/>
                </a:lnTo>
                <a:close/>
              </a:path>
            </a:pathLst>
          </a:cu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Freeform 43"/>
          <p:cNvSpPr/>
          <p:nvPr/>
        </p:nvSpPr>
        <p:spPr>
          <a:xfrm>
            <a:off x="1701800" y="1066800"/>
            <a:ext cx="215900" cy="228600"/>
          </a:xfrm>
          <a:custGeom>
            <a:avLst/>
            <a:gdLst/>
            <a:ahLst/>
            <a:cxnLst/>
            <a:rect l="l" t="t" r="r" b="b"/>
            <a:pathLst>
              <a:path w="17" h="18">
                <a:moveTo>
                  <a:pt x="17" y="9"/>
                </a:moveTo>
                <a:lnTo>
                  <a:pt x="17" y="7"/>
                </a:lnTo>
                <a:lnTo>
                  <a:pt x="16" y="5"/>
                </a:lnTo>
                <a:lnTo>
                  <a:pt x="15" y="4"/>
                </a:lnTo>
                <a:lnTo>
                  <a:pt x="14" y="3"/>
                </a:lnTo>
                <a:lnTo>
                  <a:pt x="13" y="2"/>
                </a:lnTo>
                <a:lnTo>
                  <a:pt x="12" y="1"/>
                </a:lnTo>
                <a:lnTo>
                  <a:pt x="10" y="0"/>
                </a:lnTo>
                <a:lnTo>
                  <a:pt x="8" y="0"/>
                </a:lnTo>
                <a:lnTo>
                  <a:pt x="7" y="0"/>
                </a:lnTo>
                <a:lnTo>
                  <a:pt x="5" y="1"/>
                </a:lnTo>
                <a:lnTo>
                  <a:pt x="3" y="2"/>
                </a:lnTo>
                <a:lnTo>
                  <a:pt x="2" y="3"/>
                </a:lnTo>
                <a:lnTo>
                  <a:pt x="1" y="4"/>
                </a:lnTo>
                <a:lnTo>
                  <a:pt x="0" y="5"/>
                </a:lnTo>
                <a:lnTo>
                  <a:pt x="0" y="7"/>
                </a:lnTo>
                <a:lnTo>
                  <a:pt x="0" y="9"/>
                </a:lnTo>
                <a:lnTo>
                  <a:pt x="0" y="11"/>
                </a:lnTo>
                <a:lnTo>
                  <a:pt x="0" y="12"/>
                </a:lnTo>
                <a:lnTo>
                  <a:pt x="1" y="14"/>
                </a:lnTo>
                <a:lnTo>
                  <a:pt x="2" y="15"/>
                </a:lnTo>
                <a:lnTo>
                  <a:pt x="3" y="16"/>
                </a:lnTo>
                <a:lnTo>
                  <a:pt x="5" y="17"/>
                </a:lnTo>
                <a:lnTo>
                  <a:pt x="7" y="17"/>
                </a:lnTo>
                <a:lnTo>
                  <a:pt x="8" y="18"/>
                </a:lnTo>
                <a:lnTo>
                  <a:pt x="10" y="17"/>
                </a:lnTo>
                <a:lnTo>
                  <a:pt x="12" y="17"/>
                </a:lnTo>
                <a:lnTo>
                  <a:pt x="13" y="16"/>
                </a:lnTo>
                <a:lnTo>
                  <a:pt x="14" y="15"/>
                </a:lnTo>
                <a:lnTo>
                  <a:pt x="15" y="14"/>
                </a:lnTo>
                <a:lnTo>
                  <a:pt x="16" y="12"/>
                </a:lnTo>
                <a:lnTo>
                  <a:pt x="17" y="11"/>
                </a:lnTo>
                <a:lnTo>
                  <a:pt x="17" y="9"/>
                </a:lnTo>
                <a:close/>
              </a:path>
            </a:pathLst>
          </a:cu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Freeform 44"/>
          <p:cNvSpPr/>
          <p:nvPr/>
        </p:nvSpPr>
        <p:spPr>
          <a:xfrm>
            <a:off x="939800" y="1066800"/>
            <a:ext cx="215900" cy="228600"/>
          </a:xfrm>
          <a:custGeom>
            <a:avLst/>
            <a:gdLst/>
            <a:ahLst/>
            <a:cxnLst/>
            <a:rect l="l" t="t" r="r" b="b"/>
            <a:pathLst>
              <a:path w="17" h="18">
                <a:moveTo>
                  <a:pt x="17" y="9"/>
                </a:moveTo>
                <a:lnTo>
                  <a:pt x="17" y="7"/>
                </a:lnTo>
                <a:lnTo>
                  <a:pt x="17" y="5"/>
                </a:lnTo>
                <a:lnTo>
                  <a:pt x="16" y="4"/>
                </a:lnTo>
                <a:lnTo>
                  <a:pt x="15" y="3"/>
                </a:lnTo>
                <a:lnTo>
                  <a:pt x="14" y="2"/>
                </a:lnTo>
                <a:lnTo>
                  <a:pt x="12" y="1"/>
                </a:lnTo>
                <a:lnTo>
                  <a:pt x="10" y="0"/>
                </a:lnTo>
                <a:lnTo>
                  <a:pt x="9" y="0"/>
                </a:lnTo>
                <a:lnTo>
                  <a:pt x="7" y="0"/>
                </a:lnTo>
                <a:lnTo>
                  <a:pt x="5" y="1"/>
                </a:lnTo>
                <a:lnTo>
                  <a:pt x="4" y="2"/>
                </a:lnTo>
                <a:lnTo>
                  <a:pt x="3" y="3"/>
                </a:lnTo>
                <a:lnTo>
                  <a:pt x="2" y="4"/>
                </a:lnTo>
                <a:lnTo>
                  <a:pt x="1" y="5"/>
                </a:lnTo>
                <a:lnTo>
                  <a:pt x="0" y="7"/>
                </a:lnTo>
                <a:lnTo>
                  <a:pt x="0" y="9"/>
                </a:lnTo>
                <a:lnTo>
                  <a:pt x="0" y="11"/>
                </a:lnTo>
                <a:lnTo>
                  <a:pt x="1" y="12"/>
                </a:lnTo>
                <a:lnTo>
                  <a:pt x="2" y="14"/>
                </a:lnTo>
                <a:lnTo>
                  <a:pt x="3" y="15"/>
                </a:lnTo>
                <a:lnTo>
                  <a:pt x="4" y="16"/>
                </a:lnTo>
                <a:lnTo>
                  <a:pt x="5" y="17"/>
                </a:lnTo>
                <a:lnTo>
                  <a:pt x="7" y="17"/>
                </a:lnTo>
                <a:lnTo>
                  <a:pt x="9" y="18"/>
                </a:lnTo>
                <a:lnTo>
                  <a:pt x="10" y="17"/>
                </a:lnTo>
                <a:lnTo>
                  <a:pt x="12" y="17"/>
                </a:lnTo>
                <a:lnTo>
                  <a:pt x="14" y="16"/>
                </a:lnTo>
                <a:lnTo>
                  <a:pt x="15" y="15"/>
                </a:lnTo>
                <a:lnTo>
                  <a:pt x="16" y="14"/>
                </a:lnTo>
                <a:lnTo>
                  <a:pt x="17" y="12"/>
                </a:lnTo>
                <a:lnTo>
                  <a:pt x="17" y="11"/>
                </a:lnTo>
                <a:lnTo>
                  <a:pt x="17" y="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Freeform 45"/>
          <p:cNvSpPr/>
          <p:nvPr/>
        </p:nvSpPr>
        <p:spPr>
          <a:xfrm>
            <a:off x="774700" y="2311400"/>
            <a:ext cx="215900" cy="215900"/>
          </a:xfrm>
          <a:custGeom>
            <a:avLst/>
            <a:gdLst/>
            <a:ahLst/>
            <a:cxnLst/>
            <a:rect l="l" t="t" r="r" b="b"/>
            <a:pathLst>
              <a:path w="17" h="17">
                <a:moveTo>
                  <a:pt x="17" y="8"/>
                </a:moveTo>
                <a:lnTo>
                  <a:pt x="17" y="6"/>
                </a:lnTo>
                <a:lnTo>
                  <a:pt x="16" y="5"/>
                </a:lnTo>
                <a:lnTo>
                  <a:pt x="16" y="3"/>
                </a:lnTo>
                <a:lnTo>
                  <a:pt x="14" y="2"/>
                </a:lnTo>
                <a:lnTo>
                  <a:pt x="13" y="1"/>
                </a:lnTo>
                <a:lnTo>
                  <a:pt x="12" y="0"/>
                </a:lnTo>
                <a:lnTo>
                  <a:pt x="10" y="0"/>
                </a:lnTo>
                <a:lnTo>
                  <a:pt x="8" y="0"/>
                </a:lnTo>
                <a:lnTo>
                  <a:pt x="7" y="0"/>
                </a:lnTo>
                <a:lnTo>
                  <a:pt x="5" y="0"/>
                </a:lnTo>
                <a:lnTo>
                  <a:pt x="3" y="1"/>
                </a:lnTo>
                <a:lnTo>
                  <a:pt x="2" y="2"/>
                </a:lnTo>
                <a:lnTo>
                  <a:pt x="1" y="3"/>
                </a:lnTo>
                <a:lnTo>
                  <a:pt x="0" y="5"/>
                </a:lnTo>
                <a:lnTo>
                  <a:pt x="0" y="6"/>
                </a:lnTo>
                <a:lnTo>
                  <a:pt x="0" y="8"/>
                </a:lnTo>
                <a:lnTo>
                  <a:pt x="0" y="10"/>
                </a:lnTo>
                <a:lnTo>
                  <a:pt x="0" y="12"/>
                </a:lnTo>
                <a:lnTo>
                  <a:pt x="1" y="13"/>
                </a:lnTo>
                <a:lnTo>
                  <a:pt x="2" y="14"/>
                </a:lnTo>
                <a:lnTo>
                  <a:pt x="3" y="15"/>
                </a:lnTo>
                <a:lnTo>
                  <a:pt x="5" y="16"/>
                </a:lnTo>
                <a:lnTo>
                  <a:pt x="7" y="17"/>
                </a:lnTo>
                <a:lnTo>
                  <a:pt x="8" y="17"/>
                </a:lnTo>
                <a:lnTo>
                  <a:pt x="10" y="17"/>
                </a:lnTo>
                <a:lnTo>
                  <a:pt x="12" y="16"/>
                </a:lnTo>
                <a:lnTo>
                  <a:pt x="13" y="15"/>
                </a:lnTo>
                <a:lnTo>
                  <a:pt x="14" y="14"/>
                </a:lnTo>
                <a:lnTo>
                  <a:pt x="16" y="13"/>
                </a:lnTo>
                <a:lnTo>
                  <a:pt x="16" y="12"/>
                </a:lnTo>
                <a:lnTo>
                  <a:pt x="17" y="10"/>
                </a:lnTo>
                <a:lnTo>
                  <a:pt x="17" y="8"/>
                </a:lnTo>
                <a:close/>
              </a:path>
            </a:pathLst>
          </a:cu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7" name="Connector 46"/>
          <p:cNvCxnSpPr/>
          <p:nvPr/>
        </p:nvCxnSpPr>
        <p:spPr>
          <a:xfrm flipV="1">
            <a:off x="2848444" y="941015"/>
            <a:ext cx="0" cy="1474188"/>
          </a:xfrm>
          <a:prstGeom prst="line">
            <a:avLst/>
          </a:prstGeom>
          <a:ln w="80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Freeform 47"/>
          <p:cNvSpPr/>
          <p:nvPr/>
        </p:nvSpPr>
        <p:spPr>
          <a:xfrm>
            <a:off x="2832100" y="9144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0"/>
                </a:moveTo>
                <a:lnTo>
                  <a:pt x="0" y="3"/>
                </a:lnTo>
                <a:lnTo>
                  <a:pt x="1" y="2"/>
                </a:lnTo>
                <a:lnTo>
                  <a:pt x="3" y="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9" name="Connector 48"/>
          <p:cNvCxnSpPr/>
          <p:nvPr/>
        </p:nvCxnSpPr>
        <p:spPr>
          <a:xfrm>
            <a:off x="539039" y="2415203"/>
            <a:ext cx="220520" cy="0"/>
          </a:xfrm>
          <a:prstGeom prst="line">
            <a:avLst/>
          </a:prstGeom>
          <a:ln w="80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880617" y="2536261"/>
            <a:ext cx="0" cy="143478"/>
          </a:xfrm>
          <a:prstGeom prst="line">
            <a:avLst/>
          </a:prstGeom>
          <a:ln w="80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1001675" y="2415203"/>
            <a:ext cx="48912" cy="0"/>
          </a:xfrm>
          <a:prstGeom prst="line">
            <a:avLst/>
          </a:prstGeom>
          <a:ln w="80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1050587" y="2415203"/>
            <a:ext cx="339713" cy="0"/>
          </a:xfrm>
          <a:prstGeom prst="line">
            <a:avLst/>
          </a:prstGeom>
          <a:ln w="80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1390300" y="2415203"/>
            <a:ext cx="416349" cy="0"/>
          </a:xfrm>
          <a:prstGeom prst="line">
            <a:avLst/>
          </a:prstGeom>
          <a:ln w="80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1806649" y="2415203"/>
            <a:ext cx="416349" cy="0"/>
          </a:xfrm>
          <a:prstGeom prst="line">
            <a:avLst/>
          </a:prstGeom>
          <a:ln w="80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1050587" y="2095163"/>
            <a:ext cx="0" cy="320040"/>
          </a:xfrm>
          <a:prstGeom prst="line">
            <a:avLst/>
          </a:prstGeom>
          <a:ln w="80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Freeform 55"/>
          <p:cNvSpPr/>
          <p:nvPr/>
        </p:nvSpPr>
        <p:spPr>
          <a:xfrm>
            <a:off x="1028700" y="20701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2" y="0"/>
                </a:moveTo>
                <a:lnTo>
                  <a:pt x="0" y="3"/>
                </a:lnTo>
                <a:lnTo>
                  <a:pt x="2" y="2"/>
                </a:lnTo>
                <a:lnTo>
                  <a:pt x="3" y="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" name="Connector 56"/>
          <p:cNvCxnSpPr/>
          <p:nvPr/>
        </p:nvCxnSpPr>
        <p:spPr>
          <a:xfrm flipV="1">
            <a:off x="1390300" y="2095163"/>
            <a:ext cx="0" cy="320040"/>
          </a:xfrm>
          <a:prstGeom prst="line">
            <a:avLst/>
          </a:prstGeom>
          <a:ln w="80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Freeform 57"/>
          <p:cNvSpPr/>
          <p:nvPr/>
        </p:nvSpPr>
        <p:spPr>
          <a:xfrm>
            <a:off x="1371600" y="20701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0"/>
                </a:moveTo>
                <a:lnTo>
                  <a:pt x="0" y="3"/>
                </a:lnTo>
                <a:lnTo>
                  <a:pt x="1" y="2"/>
                </a:lnTo>
                <a:lnTo>
                  <a:pt x="3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9" name="Connector 58"/>
          <p:cNvCxnSpPr/>
          <p:nvPr/>
        </p:nvCxnSpPr>
        <p:spPr>
          <a:xfrm flipV="1">
            <a:off x="1806649" y="2109684"/>
            <a:ext cx="0" cy="305519"/>
          </a:xfrm>
          <a:prstGeom prst="line">
            <a:avLst/>
          </a:prstGeom>
          <a:ln w="80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Freeform 59"/>
          <p:cNvSpPr/>
          <p:nvPr/>
        </p:nvSpPr>
        <p:spPr>
          <a:xfrm>
            <a:off x="1790700" y="20828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0"/>
                </a:moveTo>
                <a:lnTo>
                  <a:pt x="0" y="3"/>
                </a:lnTo>
                <a:lnTo>
                  <a:pt x="1" y="2"/>
                </a:lnTo>
                <a:lnTo>
                  <a:pt x="3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1" name="Connector 60"/>
          <p:cNvCxnSpPr/>
          <p:nvPr/>
        </p:nvCxnSpPr>
        <p:spPr>
          <a:xfrm flipV="1">
            <a:off x="2222998" y="2095163"/>
            <a:ext cx="0" cy="320040"/>
          </a:xfrm>
          <a:prstGeom prst="line">
            <a:avLst/>
          </a:prstGeom>
          <a:ln w="80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Freeform 61"/>
          <p:cNvSpPr/>
          <p:nvPr/>
        </p:nvSpPr>
        <p:spPr>
          <a:xfrm>
            <a:off x="2197100" y="20701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2" y="0"/>
                </a:moveTo>
                <a:lnTo>
                  <a:pt x="0" y="3"/>
                </a:lnTo>
                <a:lnTo>
                  <a:pt x="2" y="2"/>
                </a:lnTo>
                <a:lnTo>
                  <a:pt x="4" y="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3" name="Connector 62"/>
          <p:cNvCxnSpPr/>
          <p:nvPr/>
        </p:nvCxnSpPr>
        <p:spPr>
          <a:xfrm flipV="1">
            <a:off x="1050587" y="1326610"/>
            <a:ext cx="0" cy="507950"/>
          </a:xfrm>
          <a:prstGeom prst="line">
            <a:avLst/>
          </a:prstGeom>
          <a:ln w="80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Freeform 63"/>
          <p:cNvSpPr/>
          <p:nvPr/>
        </p:nvSpPr>
        <p:spPr>
          <a:xfrm>
            <a:off x="1028700" y="12954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2" y="0"/>
                </a:moveTo>
                <a:lnTo>
                  <a:pt x="0" y="4"/>
                </a:lnTo>
                <a:lnTo>
                  <a:pt x="2" y="2"/>
                </a:lnTo>
                <a:lnTo>
                  <a:pt x="3" y="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" name="Connector 64"/>
          <p:cNvCxnSpPr/>
          <p:nvPr/>
        </p:nvCxnSpPr>
        <p:spPr>
          <a:xfrm flipV="1">
            <a:off x="1390300" y="1613191"/>
            <a:ext cx="0" cy="221369"/>
          </a:xfrm>
          <a:prstGeom prst="line">
            <a:avLst/>
          </a:prstGeom>
          <a:ln w="80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1390300" y="1613191"/>
            <a:ext cx="269160" cy="0"/>
          </a:xfrm>
          <a:prstGeom prst="line">
            <a:avLst/>
          </a:prstGeom>
          <a:ln w="80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Freeform 66"/>
          <p:cNvSpPr/>
          <p:nvPr/>
        </p:nvSpPr>
        <p:spPr>
          <a:xfrm>
            <a:off x="1638300" y="15875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4" y="2"/>
                </a:moveTo>
                <a:lnTo>
                  <a:pt x="0" y="0"/>
                </a:lnTo>
                <a:lnTo>
                  <a:pt x="2" y="2"/>
                </a:lnTo>
                <a:lnTo>
                  <a:pt x="0" y="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8" name="Connector 67"/>
          <p:cNvCxnSpPr/>
          <p:nvPr/>
        </p:nvCxnSpPr>
        <p:spPr>
          <a:xfrm flipV="1">
            <a:off x="1806649" y="1760380"/>
            <a:ext cx="0" cy="59659"/>
          </a:xfrm>
          <a:prstGeom prst="line">
            <a:avLst/>
          </a:prstGeom>
          <a:ln w="80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Freeform 68"/>
          <p:cNvSpPr/>
          <p:nvPr/>
        </p:nvSpPr>
        <p:spPr>
          <a:xfrm>
            <a:off x="1790700" y="17399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0"/>
                </a:moveTo>
                <a:lnTo>
                  <a:pt x="0" y="3"/>
                </a:lnTo>
                <a:lnTo>
                  <a:pt x="1" y="2"/>
                </a:lnTo>
                <a:lnTo>
                  <a:pt x="3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0" name="Connector 69"/>
          <p:cNvCxnSpPr/>
          <p:nvPr/>
        </p:nvCxnSpPr>
        <p:spPr>
          <a:xfrm flipV="1">
            <a:off x="2222998" y="1748959"/>
            <a:ext cx="0" cy="85601"/>
          </a:xfrm>
          <a:prstGeom prst="line">
            <a:avLst/>
          </a:prstGeom>
          <a:ln w="80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2222998" y="1748959"/>
            <a:ext cx="151163" cy="0"/>
          </a:xfrm>
          <a:prstGeom prst="line">
            <a:avLst/>
          </a:prstGeom>
          <a:ln w="80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Freeform 71"/>
          <p:cNvSpPr/>
          <p:nvPr/>
        </p:nvSpPr>
        <p:spPr>
          <a:xfrm>
            <a:off x="2362200" y="17272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2"/>
                </a:moveTo>
                <a:lnTo>
                  <a:pt x="0" y="0"/>
                </a:lnTo>
                <a:lnTo>
                  <a:pt x="1" y="2"/>
                </a:lnTo>
                <a:lnTo>
                  <a:pt x="0" y="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3" name="Connector 72"/>
          <p:cNvCxnSpPr/>
          <p:nvPr/>
        </p:nvCxnSpPr>
        <p:spPr>
          <a:xfrm>
            <a:off x="2521350" y="1870017"/>
            <a:ext cx="0" cy="545186"/>
          </a:xfrm>
          <a:prstGeom prst="line">
            <a:avLst/>
          </a:prstGeom>
          <a:ln w="80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2521350" y="2415203"/>
            <a:ext cx="526779" cy="0"/>
          </a:xfrm>
          <a:prstGeom prst="line">
            <a:avLst/>
          </a:prstGeom>
          <a:ln w="80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Freeform 74"/>
          <p:cNvSpPr/>
          <p:nvPr/>
        </p:nvSpPr>
        <p:spPr>
          <a:xfrm>
            <a:off x="3035300" y="24003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1"/>
                </a:moveTo>
                <a:lnTo>
                  <a:pt x="0" y="0"/>
                </a:lnTo>
                <a:lnTo>
                  <a:pt x="1" y="1"/>
                </a:lnTo>
                <a:lnTo>
                  <a:pt x="0" y="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6" name="Connector 75"/>
          <p:cNvCxnSpPr/>
          <p:nvPr/>
        </p:nvCxnSpPr>
        <p:spPr>
          <a:xfrm>
            <a:off x="539039" y="1179421"/>
            <a:ext cx="364359" cy="0"/>
          </a:xfrm>
          <a:prstGeom prst="line">
            <a:avLst/>
          </a:prstGeom>
          <a:ln w="80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Freeform 76"/>
          <p:cNvSpPr/>
          <p:nvPr/>
        </p:nvSpPr>
        <p:spPr>
          <a:xfrm>
            <a:off x="889000" y="11557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3" y="2"/>
                </a:moveTo>
                <a:lnTo>
                  <a:pt x="0" y="0"/>
                </a:lnTo>
                <a:lnTo>
                  <a:pt x="1" y="2"/>
                </a:lnTo>
                <a:lnTo>
                  <a:pt x="0" y="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8" name="Connector 77"/>
          <p:cNvCxnSpPr/>
          <p:nvPr/>
        </p:nvCxnSpPr>
        <p:spPr>
          <a:xfrm>
            <a:off x="1171645" y="1179421"/>
            <a:ext cx="487815" cy="0"/>
          </a:xfrm>
          <a:prstGeom prst="line">
            <a:avLst/>
          </a:prstGeom>
          <a:ln w="80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Freeform 78"/>
          <p:cNvSpPr/>
          <p:nvPr/>
        </p:nvSpPr>
        <p:spPr>
          <a:xfrm>
            <a:off x="1638300" y="11557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4" y="2"/>
                </a:moveTo>
                <a:lnTo>
                  <a:pt x="0" y="0"/>
                </a:lnTo>
                <a:lnTo>
                  <a:pt x="2" y="2"/>
                </a:lnTo>
                <a:lnTo>
                  <a:pt x="0" y="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0" name="Connector 79"/>
          <p:cNvCxnSpPr/>
          <p:nvPr/>
        </p:nvCxnSpPr>
        <p:spPr>
          <a:xfrm>
            <a:off x="1927707" y="1179421"/>
            <a:ext cx="1036500" cy="0"/>
          </a:xfrm>
          <a:prstGeom prst="line">
            <a:avLst/>
          </a:prstGeom>
          <a:ln w="30151">
            <a:solidFill>
              <a:srgbClr val="93D4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1927707" y="1179421"/>
            <a:ext cx="1120422" cy="0"/>
          </a:xfrm>
          <a:prstGeom prst="line">
            <a:avLst/>
          </a:prstGeom>
          <a:ln w="80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Freeform 81"/>
          <p:cNvSpPr/>
          <p:nvPr/>
        </p:nvSpPr>
        <p:spPr>
          <a:xfrm>
            <a:off x="3035300" y="11557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3" y="2"/>
                </a:moveTo>
                <a:lnTo>
                  <a:pt x="0" y="0"/>
                </a:lnTo>
                <a:lnTo>
                  <a:pt x="1" y="2"/>
                </a:lnTo>
                <a:lnTo>
                  <a:pt x="0" y="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3" name="Connector 82"/>
          <p:cNvCxnSpPr/>
          <p:nvPr/>
        </p:nvCxnSpPr>
        <p:spPr>
          <a:xfrm flipV="1">
            <a:off x="1806649" y="1326610"/>
            <a:ext cx="0" cy="165523"/>
          </a:xfrm>
          <a:prstGeom prst="line">
            <a:avLst/>
          </a:prstGeom>
          <a:ln w="80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Freeform 83"/>
          <p:cNvSpPr/>
          <p:nvPr/>
        </p:nvSpPr>
        <p:spPr>
          <a:xfrm>
            <a:off x="1790700" y="12954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1" y="0"/>
                </a:moveTo>
                <a:lnTo>
                  <a:pt x="0" y="4"/>
                </a:lnTo>
                <a:lnTo>
                  <a:pt x="1" y="2"/>
                </a:lnTo>
                <a:lnTo>
                  <a:pt x="3" y="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5" name="Connector 84"/>
          <p:cNvCxnSpPr/>
          <p:nvPr/>
        </p:nvCxnSpPr>
        <p:spPr>
          <a:xfrm>
            <a:off x="2521350" y="1179421"/>
            <a:ext cx="0" cy="73044"/>
          </a:xfrm>
          <a:prstGeom prst="line">
            <a:avLst/>
          </a:prstGeom>
          <a:ln w="80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Freeform 85"/>
          <p:cNvSpPr/>
          <p:nvPr/>
        </p:nvSpPr>
        <p:spPr>
          <a:xfrm>
            <a:off x="2501900" y="12319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2" y="4"/>
                </a:moveTo>
                <a:lnTo>
                  <a:pt x="3" y="0"/>
                </a:lnTo>
                <a:lnTo>
                  <a:pt x="2" y="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7" name="Connector 86"/>
          <p:cNvCxnSpPr/>
          <p:nvPr/>
        </p:nvCxnSpPr>
        <p:spPr>
          <a:xfrm>
            <a:off x="2521350" y="1542111"/>
            <a:ext cx="0" cy="59659"/>
          </a:xfrm>
          <a:prstGeom prst="line">
            <a:avLst/>
          </a:prstGeom>
          <a:ln w="80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Freeform 87"/>
          <p:cNvSpPr/>
          <p:nvPr/>
        </p:nvSpPr>
        <p:spPr>
          <a:xfrm>
            <a:off x="2501900" y="15875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2" y="3"/>
                </a:moveTo>
                <a:lnTo>
                  <a:pt x="3" y="0"/>
                </a:ln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-2" y="3146742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2880002" y="3146742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1" name="Picture 9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92" name="Picture 9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93" name="TextBox 92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Long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Short-Term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Memory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(LSTM)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08000" y="359888"/>
            <a:ext cx="5677395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1">
                <a:solidFill>
                  <a:srgbClr val="003373"/>
                </a:solidFill>
                <a:latin typeface="Josefin Sans"/>
              </a:rPr>
              <a:t>Architecture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291927" y="2354958"/>
            <a:ext cx="5493468" cy="17057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6" b="0">
                <a:solidFill>
                  <a:srgbClr val="000000"/>
                </a:solidFill>
                <a:latin typeface="Cambria Math"/>
              </a:rPr>
              <a:t>h</a:t>
            </a:r>
            <a:r>
              <a:rPr sz="633" b="0">
                <a:solidFill>
                  <a:srgbClr val="000000"/>
                </a:solidFill>
                <a:latin typeface="Cambria Math"/>
              </a:rPr>
              <a:t>t</a:t>
            </a:r>
            <a:r>
              <a:rPr sz="633" b="0">
                <a:solidFill>
                  <a:srgbClr val="000000"/>
                </a:solidFill>
                <a:latin typeface="Cambria Math"/>
              </a:rPr>
              <a:t>−</a:t>
            </a:r>
            <a:r>
              <a:rPr sz="633" b="0">
                <a:solidFill>
                  <a:srgbClr val="000000"/>
                </a:solidFill>
                <a:latin typeface="Cambria Math"/>
              </a:rPr>
              <a:t>1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31241" y="2679801"/>
            <a:ext cx="4954154" cy="17057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6" b="0">
                <a:solidFill>
                  <a:srgbClr val="000000"/>
                </a:solidFill>
                <a:latin typeface="Cambria Math"/>
              </a:rPr>
              <a:t>x</a:t>
            </a:r>
            <a:r>
              <a:rPr sz="633" b="0">
                <a:solidFill>
                  <a:srgbClr val="000000"/>
                </a:solidFill>
                <a:latin typeface="Cambria Math"/>
              </a:rPr>
              <a:t>t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3112933" y="2359154"/>
            <a:ext cx="2672462" cy="17057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6" b="0">
                <a:solidFill>
                  <a:srgbClr val="FFFFFF"/>
                </a:solidFill>
                <a:latin typeface="Cambria Math"/>
              </a:rPr>
              <a:t>h</a:t>
            </a:r>
            <a:r>
              <a:rPr sz="633" b="0">
                <a:solidFill>
                  <a:srgbClr val="FFFFFF"/>
                </a:solidFill>
                <a:latin typeface="Cambria Math"/>
              </a:rPr>
              <a:t>t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2798793" y="773695"/>
            <a:ext cx="2986602" cy="17057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6" b="0">
                <a:solidFill>
                  <a:srgbClr val="FFFFFF"/>
                </a:solidFill>
                <a:latin typeface="Cambria Math"/>
              </a:rPr>
              <a:t>h</a:t>
            </a:r>
            <a:r>
              <a:rPr sz="633" b="0">
                <a:solidFill>
                  <a:srgbClr val="FFFFFF"/>
                </a:solidFill>
                <a:latin typeface="Cambria Math"/>
              </a:rPr>
              <a:t>t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276684" y="1118584"/>
            <a:ext cx="5508711" cy="17057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6" b="0">
                <a:solidFill>
                  <a:srgbClr val="FFFFFF"/>
                </a:solidFill>
                <a:latin typeface="Cambria Math"/>
              </a:rPr>
              <a:t>C</a:t>
            </a:r>
            <a:r>
              <a:rPr sz="633" b="0">
                <a:solidFill>
                  <a:srgbClr val="FFFFFF"/>
                </a:solidFill>
                <a:latin typeface="Cambria Math"/>
              </a:rPr>
              <a:t>t</a:t>
            </a:r>
            <a:r>
              <a:rPr sz="633" b="0">
                <a:solidFill>
                  <a:srgbClr val="FFFFFF"/>
                </a:solidFill>
                <a:latin typeface="Cambria Math"/>
              </a:rPr>
              <a:t>−</a:t>
            </a:r>
            <a:r>
              <a:rPr sz="633" b="0">
                <a:solidFill>
                  <a:srgbClr val="FFFFFF"/>
                </a:solidFill>
                <a:latin typeface="Cambria Math"/>
              </a:rPr>
              <a:t>1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3112933" y="1122770"/>
            <a:ext cx="2672462" cy="17057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6" b="0">
                <a:solidFill>
                  <a:srgbClr val="FFFFFF"/>
                </a:solidFill>
                <a:latin typeface="Cambria Math"/>
              </a:rPr>
              <a:t>C</a:t>
            </a:r>
            <a:r>
              <a:rPr sz="633" b="0">
                <a:solidFill>
                  <a:srgbClr val="FFFFFF"/>
                </a:solidFill>
                <a:latin typeface="Cambria Math"/>
              </a:rPr>
              <a:t>t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696599" y="1904004"/>
            <a:ext cx="4088796" cy="17057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6" b="0">
                <a:solidFill>
                  <a:srgbClr val="000000"/>
                </a:solidFill>
                <a:latin typeface="Cambria Math"/>
              </a:rPr>
              <a:t>tanh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356896" y="1889478"/>
            <a:ext cx="4428499" cy="17057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6" b="0">
                <a:solidFill>
                  <a:srgbClr val="000000"/>
                </a:solidFill>
                <a:latin typeface="Cambria Math"/>
              </a:rPr>
              <a:t>σ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17183" y="1889478"/>
            <a:ext cx="4768212" cy="17057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6" b="0">
                <a:solidFill>
                  <a:srgbClr val="FFFFFF"/>
                </a:solidFill>
                <a:latin typeface="Cambria Math"/>
              </a:rPr>
              <a:t>σ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2189579" y="1889478"/>
            <a:ext cx="3595816" cy="17057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6" b="0">
                <a:solidFill>
                  <a:srgbClr val="FFFFFF"/>
                </a:solidFill>
                <a:latin typeface="Cambria Math"/>
              </a:rPr>
              <a:t>σ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2478549" y="1689046"/>
            <a:ext cx="3306846" cy="17057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6" b="0">
                <a:solidFill>
                  <a:srgbClr val="FFFFFF"/>
                </a:solidFill>
                <a:latin typeface="Cambria Math"/>
              </a:rPr>
              <a:t>×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2411293" y="1362562"/>
            <a:ext cx="3374102" cy="17057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6" b="0">
                <a:solidFill>
                  <a:srgbClr val="FFFFFF"/>
                </a:solidFill>
                <a:latin typeface="Cambria Math"/>
              </a:rPr>
              <a:t>tanh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763856" y="1553271"/>
            <a:ext cx="4021539" cy="17057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6" b="0">
                <a:solidFill>
                  <a:srgbClr val="FFFFFF"/>
                </a:solidFill>
                <a:latin typeface="Cambria Math"/>
              </a:rPr>
              <a:t>×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1763856" y="1120934"/>
            <a:ext cx="4021539" cy="17057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6" b="0">
                <a:solidFill>
                  <a:srgbClr val="FFFFFF"/>
                </a:solidFill>
                <a:latin typeface="Cambria Math"/>
              </a:rPr>
              <a:t>+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007801" y="1119508"/>
            <a:ext cx="4777594" cy="17057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6" b="0">
                <a:solidFill>
                  <a:srgbClr val="FFFFFF"/>
                </a:solidFill>
                <a:latin typeface="Cambria Math"/>
              </a:rPr>
              <a:t>×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837839" y="2342295"/>
            <a:ext cx="4947557" cy="17057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6" b="0">
                <a:solidFill>
                  <a:srgbClr val="FFFFFF"/>
                </a:solidFill>
                <a:latin typeface="MSAM10"/>
              </a:rPr>
              <a:t>⊞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3504029" y="1092867"/>
            <a:ext cx="2281366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1">
                <a:solidFill>
                  <a:srgbClr val="000000"/>
                </a:solidFill>
                <a:latin typeface="Josefin Sans"/>
              </a:rPr>
              <a:t>Input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Gate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3504029" y="1264531"/>
            <a:ext cx="2281366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Decides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which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information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should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3504029" y="1436603"/>
            <a:ext cx="2281366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be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updated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cell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state.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3730267" y="1748381"/>
            <a:ext cx="2055128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Cambria Math"/>
              </a:rPr>
              <a:t>i</a:t>
            </a:r>
            <a:r>
              <a:rPr sz="797" b="0">
                <a:solidFill>
                  <a:srgbClr val="000000"/>
                </a:solidFill>
                <a:latin typeface="Cambria Math"/>
              </a:rPr>
              <a:t>t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=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σ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(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W</a:t>
            </a:r>
            <a:r>
              <a:rPr sz="797" b="0">
                <a:solidFill>
                  <a:srgbClr val="000000"/>
                </a:solidFill>
                <a:latin typeface="Cambria Math"/>
              </a:rPr>
              <a:t>i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·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[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h</a:t>
            </a:r>
            <a:r>
              <a:rPr sz="797" b="0">
                <a:solidFill>
                  <a:srgbClr val="000000"/>
                </a:solidFill>
                <a:latin typeface="Cambria Math"/>
              </a:rPr>
              <a:t>t</a:t>
            </a:r>
            <a:r>
              <a:rPr sz="797" b="0">
                <a:solidFill>
                  <a:srgbClr val="000000"/>
                </a:solidFill>
                <a:latin typeface="Cambria Math"/>
              </a:rPr>
              <a:t>−</a:t>
            </a:r>
            <a:r>
              <a:rPr sz="797" b="0">
                <a:solidFill>
                  <a:srgbClr val="000000"/>
                </a:solidFill>
                <a:latin typeface="Cambria Math"/>
              </a:rPr>
              <a:t>1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, x</a:t>
            </a:r>
            <a:r>
              <a:rPr sz="797" b="0">
                <a:solidFill>
                  <a:srgbClr val="000000"/>
                </a:solidFill>
                <a:latin typeface="Cambria Math"/>
              </a:rPr>
              <a:t>t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] +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b</a:t>
            </a:r>
            <a:r>
              <a:rPr sz="797" b="0">
                <a:solidFill>
                  <a:srgbClr val="000000"/>
                </a:solidFill>
                <a:latin typeface="Cambria Math"/>
              </a:rPr>
              <a:t>i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)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3560965" y="1944944"/>
            <a:ext cx="2224430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Cambria Math"/>
              </a:rPr>
              <a:t>˜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C</a:t>
            </a:r>
            <a:r>
              <a:rPr sz="797" b="0">
                <a:solidFill>
                  <a:srgbClr val="000000"/>
                </a:solidFill>
                <a:latin typeface="Cambria Math"/>
              </a:rPr>
              <a:t>t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= tanh (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W</a:t>
            </a:r>
            <a:r>
              <a:rPr sz="797" b="0">
                <a:solidFill>
                  <a:srgbClr val="000000"/>
                </a:solidFill>
                <a:latin typeface="Cambria Math"/>
              </a:rPr>
              <a:t>C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·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[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h</a:t>
            </a:r>
            <a:r>
              <a:rPr sz="797" b="0">
                <a:solidFill>
                  <a:srgbClr val="000000"/>
                </a:solidFill>
                <a:latin typeface="Cambria Math"/>
              </a:rPr>
              <a:t>t</a:t>
            </a:r>
            <a:r>
              <a:rPr sz="797" b="0">
                <a:solidFill>
                  <a:srgbClr val="000000"/>
                </a:solidFill>
                <a:latin typeface="Cambria Math"/>
              </a:rPr>
              <a:t>−</a:t>
            </a:r>
            <a:r>
              <a:rPr sz="797" b="0">
                <a:solidFill>
                  <a:srgbClr val="000000"/>
                </a:solidFill>
                <a:latin typeface="Cambria Math"/>
              </a:rPr>
              <a:t>1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, x</a:t>
            </a:r>
            <a:r>
              <a:rPr sz="797" b="0">
                <a:solidFill>
                  <a:srgbClr val="000000"/>
                </a:solidFill>
                <a:latin typeface="Cambria Math"/>
              </a:rPr>
              <a:t>t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] +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b</a:t>
            </a:r>
            <a:r>
              <a:rPr sz="797" b="0">
                <a:solidFill>
                  <a:srgbClr val="000000"/>
                </a:solidFill>
                <a:latin typeface="Cambria Math"/>
              </a:rPr>
              <a:t>C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)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4898159" y="3150918"/>
            <a:ext cx="887236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5640207" y="3150694"/>
            <a:ext cx="145188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12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Freeform 35"/>
          <p:cNvSpPr/>
          <p:nvPr/>
        </p:nvSpPr>
        <p:spPr>
          <a:xfrm>
            <a:off x="647700" y="1028700"/>
            <a:ext cx="2311400" cy="1536700"/>
          </a:xfrm>
          <a:custGeom>
            <a:avLst/>
            <a:gdLst/>
            <a:ahLst/>
            <a:cxnLst/>
            <a:rect l="l" t="t" r="r" b="b"/>
            <a:pathLst>
              <a:path w="182" h="121">
                <a:moveTo>
                  <a:pt x="179" y="0"/>
                </a:moveTo>
                <a:lnTo>
                  <a:pt x="3" y="0"/>
                </a:lnTo>
                <a:lnTo>
                  <a:pt x="3" y="0"/>
                </a:lnTo>
                <a:lnTo>
                  <a:pt x="2" y="0"/>
                </a:lnTo>
                <a:lnTo>
                  <a:pt x="2" y="0"/>
                </a:lnTo>
                <a:lnTo>
                  <a:pt x="1" y="1"/>
                </a:lnTo>
                <a:lnTo>
                  <a:pt x="1" y="1"/>
                </a:lnTo>
                <a:lnTo>
                  <a:pt x="1" y="2"/>
                </a:lnTo>
                <a:lnTo>
                  <a:pt x="0" y="2"/>
                </a:lnTo>
                <a:lnTo>
                  <a:pt x="0" y="3"/>
                </a:lnTo>
                <a:lnTo>
                  <a:pt x="0" y="118"/>
                </a:lnTo>
                <a:lnTo>
                  <a:pt x="0" y="119"/>
                </a:lnTo>
                <a:lnTo>
                  <a:pt x="1" y="119"/>
                </a:lnTo>
                <a:lnTo>
                  <a:pt x="1" y="120"/>
                </a:lnTo>
                <a:lnTo>
                  <a:pt x="1" y="120"/>
                </a:lnTo>
                <a:lnTo>
                  <a:pt x="2" y="121"/>
                </a:lnTo>
                <a:lnTo>
                  <a:pt x="2" y="121"/>
                </a:lnTo>
                <a:lnTo>
                  <a:pt x="3" y="121"/>
                </a:lnTo>
                <a:lnTo>
                  <a:pt x="3" y="121"/>
                </a:lnTo>
                <a:lnTo>
                  <a:pt x="179" y="121"/>
                </a:lnTo>
                <a:lnTo>
                  <a:pt x="180" y="121"/>
                </a:lnTo>
                <a:lnTo>
                  <a:pt x="180" y="121"/>
                </a:lnTo>
                <a:lnTo>
                  <a:pt x="181" y="121"/>
                </a:lnTo>
                <a:lnTo>
                  <a:pt x="181" y="120"/>
                </a:lnTo>
                <a:lnTo>
                  <a:pt x="182" y="120"/>
                </a:lnTo>
                <a:lnTo>
                  <a:pt x="182" y="119"/>
                </a:lnTo>
                <a:lnTo>
                  <a:pt x="182" y="119"/>
                </a:lnTo>
                <a:lnTo>
                  <a:pt x="182" y="118"/>
                </a:lnTo>
                <a:lnTo>
                  <a:pt x="182" y="3"/>
                </a:lnTo>
                <a:lnTo>
                  <a:pt x="182" y="2"/>
                </a:lnTo>
                <a:lnTo>
                  <a:pt x="182" y="2"/>
                </a:lnTo>
                <a:lnTo>
                  <a:pt x="182" y="1"/>
                </a:lnTo>
                <a:lnTo>
                  <a:pt x="181" y="1"/>
                </a:lnTo>
                <a:lnTo>
                  <a:pt x="181" y="0"/>
                </a:lnTo>
                <a:lnTo>
                  <a:pt x="180" y="0"/>
                </a:lnTo>
                <a:lnTo>
                  <a:pt x="180" y="0"/>
                </a:lnTo>
                <a:lnTo>
                  <a:pt x="179" y="0"/>
                </a:lnTo>
                <a:close/>
              </a:path>
            </a:pathLst>
          </a:custGeom>
          <a:solidFill>
            <a:srgbClr val="93D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Freeform 36"/>
          <p:cNvSpPr/>
          <p:nvPr/>
        </p:nvSpPr>
        <p:spPr>
          <a:xfrm>
            <a:off x="1612900" y="1828800"/>
            <a:ext cx="381000" cy="241300"/>
          </a:xfrm>
          <a:custGeom>
            <a:avLst/>
            <a:gdLst/>
            <a:ahLst/>
            <a:cxnLst/>
            <a:rect l="l" t="t" r="r" b="b"/>
            <a:pathLst>
              <a:path w="30" h="19">
                <a:moveTo>
                  <a:pt x="27" y="0"/>
                </a:moveTo>
                <a:lnTo>
                  <a:pt x="3" y="0"/>
                </a:lnTo>
                <a:lnTo>
                  <a:pt x="3" y="0"/>
                </a:lnTo>
                <a:lnTo>
                  <a:pt x="2" y="0"/>
                </a:lnTo>
                <a:lnTo>
                  <a:pt x="1" y="1"/>
                </a:lnTo>
                <a:lnTo>
                  <a:pt x="1" y="1"/>
                </a:lnTo>
                <a:lnTo>
                  <a:pt x="1" y="2"/>
                </a:lnTo>
                <a:lnTo>
                  <a:pt x="0" y="2"/>
                </a:lnTo>
                <a:lnTo>
                  <a:pt x="0" y="3"/>
                </a:lnTo>
                <a:lnTo>
                  <a:pt x="0" y="3"/>
                </a:lnTo>
                <a:lnTo>
                  <a:pt x="0" y="16"/>
                </a:lnTo>
                <a:lnTo>
                  <a:pt x="0" y="17"/>
                </a:lnTo>
                <a:lnTo>
                  <a:pt x="0" y="17"/>
                </a:lnTo>
                <a:lnTo>
                  <a:pt x="1" y="18"/>
                </a:lnTo>
                <a:lnTo>
                  <a:pt x="1" y="18"/>
                </a:lnTo>
                <a:lnTo>
                  <a:pt x="1" y="19"/>
                </a:lnTo>
                <a:lnTo>
                  <a:pt x="2" y="19"/>
                </a:lnTo>
                <a:lnTo>
                  <a:pt x="3" y="19"/>
                </a:lnTo>
                <a:lnTo>
                  <a:pt x="3" y="19"/>
                </a:lnTo>
                <a:lnTo>
                  <a:pt x="27" y="19"/>
                </a:lnTo>
                <a:lnTo>
                  <a:pt x="28" y="19"/>
                </a:lnTo>
                <a:lnTo>
                  <a:pt x="28" y="19"/>
                </a:lnTo>
                <a:lnTo>
                  <a:pt x="29" y="19"/>
                </a:lnTo>
                <a:lnTo>
                  <a:pt x="29" y="18"/>
                </a:lnTo>
                <a:lnTo>
                  <a:pt x="30" y="18"/>
                </a:lnTo>
                <a:lnTo>
                  <a:pt x="30" y="17"/>
                </a:lnTo>
                <a:lnTo>
                  <a:pt x="30" y="17"/>
                </a:lnTo>
                <a:lnTo>
                  <a:pt x="30" y="16"/>
                </a:lnTo>
                <a:lnTo>
                  <a:pt x="30" y="3"/>
                </a:lnTo>
                <a:lnTo>
                  <a:pt x="30" y="3"/>
                </a:lnTo>
                <a:lnTo>
                  <a:pt x="30" y="2"/>
                </a:lnTo>
                <a:lnTo>
                  <a:pt x="30" y="2"/>
                </a:lnTo>
                <a:lnTo>
                  <a:pt x="29" y="1"/>
                </a:lnTo>
                <a:lnTo>
                  <a:pt x="29" y="1"/>
                </a:lnTo>
                <a:lnTo>
                  <a:pt x="28" y="0"/>
                </a:lnTo>
                <a:lnTo>
                  <a:pt x="28" y="0"/>
                </a:lnTo>
                <a:lnTo>
                  <a:pt x="27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Freeform 37"/>
          <p:cNvSpPr/>
          <p:nvPr/>
        </p:nvSpPr>
        <p:spPr>
          <a:xfrm>
            <a:off x="1270000" y="1841500"/>
            <a:ext cx="241300" cy="215900"/>
          </a:xfrm>
          <a:custGeom>
            <a:avLst/>
            <a:gdLst/>
            <a:ahLst/>
            <a:cxnLst/>
            <a:rect l="l" t="t" r="r" b="b"/>
            <a:pathLst>
              <a:path w="19" h="17">
                <a:moveTo>
                  <a:pt x="15" y="0"/>
                </a:moveTo>
                <a:lnTo>
                  <a:pt x="4" y="0"/>
                </a:lnTo>
                <a:lnTo>
                  <a:pt x="3" y="0"/>
                </a:lnTo>
                <a:lnTo>
                  <a:pt x="2" y="1"/>
                </a:lnTo>
                <a:lnTo>
                  <a:pt x="2" y="1"/>
                </a:lnTo>
                <a:lnTo>
                  <a:pt x="1" y="1"/>
                </a:lnTo>
                <a:lnTo>
                  <a:pt x="1" y="2"/>
                </a:lnTo>
                <a:lnTo>
                  <a:pt x="1" y="2"/>
                </a:lnTo>
                <a:lnTo>
                  <a:pt x="0" y="3"/>
                </a:lnTo>
                <a:lnTo>
                  <a:pt x="0" y="3"/>
                </a:lnTo>
                <a:lnTo>
                  <a:pt x="0" y="14"/>
                </a:lnTo>
                <a:lnTo>
                  <a:pt x="0" y="15"/>
                </a:lnTo>
                <a:lnTo>
                  <a:pt x="1" y="15"/>
                </a:lnTo>
                <a:lnTo>
                  <a:pt x="1" y="16"/>
                </a:lnTo>
                <a:lnTo>
                  <a:pt x="1" y="16"/>
                </a:lnTo>
                <a:lnTo>
                  <a:pt x="2" y="17"/>
                </a:lnTo>
                <a:lnTo>
                  <a:pt x="2" y="17"/>
                </a:lnTo>
                <a:lnTo>
                  <a:pt x="3" y="17"/>
                </a:lnTo>
                <a:lnTo>
                  <a:pt x="4" y="17"/>
                </a:lnTo>
                <a:lnTo>
                  <a:pt x="15" y="17"/>
                </a:lnTo>
                <a:lnTo>
                  <a:pt x="16" y="17"/>
                </a:lnTo>
                <a:lnTo>
                  <a:pt x="17" y="17"/>
                </a:lnTo>
                <a:lnTo>
                  <a:pt x="17" y="17"/>
                </a:lnTo>
                <a:lnTo>
                  <a:pt x="18" y="16"/>
                </a:lnTo>
                <a:lnTo>
                  <a:pt x="18" y="16"/>
                </a:lnTo>
                <a:lnTo>
                  <a:pt x="18" y="15"/>
                </a:lnTo>
                <a:lnTo>
                  <a:pt x="19" y="15"/>
                </a:lnTo>
                <a:lnTo>
                  <a:pt x="19" y="14"/>
                </a:lnTo>
                <a:lnTo>
                  <a:pt x="19" y="3"/>
                </a:lnTo>
                <a:lnTo>
                  <a:pt x="19" y="3"/>
                </a:lnTo>
                <a:lnTo>
                  <a:pt x="18" y="2"/>
                </a:lnTo>
                <a:lnTo>
                  <a:pt x="18" y="2"/>
                </a:lnTo>
                <a:lnTo>
                  <a:pt x="18" y="1"/>
                </a:lnTo>
                <a:lnTo>
                  <a:pt x="17" y="1"/>
                </a:lnTo>
                <a:lnTo>
                  <a:pt x="17" y="1"/>
                </a:lnTo>
                <a:lnTo>
                  <a:pt x="16" y="0"/>
                </a:lnTo>
                <a:lnTo>
                  <a:pt x="15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Freeform 38"/>
          <p:cNvSpPr/>
          <p:nvPr/>
        </p:nvSpPr>
        <p:spPr>
          <a:xfrm>
            <a:off x="939800" y="1841500"/>
            <a:ext cx="228600" cy="215900"/>
          </a:xfrm>
          <a:custGeom>
            <a:avLst/>
            <a:gdLst/>
            <a:ahLst/>
            <a:cxnLst/>
            <a:rect l="l" t="t" r="r" b="b"/>
            <a:pathLst>
              <a:path w="18" h="17">
                <a:moveTo>
                  <a:pt x="15" y="0"/>
                </a:moveTo>
                <a:lnTo>
                  <a:pt x="3" y="0"/>
                </a:lnTo>
                <a:lnTo>
                  <a:pt x="2" y="0"/>
                </a:lnTo>
                <a:lnTo>
                  <a:pt x="2" y="1"/>
                </a:lnTo>
                <a:lnTo>
                  <a:pt x="1" y="1"/>
                </a:lnTo>
                <a:lnTo>
                  <a:pt x="1" y="1"/>
                </a:lnTo>
                <a:lnTo>
                  <a:pt x="0" y="2"/>
                </a:lnTo>
                <a:lnTo>
                  <a:pt x="0" y="2"/>
                </a:lnTo>
                <a:lnTo>
                  <a:pt x="0" y="3"/>
                </a:lnTo>
                <a:lnTo>
                  <a:pt x="0" y="3"/>
                </a:lnTo>
                <a:lnTo>
                  <a:pt x="0" y="14"/>
                </a:lnTo>
                <a:lnTo>
                  <a:pt x="0" y="15"/>
                </a:lnTo>
                <a:lnTo>
                  <a:pt x="0" y="15"/>
                </a:lnTo>
                <a:lnTo>
                  <a:pt x="0" y="16"/>
                </a:lnTo>
                <a:lnTo>
                  <a:pt x="1" y="16"/>
                </a:lnTo>
                <a:lnTo>
                  <a:pt x="1" y="17"/>
                </a:lnTo>
                <a:lnTo>
                  <a:pt x="2" y="17"/>
                </a:lnTo>
                <a:lnTo>
                  <a:pt x="2" y="17"/>
                </a:lnTo>
                <a:lnTo>
                  <a:pt x="3" y="17"/>
                </a:lnTo>
                <a:lnTo>
                  <a:pt x="15" y="17"/>
                </a:lnTo>
                <a:lnTo>
                  <a:pt x="15" y="17"/>
                </a:lnTo>
                <a:lnTo>
                  <a:pt x="16" y="17"/>
                </a:lnTo>
                <a:lnTo>
                  <a:pt x="16" y="17"/>
                </a:lnTo>
                <a:lnTo>
                  <a:pt x="17" y="16"/>
                </a:lnTo>
                <a:lnTo>
                  <a:pt x="17" y="16"/>
                </a:lnTo>
                <a:lnTo>
                  <a:pt x="18" y="15"/>
                </a:lnTo>
                <a:lnTo>
                  <a:pt x="18" y="15"/>
                </a:lnTo>
                <a:lnTo>
                  <a:pt x="18" y="14"/>
                </a:lnTo>
                <a:lnTo>
                  <a:pt x="18" y="3"/>
                </a:lnTo>
                <a:lnTo>
                  <a:pt x="18" y="3"/>
                </a:lnTo>
                <a:lnTo>
                  <a:pt x="18" y="2"/>
                </a:lnTo>
                <a:lnTo>
                  <a:pt x="17" y="2"/>
                </a:lnTo>
                <a:lnTo>
                  <a:pt x="17" y="1"/>
                </a:lnTo>
                <a:lnTo>
                  <a:pt x="16" y="1"/>
                </a:lnTo>
                <a:lnTo>
                  <a:pt x="16" y="1"/>
                </a:lnTo>
                <a:lnTo>
                  <a:pt x="15" y="0"/>
                </a:lnTo>
                <a:lnTo>
                  <a:pt x="15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Freeform 39"/>
          <p:cNvSpPr/>
          <p:nvPr/>
        </p:nvSpPr>
        <p:spPr>
          <a:xfrm>
            <a:off x="2108200" y="1841500"/>
            <a:ext cx="228600" cy="215900"/>
          </a:xfrm>
          <a:custGeom>
            <a:avLst/>
            <a:gdLst/>
            <a:ahLst/>
            <a:cxnLst/>
            <a:rect l="l" t="t" r="r" b="b"/>
            <a:pathLst>
              <a:path w="18" h="17">
                <a:moveTo>
                  <a:pt x="15" y="0"/>
                </a:moveTo>
                <a:lnTo>
                  <a:pt x="3" y="0"/>
                </a:lnTo>
                <a:lnTo>
                  <a:pt x="2" y="0"/>
                </a:lnTo>
                <a:lnTo>
                  <a:pt x="2" y="1"/>
                </a:lnTo>
                <a:lnTo>
                  <a:pt x="1" y="1"/>
                </a:lnTo>
                <a:lnTo>
                  <a:pt x="1" y="1"/>
                </a:lnTo>
                <a:lnTo>
                  <a:pt x="0" y="2"/>
                </a:lnTo>
                <a:lnTo>
                  <a:pt x="0" y="2"/>
                </a:lnTo>
                <a:lnTo>
                  <a:pt x="0" y="3"/>
                </a:lnTo>
                <a:lnTo>
                  <a:pt x="0" y="3"/>
                </a:lnTo>
                <a:lnTo>
                  <a:pt x="0" y="14"/>
                </a:lnTo>
                <a:lnTo>
                  <a:pt x="0" y="15"/>
                </a:lnTo>
                <a:lnTo>
                  <a:pt x="0" y="15"/>
                </a:lnTo>
                <a:lnTo>
                  <a:pt x="0" y="16"/>
                </a:lnTo>
                <a:lnTo>
                  <a:pt x="1" y="16"/>
                </a:lnTo>
                <a:lnTo>
                  <a:pt x="1" y="17"/>
                </a:lnTo>
                <a:lnTo>
                  <a:pt x="2" y="17"/>
                </a:lnTo>
                <a:lnTo>
                  <a:pt x="2" y="17"/>
                </a:lnTo>
                <a:lnTo>
                  <a:pt x="3" y="17"/>
                </a:lnTo>
                <a:lnTo>
                  <a:pt x="15" y="17"/>
                </a:lnTo>
                <a:lnTo>
                  <a:pt x="16" y="17"/>
                </a:lnTo>
                <a:lnTo>
                  <a:pt x="16" y="17"/>
                </a:lnTo>
                <a:lnTo>
                  <a:pt x="17" y="17"/>
                </a:lnTo>
                <a:lnTo>
                  <a:pt x="17" y="16"/>
                </a:lnTo>
                <a:lnTo>
                  <a:pt x="18" y="16"/>
                </a:lnTo>
                <a:lnTo>
                  <a:pt x="18" y="15"/>
                </a:lnTo>
                <a:lnTo>
                  <a:pt x="18" y="15"/>
                </a:lnTo>
                <a:lnTo>
                  <a:pt x="18" y="14"/>
                </a:lnTo>
                <a:lnTo>
                  <a:pt x="18" y="3"/>
                </a:lnTo>
                <a:lnTo>
                  <a:pt x="18" y="3"/>
                </a:lnTo>
                <a:lnTo>
                  <a:pt x="18" y="2"/>
                </a:lnTo>
                <a:lnTo>
                  <a:pt x="18" y="2"/>
                </a:lnTo>
                <a:lnTo>
                  <a:pt x="17" y="1"/>
                </a:lnTo>
                <a:lnTo>
                  <a:pt x="17" y="1"/>
                </a:lnTo>
                <a:lnTo>
                  <a:pt x="16" y="1"/>
                </a:lnTo>
                <a:lnTo>
                  <a:pt x="16" y="0"/>
                </a:lnTo>
                <a:lnTo>
                  <a:pt x="15" y="0"/>
                </a:lnTo>
                <a:close/>
              </a:path>
            </a:pathLst>
          </a:custGeom>
          <a:solidFill>
            <a:srgbClr val="F79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Freeform 40"/>
          <p:cNvSpPr/>
          <p:nvPr/>
        </p:nvSpPr>
        <p:spPr>
          <a:xfrm>
            <a:off x="2413000" y="1638300"/>
            <a:ext cx="215900" cy="215900"/>
          </a:xfrm>
          <a:custGeom>
            <a:avLst/>
            <a:gdLst/>
            <a:ahLst/>
            <a:cxnLst/>
            <a:rect l="l" t="t" r="r" b="b"/>
            <a:pathLst>
              <a:path w="17" h="17">
                <a:moveTo>
                  <a:pt x="17" y="9"/>
                </a:moveTo>
                <a:lnTo>
                  <a:pt x="17" y="7"/>
                </a:lnTo>
                <a:lnTo>
                  <a:pt x="17" y="5"/>
                </a:lnTo>
                <a:lnTo>
                  <a:pt x="16" y="4"/>
                </a:lnTo>
                <a:lnTo>
                  <a:pt x="15" y="3"/>
                </a:lnTo>
                <a:lnTo>
                  <a:pt x="13" y="2"/>
                </a:lnTo>
                <a:lnTo>
                  <a:pt x="12" y="1"/>
                </a:lnTo>
                <a:lnTo>
                  <a:pt x="10" y="0"/>
                </a:lnTo>
                <a:lnTo>
                  <a:pt x="9" y="0"/>
                </a:lnTo>
                <a:lnTo>
                  <a:pt x="7" y="0"/>
                </a:lnTo>
                <a:lnTo>
                  <a:pt x="5" y="1"/>
                </a:lnTo>
                <a:lnTo>
                  <a:pt x="4" y="2"/>
                </a:lnTo>
                <a:lnTo>
                  <a:pt x="2" y="3"/>
                </a:lnTo>
                <a:lnTo>
                  <a:pt x="1" y="4"/>
                </a:lnTo>
                <a:lnTo>
                  <a:pt x="1" y="5"/>
                </a:lnTo>
                <a:lnTo>
                  <a:pt x="0" y="7"/>
                </a:lnTo>
                <a:lnTo>
                  <a:pt x="0" y="9"/>
                </a:lnTo>
                <a:lnTo>
                  <a:pt x="0" y="10"/>
                </a:lnTo>
                <a:lnTo>
                  <a:pt x="1" y="12"/>
                </a:lnTo>
                <a:lnTo>
                  <a:pt x="1" y="14"/>
                </a:lnTo>
                <a:lnTo>
                  <a:pt x="2" y="15"/>
                </a:lnTo>
                <a:lnTo>
                  <a:pt x="4" y="16"/>
                </a:lnTo>
                <a:lnTo>
                  <a:pt x="5" y="17"/>
                </a:lnTo>
                <a:lnTo>
                  <a:pt x="7" y="17"/>
                </a:lnTo>
                <a:lnTo>
                  <a:pt x="9" y="17"/>
                </a:lnTo>
                <a:lnTo>
                  <a:pt x="10" y="17"/>
                </a:lnTo>
                <a:lnTo>
                  <a:pt x="12" y="17"/>
                </a:lnTo>
                <a:lnTo>
                  <a:pt x="13" y="16"/>
                </a:lnTo>
                <a:lnTo>
                  <a:pt x="15" y="15"/>
                </a:lnTo>
                <a:lnTo>
                  <a:pt x="16" y="14"/>
                </a:lnTo>
                <a:lnTo>
                  <a:pt x="17" y="12"/>
                </a:lnTo>
                <a:lnTo>
                  <a:pt x="17" y="10"/>
                </a:lnTo>
                <a:lnTo>
                  <a:pt x="17" y="9"/>
                </a:lnTo>
                <a:close/>
              </a:path>
            </a:pathLst>
          </a:cu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Freeform 41"/>
          <p:cNvSpPr/>
          <p:nvPr/>
        </p:nvSpPr>
        <p:spPr>
          <a:xfrm>
            <a:off x="2324100" y="1295400"/>
            <a:ext cx="393700" cy="241300"/>
          </a:xfrm>
          <a:custGeom>
            <a:avLst/>
            <a:gdLst/>
            <a:ahLst/>
            <a:cxnLst/>
            <a:rect l="l" t="t" r="r" b="b"/>
            <a:pathLst>
              <a:path w="31" h="19">
                <a:moveTo>
                  <a:pt x="28" y="0"/>
                </a:moveTo>
                <a:lnTo>
                  <a:pt x="4" y="0"/>
                </a:lnTo>
                <a:lnTo>
                  <a:pt x="3" y="0"/>
                </a:lnTo>
                <a:lnTo>
                  <a:pt x="2" y="0"/>
                </a:lnTo>
                <a:lnTo>
                  <a:pt x="2" y="0"/>
                </a:lnTo>
                <a:lnTo>
                  <a:pt x="1" y="0"/>
                </a:lnTo>
                <a:lnTo>
                  <a:pt x="1" y="1"/>
                </a:lnTo>
                <a:lnTo>
                  <a:pt x="1" y="1"/>
                </a:lnTo>
                <a:lnTo>
                  <a:pt x="0" y="2"/>
                </a:lnTo>
                <a:lnTo>
                  <a:pt x="0" y="3"/>
                </a:lnTo>
                <a:lnTo>
                  <a:pt x="0" y="15"/>
                </a:lnTo>
                <a:lnTo>
                  <a:pt x="0" y="16"/>
                </a:lnTo>
                <a:lnTo>
                  <a:pt x="1" y="17"/>
                </a:lnTo>
                <a:lnTo>
                  <a:pt x="1" y="17"/>
                </a:lnTo>
                <a:lnTo>
                  <a:pt x="1" y="18"/>
                </a:lnTo>
                <a:lnTo>
                  <a:pt x="2" y="18"/>
                </a:lnTo>
                <a:lnTo>
                  <a:pt x="2" y="18"/>
                </a:lnTo>
                <a:lnTo>
                  <a:pt x="3" y="18"/>
                </a:lnTo>
                <a:lnTo>
                  <a:pt x="4" y="19"/>
                </a:lnTo>
                <a:lnTo>
                  <a:pt x="28" y="19"/>
                </a:lnTo>
                <a:lnTo>
                  <a:pt x="28" y="18"/>
                </a:lnTo>
                <a:lnTo>
                  <a:pt x="29" y="18"/>
                </a:lnTo>
                <a:lnTo>
                  <a:pt x="29" y="18"/>
                </a:lnTo>
                <a:lnTo>
                  <a:pt x="30" y="18"/>
                </a:lnTo>
                <a:lnTo>
                  <a:pt x="30" y="17"/>
                </a:lnTo>
                <a:lnTo>
                  <a:pt x="30" y="17"/>
                </a:lnTo>
                <a:lnTo>
                  <a:pt x="31" y="16"/>
                </a:lnTo>
                <a:lnTo>
                  <a:pt x="31" y="15"/>
                </a:lnTo>
                <a:lnTo>
                  <a:pt x="31" y="3"/>
                </a:lnTo>
                <a:lnTo>
                  <a:pt x="31" y="2"/>
                </a:lnTo>
                <a:lnTo>
                  <a:pt x="30" y="1"/>
                </a:lnTo>
                <a:lnTo>
                  <a:pt x="30" y="1"/>
                </a:lnTo>
                <a:lnTo>
                  <a:pt x="30" y="0"/>
                </a:lnTo>
                <a:lnTo>
                  <a:pt x="29" y="0"/>
                </a:lnTo>
                <a:lnTo>
                  <a:pt x="29" y="0"/>
                </a:lnTo>
                <a:lnTo>
                  <a:pt x="28" y="0"/>
                </a:lnTo>
                <a:lnTo>
                  <a:pt x="28" y="0"/>
                </a:lnTo>
                <a:close/>
              </a:path>
            </a:pathLst>
          </a:custGeom>
          <a:solidFill>
            <a:srgbClr val="F79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Freeform 42"/>
          <p:cNvSpPr/>
          <p:nvPr/>
        </p:nvSpPr>
        <p:spPr>
          <a:xfrm>
            <a:off x="1701800" y="1498600"/>
            <a:ext cx="215900" cy="228600"/>
          </a:xfrm>
          <a:custGeom>
            <a:avLst/>
            <a:gdLst/>
            <a:ahLst/>
            <a:cxnLst/>
            <a:rect l="l" t="t" r="r" b="b"/>
            <a:pathLst>
              <a:path w="17" h="18">
                <a:moveTo>
                  <a:pt x="17" y="9"/>
                </a:moveTo>
                <a:lnTo>
                  <a:pt x="17" y="7"/>
                </a:lnTo>
                <a:lnTo>
                  <a:pt x="16" y="6"/>
                </a:lnTo>
                <a:lnTo>
                  <a:pt x="15" y="4"/>
                </a:lnTo>
                <a:lnTo>
                  <a:pt x="14" y="3"/>
                </a:lnTo>
                <a:lnTo>
                  <a:pt x="13" y="2"/>
                </a:lnTo>
                <a:lnTo>
                  <a:pt x="12" y="1"/>
                </a:lnTo>
                <a:lnTo>
                  <a:pt x="10" y="1"/>
                </a:lnTo>
                <a:lnTo>
                  <a:pt x="8" y="0"/>
                </a:lnTo>
                <a:lnTo>
                  <a:pt x="7" y="1"/>
                </a:lnTo>
                <a:lnTo>
                  <a:pt x="5" y="1"/>
                </a:lnTo>
                <a:lnTo>
                  <a:pt x="3" y="2"/>
                </a:lnTo>
                <a:lnTo>
                  <a:pt x="2" y="3"/>
                </a:lnTo>
                <a:lnTo>
                  <a:pt x="1" y="4"/>
                </a:lnTo>
                <a:lnTo>
                  <a:pt x="0" y="6"/>
                </a:lnTo>
                <a:lnTo>
                  <a:pt x="0" y="7"/>
                </a:lnTo>
                <a:lnTo>
                  <a:pt x="0" y="9"/>
                </a:lnTo>
                <a:lnTo>
                  <a:pt x="0" y="11"/>
                </a:lnTo>
                <a:lnTo>
                  <a:pt x="0" y="12"/>
                </a:lnTo>
                <a:lnTo>
                  <a:pt x="1" y="14"/>
                </a:lnTo>
                <a:lnTo>
                  <a:pt x="2" y="15"/>
                </a:lnTo>
                <a:lnTo>
                  <a:pt x="3" y="16"/>
                </a:lnTo>
                <a:lnTo>
                  <a:pt x="5" y="17"/>
                </a:lnTo>
                <a:lnTo>
                  <a:pt x="7" y="18"/>
                </a:lnTo>
                <a:lnTo>
                  <a:pt x="8" y="18"/>
                </a:lnTo>
                <a:lnTo>
                  <a:pt x="10" y="18"/>
                </a:lnTo>
                <a:lnTo>
                  <a:pt x="12" y="17"/>
                </a:lnTo>
                <a:lnTo>
                  <a:pt x="13" y="16"/>
                </a:lnTo>
                <a:lnTo>
                  <a:pt x="14" y="15"/>
                </a:lnTo>
                <a:lnTo>
                  <a:pt x="15" y="14"/>
                </a:lnTo>
                <a:lnTo>
                  <a:pt x="16" y="12"/>
                </a:lnTo>
                <a:lnTo>
                  <a:pt x="17" y="11"/>
                </a:lnTo>
                <a:lnTo>
                  <a:pt x="17" y="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Freeform 43"/>
          <p:cNvSpPr/>
          <p:nvPr/>
        </p:nvSpPr>
        <p:spPr>
          <a:xfrm>
            <a:off x="1701800" y="1066800"/>
            <a:ext cx="215900" cy="228600"/>
          </a:xfrm>
          <a:custGeom>
            <a:avLst/>
            <a:gdLst/>
            <a:ahLst/>
            <a:cxnLst/>
            <a:rect l="l" t="t" r="r" b="b"/>
            <a:pathLst>
              <a:path w="17" h="18">
                <a:moveTo>
                  <a:pt x="17" y="9"/>
                </a:moveTo>
                <a:lnTo>
                  <a:pt x="17" y="7"/>
                </a:lnTo>
                <a:lnTo>
                  <a:pt x="16" y="5"/>
                </a:lnTo>
                <a:lnTo>
                  <a:pt x="15" y="4"/>
                </a:lnTo>
                <a:lnTo>
                  <a:pt x="14" y="3"/>
                </a:lnTo>
                <a:lnTo>
                  <a:pt x="13" y="2"/>
                </a:lnTo>
                <a:lnTo>
                  <a:pt x="12" y="1"/>
                </a:lnTo>
                <a:lnTo>
                  <a:pt x="10" y="0"/>
                </a:lnTo>
                <a:lnTo>
                  <a:pt x="8" y="0"/>
                </a:lnTo>
                <a:lnTo>
                  <a:pt x="7" y="0"/>
                </a:lnTo>
                <a:lnTo>
                  <a:pt x="5" y="1"/>
                </a:lnTo>
                <a:lnTo>
                  <a:pt x="3" y="2"/>
                </a:lnTo>
                <a:lnTo>
                  <a:pt x="2" y="3"/>
                </a:lnTo>
                <a:lnTo>
                  <a:pt x="1" y="4"/>
                </a:lnTo>
                <a:lnTo>
                  <a:pt x="0" y="5"/>
                </a:lnTo>
                <a:lnTo>
                  <a:pt x="0" y="7"/>
                </a:lnTo>
                <a:lnTo>
                  <a:pt x="0" y="9"/>
                </a:lnTo>
                <a:lnTo>
                  <a:pt x="0" y="11"/>
                </a:lnTo>
                <a:lnTo>
                  <a:pt x="0" y="12"/>
                </a:lnTo>
                <a:lnTo>
                  <a:pt x="1" y="14"/>
                </a:lnTo>
                <a:lnTo>
                  <a:pt x="2" y="15"/>
                </a:lnTo>
                <a:lnTo>
                  <a:pt x="3" y="16"/>
                </a:lnTo>
                <a:lnTo>
                  <a:pt x="5" y="17"/>
                </a:lnTo>
                <a:lnTo>
                  <a:pt x="7" y="17"/>
                </a:lnTo>
                <a:lnTo>
                  <a:pt x="8" y="18"/>
                </a:lnTo>
                <a:lnTo>
                  <a:pt x="10" y="17"/>
                </a:lnTo>
                <a:lnTo>
                  <a:pt x="12" y="17"/>
                </a:lnTo>
                <a:lnTo>
                  <a:pt x="13" y="16"/>
                </a:lnTo>
                <a:lnTo>
                  <a:pt x="14" y="15"/>
                </a:lnTo>
                <a:lnTo>
                  <a:pt x="15" y="14"/>
                </a:lnTo>
                <a:lnTo>
                  <a:pt x="16" y="12"/>
                </a:lnTo>
                <a:lnTo>
                  <a:pt x="17" y="11"/>
                </a:lnTo>
                <a:lnTo>
                  <a:pt x="17" y="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Freeform 44"/>
          <p:cNvSpPr/>
          <p:nvPr/>
        </p:nvSpPr>
        <p:spPr>
          <a:xfrm>
            <a:off x="939800" y="1066800"/>
            <a:ext cx="215900" cy="228600"/>
          </a:xfrm>
          <a:custGeom>
            <a:avLst/>
            <a:gdLst/>
            <a:ahLst/>
            <a:cxnLst/>
            <a:rect l="l" t="t" r="r" b="b"/>
            <a:pathLst>
              <a:path w="17" h="18">
                <a:moveTo>
                  <a:pt x="17" y="9"/>
                </a:moveTo>
                <a:lnTo>
                  <a:pt x="17" y="7"/>
                </a:lnTo>
                <a:lnTo>
                  <a:pt x="17" y="5"/>
                </a:lnTo>
                <a:lnTo>
                  <a:pt x="16" y="4"/>
                </a:lnTo>
                <a:lnTo>
                  <a:pt x="15" y="3"/>
                </a:lnTo>
                <a:lnTo>
                  <a:pt x="14" y="2"/>
                </a:lnTo>
                <a:lnTo>
                  <a:pt x="12" y="1"/>
                </a:lnTo>
                <a:lnTo>
                  <a:pt x="10" y="0"/>
                </a:lnTo>
                <a:lnTo>
                  <a:pt x="9" y="0"/>
                </a:lnTo>
                <a:lnTo>
                  <a:pt x="7" y="0"/>
                </a:lnTo>
                <a:lnTo>
                  <a:pt x="5" y="1"/>
                </a:lnTo>
                <a:lnTo>
                  <a:pt x="4" y="2"/>
                </a:lnTo>
                <a:lnTo>
                  <a:pt x="3" y="3"/>
                </a:lnTo>
                <a:lnTo>
                  <a:pt x="2" y="4"/>
                </a:lnTo>
                <a:lnTo>
                  <a:pt x="1" y="5"/>
                </a:lnTo>
                <a:lnTo>
                  <a:pt x="0" y="7"/>
                </a:lnTo>
                <a:lnTo>
                  <a:pt x="0" y="9"/>
                </a:lnTo>
                <a:lnTo>
                  <a:pt x="0" y="11"/>
                </a:lnTo>
                <a:lnTo>
                  <a:pt x="1" y="12"/>
                </a:lnTo>
                <a:lnTo>
                  <a:pt x="2" y="14"/>
                </a:lnTo>
                <a:lnTo>
                  <a:pt x="3" y="15"/>
                </a:lnTo>
                <a:lnTo>
                  <a:pt x="4" y="16"/>
                </a:lnTo>
                <a:lnTo>
                  <a:pt x="5" y="17"/>
                </a:lnTo>
                <a:lnTo>
                  <a:pt x="7" y="17"/>
                </a:lnTo>
                <a:lnTo>
                  <a:pt x="9" y="18"/>
                </a:lnTo>
                <a:lnTo>
                  <a:pt x="10" y="17"/>
                </a:lnTo>
                <a:lnTo>
                  <a:pt x="12" y="17"/>
                </a:lnTo>
                <a:lnTo>
                  <a:pt x="14" y="16"/>
                </a:lnTo>
                <a:lnTo>
                  <a:pt x="15" y="15"/>
                </a:lnTo>
                <a:lnTo>
                  <a:pt x="16" y="14"/>
                </a:lnTo>
                <a:lnTo>
                  <a:pt x="17" y="12"/>
                </a:lnTo>
                <a:lnTo>
                  <a:pt x="17" y="11"/>
                </a:lnTo>
                <a:lnTo>
                  <a:pt x="17" y="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Freeform 45"/>
          <p:cNvSpPr/>
          <p:nvPr/>
        </p:nvSpPr>
        <p:spPr>
          <a:xfrm>
            <a:off x="774700" y="2311400"/>
            <a:ext cx="215900" cy="215900"/>
          </a:xfrm>
          <a:custGeom>
            <a:avLst/>
            <a:gdLst/>
            <a:ahLst/>
            <a:cxnLst/>
            <a:rect l="l" t="t" r="r" b="b"/>
            <a:pathLst>
              <a:path w="17" h="17">
                <a:moveTo>
                  <a:pt x="17" y="8"/>
                </a:moveTo>
                <a:lnTo>
                  <a:pt x="17" y="6"/>
                </a:lnTo>
                <a:lnTo>
                  <a:pt x="16" y="5"/>
                </a:lnTo>
                <a:lnTo>
                  <a:pt x="16" y="3"/>
                </a:lnTo>
                <a:lnTo>
                  <a:pt x="14" y="2"/>
                </a:lnTo>
                <a:lnTo>
                  <a:pt x="13" y="1"/>
                </a:lnTo>
                <a:lnTo>
                  <a:pt x="12" y="0"/>
                </a:lnTo>
                <a:lnTo>
                  <a:pt x="10" y="0"/>
                </a:lnTo>
                <a:lnTo>
                  <a:pt x="8" y="0"/>
                </a:lnTo>
                <a:lnTo>
                  <a:pt x="7" y="0"/>
                </a:lnTo>
                <a:lnTo>
                  <a:pt x="5" y="0"/>
                </a:lnTo>
                <a:lnTo>
                  <a:pt x="3" y="1"/>
                </a:lnTo>
                <a:lnTo>
                  <a:pt x="2" y="2"/>
                </a:lnTo>
                <a:lnTo>
                  <a:pt x="1" y="3"/>
                </a:lnTo>
                <a:lnTo>
                  <a:pt x="0" y="5"/>
                </a:lnTo>
                <a:lnTo>
                  <a:pt x="0" y="6"/>
                </a:lnTo>
                <a:lnTo>
                  <a:pt x="0" y="8"/>
                </a:lnTo>
                <a:lnTo>
                  <a:pt x="0" y="10"/>
                </a:lnTo>
                <a:lnTo>
                  <a:pt x="0" y="12"/>
                </a:lnTo>
                <a:lnTo>
                  <a:pt x="1" y="13"/>
                </a:lnTo>
                <a:lnTo>
                  <a:pt x="2" y="14"/>
                </a:lnTo>
                <a:lnTo>
                  <a:pt x="3" y="15"/>
                </a:lnTo>
                <a:lnTo>
                  <a:pt x="5" y="16"/>
                </a:lnTo>
                <a:lnTo>
                  <a:pt x="7" y="17"/>
                </a:lnTo>
                <a:lnTo>
                  <a:pt x="8" y="17"/>
                </a:lnTo>
                <a:lnTo>
                  <a:pt x="10" y="17"/>
                </a:lnTo>
                <a:lnTo>
                  <a:pt x="12" y="16"/>
                </a:lnTo>
                <a:lnTo>
                  <a:pt x="13" y="15"/>
                </a:lnTo>
                <a:lnTo>
                  <a:pt x="14" y="14"/>
                </a:lnTo>
                <a:lnTo>
                  <a:pt x="16" y="13"/>
                </a:lnTo>
                <a:lnTo>
                  <a:pt x="16" y="12"/>
                </a:lnTo>
                <a:lnTo>
                  <a:pt x="17" y="10"/>
                </a:lnTo>
                <a:lnTo>
                  <a:pt x="17" y="8"/>
                </a:lnTo>
                <a:close/>
              </a:path>
            </a:pathLst>
          </a:cu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7" name="Connector 46"/>
          <p:cNvCxnSpPr/>
          <p:nvPr/>
        </p:nvCxnSpPr>
        <p:spPr>
          <a:xfrm flipV="1">
            <a:off x="2848444" y="941015"/>
            <a:ext cx="0" cy="1474188"/>
          </a:xfrm>
          <a:prstGeom prst="line">
            <a:avLst/>
          </a:prstGeom>
          <a:ln w="80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Freeform 47"/>
          <p:cNvSpPr/>
          <p:nvPr/>
        </p:nvSpPr>
        <p:spPr>
          <a:xfrm>
            <a:off x="2832100" y="9144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0"/>
                </a:moveTo>
                <a:lnTo>
                  <a:pt x="0" y="3"/>
                </a:lnTo>
                <a:lnTo>
                  <a:pt x="1" y="2"/>
                </a:lnTo>
                <a:lnTo>
                  <a:pt x="3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9" name="Connector 48"/>
          <p:cNvCxnSpPr/>
          <p:nvPr/>
        </p:nvCxnSpPr>
        <p:spPr>
          <a:xfrm>
            <a:off x="539039" y="2415203"/>
            <a:ext cx="220520" cy="0"/>
          </a:xfrm>
          <a:prstGeom prst="line">
            <a:avLst/>
          </a:prstGeom>
          <a:ln w="80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880617" y="2536261"/>
            <a:ext cx="0" cy="143478"/>
          </a:xfrm>
          <a:prstGeom prst="line">
            <a:avLst/>
          </a:prstGeom>
          <a:ln w="80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1001675" y="2415203"/>
            <a:ext cx="48912" cy="0"/>
          </a:xfrm>
          <a:prstGeom prst="line">
            <a:avLst/>
          </a:prstGeom>
          <a:ln w="80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1050587" y="2415203"/>
            <a:ext cx="339713" cy="0"/>
          </a:xfrm>
          <a:prstGeom prst="line">
            <a:avLst/>
          </a:prstGeom>
          <a:ln w="80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1390300" y="2415203"/>
            <a:ext cx="416349" cy="0"/>
          </a:xfrm>
          <a:prstGeom prst="line">
            <a:avLst/>
          </a:prstGeom>
          <a:ln w="80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1806649" y="2415203"/>
            <a:ext cx="416349" cy="0"/>
          </a:xfrm>
          <a:prstGeom prst="line">
            <a:avLst/>
          </a:prstGeom>
          <a:ln w="80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1050587" y="2095163"/>
            <a:ext cx="0" cy="320040"/>
          </a:xfrm>
          <a:prstGeom prst="line">
            <a:avLst/>
          </a:prstGeom>
          <a:ln w="80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Freeform 55"/>
          <p:cNvSpPr/>
          <p:nvPr/>
        </p:nvSpPr>
        <p:spPr>
          <a:xfrm>
            <a:off x="1028700" y="20701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2" y="0"/>
                </a:moveTo>
                <a:lnTo>
                  <a:pt x="0" y="3"/>
                </a:lnTo>
                <a:lnTo>
                  <a:pt x="2" y="2"/>
                </a:lnTo>
                <a:lnTo>
                  <a:pt x="3" y="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" name="Connector 56"/>
          <p:cNvCxnSpPr/>
          <p:nvPr/>
        </p:nvCxnSpPr>
        <p:spPr>
          <a:xfrm flipV="1">
            <a:off x="1390300" y="2095163"/>
            <a:ext cx="0" cy="320040"/>
          </a:xfrm>
          <a:prstGeom prst="line">
            <a:avLst/>
          </a:prstGeom>
          <a:ln w="80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Freeform 57"/>
          <p:cNvSpPr/>
          <p:nvPr/>
        </p:nvSpPr>
        <p:spPr>
          <a:xfrm>
            <a:off x="1371600" y="20701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0"/>
                </a:moveTo>
                <a:lnTo>
                  <a:pt x="0" y="3"/>
                </a:lnTo>
                <a:lnTo>
                  <a:pt x="1" y="2"/>
                </a:lnTo>
                <a:lnTo>
                  <a:pt x="3" y="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9" name="Connector 58"/>
          <p:cNvCxnSpPr/>
          <p:nvPr/>
        </p:nvCxnSpPr>
        <p:spPr>
          <a:xfrm flipV="1">
            <a:off x="1806649" y="2109684"/>
            <a:ext cx="0" cy="305519"/>
          </a:xfrm>
          <a:prstGeom prst="line">
            <a:avLst/>
          </a:prstGeom>
          <a:ln w="80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Freeform 59"/>
          <p:cNvSpPr/>
          <p:nvPr/>
        </p:nvSpPr>
        <p:spPr>
          <a:xfrm>
            <a:off x="1790700" y="20828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0"/>
                </a:moveTo>
                <a:lnTo>
                  <a:pt x="0" y="3"/>
                </a:lnTo>
                <a:lnTo>
                  <a:pt x="1" y="2"/>
                </a:lnTo>
                <a:lnTo>
                  <a:pt x="3" y="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1" name="Connector 60"/>
          <p:cNvCxnSpPr/>
          <p:nvPr/>
        </p:nvCxnSpPr>
        <p:spPr>
          <a:xfrm flipV="1">
            <a:off x="2222998" y="2095163"/>
            <a:ext cx="0" cy="320040"/>
          </a:xfrm>
          <a:prstGeom prst="line">
            <a:avLst/>
          </a:prstGeom>
          <a:ln w="80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Freeform 61"/>
          <p:cNvSpPr/>
          <p:nvPr/>
        </p:nvSpPr>
        <p:spPr>
          <a:xfrm>
            <a:off x="2197100" y="20701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2" y="0"/>
                </a:moveTo>
                <a:lnTo>
                  <a:pt x="0" y="3"/>
                </a:lnTo>
                <a:lnTo>
                  <a:pt x="2" y="2"/>
                </a:lnTo>
                <a:lnTo>
                  <a:pt x="4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3" name="Connector 62"/>
          <p:cNvCxnSpPr/>
          <p:nvPr/>
        </p:nvCxnSpPr>
        <p:spPr>
          <a:xfrm flipV="1">
            <a:off x="1050587" y="1326610"/>
            <a:ext cx="0" cy="507950"/>
          </a:xfrm>
          <a:prstGeom prst="line">
            <a:avLst/>
          </a:prstGeom>
          <a:ln w="80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Freeform 63"/>
          <p:cNvSpPr/>
          <p:nvPr/>
        </p:nvSpPr>
        <p:spPr>
          <a:xfrm>
            <a:off x="1028700" y="12954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2" y="0"/>
                </a:moveTo>
                <a:lnTo>
                  <a:pt x="0" y="4"/>
                </a:lnTo>
                <a:lnTo>
                  <a:pt x="2" y="2"/>
                </a:lnTo>
                <a:lnTo>
                  <a:pt x="3" y="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" name="Connector 64"/>
          <p:cNvCxnSpPr/>
          <p:nvPr/>
        </p:nvCxnSpPr>
        <p:spPr>
          <a:xfrm flipV="1">
            <a:off x="1390300" y="1613191"/>
            <a:ext cx="0" cy="221369"/>
          </a:xfrm>
          <a:prstGeom prst="line">
            <a:avLst/>
          </a:prstGeom>
          <a:ln w="80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1390300" y="1613191"/>
            <a:ext cx="269160" cy="0"/>
          </a:xfrm>
          <a:prstGeom prst="line">
            <a:avLst/>
          </a:prstGeom>
          <a:ln w="80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Freeform 66"/>
          <p:cNvSpPr/>
          <p:nvPr/>
        </p:nvSpPr>
        <p:spPr>
          <a:xfrm>
            <a:off x="1638300" y="15875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4" y="2"/>
                </a:moveTo>
                <a:lnTo>
                  <a:pt x="0" y="0"/>
                </a:lnTo>
                <a:lnTo>
                  <a:pt x="2" y="2"/>
                </a:lnTo>
                <a:lnTo>
                  <a:pt x="0" y="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8" name="Connector 67"/>
          <p:cNvCxnSpPr/>
          <p:nvPr/>
        </p:nvCxnSpPr>
        <p:spPr>
          <a:xfrm flipV="1">
            <a:off x="1806649" y="1760380"/>
            <a:ext cx="0" cy="59659"/>
          </a:xfrm>
          <a:prstGeom prst="line">
            <a:avLst/>
          </a:prstGeom>
          <a:ln w="80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Freeform 68"/>
          <p:cNvSpPr/>
          <p:nvPr/>
        </p:nvSpPr>
        <p:spPr>
          <a:xfrm>
            <a:off x="1790700" y="17399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0"/>
                </a:moveTo>
                <a:lnTo>
                  <a:pt x="0" y="3"/>
                </a:lnTo>
                <a:lnTo>
                  <a:pt x="1" y="2"/>
                </a:lnTo>
                <a:lnTo>
                  <a:pt x="3" y="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0" name="Connector 69"/>
          <p:cNvCxnSpPr/>
          <p:nvPr/>
        </p:nvCxnSpPr>
        <p:spPr>
          <a:xfrm flipV="1">
            <a:off x="2222998" y="1748959"/>
            <a:ext cx="0" cy="85601"/>
          </a:xfrm>
          <a:prstGeom prst="line">
            <a:avLst/>
          </a:prstGeom>
          <a:ln w="80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2222998" y="1748959"/>
            <a:ext cx="151163" cy="0"/>
          </a:xfrm>
          <a:prstGeom prst="line">
            <a:avLst/>
          </a:prstGeom>
          <a:ln w="80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Freeform 71"/>
          <p:cNvSpPr/>
          <p:nvPr/>
        </p:nvSpPr>
        <p:spPr>
          <a:xfrm>
            <a:off x="2362200" y="17272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2"/>
                </a:moveTo>
                <a:lnTo>
                  <a:pt x="0" y="0"/>
                </a:lnTo>
                <a:lnTo>
                  <a:pt x="1" y="2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3" name="Connector 72"/>
          <p:cNvCxnSpPr/>
          <p:nvPr/>
        </p:nvCxnSpPr>
        <p:spPr>
          <a:xfrm>
            <a:off x="2521350" y="1870017"/>
            <a:ext cx="0" cy="545186"/>
          </a:xfrm>
          <a:prstGeom prst="line">
            <a:avLst/>
          </a:prstGeom>
          <a:ln w="80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2521350" y="2415203"/>
            <a:ext cx="526779" cy="0"/>
          </a:xfrm>
          <a:prstGeom prst="line">
            <a:avLst/>
          </a:prstGeom>
          <a:ln w="80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Freeform 74"/>
          <p:cNvSpPr/>
          <p:nvPr/>
        </p:nvSpPr>
        <p:spPr>
          <a:xfrm>
            <a:off x="3035300" y="24003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1"/>
                </a:moveTo>
                <a:lnTo>
                  <a:pt x="0" y="0"/>
                </a:lnTo>
                <a:lnTo>
                  <a:pt x="1" y="1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6" name="Connector 75"/>
          <p:cNvCxnSpPr/>
          <p:nvPr/>
        </p:nvCxnSpPr>
        <p:spPr>
          <a:xfrm>
            <a:off x="539039" y="1179421"/>
            <a:ext cx="364359" cy="0"/>
          </a:xfrm>
          <a:prstGeom prst="line">
            <a:avLst/>
          </a:prstGeom>
          <a:ln w="80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Freeform 76"/>
          <p:cNvSpPr/>
          <p:nvPr/>
        </p:nvSpPr>
        <p:spPr>
          <a:xfrm>
            <a:off x="889000" y="11557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3" y="2"/>
                </a:moveTo>
                <a:lnTo>
                  <a:pt x="0" y="0"/>
                </a:lnTo>
                <a:lnTo>
                  <a:pt x="1" y="2"/>
                </a:lnTo>
                <a:lnTo>
                  <a:pt x="0" y="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8" name="Connector 77"/>
          <p:cNvCxnSpPr/>
          <p:nvPr/>
        </p:nvCxnSpPr>
        <p:spPr>
          <a:xfrm>
            <a:off x="1171645" y="1179421"/>
            <a:ext cx="487815" cy="0"/>
          </a:xfrm>
          <a:prstGeom prst="line">
            <a:avLst/>
          </a:prstGeom>
          <a:ln w="80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Freeform 78"/>
          <p:cNvSpPr/>
          <p:nvPr/>
        </p:nvSpPr>
        <p:spPr>
          <a:xfrm>
            <a:off x="1638300" y="11557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4" y="2"/>
                </a:moveTo>
                <a:lnTo>
                  <a:pt x="0" y="0"/>
                </a:lnTo>
                <a:lnTo>
                  <a:pt x="2" y="2"/>
                </a:lnTo>
                <a:lnTo>
                  <a:pt x="0" y="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0" name="Connector 79"/>
          <p:cNvCxnSpPr/>
          <p:nvPr/>
        </p:nvCxnSpPr>
        <p:spPr>
          <a:xfrm>
            <a:off x="1927707" y="1179421"/>
            <a:ext cx="1036500" cy="0"/>
          </a:xfrm>
          <a:prstGeom prst="line">
            <a:avLst/>
          </a:prstGeom>
          <a:ln w="30151">
            <a:solidFill>
              <a:srgbClr val="93D4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1927707" y="1179421"/>
            <a:ext cx="1120422" cy="0"/>
          </a:xfrm>
          <a:prstGeom prst="line">
            <a:avLst/>
          </a:prstGeom>
          <a:ln w="80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Freeform 81"/>
          <p:cNvSpPr/>
          <p:nvPr/>
        </p:nvSpPr>
        <p:spPr>
          <a:xfrm>
            <a:off x="3035300" y="11557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3" y="2"/>
                </a:moveTo>
                <a:lnTo>
                  <a:pt x="0" y="0"/>
                </a:lnTo>
                <a:lnTo>
                  <a:pt x="1" y="2"/>
                </a:lnTo>
                <a:lnTo>
                  <a:pt x="0" y="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3" name="Connector 82"/>
          <p:cNvCxnSpPr/>
          <p:nvPr/>
        </p:nvCxnSpPr>
        <p:spPr>
          <a:xfrm flipV="1">
            <a:off x="1806649" y="1326610"/>
            <a:ext cx="0" cy="165523"/>
          </a:xfrm>
          <a:prstGeom prst="line">
            <a:avLst/>
          </a:prstGeom>
          <a:ln w="80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Freeform 83"/>
          <p:cNvSpPr/>
          <p:nvPr/>
        </p:nvSpPr>
        <p:spPr>
          <a:xfrm>
            <a:off x="1790700" y="12954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1" y="0"/>
                </a:moveTo>
                <a:lnTo>
                  <a:pt x="0" y="4"/>
                </a:lnTo>
                <a:lnTo>
                  <a:pt x="1" y="2"/>
                </a:lnTo>
                <a:lnTo>
                  <a:pt x="3" y="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5" name="Connector 84"/>
          <p:cNvCxnSpPr/>
          <p:nvPr/>
        </p:nvCxnSpPr>
        <p:spPr>
          <a:xfrm>
            <a:off x="2521350" y="1179421"/>
            <a:ext cx="0" cy="73044"/>
          </a:xfrm>
          <a:prstGeom prst="line">
            <a:avLst/>
          </a:prstGeom>
          <a:ln w="80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Freeform 85"/>
          <p:cNvSpPr/>
          <p:nvPr/>
        </p:nvSpPr>
        <p:spPr>
          <a:xfrm>
            <a:off x="2501900" y="12319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2" y="4"/>
                </a:moveTo>
                <a:lnTo>
                  <a:pt x="3" y="0"/>
                </a:lnTo>
                <a:lnTo>
                  <a:pt x="2" y="2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7" name="Connector 86"/>
          <p:cNvCxnSpPr/>
          <p:nvPr/>
        </p:nvCxnSpPr>
        <p:spPr>
          <a:xfrm>
            <a:off x="2521350" y="1542111"/>
            <a:ext cx="0" cy="59659"/>
          </a:xfrm>
          <a:prstGeom prst="line">
            <a:avLst/>
          </a:prstGeom>
          <a:ln w="80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Freeform 87"/>
          <p:cNvSpPr/>
          <p:nvPr/>
        </p:nvSpPr>
        <p:spPr>
          <a:xfrm>
            <a:off x="2501900" y="15875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2" y="3"/>
                </a:moveTo>
                <a:lnTo>
                  <a:pt x="3" y="0"/>
                </a:ln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-2" y="3146742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2880002" y="3146742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1" name="Picture 9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92" name="Picture 9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93" name="TextBox 92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Long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Short-Term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Memory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(LSTM)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08000" y="359888"/>
            <a:ext cx="5677395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1">
                <a:solidFill>
                  <a:srgbClr val="003373"/>
                </a:solidFill>
                <a:latin typeface="Josefin Sans"/>
              </a:rPr>
              <a:t>Architecture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291927" y="2354958"/>
            <a:ext cx="5493468" cy="17057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6" b="0">
                <a:solidFill>
                  <a:srgbClr val="000000"/>
                </a:solidFill>
                <a:latin typeface="Cambria Math"/>
              </a:rPr>
              <a:t>h</a:t>
            </a:r>
            <a:r>
              <a:rPr sz="633" b="0">
                <a:solidFill>
                  <a:srgbClr val="000000"/>
                </a:solidFill>
                <a:latin typeface="Cambria Math"/>
              </a:rPr>
              <a:t>t</a:t>
            </a:r>
            <a:r>
              <a:rPr sz="633" b="0">
                <a:solidFill>
                  <a:srgbClr val="000000"/>
                </a:solidFill>
                <a:latin typeface="Cambria Math"/>
              </a:rPr>
              <a:t>−</a:t>
            </a:r>
            <a:r>
              <a:rPr sz="633" b="0">
                <a:solidFill>
                  <a:srgbClr val="000000"/>
                </a:solidFill>
                <a:latin typeface="Cambria Math"/>
              </a:rPr>
              <a:t>1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31241" y="2679801"/>
            <a:ext cx="4954154" cy="17057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6" b="0">
                <a:solidFill>
                  <a:srgbClr val="000000"/>
                </a:solidFill>
                <a:latin typeface="Cambria Math"/>
              </a:rPr>
              <a:t>x</a:t>
            </a:r>
            <a:r>
              <a:rPr sz="633" b="0">
                <a:solidFill>
                  <a:srgbClr val="000000"/>
                </a:solidFill>
                <a:latin typeface="Cambria Math"/>
              </a:rPr>
              <a:t>t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3112933" y="2359154"/>
            <a:ext cx="2672462" cy="17057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6" b="0">
                <a:solidFill>
                  <a:srgbClr val="000000"/>
                </a:solidFill>
                <a:latin typeface="Cambria Math"/>
              </a:rPr>
              <a:t>h</a:t>
            </a:r>
            <a:r>
              <a:rPr sz="633" b="0">
                <a:solidFill>
                  <a:srgbClr val="000000"/>
                </a:solidFill>
                <a:latin typeface="Cambria Math"/>
              </a:rPr>
              <a:t>t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2798793" y="773695"/>
            <a:ext cx="2986602" cy="17057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6" b="0">
                <a:solidFill>
                  <a:srgbClr val="000000"/>
                </a:solidFill>
                <a:latin typeface="Cambria Math"/>
              </a:rPr>
              <a:t>h</a:t>
            </a:r>
            <a:r>
              <a:rPr sz="633" b="0">
                <a:solidFill>
                  <a:srgbClr val="000000"/>
                </a:solidFill>
                <a:latin typeface="Cambria Math"/>
              </a:rPr>
              <a:t>t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276684" y="1118584"/>
            <a:ext cx="5508711" cy="17057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6" b="0">
                <a:solidFill>
                  <a:srgbClr val="FFFFFF"/>
                </a:solidFill>
                <a:latin typeface="Cambria Math"/>
              </a:rPr>
              <a:t>C</a:t>
            </a:r>
            <a:r>
              <a:rPr sz="633" b="0">
                <a:solidFill>
                  <a:srgbClr val="FFFFFF"/>
                </a:solidFill>
                <a:latin typeface="Cambria Math"/>
              </a:rPr>
              <a:t>t</a:t>
            </a:r>
            <a:r>
              <a:rPr sz="633" b="0">
                <a:solidFill>
                  <a:srgbClr val="FFFFFF"/>
                </a:solidFill>
                <a:latin typeface="Cambria Math"/>
              </a:rPr>
              <a:t>−</a:t>
            </a:r>
            <a:r>
              <a:rPr sz="633" b="0">
                <a:solidFill>
                  <a:srgbClr val="FFFFFF"/>
                </a:solidFill>
                <a:latin typeface="Cambria Math"/>
              </a:rPr>
              <a:t>1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3112933" y="1122770"/>
            <a:ext cx="2672462" cy="17057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6" b="0">
                <a:solidFill>
                  <a:srgbClr val="000000"/>
                </a:solidFill>
                <a:latin typeface="Cambria Math"/>
              </a:rPr>
              <a:t>C</a:t>
            </a:r>
            <a:r>
              <a:rPr sz="633" b="0">
                <a:solidFill>
                  <a:srgbClr val="000000"/>
                </a:solidFill>
                <a:latin typeface="Cambria Math"/>
              </a:rPr>
              <a:t>t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696599" y="1904004"/>
            <a:ext cx="4088796" cy="17057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6" b="0">
                <a:solidFill>
                  <a:srgbClr val="FFFFFF"/>
                </a:solidFill>
                <a:latin typeface="Cambria Math"/>
              </a:rPr>
              <a:t>tanh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356896" y="1889478"/>
            <a:ext cx="4428499" cy="17057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6" b="0">
                <a:solidFill>
                  <a:srgbClr val="FFFFFF"/>
                </a:solidFill>
                <a:latin typeface="Cambria Math"/>
              </a:rPr>
              <a:t>σ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17183" y="1889478"/>
            <a:ext cx="4768212" cy="17057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6" b="0">
                <a:solidFill>
                  <a:srgbClr val="FFFFFF"/>
                </a:solidFill>
                <a:latin typeface="Cambria Math"/>
              </a:rPr>
              <a:t>σ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2189579" y="1889478"/>
            <a:ext cx="3595816" cy="17057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6" b="0">
                <a:solidFill>
                  <a:srgbClr val="000000"/>
                </a:solidFill>
                <a:latin typeface="Cambria Math"/>
              </a:rPr>
              <a:t>σ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2478549" y="1689046"/>
            <a:ext cx="3306846" cy="17057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6" b="0">
                <a:solidFill>
                  <a:srgbClr val="FFFFFF"/>
                </a:solidFill>
                <a:latin typeface="Cambria Math"/>
              </a:rPr>
              <a:t>×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2411293" y="1362562"/>
            <a:ext cx="3374102" cy="17057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6" b="0">
                <a:solidFill>
                  <a:srgbClr val="000000"/>
                </a:solidFill>
                <a:latin typeface="Cambria Math"/>
              </a:rPr>
              <a:t>tanh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763856" y="1553271"/>
            <a:ext cx="4021539" cy="17057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6" b="0">
                <a:solidFill>
                  <a:srgbClr val="FFFFFF"/>
                </a:solidFill>
                <a:latin typeface="Cambria Math"/>
              </a:rPr>
              <a:t>×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1763856" y="1120934"/>
            <a:ext cx="4021539" cy="17057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6" b="0">
                <a:solidFill>
                  <a:srgbClr val="FFFFFF"/>
                </a:solidFill>
                <a:latin typeface="Cambria Math"/>
              </a:rPr>
              <a:t>+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007801" y="1119508"/>
            <a:ext cx="4777594" cy="17057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6" b="0">
                <a:solidFill>
                  <a:srgbClr val="FFFFFF"/>
                </a:solidFill>
                <a:latin typeface="Cambria Math"/>
              </a:rPr>
              <a:t>×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837839" y="2342295"/>
            <a:ext cx="4947557" cy="17057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6" b="0">
                <a:solidFill>
                  <a:srgbClr val="FFFFFF"/>
                </a:solidFill>
                <a:latin typeface="MSAM10"/>
              </a:rPr>
              <a:t>⊞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3504029" y="1006825"/>
            <a:ext cx="2281366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1">
                <a:solidFill>
                  <a:srgbClr val="000000"/>
                </a:solidFill>
                <a:latin typeface="Josefin Sans"/>
              </a:rPr>
              <a:t>Output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Gate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3504029" y="1178488"/>
            <a:ext cx="2281366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Decides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what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information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from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3504029" y="1350560"/>
            <a:ext cx="2281366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current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cell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should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be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passed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3504029" y="1522646"/>
            <a:ext cx="2281366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to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next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hidden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state.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3705185" y="1834424"/>
            <a:ext cx="2080211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Cambria Math"/>
              </a:rPr>
              <a:t>o</a:t>
            </a:r>
            <a:r>
              <a:rPr sz="797" b="0">
                <a:solidFill>
                  <a:srgbClr val="000000"/>
                </a:solidFill>
                <a:latin typeface="Cambria Math"/>
              </a:rPr>
              <a:t>t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=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σ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(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W</a:t>
            </a:r>
            <a:r>
              <a:rPr sz="797" b="0">
                <a:solidFill>
                  <a:srgbClr val="000000"/>
                </a:solidFill>
                <a:latin typeface="Cambria Math"/>
              </a:rPr>
              <a:t>o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·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[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h</a:t>
            </a:r>
            <a:r>
              <a:rPr sz="797" b="0">
                <a:solidFill>
                  <a:srgbClr val="000000"/>
                </a:solidFill>
                <a:latin typeface="Cambria Math"/>
              </a:rPr>
              <a:t>t</a:t>
            </a:r>
            <a:r>
              <a:rPr sz="797" b="0">
                <a:solidFill>
                  <a:srgbClr val="000000"/>
                </a:solidFill>
                <a:latin typeface="Cambria Math"/>
              </a:rPr>
              <a:t>−</a:t>
            </a:r>
            <a:r>
              <a:rPr sz="797" b="0">
                <a:solidFill>
                  <a:srgbClr val="000000"/>
                </a:solidFill>
                <a:latin typeface="Cambria Math"/>
              </a:rPr>
              <a:t>1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, x</a:t>
            </a:r>
            <a:r>
              <a:rPr sz="797" b="0">
                <a:solidFill>
                  <a:srgbClr val="000000"/>
                </a:solidFill>
                <a:latin typeface="Cambria Math"/>
              </a:rPr>
              <a:t>t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] +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b</a:t>
            </a:r>
            <a:r>
              <a:rPr sz="797" b="0">
                <a:solidFill>
                  <a:srgbClr val="000000"/>
                </a:solidFill>
                <a:latin typeface="Cambria Math"/>
              </a:rPr>
              <a:t>o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)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3846994" y="2030974"/>
            <a:ext cx="1938401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Cambria Math"/>
              </a:rPr>
              <a:t>C</a:t>
            </a:r>
            <a:r>
              <a:rPr sz="797" b="0">
                <a:solidFill>
                  <a:srgbClr val="000000"/>
                </a:solidFill>
                <a:latin typeface="Cambria Math"/>
              </a:rPr>
              <a:t>t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=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f</a:t>
            </a:r>
            <a:r>
              <a:rPr sz="797" b="0">
                <a:solidFill>
                  <a:srgbClr val="000000"/>
                </a:solidFill>
                <a:latin typeface="Cambria Math"/>
              </a:rPr>
              <a:t>t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·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C</a:t>
            </a:r>
            <a:r>
              <a:rPr sz="797" b="0">
                <a:solidFill>
                  <a:srgbClr val="000000"/>
                </a:solidFill>
                <a:latin typeface="Cambria Math"/>
              </a:rPr>
              <a:t>t</a:t>
            </a:r>
            <a:r>
              <a:rPr sz="797" b="0">
                <a:solidFill>
                  <a:srgbClr val="000000"/>
                </a:solidFill>
                <a:latin typeface="Cambria Math"/>
              </a:rPr>
              <a:t>−</a:t>
            </a:r>
            <a:r>
              <a:rPr sz="797" b="0">
                <a:solidFill>
                  <a:srgbClr val="000000"/>
                </a:solidFill>
                <a:latin typeface="Cambria Math"/>
              </a:rPr>
              <a:t>1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+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i</a:t>
            </a:r>
            <a:r>
              <a:rPr sz="797" b="0">
                <a:solidFill>
                  <a:srgbClr val="000000"/>
                </a:solidFill>
                <a:latin typeface="Cambria Math"/>
              </a:rPr>
              <a:t>t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·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˜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C</a:t>
            </a:r>
            <a:r>
              <a:rPr sz="797" b="0">
                <a:solidFill>
                  <a:srgbClr val="000000"/>
                </a:solidFill>
                <a:latin typeface="Cambria Math"/>
              </a:rPr>
              <a:t>t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3986453" y="2274237"/>
            <a:ext cx="179894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Cambria Math"/>
              </a:rPr>
              <a:t>h</a:t>
            </a:r>
            <a:r>
              <a:rPr sz="797" b="0">
                <a:solidFill>
                  <a:srgbClr val="000000"/>
                </a:solidFill>
                <a:latin typeface="Cambria Math"/>
              </a:rPr>
              <a:t>t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=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o</a:t>
            </a:r>
            <a:r>
              <a:rPr sz="797" b="0">
                <a:solidFill>
                  <a:srgbClr val="000000"/>
                </a:solidFill>
                <a:latin typeface="Cambria Math"/>
              </a:rPr>
              <a:t>t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·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tanh(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C</a:t>
            </a:r>
            <a:r>
              <a:rPr sz="797" b="0">
                <a:solidFill>
                  <a:srgbClr val="000000"/>
                </a:solidFill>
                <a:latin typeface="Cambria Math"/>
              </a:rPr>
              <a:t>t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)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4898159" y="3150918"/>
            <a:ext cx="887236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5640207" y="3150694"/>
            <a:ext cx="145188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12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Freeform 35"/>
          <p:cNvSpPr/>
          <p:nvPr/>
        </p:nvSpPr>
        <p:spPr>
          <a:xfrm>
            <a:off x="647700" y="1028700"/>
            <a:ext cx="2311400" cy="1536700"/>
          </a:xfrm>
          <a:custGeom>
            <a:avLst/>
            <a:gdLst/>
            <a:ahLst/>
            <a:cxnLst/>
            <a:rect l="l" t="t" r="r" b="b"/>
            <a:pathLst>
              <a:path w="182" h="121">
                <a:moveTo>
                  <a:pt x="179" y="0"/>
                </a:moveTo>
                <a:lnTo>
                  <a:pt x="3" y="0"/>
                </a:lnTo>
                <a:lnTo>
                  <a:pt x="3" y="0"/>
                </a:lnTo>
                <a:lnTo>
                  <a:pt x="2" y="0"/>
                </a:lnTo>
                <a:lnTo>
                  <a:pt x="2" y="0"/>
                </a:lnTo>
                <a:lnTo>
                  <a:pt x="1" y="1"/>
                </a:lnTo>
                <a:lnTo>
                  <a:pt x="1" y="1"/>
                </a:lnTo>
                <a:lnTo>
                  <a:pt x="1" y="2"/>
                </a:lnTo>
                <a:lnTo>
                  <a:pt x="0" y="2"/>
                </a:lnTo>
                <a:lnTo>
                  <a:pt x="0" y="3"/>
                </a:lnTo>
                <a:lnTo>
                  <a:pt x="0" y="118"/>
                </a:lnTo>
                <a:lnTo>
                  <a:pt x="0" y="119"/>
                </a:lnTo>
                <a:lnTo>
                  <a:pt x="1" y="119"/>
                </a:lnTo>
                <a:lnTo>
                  <a:pt x="1" y="120"/>
                </a:lnTo>
                <a:lnTo>
                  <a:pt x="1" y="120"/>
                </a:lnTo>
                <a:lnTo>
                  <a:pt x="2" y="121"/>
                </a:lnTo>
                <a:lnTo>
                  <a:pt x="2" y="121"/>
                </a:lnTo>
                <a:lnTo>
                  <a:pt x="3" y="121"/>
                </a:lnTo>
                <a:lnTo>
                  <a:pt x="3" y="121"/>
                </a:lnTo>
                <a:lnTo>
                  <a:pt x="179" y="121"/>
                </a:lnTo>
                <a:lnTo>
                  <a:pt x="180" y="121"/>
                </a:lnTo>
                <a:lnTo>
                  <a:pt x="180" y="121"/>
                </a:lnTo>
                <a:lnTo>
                  <a:pt x="181" y="121"/>
                </a:lnTo>
                <a:lnTo>
                  <a:pt x="181" y="120"/>
                </a:lnTo>
                <a:lnTo>
                  <a:pt x="182" y="120"/>
                </a:lnTo>
                <a:lnTo>
                  <a:pt x="182" y="119"/>
                </a:lnTo>
                <a:lnTo>
                  <a:pt x="182" y="119"/>
                </a:lnTo>
                <a:lnTo>
                  <a:pt x="182" y="118"/>
                </a:lnTo>
                <a:lnTo>
                  <a:pt x="182" y="3"/>
                </a:lnTo>
                <a:lnTo>
                  <a:pt x="182" y="2"/>
                </a:lnTo>
                <a:lnTo>
                  <a:pt x="182" y="2"/>
                </a:lnTo>
                <a:lnTo>
                  <a:pt x="182" y="1"/>
                </a:lnTo>
                <a:lnTo>
                  <a:pt x="181" y="1"/>
                </a:lnTo>
                <a:lnTo>
                  <a:pt x="181" y="0"/>
                </a:lnTo>
                <a:lnTo>
                  <a:pt x="180" y="0"/>
                </a:lnTo>
                <a:lnTo>
                  <a:pt x="180" y="0"/>
                </a:lnTo>
                <a:lnTo>
                  <a:pt x="179" y="0"/>
                </a:lnTo>
                <a:close/>
              </a:path>
            </a:pathLst>
          </a:custGeom>
          <a:solidFill>
            <a:srgbClr val="93D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Freeform 36"/>
          <p:cNvSpPr/>
          <p:nvPr/>
        </p:nvSpPr>
        <p:spPr>
          <a:xfrm>
            <a:off x="1612900" y="1828800"/>
            <a:ext cx="381000" cy="241300"/>
          </a:xfrm>
          <a:custGeom>
            <a:avLst/>
            <a:gdLst/>
            <a:ahLst/>
            <a:cxnLst/>
            <a:rect l="l" t="t" r="r" b="b"/>
            <a:pathLst>
              <a:path w="30" h="19">
                <a:moveTo>
                  <a:pt x="27" y="0"/>
                </a:moveTo>
                <a:lnTo>
                  <a:pt x="3" y="0"/>
                </a:lnTo>
                <a:lnTo>
                  <a:pt x="3" y="0"/>
                </a:lnTo>
                <a:lnTo>
                  <a:pt x="2" y="0"/>
                </a:lnTo>
                <a:lnTo>
                  <a:pt x="1" y="1"/>
                </a:lnTo>
                <a:lnTo>
                  <a:pt x="1" y="1"/>
                </a:lnTo>
                <a:lnTo>
                  <a:pt x="1" y="2"/>
                </a:lnTo>
                <a:lnTo>
                  <a:pt x="0" y="2"/>
                </a:lnTo>
                <a:lnTo>
                  <a:pt x="0" y="3"/>
                </a:lnTo>
                <a:lnTo>
                  <a:pt x="0" y="3"/>
                </a:lnTo>
                <a:lnTo>
                  <a:pt x="0" y="16"/>
                </a:lnTo>
                <a:lnTo>
                  <a:pt x="0" y="17"/>
                </a:lnTo>
                <a:lnTo>
                  <a:pt x="0" y="17"/>
                </a:lnTo>
                <a:lnTo>
                  <a:pt x="1" y="18"/>
                </a:lnTo>
                <a:lnTo>
                  <a:pt x="1" y="18"/>
                </a:lnTo>
                <a:lnTo>
                  <a:pt x="1" y="19"/>
                </a:lnTo>
                <a:lnTo>
                  <a:pt x="2" y="19"/>
                </a:lnTo>
                <a:lnTo>
                  <a:pt x="3" y="19"/>
                </a:lnTo>
                <a:lnTo>
                  <a:pt x="3" y="19"/>
                </a:lnTo>
                <a:lnTo>
                  <a:pt x="27" y="19"/>
                </a:lnTo>
                <a:lnTo>
                  <a:pt x="28" y="19"/>
                </a:lnTo>
                <a:lnTo>
                  <a:pt x="28" y="19"/>
                </a:lnTo>
                <a:lnTo>
                  <a:pt x="29" y="19"/>
                </a:lnTo>
                <a:lnTo>
                  <a:pt x="29" y="18"/>
                </a:lnTo>
                <a:lnTo>
                  <a:pt x="30" y="18"/>
                </a:lnTo>
                <a:lnTo>
                  <a:pt x="30" y="17"/>
                </a:lnTo>
                <a:lnTo>
                  <a:pt x="30" y="17"/>
                </a:lnTo>
                <a:lnTo>
                  <a:pt x="30" y="16"/>
                </a:lnTo>
                <a:lnTo>
                  <a:pt x="30" y="3"/>
                </a:lnTo>
                <a:lnTo>
                  <a:pt x="30" y="3"/>
                </a:lnTo>
                <a:lnTo>
                  <a:pt x="30" y="2"/>
                </a:lnTo>
                <a:lnTo>
                  <a:pt x="30" y="2"/>
                </a:lnTo>
                <a:lnTo>
                  <a:pt x="29" y="1"/>
                </a:lnTo>
                <a:lnTo>
                  <a:pt x="29" y="1"/>
                </a:lnTo>
                <a:lnTo>
                  <a:pt x="28" y="0"/>
                </a:lnTo>
                <a:lnTo>
                  <a:pt x="28" y="0"/>
                </a:lnTo>
                <a:lnTo>
                  <a:pt x="27" y="0"/>
                </a:lnTo>
                <a:close/>
              </a:path>
            </a:pathLst>
          </a:custGeom>
          <a:solidFill>
            <a:srgbClr val="F79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Freeform 37"/>
          <p:cNvSpPr/>
          <p:nvPr/>
        </p:nvSpPr>
        <p:spPr>
          <a:xfrm>
            <a:off x="1270000" y="1841500"/>
            <a:ext cx="241300" cy="215900"/>
          </a:xfrm>
          <a:custGeom>
            <a:avLst/>
            <a:gdLst/>
            <a:ahLst/>
            <a:cxnLst/>
            <a:rect l="l" t="t" r="r" b="b"/>
            <a:pathLst>
              <a:path w="19" h="17">
                <a:moveTo>
                  <a:pt x="15" y="0"/>
                </a:moveTo>
                <a:lnTo>
                  <a:pt x="4" y="0"/>
                </a:lnTo>
                <a:lnTo>
                  <a:pt x="3" y="0"/>
                </a:lnTo>
                <a:lnTo>
                  <a:pt x="2" y="1"/>
                </a:lnTo>
                <a:lnTo>
                  <a:pt x="2" y="1"/>
                </a:lnTo>
                <a:lnTo>
                  <a:pt x="1" y="1"/>
                </a:lnTo>
                <a:lnTo>
                  <a:pt x="1" y="2"/>
                </a:lnTo>
                <a:lnTo>
                  <a:pt x="1" y="2"/>
                </a:lnTo>
                <a:lnTo>
                  <a:pt x="0" y="3"/>
                </a:lnTo>
                <a:lnTo>
                  <a:pt x="0" y="3"/>
                </a:lnTo>
                <a:lnTo>
                  <a:pt x="0" y="14"/>
                </a:lnTo>
                <a:lnTo>
                  <a:pt x="0" y="15"/>
                </a:lnTo>
                <a:lnTo>
                  <a:pt x="1" y="15"/>
                </a:lnTo>
                <a:lnTo>
                  <a:pt x="1" y="16"/>
                </a:lnTo>
                <a:lnTo>
                  <a:pt x="1" y="16"/>
                </a:lnTo>
                <a:lnTo>
                  <a:pt x="2" y="17"/>
                </a:lnTo>
                <a:lnTo>
                  <a:pt x="2" y="17"/>
                </a:lnTo>
                <a:lnTo>
                  <a:pt x="3" y="17"/>
                </a:lnTo>
                <a:lnTo>
                  <a:pt x="4" y="17"/>
                </a:lnTo>
                <a:lnTo>
                  <a:pt x="15" y="17"/>
                </a:lnTo>
                <a:lnTo>
                  <a:pt x="16" y="17"/>
                </a:lnTo>
                <a:lnTo>
                  <a:pt x="17" y="17"/>
                </a:lnTo>
                <a:lnTo>
                  <a:pt x="17" y="17"/>
                </a:lnTo>
                <a:lnTo>
                  <a:pt x="18" y="16"/>
                </a:lnTo>
                <a:lnTo>
                  <a:pt x="18" y="16"/>
                </a:lnTo>
                <a:lnTo>
                  <a:pt x="18" y="15"/>
                </a:lnTo>
                <a:lnTo>
                  <a:pt x="19" y="15"/>
                </a:lnTo>
                <a:lnTo>
                  <a:pt x="19" y="14"/>
                </a:lnTo>
                <a:lnTo>
                  <a:pt x="19" y="3"/>
                </a:lnTo>
                <a:lnTo>
                  <a:pt x="19" y="3"/>
                </a:lnTo>
                <a:lnTo>
                  <a:pt x="18" y="2"/>
                </a:lnTo>
                <a:lnTo>
                  <a:pt x="18" y="2"/>
                </a:lnTo>
                <a:lnTo>
                  <a:pt x="18" y="1"/>
                </a:lnTo>
                <a:lnTo>
                  <a:pt x="17" y="1"/>
                </a:lnTo>
                <a:lnTo>
                  <a:pt x="17" y="1"/>
                </a:lnTo>
                <a:lnTo>
                  <a:pt x="16" y="0"/>
                </a:lnTo>
                <a:lnTo>
                  <a:pt x="15" y="0"/>
                </a:lnTo>
                <a:close/>
              </a:path>
            </a:pathLst>
          </a:custGeom>
          <a:solidFill>
            <a:srgbClr val="F79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Freeform 38"/>
          <p:cNvSpPr/>
          <p:nvPr/>
        </p:nvSpPr>
        <p:spPr>
          <a:xfrm>
            <a:off x="939800" y="1841500"/>
            <a:ext cx="228600" cy="215900"/>
          </a:xfrm>
          <a:custGeom>
            <a:avLst/>
            <a:gdLst/>
            <a:ahLst/>
            <a:cxnLst/>
            <a:rect l="l" t="t" r="r" b="b"/>
            <a:pathLst>
              <a:path w="18" h="17">
                <a:moveTo>
                  <a:pt x="15" y="0"/>
                </a:moveTo>
                <a:lnTo>
                  <a:pt x="3" y="0"/>
                </a:lnTo>
                <a:lnTo>
                  <a:pt x="2" y="0"/>
                </a:lnTo>
                <a:lnTo>
                  <a:pt x="2" y="1"/>
                </a:lnTo>
                <a:lnTo>
                  <a:pt x="1" y="1"/>
                </a:lnTo>
                <a:lnTo>
                  <a:pt x="1" y="1"/>
                </a:lnTo>
                <a:lnTo>
                  <a:pt x="0" y="2"/>
                </a:lnTo>
                <a:lnTo>
                  <a:pt x="0" y="2"/>
                </a:lnTo>
                <a:lnTo>
                  <a:pt x="0" y="3"/>
                </a:lnTo>
                <a:lnTo>
                  <a:pt x="0" y="3"/>
                </a:lnTo>
                <a:lnTo>
                  <a:pt x="0" y="14"/>
                </a:lnTo>
                <a:lnTo>
                  <a:pt x="0" y="15"/>
                </a:lnTo>
                <a:lnTo>
                  <a:pt x="0" y="15"/>
                </a:lnTo>
                <a:lnTo>
                  <a:pt x="0" y="16"/>
                </a:lnTo>
                <a:lnTo>
                  <a:pt x="1" y="16"/>
                </a:lnTo>
                <a:lnTo>
                  <a:pt x="1" y="17"/>
                </a:lnTo>
                <a:lnTo>
                  <a:pt x="2" y="17"/>
                </a:lnTo>
                <a:lnTo>
                  <a:pt x="2" y="17"/>
                </a:lnTo>
                <a:lnTo>
                  <a:pt x="3" y="17"/>
                </a:lnTo>
                <a:lnTo>
                  <a:pt x="15" y="17"/>
                </a:lnTo>
                <a:lnTo>
                  <a:pt x="15" y="17"/>
                </a:lnTo>
                <a:lnTo>
                  <a:pt x="16" y="17"/>
                </a:lnTo>
                <a:lnTo>
                  <a:pt x="16" y="17"/>
                </a:lnTo>
                <a:lnTo>
                  <a:pt x="17" y="16"/>
                </a:lnTo>
                <a:lnTo>
                  <a:pt x="17" y="16"/>
                </a:lnTo>
                <a:lnTo>
                  <a:pt x="18" y="15"/>
                </a:lnTo>
                <a:lnTo>
                  <a:pt x="18" y="15"/>
                </a:lnTo>
                <a:lnTo>
                  <a:pt x="18" y="14"/>
                </a:lnTo>
                <a:lnTo>
                  <a:pt x="18" y="3"/>
                </a:lnTo>
                <a:lnTo>
                  <a:pt x="18" y="3"/>
                </a:lnTo>
                <a:lnTo>
                  <a:pt x="18" y="2"/>
                </a:lnTo>
                <a:lnTo>
                  <a:pt x="17" y="2"/>
                </a:lnTo>
                <a:lnTo>
                  <a:pt x="17" y="1"/>
                </a:lnTo>
                <a:lnTo>
                  <a:pt x="16" y="1"/>
                </a:lnTo>
                <a:lnTo>
                  <a:pt x="16" y="1"/>
                </a:lnTo>
                <a:lnTo>
                  <a:pt x="15" y="0"/>
                </a:lnTo>
                <a:lnTo>
                  <a:pt x="15" y="0"/>
                </a:lnTo>
                <a:close/>
              </a:path>
            </a:pathLst>
          </a:custGeom>
          <a:solidFill>
            <a:srgbClr val="F79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Freeform 39"/>
          <p:cNvSpPr/>
          <p:nvPr/>
        </p:nvSpPr>
        <p:spPr>
          <a:xfrm>
            <a:off x="2108200" y="1841500"/>
            <a:ext cx="228600" cy="215900"/>
          </a:xfrm>
          <a:custGeom>
            <a:avLst/>
            <a:gdLst/>
            <a:ahLst/>
            <a:cxnLst/>
            <a:rect l="l" t="t" r="r" b="b"/>
            <a:pathLst>
              <a:path w="18" h="17">
                <a:moveTo>
                  <a:pt x="15" y="0"/>
                </a:moveTo>
                <a:lnTo>
                  <a:pt x="3" y="0"/>
                </a:lnTo>
                <a:lnTo>
                  <a:pt x="2" y="0"/>
                </a:lnTo>
                <a:lnTo>
                  <a:pt x="2" y="1"/>
                </a:lnTo>
                <a:lnTo>
                  <a:pt x="1" y="1"/>
                </a:lnTo>
                <a:lnTo>
                  <a:pt x="1" y="1"/>
                </a:lnTo>
                <a:lnTo>
                  <a:pt x="0" y="2"/>
                </a:lnTo>
                <a:lnTo>
                  <a:pt x="0" y="2"/>
                </a:lnTo>
                <a:lnTo>
                  <a:pt x="0" y="3"/>
                </a:lnTo>
                <a:lnTo>
                  <a:pt x="0" y="3"/>
                </a:lnTo>
                <a:lnTo>
                  <a:pt x="0" y="14"/>
                </a:lnTo>
                <a:lnTo>
                  <a:pt x="0" y="15"/>
                </a:lnTo>
                <a:lnTo>
                  <a:pt x="0" y="15"/>
                </a:lnTo>
                <a:lnTo>
                  <a:pt x="0" y="16"/>
                </a:lnTo>
                <a:lnTo>
                  <a:pt x="1" y="16"/>
                </a:lnTo>
                <a:lnTo>
                  <a:pt x="1" y="17"/>
                </a:lnTo>
                <a:lnTo>
                  <a:pt x="2" y="17"/>
                </a:lnTo>
                <a:lnTo>
                  <a:pt x="2" y="17"/>
                </a:lnTo>
                <a:lnTo>
                  <a:pt x="3" y="17"/>
                </a:lnTo>
                <a:lnTo>
                  <a:pt x="15" y="17"/>
                </a:lnTo>
                <a:lnTo>
                  <a:pt x="16" y="17"/>
                </a:lnTo>
                <a:lnTo>
                  <a:pt x="16" y="17"/>
                </a:lnTo>
                <a:lnTo>
                  <a:pt x="17" y="17"/>
                </a:lnTo>
                <a:lnTo>
                  <a:pt x="17" y="16"/>
                </a:lnTo>
                <a:lnTo>
                  <a:pt x="18" y="16"/>
                </a:lnTo>
                <a:lnTo>
                  <a:pt x="18" y="15"/>
                </a:lnTo>
                <a:lnTo>
                  <a:pt x="18" y="15"/>
                </a:lnTo>
                <a:lnTo>
                  <a:pt x="18" y="14"/>
                </a:lnTo>
                <a:lnTo>
                  <a:pt x="18" y="3"/>
                </a:lnTo>
                <a:lnTo>
                  <a:pt x="18" y="3"/>
                </a:lnTo>
                <a:lnTo>
                  <a:pt x="18" y="2"/>
                </a:lnTo>
                <a:lnTo>
                  <a:pt x="18" y="2"/>
                </a:lnTo>
                <a:lnTo>
                  <a:pt x="17" y="1"/>
                </a:lnTo>
                <a:lnTo>
                  <a:pt x="17" y="1"/>
                </a:lnTo>
                <a:lnTo>
                  <a:pt x="16" y="1"/>
                </a:lnTo>
                <a:lnTo>
                  <a:pt x="16" y="0"/>
                </a:lnTo>
                <a:lnTo>
                  <a:pt x="15" y="0"/>
                </a:lnTo>
                <a:close/>
              </a:path>
            </a:pathLst>
          </a:custGeom>
          <a:solidFill>
            <a:srgbClr val="F79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Freeform 40"/>
          <p:cNvSpPr/>
          <p:nvPr/>
        </p:nvSpPr>
        <p:spPr>
          <a:xfrm>
            <a:off x="2413000" y="1638300"/>
            <a:ext cx="215900" cy="215900"/>
          </a:xfrm>
          <a:custGeom>
            <a:avLst/>
            <a:gdLst/>
            <a:ahLst/>
            <a:cxnLst/>
            <a:rect l="l" t="t" r="r" b="b"/>
            <a:pathLst>
              <a:path w="17" h="17">
                <a:moveTo>
                  <a:pt x="17" y="9"/>
                </a:moveTo>
                <a:lnTo>
                  <a:pt x="17" y="7"/>
                </a:lnTo>
                <a:lnTo>
                  <a:pt x="17" y="5"/>
                </a:lnTo>
                <a:lnTo>
                  <a:pt x="16" y="4"/>
                </a:lnTo>
                <a:lnTo>
                  <a:pt x="15" y="3"/>
                </a:lnTo>
                <a:lnTo>
                  <a:pt x="13" y="2"/>
                </a:lnTo>
                <a:lnTo>
                  <a:pt x="12" y="1"/>
                </a:lnTo>
                <a:lnTo>
                  <a:pt x="10" y="0"/>
                </a:lnTo>
                <a:lnTo>
                  <a:pt x="9" y="0"/>
                </a:lnTo>
                <a:lnTo>
                  <a:pt x="7" y="0"/>
                </a:lnTo>
                <a:lnTo>
                  <a:pt x="5" y="1"/>
                </a:lnTo>
                <a:lnTo>
                  <a:pt x="4" y="2"/>
                </a:lnTo>
                <a:lnTo>
                  <a:pt x="2" y="3"/>
                </a:lnTo>
                <a:lnTo>
                  <a:pt x="1" y="4"/>
                </a:lnTo>
                <a:lnTo>
                  <a:pt x="1" y="5"/>
                </a:lnTo>
                <a:lnTo>
                  <a:pt x="0" y="7"/>
                </a:lnTo>
                <a:lnTo>
                  <a:pt x="0" y="9"/>
                </a:lnTo>
                <a:lnTo>
                  <a:pt x="0" y="10"/>
                </a:lnTo>
                <a:lnTo>
                  <a:pt x="1" y="12"/>
                </a:lnTo>
                <a:lnTo>
                  <a:pt x="1" y="14"/>
                </a:lnTo>
                <a:lnTo>
                  <a:pt x="2" y="15"/>
                </a:lnTo>
                <a:lnTo>
                  <a:pt x="4" y="16"/>
                </a:lnTo>
                <a:lnTo>
                  <a:pt x="5" y="17"/>
                </a:lnTo>
                <a:lnTo>
                  <a:pt x="7" y="17"/>
                </a:lnTo>
                <a:lnTo>
                  <a:pt x="9" y="17"/>
                </a:lnTo>
                <a:lnTo>
                  <a:pt x="10" y="17"/>
                </a:lnTo>
                <a:lnTo>
                  <a:pt x="12" y="17"/>
                </a:lnTo>
                <a:lnTo>
                  <a:pt x="13" y="16"/>
                </a:lnTo>
                <a:lnTo>
                  <a:pt x="15" y="15"/>
                </a:lnTo>
                <a:lnTo>
                  <a:pt x="16" y="14"/>
                </a:lnTo>
                <a:lnTo>
                  <a:pt x="17" y="12"/>
                </a:lnTo>
                <a:lnTo>
                  <a:pt x="17" y="10"/>
                </a:lnTo>
                <a:lnTo>
                  <a:pt x="17" y="9"/>
                </a:lnTo>
                <a:close/>
              </a:path>
            </a:pathLst>
          </a:cu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Freeform 41"/>
          <p:cNvSpPr/>
          <p:nvPr/>
        </p:nvSpPr>
        <p:spPr>
          <a:xfrm>
            <a:off x="2324100" y="1295400"/>
            <a:ext cx="393700" cy="241300"/>
          </a:xfrm>
          <a:custGeom>
            <a:avLst/>
            <a:gdLst/>
            <a:ahLst/>
            <a:cxnLst/>
            <a:rect l="l" t="t" r="r" b="b"/>
            <a:pathLst>
              <a:path w="31" h="19">
                <a:moveTo>
                  <a:pt x="28" y="0"/>
                </a:moveTo>
                <a:lnTo>
                  <a:pt x="4" y="0"/>
                </a:lnTo>
                <a:lnTo>
                  <a:pt x="3" y="0"/>
                </a:lnTo>
                <a:lnTo>
                  <a:pt x="2" y="0"/>
                </a:lnTo>
                <a:lnTo>
                  <a:pt x="2" y="0"/>
                </a:lnTo>
                <a:lnTo>
                  <a:pt x="1" y="0"/>
                </a:lnTo>
                <a:lnTo>
                  <a:pt x="1" y="1"/>
                </a:lnTo>
                <a:lnTo>
                  <a:pt x="1" y="1"/>
                </a:lnTo>
                <a:lnTo>
                  <a:pt x="0" y="2"/>
                </a:lnTo>
                <a:lnTo>
                  <a:pt x="0" y="3"/>
                </a:lnTo>
                <a:lnTo>
                  <a:pt x="0" y="15"/>
                </a:lnTo>
                <a:lnTo>
                  <a:pt x="0" y="16"/>
                </a:lnTo>
                <a:lnTo>
                  <a:pt x="1" y="17"/>
                </a:lnTo>
                <a:lnTo>
                  <a:pt x="1" y="17"/>
                </a:lnTo>
                <a:lnTo>
                  <a:pt x="1" y="18"/>
                </a:lnTo>
                <a:lnTo>
                  <a:pt x="2" y="18"/>
                </a:lnTo>
                <a:lnTo>
                  <a:pt x="2" y="18"/>
                </a:lnTo>
                <a:lnTo>
                  <a:pt x="3" y="18"/>
                </a:lnTo>
                <a:lnTo>
                  <a:pt x="4" y="19"/>
                </a:lnTo>
                <a:lnTo>
                  <a:pt x="28" y="19"/>
                </a:lnTo>
                <a:lnTo>
                  <a:pt x="28" y="18"/>
                </a:lnTo>
                <a:lnTo>
                  <a:pt x="29" y="18"/>
                </a:lnTo>
                <a:lnTo>
                  <a:pt x="29" y="18"/>
                </a:lnTo>
                <a:lnTo>
                  <a:pt x="30" y="18"/>
                </a:lnTo>
                <a:lnTo>
                  <a:pt x="30" y="17"/>
                </a:lnTo>
                <a:lnTo>
                  <a:pt x="30" y="17"/>
                </a:lnTo>
                <a:lnTo>
                  <a:pt x="31" y="16"/>
                </a:lnTo>
                <a:lnTo>
                  <a:pt x="31" y="15"/>
                </a:lnTo>
                <a:lnTo>
                  <a:pt x="31" y="3"/>
                </a:lnTo>
                <a:lnTo>
                  <a:pt x="31" y="2"/>
                </a:lnTo>
                <a:lnTo>
                  <a:pt x="30" y="1"/>
                </a:lnTo>
                <a:lnTo>
                  <a:pt x="30" y="1"/>
                </a:lnTo>
                <a:lnTo>
                  <a:pt x="30" y="0"/>
                </a:lnTo>
                <a:lnTo>
                  <a:pt x="29" y="0"/>
                </a:lnTo>
                <a:lnTo>
                  <a:pt x="29" y="0"/>
                </a:lnTo>
                <a:lnTo>
                  <a:pt x="28" y="0"/>
                </a:lnTo>
                <a:lnTo>
                  <a:pt x="28" y="0"/>
                </a:lnTo>
                <a:close/>
              </a:path>
            </a:pathLst>
          </a:custGeom>
          <a:solidFill>
            <a:srgbClr val="F79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Freeform 42"/>
          <p:cNvSpPr/>
          <p:nvPr/>
        </p:nvSpPr>
        <p:spPr>
          <a:xfrm>
            <a:off x="1701800" y="1498600"/>
            <a:ext cx="215900" cy="228600"/>
          </a:xfrm>
          <a:custGeom>
            <a:avLst/>
            <a:gdLst/>
            <a:ahLst/>
            <a:cxnLst/>
            <a:rect l="l" t="t" r="r" b="b"/>
            <a:pathLst>
              <a:path w="17" h="18">
                <a:moveTo>
                  <a:pt x="17" y="9"/>
                </a:moveTo>
                <a:lnTo>
                  <a:pt x="17" y="7"/>
                </a:lnTo>
                <a:lnTo>
                  <a:pt x="16" y="6"/>
                </a:lnTo>
                <a:lnTo>
                  <a:pt x="15" y="4"/>
                </a:lnTo>
                <a:lnTo>
                  <a:pt x="14" y="3"/>
                </a:lnTo>
                <a:lnTo>
                  <a:pt x="13" y="2"/>
                </a:lnTo>
                <a:lnTo>
                  <a:pt x="12" y="1"/>
                </a:lnTo>
                <a:lnTo>
                  <a:pt x="10" y="1"/>
                </a:lnTo>
                <a:lnTo>
                  <a:pt x="8" y="0"/>
                </a:lnTo>
                <a:lnTo>
                  <a:pt x="7" y="1"/>
                </a:lnTo>
                <a:lnTo>
                  <a:pt x="5" y="1"/>
                </a:lnTo>
                <a:lnTo>
                  <a:pt x="3" y="2"/>
                </a:lnTo>
                <a:lnTo>
                  <a:pt x="2" y="3"/>
                </a:lnTo>
                <a:lnTo>
                  <a:pt x="1" y="4"/>
                </a:lnTo>
                <a:lnTo>
                  <a:pt x="0" y="6"/>
                </a:lnTo>
                <a:lnTo>
                  <a:pt x="0" y="7"/>
                </a:lnTo>
                <a:lnTo>
                  <a:pt x="0" y="9"/>
                </a:lnTo>
                <a:lnTo>
                  <a:pt x="0" y="11"/>
                </a:lnTo>
                <a:lnTo>
                  <a:pt x="0" y="12"/>
                </a:lnTo>
                <a:lnTo>
                  <a:pt x="1" y="14"/>
                </a:lnTo>
                <a:lnTo>
                  <a:pt x="2" y="15"/>
                </a:lnTo>
                <a:lnTo>
                  <a:pt x="3" y="16"/>
                </a:lnTo>
                <a:lnTo>
                  <a:pt x="5" y="17"/>
                </a:lnTo>
                <a:lnTo>
                  <a:pt x="7" y="18"/>
                </a:lnTo>
                <a:lnTo>
                  <a:pt x="8" y="18"/>
                </a:lnTo>
                <a:lnTo>
                  <a:pt x="10" y="18"/>
                </a:lnTo>
                <a:lnTo>
                  <a:pt x="12" y="17"/>
                </a:lnTo>
                <a:lnTo>
                  <a:pt x="13" y="16"/>
                </a:lnTo>
                <a:lnTo>
                  <a:pt x="14" y="15"/>
                </a:lnTo>
                <a:lnTo>
                  <a:pt x="15" y="14"/>
                </a:lnTo>
                <a:lnTo>
                  <a:pt x="16" y="12"/>
                </a:lnTo>
                <a:lnTo>
                  <a:pt x="17" y="11"/>
                </a:lnTo>
                <a:lnTo>
                  <a:pt x="17" y="9"/>
                </a:lnTo>
                <a:close/>
              </a:path>
            </a:pathLst>
          </a:cu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Freeform 43"/>
          <p:cNvSpPr/>
          <p:nvPr/>
        </p:nvSpPr>
        <p:spPr>
          <a:xfrm>
            <a:off x="1701800" y="1066800"/>
            <a:ext cx="215900" cy="228600"/>
          </a:xfrm>
          <a:custGeom>
            <a:avLst/>
            <a:gdLst/>
            <a:ahLst/>
            <a:cxnLst/>
            <a:rect l="l" t="t" r="r" b="b"/>
            <a:pathLst>
              <a:path w="17" h="18">
                <a:moveTo>
                  <a:pt x="17" y="9"/>
                </a:moveTo>
                <a:lnTo>
                  <a:pt x="17" y="7"/>
                </a:lnTo>
                <a:lnTo>
                  <a:pt x="16" y="5"/>
                </a:lnTo>
                <a:lnTo>
                  <a:pt x="15" y="4"/>
                </a:lnTo>
                <a:lnTo>
                  <a:pt x="14" y="3"/>
                </a:lnTo>
                <a:lnTo>
                  <a:pt x="13" y="2"/>
                </a:lnTo>
                <a:lnTo>
                  <a:pt x="12" y="1"/>
                </a:lnTo>
                <a:lnTo>
                  <a:pt x="10" y="0"/>
                </a:lnTo>
                <a:lnTo>
                  <a:pt x="8" y="0"/>
                </a:lnTo>
                <a:lnTo>
                  <a:pt x="7" y="0"/>
                </a:lnTo>
                <a:lnTo>
                  <a:pt x="5" y="1"/>
                </a:lnTo>
                <a:lnTo>
                  <a:pt x="3" y="2"/>
                </a:lnTo>
                <a:lnTo>
                  <a:pt x="2" y="3"/>
                </a:lnTo>
                <a:lnTo>
                  <a:pt x="1" y="4"/>
                </a:lnTo>
                <a:lnTo>
                  <a:pt x="0" y="5"/>
                </a:lnTo>
                <a:lnTo>
                  <a:pt x="0" y="7"/>
                </a:lnTo>
                <a:lnTo>
                  <a:pt x="0" y="9"/>
                </a:lnTo>
                <a:lnTo>
                  <a:pt x="0" y="11"/>
                </a:lnTo>
                <a:lnTo>
                  <a:pt x="0" y="12"/>
                </a:lnTo>
                <a:lnTo>
                  <a:pt x="1" y="14"/>
                </a:lnTo>
                <a:lnTo>
                  <a:pt x="2" y="15"/>
                </a:lnTo>
                <a:lnTo>
                  <a:pt x="3" y="16"/>
                </a:lnTo>
                <a:lnTo>
                  <a:pt x="5" y="17"/>
                </a:lnTo>
                <a:lnTo>
                  <a:pt x="7" y="17"/>
                </a:lnTo>
                <a:lnTo>
                  <a:pt x="8" y="18"/>
                </a:lnTo>
                <a:lnTo>
                  <a:pt x="10" y="17"/>
                </a:lnTo>
                <a:lnTo>
                  <a:pt x="12" y="17"/>
                </a:lnTo>
                <a:lnTo>
                  <a:pt x="13" y="16"/>
                </a:lnTo>
                <a:lnTo>
                  <a:pt x="14" y="15"/>
                </a:lnTo>
                <a:lnTo>
                  <a:pt x="15" y="14"/>
                </a:lnTo>
                <a:lnTo>
                  <a:pt x="16" y="12"/>
                </a:lnTo>
                <a:lnTo>
                  <a:pt x="17" y="11"/>
                </a:lnTo>
                <a:lnTo>
                  <a:pt x="17" y="9"/>
                </a:lnTo>
                <a:close/>
              </a:path>
            </a:pathLst>
          </a:cu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Freeform 44"/>
          <p:cNvSpPr/>
          <p:nvPr/>
        </p:nvSpPr>
        <p:spPr>
          <a:xfrm>
            <a:off x="939800" y="1066800"/>
            <a:ext cx="215900" cy="228600"/>
          </a:xfrm>
          <a:custGeom>
            <a:avLst/>
            <a:gdLst/>
            <a:ahLst/>
            <a:cxnLst/>
            <a:rect l="l" t="t" r="r" b="b"/>
            <a:pathLst>
              <a:path w="17" h="18">
                <a:moveTo>
                  <a:pt x="17" y="9"/>
                </a:moveTo>
                <a:lnTo>
                  <a:pt x="17" y="7"/>
                </a:lnTo>
                <a:lnTo>
                  <a:pt x="17" y="5"/>
                </a:lnTo>
                <a:lnTo>
                  <a:pt x="16" y="4"/>
                </a:lnTo>
                <a:lnTo>
                  <a:pt x="15" y="3"/>
                </a:lnTo>
                <a:lnTo>
                  <a:pt x="14" y="2"/>
                </a:lnTo>
                <a:lnTo>
                  <a:pt x="12" y="1"/>
                </a:lnTo>
                <a:lnTo>
                  <a:pt x="10" y="0"/>
                </a:lnTo>
                <a:lnTo>
                  <a:pt x="9" y="0"/>
                </a:lnTo>
                <a:lnTo>
                  <a:pt x="7" y="0"/>
                </a:lnTo>
                <a:lnTo>
                  <a:pt x="5" y="1"/>
                </a:lnTo>
                <a:lnTo>
                  <a:pt x="4" y="2"/>
                </a:lnTo>
                <a:lnTo>
                  <a:pt x="3" y="3"/>
                </a:lnTo>
                <a:lnTo>
                  <a:pt x="2" y="4"/>
                </a:lnTo>
                <a:lnTo>
                  <a:pt x="1" y="5"/>
                </a:lnTo>
                <a:lnTo>
                  <a:pt x="0" y="7"/>
                </a:lnTo>
                <a:lnTo>
                  <a:pt x="0" y="9"/>
                </a:lnTo>
                <a:lnTo>
                  <a:pt x="0" y="11"/>
                </a:lnTo>
                <a:lnTo>
                  <a:pt x="1" y="12"/>
                </a:lnTo>
                <a:lnTo>
                  <a:pt x="2" y="14"/>
                </a:lnTo>
                <a:lnTo>
                  <a:pt x="3" y="15"/>
                </a:lnTo>
                <a:lnTo>
                  <a:pt x="4" y="16"/>
                </a:lnTo>
                <a:lnTo>
                  <a:pt x="5" y="17"/>
                </a:lnTo>
                <a:lnTo>
                  <a:pt x="7" y="17"/>
                </a:lnTo>
                <a:lnTo>
                  <a:pt x="9" y="18"/>
                </a:lnTo>
                <a:lnTo>
                  <a:pt x="10" y="17"/>
                </a:lnTo>
                <a:lnTo>
                  <a:pt x="12" y="17"/>
                </a:lnTo>
                <a:lnTo>
                  <a:pt x="14" y="16"/>
                </a:lnTo>
                <a:lnTo>
                  <a:pt x="15" y="15"/>
                </a:lnTo>
                <a:lnTo>
                  <a:pt x="16" y="14"/>
                </a:lnTo>
                <a:lnTo>
                  <a:pt x="17" y="12"/>
                </a:lnTo>
                <a:lnTo>
                  <a:pt x="17" y="11"/>
                </a:lnTo>
                <a:lnTo>
                  <a:pt x="17" y="9"/>
                </a:lnTo>
                <a:close/>
              </a:path>
            </a:pathLst>
          </a:cu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Freeform 45"/>
          <p:cNvSpPr/>
          <p:nvPr/>
        </p:nvSpPr>
        <p:spPr>
          <a:xfrm>
            <a:off x="774700" y="2311400"/>
            <a:ext cx="215900" cy="215900"/>
          </a:xfrm>
          <a:custGeom>
            <a:avLst/>
            <a:gdLst/>
            <a:ahLst/>
            <a:cxnLst/>
            <a:rect l="l" t="t" r="r" b="b"/>
            <a:pathLst>
              <a:path w="17" h="17">
                <a:moveTo>
                  <a:pt x="17" y="8"/>
                </a:moveTo>
                <a:lnTo>
                  <a:pt x="17" y="6"/>
                </a:lnTo>
                <a:lnTo>
                  <a:pt x="16" y="5"/>
                </a:lnTo>
                <a:lnTo>
                  <a:pt x="16" y="3"/>
                </a:lnTo>
                <a:lnTo>
                  <a:pt x="14" y="2"/>
                </a:lnTo>
                <a:lnTo>
                  <a:pt x="13" y="1"/>
                </a:lnTo>
                <a:lnTo>
                  <a:pt x="12" y="0"/>
                </a:lnTo>
                <a:lnTo>
                  <a:pt x="10" y="0"/>
                </a:lnTo>
                <a:lnTo>
                  <a:pt x="8" y="0"/>
                </a:lnTo>
                <a:lnTo>
                  <a:pt x="7" y="0"/>
                </a:lnTo>
                <a:lnTo>
                  <a:pt x="5" y="0"/>
                </a:lnTo>
                <a:lnTo>
                  <a:pt x="3" y="1"/>
                </a:lnTo>
                <a:lnTo>
                  <a:pt x="2" y="2"/>
                </a:lnTo>
                <a:lnTo>
                  <a:pt x="1" y="3"/>
                </a:lnTo>
                <a:lnTo>
                  <a:pt x="0" y="5"/>
                </a:lnTo>
                <a:lnTo>
                  <a:pt x="0" y="6"/>
                </a:lnTo>
                <a:lnTo>
                  <a:pt x="0" y="8"/>
                </a:lnTo>
                <a:lnTo>
                  <a:pt x="0" y="10"/>
                </a:lnTo>
                <a:lnTo>
                  <a:pt x="0" y="12"/>
                </a:lnTo>
                <a:lnTo>
                  <a:pt x="1" y="13"/>
                </a:lnTo>
                <a:lnTo>
                  <a:pt x="2" y="14"/>
                </a:lnTo>
                <a:lnTo>
                  <a:pt x="3" y="15"/>
                </a:lnTo>
                <a:lnTo>
                  <a:pt x="5" y="16"/>
                </a:lnTo>
                <a:lnTo>
                  <a:pt x="7" y="17"/>
                </a:lnTo>
                <a:lnTo>
                  <a:pt x="8" y="17"/>
                </a:lnTo>
                <a:lnTo>
                  <a:pt x="10" y="17"/>
                </a:lnTo>
                <a:lnTo>
                  <a:pt x="12" y="16"/>
                </a:lnTo>
                <a:lnTo>
                  <a:pt x="13" y="15"/>
                </a:lnTo>
                <a:lnTo>
                  <a:pt x="14" y="14"/>
                </a:lnTo>
                <a:lnTo>
                  <a:pt x="16" y="13"/>
                </a:lnTo>
                <a:lnTo>
                  <a:pt x="16" y="12"/>
                </a:lnTo>
                <a:lnTo>
                  <a:pt x="17" y="10"/>
                </a:lnTo>
                <a:lnTo>
                  <a:pt x="17" y="8"/>
                </a:lnTo>
                <a:close/>
              </a:path>
            </a:pathLst>
          </a:cu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7" name="Connector 46"/>
          <p:cNvCxnSpPr/>
          <p:nvPr/>
        </p:nvCxnSpPr>
        <p:spPr>
          <a:xfrm flipV="1">
            <a:off x="2848444" y="941015"/>
            <a:ext cx="0" cy="1474188"/>
          </a:xfrm>
          <a:prstGeom prst="line">
            <a:avLst/>
          </a:prstGeom>
          <a:ln w="80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Freeform 47"/>
          <p:cNvSpPr/>
          <p:nvPr/>
        </p:nvSpPr>
        <p:spPr>
          <a:xfrm>
            <a:off x="2832100" y="9144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0"/>
                </a:moveTo>
                <a:lnTo>
                  <a:pt x="0" y="3"/>
                </a:lnTo>
                <a:lnTo>
                  <a:pt x="1" y="2"/>
                </a:lnTo>
                <a:lnTo>
                  <a:pt x="3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9" name="Connector 48"/>
          <p:cNvCxnSpPr/>
          <p:nvPr/>
        </p:nvCxnSpPr>
        <p:spPr>
          <a:xfrm>
            <a:off x="539039" y="2415203"/>
            <a:ext cx="220520" cy="0"/>
          </a:xfrm>
          <a:prstGeom prst="line">
            <a:avLst/>
          </a:prstGeom>
          <a:ln w="80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880617" y="2536261"/>
            <a:ext cx="0" cy="143478"/>
          </a:xfrm>
          <a:prstGeom prst="line">
            <a:avLst/>
          </a:prstGeom>
          <a:ln w="80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1001675" y="2415203"/>
            <a:ext cx="48912" cy="0"/>
          </a:xfrm>
          <a:prstGeom prst="line">
            <a:avLst/>
          </a:prstGeom>
          <a:ln w="80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1050587" y="2415203"/>
            <a:ext cx="339713" cy="0"/>
          </a:xfrm>
          <a:prstGeom prst="line">
            <a:avLst/>
          </a:prstGeom>
          <a:ln w="80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1390300" y="2415203"/>
            <a:ext cx="416349" cy="0"/>
          </a:xfrm>
          <a:prstGeom prst="line">
            <a:avLst/>
          </a:prstGeom>
          <a:ln w="80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1806649" y="2415203"/>
            <a:ext cx="416349" cy="0"/>
          </a:xfrm>
          <a:prstGeom prst="line">
            <a:avLst/>
          </a:prstGeom>
          <a:ln w="80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1050587" y="2095163"/>
            <a:ext cx="0" cy="320040"/>
          </a:xfrm>
          <a:prstGeom prst="line">
            <a:avLst/>
          </a:prstGeom>
          <a:ln w="80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Freeform 55"/>
          <p:cNvSpPr/>
          <p:nvPr/>
        </p:nvSpPr>
        <p:spPr>
          <a:xfrm>
            <a:off x="1028700" y="20701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2" y="0"/>
                </a:moveTo>
                <a:lnTo>
                  <a:pt x="0" y="3"/>
                </a:lnTo>
                <a:lnTo>
                  <a:pt x="2" y="2"/>
                </a:lnTo>
                <a:lnTo>
                  <a:pt x="3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" name="Connector 56"/>
          <p:cNvCxnSpPr/>
          <p:nvPr/>
        </p:nvCxnSpPr>
        <p:spPr>
          <a:xfrm flipV="1">
            <a:off x="1390300" y="2095163"/>
            <a:ext cx="0" cy="320040"/>
          </a:xfrm>
          <a:prstGeom prst="line">
            <a:avLst/>
          </a:prstGeom>
          <a:ln w="80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Freeform 57"/>
          <p:cNvSpPr/>
          <p:nvPr/>
        </p:nvSpPr>
        <p:spPr>
          <a:xfrm>
            <a:off x="1371600" y="20701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0"/>
                </a:moveTo>
                <a:lnTo>
                  <a:pt x="0" y="3"/>
                </a:lnTo>
                <a:lnTo>
                  <a:pt x="1" y="2"/>
                </a:lnTo>
                <a:lnTo>
                  <a:pt x="3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9" name="Connector 58"/>
          <p:cNvCxnSpPr/>
          <p:nvPr/>
        </p:nvCxnSpPr>
        <p:spPr>
          <a:xfrm flipV="1">
            <a:off x="1806649" y="2109684"/>
            <a:ext cx="0" cy="305519"/>
          </a:xfrm>
          <a:prstGeom prst="line">
            <a:avLst/>
          </a:prstGeom>
          <a:ln w="80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Freeform 59"/>
          <p:cNvSpPr/>
          <p:nvPr/>
        </p:nvSpPr>
        <p:spPr>
          <a:xfrm>
            <a:off x="1790700" y="20828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0"/>
                </a:moveTo>
                <a:lnTo>
                  <a:pt x="0" y="3"/>
                </a:lnTo>
                <a:lnTo>
                  <a:pt x="1" y="2"/>
                </a:lnTo>
                <a:lnTo>
                  <a:pt x="3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1" name="Connector 60"/>
          <p:cNvCxnSpPr/>
          <p:nvPr/>
        </p:nvCxnSpPr>
        <p:spPr>
          <a:xfrm flipV="1">
            <a:off x="2222998" y="2095163"/>
            <a:ext cx="0" cy="320040"/>
          </a:xfrm>
          <a:prstGeom prst="line">
            <a:avLst/>
          </a:prstGeom>
          <a:ln w="80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Freeform 61"/>
          <p:cNvSpPr/>
          <p:nvPr/>
        </p:nvSpPr>
        <p:spPr>
          <a:xfrm>
            <a:off x="2197100" y="20701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2" y="0"/>
                </a:moveTo>
                <a:lnTo>
                  <a:pt x="0" y="3"/>
                </a:lnTo>
                <a:lnTo>
                  <a:pt x="2" y="2"/>
                </a:lnTo>
                <a:lnTo>
                  <a:pt x="4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3" name="Connector 62"/>
          <p:cNvCxnSpPr/>
          <p:nvPr/>
        </p:nvCxnSpPr>
        <p:spPr>
          <a:xfrm flipV="1">
            <a:off x="1050587" y="1326610"/>
            <a:ext cx="0" cy="507950"/>
          </a:xfrm>
          <a:prstGeom prst="line">
            <a:avLst/>
          </a:prstGeom>
          <a:ln w="80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Freeform 63"/>
          <p:cNvSpPr/>
          <p:nvPr/>
        </p:nvSpPr>
        <p:spPr>
          <a:xfrm>
            <a:off x="1028700" y="12954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2" y="0"/>
                </a:moveTo>
                <a:lnTo>
                  <a:pt x="0" y="4"/>
                </a:lnTo>
                <a:lnTo>
                  <a:pt x="2" y="2"/>
                </a:lnTo>
                <a:lnTo>
                  <a:pt x="3" y="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" name="Connector 64"/>
          <p:cNvCxnSpPr/>
          <p:nvPr/>
        </p:nvCxnSpPr>
        <p:spPr>
          <a:xfrm flipV="1">
            <a:off x="1390300" y="1613191"/>
            <a:ext cx="0" cy="221369"/>
          </a:xfrm>
          <a:prstGeom prst="line">
            <a:avLst/>
          </a:prstGeom>
          <a:ln w="80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1390300" y="1613191"/>
            <a:ext cx="269160" cy="0"/>
          </a:xfrm>
          <a:prstGeom prst="line">
            <a:avLst/>
          </a:prstGeom>
          <a:ln w="80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Freeform 66"/>
          <p:cNvSpPr/>
          <p:nvPr/>
        </p:nvSpPr>
        <p:spPr>
          <a:xfrm>
            <a:off x="1638300" y="15875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4" y="2"/>
                </a:moveTo>
                <a:lnTo>
                  <a:pt x="0" y="0"/>
                </a:lnTo>
                <a:lnTo>
                  <a:pt x="2" y="2"/>
                </a:lnTo>
                <a:lnTo>
                  <a:pt x="0" y="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8" name="Connector 67"/>
          <p:cNvCxnSpPr/>
          <p:nvPr/>
        </p:nvCxnSpPr>
        <p:spPr>
          <a:xfrm flipV="1">
            <a:off x="1806649" y="1760380"/>
            <a:ext cx="0" cy="59659"/>
          </a:xfrm>
          <a:prstGeom prst="line">
            <a:avLst/>
          </a:prstGeom>
          <a:ln w="80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Freeform 68"/>
          <p:cNvSpPr/>
          <p:nvPr/>
        </p:nvSpPr>
        <p:spPr>
          <a:xfrm>
            <a:off x="1790700" y="17399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0"/>
                </a:moveTo>
                <a:lnTo>
                  <a:pt x="0" y="3"/>
                </a:lnTo>
                <a:lnTo>
                  <a:pt x="1" y="2"/>
                </a:lnTo>
                <a:lnTo>
                  <a:pt x="3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0" name="Connector 69"/>
          <p:cNvCxnSpPr/>
          <p:nvPr/>
        </p:nvCxnSpPr>
        <p:spPr>
          <a:xfrm flipV="1">
            <a:off x="2222998" y="1748959"/>
            <a:ext cx="0" cy="85601"/>
          </a:xfrm>
          <a:prstGeom prst="line">
            <a:avLst/>
          </a:prstGeom>
          <a:ln w="80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2222998" y="1748959"/>
            <a:ext cx="151163" cy="0"/>
          </a:xfrm>
          <a:prstGeom prst="line">
            <a:avLst/>
          </a:prstGeom>
          <a:ln w="80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Freeform 71"/>
          <p:cNvSpPr/>
          <p:nvPr/>
        </p:nvSpPr>
        <p:spPr>
          <a:xfrm>
            <a:off x="2362200" y="17272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2"/>
                </a:moveTo>
                <a:lnTo>
                  <a:pt x="0" y="0"/>
                </a:lnTo>
                <a:lnTo>
                  <a:pt x="1" y="2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3" name="Connector 72"/>
          <p:cNvCxnSpPr/>
          <p:nvPr/>
        </p:nvCxnSpPr>
        <p:spPr>
          <a:xfrm>
            <a:off x="2521350" y="1870017"/>
            <a:ext cx="0" cy="545186"/>
          </a:xfrm>
          <a:prstGeom prst="line">
            <a:avLst/>
          </a:prstGeom>
          <a:ln w="80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2521350" y="2415203"/>
            <a:ext cx="526779" cy="0"/>
          </a:xfrm>
          <a:prstGeom prst="line">
            <a:avLst/>
          </a:prstGeom>
          <a:ln w="80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Freeform 74"/>
          <p:cNvSpPr/>
          <p:nvPr/>
        </p:nvSpPr>
        <p:spPr>
          <a:xfrm>
            <a:off x="3035300" y="24003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1"/>
                </a:moveTo>
                <a:lnTo>
                  <a:pt x="0" y="0"/>
                </a:lnTo>
                <a:lnTo>
                  <a:pt x="1" y="1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6" name="Connector 75"/>
          <p:cNvCxnSpPr/>
          <p:nvPr/>
        </p:nvCxnSpPr>
        <p:spPr>
          <a:xfrm>
            <a:off x="539039" y="1179421"/>
            <a:ext cx="364359" cy="0"/>
          </a:xfrm>
          <a:prstGeom prst="line">
            <a:avLst/>
          </a:prstGeom>
          <a:ln w="80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Freeform 76"/>
          <p:cNvSpPr/>
          <p:nvPr/>
        </p:nvSpPr>
        <p:spPr>
          <a:xfrm>
            <a:off x="889000" y="11557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3" y="2"/>
                </a:moveTo>
                <a:lnTo>
                  <a:pt x="0" y="0"/>
                </a:lnTo>
                <a:lnTo>
                  <a:pt x="1" y="2"/>
                </a:lnTo>
                <a:lnTo>
                  <a:pt x="0" y="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8" name="Connector 77"/>
          <p:cNvCxnSpPr/>
          <p:nvPr/>
        </p:nvCxnSpPr>
        <p:spPr>
          <a:xfrm>
            <a:off x="1171645" y="1179421"/>
            <a:ext cx="487815" cy="0"/>
          </a:xfrm>
          <a:prstGeom prst="line">
            <a:avLst/>
          </a:prstGeom>
          <a:ln w="80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Freeform 78"/>
          <p:cNvSpPr/>
          <p:nvPr/>
        </p:nvSpPr>
        <p:spPr>
          <a:xfrm>
            <a:off x="1638300" y="11557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4" y="2"/>
                </a:moveTo>
                <a:lnTo>
                  <a:pt x="0" y="0"/>
                </a:lnTo>
                <a:lnTo>
                  <a:pt x="2" y="2"/>
                </a:lnTo>
                <a:lnTo>
                  <a:pt x="0" y="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0" name="Connector 79"/>
          <p:cNvCxnSpPr/>
          <p:nvPr/>
        </p:nvCxnSpPr>
        <p:spPr>
          <a:xfrm>
            <a:off x="1927707" y="1179421"/>
            <a:ext cx="1036500" cy="0"/>
          </a:xfrm>
          <a:prstGeom prst="line">
            <a:avLst/>
          </a:prstGeom>
          <a:ln w="30151">
            <a:solidFill>
              <a:srgbClr val="93D4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1927707" y="1179421"/>
            <a:ext cx="1120422" cy="0"/>
          </a:xfrm>
          <a:prstGeom prst="line">
            <a:avLst/>
          </a:prstGeom>
          <a:ln w="80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Freeform 81"/>
          <p:cNvSpPr/>
          <p:nvPr/>
        </p:nvSpPr>
        <p:spPr>
          <a:xfrm>
            <a:off x="3035300" y="11557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3" y="2"/>
                </a:moveTo>
                <a:lnTo>
                  <a:pt x="0" y="0"/>
                </a:lnTo>
                <a:lnTo>
                  <a:pt x="1" y="2"/>
                </a:lnTo>
                <a:lnTo>
                  <a:pt x="0" y="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3" name="Connector 82"/>
          <p:cNvCxnSpPr/>
          <p:nvPr/>
        </p:nvCxnSpPr>
        <p:spPr>
          <a:xfrm flipV="1">
            <a:off x="1806649" y="1326610"/>
            <a:ext cx="0" cy="165523"/>
          </a:xfrm>
          <a:prstGeom prst="line">
            <a:avLst/>
          </a:prstGeom>
          <a:ln w="80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Freeform 83"/>
          <p:cNvSpPr/>
          <p:nvPr/>
        </p:nvSpPr>
        <p:spPr>
          <a:xfrm>
            <a:off x="1790700" y="12954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1" y="0"/>
                </a:moveTo>
                <a:lnTo>
                  <a:pt x="0" y="4"/>
                </a:lnTo>
                <a:lnTo>
                  <a:pt x="1" y="2"/>
                </a:lnTo>
                <a:lnTo>
                  <a:pt x="3" y="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5" name="Connector 84"/>
          <p:cNvCxnSpPr/>
          <p:nvPr/>
        </p:nvCxnSpPr>
        <p:spPr>
          <a:xfrm>
            <a:off x="2521350" y="1179421"/>
            <a:ext cx="0" cy="73044"/>
          </a:xfrm>
          <a:prstGeom prst="line">
            <a:avLst/>
          </a:prstGeom>
          <a:ln w="80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Freeform 85"/>
          <p:cNvSpPr/>
          <p:nvPr/>
        </p:nvSpPr>
        <p:spPr>
          <a:xfrm>
            <a:off x="2501900" y="12319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2" y="4"/>
                </a:moveTo>
                <a:lnTo>
                  <a:pt x="3" y="0"/>
                </a:lnTo>
                <a:lnTo>
                  <a:pt x="2" y="2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7" name="Connector 86"/>
          <p:cNvCxnSpPr/>
          <p:nvPr/>
        </p:nvCxnSpPr>
        <p:spPr>
          <a:xfrm>
            <a:off x="2521350" y="1542111"/>
            <a:ext cx="0" cy="59659"/>
          </a:xfrm>
          <a:prstGeom prst="line">
            <a:avLst/>
          </a:prstGeom>
          <a:ln w="80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Freeform 87"/>
          <p:cNvSpPr/>
          <p:nvPr/>
        </p:nvSpPr>
        <p:spPr>
          <a:xfrm>
            <a:off x="2501900" y="15875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2" y="3"/>
                </a:moveTo>
                <a:lnTo>
                  <a:pt x="3" y="0"/>
                </a:ln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-2" y="3146742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2880002" y="3146742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1" name="Picture 9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92" name="Picture 9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93" name="TextBox 92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Long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Short-Term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Memory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(LSTM)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08000" y="359888"/>
            <a:ext cx="5677395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1">
                <a:solidFill>
                  <a:srgbClr val="003373"/>
                </a:solidFill>
                <a:latin typeface="Josefin Sans"/>
              </a:rPr>
              <a:t>Architecture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291927" y="2354958"/>
            <a:ext cx="5493468" cy="17057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6" b="0">
                <a:solidFill>
                  <a:srgbClr val="000000"/>
                </a:solidFill>
                <a:latin typeface="Cambria Math"/>
              </a:rPr>
              <a:t>h</a:t>
            </a:r>
            <a:r>
              <a:rPr sz="633" b="0">
                <a:solidFill>
                  <a:srgbClr val="000000"/>
                </a:solidFill>
                <a:latin typeface="Cambria Math"/>
              </a:rPr>
              <a:t>t</a:t>
            </a:r>
            <a:r>
              <a:rPr sz="633" b="0">
                <a:solidFill>
                  <a:srgbClr val="000000"/>
                </a:solidFill>
                <a:latin typeface="Cambria Math"/>
              </a:rPr>
              <a:t>−</a:t>
            </a:r>
            <a:r>
              <a:rPr sz="633" b="0">
                <a:solidFill>
                  <a:srgbClr val="000000"/>
                </a:solidFill>
                <a:latin typeface="Cambria Math"/>
              </a:rPr>
              <a:t>1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31241" y="2679801"/>
            <a:ext cx="4954154" cy="17057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6" b="0">
                <a:solidFill>
                  <a:srgbClr val="000000"/>
                </a:solidFill>
                <a:latin typeface="Cambria Math"/>
              </a:rPr>
              <a:t>x</a:t>
            </a:r>
            <a:r>
              <a:rPr sz="633" b="0">
                <a:solidFill>
                  <a:srgbClr val="000000"/>
                </a:solidFill>
                <a:latin typeface="Cambria Math"/>
              </a:rPr>
              <a:t>t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3112933" y="2359154"/>
            <a:ext cx="2672462" cy="17057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6" b="0">
                <a:solidFill>
                  <a:srgbClr val="000000"/>
                </a:solidFill>
                <a:latin typeface="Cambria Math"/>
              </a:rPr>
              <a:t>h</a:t>
            </a:r>
            <a:r>
              <a:rPr sz="633" b="0">
                <a:solidFill>
                  <a:srgbClr val="000000"/>
                </a:solidFill>
                <a:latin typeface="Cambria Math"/>
              </a:rPr>
              <a:t>t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2798793" y="773695"/>
            <a:ext cx="2986602" cy="17057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6" b="0">
                <a:solidFill>
                  <a:srgbClr val="000000"/>
                </a:solidFill>
                <a:latin typeface="Cambria Math"/>
              </a:rPr>
              <a:t>h</a:t>
            </a:r>
            <a:r>
              <a:rPr sz="633" b="0">
                <a:solidFill>
                  <a:srgbClr val="000000"/>
                </a:solidFill>
                <a:latin typeface="Cambria Math"/>
              </a:rPr>
              <a:t>t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276684" y="1118584"/>
            <a:ext cx="5508711" cy="17057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6" b="0">
                <a:solidFill>
                  <a:srgbClr val="000000"/>
                </a:solidFill>
                <a:latin typeface="Cambria Math"/>
              </a:rPr>
              <a:t>C</a:t>
            </a:r>
            <a:r>
              <a:rPr sz="633" b="0">
                <a:solidFill>
                  <a:srgbClr val="000000"/>
                </a:solidFill>
                <a:latin typeface="Cambria Math"/>
              </a:rPr>
              <a:t>t</a:t>
            </a:r>
            <a:r>
              <a:rPr sz="633" b="0">
                <a:solidFill>
                  <a:srgbClr val="000000"/>
                </a:solidFill>
                <a:latin typeface="Cambria Math"/>
              </a:rPr>
              <a:t>−</a:t>
            </a:r>
            <a:r>
              <a:rPr sz="633" b="0">
                <a:solidFill>
                  <a:srgbClr val="000000"/>
                </a:solidFill>
                <a:latin typeface="Cambria Math"/>
              </a:rPr>
              <a:t>1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3112933" y="1122770"/>
            <a:ext cx="2672462" cy="17057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6" b="0">
                <a:solidFill>
                  <a:srgbClr val="000000"/>
                </a:solidFill>
                <a:latin typeface="Cambria Math"/>
              </a:rPr>
              <a:t>C</a:t>
            </a:r>
            <a:r>
              <a:rPr sz="633" b="0">
                <a:solidFill>
                  <a:srgbClr val="000000"/>
                </a:solidFill>
                <a:latin typeface="Cambria Math"/>
              </a:rPr>
              <a:t>t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696599" y="1904004"/>
            <a:ext cx="4088796" cy="17057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6" b="0">
                <a:solidFill>
                  <a:srgbClr val="000000"/>
                </a:solidFill>
                <a:latin typeface="Cambria Math"/>
              </a:rPr>
              <a:t>tanh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356896" y="1889478"/>
            <a:ext cx="4428499" cy="17057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6" b="0">
                <a:solidFill>
                  <a:srgbClr val="000000"/>
                </a:solidFill>
                <a:latin typeface="Cambria Math"/>
              </a:rPr>
              <a:t>σ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17183" y="1889478"/>
            <a:ext cx="4768212" cy="17057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6" b="0">
                <a:solidFill>
                  <a:srgbClr val="000000"/>
                </a:solidFill>
                <a:latin typeface="Cambria Math"/>
              </a:rPr>
              <a:t>σ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2189579" y="1889478"/>
            <a:ext cx="3595816" cy="17057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6" b="0">
                <a:solidFill>
                  <a:srgbClr val="000000"/>
                </a:solidFill>
                <a:latin typeface="Cambria Math"/>
              </a:rPr>
              <a:t>σ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2478549" y="1689046"/>
            <a:ext cx="3306846" cy="17057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6" b="0">
                <a:solidFill>
                  <a:srgbClr val="FFFFFF"/>
                </a:solidFill>
                <a:latin typeface="Cambria Math"/>
              </a:rPr>
              <a:t>×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2411293" y="1362562"/>
            <a:ext cx="3374102" cy="17057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6" b="0">
                <a:solidFill>
                  <a:srgbClr val="000000"/>
                </a:solidFill>
                <a:latin typeface="Cambria Math"/>
              </a:rPr>
              <a:t>tanh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763856" y="1553271"/>
            <a:ext cx="4021539" cy="17057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6" b="0">
                <a:solidFill>
                  <a:srgbClr val="FFFFFF"/>
                </a:solidFill>
                <a:latin typeface="Cambria Math"/>
              </a:rPr>
              <a:t>×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1763856" y="1120934"/>
            <a:ext cx="4021539" cy="17057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6" b="0">
                <a:solidFill>
                  <a:srgbClr val="FFFFFF"/>
                </a:solidFill>
                <a:latin typeface="Cambria Math"/>
              </a:rPr>
              <a:t>+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007801" y="1119508"/>
            <a:ext cx="4777594" cy="17057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6" b="0">
                <a:solidFill>
                  <a:srgbClr val="FFFFFF"/>
                </a:solidFill>
                <a:latin typeface="Cambria Math"/>
              </a:rPr>
              <a:t>×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837839" y="2342295"/>
            <a:ext cx="4947557" cy="17057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6" b="0">
                <a:solidFill>
                  <a:srgbClr val="FFFFFF"/>
                </a:solidFill>
                <a:latin typeface="MSAM10"/>
              </a:rPr>
              <a:t>⊞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3694009" y="1337422"/>
            <a:ext cx="2091386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Cambria Math"/>
              </a:rPr>
              <a:t>f</a:t>
            </a:r>
            <a:r>
              <a:rPr sz="797" b="0">
                <a:solidFill>
                  <a:srgbClr val="000000"/>
                </a:solidFill>
                <a:latin typeface="Cambria Math"/>
              </a:rPr>
              <a:t>t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=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σ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(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W</a:t>
            </a:r>
            <a:r>
              <a:rPr sz="797" b="0">
                <a:solidFill>
                  <a:srgbClr val="000000"/>
                </a:solidFill>
                <a:latin typeface="Cambria Math"/>
              </a:rPr>
              <a:t>f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·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[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h</a:t>
            </a:r>
            <a:r>
              <a:rPr sz="797" b="0">
                <a:solidFill>
                  <a:srgbClr val="000000"/>
                </a:solidFill>
                <a:latin typeface="Cambria Math"/>
              </a:rPr>
              <a:t>t</a:t>
            </a:r>
            <a:r>
              <a:rPr sz="797" b="0">
                <a:solidFill>
                  <a:srgbClr val="000000"/>
                </a:solidFill>
                <a:latin typeface="Cambria Math"/>
              </a:rPr>
              <a:t>−</a:t>
            </a:r>
            <a:r>
              <a:rPr sz="797" b="0">
                <a:solidFill>
                  <a:srgbClr val="000000"/>
                </a:solidFill>
                <a:latin typeface="Cambria Math"/>
              </a:rPr>
              <a:t>1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, x</a:t>
            </a:r>
            <a:r>
              <a:rPr sz="797" b="0">
                <a:solidFill>
                  <a:srgbClr val="000000"/>
                </a:solidFill>
                <a:latin typeface="Cambria Math"/>
              </a:rPr>
              <a:t>t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] +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b</a:t>
            </a:r>
            <a:r>
              <a:rPr sz="797" b="0">
                <a:solidFill>
                  <a:srgbClr val="000000"/>
                </a:solidFill>
                <a:latin typeface="Cambria Math"/>
              </a:rPr>
              <a:t>f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)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3730268" y="1547454"/>
            <a:ext cx="2055127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Cambria Math"/>
              </a:rPr>
              <a:t>i</a:t>
            </a:r>
            <a:r>
              <a:rPr sz="797" b="0">
                <a:solidFill>
                  <a:srgbClr val="000000"/>
                </a:solidFill>
                <a:latin typeface="Cambria Math"/>
              </a:rPr>
              <a:t>t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=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σ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(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W</a:t>
            </a:r>
            <a:r>
              <a:rPr sz="797" b="0">
                <a:solidFill>
                  <a:srgbClr val="000000"/>
                </a:solidFill>
                <a:latin typeface="Cambria Math"/>
              </a:rPr>
              <a:t>i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·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[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h</a:t>
            </a:r>
            <a:r>
              <a:rPr sz="797" b="0">
                <a:solidFill>
                  <a:srgbClr val="000000"/>
                </a:solidFill>
                <a:latin typeface="Cambria Math"/>
              </a:rPr>
              <a:t>t</a:t>
            </a:r>
            <a:r>
              <a:rPr sz="797" b="0">
                <a:solidFill>
                  <a:srgbClr val="000000"/>
                </a:solidFill>
                <a:latin typeface="Cambria Math"/>
              </a:rPr>
              <a:t>−</a:t>
            </a:r>
            <a:r>
              <a:rPr sz="797" b="0">
                <a:solidFill>
                  <a:srgbClr val="000000"/>
                </a:solidFill>
                <a:latin typeface="Cambria Math"/>
              </a:rPr>
              <a:t>1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, x</a:t>
            </a:r>
            <a:r>
              <a:rPr sz="797" b="0">
                <a:solidFill>
                  <a:srgbClr val="000000"/>
                </a:solidFill>
                <a:latin typeface="Cambria Math"/>
              </a:rPr>
              <a:t>t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] +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b</a:t>
            </a:r>
            <a:r>
              <a:rPr sz="797" b="0">
                <a:solidFill>
                  <a:srgbClr val="000000"/>
                </a:solidFill>
                <a:latin typeface="Cambria Math"/>
              </a:rPr>
              <a:t>i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)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3705187" y="1757487"/>
            <a:ext cx="208020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Cambria Math"/>
              </a:rPr>
              <a:t>o</a:t>
            </a:r>
            <a:r>
              <a:rPr sz="797" b="0">
                <a:solidFill>
                  <a:srgbClr val="000000"/>
                </a:solidFill>
                <a:latin typeface="Cambria Math"/>
              </a:rPr>
              <a:t>t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=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σ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(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W</a:t>
            </a:r>
            <a:r>
              <a:rPr sz="797" b="0">
                <a:solidFill>
                  <a:srgbClr val="000000"/>
                </a:solidFill>
                <a:latin typeface="Cambria Math"/>
              </a:rPr>
              <a:t>o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·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[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h</a:t>
            </a:r>
            <a:r>
              <a:rPr sz="797" b="0">
                <a:solidFill>
                  <a:srgbClr val="000000"/>
                </a:solidFill>
                <a:latin typeface="Cambria Math"/>
              </a:rPr>
              <a:t>t</a:t>
            </a:r>
            <a:r>
              <a:rPr sz="797" b="0">
                <a:solidFill>
                  <a:srgbClr val="000000"/>
                </a:solidFill>
                <a:latin typeface="Cambria Math"/>
              </a:rPr>
              <a:t>−</a:t>
            </a:r>
            <a:r>
              <a:rPr sz="797" b="0">
                <a:solidFill>
                  <a:srgbClr val="000000"/>
                </a:solidFill>
                <a:latin typeface="Cambria Math"/>
              </a:rPr>
              <a:t>1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, x</a:t>
            </a:r>
            <a:r>
              <a:rPr sz="797" b="0">
                <a:solidFill>
                  <a:srgbClr val="000000"/>
                </a:solidFill>
                <a:latin typeface="Cambria Math"/>
              </a:rPr>
              <a:t>t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] +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b</a:t>
            </a:r>
            <a:r>
              <a:rPr sz="797" b="0">
                <a:solidFill>
                  <a:srgbClr val="000000"/>
                </a:solidFill>
                <a:latin typeface="Cambria Math"/>
              </a:rPr>
              <a:t>o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)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3560966" y="1954037"/>
            <a:ext cx="222442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Cambria Math"/>
              </a:rPr>
              <a:t>˜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C</a:t>
            </a:r>
            <a:r>
              <a:rPr sz="797" b="0">
                <a:solidFill>
                  <a:srgbClr val="000000"/>
                </a:solidFill>
                <a:latin typeface="Cambria Math"/>
              </a:rPr>
              <a:t>t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= tanh (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W</a:t>
            </a:r>
            <a:r>
              <a:rPr sz="797" b="0">
                <a:solidFill>
                  <a:srgbClr val="000000"/>
                </a:solidFill>
                <a:latin typeface="Cambria Math"/>
              </a:rPr>
              <a:t>C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·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[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h</a:t>
            </a:r>
            <a:r>
              <a:rPr sz="797" b="0">
                <a:solidFill>
                  <a:srgbClr val="000000"/>
                </a:solidFill>
                <a:latin typeface="Cambria Math"/>
              </a:rPr>
              <a:t>t</a:t>
            </a:r>
            <a:r>
              <a:rPr sz="797" b="0">
                <a:solidFill>
                  <a:srgbClr val="000000"/>
                </a:solidFill>
                <a:latin typeface="Cambria Math"/>
              </a:rPr>
              <a:t>−</a:t>
            </a:r>
            <a:r>
              <a:rPr sz="797" b="0">
                <a:solidFill>
                  <a:srgbClr val="000000"/>
                </a:solidFill>
                <a:latin typeface="Cambria Math"/>
              </a:rPr>
              <a:t>1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, x</a:t>
            </a:r>
            <a:r>
              <a:rPr sz="797" b="0">
                <a:solidFill>
                  <a:srgbClr val="000000"/>
                </a:solidFill>
                <a:latin typeface="Cambria Math"/>
              </a:rPr>
              <a:t>t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] +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b</a:t>
            </a:r>
            <a:r>
              <a:rPr sz="797" b="0">
                <a:solidFill>
                  <a:srgbClr val="000000"/>
                </a:solidFill>
                <a:latin typeface="Cambria Math"/>
              </a:rPr>
              <a:t>C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)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3846996" y="2183831"/>
            <a:ext cx="193839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Cambria Math"/>
              </a:rPr>
              <a:t>C</a:t>
            </a:r>
            <a:r>
              <a:rPr sz="797" b="0">
                <a:solidFill>
                  <a:srgbClr val="000000"/>
                </a:solidFill>
                <a:latin typeface="Cambria Math"/>
              </a:rPr>
              <a:t>t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=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f</a:t>
            </a:r>
            <a:r>
              <a:rPr sz="797" b="0">
                <a:solidFill>
                  <a:srgbClr val="000000"/>
                </a:solidFill>
                <a:latin typeface="Cambria Math"/>
              </a:rPr>
              <a:t>t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·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C</a:t>
            </a:r>
            <a:r>
              <a:rPr sz="797" b="0">
                <a:solidFill>
                  <a:srgbClr val="000000"/>
                </a:solidFill>
                <a:latin typeface="Cambria Math"/>
              </a:rPr>
              <a:t>t</a:t>
            </a:r>
            <a:r>
              <a:rPr sz="797" b="0">
                <a:solidFill>
                  <a:srgbClr val="000000"/>
                </a:solidFill>
                <a:latin typeface="Cambria Math"/>
              </a:rPr>
              <a:t>−</a:t>
            </a:r>
            <a:r>
              <a:rPr sz="797" b="0">
                <a:solidFill>
                  <a:srgbClr val="000000"/>
                </a:solidFill>
                <a:latin typeface="Cambria Math"/>
              </a:rPr>
              <a:t>1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+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i</a:t>
            </a:r>
            <a:r>
              <a:rPr sz="797" b="0">
                <a:solidFill>
                  <a:srgbClr val="000000"/>
                </a:solidFill>
                <a:latin typeface="Cambria Math"/>
              </a:rPr>
              <a:t>t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·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˜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C</a:t>
            </a:r>
            <a:r>
              <a:rPr sz="797" b="0">
                <a:solidFill>
                  <a:srgbClr val="000000"/>
                </a:solidFill>
                <a:latin typeface="Cambria Math"/>
              </a:rPr>
              <a:t>t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3986455" y="2427082"/>
            <a:ext cx="1798940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Cambria Math"/>
              </a:rPr>
              <a:t>h</a:t>
            </a:r>
            <a:r>
              <a:rPr sz="797" b="0">
                <a:solidFill>
                  <a:srgbClr val="000000"/>
                </a:solidFill>
                <a:latin typeface="Cambria Math"/>
              </a:rPr>
              <a:t>t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=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o</a:t>
            </a:r>
            <a:r>
              <a:rPr sz="797" b="0">
                <a:solidFill>
                  <a:srgbClr val="000000"/>
                </a:solidFill>
                <a:latin typeface="Cambria Math"/>
              </a:rPr>
              <a:t>t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·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tanh(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C</a:t>
            </a:r>
            <a:r>
              <a:rPr sz="797" b="0">
                <a:solidFill>
                  <a:srgbClr val="000000"/>
                </a:solidFill>
                <a:latin typeface="Cambria Math"/>
              </a:rPr>
              <a:t>t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)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898159" y="3150918"/>
            <a:ext cx="887236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5640207" y="3150694"/>
            <a:ext cx="145188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12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1" y="3146742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880005" y="3146742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Long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Short-Term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Memory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(LSTM)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8000" y="359888"/>
            <a:ext cx="5677395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1">
                <a:solidFill>
                  <a:srgbClr val="003373"/>
                </a:solidFill>
                <a:latin typeface="Josefin Sans"/>
              </a:rPr>
              <a:t>Strengths</a:t>
            </a:r>
            <a:r>
              <a:rPr sz="896" b="1">
                <a:solidFill>
                  <a:srgbClr val="003373"/>
                </a:solidFill>
                <a:latin typeface="Josefin Sans"/>
              </a:rPr>
              <a:t> </a:t>
            </a:r>
            <a:r>
              <a:rPr sz="896" b="1">
                <a:solidFill>
                  <a:srgbClr val="003373"/>
                </a:solidFill>
                <a:latin typeface="Josefin Sans"/>
              </a:rPr>
              <a:t>and</a:t>
            </a:r>
            <a:r>
              <a:rPr sz="896" b="1">
                <a:solidFill>
                  <a:srgbClr val="003373"/>
                </a:solidFill>
                <a:latin typeface="Josefin Sans"/>
              </a:rPr>
              <a:t> </a:t>
            </a:r>
            <a:r>
              <a:rPr sz="896" b="1">
                <a:solidFill>
                  <a:srgbClr val="003373"/>
                </a:solidFill>
                <a:latin typeface="Josefin Sans"/>
              </a:rPr>
              <a:t>Limitations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0056" y="862088"/>
            <a:ext cx="532533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LSTMs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can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remember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information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across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many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time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steps,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which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makes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7094" y="1077917"/>
            <a:ext cx="5148301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more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effective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than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RNNs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learning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long-term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dependencies.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898163" y="3150918"/>
            <a:ext cx="887233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639220" y="3150694"/>
            <a:ext cx="146175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13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1" y="3146742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880005" y="3146742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Long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Short-Term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Memory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(LSTM)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8000" y="359888"/>
            <a:ext cx="5677395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1">
                <a:solidFill>
                  <a:srgbClr val="003373"/>
                </a:solidFill>
                <a:latin typeface="Josefin Sans"/>
              </a:rPr>
              <a:t>Strengths</a:t>
            </a:r>
            <a:r>
              <a:rPr sz="896" b="1">
                <a:solidFill>
                  <a:srgbClr val="003373"/>
                </a:solidFill>
                <a:latin typeface="Josefin Sans"/>
              </a:rPr>
              <a:t> </a:t>
            </a:r>
            <a:r>
              <a:rPr sz="896" b="1">
                <a:solidFill>
                  <a:srgbClr val="003373"/>
                </a:solidFill>
                <a:latin typeface="Josefin Sans"/>
              </a:rPr>
              <a:t>and</a:t>
            </a:r>
            <a:r>
              <a:rPr sz="896" b="1">
                <a:solidFill>
                  <a:srgbClr val="003373"/>
                </a:solidFill>
                <a:latin typeface="Josefin Sans"/>
              </a:rPr>
              <a:t> </a:t>
            </a:r>
            <a:r>
              <a:rPr sz="896" b="1">
                <a:solidFill>
                  <a:srgbClr val="003373"/>
                </a:solidFill>
                <a:latin typeface="Josefin Sans"/>
              </a:rPr>
              <a:t>Limitations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0056" y="862088"/>
            <a:ext cx="532533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LSTMs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can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remember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information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across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many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time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steps,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which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makes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7094" y="1077917"/>
            <a:ext cx="5148301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more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effective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than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RNNs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learning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long-term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dependencies.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60056" y="1292275"/>
            <a:ext cx="532533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gates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allow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network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explicitly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control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what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remember,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forget,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7094" y="1508105"/>
            <a:ext cx="5148301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output.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898163" y="3150918"/>
            <a:ext cx="887233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639220" y="3150694"/>
            <a:ext cx="146175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13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1" y="3146742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880005" y="3146742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Long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Short-Term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Memory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(LSTM)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8000" y="359888"/>
            <a:ext cx="5677395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1">
                <a:solidFill>
                  <a:srgbClr val="003373"/>
                </a:solidFill>
                <a:latin typeface="Josefin Sans"/>
              </a:rPr>
              <a:t>Strengths</a:t>
            </a:r>
            <a:r>
              <a:rPr sz="896" b="1">
                <a:solidFill>
                  <a:srgbClr val="003373"/>
                </a:solidFill>
                <a:latin typeface="Josefin Sans"/>
              </a:rPr>
              <a:t> </a:t>
            </a:r>
            <a:r>
              <a:rPr sz="896" b="1">
                <a:solidFill>
                  <a:srgbClr val="003373"/>
                </a:solidFill>
                <a:latin typeface="Josefin Sans"/>
              </a:rPr>
              <a:t>and</a:t>
            </a:r>
            <a:r>
              <a:rPr sz="896" b="1">
                <a:solidFill>
                  <a:srgbClr val="003373"/>
                </a:solidFill>
                <a:latin typeface="Josefin Sans"/>
              </a:rPr>
              <a:t> </a:t>
            </a:r>
            <a:r>
              <a:rPr sz="896" b="1">
                <a:solidFill>
                  <a:srgbClr val="003373"/>
                </a:solidFill>
                <a:latin typeface="Josefin Sans"/>
              </a:rPr>
              <a:t>Limitations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0056" y="862088"/>
            <a:ext cx="532533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LSTMs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can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remember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information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across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many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time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steps,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which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makes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7094" y="1077917"/>
            <a:ext cx="5148301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more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effective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than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RNNs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learning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long-term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dependencies.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60056" y="1292275"/>
            <a:ext cx="532533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gates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allow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network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explicitly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control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what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remember,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forget,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7094" y="1508105"/>
            <a:ext cx="5148301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output.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60056" y="1722462"/>
            <a:ext cx="532533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Solves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vanishing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gradient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problem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better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than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standard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RNNs.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898163" y="3150918"/>
            <a:ext cx="887233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39220" y="3150694"/>
            <a:ext cx="146175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13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-1" y="3146742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880002" y="3146742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Long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Short-Term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Memory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(LSTM)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8000" y="359888"/>
            <a:ext cx="5677395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1">
                <a:solidFill>
                  <a:srgbClr val="003373"/>
                </a:solidFill>
                <a:latin typeface="Josefin Sans"/>
              </a:rPr>
              <a:t>Strengths</a:t>
            </a:r>
            <a:r>
              <a:rPr sz="896" b="1">
                <a:solidFill>
                  <a:srgbClr val="003373"/>
                </a:solidFill>
                <a:latin typeface="Josefin Sans"/>
              </a:rPr>
              <a:t> </a:t>
            </a:r>
            <a:r>
              <a:rPr sz="896" b="1">
                <a:solidFill>
                  <a:srgbClr val="003373"/>
                </a:solidFill>
                <a:latin typeface="Josefin Sans"/>
              </a:rPr>
              <a:t>and</a:t>
            </a:r>
            <a:r>
              <a:rPr sz="896" b="1">
                <a:solidFill>
                  <a:srgbClr val="003373"/>
                </a:solidFill>
                <a:latin typeface="Josefin Sans"/>
              </a:rPr>
              <a:t> </a:t>
            </a:r>
            <a:r>
              <a:rPr sz="896" b="1">
                <a:solidFill>
                  <a:srgbClr val="003373"/>
                </a:solidFill>
                <a:latin typeface="Josefin Sans"/>
              </a:rPr>
              <a:t>Limitations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0056" y="862088"/>
            <a:ext cx="532533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LSTMs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can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remember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information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across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many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time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steps,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which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makes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7094" y="1077917"/>
            <a:ext cx="5148301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more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effective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than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RNNs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learning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long-term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dependencies.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60056" y="1292275"/>
            <a:ext cx="532533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gates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allow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network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explicitly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control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what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remember,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forget,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7094" y="1508105"/>
            <a:ext cx="5148301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output.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60056" y="1722462"/>
            <a:ext cx="532533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Solves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vanishing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gradient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problem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better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than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standard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RNNs.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60056" y="1980563"/>
            <a:ext cx="532533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Effective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for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long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sequences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where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important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information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may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be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distributed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far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7094" y="2196406"/>
            <a:ext cx="5148301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apart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time,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such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speech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recognition,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text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generation,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and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time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series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7094" y="2368478"/>
            <a:ext cx="5148301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prediction.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898159" y="3150918"/>
            <a:ext cx="887236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639217" y="3150694"/>
            <a:ext cx="146178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13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-2" y="3146743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880002" y="3146743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Gaterd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Recurrent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Units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(GRU)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9993" y="1249989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Gated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Recurrent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Units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(GRU)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are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variation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of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LSTMs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that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aim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simplify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9993" y="1422074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model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while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maintaining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similar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performance.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898159" y="3150918"/>
            <a:ext cx="887236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39368" y="3150694"/>
            <a:ext cx="146027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14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-2" y="3146741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880002" y="3146741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Gaterd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Recurrent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Units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(GRU)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9993" y="1249989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Gated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Recurrent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Units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(GRU)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are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variation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of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LSTMs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that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aim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simplify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9993" y="1422074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model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while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maintaining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similar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performance.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9992" y="1680176"/>
            <a:ext cx="5425403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GRUs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combine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forget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and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input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gates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into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single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gate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called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update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gate,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9992" y="1852261"/>
            <a:ext cx="5425403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and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eliminate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output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gate,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simplifying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overall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architecture.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898159" y="3150916"/>
            <a:ext cx="887236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39368" y="3150692"/>
            <a:ext cx="146027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14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0" y="3146742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880003" y="3146742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Gaterd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Recurrent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Units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(GRU)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8000" y="359888"/>
            <a:ext cx="5677395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1">
                <a:solidFill>
                  <a:srgbClr val="003373"/>
                </a:solidFill>
                <a:latin typeface="Josefin Sans"/>
              </a:rPr>
              <a:t>Architecture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9993" y="1079796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GRU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has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two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main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gates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898160" y="3150917"/>
            <a:ext cx="887235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38684" y="3150693"/>
            <a:ext cx="146711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15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0" y="3146742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880003" y="3146742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Gaterd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Recurrent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Units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(GRU)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8000" y="359888"/>
            <a:ext cx="5677395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1">
                <a:solidFill>
                  <a:srgbClr val="003373"/>
                </a:solidFill>
                <a:latin typeface="Josefin Sans"/>
              </a:rPr>
              <a:t>Architecture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9993" y="1079796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GRU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has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two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main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gates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60056" y="1294140"/>
            <a:ext cx="532533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Reset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Gate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r</a:t>
            </a:r>
            <a:r>
              <a:rPr sz="797" b="0">
                <a:solidFill>
                  <a:srgbClr val="000000"/>
                </a:solidFill>
                <a:latin typeface="Cambria Math"/>
              </a:rPr>
              <a:t>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7094" y="1529665"/>
            <a:ext cx="5148301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Josefin Sans"/>
              </a:rPr>
              <a:t>Determines how much of the previous hidden state to forget before combining it with the new input.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898160" y="3150917"/>
            <a:ext cx="887235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38684" y="3150693"/>
            <a:ext cx="146711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15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0" y="3146742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880003" y="3146742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Gaterd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Recurrent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Units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(GRU)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8000" y="359888"/>
            <a:ext cx="5677395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1">
                <a:solidFill>
                  <a:srgbClr val="003373"/>
                </a:solidFill>
                <a:latin typeface="Josefin Sans"/>
              </a:rPr>
              <a:t>Architecture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9993" y="1079796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GRU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has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two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main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gates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60056" y="1294140"/>
            <a:ext cx="532533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Reset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Gate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r</a:t>
            </a:r>
            <a:r>
              <a:rPr sz="797" b="0">
                <a:solidFill>
                  <a:srgbClr val="000000"/>
                </a:solidFill>
                <a:latin typeface="Cambria Math"/>
              </a:rPr>
              <a:t>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7094" y="1529665"/>
            <a:ext cx="5148301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Josefin Sans"/>
              </a:rPr>
              <a:t>Determines how much of the previous hidden state to forget before combining it with the new input.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60056" y="1724327"/>
            <a:ext cx="532533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Update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Gate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z</a:t>
            </a:r>
            <a:r>
              <a:rPr sz="797" b="0">
                <a:solidFill>
                  <a:srgbClr val="000000"/>
                </a:solidFill>
                <a:latin typeface="Cambria Math"/>
              </a:rPr>
              <a:t>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7094" y="1959853"/>
            <a:ext cx="5148301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Josefin Sans"/>
              </a:rPr>
              <a:t>Decides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how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much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of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previous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hidden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state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to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retain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and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how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much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of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new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input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to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7094" y="2131938"/>
            <a:ext cx="5148301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Josefin Sans"/>
              </a:rPr>
              <a:t>incorporate.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898160" y="3150917"/>
            <a:ext cx="887235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638684" y="3150693"/>
            <a:ext cx="146711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15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Freeform 35"/>
          <p:cNvSpPr/>
          <p:nvPr/>
        </p:nvSpPr>
        <p:spPr>
          <a:xfrm>
            <a:off x="635000" y="1016000"/>
            <a:ext cx="2336800" cy="1562100"/>
          </a:xfrm>
          <a:custGeom>
            <a:avLst/>
            <a:gdLst/>
            <a:ahLst/>
            <a:cxnLst/>
            <a:rect l="l" t="t" r="r" b="b"/>
            <a:pathLst>
              <a:path w="184" h="123">
                <a:moveTo>
                  <a:pt x="181" y="0"/>
                </a:moveTo>
                <a:lnTo>
                  <a:pt x="4" y="0"/>
                </a:lnTo>
                <a:lnTo>
                  <a:pt x="3" y="0"/>
                </a:lnTo>
                <a:lnTo>
                  <a:pt x="2" y="1"/>
                </a:lnTo>
                <a:lnTo>
                  <a:pt x="2" y="1"/>
                </a:lnTo>
                <a:lnTo>
                  <a:pt x="1" y="1"/>
                </a:lnTo>
                <a:lnTo>
                  <a:pt x="1" y="2"/>
                </a:lnTo>
                <a:lnTo>
                  <a:pt x="1" y="2"/>
                </a:lnTo>
                <a:lnTo>
                  <a:pt x="0" y="3"/>
                </a:lnTo>
                <a:lnTo>
                  <a:pt x="0" y="4"/>
                </a:lnTo>
                <a:lnTo>
                  <a:pt x="0" y="120"/>
                </a:lnTo>
                <a:lnTo>
                  <a:pt x="0" y="120"/>
                </a:lnTo>
                <a:lnTo>
                  <a:pt x="1" y="121"/>
                </a:lnTo>
                <a:lnTo>
                  <a:pt x="1" y="122"/>
                </a:lnTo>
                <a:lnTo>
                  <a:pt x="1" y="122"/>
                </a:lnTo>
                <a:lnTo>
                  <a:pt x="2" y="122"/>
                </a:lnTo>
                <a:lnTo>
                  <a:pt x="2" y="123"/>
                </a:lnTo>
                <a:lnTo>
                  <a:pt x="3" y="123"/>
                </a:lnTo>
                <a:lnTo>
                  <a:pt x="4" y="123"/>
                </a:lnTo>
                <a:lnTo>
                  <a:pt x="181" y="123"/>
                </a:lnTo>
                <a:lnTo>
                  <a:pt x="182" y="123"/>
                </a:lnTo>
                <a:lnTo>
                  <a:pt x="182" y="123"/>
                </a:lnTo>
                <a:lnTo>
                  <a:pt x="183" y="122"/>
                </a:lnTo>
                <a:lnTo>
                  <a:pt x="183" y="122"/>
                </a:lnTo>
                <a:lnTo>
                  <a:pt x="184" y="122"/>
                </a:lnTo>
                <a:lnTo>
                  <a:pt x="184" y="121"/>
                </a:lnTo>
                <a:lnTo>
                  <a:pt x="184" y="120"/>
                </a:lnTo>
                <a:lnTo>
                  <a:pt x="184" y="120"/>
                </a:lnTo>
                <a:lnTo>
                  <a:pt x="184" y="4"/>
                </a:lnTo>
                <a:lnTo>
                  <a:pt x="184" y="3"/>
                </a:lnTo>
                <a:lnTo>
                  <a:pt x="184" y="2"/>
                </a:lnTo>
                <a:lnTo>
                  <a:pt x="184" y="2"/>
                </a:lnTo>
                <a:lnTo>
                  <a:pt x="183" y="1"/>
                </a:lnTo>
                <a:lnTo>
                  <a:pt x="183" y="1"/>
                </a:lnTo>
                <a:lnTo>
                  <a:pt x="182" y="1"/>
                </a:lnTo>
                <a:lnTo>
                  <a:pt x="182" y="0"/>
                </a:lnTo>
                <a:lnTo>
                  <a:pt x="181" y="0"/>
                </a:lnTo>
                <a:close/>
              </a:path>
            </a:pathLst>
          </a:custGeom>
          <a:solidFill>
            <a:srgbClr val="93D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Freeform 36"/>
          <p:cNvSpPr/>
          <p:nvPr/>
        </p:nvSpPr>
        <p:spPr>
          <a:xfrm>
            <a:off x="1689100" y="1866900"/>
            <a:ext cx="241300" cy="215900"/>
          </a:xfrm>
          <a:custGeom>
            <a:avLst/>
            <a:gdLst/>
            <a:ahLst/>
            <a:cxnLst/>
            <a:rect l="l" t="t" r="r" b="b"/>
            <a:pathLst>
              <a:path w="19" h="17">
                <a:moveTo>
                  <a:pt x="15" y="0"/>
                </a:moveTo>
                <a:lnTo>
                  <a:pt x="3" y="0"/>
                </a:lnTo>
                <a:lnTo>
                  <a:pt x="3" y="0"/>
                </a:lnTo>
                <a:lnTo>
                  <a:pt x="2" y="0"/>
                </a:lnTo>
                <a:lnTo>
                  <a:pt x="1" y="0"/>
                </a:lnTo>
                <a:lnTo>
                  <a:pt x="1" y="1"/>
                </a:lnTo>
                <a:lnTo>
                  <a:pt x="1" y="1"/>
                </a:lnTo>
                <a:lnTo>
                  <a:pt x="0" y="2"/>
                </a:lnTo>
                <a:lnTo>
                  <a:pt x="0" y="2"/>
                </a:lnTo>
                <a:lnTo>
                  <a:pt x="0" y="3"/>
                </a:lnTo>
                <a:lnTo>
                  <a:pt x="0" y="13"/>
                </a:lnTo>
                <a:lnTo>
                  <a:pt x="0" y="14"/>
                </a:lnTo>
                <a:lnTo>
                  <a:pt x="0" y="15"/>
                </a:lnTo>
                <a:lnTo>
                  <a:pt x="1" y="15"/>
                </a:lnTo>
                <a:lnTo>
                  <a:pt x="1" y="16"/>
                </a:lnTo>
                <a:lnTo>
                  <a:pt x="1" y="16"/>
                </a:lnTo>
                <a:lnTo>
                  <a:pt x="2" y="16"/>
                </a:lnTo>
                <a:lnTo>
                  <a:pt x="3" y="17"/>
                </a:lnTo>
                <a:lnTo>
                  <a:pt x="3" y="17"/>
                </a:lnTo>
                <a:lnTo>
                  <a:pt x="15" y="17"/>
                </a:lnTo>
                <a:lnTo>
                  <a:pt x="16" y="17"/>
                </a:lnTo>
                <a:lnTo>
                  <a:pt x="17" y="16"/>
                </a:lnTo>
                <a:lnTo>
                  <a:pt x="17" y="16"/>
                </a:lnTo>
                <a:lnTo>
                  <a:pt x="18" y="16"/>
                </a:lnTo>
                <a:lnTo>
                  <a:pt x="18" y="15"/>
                </a:lnTo>
                <a:lnTo>
                  <a:pt x="18" y="15"/>
                </a:lnTo>
                <a:lnTo>
                  <a:pt x="18" y="14"/>
                </a:lnTo>
                <a:lnTo>
                  <a:pt x="19" y="13"/>
                </a:lnTo>
                <a:lnTo>
                  <a:pt x="19" y="3"/>
                </a:lnTo>
                <a:lnTo>
                  <a:pt x="18" y="2"/>
                </a:lnTo>
                <a:lnTo>
                  <a:pt x="18" y="2"/>
                </a:lnTo>
                <a:lnTo>
                  <a:pt x="18" y="1"/>
                </a:lnTo>
                <a:lnTo>
                  <a:pt x="18" y="1"/>
                </a:lnTo>
                <a:lnTo>
                  <a:pt x="17" y="0"/>
                </a:lnTo>
                <a:lnTo>
                  <a:pt x="17" y="0"/>
                </a:lnTo>
                <a:lnTo>
                  <a:pt x="16" y="0"/>
                </a:lnTo>
                <a:lnTo>
                  <a:pt x="15" y="0"/>
                </a:lnTo>
                <a:close/>
              </a:path>
            </a:pathLst>
          </a:custGeom>
          <a:solidFill>
            <a:srgbClr val="F79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Freeform 37"/>
          <p:cNvSpPr/>
          <p:nvPr/>
        </p:nvSpPr>
        <p:spPr>
          <a:xfrm>
            <a:off x="1295400" y="1866900"/>
            <a:ext cx="228600" cy="215900"/>
          </a:xfrm>
          <a:custGeom>
            <a:avLst/>
            <a:gdLst/>
            <a:ahLst/>
            <a:cxnLst/>
            <a:rect l="l" t="t" r="r" b="b"/>
            <a:pathLst>
              <a:path w="18" h="17">
                <a:moveTo>
                  <a:pt x="15" y="0"/>
                </a:moveTo>
                <a:lnTo>
                  <a:pt x="3" y="0"/>
                </a:lnTo>
                <a:lnTo>
                  <a:pt x="2" y="0"/>
                </a:lnTo>
                <a:lnTo>
                  <a:pt x="1" y="0"/>
                </a:lnTo>
                <a:lnTo>
                  <a:pt x="1" y="0"/>
                </a:lnTo>
                <a:lnTo>
                  <a:pt x="0" y="1"/>
                </a:lnTo>
                <a:lnTo>
                  <a:pt x="0" y="1"/>
                </a:lnTo>
                <a:lnTo>
                  <a:pt x="0" y="2"/>
                </a:lnTo>
                <a:lnTo>
                  <a:pt x="0" y="2"/>
                </a:lnTo>
                <a:lnTo>
                  <a:pt x="0" y="3"/>
                </a:lnTo>
                <a:lnTo>
                  <a:pt x="0" y="13"/>
                </a:lnTo>
                <a:lnTo>
                  <a:pt x="0" y="14"/>
                </a:lnTo>
                <a:lnTo>
                  <a:pt x="0" y="15"/>
                </a:lnTo>
                <a:lnTo>
                  <a:pt x="0" y="15"/>
                </a:lnTo>
                <a:lnTo>
                  <a:pt x="0" y="16"/>
                </a:lnTo>
                <a:lnTo>
                  <a:pt x="1" y="16"/>
                </a:lnTo>
                <a:lnTo>
                  <a:pt x="1" y="16"/>
                </a:lnTo>
                <a:lnTo>
                  <a:pt x="2" y="17"/>
                </a:lnTo>
                <a:lnTo>
                  <a:pt x="3" y="17"/>
                </a:lnTo>
                <a:lnTo>
                  <a:pt x="15" y="17"/>
                </a:lnTo>
                <a:lnTo>
                  <a:pt x="15" y="17"/>
                </a:lnTo>
                <a:lnTo>
                  <a:pt x="16" y="16"/>
                </a:lnTo>
                <a:lnTo>
                  <a:pt x="17" y="16"/>
                </a:lnTo>
                <a:lnTo>
                  <a:pt x="17" y="16"/>
                </a:lnTo>
                <a:lnTo>
                  <a:pt x="17" y="15"/>
                </a:lnTo>
                <a:lnTo>
                  <a:pt x="18" y="15"/>
                </a:lnTo>
                <a:lnTo>
                  <a:pt x="18" y="14"/>
                </a:lnTo>
                <a:lnTo>
                  <a:pt x="18" y="13"/>
                </a:lnTo>
                <a:lnTo>
                  <a:pt x="18" y="3"/>
                </a:lnTo>
                <a:lnTo>
                  <a:pt x="18" y="2"/>
                </a:lnTo>
                <a:lnTo>
                  <a:pt x="18" y="2"/>
                </a:lnTo>
                <a:lnTo>
                  <a:pt x="17" y="1"/>
                </a:lnTo>
                <a:lnTo>
                  <a:pt x="17" y="1"/>
                </a:lnTo>
                <a:lnTo>
                  <a:pt x="17" y="0"/>
                </a:lnTo>
                <a:lnTo>
                  <a:pt x="16" y="0"/>
                </a:lnTo>
                <a:lnTo>
                  <a:pt x="15" y="0"/>
                </a:lnTo>
                <a:lnTo>
                  <a:pt x="15" y="0"/>
                </a:lnTo>
                <a:close/>
              </a:path>
            </a:pathLst>
          </a:custGeom>
          <a:solidFill>
            <a:srgbClr val="F79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Freeform 38"/>
          <p:cNvSpPr/>
          <p:nvPr/>
        </p:nvSpPr>
        <p:spPr>
          <a:xfrm>
            <a:off x="2095500" y="1854200"/>
            <a:ext cx="381000" cy="241300"/>
          </a:xfrm>
          <a:custGeom>
            <a:avLst/>
            <a:gdLst/>
            <a:ahLst/>
            <a:cxnLst/>
            <a:rect l="l" t="t" r="r" b="b"/>
            <a:pathLst>
              <a:path w="30" h="19">
                <a:moveTo>
                  <a:pt x="27" y="0"/>
                </a:moveTo>
                <a:lnTo>
                  <a:pt x="3" y="0"/>
                </a:lnTo>
                <a:lnTo>
                  <a:pt x="2" y="0"/>
                </a:lnTo>
                <a:lnTo>
                  <a:pt x="2" y="0"/>
                </a:lnTo>
                <a:lnTo>
                  <a:pt x="1" y="0"/>
                </a:lnTo>
                <a:lnTo>
                  <a:pt x="1" y="1"/>
                </a:lnTo>
                <a:lnTo>
                  <a:pt x="0" y="1"/>
                </a:lnTo>
                <a:lnTo>
                  <a:pt x="0" y="2"/>
                </a:lnTo>
                <a:lnTo>
                  <a:pt x="0" y="2"/>
                </a:lnTo>
                <a:lnTo>
                  <a:pt x="0" y="3"/>
                </a:lnTo>
                <a:lnTo>
                  <a:pt x="0" y="16"/>
                </a:lnTo>
                <a:lnTo>
                  <a:pt x="0" y="16"/>
                </a:lnTo>
                <a:lnTo>
                  <a:pt x="0" y="17"/>
                </a:lnTo>
                <a:lnTo>
                  <a:pt x="0" y="17"/>
                </a:lnTo>
                <a:lnTo>
                  <a:pt x="1" y="18"/>
                </a:lnTo>
                <a:lnTo>
                  <a:pt x="1" y="18"/>
                </a:lnTo>
                <a:lnTo>
                  <a:pt x="2" y="19"/>
                </a:lnTo>
                <a:lnTo>
                  <a:pt x="2" y="19"/>
                </a:lnTo>
                <a:lnTo>
                  <a:pt x="3" y="19"/>
                </a:lnTo>
                <a:lnTo>
                  <a:pt x="27" y="19"/>
                </a:lnTo>
                <a:lnTo>
                  <a:pt x="28" y="19"/>
                </a:lnTo>
                <a:lnTo>
                  <a:pt x="28" y="19"/>
                </a:lnTo>
                <a:lnTo>
                  <a:pt x="29" y="18"/>
                </a:lnTo>
                <a:lnTo>
                  <a:pt x="29" y="18"/>
                </a:lnTo>
                <a:lnTo>
                  <a:pt x="30" y="17"/>
                </a:lnTo>
                <a:lnTo>
                  <a:pt x="30" y="17"/>
                </a:lnTo>
                <a:lnTo>
                  <a:pt x="30" y="16"/>
                </a:lnTo>
                <a:lnTo>
                  <a:pt x="30" y="16"/>
                </a:lnTo>
                <a:lnTo>
                  <a:pt x="30" y="3"/>
                </a:lnTo>
                <a:lnTo>
                  <a:pt x="30" y="2"/>
                </a:lnTo>
                <a:lnTo>
                  <a:pt x="30" y="2"/>
                </a:lnTo>
                <a:lnTo>
                  <a:pt x="30" y="1"/>
                </a:lnTo>
                <a:lnTo>
                  <a:pt x="29" y="1"/>
                </a:lnTo>
                <a:lnTo>
                  <a:pt x="29" y="0"/>
                </a:lnTo>
                <a:lnTo>
                  <a:pt x="28" y="0"/>
                </a:lnTo>
                <a:lnTo>
                  <a:pt x="28" y="0"/>
                </a:lnTo>
                <a:lnTo>
                  <a:pt x="27" y="0"/>
                </a:lnTo>
                <a:close/>
              </a:path>
            </a:pathLst>
          </a:custGeom>
          <a:solidFill>
            <a:srgbClr val="F79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Freeform 39"/>
          <p:cNvSpPr/>
          <p:nvPr/>
        </p:nvSpPr>
        <p:spPr>
          <a:xfrm>
            <a:off x="762000" y="2082800"/>
            <a:ext cx="215900" cy="215900"/>
          </a:xfrm>
          <a:custGeom>
            <a:avLst/>
            <a:gdLst/>
            <a:ahLst/>
            <a:cxnLst/>
            <a:rect l="l" t="t" r="r" b="b"/>
            <a:pathLst>
              <a:path w="17" h="17">
                <a:moveTo>
                  <a:pt x="17" y="8"/>
                </a:moveTo>
                <a:lnTo>
                  <a:pt x="17" y="7"/>
                </a:lnTo>
                <a:lnTo>
                  <a:pt x="17" y="5"/>
                </a:lnTo>
                <a:lnTo>
                  <a:pt x="16" y="4"/>
                </a:lnTo>
                <a:lnTo>
                  <a:pt x="15" y="2"/>
                </a:lnTo>
                <a:lnTo>
                  <a:pt x="14" y="1"/>
                </a:lnTo>
                <a:lnTo>
                  <a:pt x="12" y="0"/>
                </a:lnTo>
                <a:lnTo>
                  <a:pt x="10" y="0"/>
                </a:lnTo>
                <a:lnTo>
                  <a:pt x="9" y="0"/>
                </a:lnTo>
                <a:lnTo>
                  <a:pt x="7" y="0"/>
                </a:lnTo>
                <a:lnTo>
                  <a:pt x="5" y="0"/>
                </a:lnTo>
                <a:lnTo>
                  <a:pt x="4" y="1"/>
                </a:lnTo>
                <a:lnTo>
                  <a:pt x="2" y="2"/>
                </a:lnTo>
                <a:lnTo>
                  <a:pt x="1" y="4"/>
                </a:lnTo>
                <a:lnTo>
                  <a:pt x="1" y="5"/>
                </a:lnTo>
                <a:lnTo>
                  <a:pt x="0" y="7"/>
                </a:lnTo>
                <a:lnTo>
                  <a:pt x="0" y="8"/>
                </a:lnTo>
                <a:lnTo>
                  <a:pt x="0" y="10"/>
                </a:lnTo>
                <a:lnTo>
                  <a:pt x="1" y="12"/>
                </a:lnTo>
                <a:lnTo>
                  <a:pt x="1" y="13"/>
                </a:lnTo>
                <a:lnTo>
                  <a:pt x="2" y="15"/>
                </a:lnTo>
                <a:lnTo>
                  <a:pt x="4" y="16"/>
                </a:lnTo>
                <a:lnTo>
                  <a:pt x="5" y="16"/>
                </a:lnTo>
                <a:lnTo>
                  <a:pt x="7" y="17"/>
                </a:lnTo>
                <a:lnTo>
                  <a:pt x="9" y="17"/>
                </a:lnTo>
                <a:lnTo>
                  <a:pt x="10" y="17"/>
                </a:lnTo>
                <a:lnTo>
                  <a:pt x="12" y="16"/>
                </a:lnTo>
                <a:lnTo>
                  <a:pt x="14" y="16"/>
                </a:lnTo>
                <a:lnTo>
                  <a:pt x="15" y="15"/>
                </a:lnTo>
                <a:lnTo>
                  <a:pt x="16" y="13"/>
                </a:lnTo>
                <a:lnTo>
                  <a:pt x="17" y="12"/>
                </a:lnTo>
                <a:lnTo>
                  <a:pt x="17" y="10"/>
                </a:lnTo>
                <a:lnTo>
                  <a:pt x="17" y="8"/>
                </a:lnTo>
                <a:close/>
              </a:path>
            </a:pathLst>
          </a:cu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Freeform 40"/>
          <p:cNvSpPr/>
          <p:nvPr/>
        </p:nvSpPr>
        <p:spPr>
          <a:xfrm>
            <a:off x="1028700" y="2311400"/>
            <a:ext cx="215900" cy="228600"/>
          </a:xfrm>
          <a:custGeom>
            <a:avLst/>
            <a:gdLst/>
            <a:ahLst/>
            <a:cxnLst/>
            <a:rect l="l" t="t" r="r" b="b"/>
            <a:pathLst>
              <a:path w="17" h="18">
                <a:moveTo>
                  <a:pt x="17" y="9"/>
                </a:moveTo>
                <a:lnTo>
                  <a:pt x="17" y="7"/>
                </a:lnTo>
                <a:lnTo>
                  <a:pt x="17" y="5"/>
                </a:lnTo>
                <a:lnTo>
                  <a:pt x="16" y="4"/>
                </a:lnTo>
                <a:lnTo>
                  <a:pt x="15" y="3"/>
                </a:lnTo>
                <a:lnTo>
                  <a:pt x="13" y="2"/>
                </a:lnTo>
                <a:lnTo>
                  <a:pt x="12" y="1"/>
                </a:lnTo>
                <a:lnTo>
                  <a:pt x="10" y="0"/>
                </a:lnTo>
                <a:lnTo>
                  <a:pt x="8" y="0"/>
                </a:lnTo>
                <a:lnTo>
                  <a:pt x="7" y="0"/>
                </a:lnTo>
                <a:lnTo>
                  <a:pt x="5" y="1"/>
                </a:lnTo>
                <a:lnTo>
                  <a:pt x="4" y="2"/>
                </a:lnTo>
                <a:lnTo>
                  <a:pt x="2" y="3"/>
                </a:lnTo>
                <a:lnTo>
                  <a:pt x="1" y="4"/>
                </a:lnTo>
                <a:lnTo>
                  <a:pt x="0" y="5"/>
                </a:lnTo>
                <a:lnTo>
                  <a:pt x="0" y="7"/>
                </a:lnTo>
                <a:lnTo>
                  <a:pt x="0" y="9"/>
                </a:lnTo>
                <a:lnTo>
                  <a:pt x="0" y="11"/>
                </a:lnTo>
                <a:lnTo>
                  <a:pt x="0" y="12"/>
                </a:lnTo>
                <a:lnTo>
                  <a:pt x="1" y="14"/>
                </a:lnTo>
                <a:lnTo>
                  <a:pt x="2" y="15"/>
                </a:lnTo>
                <a:lnTo>
                  <a:pt x="4" y="16"/>
                </a:lnTo>
                <a:lnTo>
                  <a:pt x="5" y="17"/>
                </a:lnTo>
                <a:lnTo>
                  <a:pt x="7" y="17"/>
                </a:lnTo>
                <a:lnTo>
                  <a:pt x="8" y="18"/>
                </a:lnTo>
                <a:lnTo>
                  <a:pt x="10" y="17"/>
                </a:lnTo>
                <a:lnTo>
                  <a:pt x="12" y="17"/>
                </a:lnTo>
                <a:lnTo>
                  <a:pt x="13" y="16"/>
                </a:lnTo>
                <a:lnTo>
                  <a:pt x="15" y="15"/>
                </a:lnTo>
                <a:lnTo>
                  <a:pt x="16" y="14"/>
                </a:lnTo>
                <a:lnTo>
                  <a:pt x="17" y="12"/>
                </a:lnTo>
                <a:lnTo>
                  <a:pt x="17" y="11"/>
                </a:lnTo>
                <a:lnTo>
                  <a:pt x="17" y="9"/>
                </a:lnTo>
                <a:close/>
              </a:path>
            </a:pathLst>
          </a:cu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Freeform 41"/>
          <p:cNvSpPr/>
          <p:nvPr/>
        </p:nvSpPr>
        <p:spPr>
          <a:xfrm>
            <a:off x="1028700" y="1549400"/>
            <a:ext cx="215900" cy="215900"/>
          </a:xfrm>
          <a:custGeom>
            <a:avLst/>
            <a:gdLst/>
            <a:ahLst/>
            <a:cxnLst/>
            <a:rect l="l" t="t" r="r" b="b"/>
            <a:pathLst>
              <a:path w="17" h="17">
                <a:moveTo>
                  <a:pt x="17" y="9"/>
                </a:moveTo>
                <a:lnTo>
                  <a:pt x="17" y="7"/>
                </a:lnTo>
                <a:lnTo>
                  <a:pt x="17" y="5"/>
                </a:lnTo>
                <a:lnTo>
                  <a:pt x="16" y="4"/>
                </a:lnTo>
                <a:lnTo>
                  <a:pt x="15" y="2"/>
                </a:lnTo>
                <a:lnTo>
                  <a:pt x="13" y="1"/>
                </a:lnTo>
                <a:lnTo>
                  <a:pt x="12" y="1"/>
                </a:lnTo>
                <a:lnTo>
                  <a:pt x="10" y="0"/>
                </a:lnTo>
                <a:lnTo>
                  <a:pt x="8" y="0"/>
                </a:lnTo>
                <a:lnTo>
                  <a:pt x="7" y="0"/>
                </a:lnTo>
                <a:lnTo>
                  <a:pt x="5" y="1"/>
                </a:lnTo>
                <a:lnTo>
                  <a:pt x="4" y="1"/>
                </a:lnTo>
                <a:lnTo>
                  <a:pt x="2" y="2"/>
                </a:lnTo>
                <a:lnTo>
                  <a:pt x="1" y="4"/>
                </a:lnTo>
                <a:lnTo>
                  <a:pt x="0" y="5"/>
                </a:lnTo>
                <a:lnTo>
                  <a:pt x="0" y="7"/>
                </a:lnTo>
                <a:lnTo>
                  <a:pt x="0" y="9"/>
                </a:lnTo>
                <a:lnTo>
                  <a:pt x="0" y="10"/>
                </a:lnTo>
                <a:lnTo>
                  <a:pt x="0" y="12"/>
                </a:lnTo>
                <a:lnTo>
                  <a:pt x="1" y="14"/>
                </a:lnTo>
                <a:lnTo>
                  <a:pt x="2" y="15"/>
                </a:lnTo>
                <a:lnTo>
                  <a:pt x="4" y="16"/>
                </a:lnTo>
                <a:lnTo>
                  <a:pt x="5" y="17"/>
                </a:lnTo>
                <a:lnTo>
                  <a:pt x="7" y="17"/>
                </a:lnTo>
                <a:lnTo>
                  <a:pt x="8" y="17"/>
                </a:lnTo>
                <a:lnTo>
                  <a:pt x="10" y="17"/>
                </a:lnTo>
                <a:lnTo>
                  <a:pt x="12" y="17"/>
                </a:lnTo>
                <a:lnTo>
                  <a:pt x="13" y="16"/>
                </a:lnTo>
                <a:lnTo>
                  <a:pt x="15" y="15"/>
                </a:lnTo>
                <a:lnTo>
                  <a:pt x="16" y="14"/>
                </a:lnTo>
                <a:lnTo>
                  <a:pt x="17" y="12"/>
                </a:lnTo>
                <a:lnTo>
                  <a:pt x="17" y="10"/>
                </a:lnTo>
                <a:lnTo>
                  <a:pt x="17" y="9"/>
                </a:lnTo>
                <a:close/>
              </a:path>
            </a:pathLst>
          </a:cu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Freeform 42"/>
          <p:cNvSpPr/>
          <p:nvPr/>
        </p:nvSpPr>
        <p:spPr>
          <a:xfrm>
            <a:off x="2171700" y="1549400"/>
            <a:ext cx="228600" cy="215900"/>
          </a:xfrm>
          <a:custGeom>
            <a:avLst/>
            <a:gdLst/>
            <a:ahLst/>
            <a:cxnLst/>
            <a:rect l="l" t="t" r="r" b="b"/>
            <a:pathLst>
              <a:path w="18" h="17">
                <a:moveTo>
                  <a:pt x="18" y="9"/>
                </a:moveTo>
                <a:lnTo>
                  <a:pt x="18" y="7"/>
                </a:lnTo>
                <a:lnTo>
                  <a:pt x="17" y="5"/>
                </a:lnTo>
                <a:lnTo>
                  <a:pt x="16" y="4"/>
                </a:lnTo>
                <a:lnTo>
                  <a:pt x="15" y="2"/>
                </a:lnTo>
                <a:lnTo>
                  <a:pt x="14" y="1"/>
                </a:lnTo>
                <a:lnTo>
                  <a:pt x="12" y="1"/>
                </a:lnTo>
                <a:lnTo>
                  <a:pt x="11" y="0"/>
                </a:lnTo>
                <a:lnTo>
                  <a:pt x="9" y="0"/>
                </a:lnTo>
                <a:lnTo>
                  <a:pt x="7" y="0"/>
                </a:lnTo>
                <a:lnTo>
                  <a:pt x="6" y="1"/>
                </a:lnTo>
                <a:lnTo>
                  <a:pt x="4" y="1"/>
                </a:lnTo>
                <a:lnTo>
                  <a:pt x="3" y="2"/>
                </a:lnTo>
                <a:lnTo>
                  <a:pt x="2" y="4"/>
                </a:lnTo>
                <a:lnTo>
                  <a:pt x="1" y="5"/>
                </a:lnTo>
                <a:lnTo>
                  <a:pt x="0" y="7"/>
                </a:lnTo>
                <a:lnTo>
                  <a:pt x="0" y="9"/>
                </a:lnTo>
                <a:lnTo>
                  <a:pt x="0" y="10"/>
                </a:lnTo>
                <a:lnTo>
                  <a:pt x="1" y="12"/>
                </a:lnTo>
                <a:lnTo>
                  <a:pt x="2" y="14"/>
                </a:lnTo>
                <a:lnTo>
                  <a:pt x="3" y="15"/>
                </a:lnTo>
                <a:lnTo>
                  <a:pt x="4" y="16"/>
                </a:lnTo>
                <a:lnTo>
                  <a:pt x="6" y="17"/>
                </a:lnTo>
                <a:lnTo>
                  <a:pt x="7" y="17"/>
                </a:lnTo>
                <a:lnTo>
                  <a:pt x="9" y="17"/>
                </a:lnTo>
                <a:lnTo>
                  <a:pt x="11" y="17"/>
                </a:lnTo>
                <a:lnTo>
                  <a:pt x="12" y="17"/>
                </a:lnTo>
                <a:lnTo>
                  <a:pt x="14" y="16"/>
                </a:lnTo>
                <a:lnTo>
                  <a:pt x="15" y="15"/>
                </a:lnTo>
                <a:lnTo>
                  <a:pt x="16" y="14"/>
                </a:lnTo>
                <a:lnTo>
                  <a:pt x="17" y="12"/>
                </a:lnTo>
                <a:lnTo>
                  <a:pt x="18" y="10"/>
                </a:lnTo>
                <a:lnTo>
                  <a:pt x="18" y="9"/>
                </a:lnTo>
                <a:close/>
              </a:path>
            </a:pathLst>
          </a:cu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Freeform 43"/>
          <p:cNvSpPr/>
          <p:nvPr/>
        </p:nvSpPr>
        <p:spPr>
          <a:xfrm>
            <a:off x="2171700" y="1054100"/>
            <a:ext cx="228600" cy="215900"/>
          </a:xfrm>
          <a:custGeom>
            <a:avLst/>
            <a:gdLst/>
            <a:ahLst/>
            <a:cxnLst/>
            <a:rect l="l" t="t" r="r" b="b"/>
            <a:pathLst>
              <a:path w="18" h="17">
                <a:moveTo>
                  <a:pt x="18" y="8"/>
                </a:moveTo>
                <a:lnTo>
                  <a:pt x="18" y="7"/>
                </a:lnTo>
                <a:lnTo>
                  <a:pt x="17" y="5"/>
                </a:lnTo>
                <a:lnTo>
                  <a:pt x="16" y="3"/>
                </a:lnTo>
                <a:lnTo>
                  <a:pt x="15" y="2"/>
                </a:lnTo>
                <a:lnTo>
                  <a:pt x="14" y="1"/>
                </a:lnTo>
                <a:lnTo>
                  <a:pt x="12" y="0"/>
                </a:lnTo>
                <a:lnTo>
                  <a:pt x="11" y="0"/>
                </a:lnTo>
                <a:lnTo>
                  <a:pt x="9" y="0"/>
                </a:lnTo>
                <a:lnTo>
                  <a:pt x="7" y="0"/>
                </a:lnTo>
                <a:lnTo>
                  <a:pt x="6" y="0"/>
                </a:lnTo>
                <a:lnTo>
                  <a:pt x="4" y="1"/>
                </a:lnTo>
                <a:lnTo>
                  <a:pt x="3" y="2"/>
                </a:lnTo>
                <a:lnTo>
                  <a:pt x="2" y="3"/>
                </a:lnTo>
                <a:lnTo>
                  <a:pt x="1" y="5"/>
                </a:lnTo>
                <a:lnTo>
                  <a:pt x="0" y="7"/>
                </a:lnTo>
                <a:lnTo>
                  <a:pt x="0" y="8"/>
                </a:lnTo>
                <a:lnTo>
                  <a:pt x="0" y="10"/>
                </a:lnTo>
                <a:lnTo>
                  <a:pt x="1" y="12"/>
                </a:lnTo>
                <a:lnTo>
                  <a:pt x="2" y="13"/>
                </a:lnTo>
                <a:lnTo>
                  <a:pt x="3" y="15"/>
                </a:lnTo>
                <a:lnTo>
                  <a:pt x="4" y="16"/>
                </a:lnTo>
                <a:lnTo>
                  <a:pt x="6" y="16"/>
                </a:lnTo>
                <a:lnTo>
                  <a:pt x="7" y="17"/>
                </a:lnTo>
                <a:lnTo>
                  <a:pt x="9" y="17"/>
                </a:lnTo>
                <a:lnTo>
                  <a:pt x="11" y="17"/>
                </a:lnTo>
                <a:lnTo>
                  <a:pt x="12" y="16"/>
                </a:lnTo>
                <a:lnTo>
                  <a:pt x="14" y="16"/>
                </a:lnTo>
                <a:lnTo>
                  <a:pt x="15" y="15"/>
                </a:lnTo>
                <a:lnTo>
                  <a:pt x="16" y="13"/>
                </a:lnTo>
                <a:lnTo>
                  <a:pt x="17" y="12"/>
                </a:lnTo>
                <a:lnTo>
                  <a:pt x="18" y="10"/>
                </a:lnTo>
                <a:lnTo>
                  <a:pt x="18" y="8"/>
                </a:lnTo>
                <a:close/>
              </a:path>
            </a:pathLst>
          </a:cu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Freeform 44"/>
          <p:cNvSpPr/>
          <p:nvPr/>
        </p:nvSpPr>
        <p:spPr>
          <a:xfrm>
            <a:off x="1701800" y="1054100"/>
            <a:ext cx="215900" cy="215900"/>
          </a:xfrm>
          <a:custGeom>
            <a:avLst/>
            <a:gdLst/>
            <a:ahLst/>
            <a:cxnLst/>
            <a:rect l="l" t="t" r="r" b="b"/>
            <a:pathLst>
              <a:path w="17" h="17">
                <a:moveTo>
                  <a:pt x="17" y="8"/>
                </a:moveTo>
                <a:lnTo>
                  <a:pt x="17" y="7"/>
                </a:lnTo>
                <a:lnTo>
                  <a:pt x="16" y="5"/>
                </a:lnTo>
                <a:lnTo>
                  <a:pt x="16" y="3"/>
                </a:lnTo>
                <a:lnTo>
                  <a:pt x="14" y="2"/>
                </a:lnTo>
                <a:lnTo>
                  <a:pt x="13" y="1"/>
                </a:lnTo>
                <a:lnTo>
                  <a:pt x="12" y="0"/>
                </a:lnTo>
                <a:lnTo>
                  <a:pt x="10" y="0"/>
                </a:lnTo>
                <a:lnTo>
                  <a:pt x="8" y="0"/>
                </a:lnTo>
                <a:lnTo>
                  <a:pt x="7" y="0"/>
                </a:lnTo>
                <a:lnTo>
                  <a:pt x="5" y="0"/>
                </a:lnTo>
                <a:lnTo>
                  <a:pt x="3" y="1"/>
                </a:lnTo>
                <a:lnTo>
                  <a:pt x="2" y="2"/>
                </a:lnTo>
                <a:lnTo>
                  <a:pt x="1" y="3"/>
                </a:lnTo>
                <a:lnTo>
                  <a:pt x="0" y="5"/>
                </a:lnTo>
                <a:lnTo>
                  <a:pt x="0" y="7"/>
                </a:lnTo>
                <a:lnTo>
                  <a:pt x="0" y="8"/>
                </a:lnTo>
                <a:lnTo>
                  <a:pt x="0" y="10"/>
                </a:lnTo>
                <a:lnTo>
                  <a:pt x="0" y="12"/>
                </a:lnTo>
                <a:lnTo>
                  <a:pt x="1" y="13"/>
                </a:lnTo>
                <a:lnTo>
                  <a:pt x="2" y="15"/>
                </a:lnTo>
                <a:lnTo>
                  <a:pt x="3" y="16"/>
                </a:lnTo>
                <a:lnTo>
                  <a:pt x="5" y="16"/>
                </a:lnTo>
                <a:lnTo>
                  <a:pt x="7" y="17"/>
                </a:lnTo>
                <a:lnTo>
                  <a:pt x="8" y="17"/>
                </a:lnTo>
                <a:lnTo>
                  <a:pt x="10" y="17"/>
                </a:lnTo>
                <a:lnTo>
                  <a:pt x="12" y="16"/>
                </a:lnTo>
                <a:lnTo>
                  <a:pt x="13" y="16"/>
                </a:lnTo>
                <a:lnTo>
                  <a:pt x="14" y="15"/>
                </a:lnTo>
                <a:lnTo>
                  <a:pt x="16" y="13"/>
                </a:lnTo>
                <a:lnTo>
                  <a:pt x="16" y="12"/>
                </a:lnTo>
                <a:lnTo>
                  <a:pt x="17" y="10"/>
                </a:lnTo>
                <a:lnTo>
                  <a:pt x="17" y="8"/>
                </a:lnTo>
                <a:close/>
              </a:path>
            </a:pathLst>
          </a:cu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Freeform 45"/>
          <p:cNvSpPr/>
          <p:nvPr/>
        </p:nvSpPr>
        <p:spPr>
          <a:xfrm>
            <a:off x="1651000" y="1358900"/>
            <a:ext cx="304800" cy="215900"/>
          </a:xfrm>
          <a:custGeom>
            <a:avLst/>
            <a:gdLst/>
            <a:ahLst/>
            <a:cxnLst/>
            <a:rect l="l" t="t" r="r" b="b"/>
            <a:pathLst>
              <a:path w="24" h="17">
                <a:moveTo>
                  <a:pt x="24" y="9"/>
                </a:moveTo>
                <a:lnTo>
                  <a:pt x="24" y="7"/>
                </a:lnTo>
                <a:lnTo>
                  <a:pt x="23" y="5"/>
                </a:lnTo>
                <a:lnTo>
                  <a:pt x="22" y="4"/>
                </a:lnTo>
                <a:lnTo>
                  <a:pt x="21" y="2"/>
                </a:lnTo>
                <a:lnTo>
                  <a:pt x="19" y="1"/>
                </a:lnTo>
                <a:lnTo>
                  <a:pt x="17" y="1"/>
                </a:lnTo>
                <a:lnTo>
                  <a:pt x="15" y="0"/>
                </a:lnTo>
                <a:lnTo>
                  <a:pt x="12" y="0"/>
                </a:lnTo>
                <a:lnTo>
                  <a:pt x="10" y="0"/>
                </a:lnTo>
                <a:lnTo>
                  <a:pt x="8" y="1"/>
                </a:lnTo>
                <a:lnTo>
                  <a:pt x="6" y="1"/>
                </a:lnTo>
                <a:lnTo>
                  <a:pt x="4" y="2"/>
                </a:lnTo>
                <a:lnTo>
                  <a:pt x="2" y="4"/>
                </a:lnTo>
                <a:lnTo>
                  <a:pt x="1" y="5"/>
                </a:lnTo>
                <a:lnTo>
                  <a:pt x="1" y="7"/>
                </a:lnTo>
                <a:lnTo>
                  <a:pt x="0" y="9"/>
                </a:lnTo>
                <a:lnTo>
                  <a:pt x="1" y="10"/>
                </a:lnTo>
                <a:lnTo>
                  <a:pt x="1" y="12"/>
                </a:lnTo>
                <a:lnTo>
                  <a:pt x="2" y="13"/>
                </a:lnTo>
                <a:lnTo>
                  <a:pt x="4" y="15"/>
                </a:lnTo>
                <a:lnTo>
                  <a:pt x="6" y="16"/>
                </a:lnTo>
                <a:lnTo>
                  <a:pt x="8" y="17"/>
                </a:lnTo>
                <a:lnTo>
                  <a:pt x="10" y="17"/>
                </a:lnTo>
                <a:lnTo>
                  <a:pt x="12" y="17"/>
                </a:lnTo>
                <a:lnTo>
                  <a:pt x="15" y="17"/>
                </a:lnTo>
                <a:lnTo>
                  <a:pt x="17" y="17"/>
                </a:lnTo>
                <a:lnTo>
                  <a:pt x="19" y="16"/>
                </a:lnTo>
                <a:lnTo>
                  <a:pt x="21" y="15"/>
                </a:lnTo>
                <a:lnTo>
                  <a:pt x="22" y="13"/>
                </a:lnTo>
                <a:lnTo>
                  <a:pt x="23" y="12"/>
                </a:lnTo>
                <a:lnTo>
                  <a:pt x="24" y="10"/>
                </a:lnTo>
                <a:lnTo>
                  <a:pt x="24" y="9"/>
                </a:lnTo>
                <a:close/>
              </a:path>
            </a:pathLst>
          </a:cu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7" name="Connector 46"/>
          <p:cNvCxnSpPr/>
          <p:nvPr/>
        </p:nvCxnSpPr>
        <p:spPr>
          <a:xfrm flipV="1">
            <a:off x="2859547" y="934572"/>
            <a:ext cx="0" cy="225209"/>
          </a:xfrm>
          <a:prstGeom prst="line">
            <a:avLst/>
          </a:prstGeom>
          <a:ln w="812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Freeform 47"/>
          <p:cNvSpPr/>
          <p:nvPr/>
        </p:nvSpPr>
        <p:spPr>
          <a:xfrm>
            <a:off x="2832100" y="9144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2" y="0"/>
                </a:moveTo>
                <a:lnTo>
                  <a:pt x="0" y="3"/>
                </a:lnTo>
                <a:lnTo>
                  <a:pt x="2" y="2"/>
                </a:lnTo>
                <a:lnTo>
                  <a:pt x="4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9" name="Connector 48"/>
          <p:cNvCxnSpPr/>
          <p:nvPr/>
        </p:nvCxnSpPr>
        <p:spPr>
          <a:xfrm>
            <a:off x="526679" y="1159781"/>
            <a:ext cx="345048" cy="0"/>
          </a:xfrm>
          <a:prstGeom prst="line">
            <a:avLst/>
          </a:prstGeom>
          <a:ln w="812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871727" y="1159781"/>
            <a:ext cx="264270" cy="0"/>
          </a:xfrm>
          <a:prstGeom prst="line">
            <a:avLst/>
          </a:prstGeom>
          <a:ln w="812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871727" y="2423737"/>
            <a:ext cx="0" cy="267224"/>
          </a:xfrm>
          <a:prstGeom prst="line">
            <a:avLst/>
          </a:prstGeom>
          <a:ln w="812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871727" y="1159781"/>
            <a:ext cx="0" cy="881215"/>
          </a:xfrm>
          <a:prstGeom prst="line">
            <a:avLst/>
          </a:prstGeom>
          <a:ln w="812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Freeform 52"/>
          <p:cNvSpPr/>
          <p:nvPr/>
        </p:nvSpPr>
        <p:spPr>
          <a:xfrm>
            <a:off x="850900" y="20193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2" y="4"/>
                </a:moveTo>
                <a:lnTo>
                  <a:pt x="3" y="0"/>
                </a:lnTo>
                <a:lnTo>
                  <a:pt x="2" y="2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4" name="Connector 53"/>
          <p:cNvCxnSpPr/>
          <p:nvPr/>
        </p:nvCxnSpPr>
        <p:spPr>
          <a:xfrm flipV="1">
            <a:off x="871727" y="2338364"/>
            <a:ext cx="0" cy="85373"/>
          </a:xfrm>
          <a:prstGeom prst="line">
            <a:avLst/>
          </a:prstGeom>
          <a:ln w="812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Freeform 54"/>
          <p:cNvSpPr/>
          <p:nvPr/>
        </p:nvSpPr>
        <p:spPr>
          <a:xfrm>
            <a:off x="850900" y="23114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2" y="0"/>
                </a:moveTo>
                <a:lnTo>
                  <a:pt x="0" y="3"/>
                </a:lnTo>
                <a:lnTo>
                  <a:pt x="2" y="2"/>
                </a:lnTo>
                <a:lnTo>
                  <a:pt x="3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" name="Connector 55"/>
          <p:cNvCxnSpPr/>
          <p:nvPr/>
        </p:nvCxnSpPr>
        <p:spPr>
          <a:xfrm>
            <a:off x="1135997" y="1159781"/>
            <a:ext cx="0" cy="350670"/>
          </a:xfrm>
          <a:prstGeom prst="line">
            <a:avLst/>
          </a:prstGeom>
          <a:ln w="812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Freeform 56"/>
          <p:cNvSpPr/>
          <p:nvPr/>
        </p:nvSpPr>
        <p:spPr>
          <a:xfrm>
            <a:off x="1117600" y="14986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3"/>
                </a:moveTo>
                <a:lnTo>
                  <a:pt x="3" y="0"/>
                </a:lnTo>
                <a:lnTo>
                  <a:pt x="1" y="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" name="Connector 57"/>
          <p:cNvCxnSpPr/>
          <p:nvPr/>
        </p:nvCxnSpPr>
        <p:spPr>
          <a:xfrm>
            <a:off x="1135997" y="1781423"/>
            <a:ext cx="0" cy="493630"/>
          </a:xfrm>
          <a:prstGeom prst="line">
            <a:avLst/>
          </a:prstGeom>
          <a:ln w="812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Freeform 58"/>
          <p:cNvSpPr/>
          <p:nvPr/>
        </p:nvSpPr>
        <p:spPr>
          <a:xfrm>
            <a:off x="1117600" y="22606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3"/>
                </a:moveTo>
                <a:lnTo>
                  <a:pt x="3" y="0"/>
                </a:lnTo>
                <a:lnTo>
                  <a:pt x="1" y="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0" name="Connector 59"/>
          <p:cNvCxnSpPr/>
          <p:nvPr/>
        </p:nvCxnSpPr>
        <p:spPr>
          <a:xfrm>
            <a:off x="871727" y="2423737"/>
            <a:ext cx="115586" cy="0"/>
          </a:xfrm>
          <a:prstGeom prst="line">
            <a:avLst/>
          </a:prstGeom>
          <a:ln w="812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Freeform 60"/>
          <p:cNvSpPr/>
          <p:nvPr/>
        </p:nvSpPr>
        <p:spPr>
          <a:xfrm>
            <a:off x="965200" y="24003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4" y="2"/>
                </a:moveTo>
                <a:lnTo>
                  <a:pt x="0" y="0"/>
                </a:lnTo>
                <a:lnTo>
                  <a:pt x="2" y="2"/>
                </a:lnTo>
                <a:lnTo>
                  <a:pt x="0" y="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2" name="Connector 61"/>
          <p:cNvCxnSpPr/>
          <p:nvPr/>
        </p:nvCxnSpPr>
        <p:spPr>
          <a:xfrm>
            <a:off x="1258285" y="2423737"/>
            <a:ext cx="1027234" cy="0"/>
          </a:xfrm>
          <a:prstGeom prst="line">
            <a:avLst/>
          </a:prstGeom>
          <a:ln w="812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2285519" y="2130711"/>
            <a:ext cx="0" cy="293026"/>
          </a:xfrm>
          <a:prstGeom prst="line">
            <a:avLst/>
          </a:prstGeom>
          <a:ln w="812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Freeform 63"/>
          <p:cNvSpPr/>
          <p:nvPr/>
        </p:nvSpPr>
        <p:spPr>
          <a:xfrm>
            <a:off x="2260600" y="21082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2" y="0"/>
                </a:moveTo>
                <a:lnTo>
                  <a:pt x="0" y="3"/>
                </a:lnTo>
                <a:lnTo>
                  <a:pt x="2" y="2"/>
                </a:lnTo>
                <a:lnTo>
                  <a:pt x="4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" name="Connector 64"/>
          <p:cNvCxnSpPr/>
          <p:nvPr/>
        </p:nvCxnSpPr>
        <p:spPr>
          <a:xfrm flipV="1">
            <a:off x="2285519" y="1807818"/>
            <a:ext cx="0" cy="30305"/>
          </a:xfrm>
          <a:prstGeom prst="line">
            <a:avLst/>
          </a:prstGeom>
          <a:ln w="812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Freeform 65"/>
          <p:cNvSpPr/>
          <p:nvPr/>
        </p:nvSpPr>
        <p:spPr>
          <a:xfrm>
            <a:off x="2260600" y="17780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2" y="0"/>
                </a:moveTo>
                <a:lnTo>
                  <a:pt x="0" y="4"/>
                </a:lnTo>
                <a:lnTo>
                  <a:pt x="2" y="2"/>
                </a:lnTo>
                <a:lnTo>
                  <a:pt x="4" y="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7" name="Connector 66"/>
          <p:cNvCxnSpPr/>
          <p:nvPr/>
        </p:nvCxnSpPr>
        <p:spPr>
          <a:xfrm>
            <a:off x="1807167" y="1659135"/>
            <a:ext cx="329668" cy="0"/>
          </a:xfrm>
          <a:prstGeom prst="line">
            <a:avLst/>
          </a:prstGeom>
          <a:ln w="812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Freeform 67"/>
          <p:cNvSpPr/>
          <p:nvPr/>
        </p:nvSpPr>
        <p:spPr>
          <a:xfrm>
            <a:off x="2120900" y="16383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2"/>
                </a:moveTo>
                <a:lnTo>
                  <a:pt x="0" y="0"/>
                </a:lnTo>
                <a:lnTo>
                  <a:pt x="1" y="2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9" name="Connector 68"/>
          <p:cNvCxnSpPr/>
          <p:nvPr/>
        </p:nvCxnSpPr>
        <p:spPr>
          <a:xfrm flipV="1">
            <a:off x="2285519" y="1308465"/>
            <a:ext cx="0" cy="228382"/>
          </a:xfrm>
          <a:prstGeom prst="line">
            <a:avLst/>
          </a:prstGeom>
          <a:ln w="812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Freeform 69"/>
          <p:cNvSpPr/>
          <p:nvPr/>
        </p:nvSpPr>
        <p:spPr>
          <a:xfrm>
            <a:off x="2260600" y="12827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2" y="0"/>
                </a:moveTo>
                <a:lnTo>
                  <a:pt x="0" y="3"/>
                </a:lnTo>
                <a:lnTo>
                  <a:pt x="2" y="2"/>
                </a:lnTo>
                <a:lnTo>
                  <a:pt x="4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1" name="Connector 70"/>
          <p:cNvCxnSpPr/>
          <p:nvPr/>
        </p:nvCxnSpPr>
        <p:spPr>
          <a:xfrm>
            <a:off x="994015" y="2189680"/>
            <a:ext cx="412215" cy="0"/>
          </a:xfrm>
          <a:prstGeom prst="line">
            <a:avLst/>
          </a:prstGeom>
          <a:ln w="30457">
            <a:solidFill>
              <a:srgbClr val="93D4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994015" y="2189680"/>
            <a:ext cx="412215" cy="0"/>
          </a:xfrm>
          <a:prstGeom prst="line">
            <a:avLst/>
          </a:prstGeom>
          <a:ln w="812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1406230" y="2189680"/>
            <a:ext cx="400937" cy="0"/>
          </a:xfrm>
          <a:prstGeom prst="line">
            <a:avLst/>
          </a:prstGeom>
          <a:ln w="812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1406230" y="2116043"/>
            <a:ext cx="0" cy="73637"/>
          </a:xfrm>
          <a:prstGeom prst="line">
            <a:avLst/>
          </a:prstGeom>
          <a:ln w="812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Freeform 74"/>
          <p:cNvSpPr/>
          <p:nvPr/>
        </p:nvSpPr>
        <p:spPr>
          <a:xfrm>
            <a:off x="1384300" y="20955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2" y="0"/>
                </a:moveTo>
                <a:lnTo>
                  <a:pt x="0" y="3"/>
                </a:lnTo>
                <a:lnTo>
                  <a:pt x="2" y="2"/>
                </a:lnTo>
                <a:lnTo>
                  <a:pt x="3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6" name="Connector 75"/>
          <p:cNvCxnSpPr/>
          <p:nvPr/>
        </p:nvCxnSpPr>
        <p:spPr>
          <a:xfrm flipV="1">
            <a:off x="1807167" y="2116043"/>
            <a:ext cx="0" cy="73637"/>
          </a:xfrm>
          <a:prstGeom prst="line">
            <a:avLst/>
          </a:prstGeom>
          <a:ln w="812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Freeform 76"/>
          <p:cNvSpPr/>
          <p:nvPr/>
        </p:nvSpPr>
        <p:spPr>
          <a:xfrm>
            <a:off x="1790700" y="20955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0"/>
                </a:moveTo>
                <a:lnTo>
                  <a:pt x="0" y="3"/>
                </a:lnTo>
                <a:lnTo>
                  <a:pt x="1" y="2"/>
                </a:lnTo>
                <a:lnTo>
                  <a:pt x="3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8" name="Connector 77"/>
          <p:cNvCxnSpPr/>
          <p:nvPr/>
        </p:nvCxnSpPr>
        <p:spPr>
          <a:xfrm flipV="1">
            <a:off x="1406230" y="1659135"/>
            <a:ext cx="0" cy="193656"/>
          </a:xfrm>
          <a:prstGeom prst="line">
            <a:avLst/>
          </a:prstGeom>
          <a:ln w="812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H="1">
            <a:off x="1284681" y="1659135"/>
            <a:ext cx="121549" cy="0"/>
          </a:xfrm>
          <a:prstGeom prst="line">
            <a:avLst/>
          </a:prstGeom>
          <a:ln w="812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Freeform 79"/>
          <p:cNvSpPr/>
          <p:nvPr/>
        </p:nvSpPr>
        <p:spPr>
          <a:xfrm>
            <a:off x="1257300" y="16383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0" y="2"/>
                </a:moveTo>
                <a:lnTo>
                  <a:pt x="3" y="3"/>
                </a:lnTo>
                <a:lnTo>
                  <a:pt x="2" y="2"/>
                </a:lnTo>
                <a:lnTo>
                  <a:pt x="3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1" name="Connector 80"/>
          <p:cNvCxnSpPr/>
          <p:nvPr/>
        </p:nvCxnSpPr>
        <p:spPr>
          <a:xfrm flipV="1">
            <a:off x="1807167" y="1616815"/>
            <a:ext cx="0" cy="235976"/>
          </a:xfrm>
          <a:prstGeom prst="line">
            <a:avLst/>
          </a:prstGeom>
          <a:ln w="812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Freeform 81"/>
          <p:cNvSpPr/>
          <p:nvPr/>
        </p:nvSpPr>
        <p:spPr>
          <a:xfrm>
            <a:off x="1790700" y="15875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1" y="0"/>
                </a:moveTo>
                <a:lnTo>
                  <a:pt x="0" y="4"/>
                </a:lnTo>
                <a:lnTo>
                  <a:pt x="1" y="2"/>
                </a:lnTo>
                <a:lnTo>
                  <a:pt x="3" y="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3" name="Connector 82"/>
          <p:cNvCxnSpPr/>
          <p:nvPr/>
        </p:nvCxnSpPr>
        <p:spPr>
          <a:xfrm flipV="1">
            <a:off x="1807167" y="1308465"/>
            <a:ext cx="0" cy="37379"/>
          </a:xfrm>
          <a:prstGeom prst="line">
            <a:avLst/>
          </a:prstGeom>
          <a:ln w="812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Freeform 83"/>
          <p:cNvSpPr/>
          <p:nvPr/>
        </p:nvSpPr>
        <p:spPr>
          <a:xfrm>
            <a:off x="1790700" y="12827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0"/>
                </a:moveTo>
                <a:lnTo>
                  <a:pt x="0" y="3"/>
                </a:lnTo>
                <a:lnTo>
                  <a:pt x="1" y="2"/>
                </a:lnTo>
                <a:lnTo>
                  <a:pt x="3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5" name="Connector 84"/>
          <p:cNvCxnSpPr/>
          <p:nvPr/>
        </p:nvCxnSpPr>
        <p:spPr>
          <a:xfrm>
            <a:off x="1135997" y="1159781"/>
            <a:ext cx="522487" cy="0"/>
          </a:xfrm>
          <a:prstGeom prst="line">
            <a:avLst/>
          </a:prstGeom>
          <a:ln w="812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Freeform 85"/>
          <p:cNvSpPr/>
          <p:nvPr/>
        </p:nvSpPr>
        <p:spPr>
          <a:xfrm>
            <a:off x="1638300" y="11430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4" y="1"/>
                </a:moveTo>
                <a:lnTo>
                  <a:pt x="0" y="0"/>
                </a:lnTo>
                <a:lnTo>
                  <a:pt x="2" y="1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7" name="Connector 86"/>
          <p:cNvCxnSpPr/>
          <p:nvPr/>
        </p:nvCxnSpPr>
        <p:spPr>
          <a:xfrm>
            <a:off x="1929455" y="1159781"/>
            <a:ext cx="207380" cy="0"/>
          </a:xfrm>
          <a:prstGeom prst="line">
            <a:avLst/>
          </a:prstGeom>
          <a:ln w="812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Freeform 87"/>
          <p:cNvSpPr/>
          <p:nvPr/>
        </p:nvSpPr>
        <p:spPr>
          <a:xfrm>
            <a:off x="2120900" y="11430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1"/>
                </a:moveTo>
                <a:lnTo>
                  <a:pt x="0" y="0"/>
                </a:lnTo>
                <a:lnTo>
                  <a:pt x="1" y="1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9" name="Connector 88"/>
          <p:cNvCxnSpPr/>
          <p:nvPr/>
        </p:nvCxnSpPr>
        <p:spPr>
          <a:xfrm>
            <a:off x="2407807" y="1159781"/>
            <a:ext cx="653453" cy="0"/>
          </a:xfrm>
          <a:prstGeom prst="line">
            <a:avLst/>
          </a:prstGeom>
          <a:ln w="812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Freeform 89"/>
          <p:cNvSpPr/>
          <p:nvPr/>
        </p:nvSpPr>
        <p:spPr>
          <a:xfrm>
            <a:off x="3048000" y="11430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1"/>
                </a:moveTo>
                <a:lnTo>
                  <a:pt x="0" y="0"/>
                </a:lnTo>
                <a:lnTo>
                  <a:pt x="1" y="1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-2" y="3146742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2880001" y="3146742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3" name="Picture 9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94" name="Picture 9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95" name="TextBox 94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Gaterd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Recurrent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Units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(GRU)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8000" y="359888"/>
            <a:ext cx="5677395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1">
                <a:solidFill>
                  <a:srgbClr val="003373"/>
                </a:solidFill>
                <a:latin typeface="Josefin Sans"/>
              </a:rPr>
              <a:t>Architecture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277057" y="1098945"/>
            <a:ext cx="5508338" cy="17231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75" b="0">
                <a:solidFill>
                  <a:srgbClr val="000000"/>
                </a:solidFill>
                <a:latin typeface="Cambria Math"/>
              </a:rPr>
              <a:t>h</a:t>
            </a:r>
            <a:r>
              <a:rPr sz="639" b="0">
                <a:solidFill>
                  <a:srgbClr val="000000"/>
                </a:solidFill>
                <a:latin typeface="Cambria Math"/>
              </a:rPr>
              <a:t>t</a:t>
            </a:r>
            <a:r>
              <a:rPr sz="639" b="0">
                <a:solidFill>
                  <a:srgbClr val="000000"/>
                </a:solidFill>
                <a:latin typeface="Cambria Math"/>
              </a:rPr>
              <a:t>−</a:t>
            </a:r>
            <a:r>
              <a:rPr sz="639" b="0">
                <a:solidFill>
                  <a:srgbClr val="000000"/>
                </a:solidFill>
                <a:latin typeface="Cambria Math"/>
              </a:rPr>
              <a:t>1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21850" y="2691014"/>
            <a:ext cx="4963545" cy="17231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75" b="0">
                <a:solidFill>
                  <a:srgbClr val="000000"/>
                </a:solidFill>
                <a:latin typeface="Cambria Math"/>
              </a:rPr>
              <a:t>x</a:t>
            </a:r>
            <a:r>
              <a:rPr sz="639" b="0">
                <a:solidFill>
                  <a:srgbClr val="000000"/>
                </a:solidFill>
                <a:latin typeface="Cambria Math"/>
              </a:rPr>
              <a:t>t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2809391" y="765553"/>
            <a:ext cx="2976004" cy="17231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75" b="0">
                <a:solidFill>
                  <a:srgbClr val="000000"/>
                </a:solidFill>
                <a:latin typeface="Cambria Math"/>
              </a:rPr>
              <a:t>h</a:t>
            </a:r>
            <a:r>
              <a:rPr sz="639" b="0">
                <a:solidFill>
                  <a:srgbClr val="000000"/>
                </a:solidFill>
                <a:latin typeface="Cambria Math"/>
              </a:rPr>
              <a:t>t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3126723" y="1103174"/>
            <a:ext cx="2658672" cy="17231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75" b="0">
                <a:solidFill>
                  <a:srgbClr val="000000"/>
                </a:solidFill>
                <a:latin typeface="Cambria Math"/>
              </a:rPr>
              <a:t>h</a:t>
            </a:r>
            <a:r>
              <a:rPr sz="639" b="0">
                <a:solidFill>
                  <a:srgbClr val="000000"/>
                </a:solidFill>
                <a:latin typeface="Cambria Math"/>
              </a:rPr>
              <a:t>t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773406" y="1908273"/>
            <a:ext cx="4011989" cy="17231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75" b="0">
                <a:solidFill>
                  <a:srgbClr val="000000"/>
                </a:solidFill>
                <a:latin typeface="Cambria Math"/>
              </a:rPr>
              <a:t>σ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372482" y="1908273"/>
            <a:ext cx="4412913" cy="17231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75" b="0">
                <a:solidFill>
                  <a:srgbClr val="000000"/>
                </a:solidFill>
                <a:latin typeface="Cambria Math"/>
              </a:rPr>
              <a:t>σ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2174341" y="1922937"/>
            <a:ext cx="3611054" cy="17231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75" b="0">
                <a:solidFill>
                  <a:srgbClr val="000000"/>
                </a:solidFill>
                <a:latin typeface="Cambria Math"/>
              </a:rPr>
              <a:t>tanh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828504" y="2116033"/>
            <a:ext cx="4956891" cy="17231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75" b="0">
                <a:solidFill>
                  <a:srgbClr val="FFFFFF"/>
                </a:solidFill>
                <a:latin typeface="MSAM10"/>
              </a:rPr>
              <a:t>⊞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092774" y="2350088"/>
            <a:ext cx="4692621" cy="17231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75" b="0">
                <a:solidFill>
                  <a:srgbClr val="FFFFFF"/>
                </a:solidFill>
                <a:latin typeface="MSAM10"/>
              </a:rPr>
              <a:t>⊞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092774" y="1598611"/>
            <a:ext cx="4692621" cy="17231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75" b="0">
                <a:solidFill>
                  <a:srgbClr val="FFFFFF"/>
                </a:solidFill>
                <a:latin typeface="Cambria Math"/>
              </a:rPr>
              <a:t>×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2242281" y="1598611"/>
            <a:ext cx="3543114" cy="17231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75" b="0">
                <a:solidFill>
                  <a:srgbClr val="FFFFFF"/>
                </a:solidFill>
                <a:latin typeface="Cambria Math"/>
              </a:rPr>
              <a:t>×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2242281" y="1100708"/>
            <a:ext cx="3543114" cy="17231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75" b="0">
                <a:solidFill>
                  <a:srgbClr val="FFFFFF"/>
                </a:solidFill>
                <a:latin typeface="Cambria Math"/>
              </a:rPr>
              <a:t>+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763929" y="1099267"/>
            <a:ext cx="4021466" cy="17231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75" b="0">
                <a:solidFill>
                  <a:srgbClr val="FFFFFF"/>
                </a:solidFill>
                <a:latin typeface="Cambria Math"/>
              </a:rPr>
              <a:t>×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736140" y="1411004"/>
            <a:ext cx="4049255" cy="17231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75" b="0">
                <a:solidFill>
                  <a:srgbClr val="FFFFFF"/>
                </a:solidFill>
                <a:latin typeface="Cambria Math"/>
              </a:rPr>
              <a:t>1</a:t>
            </a:r>
            <a:r>
              <a:rPr sz="875" b="0">
                <a:solidFill>
                  <a:srgbClr val="FFFFFF"/>
                </a:solidFill>
                <a:latin typeface="Cambria Math"/>
              </a:rPr>
              <a:t>−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3604093" y="1184667"/>
            <a:ext cx="21813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Reset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Gate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3604093" y="1356740"/>
            <a:ext cx="21813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Update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Gate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898159" y="3150918"/>
            <a:ext cx="887236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5638531" y="3150694"/>
            <a:ext cx="146865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16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Freeform 35"/>
          <p:cNvSpPr/>
          <p:nvPr/>
        </p:nvSpPr>
        <p:spPr>
          <a:xfrm>
            <a:off x="635000" y="1016000"/>
            <a:ext cx="2336800" cy="1562100"/>
          </a:xfrm>
          <a:custGeom>
            <a:avLst/>
            <a:gdLst/>
            <a:ahLst/>
            <a:cxnLst/>
            <a:rect l="l" t="t" r="r" b="b"/>
            <a:pathLst>
              <a:path w="184" h="123">
                <a:moveTo>
                  <a:pt x="181" y="0"/>
                </a:moveTo>
                <a:lnTo>
                  <a:pt x="4" y="0"/>
                </a:lnTo>
                <a:lnTo>
                  <a:pt x="3" y="0"/>
                </a:lnTo>
                <a:lnTo>
                  <a:pt x="2" y="1"/>
                </a:lnTo>
                <a:lnTo>
                  <a:pt x="2" y="1"/>
                </a:lnTo>
                <a:lnTo>
                  <a:pt x="1" y="1"/>
                </a:lnTo>
                <a:lnTo>
                  <a:pt x="1" y="2"/>
                </a:lnTo>
                <a:lnTo>
                  <a:pt x="1" y="2"/>
                </a:lnTo>
                <a:lnTo>
                  <a:pt x="0" y="3"/>
                </a:lnTo>
                <a:lnTo>
                  <a:pt x="0" y="4"/>
                </a:lnTo>
                <a:lnTo>
                  <a:pt x="0" y="120"/>
                </a:lnTo>
                <a:lnTo>
                  <a:pt x="0" y="120"/>
                </a:lnTo>
                <a:lnTo>
                  <a:pt x="1" y="121"/>
                </a:lnTo>
                <a:lnTo>
                  <a:pt x="1" y="122"/>
                </a:lnTo>
                <a:lnTo>
                  <a:pt x="1" y="122"/>
                </a:lnTo>
                <a:lnTo>
                  <a:pt x="2" y="122"/>
                </a:lnTo>
                <a:lnTo>
                  <a:pt x="2" y="123"/>
                </a:lnTo>
                <a:lnTo>
                  <a:pt x="3" y="123"/>
                </a:lnTo>
                <a:lnTo>
                  <a:pt x="4" y="123"/>
                </a:lnTo>
                <a:lnTo>
                  <a:pt x="181" y="123"/>
                </a:lnTo>
                <a:lnTo>
                  <a:pt x="182" y="123"/>
                </a:lnTo>
                <a:lnTo>
                  <a:pt x="182" y="123"/>
                </a:lnTo>
                <a:lnTo>
                  <a:pt x="183" y="122"/>
                </a:lnTo>
                <a:lnTo>
                  <a:pt x="183" y="122"/>
                </a:lnTo>
                <a:lnTo>
                  <a:pt x="184" y="122"/>
                </a:lnTo>
                <a:lnTo>
                  <a:pt x="184" y="121"/>
                </a:lnTo>
                <a:lnTo>
                  <a:pt x="184" y="120"/>
                </a:lnTo>
                <a:lnTo>
                  <a:pt x="184" y="120"/>
                </a:lnTo>
                <a:lnTo>
                  <a:pt x="184" y="4"/>
                </a:lnTo>
                <a:lnTo>
                  <a:pt x="184" y="3"/>
                </a:lnTo>
                <a:lnTo>
                  <a:pt x="184" y="2"/>
                </a:lnTo>
                <a:lnTo>
                  <a:pt x="184" y="2"/>
                </a:lnTo>
                <a:lnTo>
                  <a:pt x="183" y="1"/>
                </a:lnTo>
                <a:lnTo>
                  <a:pt x="183" y="1"/>
                </a:lnTo>
                <a:lnTo>
                  <a:pt x="182" y="1"/>
                </a:lnTo>
                <a:lnTo>
                  <a:pt x="182" y="0"/>
                </a:lnTo>
                <a:lnTo>
                  <a:pt x="181" y="0"/>
                </a:lnTo>
                <a:close/>
              </a:path>
            </a:pathLst>
          </a:custGeom>
          <a:solidFill>
            <a:srgbClr val="93D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Freeform 36"/>
          <p:cNvSpPr/>
          <p:nvPr/>
        </p:nvSpPr>
        <p:spPr>
          <a:xfrm>
            <a:off x="1689100" y="1866900"/>
            <a:ext cx="241300" cy="215900"/>
          </a:xfrm>
          <a:custGeom>
            <a:avLst/>
            <a:gdLst/>
            <a:ahLst/>
            <a:cxnLst/>
            <a:rect l="l" t="t" r="r" b="b"/>
            <a:pathLst>
              <a:path w="19" h="17">
                <a:moveTo>
                  <a:pt x="15" y="0"/>
                </a:moveTo>
                <a:lnTo>
                  <a:pt x="3" y="0"/>
                </a:lnTo>
                <a:lnTo>
                  <a:pt x="3" y="0"/>
                </a:lnTo>
                <a:lnTo>
                  <a:pt x="2" y="0"/>
                </a:lnTo>
                <a:lnTo>
                  <a:pt x="1" y="0"/>
                </a:lnTo>
                <a:lnTo>
                  <a:pt x="1" y="1"/>
                </a:lnTo>
                <a:lnTo>
                  <a:pt x="1" y="1"/>
                </a:lnTo>
                <a:lnTo>
                  <a:pt x="0" y="2"/>
                </a:lnTo>
                <a:lnTo>
                  <a:pt x="0" y="2"/>
                </a:lnTo>
                <a:lnTo>
                  <a:pt x="0" y="3"/>
                </a:lnTo>
                <a:lnTo>
                  <a:pt x="0" y="13"/>
                </a:lnTo>
                <a:lnTo>
                  <a:pt x="0" y="14"/>
                </a:lnTo>
                <a:lnTo>
                  <a:pt x="0" y="15"/>
                </a:lnTo>
                <a:lnTo>
                  <a:pt x="1" y="15"/>
                </a:lnTo>
                <a:lnTo>
                  <a:pt x="1" y="16"/>
                </a:lnTo>
                <a:lnTo>
                  <a:pt x="1" y="16"/>
                </a:lnTo>
                <a:lnTo>
                  <a:pt x="2" y="16"/>
                </a:lnTo>
                <a:lnTo>
                  <a:pt x="3" y="17"/>
                </a:lnTo>
                <a:lnTo>
                  <a:pt x="3" y="17"/>
                </a:lnTo>
                <a:lnTo>
                  <a:pt x="15" y="17"/>
                </a:lnTo>
                <a:lnTo>
                  <a:pt x="16" y="17"/>
                </a:lnTo>
                <a:lnTo>
                  <a:pt x="17" y="16"/>
                </a:lnTo>
                <a:lnTo>
                  <a:pt x="17" y="16"/>
                </a:lnTo>
                <a:lnTo>
                  <a:pt x="18" y="16"/>
                </a:lnTo>
                <a:lnTo>
                  <a:pt x="18" y="15"/>
                </a:lnTo>
                <a:lnTo>
                  <a:pt x="18" y="15"/>
                </a:lnTo>
                <a:lnTo>
                  <a:pt x="18" y="14"/>
                </a:lnTo>
                <a:lnTo>
                  <a:pt x="19" y="13"/>
                </a:lnTo>
                <a:lnTo>
                  <a:pt x="19" y="3"/>
                </a:lnTo>
                <a:lnTo>
                  <a:pt x="18" y="2"/>
                </a:lnTo>
                <a:lnTo>
                  <a:pt x="18" y="2"/>
                </a:lnTo>
                <a:lnTo>
                  <a:pt x="18" y="1"/>
                </a:lnTo>
                <a:lnTo>
                  <a:pt x="18" y="1"/>
                </a:lnTo>
                <a:lnTo>
                  <a:pt x="17" y="0"/>
                </a:lnTo>
                <a:lnTo>
                  <a:pt x="17" y="0"/>
                </a:lnTo>
                <a:lnTo>
                  <a:pt x="16" y="0"/>
                </a:lnTo>
                <a:lnTo>
                  <a:pt x="15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Freeform 37"/>
          <p:cNvSpPr/>
          <p:nvPr/>
        </p:nvSpPr>
        <p:spPr>
          <a:xfrm>
            <a:off x="1295400" y="1866900"/>
            <a:ext cx="228600" cy="215900"/>
          </a:xfrm>
          <a:custGeom>
            <a:avLst/>
            <a:gdLst/>
            <a:ahLst/>
            <a:cxnLst/>
            <a:rect l="l" t="t" r="r" b="b"/>
            <a:pathLst>
              <a:path w="18" h="17">
                <a:moveTo>
                  <a:pt x="15" y="0"/>
                </a:moveTo>
                <a:lnTo>
                  <a:pt x="3" y="0"/>
                </a:lnTo>
                <a:lnTo>
                  <a:pt x="2" y="0"/>
                </a:lnTo>
                <a:lnTo>
                  <a:pt x="1" y="0"/>
                </a:lnTo>
                <a:lnTo>
                  <a:pt x="1" y="0"/>
                </a:lnTo>
                <a:lnTo>
                  <a:pt x="0" y="1"/>
                </a:lnTo>
                <a:lnTo>
                  <a:pt x="0" y="1"/>
                </a:lnTo>
                <a:lnTo>
                  <a:pt x="0" y="2"/>
                </a:lnTo>
                <a:lnTo>
                  <a:pt x="0" y="2"/>
                </a:lnTo>
                <a:lnTo>
                  <a:pt x="0" y="3"/>
                </a:lnTo>
                <a:lnTo>
                  <a:pt x="0" y="13"/>
                </a:lnTo>
                <a:lnTo>
                  <a:pt x="0" y="14"/>
                </a:lnTo>
                <a:lnTo>
                  <a:pt x="0" y="15"/>
                </a:lnTo>
                <a:lnTo>
                  <a:pt x="0" y="15"/>
                </a:lnTo>
                <a:lnTo>
                  <a:pt x="0" y="16"/>
                </a:lnTo>
                <a:lnTo>
                  <a:pt x="1" y="16"/>
                </a:lnTo>
                <a:lnTo>
                  <a:pt x="1" y="16"/>
                </a:lnTo>
                <a:lnTo>
                  <a:pt x="2" y="17"/>
                </a:lnTo>
                <a:lnTo>
                  <a:pt x="3" y="17"/>
                </a:lnTo>
                <a:lnTo>
                  <a:pt x="15" y="17"/>
                </a:lnTo>
                <a:lnTo>
                  <a:pt x="15" y="17"/>
                </a:lnTo>
                <a:lnTo>
                  <a:pt x="16" y="16"/>
                </a:lnTo>
                <a:lnTo>
                  <a:pt x="17" y="16"/>
                </a:lnTo>
                <a:lnTo>
                  <a:pt x="17" y="16"/>
                </a:lnTo>
                <a:lnTo>
                  <a:pt x="17" y="15"/>
                </a:lnTo>
                <a:lnTo>
                  <a:pt x="18" y="15"/>
                </a:lnTo>
                <a:lnTo>
                  <a:pt x="18" y="14"/>
                </a:lnTo>
                <a:lnTo>
                  <a:pt x="18" y="13"/>
                </a:lnTo>
                <a:lnTo>
                  <a:pt x="18" y="3"/>
                </a:lnTo>
                <a:lnTo>
                  <a:pt x="18" y="2"/>
                </a:lnTo>
                <a:lnTo>
                  <a:pt x="18" y="2"/>
                </a:lnTo>
                <a:lnTo>
                  <a:pt x="17" y="1"/>
                </a:lnTo>
                <a:lnTo>
                  <a:pt x="17" y="1"/>
                </a:lnTo>
                <a:lnTo>
                  <a:pt x="17" y="0"/>
                </a:lnTo>
                <a:lnTo>
                  <a:pt x="16" y="0"/>
                </a:lnTo>
                <a:lnTo>
                  <a:pt x="15" y="0"/>
                </a:lnTo>
                <a:lnTo>
                  <a:pt x="15" y="0"/>
                </a:lnTo>
                <a:close/>
              </a:path>
            </a:pathLst>
          </a:custGeom>
          <a:solidFill>
            <a:srgbClr val="F79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Freeform 38"/>
          <p:cNvSpPr/>
          <p:nvPr/>
        </p:nvSpPr>
        <p:spPr>
          <a:xfrm>
            <a:off x="2095500" y="1854200"/>
            <a:ext cx="381000" cy="241300"/>
          </a:xfrm>
          <a:custGeom>
            <a:avLst/>
            <a:gdLst/>
            <a:ahLst/>
            <a:cxnLst/>
            <a:rect l="l" t="t" r="r" b="b"/>
            <a:pathLst>
              <a:path w="30" h="19">
                <a:moveTo>
                  <a:pt x="27" y="0"/>
                </a:moveTo>
                <a:lnTo>
                  <a:pt x="3" y="0"/>
                </a:lnTo>
                <a:lnTo>
                  <a:pt x="2" y="0"/>
                </a:lnTo>
                <a:lnTo>
                  <a:pt x="2" y="0"/>
                </a:lnTo>
                <a:lnTo>
                  <a:pt x="1" y="0"/>
                </a:lnTo>
                <a:lnTo>
                  <a:pt x="1" y="1"/>
                </a:lnTo>
                <a:lnTo>
                  <a:pt x="0" y="1"/>
                </a:lnTo>
                <a:lnTo>
                  <a:pt x="0" y="2"/>
                </a:lnTo>
                <a:lnTo>
                  <a:pt x="0" y="2"/>
                </a:lnTo>
                <a:lnTo>
                  <a:pt x="0" y="3"/>
                </a:lnTo>
                <a:lnTo>
                  <a:pt x="0" y="16"/>
                </a:lnTo>
                <a:lnTo>
                  <a:pt x="0" y="16"/>
                </a:lnTo>
                <a:lnTo>
                  <a:pt x="0" y="17"/>
                </a:lnTo>
                <a:lnTo>
                  <a:pt x="0" y="17"/>
                </a:lnTo>
                <a:lnTo>
                  <a:pt x="1" y="18"/>
                </a:lnTo>
                <a:lnTo>
                  <a:pt x="1" y="18"/>
                </a:lnTo>
                <a:lnTo>
                  <a:pt x="2" y="19"/>
                </a:lnTo>
                <a:lnTo>
                  <a:pt x="2" y="19"/>
                </a:lnTo>
                <a:lnTo>
                  <a:pt x="3" y="19"/>
                </a:lnTo>
                <a:lnTo>
                  <a:pt x="27" y="19"/>
                </a:lnTo>
                <a:lnTo>
                  <a:pt x="28" y="19"/>
                </a:lnTo>
                <a:lnTo>
                  <a:pt x="28" y="19"/>
                </a:lnTo>
                <a:lnTo>
                  <a:pt x="29" y="18"/>
                </a:lnTo>
                <a:lnTo>
                  <a:pt x="29" y="18"/>
                </a:lnTo>
                <a:lnTo>
                  <a:pt x="30" y="17"/>
                </a:lnTo>
                <a:lnTo>
                  <a:pt x="30" y="17"/>
                </a:lnTo>
                <a:lnTo>
                  <a:pt x="30" y="16"/>
                </a:lnTo>
                <a:lnTo>
                  <a:pt x="30" y="16"/>
                </a:lnTo>
                <a:lnTo>
                  <a:pt x="30" y="3"/>
                </a:lnTo>
                <a:lnTo>
                  <a:pt x="30" y="2"/>
                </a:lnTo>
                <a:lnTo>
                  <a:pt x="30" y="2"/>
                </a:lnTo>
                <a:lnTo>
                  <a:pt x="30" y="1"/>
                </a:lnTo>
                <a:lnTo>
                  <a:pt x="29" y="1"/>
                </a:lnTo>
                <a:lnTo>
                  <a:pt x="29" y="0"/>
                </a:lnTo>
                <a:lnTo>
                  <a:pt x="28" y="0"/>
                </a:lnTo>
                <a:lnTo>
                  <a:pt x="28" y="0"/>
                </a:lnTo>
                <a:lnTo>
                  <a:pt x="27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Freeform 39"/>
          <p:cNvSpPr/>
          <p:nvPr/>
        </p:nvSpPr>
        <p:spPr>
          <a:xfrm>
            <a:off x="762000" y="2082800"/>
            <a:ext cx="215900" cy="215900"/>
          </a:xfrm>
          <a:custGeom>
            <a:avLst/>
            <a:gdLst/>
            <a:ahLst/>
            <a:cxnLst/>
            <a:rect l="l" t="t" r="r" b="b"/>
            <a:pathLst>
              <a:path w="17" h="17">
                <a:moveTo>
                  <a:pt x="17" y="8"/>
                </a:moveTo>
                <a:lnTo>
                  <a:pt x="17" y="7"/>
                </a:lnTo>
                <a:lnTo>
                  <a:pt x="17" y="5"/>
                </a:lnTo>
                <a:lnTo>
                  <a:pt x="16" y="4"/>
                </a:lnTo>
                <a:lnTo>
                  <a:pt x="15" y="2"/>
                </a:lnTo>
                <a:lnTo>
                  <a:pt x="14" y="1"/>
                </a:lnTo>
                <a:lnTo>
                  <a:pt x="12" y="0"/>
                </a:lnTo>
                <a:lnTo>
                  <a:pt x="10" y="0"/>
                </a:lnTo>
                <a:lnTo>
                  <a:pt x="9" y="0"/>
                </a:lnTo>
                <a:lnTo>
                  <a:pt x="7" y="0"/>
                </a:lnTo>
                <a:lnTo>
                  <a:pt x="5" y="0"/>
                </a:lnTo>
                <a:lnTo>
                  <a:pt x="4" y="1"/>
                </a:lnTo>
                <a:lnTo>
                  <a:pt x="2" y="2"/>
                </a:lnTo>
                <a:lnTo>
                  <a:pt x="1" y="4"/>
                </a:lnTo>
                <a:lnTo>
                  <a:pt x="1" y="5"/>
                </a:lnTo>
                <a:lnTo>
                  <a:pt x="0" y="7"/>
                </a:lnTo>
                <a:lnTo>
                  <a:pt x="0" y="8"/>
                </a:lnTo>
                <a:lnTo>
                  <a:pt x="0" y="10"/>
                </a:lnTo>
                <a:lnTo>
                  <a:pt x="1" y="12"/>
                </a:lnTo>
                <a:lnTo>
                  <a:pt x="1" y="13"/>
                </a:lnTo>
                <a:lnTo>
                  <a:pt x="2" y="15"/>
                </a:lnTo>
                <a:lnTo>
                  <a:pt x="4" y="16"/>
                </a:lnTo>
                <a:lnTo>
                  <a:pt x="5" y="16"/>
                </a:lnTo>
                <a:lnTo>
                  <a:pt x="7" y="17"/>
                </a:lnTo>
                <a:lnTo>
                  <a:pt x="9" y="17"/>
                </a:lnTo>
                <a:lnTo>
                  <a:pt x="10" y="17"/>
                </a:lnTo>
                <a:lnTo>
                  <a:pt x="12" y="16"/>
                </a:lnTo>
                <a:lnTo>
                  <a:pt x="14" y="16"/>
                </a:lnTo>
                <a:lnTo>
                  <a:pt x="15" y="15"/>
                </a:lnTo>
                <a:lnTo>
                  <a:pt x="16" y="13"/>
                </a:lnTo>
                <a:lnTo>
                  <a:pt x="17" y="12"/>
                </a:lnTo>
                <a:lnTo>
                  <a:pt x="17" y="10"/>
                </a:lnTo>
                <a:lnTo>
                  <a:pt x="17" y="8"/>
                </a:lnTo>
                <a:close/>
              </a:path>
            </a:pathLst>
          </a:cu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Freeform 40"/>
          <p:cNvSpPr/>
          <p:nvPr/>
        </p:nvSpPr>
        <p:spPr>
          <a:xfrm>
            <a:off x="1028700" y="2311400"/>
            <a:ext cx="215900" cy="228600"/>
          </a:xfrm>
          <a:custGeom>
            <a:avLst/>
            <a:gdLst/>
            <a:ahLst/>
            <a:cxnLst/>
            <a:rect l="l" t="t" r="r" b="b"/>
            <a:pathLst>
              <a:path w="17" h="18">
                <a:moveTo>
                  <a:pt x="17" y="9"/>
                </a:moveTo>
                <a:lnTo>
                  <a:pt x="17" y="7"/>
                </a:lnTo>
                <a:lnTo>
                  <a:pt x="17" y="5"/>
                </a:lnTo>
                <a:lnTo>
                  <a:pt x="16" y="4"/>
                </a:lnTo>
                <a:lnTo>
                  <a:pt x="15" y="3"/>
                </a:lnTo>
                <a:lnTo>
                  <a:pt x="13" y="2"/>
                </a:lnTo>
                <a:lnTo>
                  <a:pt x="12" y="1"/>
                </a:lnTo>
                <a:lnTo>
                  <a:pt x="10" y="0"/>
                </a:lnTo>
                <a:lnTo>
                  <a:pt x="8" y="0"/>
                </a:lnTo>
                <a:lnTo>
                  <a:pt x="7" y="0"/>
                </a:lnTo>
                <a:lnTo>
                  <a:pt x="5" y="1"/>
                </a:lnTo>
                <a:lnTo>
                  <a:pt x="4" y="2"/>
                </a:lnTo>
                <a:lnTo>
                  <a:pt x="2" y="3"/>
                </a:lnTo>
                <a:lnTo>
                  <a:pt x="1" y="4"/>
                </a:lnTo>
                <a:lnTo>
                  <a:pt x="0" y="5"/>
                </a:lnTo>
                <a:lnTo>
                  <a:pt x="0" y="7"/>
                </a:lnTo>
                <a:lnTo>
                  <a:pt x="0" y="9"/>
                </a:lnTo>
                <a:lnTo>
                  <a:pt x="0" y="11"/>
                </a:lnTo>
                <a:lnTo>
                  <a:pt x="0" y="12"/>
                </a:lnTo>
                <a:lnTo>
                  <a:pt x="1" y="14"/>
                </a:lnTo>
                <a:lnTo>
                  <a:pt x="2" y="15"/>
                </a:lnTo>
                <a:lnTo>
                  <a:pt x="4" y="16"/>
                </a:lnTo>
                <a:lnTo>
                  <a:pt x="5" y="17"/>
                </a:lnTo>
                <a:lnTo>
                  <a:pt x="7" y="17"/>
                </a:lnTo>
                <a:lnTo>
                  <a:pt x="8" y="18"/>
                </a:lnTo>
                <a:lnTo>
                  <a:pt x="10" y="17"/>
                </a:lnTo>
                <a:lnTo>
                  <a:pt x="12" y="17"/>
                </a:lnTo>
                <a:lnTo>
                  <a:pt x="13" y="16"/>
                </a:lnTo>
                <a:lnTo>
                  <a:pt x="15" y="15"/>
                </a:lnTo>
                <a:lnTo>
                  <a:pt x="16" y="14"/>
                </a:lnTo>
                <a:lnTo>
                  <a:pt x="17" y="12"/>
                </a:lnTo>
                <a:lnTo>
                  <a:pt x="17" y="11"/>
                </a:lnTo>
                <a:lnTo>
                  <a:pt x="17" y="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Freeform 41"/>
          <p:cNvSpPr/>
          <p:nvPr/>
        </p:nvSpPr>
        <p:spPr>
          <a:xfrm>
            <a:off x="1028700" y="1549400"/>
            <a:ext cx="215900" cy="215900"/>
          </a:xfrm>
          <a:custGeom>
            <a:avLst/>
            <a:gdLst/>
            <a:ahLst/>
            <a:cxnLst/>
            <a:rect l="l" t="t" r="r" b="b"/>
            <a:pathLst>
              <a:path w="17" h="17">
                <a:moveTo>
                  <a:pt x="17" y="9"/>
                </a:moveTo>
                <a:lnTo>
                  <a:pt x="17" y="7"/>
                </a:lnTo>
                <a:lnTo>
                  <a:pt x="17" y="5"/>
                </a:lnTo>
                <a:lnTo>
                  <a:pt x="16" y="4"/>
                </a:lnTo>
                <a:lnTo>
                  <a:pt x="15" y="2"/>
                </a:lnTo>
                <a:lnTo>
                  <a:pt x="13" y="1"/>
                </a:lnTo>
                <a:lnTo>
                  <a:pt x="12" y="1"/>
                </a:lnTo>
                <a:lnTo>
                  <a:pt x="10" y="0"/>
                </a:lnTo>
                <a:lnTo>
                  <a:pt x="8" y="0"/>
                </a:lnTo>
                <a:lnTo>
                  <a:pt x="7" y="0"/>
                </a:lnTo>
                <a:lnTo>
                  <a:pt x="5" y="1"/>
                </a:lnTo>
                <a:lnTo>
                  <a:pt x="4" y="1"/>
                </a:lnTo>
                <a:lnTo>
                  <a:pt x="2" y="2"/>
                </a:lnTo>
                <a:lnTo>
                  <a:pt x="1" y="4"/>
                </a:lnTo>
                <a:lnTo>
                  <a:pt x="0" y="5"/>
                </a:lnTo>
                <a:lnTo>
                  <a:pt x="0" y="7"/>
                </a:lnTo>
                <a:lnTo>
                  <a:pt x="0" y="9"/>
                </a:lnTo>
                <a:lnTo>
                  <a:pt x="0" y="10"/>
                </a:lnTo>
                <a:lnTo>
                  <a:pt x="0" y="12"/>
                </a:lnTo>
                <a:lnTo>
                  <a:pt x="1" y="14"/>
                </a:lnTo>
                <a:lnTo>
                  <a:pt x="2" y="15"/>
                </a:lnTo>
                <a:lnTo>
                  <a:pt x="4" y="16"/>
                </a:lnTo>
                <a:lnTo>
                  <a:pt x="5" y="17"/>
                </a:lnTo>
                <a:lnTo>
                  <a:pt x="7" y="17"/>
                </a:lnTo>
                <a:lnTo>
                  <a:pt x="8" y="17"/>
                </a:lnTo>
                <a:lnTo>
                  <a:pt x="10" y="17"/>
                </a:lnTo>
                <a:lnTo>
                  <a:pt x="12" y="17"/>
                </a:lnTo>
                <a:lnTo>
                  <a:pt x="13" y="16"/>
                </a:lnTo>
                <a:lnTo>
                  <a:pt x="15" y="15"/>
                </a:lnTo>
                <a:lnTo>
                  <a:pt x="16" y="14"/>
                </a:lnTo>
                <a:lnTo>
                  <a:pt x="17" y="12"/>
                </a:lnTo>
                <a:lnTo>
                  <a:pt x="17" y="10"/>
                </a:lnTo>
                <a:lnTo>
                  <a:pt x="17" y="9"/>
                </a:lnTo>
                <a:close/>
              </a:path>
            </a:pathLst>
          </a:cu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Freeform 42"/>
          <p:cNvSpPr/>
          <p:nvPr/>
        </p:nvSpPr>
        <p:spPr>
          <a:xfrm>
            <a:off x="2171700" y="1549400"/>
            <a:ext cx="228600" cy="215900"/>
          </a:xfrm>
          <a:custGeom>
            <a:avLst/>
            <a:gdLst/>
            <a:ahLst/>
            <a:cxnLst/>
            <a:rect l="l" t="t" r="r" b="b"/>
            <a:pathLst>
              <a:path w="18" h="17">
                <a:moveTo>
                  <a:pt x="18" y="9"/>
                </a:moveTo>
                <a:lnTo>
                  <a:pt x="18" y="7"/>
                </a:lnTo>
                <a:lnTo>
                  <a:pt x="17" y="5"/>
                </a:lnTo>
                <a:lnTo>
                  <a:pt x="16" y="4"/>
                </a:lnTo>
                <a:lnTo>
                  <a:pt x="15" y="2"/>
                </a:lnTo>
                <a:lnTo>
                  <a:pt x="14" y="1"/>
                </a:lnTo>
                <a:lnTo>
                  <a:pt x="12" y="1"/>
                </a:lnTo>
                <a:lnTo>
                  <a:pt x="11" y="0"/>
                </a:lnTo>
                <a:lnTo>
                  <a:pt x="9" y="0"/>
                </a:lnTo>
                <a:lnTo>
                  <a:pt x="7" y="0"/>
                </a:lnTo>
                <a:lnTo>
                  <a:pt x="6" y="1"/>
                </a:lnTo>
                <a:lnTo>
                  <a:pt x="4" y="1"/>
                </a:lnTo>
                <a:lnTo>
                  <a:pt x="3" y="2"/>
                </a:lnTo>
                <a:lnTo>
                  <a:pt x="2" y="4"/>
                </a:lnTo>
                <a:lnTo>
                  <a:pt x="1" y="5"/>
                </a:lnTo>
                <a:lnTo>
                  <a:pt x="0" y="7"/>
                </a:lnTo>
                <a:lnTo>
                  <a:pt x="0" y="9"/>
                </a:lnTo>
                <a:lnTo>
                  <a:pt x="0" y="10"/>
                </a:lnTo>
                <a:lnTo>
                  <a:pt x="1" y="12"/>
                </a:lnTo>
                <a:lnTo>
                  <a:pt x="2" y="14"/>
                </a:lnTo>
                <a:lnTo>
                  <a:pt x="3" y="15"/>
                </a:lnTo>
                <a:lnTo>
                  <a:pt x="4" y="16"/>
                </a:lnTo>
                <a:lnTo>
                  <a:pt x="6" y="17"/>
                </a:lnTo>
                <a:lnTo>
                  <a:pt x="7" y="17"/>
                </a:lnTo>
                <a:lnTo>
                  <a:pt x="9" y="17"/>
                </a:lnTo>
                <a:lnTo>
                  <a:pt x="11" y="17"/>
                </a:lnTo>
                <a:lnTo>
                  <a:pt x="12" y="17"/>
                </a:lnTo>
                <a:lnTo>
                  <a:pt x="14" y="16"/>
                </a:lnTo>
                <a:lnTo>
                  <a:pt x="15" y="15"/>
                </a:lnTo>
                <a:lnTo>
                  <a:pt x="16" y="14"/>
                </a:lnTo>
                <a:lnTo>
                  <a:pt x="17" y="12"/>
                </a:lnTo>
                <a:lnTo>
                  <a:pt x="18" y="10"/>
                </a:lnTo>
                <a:lnTo>
                  <a:pt x="18" y="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Freeform 43"/>
          <p:cNvSpPr/>
          <p:nvPr/>
        </p:nvSpPr>
        <p:spPr>
          <a:xfrm>
            <a:off x="2171700" y="1054100"/>
            <a:ext cx="228600" cy="215900"/>
          </a:xfrm>
          <a:custGeom>
            <a:avLst/>
            <a:gdLst/>
            <a:ahLst/>
            <a:cxnLst/>
            <a:rect l="l" t="t" r="r" b="b"/>
            <a:pathLst>
              <a:path w="18" h="17">
                <a:moveTo>
                  <a:pt x="18" y="8"/>
                </a:moveTo>
                <a:lnTo>
                  <a:pt x="18" y="7"/>
                </a:lnTo>
                <a:lnTo>
                  <a:pt x="17" y="5"/>
                </a:lnTo>
                <a:lnTo>
                  <a:pt x="16" y="3"/>
                </a:lnTo>
                <a:lnTo>
                  <a:pt x="15" y="2"/>
                </a:lnTo>
                <a:lnTo>
                  <a:pt x="14" y="1"/>
                </a:lnTo>
                <a:lnTo>
                  <a:pt x="12" y="0"/>
                </a:lnTo>
                <a:lnTo>
                  <a:pt x="11" y="0"/>
                </a:lnTo>
                <a:lnTo>
                  <a:pt x="9" y="0"/>
                </a:lnTo>
                <a:lnTo>
                  <a:pt x="7" y="0"/>
                </a:lnTo>
                <a:lnTo>
                  <a:pt x="6" y="0"/>
                </a:lnTo>
                <a:lnTo>
                  <a:pt x="4" y="1"/>
                </a:lnTo>
                <a:lnTo>
                  <a:pt x="3" y="2"/>
                </a:lnTo>
                <a:lnTo>
                  <a:pt x="2" y="3"/>
                </a:lnTo>
                <a:lnTo>
                  <a:pt x="1" y="5"/>
                </a:lnTo>
                <a:lnTo>
                  <a:pt x="0" y="7"/>
                </a:lnTo>
                <a:lnTo>
                  <a:pt x="0" y="8"/>
                </a:lnTo>
                <a:lnTo>
                  <a:pt x="0" y="10"/>
                </a:lnTo>
                <a:lnTo>
                  <a:pt x="1" y="12"/>
                </a:lnTo>
                <a:lnTo>
                  <a:pt x="2" y="13"/>
                </a:lnTo>
                <a:lnTo>
                  <a:pt x="3" y="15"/>
                </a:lnTo>
                <a:lnTo>
                  <a:pt x="4" y="16"/>
                </a:lnTo>
                <a:lnTo>
                  <a:pt x="6" y="16"/>
                </a:lnTo>
                <a:lnTo>
                  <a:pt x="7" y="17"/>
                </a:lnTo>
                <a:lnTo>
                  <a:pt x="9" y="17"/>
                </a:lnTo>
                <a:lnTo>
                  <a:pt x="11" y="17"/>
                </a:lnTo>
                <a:lnTo>
                  <a:pt x="12" y="16"/>
                </a:lnTo>
                <a:lnTo>
                  <a:pt x="14" y="16"/>
                </a:lnTo>
                <a:lnTo>
                  <a:pt x="15" y="15"/>
                </a:lnTo>
                <a:lnTo>
                  <a:pt x="16" y="13"/>
                </a:lnTo>
                <a:lnTo>
                  <a:pt x="17" y="12"/>
                </a:lnTo>
                <a:lnTo>
                  <a:pt x="18" y="10"/>
                </a:lnTo>
                <a:lnTo>
                  <a:pt x="18" y="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Freeform 44"/>
          <p:cNvSpPr/>
          <p:nvPr/>
        </p:nvSpPr>
        <p:spPr>
          <a:xfrm>
            <a:off x="1701800" y="1054100"/>
            <a:ext cx="215900" cy="215900"/>
          </a:xfrm>
          <a:custGeom>
            <a:avLst/>
            <a:gdLst/>
            <a:ahLst/>
            <a:cxnLst/>
            <a:rect l="l" t="t" r="r" b="b"/>
            <a:pathLst>
              <a:path w="17" h="17">
                <a:moveTo>
                  <a:pt x="17" y="8"/>
                </a:moveTo>
                <a:lnTo>
                  <a:pt x="17" y="7"/>
                </a:lnTo>
                <a:lnTo>
                  <a:pt x="16" y="5"/>
                </a:lnTo>
                <a:lnTo>
                  <a:pt x="16" y="3"/>
                </a:lnTo>
                <a:lnTo>
                  <a:pt x="14" y="2"/>
                </a:lnTo>
                <a:lnTo>
                  <a:pt x="13" y="1"/>
                </a:lnTo>
                <a:lnTo>
                  <a:pt x="12" y="0"/>
                </a:lnTo>
                <a:lnTo>
                  <a:pt x="10" y="0"/>
                </a:lnTo>
                <a:lnTo>
                  <a:pt x="8" y="0"/>
                </a:lnTo>
                <a:lnTo>
                  <a:pt x="7" y="0"/>
                </a:lnTo>
                <a:lnTo>
                  <a:pt x="5" y="0"/>
                </a:lnTo>
                <a:lnTo>
                  <a:pt x="3" y="1"/>
                </a:lnTo>
                <a:lnTo>
                  <a:pt x="2" y="2"/>
                </a:lnTo>
                <a:lnTo>
                  <a:pt x="1" y="3"/>
                </a:lnTo>
                <a:lnTo>
                  <a:pt x="0" y="5"/>
                </a:lnTo>
                <a:lnTo>
                  <a:pt x="0" y="7"/>
                </a:lnTo>
                <a:lnTo>
                  <a:pt x="0" y="8"/>
                </a:lnTo>
                <a:lnTo>
                  <a:pt x="0" y="10"/>
                </a:lnTo>
                <a:lnTo>
                  <a:pt x="0" y="12"/>
                </a:lnTo>
                <a:lnTo>
                  <a:pt x="1" y="13"/>
                </a:lnTo>
                <a:lnTo>
                  <a:pt x="2" y="15"/>
                </a:lnTo>
                <a:lnTo>
                  <a:pt x="3" y="16"/>
                </a:lnTo>
                <a:lnTo>
                  <a:pt x="5" y="16"/>
                </a:lnTo>
                <a:lnTo>
                  <a:pt x="7" y="17"/>
                </a:lnTo>
                <a:lnTo>
                  <a:pt x="8" y="17"/>
                </a:lnTo>
                <a:lnTo>
                  <a:pt x="10" y="17"/>
                </a:lnTo>
                <a:lnTo>
                  <a:pt x="12" y="16"/>
                </a:lnTo>
                <a:lnTo>
                  <a:pt x="13" y="16"/>
                </a:lnTo>
                <a:lnTo>
                  <a:pt x="14" y="15"/>
                </a:lnTo>
                <a:lnTo>
                  <a:pt x="16" y="13"/>
                </a:lnTo>
                <a:lnTo>
                  <a:pt x="16" y="12"/>
                </a:lnTo>
                <a:lnTo>
                  <a:pt x="17" y="10"/>
                </a:lnTo>
                <a:lnTo>
                  <a:pt x="17" y="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Freeform 45"/>
          <p:cNvSpPr/>
          <p:nvPr/>
        </p:nvSpPr>
        <p:spPr>
          <a:xfrm>
            <a:off x="1651000" y="1358900"/>
            <a:ext cx="304800" cy="215900"/>
          </a:xfrm>
          <a:custGeom>
            <a:avLst/>
            <a:gdLst/>
            <a:ahLst/>
            <a:cxnLst/>
            <a:rect l="l" t="t" r="r" b="b"/>
            <a:pathLst>
              <a:path w="24" h="17">
                <a:moveTo>
                  <a:pt x="24" y="9"/>
                </a:moveTo>
                <a:lnTo>
                  <a:pt x="24" y="7"/>
                </a:lnTo>
                <a:lnTo>
                  <a:pt x="23" y="5"/>
                </a:lnTo>
                <a:lnTo>
                  <a:pt x="22" y="4"/>
                </a:lnTo>
                <a:lnTo>
                  <a:pt x="21" y="2"/>
                </a:lnTo>
                <a:lnTo>
                  <a:pt x="19" y="1"/>
                </a:lnTo>
                <a:lnTo>
                  <a:pt x="17" y="1"/>
                </a:lnTo>
                <a:lnTo>
                  <a:pt x="15" y="0"/>
                </a:lnTo>
                <a:lnTo>
                  <a:pt x="12" y="0"/>
                </a:lnTo>
                <a:lnTo>
                  <a:pt x="10" y="0"/>
                </a:lnTo>
                <a:lnTo>
                  <a:pt x="8" y="1"/>
                </a:lnTo>
                <a:lnTo>
                  <a:pt x="6" y="1"/>
                </a:lnTo>
                <a:lnTo>
                  <a:pt x="4" y="2"/>
                </a:lnTo>
                <a:lnTo>
                  <a:pt x="2" y="4"/>
                </a:lnTo>
                <a:lnTo>
                  <a:pt x="1" y="5"/>
                </a:lnTo>
                <a:lnTo>
                  <a:pt x="1" y="7"/>
                </a:lnTo>
                <a:lnTo>
                  <a:pt x="0" y="9"/>
                </a:lnTo>
                <a:lnTo>
                  <a:pt x="1" y="10"/>
                </a:lnTo>
                <a:lnTo>
                  <a:pt x="1" y="12"/>
                </a:lnTo>
                <a:lnTo>
                  <a:pt x="2" y="13"/>
                </a:lnTo>
                <a:lnTo>
                  <a:pt x="4" y="15"/>
                </a:lnTo>
                <a:lnTo>
                  <a:pt x="6" y="16"/>
                </a:lnTo>
                <a:lnTo>
                  <a:pt x="8" y="17"/>
                </a:lnTo>
                <a:lnTo>
                  <a:pt x="10" y="17"/>
                </a:lnTo>
                <a:lnTo>
                  <a:pt x="12" y="17"/>
                </a:lnTo>
                <a:lnTo>
                  <a:pt x="15" y="17"/>
                </a:lnTo>
                <a:lnTo>
                  <a:pt x="17" y="17"/>
                </a:lnTo>
                <a:lnTo>
                  <a:pt x="19" y="16"/>
                </a:lnTo>
                <a:lnTo>
                  <a:pt x="21" y="15"/>
                </a:lnTo>
                <a:lnTo>
                  <a:pt x="22" y="13"/>
                </a:lnTo>
                <a:lnTo>
                  <a:pt x="23" y="12"/>
                </a:lnTo>
                <a:lnTo>
                  <a:pt x="24" y="10"/>
                </a:lnTo>
                <a:lnTo>
                  <a:pt x="24" y="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7" name="Connector 46"/>
          <p:cNvCxnSpPr/>
          <p:nvPr/>
        </p:nvCxnSpPr>
        <p:spPr>
          <a:xfrm flipV="1">
            <a:off x="2859547" y="934572"/>
            <a:ext cx="0" cy="225209"/>
          </a:xfrm>
          <a:prstGeom prst="line">
            <a:avLst/>
          </a:prstGeom>
          <a:ln w="8121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Freeform 47"/>
          <p:cNvSpPr/>
          <p:nvPr/>
        </p:nvSpPr>
        <p:spPr>
          <a:xfrm>
            <a:off x="2832100" y="9144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2" y="0"/>
                </a:moveTo>
                <a:lnTo>
                  <a:pt x="0" y="3"/>
                </a:lnTo>
                <a:lnTo>
                  <a:pt x="2" y="2"/>
                </a:lnTo>
                <a:lnTo>
                  <a:pt x="4" y="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9" name="Connector 48"/>
          <p:cNvCxnSpPr/>
          <p:nvPr/>
        </p:nvCxnSpPr>
        <p:spPr>
          <a:xfrm>
            <a:off x="526679" y="1159781"/>
            <a:ext cx="345048" cy="0"/>
          </a:xfrm>
          <a:prstGeom prst="line">
            <a:avLst/>
          </a:prstGeom>
          <a:ln w="812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871727" y="1159781"/>
            <a:ext cx="264270" cy="0"/>
          </a:xfrm>
          <a:prstGeom prst="line">
            <a:avLst/>
          </a:prstGeom>
          <a:ln w="812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871727" y="2423737"/>
            <a:ext cx="0" cy="267224"/>
          </a:xfrm>
          <a:prstGeom prst="line">
            <a:avLst/>
          </a:prstGeom>
          <a:ln w="812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871727" y="1159781"/>
            <a:ext cx="0" cy="881215"/>
          </a:xfrm>
          <a:prstGeom prst="line">
            <a:avLst/>
          </a:prstGeom>
          <a:ln w="812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Freeform 52"/>
          <p:cNvSpPr/>
          <p:nvPr/>
        </p:nvSpPr>
        <p:spPr>
          <a:xfrm>
            <a:off x="850900" y="20193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2" y="4"/>
                </a:moveTo>
                <a:lnTo>
                  <a:pt x="3" y="0"/>
                </a:lnTo>
                <a:lnTo>
                  <a:pt x="2" y="2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4" name="Connector 53"/>
          <p:cNvCxnSpPr/>
          <p:nvPr/>
        </p:nvCxnSpPr>
        <p:spPr>
          <a:xfrm flipV="1">
            <a:off x="871727" y="2338364"/>
            <a:ext cx="0" cy="85373"/>
          </a:xfrm>
          <a:prstGeom prst="line">
            <a:avLst/>
          </a:prstGeom>
          <a:ln w="812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Freeform 54"/>
          <p:cNvSpPr/>
          <p:nvPr/>
        </p:nvSpPr>
        <p:spPr>
          <a:xfrm>
            <a:off x="850900" y="23114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2" y="0"/>
                </a:moveTo>
                <a:lnTo>
                  <a:pt x="0" y="3"/>
                </a:lnTo>
                <a:lnTo>
                  <a:pt x="2" y="2"/>
                </a:lnTo>
                <a:lnTo>
                  <a:pt x="3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" name="Connector 55"/>
          <p:cNvCxnSpPr/>
          <p:nvPr/>
        </p:nvCxnSpPr>
        <p:spPr>
          <a:xfrm>
            <a:off x="1135997" y="1159781"/>
            <a:ext cx="0" cy="350670"/>
          </a:xfrm>
          <a:prstGeom prst="line">
            <a:avLst/>
          </a:prstGeom>
          <a:ln w="812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Freeform 56"/>
          <p:cNvSpPr/>
          <p:nvPr/>
        </p:nvSpPr>
        <p:spPr>
          <a:xfrm>
            <a:off x="1117600" y="14986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3"/>
                </a:moveTo>
                <a:lnTo>
                  <a:pt x="3" y="0"/>
                </a:lnTo>
                <a:lnTo>
                  <a:pt x="1" y="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" name="Connector 57"/>
          <p:cNvCxnSpPr/>
          <p:nvPr/>
        </p:nvCxnSpPr>
        <p:spPr>
          <a:xfrm>
            <a:off x="1135997" y="1781423"/>
            <a:ext cx="0" cy="493630"/>
          </a:xfrm>
          <a:prstGeom prst="line">
            <a:avLst/>
          </a:prstGeom>
          <a:ln w="8121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Freeform 58"/>
          <p:cNvSpPr/>
          <p:nvPr/>
        </p:nvSpPr>
        <p:spPr>
          <a:xfrm>
            <a:off x="1117600" y="22606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3"/>
                </a:moveTo>
                <a:lnTo>
                  <a:pt x="3" y="0"/>
                </a:lnTo>
                <a:lnTo>
                  <a:pt x="1" y="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0" name="Connector 59"/>
          <p:cNvCxnSpPr/>
          <p:nvPr/>
        </p:nvCxnSpPr>
        <p:spPr>
          <a:xfrm>
            <a:off x="871727" y="2423737"/>
            <a:ext cx="115586" cy="0"/>
          </a:xfrm>
          <a:prstGeom prst="line">
            <a:avLst/>
          </a:prstGeom>
          <a:ln w="8121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Freeform 60"/>
          <p:cNvSpPr/>
          <p:nvPr/>
        </p:nvSpPr>
        <p:spPr>
          <a:xfrm>
            <a:off x="965200" y="24003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4" y="2"/>
                </a:moveTo>
                <a:lnTo>
                  <a:pt x="0" y="0"/>
                </a:lnTo>
                <a:lnTo>
                  <a:pt x="2" y="2"/>
                </a:lnTo>
                <a:lnTo>
                  <a:pt x="0" y="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2" name="Connector 61"/>
          <p:cNvCxnSpPr/>
          <p:nvPr/>
        </p:nvCxnSpPr>
        <p:spPr>
          <a:xfrm>
            <a:off x="1258285" y="2423737"/>
            <a:ext cx="1027234" cy="0"/>
          </a:xfrm>
          <a:prstGeom prst="line">
            <a:avLst/>
          </a:prstGeom>
          <a:ln w="8121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2285519" y="2130711"/>
            <a:ext cx="0" cy="293026"/>
          </a:xfrm>
          <a:prstGeom prst="line">
            <a:avLst/>
          </a:prstGeom>
          <a:ln w="8121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Freeform 63"/>
          <p:cNvSpPr/>
          <p:nvPr/>
        </p:nvSpPr>
        <p:spPr>
          <a:xfrm>
            <a:off x="2260600" y="21082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2" y="0"/>
                </a:moveTo>
                <a:lnTo>
                  <a:pt x="0" y="3"/>
                </a:lnTo>
                <a:lnTo>
                  <a:pt x="2" y="2"/>
                </a:lnTo>
                <a:lnTo>
                  <a:pt x="4" y="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" name="Connector 64"/>
          <p:cNvCxnSpPr/>
          <p:nvPr/>
        </p:nvCxnSpPr>
        <p:spPr>
          <a:xfrm flipV="1">
            <a:off x="2285519" y="1807818"/>
            <a:ext cx="0" cy="30305"/>
          </a:xfrm>
          <a:prstGeom prst="line">
            <a:avLst/>
          </a:prstGeom>
          <a:ln w="8121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Freeform 65"/>
          <p:cNvSpPr/>
          <p:nvPr/>
        </p:nvSpPr>
        <p:spPr>
          <a:xfrm>
            <a:off x="2260600" y="17780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2" y="0"/>
                </a:moveTo>
                <a:lnTo>
                  <a:pt x="0" y="4"/>
                </a:lnTo>
                <a:lnTo>
                  <a:pt x="2" y="2"/>
                </a:lnTo>
                <a:lnTo>
                  <a:pt x="4" y="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7" name="Connector 66"/>
          <p:cNvCxnSpPr/>
          <p:nvPr/>
        </p:nvCxnSpPr>
        <p:spPr>
          <a:xfrm>
            <a:off x="1807167" y="1659135"/>
            <a:ext cx="329668" cy="0"/>
          </a:xfrm>
          <a:prstGeom prst="line">
            <a:avLst/>
          </a:prstGeom>
          <a:ln w="8121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Freeform 67"/>
          <p:cNvSpPr/>
          <p:nvPr/>
        </p:nvSpPr>
        <p:spPr>
          <a:xfrm>
            <a:off x="2120900" y="16383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2"/>
                </a:moveTo>
                <a:lnTo>
                  <a:pt x="0" y="0"/>
                </a:lnTo>
                <a:lnTo>
                  <a:pt x="1" y="2"/>
                </a:lnTo>
                <a:lnTo>
                  <a:pt x="0" y="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9" name="Connector 68"/>
          <p:cNvCxnSpPr/>
          <p:nvPr/>
        </p:nvCxnSpPr>
        <p:spPr>
          <a:xfrm flipV="1">
            <a:off x="2285519" y="1308465"/>
            <a:ext cx="0" cy="228382"/>
          </a:xfrm>
          <a:prstGeom prst="line">
            <a:avLst/>
          </a:prstGeom>
          <a:ln w="8121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Freeform 69"/>
          <p:cNvSpPr/>
          <p:nvPr/>
        </p:nvSpPr>
        <p:spPr>
          <a:xfrm>
            <a:off x="2260600" y="12827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2" y="0"/>
                </a:moveTo>
                <a:lnTo>
                  <a:pt x="0" y="3"/>
                </a:lnTo>
                <a:lnTo>
                  <a:pt x="2" y="2"/>
                </a:lnTo>
                <a:lnTo>
                  <a:pt x="4" y="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1" name="Connector 70"/>
          <p:cNvCxnSpPr/>
          <p:nvPr/>
        </p:nvCxnSpPr>
        <p:spPr>
          <a:xfrm>
            <a:off x="994015" y="2189680"/>
            <a:ext cx="412215" cy="0"/>
          </a:xfrm>
          <a:prstGeom prst="line">
            <a:avLst/>
          </a:prstGeom>
          <a:ln w="30457">
            <a:solidFill>
              <a:srgbClr val="93D4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994015" y="2189680"/>
            <a:ext cx="412215" cy="0"/>
          </a:xfrm>
          <a:prstGeom prst="line">
            <a:avLst/>
          </a:prstGeom>
          <a:ln w="812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1406230" y="2189680"/>
            <a:ext cx="400937" cy="0"/>
          </a:xfrm>
          <a:prstGeom prst="line">
            <a:avLst/>
          </a:prstGeom>
          <a:ln w="8121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1406230" y="2116043"/>
            <a:ext cx="0" cy="73637"/>
          </a:xfrm>
          <a:prstGeom prst="line">
            <a:avLst/>
          </a:prstGeom>
          <a:ln w="812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Freeform 74"/>
          <p:cNvSpPr/>
          <p:nvPr/>
        </p:nvSpPr>
        <p:spPr>
          <a:xfrm>
            <a:off x="1384300" y="20955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2" y="0"/>
                </a:moveTo>
                <a:lnTo>
                  <a:pt x="0" y="3"/>
                </a:lnTo>
                <a:lnTo>
                  <a:pt x="2" y="2"/>
                </a:lnTo>
                <a:lnTo>
                  <a:pt x="3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6" name="Connector 75"/>
          <p:cNvCxnSpPr/>
          <p:nvPr/>
        </p:nvCxnSpPr>
        <p:spPr>
          <a:xfrm flipV="1">
            <a:off x="1807167" y="2116043"/>
            <a:ext cx="0" cy="73637"/>
          </a:xfrm>
          <a:prstGeom prst="line">
            <a:avLst/>
          </a:prstGeom>
          <a:ln w="8121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Freeform 76"/>
          <p:cNvSpPr/>
          <p:nvPr/>
        </p:nvSpPr>
        <p:spPr>
          <a:xfrm>
            <a:off x="1790700" y="20955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0"/>
                </a:moveTo>
                <a:lnTo>
                  <a:pt x="0" y="3"/>
                </a:lnTo>
                <a:lnTo>
                  <a:pt x="1" y="2"/>
                </a:lnTo>
                <a:lnTo>
                  <a:pt x="3" y="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8" name="Connector 77"/>
          <p:cNvCxnSpPr/>
          <p:nvPr/>
        </p:nvCxnSpPr>
        <p:spPr>
          <a:xfrm flipV="1">
            <a:off x="1406230" y="1659135"/>
            <a:ext cx="0" cy="193656"/>
          </a:xfrm>
          <a:prstGeom prst="line">
            <a:avLst/>
          </a:prstGeom>
          <a:ln w="812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H="1">
            <a:off x="1284681" y="1659135"/>
            <a:ext cx="121549" cy="0"/>
          </a:xfrm>
          <a:prstGeom prst="line">
            <a:avLst/>
          </a:prstGeom>
          <a:ln w="812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Freeform 79"/>
          <p:cNvSpPr/>
          <p:nvPr/>
        </p:nvSpPr>
        <p:spPr>
          <a:xfrm>
            <a:off x="1257300" y="16383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0" y="2"/>
                </a:moveTo>
                <a:lnTo>
                  <a:pt x="3" y="3"/>
                </a:lnTo>
                <a:lnTo>
                  <a:pt x="2" y="2"/>
                </a:lnTo>
                <a:lnTo>
                  <a:pt x="3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1" name="Connector 80"/>
          <p:cNvCxnSpPr/>
          <p:nvPr/>
        </p:nvCxnSpPr>
        <p:spPr>
          <a:xfrm flipV="1">
            <a:off x="1807167" y="1616815"/>
            <a:ext cx="0" cy="235976"/>
          </a:xfrm>
          <a:prstGeom prst="line">
            <a:avLst/>
          </a:prstGeom>
          <a:ln w="8121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Freeform 81"/>
          <p:cNvSpPr/>
          <p:nvPr/>
        </p:nvSpPr>
        <p:spPr>
          <a:xfrm>
            <a:off x="1790700" y="15875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1" y="0"/>
                </a:moveTo>
                <a:lnTo>
                  <a:pt x="0" y="4"/>
                </a:lnTo>
                <a:lnTo>
                  <a:pt x="1" y="2"/>
                </a:lnTo>
                <a:lnTo>
                  <a:pt x="3" y="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3" name="Connector 82"/>
          <p:cNvCxnSpPr/>
          <p:nvPr/>
        </p:nvCxnSpPr>
        <p:spPr>
          <a:xfrm flipV="1">
            <a:off x="1807167" y="1308465"/>
            <a:ext cx="0" cy="37379"/>
          </a:xfrm>
          <a:prstGeom prst="line">
            <a:avLst/>
          </a:prstGeom>
          <a:ln w="8121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Freeform 83"/>
          <p:cNvSpPr/>
          <p:nvPr/>
        </p:nvSpPr>
        <p:spPr>
          <a:xfrm>
            <a:off x="1790700" y="12827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0"/>
                </a:moveTo>
                <a:lnTo>
                  <a:pt x="0" y="3"/>
                </a:lnTo>
                <a:lnTo>
                  <a:pt x="1" y="2"/>
                </a:lnTo>
                <a:lnTo>
                  <a:pt x="3" y="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5" name="Connector 84"/>
          <p:cNvCxnSpPr/>
          <p:nvPr/>
        </p:nvCxnSpPr>
        <p:spPr>
          <a:xfrm>
            <a:off x="1135997" y="1159781"/>
            <a:ext cx="522487" cy="0"/>
          </a:xfrm>
          <a:prstGeom prst="line">
            <a:avLst/>
          </a:prstGeom>
          <a:ln w="8121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Freeform 85"/>
          <p:cNvSpPr/>
          <p:nvPr/>
        </p:nvSpPr>
        <p:spPr>
          <a:xfrm>
            <a:off x="1638300" y="11430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4" y="1"/>
                </a:moveTo>
                <a:lnTo>
                  <a:pt x="0" y="0"/>
                </a:lnTo>
                <a:lnTo>
                  <a:pt x="2" y="1"/>
                </a:lnTo>
                <a:lnTo>
                  <a:pt x="0" y="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7" name="Connector 86"/>
          <p:cNvCxnSpPr/>
          <p:nvPr/>
        </p:nvCxnSpPr>
        <p:spPr>
          <a:xfrm>
            <a:off x="1929455" y="1159781"/>
            <a:ext cx="207380" cy="0"/>
          </a:xfrm>
          <a:prstGeom prst="line">
            <a:avLst/>
          </a:prstGeom>
          <a:ln w="8121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Freeform 87"/>
          <p:cNvSpPr/>
          <p:nvPr/>
        </p:nvSpPr>
        <p:spPr>
          <a:xfrm>
            <a:off x="2120900" y="11430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1"/>
                </a:moveTo>
                <a:lnTo>
                  <a:pt x="0" y="0"/>
                </a:lnTo>
                <a:lnTo>
                  <a:pt x="1" y="1"/>
                </a:lnTo>
                <a:lnTo>
                  <a:pt x="0" y="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9" name="Connector 88"/>
          <p:cNvCxnSpPr/>
          <p:nvPr/>
        </p:nvCxnSpPr>
        <p:spPr>
          <a:xfrm>
            <a:off x="2407807" y="1159781"/>
            <a:ext cx="653453" cy="0"/>
          </a:xfrm>
          <a:prstGeom prst="line">
            <a:avLst/>
          </a:prstGeom>
          <a:ln w="8121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Freeform 89"/>
          <p:cNvSpPr/>
          <p:nvPr/>
        </p:nvSpPr>
        <p:spPr>
          <a:xfrm>
            <a:off x="3048000" y="11430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1"/>
                </a:moveTo>
                <a:lnTo>
                  <a:pt x="0" y="0"/>
                </a:lnTo>
                <a:lnTo>
                  <a:pt x="1" y="1"/>
                </a:lnTo>
                <a:lnTo>
                  <a:pt x="0" y="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-2" y="3146742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2880001" y="3146742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3" name="Picture 9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94" name="Picture 9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95" name="TextBox 94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Gaterd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Recurrent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Units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(GRU)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8000" y="359888"/>
            <a:ext cx="5677395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1">
                <a:solidFill>
                  <a:srgbClr val="003373"/>
                </a:solidFill>
                <a:latin typeface="Josefin Sans"/>
              </a:rPr>
              <a:t>Architecture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277057" y="1098945"/>
            <a:ext cx="5508338" cy="17231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75" b="0">
                <a:solidFill>
                  <a:srgbClr val="000000"/>
                </a:solidFill>
                <a:latin typeface="Cambria Math"/>
              </a:rPr>
              <a:t>h</a:t>
            </a:r>
            <a:r>
              <a:rPr sz="639" b="0">
                <a:solidFill>
                  <a:srgbClr val="000000"/>
                </a:solidFill>
                <a:latin typeface="Cambria Math"/>
              </a:rPr>
              <a:t>t</a:t>
            </a:r>
            <a:r>
              <a:rPr sz="639" b="0">
                <a:solidFill>
                  <a:srgbClr val="000000"/>
                </a:solidFill>
                <a:latin typeface="Cambria Math"/>
              </a:rPr>
              <a:t>−</a:t>
            </a:r>
            <a:r>
              <a:rPr sz="639" b="0">
                <a:solidFill>
                  <a:srgbClr val="000000"/>
                </a:solidFill>
                <a:latin typeface="Cambria Math"/>
              </a:rPr>
              <a:t>1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21850" y="2691014"/>
            <a:ext cx="4963545" cy="17231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75" b="0">
                <a:solidFill>
                  <a:srgbClr val="000000"/>
                </a:solidFill>
                <a:latin typeface="Cambria Math"/>
              </a:rPr>
              <a:t>x</a:t>
            </a:r>
            <a:r>
              <a:rPr sz="639" b="0">
                <a:solidFill>
                  <a:srgbClr val="000000"/>
                </a:solidFill>
                <a:latin typeface="Cambria Math"/>
              </a:rPr>
              <a:t>t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2809391" y="765553"/>
            <a:ext cx="2976004" cy="17231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75" b="0">
                <a:solidFill>
                  <a:srgbClr val="FFFFFF"/>
                </a:solidFill>
                <a:latin typeface="Cambria Math"/>
              </a:rPr>
              <a:t>h</a:t>
            </a:r>
            <a:r>
              <a:rPr sz="639" b="0">
                <a:solidFill>
                  <a:srgbClr val="FFFFFF"/>
                </a:solidFill>
                <a:latin typeface="Cambria Math"/>
              </a:rPr>
              <a:t>t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3126723" y="1103174"/>
            <a:ext cx="2658672" cy="17231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75" b="0">
                <a:solidFill>
                  <a:srgbClr val="FFFFFF"/>
                </a:solidFill>
                <a:latin typeface="Cambria Math"/>
              </a:rPr>
              <a:t>h</a:t>
            </a:r>
            <a:r>
              <a:rPr sz="639" b="0">
                <a:solidFill>
                  <a:srgbClr val="FFFFFF"/>
                </a:solidFill>
                <a:latin typeface="Cambria Math"/>
              </a:rPr>
              <a:t>t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773406" y="1908273"/>
            <a:ext cx="4011989" cy="17231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75" b="0">
                <a:solidFill>
                  <a:srgbClr val="FFFFFF"/>
                </a:solidFill>
                <a:latin typeface="Cambria Math"/>
              </a:rPr>
              <a:t>σ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372482" y="1908273"/>
            <a:ext cx="4412913" cy="17231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75" b="0">
                <a:solidFill>
                  <a:srgbClr val="000000"/>
                </a:solidFill>
                <a:latin typeface="Cambria Math"/>
              </a:rPr>
              <a:t>σ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2174341" y="1922937"/>
            <a:ext cx="3611054" cy="17231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75" b="0">
                <a:solidFill>
                  <a:srgbClr val="FFFFFF"/>
                </a:solidFill>
                <a:latin typeface="Cambria Math"/>
              </a:rPr>
              <a:t>tanh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828504" y="2116033"/>
            <a:ext cx="4956891" cy="17231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75" b="0">
                <a:solidFill>
                  <a:srgbClr val="FFFFFF"/>
                </a:solidFill>
                <a:latin typeface="MSAM10"/>
              </a:rPr>
              <a:t>⊞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092774" y="2350088"/>
            <a:ext cx="4692621" cy="17231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75" b="0">
                <a:solidFill>
                  <a:srgbClr val="FFFFFF"/>
                </a:solidFill>
                <a:latin typeface="MSAM10"/>
              </a:rPr>
              <a:t>⊞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092774" y="1598611"/>
            <a:ext cx="4692621" cy="17231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75" b="0">
                <a:solidFill>
                  <a:srgbClr val="FFFFFF"/>
                </a:solidFill>
                <a:latin typeface="Cambria Math"/>
              </a:rPr>
              <a:t>×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2242281" y="1598611"/>
            <a:ext cx="3543114" cy="17231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75" b="0">
                <a:solidFill>
                  <a:srgbClr val="FFFFFF"/>
                </a:solidFill>
                <a:latin typeface="Cambria Math"/>
              </a:rPr>
              <a:t>×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2242281" y="1100708"/>
            <a:ext cx="3543114" cy="17231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75" b="0">
                <a:solidFill>
                  <a:srgbClr val="FFFFFF"/>
                </a:solidFill>
                <a:latin typeface="Cambria Math"/>
              </a:rPr>
              <a:t>+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763929" y="1099267"/>
            <a:ext cx="4021466" cy="17231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75" b="0">
                <a:solidFill>
                  <a:srgbClr val="FFFFFF"/>
                </a:solidFill>
                <a:latin typeface="Cambria Math"/>
              </a:rPr>
              <a:t>×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736140" y="1411004"/>
            <a:ext cx="4049255" cy="17231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75" b="0">
                <a:solidFill>
                  <a:srgbClr val="FFFFFF"/>
                </a:solidFill>
                <a:latin typeface="Cambria Math"/>
              </a:rPr>
              <a:t>1</a:t>
            </a:r>
            <a:r>
              <a:rPr sz="875" b="0">
                <a:solidFill>
                  <a:srgbClr val="FFFFFF"/>
                </a:solidFill>
                <a:latin typeface="Cambria Math"/>
              </a:rPr>
              <a:t>−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3504029" y="1037788"/>
            <a:ext cx="2281366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1">
                <a:solidFill>
                  <a:srgbClr val="000000"/>
                </a:solidFill>
                <a:latin typeface="Josefin Sans"/>
              </a:rPr>
              <a:t>Reset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Gate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3504029" y="1209451"/>
            <a:ext cx="2281366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Determines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how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much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of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3504029" y="1381523"/>
            <a:ext cx="2281366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previous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hidden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state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forget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3504029" y="1553595"/>
            <a:ext cx="2281366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before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combining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with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new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3504029" y="1725680"/>
            <a:ext cx="2281366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input.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3707979" y="2037458"/>
            <a:ext cx="2077416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Cambria Math"/>
              </a:rPr>
              <a:t>r</a:t>
            </a:r>
            <a:r>
              <a:rPr sz="797" b="0">
                <a:solidFill>
                  <a:srgbClr val="000000"/>
                </a:solidFill>
                <a:latin typeface="Cambria Math"/>
              </a:rPr>
              <a:t>t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=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σ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(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W</a:t>
            </a:r>
            <a:r>
              <a:rPr sz="797" b="0">
                <a:solidFill>
                  <a:srgbClr val="000000"/>
                </a:solidFill>
                <a:latin typeface="Cambria Math"/>
              </a:rPr>
              <a:t>r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·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[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h</a:t>
            </a:r>
            <a:r>
              <a:rPr sz="797" b="0">
                <a:solidFill>
                  <a:srgbClr val="000000"/>
                </a:solidFill>
                <a:latin typeface="Cambria Math"/>
              </a:rPr>
              <a:t>t</a:t>
            </a:r>
            <a:r>
              <a:rPr sz="797" b="0">
                <a:solidFill>
                  <a:srgbClr val="000000"/>
                </a:solidFill>
                <a:latin typeface="Cambria Math"/>
              </a:rPr>
              <a:t>−</a:t>
            </a:r>
            <a:r>
              <a:rPr sz="797" b="0">
                <a:solidFill>
                  <a:srgbClr val="000000"/>
                </a:solidFill>
                <a:latin typeface="Cambria Math"/>
              </a:rPr>
              <a:t>1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, x</a:t>
            </a:r>
            <a:r>
              <a:rPr sz="797" b="0">
                <a:solidFill>
                  <a:srgbClr val="000000"/>
                </a:solidFill>
                <a:latin typeface="Cambria Math"/>
              </a:rPr>
              <a:t>t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] +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b</a:t>
            </a:r>
            <a:r>
              <a:rPr sz="797" b="0">
                <a:solidFill>
                  <a:srgbClr val="000000"/>
                </a:solidFill>
                <a:latin typeface="Cambria Math"/>
              </a:rPr>
              <a:t>r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)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898159" y="3150918"/>
            <a:ext cx="887236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5638531" y="3150694"/>
            <a:ext cx="146865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16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Freeform 35"/>
          <p:cNvSpPr/>
          <p:nvPr/>
        </p:nvSpPr>
        <p:spPr>
          <a:xfrm>
            <a:off x="635000" y="1016000"/>
            <a:ext cx="2336800" cy="1562100"/>
          </a:xfrm>
          <a:custGeom>
            <a:avLst/>
            <a:gdLst/>
            <a:ahLst/>
            <a:cxnLst/>
            <a:rect l="l" t="t" r="r" b="b"/>
            <a:pathLst>
              <a:path w="184" h="123">
                <a:moveTo>
                  <a:pt x="181" y="0"/>
                </a:moveTo>
                <a:lnTo>
                  <a:pt x="4" y="0"/>
                </a:lnTo>
                <a:lnTo>
                  <a:pt x="3" y="0"/>
                </a:lnTo>
                <a:lnTo>
                  <a:pt x="2" y="1"/>
                </a:lnTo>
                <a:lnTo>
                  <a:pt x="2" y="1"/>
                </a:lnTo>
                <a:lnTo>
                  <a:pt x="1" y="1"/>
                </a:lnTo>
                <a:lnTo>
                  <a:pt x="1" y="2"/>
                </a:lnTo>
                <a:lnTo>
                  <a:pt x="1" y="2"/>
                </a:lnTo>
                <a:lnTo>
                  <a:pt x="0" y="3"/>
                </a:lnTo>
                <a:lnTo>
                  <a:pt x="0" y="4"/>
                </a:lnTo>
                <a:lnTo>
                  <a:pt x="0" y="120"/>
                </a:lnTo>
                <a:lnTo>
                  <a:pt x="0" y="120"/>
                </a:lnTo>
                <a:lnTo>
                  <a:pt x="1" y="121"/>
                </a:lnTo>
                <a:lnTo>
                  <a:pt x="1" y="122"/>
                </a:lnTo>
                <a:lnTo>
                  <a:pt x="1" y="122"/>
                </a:lnTo>
                <a:lnTo>
                  <a:pt x="2" y="122"/>
                </a:lnTo>
                <a:lnTo>
                  <a:pt x="2" y="123"/>
                </a:lnTo>
                <a:lnTo>
                  <a:pt x="3" y="123"/>
                </a:lnTo>
                <a:lnTo>
                  <a:pt x="4" y="123"/>
                </a:lnTo>
                <a:lnTo>
                  <a:pt x="181" y="123"/>
                </a:lnTo>
                <a:lnTo>
                  <a:pt x="182" y="123"/>
                </a:lnTo>
                <a:lnTo>
                  <a:pt x="182" y="123"/>
                </a:lnTo>
                <a:lnTo>
                  <a:pt x="183" y="122"/>
                </a:lnTo>
                <a:lnTo>
                  <a:pt x="183" y="122"/>
                </a:lnTo>
                <a:lnTo>
                  <a:pt x="184" y="122"/>
                </a:lnTo>
                <a:lnTo>
                  <a:pt x="184" y="121"/>
                </a:lnTo>
                <a:lnTo>
                  <a:pt x="184" y="120"/>
                </a:lnTo>
                <a:lnTo>
                  <a:pt x="184" y="120"/>
                </a:lnTo>
                <a:lnTo>
                  <a:pt x="184" y="4"/>
                </a:lnTo>
                <a:lnTo>
                  <a:pt x="184" y="3"/>
                </a:lnTo>
                <a:lnTo>
                  <a:pt x="184" y="2"/>
                </a:lnTo>
                <a:lnTo>
                  <a:pt x="184" y="2"/>
                </a:lnTo>
                <a:lnTo>
                  <a:pt x="183" y="1"/>
                </a:lnTo>
                <a:lnTo>
                  <a:pt x="183" y="1"/>
                </a:lnTo>
                <a:lnTo>
                  <a:pt x="182" y="1"/>
                </a:lnTo>
                <a:lnTo>
                  <a:pt x="182" y="0"/>
                </a:lnTo>
                <a:lnTo>
                  <a:pt x="181" y="0"/>
                </a:lnTo>
                <a:close/>
              </a:path>
            </a:pathLst>
          </a:custGeom>
          <a:solidFill>
            <a:srgbClr val="93D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Freeform 36"/>
          <p:cNvSpPr/>
          <p:nvPr/>
        </p:nvSpPr>
        <p:spPr>
          <a:xfrm>
            <a:off x="1689100" y="1866900"/>
            <a:ext cx="241300" cy="215900"/>
          </a:xfrm>
          <a:custGeom>
            <a:avLst/>
            <a:gdLst/>
            <a:ahLst/>
            <a:cxnLst/>
            <a:rect l="l" t="t" r="r" b="b"/>
            <a:pathLst>
              <a:path w="19" h="17">
                <a:moveTo>
                  <a:pt x="15" y="0"/>
                </a:moveTo>
                <a:lnTo>
                  <a:pt x="3" y="0"/>
                </a:lnTo>
                <a:lnTo>
                  <a:pt x="3" y="0"/>
                </a:lnTo>
                <a:lnTo>
                  <a:pt x="2" y="0"/>
                </a:lnTo>
                <a:lnTo>
                  <a:pt x="1" y="0"/>
                </a:lnTo>
                <a:lnTo>
                  <a:pt x="1" y="1"/>
                </a:lnTo>
                <a:lnTo>
                  <a:pt x="1" y="1"/>
                </a:lnTo>
                <a:lnTo>
                  <a:pt x="0" y="2"/>
                </a:lnTo>
                <a:lnTo>
                  <a:pt x="0" y="2"/>
                </a:lnTo>
                <a:lnTo>
                  <a:pt x="0" y="3"/>
                </a:lnTo>
                <a:lnTo>
                  <a:pt x="0" y="13"/>
                </a:lnTo>
                <a:lnTo>
                  <a:pt x="0" y="14"/>
                </a:lnTo>
                <a:lnTo>
                  <a:pt x="0" y="15"/>
                </a:lnTo>
                <a:lnTo>
                  <a:pt x="1" y="15"/>
                </a:lnTo>
                <a:lnTo>
                  <a:pt x="1" y="16"/>
                </a:lnTo>
                <a:lnTo>
                  <a:pt x="1" y="16"/>
                </a:lnTo>
                <a:lnTo>
                  <a:pt x="2" y="16"/>
                </a:lnTo>
                <a:lnTo>
                  <a:pt x="3" y="17"/>
                </a:lnTo>
                <a:lnTo>
                  <a:pt x="3" y="17"/>
                </a:lnTo>
                <a:lnTo>
                  <a:pt x="15" y="17"/>
                </a:lnTo>
                <a:lnTo>
                  <a:pt x="16" y="17"/>
                </a:lnTo>
                <a:lnTo>
                  <a:pt x="17" y="16"/>
                </a:lnTo>
                <a:lnTo>
                  <a:pt x="17" y="16"/>
                </a:lnTo>
                <a:lnTo>
                  <a:pt x="18" y="16"/>
                </a:lnTo>
                <a:lnTo>
                  <a:pt x="18" y="15"/>
                </a:lnTo>
                <a:lnTo>
                  <a:pt x="18" y="15"/>
                </a:lnTo>
                <a:lnTo>
                  <a:pt x="18" y="14"/>
                </a:lnTo>
                <a:lnTo>
                  <a:pt x="19" y="13"/>
                </a:lnTo>
                <a:lnTo>
                  <a:pt x="19" y="3"/>
                </a:lnTo>
                <a:lnTo>
                  <a:pt x="18" y="2"/>
                </a:lnTo>
                <a:lnTo>
                  <a:pt x="18" y="2"/>
                </a:lnTo>
                <a:lnTo>
                  <a:pt x="18" y="1"/>
                </a:lnTo>
                <a:lnTo>
                  <a:pt x="18" y="1"/>
                </a:lnTo>
                <a:lnTo>
                  <a:pt x="17" y="0"/>
                </a:lnTo>
                <a:lnTo>
                  <a:pt x="17" y="0"/>
                </a:lnTo>
                <a:lnTo>
                  <a:pt x="16" y="0"/>
                </a:lnTo>
                <a:lnTo>
                  <a:pt x="15" y="0"/>
                </a:lnTo>
                <a:close/>
              </a:path>
            </a:pathLst>
          </a:custGeom>
          <a:solidFill>
            <a:srgbClr val="F79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Freeform 37"/>
          <p:cNvSpPr/>
          <p:nvPr/>
        </p:nvSpPr>
        <p:spPr>
          <a:xfrm>
            <a:off x="1295400" y="1866900"/>
            <a:ext cx="228600" cy="215900"/>
          </a:xfrm>
          <a:custGeom>
            <a:avLst/>
            <a:gdLst/>
            <a:ahLst/>
            <a:cxnLst/>
            <a:rect l="l" t="t" r="r" b="b"/>
            <a:pathLst>
              <a:path w="18" h="17">
                <a:moveTo>
                  <a:pt x="15" y="0"/>
                </a:moveTo>
                <a:lnTo>
                  <a:pt x="3" y="0"/>
                </a:lnTo>
                <a:lnTo>
                  <a:pt x="2" y="0"/>
                </a:lnTo>
                <a:lnTo>
                  <a:pt x="1" y="0"/>
                </a:lnTo>
                <a:lnTo>
                  <a:pt x="1" y="0"/>
                </a:lnTo>
                <a:lnTo>
                  <a:pt x="0" y="1"/>
                </a:lnTo>
                <a:lnTo>
                  <a:pt x="0" y="1"/>
                </a:lnTo>
                <a:lnTo>
                  <a:pt x="0" y="2"/>
                </a:lnTo>
                <a:lnTo>
                  <a:pt x="0" y="2"/>
                </a:lnTo>
                <a:lnTo>
                  <a:pt x="0" y="3"/>
                </a:lnTo>
                <a:lnTo>
                  <a:pt x="0" y="13"/>
                </a:lnTo>
                <a:lnTo>
                  <a:pt x="0" y="14"/>
                </a:lnTo>
                <a:lnTo>
                  <a:pt x="0" y="15"/>
                </a:lnTo>
                <a:lnTo>
                  <a:pt x="0" y="15"/>
                </a:lnTo>
                <a:lnTo>
                  <a:pt x="0" y="16"/>
                </a:lnTo>
                <a:lnTo>
                  <a:pt x="1" y="16"/>
                </a:lnTo>
                <a:lnTo>
                  <a:pt x="1" y="16"/>
                </a:lnTo>
                <a:lnTo>
                  <a:pt x="2" y="17"/>
                </a:lnTo>
                <a:lnTo>
                  <a:pt x="3" y="17"/>
                </a:lnTo>
                <a:lnTo>
                  <a:pt x="15" y="17"/>
                </a:lnTo>
                <a:lnTo>
                  <a:pt x="15" y="17"/>
                </a:lnTo>
                <a:lnTo>
                  <a:pt x="16" y="16"/>
                </a:lnTo>
                <a:lnTo>
                  <a:pt x="17" y="16"/>
                </a:lnTo>
                <a:lnTo>
                  <a:pt x="17" y="16"/>
                </a:lnTo>
                <a:lnTo>
                  <a:pt x="17" y="15"/>
                </a:lnTo>
                <a:lnTo>
                  <a:pt x="18" y="15"/>
                </a:lnTo>
                <a:lnTo>
                  <a:pt x="18" y="14"/>
                </a:lnTo>
                <a:lnTo>
                  <a:pt x="18" y="13"/>
                </a:lnTo>
                <a:lnTo>
                  <a:pt x="18" y="3"/>
                </a:lnTo>
                <a:lnTo>
                  <a:pt x="18" y="2"/>
                </a:lnTo>
                <a:lnTo>
                  <a:pt x="18" y="2"/>
                </a:lnTo>
                <a:lnTo>
                  <a:pt x="17" y="1"/>
                </a:lnTo>
                <a:lnTo>
                  <a:pt x="17" y="1"/>
                </a:lnTo>
                <a:lnTo>
                  <a:pt x="17" y="0"/>
                </a:lnTo>
                <a:lnTo>
                  <a:pt x="16" y="0"/>
                </a:lnTo>
                <a:lnTo>
                  <a:pt x="15" y="0"/>
                </a:lnTo>
                <a:lnTo>
                  <a:pt x="15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Freeform 38"/>
          <p:cNvSpPr/>
          <p:nvPr/>
        </p:nvSpPr>
        <p:spPr>
          <a:xfrm>
            <a:off x="2095500" y="1854200"/>
            <a:ext cx="381000" cy="241300"/>
          </a:xfrm>
          <a:custGeom>
            <a:avLst/>
            <a:gdLst/>
            <a:ahLst/>
            <a:cxnLst/>
            <a:rect l="l" t="t" r="r" b="b"/>
            <a:pathLst>
              <a:path w="30" h="19">
                <a:moveTo>
                  <a:pt x="27" y="0"/>
                </a:moveTo>
                <a:lnTo>
                  <a:pt x="3" y="0"/>
                </a:lnTo>
                <a:lnTo>
                  <a:pt x="2" y="0"/>
                </a:lnTo>
                <a:lnTo>
                  <a:pt x="2" y="0"/>
                </a:lnTo>
                <a:lnTo>
                  <a:pt x="1" y="0"/>
                </a:lnTo>
                <a:lnTo>
                  <a:pt x="1" y="1"/>
                </a:lnTo>
                <a:lnTo>
                  <a:pt x="0" y="1"/>
                </a:lnTo>
                <a:lnTo>
                  <a:pt x="0" y="2"/>
                </a:lnTo>
                <a:lnTo>
                  <a:pt x="0" y="2"/>
                </a:lnTo>
                <a:lnTo>
                  <a:pt x="0" y="3"/>
                </a:lnTo>
                <a:lnTo>
                  <a:pt x="0" y="16"/>
                </a:lnTo>
                <a:lnTo>
                  <a:pt x="0" y="16"/>
                </a:lnTo>
                <a:lnTo>
                  <a:pt x="0" y="17"/>
                </a:lnTo>
                <a:lnTo>
                  <a:pt x="0" y="17"/>
                </a:lnTo>
                <a:lnTo>
                  <a:pt x="1" y="18"/>
                </a:lnTo>
                <a:lnTo>
                  <a:pt x="1" y="18"/>
                </a:lnTo>
                <a:lnTo>
                  <a:pt x="2" y="19"/>
                </a:lnTo>
                <a:lnTo>
                  <a:pt x="2" y="19"/>
                </a:lnTo>
                <a:lnTo>
                  <a:pt x="3" y="19"/>
                </a:lnTo>
                <a:lnTo>
                  <a:pt x="27" y="19"/>
                </a:lnTo>
                <a:lnTo>
                  <a:pt x="28" y="19"/>
                </a:lnTo>
                <a:lnTo>
                  <a:pt x="28" y="19"/>
                </a:lnTo>
                <a:lnTo>
                  <a:pt x="29" y="18"/>
                </a:lnTo>
                <a:lnTo>
                  <a:pt x="29" y="18"/>
                </a:lnTo>
                <a:lnTo>
                  <a:pt x="30" y="17"/>
                </a:lnTo>
                <a:lnTo>
                  <a:pt x="30" y="17"/>
                </a:lnTo>
                <a:lnTo>
                  <a:pt x="30" y="16"/>
                </a:lnTo>
                <a:lnTo>
                  <a:pt x="30" y="16"/>
                </a:lnTo>
                <a:lnTo>
                  <a:pt x="30" y="3"/>
                </a:lnTo>
                <a:lnTo>
                  <a:pt x="30" y="2"/>
                </a:lnTo>
                <a:lnTo>
                  <a:pt x="30" y="2"/>
                </a:lnTo>
                <a:lnTo>
                  <a:pt x="30" y="1"/>
                </a:lnTo>
                <a:lnTo>
                  <a:pt x="29" y="1"/>
                </a:lnTo>
                <a:lnTo>
                  <a:pt x="29" y="0"/>
                </a:lnTo>
                <a:lnTo>
                  <a:pt x="28" y="0"/>
                </a:lnTo>
                <a:lnTo>
                  <a:pt x="28" y="0"/>
                </a:lnTo>
                <a:lnTo>
                  <a:pt x="27" y="0"/>
                </a:lnTo>
                <a:close/>
              </a:path>
            </a:pathLst>
          </a:custGeom>
          <a:solidFill>
            <a:srgbClr val="F79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Freeform 39"/>
          <p:cNvSpPr/>
          <p:nvPr/>
        </p:nvSpPr>
        <p:spPr>
          <a:xfrm>
            <a:off x="762000" y="2082800"/>
            <a:ext cx="215900" cy="215900"/>
          </a:xfrm>
          <a:custGeom>
            <a:avLst/>
            <a:gdLst/>
            <a:ahLst/>
            <a:cxnLst/>
            <a:rect l="l" t="t" r="r" b="b"/>
            <a:pathLst>
              <a:path w="17" h="17">
                <a:moveTo>
                  <a:pt x="17" y="8"/>
                </a:moveTo>
                <a:lnTo>
                  <a:pt x="17" y="7"/>
                </a:lnTo>
                <a:lnTo>
                  <a:pt x="17" y="5"/>
                </a:lnTo>
                <a:lnTo>
                  <a:pt x="16" y="4"/>
                </a:lnTo>
                <a:lnTo>
                  <a:pt x="15" y="2"/>
                </a:lnTo>
                <a:lnTo>
                  <a:pt x="14" y="1"/>
                </a:lnTo>
                <a:lnTo>
                  <a:pt x="12" y="0"/>
                </a:lnTo>
                <a:lnTo>
                  <a:pt x="10" y="0"/>
                </a:lnTo>
                <a:lnTo>
                  <a:pt x="9" y="0"/>
                </a:lnTo>
                <a:lnTo>
                  <a:pt x="7" y="0"/>
                </a:lnTo>
                <a:lnTo>
                  <a:pt x="5" y="0"/>
                </a:lnTo>
                <a:lnTo>
                  <a:pt x="4" y="1"/>
                </a:lnTo>
                <a:lnTo>
                  <a:pt x="2" y="2"/>
                </a:lnTo>
                <a:lnTo>
                  <a:pt x="1" y="4"/>
                </a:lnTo>
                <a:lnTo>
                  <a:pt x="1" y="5"/>
                </a:lnTo>
                <a:lnTo>
                  <a:pt x="0" y="7"/>
                </a:lnTo>
                <a:lnTo>
                  <a:pt x="0" y="8"/>
                </a:lnTo>
                <a:lnTo>
                  <a:pt x="0" y="10"/>
                </a:lnTo>
                <a:lnTo>
                  <a:pt x="1" y="12"/>
                </a:lnTo>
                <a:lnTo>
                  <a:pt x="1" y="13"/>
                </a:lnTo>
                <a:lnTo>
                  <a:pt x="2" y="15"/>
                </a:lnTo>
                <a:lnTo>
                  <a:pt x="4" y="16"/>
                </a:lnTo>
                <a:lnTo>
                  <a:pt x="5" y="16"/>
                </a:lnTo>
                <a:lnTo>
                  <a:pt x="7" y="17"/>
                </a:lnTo>
                <a:lnTo>
                  <a:pt x="9" y="17"/>
                </a:lnTo>
                <a:lnTo>
                  <a:pt x="10" y="17"/>
                </a:lnTo>
                <a:lnTo>
                  <a:pt x="12" y="16"/>
                </a:lnTo>
                <a:lnTo>
                  <a:pt x="14" y="16"/>
                </a:lnTo>
                <a:lnTo>
                  <a:pt x="15" y="15"/>
                </a:lnTo>
                <a:lnTo>
                  <a:pt x="16" y="13"/>
                </a:lnTo>
                <a:lnTo>
                  <a:pt x="17" y="12"/>
                </a:lnTo>
                <a:lnTo>
                  <a:pt x="17" y="10"/>
                </a:lnTo>
                <a:lnTo>
                  <a:pt x="17" y="8"/>
                </a:lnTo>
                <a:close/>
              </a:path>
            </a:pathLst>
          </a:cu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Freeform 40"/>
          <p:cNvSpPr/>
          <p:nvPr/>
        </p:nvSpPr>
        <p:spPr>
          <a:xfrm>
            <a:off x="1028700" y="2311400"/>
            <a:ext cx="215900" cy="228600"/>
          </a:xfrm>
          <a:custGeom>
            <a:avLst/>
            <a:gdLst/>
            <a:ahLst/>
            <a:cxnLst/>
            <a:rect l="l" t="t" r="r" b="b"/>
            <a:pathLst>
              <a:path w="17" h="18">
                <a:moveTo>
                  <a:pt x="17" y="9"/>
                </a:moveTo>
                <a:lnTo>
                  <a:pt x="17" y="7"/>
                </a:lnTo>
                <a:lnTo>
                  <a:pt x="17" y="5"/>
                </a:lnTo>
                <a:lnTo>
                  <a:pt x="16" y="4"/>
                </a:lnTo>
                <a:lnTo>
                  <a:pt x="15" y="3"/>
                </a:lnTo>
                <a:lnTo>
                  <a:pt x="13" y="2"/>
                </a:lnTo>
                <a:lnTo>
                  <a:pt x="12" y="1"/>
                </a:lnTo>
                <a:lnTo>
                  <a:pt x="10" y="0"/>
                </a:lnTo>
                <a:lnTo>
                  <a:pt x="8" y="0"/>
                </a:lnTo>
                <a:lnTo>
                  <a:pt x="7" y="0"/>
                </a:lnTo>
                <a:lnTo>
                  <a:pt x="5" y="1"/>
                </a:lnTo>
                <a:lnTo>
                  <a:pt x="4" y="2"/>
                </a:lnTo>
                <a:lnTo>
                  <a:pt x="2" y="3"/>
                </a:lnTo>
                <a:lnTo>
                  <a:pt x="1" y="4"/>
                </a:lnTo>
                <a:lnTo>
                  <a:pt x="0" y="5"/>
                </a:lnTo>
                <a:lnTo>
                  <a:pt x="0" y="7"/>
                </a:lnTo>
                <a:lnTo>
                  <a:pt x="0" y="9"/>
                </a:lnTo>
                <a:lnTo>
                  <a:pt x="0" y="11"/>
                </a:lnTo>
                <a:lnTo>
                  <a:pt x="0" y="12"/>
                </a:lnTo>
                <a:lnTo>
                  <a:pt x="1" y="14"/>
                </a:lnTo>
                <a:lnTo>
                  <a:pt x="2" y="15"/>
                </a:lnTo>
                <a:lnTo>
                  <a:pt x="4" y="16"/>
                </a:lnTo>
                <a:lnTo>
                  <a:pt x="5" y="17"/>
                </a:lnTo>
                <a:lnTo>
                  <a:pt x="7" y="17"/>
                </a:lnTo>
                <a:lnTo>
                  <a:pt x="8" y="18"/>
                </a:lnTo>
                <a:lnTo>
                  <a:pt x="10" y="17"/>
                </a:lnTo>
                <a:lnTo>
                  <a:pt x="12" y="17"/>
                </a:lnTo>
                <a:lnTo>
                  <a:pt x="13" y="16"/>
                </a:lnTo>
                <a:lnTo>
                  <a:pt x="15" y="15"/>
                </a:lnTo>
                <a:lnTo>
                  <a:pt x="16" y="14"/>
                </a:lnTo>
                <a:lnTo>
                  <a:pt x="17" y="12"/>
                </a:lnTo>
                <a:lnTo>
                  <a:pt x="17" y="11"/>
                </a:lnTo>
                <a:lnTo>
                  <a:pt x="17" y="9"/>
                </a:lnTo>
                <a:close/>
              </a:path>
            </a:pathLst>
          </a:cu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Freeform 41"/>
          <p:cNvSpPr/>
          <p:nvPr/>
        </p:nvSpPr>
        <p:spPr>
          <a:xfrm>
            <a:off x="1028700" y="1549400"/>
            <a:ext cx="215900" cy="215900"/>
          </a:xfrm>
          <a:custGeom>
            <a:avLst/>
            <a:gdLst/>
            <a:ahLst/>
            <a:cxnLst/>
            <a:rect l="l" t="t" r="r" b="b"/>
            <a:pathLst>
              <a:path w="17" h="17">
                <a:moveTo>
                  <a:pt x="17" y="9"/>
                </a:moveTo>
                <a:lnTo>
                  <a:pt x="17" y="7"/>
                </a:lnTo>
                <a:lnTo>
                  <a:pt x="17" y="5"/>
                </a:lnTo>
                <a:lnTo>
                  <a:pt x="16" y="4"/>
                </a:lnTo>
                <a:lnTo>
                  <a:pt x="15" y="2"/>
                </a:lnTo>
                <a:lnTo>
                  <a:pt x="13" y="1"/>
                </a:lnTo>
                <a:lnTo>
                  <a:pt x="12" y="1"/>
                </a:lnTo>
                <a:lnTo>
                  <a:pt x="10" y="0"/>
                </a:lnTo>
                <a:lnTo>
                  <a:pt x="8" y="0"/>
                </a:lnTo>
                <a:lnTo>
                  <a:pt x="7" y="0"/>
                </a:lnTo>
                <a:lnTo>
                  <a:pt x="5" y="1"/>
                </a:lnTo>
                <a:lnTo>
                  <a:pt x="4" y="1"/>
                </a:lnTo>
                <a:lnTo>
                  <a:pt x="2" y="2"/>
                </a:lnTo>
                <a:lnTo>
                  <a:pt x="1" y="4"/>
                </a:lnTo>
                <a:lnTo>
                  <a:pt x="0" y="5"/>
                </a:lnTo>
                <a:lnTo>
                  <a:pt x="0" y="7"/>
                </a:lnTo>
                <a:lnTo>
                  <a:pt x="0" y="9"/>
                </a:lnTo>
                <a:lnTo>
                  <a:pt x="0" y="10"/>
                </a:lnTo>
                <a:lnTo>
                  <a:pt x="0" y="12"/>
                </a:lnTo>
                <a:lnTo>
                  <a:pt x="1" y="14"/>
                </a:lnTo>
                <a:lnTo>
                  <a:pt x="2" y="15"/>
                </a:lnTo>
                <a:lnTo>
                  <a:pt x="4" y="16"/>
                </a:lnTo>
                <a:lnTo>
                  <a:pt x="5" y="17"/>
                </a:lnTo>
                <a:lnTo>
                  <a:pt x="7" y="17"/>
                </a:lnTo>
                <a:lnTo>
                  <a:pt x="8" y="17"/>
                </a:lnTo>
                <a:lnTo>
                  <a:pt x="10" y="17"/>
                </a:lnTo>
                <a:lnTo>
                  <a:pt x="12" y="17"/>
                </a:lnTo>
                <a:lnTo>
                  <a:pt x="13" y="16"/>
                </a:lnTo>
                <a:lnTo>
                  <a:pt x="15" y="15"/>
                </a:lnTo>
                <a:lnTo>
                  <a:pt x="16" y="14"/>
                </a:lnTo>
                <a:lnTo>
                  <a:pt x="17" y="12"/>
                </a:lnTo>
                <a:lnTo>
                  <a:pt x="17" y="10"/>
                </a:lnTo>
                <a:lnTo>
                  <a:pt x="17" y="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Freeform 42"/>
          <p:cNvSpPr/>
          <p:nvPr/>
        </p:nvSpPr>
        <p:spPr>
          <a:xfrm>
            <a:off x="2171700" y="1549400"/>
            <a:ext cx="228600" cy="215900"/>
          </a:xfrm>
          <a:custGeom>
            <a:avLst/>
            <a:gdLst/>
            <a:ahLst/>
            <a:cxnLst/>
            <a:rect l="l" t="t" r="r" b="b"/>
            <a:pathLst>
              <a:path w="18" h="17">
                <a:moveTo>
                  <a:pt x="18" y="9"/>
                </a:moveTo>
                <a:lnTo>
                  <a:pt x="18" y="7"/>
                </a:lnTo>
                <a:lnTo>
                  <a:pt x="17" y="5"/>
                </a:lnTo>
                <a:lnTo>
                  <a:pt x="16" y="4"/>
                </a:lnTo>
                <a:lnTo>
                  <a:pt x="15" y="2"/>
                </a:lnTo>
                <a:lnTo>
                  <a:pt x="14" y="1"/>
                </a:lnTo>
                <a:lnTo>
                  <a:pt x="12" y="1"/>
                </a:lnTo>
                <a:lnTo>
                  <a:pt x="11" y="0"/>
                </a:lnTo>
                <a:lnTo>
                  <a:pt x="9" y="0"/>
                </a:lnTo>
                <a:lnTo>
                  <a:pt x="7" y="0"/>
                </a:lnTo>
                <a:lnTo>
                  <a:pt x="6" y="1"/>
                </a:lnTo>
                <a:lnTo>
                  <a:pt x="4" y="1"/>
                </a:lnTo>
                <a:lnTo>
                  <a:pt x="3" y="2"/>
                </a:lnTo>
                <a:lnTo>
                  <a:pt x="2" y="4"/>
                </a:lnTo>
                <a:lnTo>
                  <a:pt x="1" y="5"/>
                </a:lnTo>
                <a:lnTo>
                  <a:pt x="0" y="7"/>
                </a:lnTo>
                <a:lnTo>
                  <a:pt x="0" y="9"/>
                </a:lnTo>
                <a:lnTo>
                  <a:pt x="0" y="10"/>
                </a:lnTo>
                <a:lnTo>
                  <a:pt x="1" y="12"/>
                </a:lnTo>
                <a:lnTo>
                  <a:pt x="2" y="14"/>
                </a:lnTo>
                <a:lnTo>
                  <a:pt x="3" y="15"/>
                </a:lnTo>
                <a:lnTo>
                  <a:pt x="4" y="16"/>
                </a:lnTo>
                <a:lnTo>
                  <a:pt x="6" y="17"/>
                </a:lnTo>
                <a:lnTo>
                  <a:pt x="7" y="17"/>
                </a:lnTo>
                <a:lnTo>
                  <a:pt x="9" y="17"/>
                </a:lnTo>
                <a:lnTo>
                  <a:pt x="11" y="17"/>
                </a:lnTo>
                <a:lnTo>
                  <a:pt x="12" y="17"/>
                </a:lnTo>
                <a:lnTo>
                  <a:pt x="14" y="16"/>
                </a:lnTo>
                <a:lnTo>
                  <a:pt x="15" y="15"/>
                </a:lnTo>
                <a:lnTo>
                  <a:pt x="16" y="14"/>
                </a:lnTo>
                <a:lnTo>
                  <a:pt x="17" y="12"/>
                </a:lnTo>
                <a:lnTo>
                  <a:pt x="18" y="10"/>
                </a:lnTo>
                <a:lnTo>
                  <a:pt x="18" y="9"/>
                </a:lnTo>
                <a:close/>
              </a:path>
            </a:pathLst>
          </a:cu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Freeform 43"/>
          <p:cNvSpPr/>
          <p:nvPr/>
        </p:nvSpPr>
        <p:spPr>
          <a:xfrm>
            <a:off x="2171700" y="1054100"/>
            <a:ext cx="228600" cy="215900"/>
          </a:xfrm>
          <a:custGeom>
            <a:avLst/>
            <a:gdLst/>
            <a:ahLst/>
            <a:cxnLst/>
            <a:rect l="l" t="t" r="r" b="b"/>
            <a:pathLst>
              <a:path w="18" h="17">
                <a:moveTo>
                  <a:pt x="18" y="8"/>
                </a:moveTo>
                <a:lnTo>
                  <a:pt x="18" y="7"/>
                </a:lnTo>
                <a:lnTo>
                  <a:pt x="17" y="5"/>
                </a:lnTo>
                <a:lnTo>
                  <a:pt x="16" y="3"/>
                </a:lnTo>
                <a:lnTo>
                  <a:pt x="15" y="2"/>
                </a:lnTo>
                <a:lnTo>
                  <a:pt x="14" y="1"/>
                </a:lnTo>
                <a:lnTo>
                  <a:pt x="12" y="0"/>
                </a:lnTo>
                <a:lnTo>
                  <a:pt x="11" y="0"/>
                </a:lnTo>
                <a:lnTo>
                  <a:pt x="9" y="0"/>
                </a:lnTo>
                <a:lnTo>
                  <a:pt x="7" y="0"/>
                </a:lnTo>
                <a:lnTo>
                  <a:pt x="6" y="0"/>
                </a:lnTo>
                <a:lnTo>
                  <a:pt x="4" y="1"/>
                </a:lnTo>
                <a:lnTo>
                  <a:pt x="3" y="2"/>
                </a:lnTo>
                <a:lnTo>
                  <a:pt x="2" y="3"/>
                </a:lnTo>
                <a:lnTo>
                  <a:pt x="1" y="5"/>
                </a:lnTo>
                <a:lnTo>
                  <a:pt x="0" y="7"/>
                </a:lnTo>
                <a:lnTo>
                  <a:pt x="0" y="8"/>
                </a:lnTo>
                <a:lnTo>
                  <a:pt x="0" y="10"/>
                </a:lnTo>
                <a:lnTo>
                  <a:pt x="1" y="12"/>
                </a:lnTo>
                <a:lnTo>
                  <a:pt x="2" y="13"/>
                </a:lnTo>
                <a:lnTo>
                  <a:pt x="3" y="15"/>
                </a:lnTo>
                <a:lnTo>
                  <a:pt x="4" y="16"/>
                </a:lnTo>
                <a:lnTo>
                  <a:pt x="6" y="16"/>
                </a:lnTo>
                <a:lnTo>
                  <a:pt x="7" y="17"/>
                </a:lnTo>
                <a:lnTo>
                  <a:pt x="9" y="17"/>
                </a:lnTo>
                <a:lnTo>
                  <a:pt x="11" y="17"/>
                </a:lnTo>
                <a:lnTo>
                  <a:pt x="12" y="16"/>
                </a:lnTo>
                <a:lnTo>
                  <a:pt x="14" y="16"/>
                </a:lnTo>
                <a:lnTo>
                  <a:pt x="15" y="15"/>
                </a:lnTo>
                <a:lnTo>
                  <a:pt x="16" y="13"/>
                </a:lnTo>
                <a:lnTo>
                  <a:pt x="17" y="12"/>
                </a:lnTo>
                <a:lnTo>
                  <a:pt x="18" y="10"/>
                </a:lnTo>
                <a:lnTo>
                  <a:pt x="18" y="8"/>
                </a:lnTo>
                <a:close/>
              </a:path>
            </a:pathLst>
          </a:cu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Freeform 44"/>
          <p:cNvSpPr/>
          <p:nvPr/>
        </p:nvSpPr>
        <p:spPr>
          <a:xfrm>
            <a:off x="1701800" y="1054100"/>
            <a:ext cx="215900" cy="215900"/>
          </a:xfrm>
          <a:custGeom>
            <a:avLst/>
            <a:gdLst/>
            <a:ahLst/>
            <a:cxnLst/>
            <a:rect l="l" t="t" r="r" b="b"/>
            <a:pathLst>
              <a:path w="17" h="17">
                <a:moveTo>
                  <a:pt x="17" y="8"/>
                </a:moveTo>
                <a:lnTo>
                  <a:pt x="17" y="7"/>
                </a:lnTo>
                <a:lnTo>
                  <a:pt x="16" y="5"/>
                </a:lnTo>
                <a:lnTo>
                  <a:pt x="16" y="3"/>
                </a:lnTo>
                <a:lnTo>
                  <a:pt x="14" y="2"/>
                </a:lnTo>
                <a:lnTo>
                  <a:pt x="13" y="1"/>
                </a:lnTo>
                <a:lnTo>
                  <a:pt x="12" y="0"/>
                </a:lnTo>
                <a:lnTo>
                  <a:pt x="10" y="0"/>
                </a:lnTo>
                <a:lnTo>
                  <a:pt x="8" y="0"/>
                </a:lnTo>
                <a:lnTo>
                  <a:pt x="7" y="0"/>
                </a:lnTo>
                <a:lnTo>
                  <a:pt x="5" y="0"/>
                </a:lnTo>
                <a:lnTo>
                  <a:pt x="3" y="1"/>
                </a:lnTo>
                <a:lnTo>
                  <a:pt x="2" y="2"/>
                </a:lnTo>
                <a:lnTo>
                  <a:pt x="1" y="3"/>
                </a:lnTo>
                <a:lnTo>
                  <a:pt x="0" y="5"/>
                </a:lnTo>
                <a:lnTo>
                  <a:pt x="0" y="7"/>
                </a:lnTo>
                <a:lnTo>
                  <a:pt x="0" y="8"/>
                </a:lnTo>
                <a:lnTo>
                  <a:pt x="0" y="10"/>
                </a:lnTo>
                <a:lnTo>
                  <a:pt x="0" y="12"/>
                </a:lnTo>
                <a:lnTo>
                  <a:pt x="1" y="13"/>
                </a:lnTo>
                <a:lnTo>
                  <a:pt x="2" y="15"/>
                </a:lnTo>
                <a:lnTo>
                  <a:pt x="3" y="16"/>
                </a:lnTo>
                <a:lnTo>
                  <a:pt x="5" y="16"/>
                </a:lnTo>
                <a:lnTo>
                  <a:pt x="7" y="17"/>
                </a:lnTo>
                <a:lnTo>
                  <a:pt x="8" y="17"/>
                </a:lnTo>
                <a:lnTo>
                  <a:pt x="10" y="17"/>
                </a:lnTo>
                <a:lnTo>
                  <a:pt x="12" y="16"/>
                </a:lnTo>
                <a:lnTo>
                  <a:pt x="13" y="16"/>
                </a:lnTo>
                <a:lnTo>
                  <a:pt x="14" y="15"/>
                </a:lnTo>
                <a:lnTo>
                  <a:pt x="16" y="13"/>
                </a:lnTo>
                <a:lnTo>
                  <a:pt x="16" y="12"/>
                </a:lnTo>
                <a:lnTo>
                  <a:pt x="17" y="10"/>
                </a:lnTo>
                <a:lnTo>
                  <a:pt x="17" y="8"/>
                </a:lnTo>
                <a:close/>
              </a:path>
            </a:pathLst>
          </a:cu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Freeform 45"/>
          <p:cNvSpPr/>
          <p:nvPr/>
        </p:nvSpPr>
        <p:spPr>
          <a:xfrm>
            <a:off x="1651000" y="1358900"/>
            <a:ext cx="304800" cy="215900"/>
          </a:xfrm>
          <a:custGeom>
            <a:avLst/>
            <a:gdLst/>
            <a:ahLst/>
            <a:cxnLst/>
            <a:rect l="l" t="t" r="r" b="b"/>
            <a:pathLst>
              <a:path w="24" h="17">
                <a:moveTo>
                  <a:pt x="24" y="9"/>
                </a:moveTo>
                <a:lnTo>
                  <a:pt x="24" y="7"/>
                </a:lnTo>
                <a:lnTo>
                  <a:pt x="23" y="5"/>
                </a:lnTo>
                <a:lnTo>
                  <a:pt x="22" y="4"/>
                </a:lnTo>
                <a:lnTo>
                  <a:pt x="21" y="2"/>
                </a:lnTo>
                <a:lnTo>
                  <a:pt x="19" y="1"/>
                </a:lnTo>
                <a:lnTo>
                  <a:pt x="17" y="1"/>
                </a:lnTo>
                <a:lnTo>
                  <a:pt x="15" y="0"/>
                </a:lnTo>
                <a:lnTo>
                  <a:pt x="12" y="0"/>
                </a:lnTo>
                <a:lnTo>
                  <a:pt x="10" y="0"/>
                </a:lnTo>
                <a:lnTo>
                  <a:pt x="8" y="1"/>
                </a:lnTo>
                <a:lnTo>
                  <a:pt x="6" y="1"/>
                </a:lnTo>
                <a:lnTo>
                  <a:pt x="4" y="2"/>
                </a:lnTo>
                <a:lnTo>
                  <a:pt x="2" y="4"/>
                </a:lnTo>
                <a:lnTo>
                  <a:pt x="1" y="5"/>
                </a:lnTo>
                <a:lnTo>
                  <a:pt x="1" y="7"/>
                </a:lnTo>
                <a:lnTo>
                  <a:pt x="0" y="9"/>
                </a:lnTo>
                <a:lnTo>
                  <a:pt x="1" y="10"/>
                </a:lnTo>
                <a:lnTo>
                  <a:pt x="1" y="12"/>
                </a:lnTo>
                <a:lnTo>
                  <a:pt x="2" y="13"/>
                </a:lnTo>
                <a:lnTo>
                  <a:pt x="4" y="15"/>
                </a:lnTo>
                <a:lnTo>
                  <a:pt x="6" y="16"/>
                </a:lnTo>
                <a:lnTo>
                  <a:pt x="8" y="17"/>
                </a:lnTo>
                <a:lnTo>
                  <a:pt x="10" y="17"/>
                </a:lnTo>
                <a:lnTo>
                  <a:pt x="12" y="17"/>
                </a:lnTo>
                <a:lnTo>
                  <a:pt x="15" y="17"/>
                </a:lnTo>
                <a:lnTo>
                  <a:pt x="17" y="17"/>
                </a:lnTo>
                <a:lnTo>
                  <a:pt x="19" y="16"/>
                </a:lnTo>
                <a:lnTo>
                  <a:pt x="21" y="15"/>
                </a:lnTo>
                <a:lnTo>
                  <a:pt x="22" y="13"/>
                </a:lnTo>
                <a:lnTo>
                  <a:pt x="23" y="12"/>
                </a:lnTo>
                <a:lnTo>
                  <a:pt x="24" y="10"/>
                </a:lnTo>
                <a:lnTo>
                  <a:pt x="24" y="9"/>
                </a:lnTo>
                <a:close/>
              </a:path>
            </a:pathLst>
          </a:cu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7" name="Connector 46"/>
          <p:cNvCxnSpPr/>
          <p:nvPr/>
        </p:nvCxnSpPr>
        <p:spPr>
          <a:xfrm flipV="1">
            <a:off x="2859547" y="934572"/>
            <a:ext cx="0" cy="225209"/>
          </a:xfrm>
          <a:prstGeom prst="line">
            <a:avLst/>
          </a:prstGeom>
          <a:ln w="812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Freeform 47"/>
          <p:cNvSpPr/>
          <p:nvPr/>
        </p:nvSpPr>
        <p:spPr>
          <a:xfrm>
            <a:off x="2832100" y="9144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2" y="0"/>
                </a:moveTo>
                <a:lnTo>
                  <a:pt x="0" y="3"/>
                </a:lnTo>
                <a:lnTo>
                  <a:pt x="2" y="2"/>
                </a:lnTo>
                <a:lnTo>
                  <a:pt x="4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9" name="Connector 48"/>
          <p:cNvCxnSpPr/>
          <p:nvPr/>
        </p:nvCxnSpPr>
        <p:spPr>
          <a:xfrm>
            <a:off x="526679" y="1159781"/>
            <a:ext cx="345048" cy="0"/>
          </a:xfrm>
          <a:prstGeom prst="line">
            <a:avLst/>
          </a:prstGeom>
          <a:ln w="812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871727" y="1159781"/>
            <a:ext cx="264270" cy="0"/>
          </a:xfrm>
          <a:prstGeom prst="line">
            <a:avLst/>
          </a:prstGeom>
          <a:ln w="812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871727" y="2423737"/>
            <a:ext cx="0" cy="267224"/>
          </a:xfrm>
          <a:prstGeom prst="line">
            <a:avLst/>
          </a:prstGeom>
          <a:ln w="812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871727" y="1159781"/>
            <a:ext cx="0" cy="881215"/>
          </a:xfrm>
          <a:prstGeom prst="line">
            <a:avLst/>
          </a:prstGeom>
          <a:ln w="812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Freeform 52"/>
          <p:cNvSpPr/>
          <p:nvPr/>
        </p:nvSpPr>
        <p:spPr>
          <a:xfrm>
            <a:off x="850900" y="20193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2" y="4"/>
                </a:moveTo>
                <a:lnTo>
                  <a:pt x="3" y="0"/>
                </a:lnTo>
                <a:lnTo>
                  <a:pt x="2" y="2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4" name="Connector 53"/>
          <p:cNvCxnSpPr/>
          <p:nvPr/>
        </p:nvCxnSpPr>
        <p:spPr>
          <a:xfrm flipV="1">
            <a:off x="871727" y="2338364"/>
            <a:ext cx="0" cy="85373"/>
          </a:xfrm>
          <a:prstGeom prst="line">
            <a:avLst/>
          </a:prstGeom>
          <a:ln w="812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Freeform 54"/>
          <p:cNvSpPr/>
          <p:nvPr/>
        </p:nvSpPr>
        <p:spPr>
          <a:xfrm>
            <a:off x="850900" y="23114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2" y="0"/>
                </a:moveTo>
                <a:lnTo>
                  <a:pt x="0" y="3"/>
                </a:lnTo>
                <a:lnTo>
                  <a:pt x="2" y="2"/>
                </a:lnTo>
                <a:lnTo>
                  <a:pt x="3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" name="Connector 55"/>
          <p:cNvCxnSpPr/>
          <p:nvPr/>
        </p:nvCxnSpPr>
        <p:spPr>
          <a:xfrm>
            <a:off x="1135997" y="1159781"/>
            <a:ext cx="0" cy="350670"/>
          </a:xfrm>
          <a:prstGeom prst="line">
            <a:avLst/>
          </a:prstGeom>
          <a:ln w="8121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Freeform 56"/>
          <p:cNvSpPr/>
          <p:nvPr/>
        </p:nvSpPr>
        <p:spPr>
          <a:xfrm>
            <a:off x="1117600" y="14986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3"/>
                </a:moveTo>
                <a:lnTo>
                  <a:pt x="3" y="0"/>
                </a:lnTo>
                <a:lnTo>
                  <a:pt x="1" y="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" name="Connector 57"/>
          <p:cNvCxnSpPr/>
          <p:nvPr/>
        </p:nvCxnSpPr>
        <p:spPr>
          <a:xfrm>
            <a:off x="1135997" y="1781423"/>
            <a:ext cx="0" cy="493630"/>
          </a:xfrm>
          <a:prstGeom prst="line">
            <a:avLst/>
          </a:prstGeom>
          <a:ln w="812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Freeform 58"/>
          <p:cNvSpPr/>
          <p:nvPr/>
        </p:nvSpPr>
        <p:spPr>
          <a:xfrm>
            <a:off x="1117600" y="22606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3"/>
                </a:moveTo>
                <a:lnTo>
                  <a:pt x="3" y="0"/>
                </a:lnTo>
                <a:lnTo>
                  <a:pt x="1" y="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0" name="Connector 59"/>
          <p:cNvCxnSpPr/>
          <p:nvPr/>
        </p:nvCxnSpPr>
        <p:spPr>
          <a:xfrm>
            <a:off x="871727" y="2423737"/>
            <a:ext cx="115586" cy="0"/>
          </a:xfrm>
          <a:prstGeom prst="line">
            <a:avLst/>
          </a:prstGeom>
          <a:ln w="812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Freeform 60"/>
          <p:cNvSpPr/>
          <p:nvPr/>
        </p:nvSpPr>
        <p:spPr>
          <a:xfrm>
            <a:off x="965200" y="24003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4" y="2"/>
                </a:moveTo>
                <a:lnTo>
                  <a:pt x="0" y="0"/>
                </a:lnTo>
                <a:lnTo>
                  <a:pt x="2" y="2"/>
                </a:lnTo>
                <a:lnTo>
                  <a:pt x="0" y="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2" name="Connector 61"/>
          <p:cNvCxnSpPr/>
          <p:nvPr/>
        </p:nvCxnSpPr>
        <p:spPr>
          <a:xfrm>
            <a:off x="1258285" y="2423737"/>
            <a:ext cx="1027234" cy="0"/>
          </a:xfrm>
          <a:prstGeom prst="line">
            <a:avLst/>
          </a:prstGeom>
          <a:ln w="812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2285519" y="2130711"/>
            <a:ext cx="0" cy="293026"/>
          </a:xfrm>
          <a:prstGeom prst="line">
            <a:avLst/>
          </a:prstGeom>
          <a:ln w="812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Freeform 63"/>
          <p:cNvSpPr/>
          <p:nvPr/>
        </p:nvSpPr>
        <p:spPr>
          <a:xfrm>
            <a:off x="2260600" y="21082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2" y="0"/>
                </a:moveTo>
                <a:lnTo>
                  <a:pt x="0" y="3"/>
                </a:lnTo>
                <a:lnTo>
                  <a:pt x="2" y="2"/>
                </a:lnTo>
                <a:lnTo>
                  <a:pt x="4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" name="Connector 64"/>
          <p:cNvCxnSpPr/>
          <p:nvPr/>
        </p:nvCxnSpPr>
        <p:spPr>
          <a:xfrm flipV="1">
            <a:off x="2285519" y="1807818"/>
            <a:ext cx="0" cy="30305"/>
          </a:xfrm>
          <a:prstGeom prst="line">
            <a:avLst/>
          </a:prstGeom>
          <a:ln w="812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Freeform 65"/>
          <p:cNvSpPr/>
          <p:nvPr/>
        </p:nvSpPr>
        <p:spPr>
          <a:xfrm>
            <a:off x="2260600" y="17780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2" y="0"/>
                </a:moveTo>
                <a:lnTo>
                  <a:pt x="0" y="4"/>
                </a:lnTo>
                <a:lnTo>
                  <a:pt x="2" y="2"/>
                </a:lnTo>
                <a:lnTo>
                  <a:pt x="4" y="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7" name="Connector 66"/>
          <p:cNvCxnSpPr/>
          <p:nvPr/>
        </p:nvCxnSpPr>
        <p:spPr>
          <a:xfrm>
            <a:off x="1807167" y="1659135"/>
            <a:ext cx="329668" cy="0"/>
          </a:xfrm>
          <a:prstGeom prst="line">
            <a:avLst/>
          </a:prstGeom>
          <a:ln w="812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Freeform 67"/>
          <p:cNvSpPr/>
          <p:nvPr/>
        </p:nvSpPr>
        <p:spPr>
          <a:xfrm>
            <a:off x="2120900" y="16383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2"/>
                </a:moveTo>
                <a:lnTo>
                  <a:pt x="0" y="0"/>
                </a:lnTo>
                <a:lnTo>
                  <a:pt x="1" y="2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9" name="Connector 68"/>
          <p:cNvCxnSpPr/>
          <p:nvPr/>
        </p:nvCxnSpPr>
        <p:spPr>
          <a:xfrm flipV="1">
            <a:off x="2285519" y="1308465"/>
            <a:ext cx="0" cy="228382"/>
          </a:xfrm>
          <a:prstGeom prst="line">
            <a:avLst/>
          </a:prstGeom>
          <a:ln w="812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Freeform 69"/>
          <p:cNvSpPr/>
          <p:nvPr/>
        </p:nvSpPr>
        <p:spPr>
          <a:xfrm>
            <a:off x="2260600" y="12827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2" y="0"/>
                </a:moveTo>
                <a:lnTo>
                  <a:pt x="0" y="3"/>
                </a:lnTo>
                <a:lnTo>
                  <a:pt x="2" y="2"/>
                </a:lnTo>
                <a:lnTo>
                  <a:pt x="4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1" name="Connector 70"/>
          <p:cNvCxnSpPr/>
          <p:nvPr/>
        </p:nvCxnSpPr>
        <p:spPr>
          <a:xfrm>
            <a:off x="994015" y="2189680"/>
            <a:ext cx="412215" cy="0"/>
          </a:xfrm>
          <a:prstGeom prst="line">
            <a:avLst/>
          </a:prstGeom>
          <a:ln w="30457">
            <a:solidFill>
              <a:srgbClr val="93D4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994015" y="2189680"/>
            <a:ext cx="412215" cy="0"/>
          </a:xfrm>
          <a:prstGeom prst="line">
            <a:avLst/>
          </a:prstGeom>
          <a:ln w="812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1406230" y="2189680"/>
            <a:ext cx="400937" cy="0"/>
          </a:xfrm>
          <a:prstGeom prst="line">
            <a:avLst/>
          </a:prstGeom>
          <a:ln w="812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1406230" y="2116043"/>
            <a:ext cx="0" cy="73637"/>
          </a:xfrm>
          <a:prstGeom prst="line">
            <a:avLst/>
          </a:prstGeom>
          <a:ln w="8121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Freeform 74"/>
          <p:cNvSpPr/>
          <p:nvPr/>
        </p:nvSpPr>
        <p:spPr>
          <a:xfrm>
            <a:off x="1384300" y="20955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2" y="0"/>
                </a:moveTo>
                <a:lnTo>
                  <a:pt x="0" y="3"/>
                </a:lnTo>
                <a:lnTo>
                  <a:pt x="2" y="2"/>
                </a:lnTo>
                <a:lnTo>
                  <a:pt x="3" y="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6" name="Connector 75"/>
          <p:cNvCxnSpPr/>
          <p:nvPr/>
        </p:nvCxnSpPr>
        <p:spPr>
          <a:xfrm flipV="1">
            <a:off x="1807167" y="2116043"/>
            <a:ext cx="0" cy="73637"/>
          </a:xfrm>
          <a:prstGeom prst="line">
            <a:avLst/>
          </a:prstGeom>
          <a:ln w="812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Freeform 76"/>
          <p:cNvSpPr/>
          <p:nvPr/>
        </p:nvSpPr>
        <p:spPr>
          <a:xfrm>
            <a:off x="1790700" y="20955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0"/>
                </a:moveTo>
                <a:lnTo>
                  <a:pt x="0" y="3"/>
                </a:lnTo>
                <a:lnTo>
                  <a:pt x="1" y="2"/>
                </a:lnTo>
                <a:lnTo>
                  <a:pt x="3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8" name="Connector 77"/>
          <p:cNvCxnSpPr/>
          <p:nvPr/>
        </p:nvCxnSpPr>
        <p:spPr>
          <a:xfrm flipV="1">
            <a:off x="1406230" y="1659135"/>
            <a:ext cx="0" cy="193656"/>
          </a:xfrm>
          <a:prstGeom prst="line">
            <a:avLst/>
          </a:prstGeom>
          <a:ln w="8121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H="1">
            <a:off x="1284681" y="1659135"/>
            <a:ext cx="121549" cy="0"/>
          </a:xfrm>
          <a:prstGeom prst="line">
            <a:avLst/>
          </a:prstGeom>
          <a:ln w="8121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Freeform 79"/>
          <p:cNvSpPr/>
          <p:nvPr/>
        </p:nvSpPr>
        <p:spPr>
          <a:xfrm>
            <a:off x="1257300" y="16383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0" y="2"/>
                </a:moveTo>
                <a:lnTo>
                  <a:pt x="3" y="3"/>
                </a:lnTo>
                <a:lnTo>
                  <a:pt x="2" y="2"/>
                </a:lnTo>
                <a:lnTo>
                  <a:pt x="3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1" name="Connector 80"/>
          <p:cNvCxnSpPr/>
          <p:nvPr/>
        </p:nvCxnSpPr>
        <p:spPr>
          <a:xfrm flipV="1">
            <a:off x="1807167" y="1616815"/>
            <a:ext cx="0" cy="235976"/>
          </a:xfrm>
          <a:prstGeom prst="line">
            <a:avLst/>
          </a:prstGeom>
          <a:ln w="812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Freeform 81"/>
          <p:cNvSpPr/>
          <p:nvPr/>
        </p:nvSpPr>
        <p:spPr>
          <a:xfrm>
            <a:off x="1790700" y="15875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1" y="0"/>
                </a:moveTo>
                <a:lnTo>
                  <a:pt x="0" y="4"/>
                </a:lnTo>
                <a:lnTo>
                  <a:pt x="1" y="2"/>
                </a:lnTo>
                <a:lnTo>
                  <a:pt x="3" y="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3" name="Connector 82"/>
          <p:cNvCxnSpPr/>
          <p:nvPr/>
        </p:nvCxnSpPr>
        <p:spPr>
          <a:xfrm flipV="1">
            <a:off x="1807167" y="1308465"/>
            <a:ext cx="0" cy="37379"/>
          </a:xfrm>
          <a:prstGeom prst="line">
            <a:avLst/>
          </a:prstGeom>
          <a:ln w="812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Freeform 83"/>
          <p:cNvSpPr/>
          <p:nvPr/>
        </p:nvSpPr>
        <p:spPr>
          <a:xfrm>
            <a:off x="1790700" y="12827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0"/>
                </a:moveTo>
                <a:lnTo>
                  <a:pt x="0" y="3"/>
                </a:lnTo>
                <a:lnTo>
                  <a:pt x="1" y="2"/>
                </a:lnTo>
                <a:lnTo>
                  <a:pt x="3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5" name="Connector 84"/>
          <p:cNvCxnSpPr/>
          <p:nvPr/>
        </p:nvCxnSpPr>
        <p:spPr>
          <a:xfrm>
            <a:off x="1135997" y="1159781"/>
            <a:ext cx="522487" cy="0"/>
          </a:xfrm>
          <a:prstGeom prst="line">
            <a:avLst/>
          </a:prstGeom>
          <a:ln w="812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Freeform 85"/>
          <p:cNvSpPr/>
          <p:nvPr/>
        </p:nvSpPr>
        <p:spPr>
          <a:xfrm>
            <a:off x="1638300" y="11430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4" y="1"/>
                </a:moveTo>
                <a:lnTo>
                  <a:pt x="0" y="0"/>
                </a:lnTo>
                <a:lnTo>
                  <a:pt x="2" y="1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7" name="Connector 86"/>
          <p:cNvCxnSpPr/>
          <p:nvPr/>
        </p:nvCxnSpPr>
        <p:spPr>
          <a:xfrm>
            <a:off x="1929455" y="1159781"/>
            <a:ext cx="207380" cy="0"/>
          </a:xfrm>
          <a:prstGeom prst="line">
            <a:avLst/>
          </a:prstGeom>
          <a:ln w="812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Freeform 87"/>
          <p:cNvSpPr/>
          <p:nvPr/>
        </p:nvSpPr>
        <p:spPr>
          <a:xfrm>
            <a:off x="2120900" y="11430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1"/>
                </a:moveTo>
                <a:lnTo>
                  <a:pt x="0" y="0"/>
                </a:lnTo>
                <a:lnTo>
                  <a:pt x="1" y="1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9" name="Connector 88"/>
          <p:cNvCxnSpPr/>
          <p:nvPr/>
        </p:nvCxnSpPr>
        <p:spPr>
          <a:xfrm>
            <a:off x="2407807" y="1159781"/>
            <a:ext cx="653453" cy="0"/>
          </a:xfrm>
          <a:prstGeom prst="line">
            <a:avLst/>
          </a:prstGeom>
          <a:ln w="812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Freeform 89"/>
          <p:cNvSpPr/>
          <p:nvPr/>
        </p:nvSpPr>
        <p:spPr>
          <a:xfrm>
            <a:off x="3048000" y="11430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1"/>
                </a:moveTo>
                <a:lnTo>
                  <a:pt x="0" y="0"/>
                </a:lnTo>
                <a:lnTo>
                  <a:pt x="1" y="1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-2" y="3146742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2880001" y="3146742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3" name="Picture 9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94" name="Picture 9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95" name="TextBox 94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Gaterd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Recurrent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Units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(GRU)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8000" y="359888"/>
            <a:ext cx="5677395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1">
                <a:solidFill>
                  <a:srgbClr val="003373"/>
                </a:solidFill>
                <a:latin typeface="Josefin Sans"/>
              </a:rPr>
              <a:t>Architecture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277057" y="1098945"/>
            <a:ext cx="5508338" cy="17231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75" b="0">
                <a:solidFill>
                  <a:srgbClr val="000000"/>
                </a:solidFill>
                <a:latin typeface="Cambria Math"/>
              </a:rPr>
              <a:t>h</a:t>
            </a:r>
            <a:r>
              <a:rPr sz="639" b="0">
                <a:solidFill>
                  <a:srgbClr val="000000"/>
                </a:solidFill>
                <a:latin typeface="Cambria Math"/>
              </a:rPr>
              <a:t>t</a:t>
            </a:r>
            <a:r>
              <a:rPr sz="639" b="0">
                <a:solidFill>
                  <a:srgbClr val="000000"/>
                </a:solidFill>
                <a:latin typeface="Cambria Math"/>
              </a:rPr>
              <a:t>−</a:t>
            </a:r>
            <a:r>
              <a:rPr sz="639" b="0">
                <a:solidFill>
                  <a:srgbClr val="000000"/>
                </a:solidFill>
                <a:latin typeface="Cambria Math"/>
              </a:rPr>
              <a:t>1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21850" y="2691014"/>
            <a:ext cx="4963545" cy="17231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75" b="0">
                <a:solidFill>
                  <a:srgbClr val="000000"/>
                </a:solidFill>
                <a:latin typeface="Cambria Math"/>
              </a:rPr>
              <a:t>x</a:t>
            </a:r>
            <a:r>
              <a:rPr sz="639" b="0">
                <a:solidFill>
                  <a:srgbClr val="000000"/>
                </a:solidFill>
                <a:latin typeface="Cambria Math"/>
              </a:rPr>
              <a:t>t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2809391" y="765553"/>
            <a:ext cx="2976004" cy="17231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75" b="0">
                <a:solidFill>
                  <a:srgbClr val="000000"/>
                </a:solidFill>
                <a:latin typeface="Cambria Math"/>
              </a:rPr>
              <a:t>h</a:t>
            </a:r>
            <a:r>
              <a:rPr sz="639" b="0">
                <a:solidFill>
                  <a:srgbClr val="000000"/>
                </a:solidFill>
                <a:latin typeface="Cambria Math"/>
              </a:rPr>
              <a:t>t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3126723" y="1103174"/>
            <a:ext cx="2658672" cy="17231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75" b="0">
                <a:solidFill>
                  <a:srgbClr val="000000"/>
                </a:solidFill>
                <a:latin typeface="Cambria Math"/>
              </a:rPr>
              <a:t>h</a:t>
            </a:r>
            <a:r>
              <a:rPr sz="639" b="0">
                <a:solidFill>
                  <a:srgbClr val="000000"/>
                </a:solidFill>
                <a:latin typeface="Cambria Math"/>
              </a:rPr>
              <a:t>t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773406" y="1908273"/>
            <a:ext cx="4011989" cy="17231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75" b="0">
                <a:solidFill>
                  <a:srgbClr val="000000"/>
                </a:solidFill>
                <a:latin typeface="Cambria Math"/>
              </a:rPr>
              <a:t>σ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372482" y="1908273"/>
            <a:ext cx="4412913" cy="17231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75" b="0">
                <a:solidFill>
                  <a:srgbClr val="FFFFFF"/>
                </a:solidFill>
                <a:latin typeface="Cambria Math"/>
              </a:rPr>
              <a:t>σ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2174341" y="1922937"/>
            <a:ext cx="3611054" cy="17231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75" b="0">
                <a:solidFill>
                  <a:srgbClr val="000000"/>
                </a:solidFill>
                <a:latin typeface="Cambria Math"/>
              </a:rPr>
              <a:t>tanh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828504" y="2116033"/>
            <a:ext cx="4956891" cy="17231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75" b="0">
                <a:solidFill>
                  <a:srgbClr val="FFFFFF"/>
                </a:solidFill>
                <a:latin typeface="MSAM10"/>
              </a:rPr>
              <a:t>⊞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092774" y="2350088"/>
            <a:ext cx="4692621" cy="17231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75" b="0">
                <a:solidFill>
                  <a:srgbClr val="FFFFFF"/>
                </a:solidFill>
                <a:latin typeface="MSAM10"/>
              </a:rPr>
              <a:t>⊞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092774" y="1598611"/>
            <a:ext cx="4692621" cy="17231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75" b="0">
                <a:solidFill>
                  <a:srgbClr val="FFFFFF"/>
                </a:solidFill>
                <a:latin typeface="Cambria Math"/>
              </a:rPr>
              <a:t>×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2242281" y="1598611"/>
            <a:ext cx="3543114" cy="17231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75" b="0">
                <a:solidFill>
                  <a:srgbClr val="FFFFFF"/>
                </a:solidFill>
                <a:latin typeface="Cambria Math"/>
              </a:rPr>
              <a:t>×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2242281" y="1100708"/>
            <a:ext cx="3543114" cy="17231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75" b="0">
                <a:solidFill>
                  <a:srgbClr val="FFFFFF"/>
                </a:solidFill>
                <a:latin typeface="Cambria Math"/>
              </a:rPr>
              <a:t>+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763929" y="1099267"/>
            <a:ext cx="4021466" cy="17231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75" b="0">
                <a:solidFill>
                  <a:srgbClr val="FFFFFF"/>
                </a:solidFill>
                <a:latin typeface="Cambria Math"/>
              </a:rPr>
              <a:t>×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736140" y="1411004"/>
            <a:ext cx="4049255" cy="17231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75" b="0">
                <a:solidFill>
                  <a:srgbClr val="FFFFFF"/>
                </a:solidFill>
                <a:latin typeface="Cambria Math"/>
              </a:rPr>
              <a:t>1</a:t>
            </a:r>
            <a:r>
              <a:rPr sz="875" b="0">
                <a:solidFill>
                  <a:srgbClr val="FFFFFF"/>
                </a:solidFill>
                <a:latin typeface="Cambria Math"/>
              </a:rPr>
              <a:t>−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3504029" y="911474"/>
            <a:ext cx="2281366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1">
                <a:solidFill>
                  <a:srgbClr val="000000"/>
                </a:solidFill>
                <a:latin typeface="Josefin Sans"/>
              </a:rPr>
              <a:t>Update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Gate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3504029" y="1083149"/>
            <a:ext cx="2281366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Decides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how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much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of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previous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3504029" y="1255222"/>
            <a:ext cx="2281366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hidden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state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retain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and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how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3504029" y="1427294"/>
            <a:ext cx="2281366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much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of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new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input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to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3504029" y="1599366"/>
            <a:ext cx="2281366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incorporate.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3704232" y="1911144"/>
            <a:ext cx="2081163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Cambria Math"/>
              </a:rPr>
              <a:t>z</a:t>
            </a:r>
            <a:r>
              <a:rPr sz="797" b="0">
                <a:solidFill>
                  <a:srgbClr val="000000"/>
                </a:solidFill>
                <a:latin typeface="Cambria Math"/>
              </a:rPr>
              <a:t>t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=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σ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(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W</a:t>
            </a:r>
            <a:r>
              <a:rPr sz="797" b="0">
                <a:solidFill>
                  <a:srgbClr val="000000"/>
                </a:solidFill>
                <a:latin typeface="Cambria Math"/>
              </a:rPr>
              <a:t>z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·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[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h</a:t>
            </a:r>
            <a:r>
              <a:rPr sz="797" b="0">
                <a:solidFill>
                  <a:srgbClr val="000000"/>
                </a:solidFill>
                <a:latin typeface="Cambria Math"/>
              </a:rPr>
              <a:t>t</a:t>
            </a:r>
            <a:r>
              <a:rPr sz="797" b="0">
                <a:solidFill>
                  <a:srgbClr val="000000"/>
                </a:solidFill>
                <a:latin typeface="Cambria Math"/>
              </a:rPr>
              <a:t>−</a:t>
            </a:r>
            <a:r>
              <a:rPr sz="797" b="0">
                <a:solidFill>
                  <a:srgbClr val="000000"/>
                </a:solidFill>
                <a:latin typeface="Cambria Math"/>
              </a:rPr>
              <a:t>1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, x</a:t>
            </a:r>
            <a:r>
              <a:rPr sz="797" b="0">
                <a:solidFill>
                  <a:srgbClr val="000000"/>
                </a:solidFill>
                <a:latin typeface="Cambria Math"/>
              </a:rPr>
              <a:t>t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] +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b</a:t>
            </a:r>
            <a:r>
              <a:rPr sz="797" b="0">
                <a:solidFill>
                  <a:srgbClr val="000000"/>
                </a:solidFill>
                <a:latin typeface="Cambria Math"/>
              </a:rPr>
              <a:t>z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)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3504031" y="2107707"/>
            <a:ext cx="2281365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Cambria Math"/>
              </a:rPr>
              <a:t>˜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h</a:t>
            </a:r>
            <a:r>
              <a:rPr sz="797" b="0">
                <a:solidFill>
                  <a:srgbClr val="000000"/>
                </a:solidFill>
                <a:latin typeface="Cambria Math"/>
              </a:rPr>
              <a:t>t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= tanh (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W</a:t>
            </a:r>
            <a:r>
              <a:rPr sz="797" b="0">
                <a:solidFill>
                  <a:srgbClr val="000000"/>
                </a:solidFill>
                <a:latin typeface="Cambria Math"/>
              </a:rPr>
              <a:t>h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·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[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r</a:t>
            </a:r>
            <a:r>
              <a:rPr sz="797" b="0">
                <a:solidFill>
                  <a:srgbClr val="000000"/>
                </a:solidFill>
                <a:latin typeface="Cambria Math"/>
              </a:rPr>
              <a:t>t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·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h</a:t>
            </a:r>
            <a:r>
              <a:rPr sz="797" b="0">
                <a:solidFill>
                  <a:srgbClr val="000000"/>
                </a:solidFill>
                <a:latin typeface="Cambria Math"/>
              </a:rPr>
              <a:t>t</a:t>
            </a:r>
            <a:r>
              <a:rPr sz="797" b="0">
                <a:solidFill>
                  <a:srgbClr val="000000"/>
                </a:solidFill>
                <a:latin typeface="Cambria Math"/>
              </a:rPr>
              <a:t>−</a:t>
            </a:r>
            <a:r>
              <a:rPr sz="797" b="0">
                <a:solidFill>
                  <a:srgbClr val="000000"/>
                </a:solidFill>
                <a:latin typeface="Cambria Math"/>
              </a:rPr>
              <a:t>1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, x</a:t>
            </a:r>
            <a:r>
              <a:rPr sz="797" b="0">
                <a:solidFill>
                  <a:srgbClr val="000000"/>
                </a:solidFill>
                <a:latin typeface="Cambria Math"/>
              </a:rPr>
              <a:t>t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] +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b</a:t>
            </a:r>
            <a:r>
              <a:rPr sz="797" b="0">
                <a:solidFill>
                  <a:srgbClr val="000000"/>
                </a:solidFill>
                <a:latin typeface="Cambria Math"/>
              </a:rPr>
              <a:t>h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)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3695967" y="2339025"/>
            <a:ext cx="2089428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Cambria Math"/>
              </a:rPr>
              <a:t>h</a:t>
            </a:r>
            <a:r>
              <a:rPr sz="797" b="0">
                <a:solidFill>
                  <a:srgbClr val="000000"/>
                </a:solidFill>
                <a:latin typeface="Cambria Math"/>
              </a:rPr>
              <a:t>t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= (1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−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z</a:t>
            </a:r>
            <a:r>
              <a:rPr sz="797" b="0">
                <a:solidFill>
                  <a:srgbClr val="000000"/>
                </a:solidFill>
                <a:latin typeface="Cambria Math"/>
              </a:rPr>
              <a:t>t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)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·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h</a:t>
            </a:r>
            <a:r>
              <a:rPr sz="797" b="0">
                <a:solidFill>
                  <a:srgbClr val="000000"/>
                </a:solidFill>
                <a:latin typeface="Cambria Math"/>
              </a:rPr>
              <a:t>t</a:t>
            </a:r>
            <a:r>
              <a:rPr sz="797" b="0">
                <a:solidFill>
                  <a:srgbClr val="000000"/>
                </a:solidFill>
                <a:latin typeface="Cambria Math"/>
              </a:rPr>
              <a:t>−</a:t>
            </a:r>
            <a:r>
              <a:rPr sz="797" b="0">
                <a:solidFill>
                  <a:srgbClr val="000000"/>
                </a:solidFill>
                <a:latin typeface="Cambria Math"/>
              </a:rPr>
              <a:t>1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+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z</a:t>
            </a:r>
            <a:r>
              <a:rPr sz="797" b="0">
                <a:solidFill>
                  <a:srgbClr val="000000"/>
                </a:solidFill>
                <a:latin typeface="Cambria Math"/>
              </a:rPr>
              <a:t>t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·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˜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h</a:t>
            </a:r>
            <a:r>
              <a:rPr sz="797" b="0">
                <a:solidFill>
                  <a:srgbClr val="000000"/>
                </a:solidFill>
                <a:latin typeface="Cambria Math"/>
              </a:rPr>
              <a:t>t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4898159" y="3150918"/>
            <a:ext cx="887236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5638531" y="3150694"/>
            <a:ext cx="146865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16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Freeform 35"/>
          <p:cNvSpPr/>
          <p:nvPr/>
        </p:nvSpPr>
        <p:spPr>
          <a:xfrm>
            <a:off x="635000" y="1016000"/>
            <a:ext cx="2336800" cy="1562100"/>
          </a:xfrm>
          <a:custGeom>
            <a:avLst/>
            <a:gdLst/>
            <a:ahLst/>
            <a:cxnLst/>
            <a:rect l="l" t="t" r="r" b="b"/>
            <a:pathLst>
              <a:path w="184" h="123">
                <a:moveTo>
                  <a:pt x="181" y="0"/>
                </a:moveTo>
                <a:lnTo>
                  <a:pt x="4" y="0"/>
                </a:lnTo>
                <a:lnTo>
                  <a:pt x="3" y="0"/>
                </a:lnTo>
                <a:lnTo>
                  <a:pt x="2" y="1"/>
                </a:lnTo>
                <a:lnTo>
                  <a:pt x="2" y="1"/>
                </a:lnTo>
                <a:lnTo>
                  <a:pt x="1" y="1"/>
                </a:lnTo>
                <a:lnTo>
                  <a:pt x="1" y="2"/>
                </a:lnTo>
                <a:lnTo>
                  <a:pt x="1" y="2"/>
                </a:lnTo>
                <a:lnTo>
                  <a:pt x="0" y="3"/>
                </a:lnTo>
                <a:lnTo>
                  <a:pt x="0" y="4"/>
                </a:lnTo>
                <a:lnTo>
                  <a:pt x="0" y="120"/>
                </a:lnTo>
                <a:lnTo>
                  <a:pt x="0" y="120"/>
                </a:lnTo>
                <a:lnTo>
                  <a:pt x="1" y="121"/>
                </a:lnTo>
                <a:lnTo>
                  <a:pt x="1" y="122"/>
                </a:lnTo>
                <a:lnTo>
                  <a:pt x="1" y="122"/>
                </a:lnTo>
                <a:lnTo>
                  <a:pt x="2" y="122"/>
                </a:lnTo>
                <a:lnTo>
                  <a:pt x="2" y="123"/>
                </a:lnTo>
                <a:lnTo>
                  <a:pt x="3" y="123"/>
                </a:lnTo>
                <a:lnTo>
                  <a:pt x="4" y="123"/>
                </a:lnTo>
                <a:lnTo>
                  <a:pt x="181" y="123"/>
                </a:lnTo>
                <a:lnTo>
                  <a:pt x="182" y="123"/>
                </a:lnTo>
                <a:lnTo>
                  <a:pt x="182" y="123"/>
                </a:lnTo>
                <a:lnTo>
                  <a:pt x="183" y="122"/>
                </a:lnTo>
                <a:lnTo>
                  <a:pt x="183" y="122"/>
                </a:lnTo>
                <a:lnTo>
                  <a:pt x="184" y="122"/>
                </a:lnTo>
                <a:lnTo>
                  <a:pt x="184" y="121"/>
                </a:lnTo>
                <a:lnTo>
                  <a:pt x="184" y="120"/>
                </a:lnTo>
                <a:lnTo>
                  <a:pt x="184" y="120"/>
                </a:lnTo>
                <a:lnTo>
                  <a:pt x="184" y="4"/>
                </a:lnTo>
                <a:lnTo>
                  <a:pt x="184" y="3"/>
                </a:lnTo>
                <a:lnTo>
                  <a:pt x="184" y="2"/>
                </a:lnTo>
                <a:lnTo>
                  <a:pt x="184" y="2"/>
                </a:lnTo>
                <a:lnTo>
                  <a:pt x="183" y="1"/>
                </a:lnTo>
                <a:lnTo>
                  <a:pt x="183" y="1"/>
                </a:lnTo>
                <a:lnTo>
                  <a:pt x="182" y="1"/>
                </a:lnTo>
                <a:lnTo>
                  <a:pt x="182" y="0"/>
                </a:lnTo>
                <a:lnTo>
                  <a:pt x="181" y="0"/>
                </a:lnTo>
                <a:close/>
              </a:path>
            </a:pathLst>
          </a:custGeom>
          <a:solidFill>
            <a:srgbClr val="93D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Freeform 36"/>
          <p:cNvSpPr/>
          <p:nvPr/>
        </p:nvSpPr>
        <p:spPr>
          <a:xfrm>
            <a:off x="1689100" y="1866900"/>
            <a:ext cx="241300" cy="215900"/>
          </a:xfrm>
          <a:custGeom>
            <a:avLst/>
            <a:gdLst/>
            <a:ahLst/>
            <a:cxnLst/>
            <a:rect l="l" t="t" r="r" b="b"/>
            <a:pathLst>
              <a:path w="19" h="17">
                <a:moveTo>
                  <a:pt x="15" y="0"/>
                </a:moveTo>
                <a:lnTo>
                  <a:pt x="3" y="0"/>
                </a:lnTo>
                <a:lnTo>
                  <a:pt x="3" y="0"/>
                </a:lnTo>
                <a:lnTo>
                  <a:pt x="2" y="0"/>
                </a:lnTo>
                <a:lnTo>
                  <a:pt x="1" y="0"/>
                </a:lnTo>
                <a:lnTo>
                  <a:pt x="1" y="1"/>
                </a:lnTo>
                <a:lnTo>
                  <a:pt x="1" y="1"/>
                </a:lnTo>
                <a:lnTo>
                  <a:pt x="0" y="2"/>
                </a:lnTo>
                <a:lnTo>
                  <a:pt x="0" y="2"/>
                </a:lnTo>
                <a:lnTo>
                  <a:pt x="0" y="3"/>
                </a:lnTo>
                <a:lnTo>
                  <a:pt x="0" y="13"/>
                </a:lnTo>
                <a:lnTo>
                  <a:pt x="0" y="14"/>
                </a:lnTo>
                <a:lnTo>
                  <a:pt x="0" y="15"/>
                </a:lnTo>
                <a:lnTo>
                  <a:pt x="1" y="15"/>
                </a:lnTo>
                <a:lnTo>
                  <a:pt x="1" y="16"/>
                </a:lnTo>
                <a:lnTo>
                  <a:pt x="1" y="16"/>
                </a:lnTo>
                <a:lnTo>
                  <a:pt x="2" y="16"/>
                </a:lnTo>
                <a:lnTo>
                  <a:pt x="3" y="17"/>
                </a:lnTo>
                <a:lnTo>
                  <a:pt x="3" y="17"/>
                </a:lnTo>
                <a:lnTo>
                  <a:pt x="15" y="17"/>
                </a:lnTo>
                <a:lnTo>
                  <a:pt x="16" y="17"/>
                </a:lnTo>
                <a:lnTo>
                  <a:pt x="17" y="16"/>
                </a:lnTo>
                <a:lnTo>
                  <a:pt x="17" y="16"/>
                </a:lnTo>
                <a:lnTo>
                  <a:pt x="18" y="16"/>
                </a:lnTo>
                <a:lnTo>
                  <a:pt x="18" y="15"/>
                </a:lnTo>
                <a:lnTo>
                  <a:pt x="18" y="15"/>
                </a:lnTo>
                <a:lnTo>
                  <a:pt x="18" y="14"/>
                </a:lnTo>
                <a:lnTo>
                  <a:pt x="19" y="13"/>
                </a:lnTo>
                <a:lnTo>
                  <a:pt x="19" y="3"/>
                </a:lnTo>
                <a:lnTo>
                  <a:pt x="18" y="2"/>
                </a:lnTo>
                <a:lnTo>
                  <a:pt x="18" y="2"/>
                </a:lnTo>
                <a:lnTo>
                  <a:pt x="18" y="1"/>
                </a:lnTo>
                <a:lnTo>
                  <a:pt x="18" y="1"/>
                </a:lnTo>
                <a:lnTo>
                  <a:pt x="17" y="0"/>
                </a:lnTo>
                <a:lnTo>
                  <a:pt x="17" y="0"/>
                </a:lnTo>
                <a:lnTo>
                  <a:pt x="16" y="0"/>
                </a:lnTo>
                <a:lnTo>
                  <a:pt x="15" y="0"/>
                </a:lnTo>
                <a:close/>
              </a:path>
            </a:pathLst>
          </a:custGeom>
          <a:solidFill>
            <a:srgbClr val="F79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Freeform 37"/>
          <p:cNvSpPr/>
          <p:nvPr/>
        </p:nvSpPr>
        <p:spPr>
          <a:xfrm>
            <a:off x="1295400" y="1866900"/>
            <a:ext cx="228600" cy="215900"/>
          </a:xfrm>
          <a:custGeom>
            <a:avLst/>
            <a:gdLst/>
            <a:ahLst/>
            <a:cxnLst/>
            <a:rect l="l" t="t" r="r" b="b"/>
            <a:pathLst>
              <a:path w="18" h="17">
                <a:moveTo>
                  <a:pt x="15" y="0"/>
                </a:moveTo>
                <a:lnTo>
                  <a:pt x="3" y="0"/>
                </a:lnTo>
                <a:lnTo>
                  <a:pt x="2" y="0"/>
                </a:lnTo>
                <a:lnTo>
                  <a:pt x="1" y="0"/>
                </a:lnTo>
                <a:lnTo>
                  <a:pt x="1" y="0"/>
                </a:lnTo>
                <a:lnTo>
                  <a:pt x="0" y="1"/>
                </a:lnTo>
                <a:lnTo>
                  <a:pt x="0" y="1"/>
                </a:lnTo>
                <a:lnTo>
                  <a:pt x="0" y="2"/>
                </a:lnTo>
                <a:lnTo>
                  <a:pt x="0" y="2"/>
                </a:lnTo>
                <a:lnTo>
                  <a:pt x="0" y="3"/>
                </a:lnTo>
                <a:lnTo>
                  <a:pt x="0" y="13"/>
                </a:lnTo>
                <a:lnTo>
                  <a:pt x="0" y="14"/>
                </a:lnTo>
                <a:lnTo>
                  <a:pt x="0" y="15"/>
                </a:lnTo>
                <a:lnTo>
                  <a:pt x="0" y="15"/>
                </a:lnTo>
                <a:lnTo>
                  <a:pt x="0" y="16"/>
                </a:lnTo>
                <a:lnTo>
                  <a:pt x="1" y="16"/>
                </a:lnTo>
                <a:lnTo>
                  <a:pt x="1" y="16"/>
                </a:lnTo>
                <a:lnTo>
                  <a:pt x="2" y="17"/>
                </a:lnTo>
                <a:lnTo>
                  <a:pt x="3" y="17"/>
                </a:lnTo>
                <a:lnTo>
                  <a:pt x="15" y="17"/>
                </a:lnTo>
                <a:lnTo>
                  <a:pt x="15" y="17"/>
                </a:lnTo>
                <a:lnTo>
                  <a:pt x="16" y="16"/>
                </a:lnTo>
                <a:lnTo>
                  <a:pt x="17" y="16"/>
                </a:lnTo>
                <a:lnTo>
                  <a:pt x="17" y="16"/>
                </a:lnTo>
                <a:lnTo>
                  <a:pt x="17" y="15"/>
                </a:lnTo>
                <a:lnTo>
                  <a:pt x="18" y="15"/>
                </a:lnTo>
                <a:lnTo>
                  <a:pt x="18" y="14"/>
                </a:lnTo>
                <a:lnTo>
                  <a:pt x="18" y="13"/>
                </a:lnTo>
                <a:lnTo>
                  <a:pt x="18" y="3"/>
                </a:lnTo>
                <a:lnTo>
                  <a:pt x="18" y="2"/>
                </a:lnTo>
                <a:lnTo>
                  <a:pt x="18" y="2"/>
                </a:lnTo>
                <a:lnTo>
                  <a:pt x="17" y="1"/>
                </a:lnTo>
                <a:lnTo>
                  <a:pt x="17" y="1"/>
                </a:lnTo>
                <a:lnTo>
                  <a:pt x="17" y="0"/>
                </a:lnTo>
                <a:lnTo>
                  <a:pt x="16" y="0"/>
                </a:lnTo>
                <a:lnTo>
                  <a:pt x="15" y="0"/>
                </a:lnTo>
                <a:lnTo>
                  <a:pt x="15" y="0"/>
                </a:lnTo>
                <a:close/>
              </a:path>
            </a:pathLst>
          </a:custGeom>
          <a:solidFill>
            <a:srgbClr val="F79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Freeform 38"/>
          <p:cNvSpPr/>
          <p:nvPr/>
        </p:nvSpPr>
        <p:spPr>
          <a:xfrm>
            <a:off x="2095500" y="1854200"/>
            <a:ext cx="381000" cy="241300"/>
          </a:xfrm>
          <a:custGeom>
            <a:avLst/>
            <a:gdLst/>
            <a:ahLst/>
            <a:cxnLst/>
            <a:rect l="l" t="t" r="r" b="b"/>
            <a:pathLst>
              <a:path w="30" h="19">
                <a:moveTo>
                  <a:pt x="27" y="0"/>
                </a:moveTo>
                <a:lnTo>
                  <a:pt x="3" y="0"/>
                </a:lnTo>
                <a:lnTo>
                  <a:pt x="2" y="0"/>
                </a:lnTo>
                <a:lnTo>
                  <a:pt x="2" y="0"/>
                </a:lnTo>
                <a:lnTo>
                  <a:pt x="1" y="0"/>
                </a:lnTo>
                <a:lnTo>
                  <a:pt x="1" y="1"/>
                </a:lnTo>
                <a:lnTo>
                  <a:pt x="0" y="1"/>
                </a:lnTo>
                <a:lnTo>
                  <a:pt x="0" y="2"/>
                </a:lnTo>
                <a:lnTo>
                  <a:pt x="0" y="2"/>
                </a:lnTo>
                <a:lnTo>
                  <a:pt x="0" y="3"/>
                </a:lnTo>
                <a:lnTo>
                  <a:pt x="0" y="16"/>
                </a:lnTo>
                <a:lnTo>
                  <a:pt x="0" y="16"/>
                </a:lnTo>
                <a:lnTo>
                  <a:pt x="0" y="17"/>
                </a:lnTo>
                <a:lnTo>
                  <a:pt x="0" y="17"/>
                </a:lnTo>
                <a:lnTo>
                  <a:pt x="1" y="18"/>
                </a:lnTo>
                <a:lnTo>
                  <a:pt x="1" y="18"/>
                </a:lnTo>
                <a:lnTo>
                  <a:pt x="2" y="19"/>
                </a:lnTo>
                <a:lnTo>
                  <a:pt x="2" y="19"/>
                </a:lnTo>
                <a:lnTo>
                  <a:pt x="3" y="19"/>
                </a:lnTo>
                <a:lnTo>
                  <a:pt x="27" y="19"/>
                </a:lnTo>
                <a:lnTo>
                  <a:pt x="28" y="19"/>
                </a:lnTo>
                <a:lnTo>
                  <a:pt x="28" y="19"/>
                </a:lnTo>
                <a:lnTo>
                  <a:pt x="29" y="18"/>
                </a:lnTo>
                <a:lnTo>
                  <a:pt x="29" y="18"/>
                </a:lnTo>
                <a:lnTo>
                  <a:pt x="30" y="17"/>
                </a:lnTo>
                <a:lnTo>
                  <a:pt x="30" y="17"/>
                </a:lnTo>
                <a:lnTo>
                  <a:pt x="30" y="16"/>
                </a:lnTo>
                <a:lnTo>
                  <a:pt x="30" y="16"/>
                </a:lnTo>
                <a:lnTo>
                  <a:pt x="30" y="3"/>
                </a:lnTo>
                <a:lnTo>
                  <a:pt x="30" y="2"/>
                </a:lnTo>
                <a:lnTo>
                  <a:pt x="30" y="2"/>
                </a:lnTo>
                <a:lnTo>
                  <a:pt x="30" y="1"/>
                </a:lnTo>
                <a:lnTo>
                  <a:pt x="29" y="1"/>
                </a:lnTo>
                <a:lnTo>
                  <a:pt x="29" y="0"/>
                </a:lnTo>
                <a:lnTo>
                  <a:pt x="28" y="0"/>
                </a:lnTo>
                <a:lnTo>
                  <a:pt x="28" y="0"/>
                </a:lnTo>
                <a:lnTo>
                  <a:pt x="27" y="0"/>
                </a:lnTo>
                <a:close/>
              </a:path>
            </a:pathLst>
          </a:custGeom>
          <a:solidFill>
            <a:srgbClr val="F79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Freeform 39"/>
          <p:cNvSpPr/>
          <p:nvPr/>
        </p:nvSpPr>
        <p:spPr>
          <a:xfrm>
            <a:off x="762000" y="2082800"/>
            <a:ext cx="215900" cy="215900"/>
          </a:xfrm>
          <a:custGeom>
            <a:avLst/>
            <a:gdLst/>
            <a:ahLst/>
            <a:cxnLst/>
            <a:rect l="l" t="t" r="r" b="b"/>
            <a:pathLst>
              <a:path w="17" h="17">
                <a:moveTo>
                  <a:pt x="17" y="8"/>
                </a:moveTo>
                <a:lnTo>
                  <a:pt x="17" y="7"/>
                </a:lnTo>
                <a:lnTo>
                  <a:pt x="17" y="5"/>
                </a:lnTo>
                <a:lnTo>
                  <a:pt x="16" y="4"/>
                </a:lnTo>
                <a:lnTo>
                  <a:pt x="15" y="2"/>
                </a:lnTo>
                <a:lnTo>
                  <a:pt x="14" y="1"/>
                </a:lnTo>
                <a:lnTo>
                  <a:pt x="12" y="0"/>
                </a:lnTo>
                <a:lnTo>
                  <a:pt x="10" y="0"/>
                </a:lnTo>
                <a:lnTo>
                  <a:pt x="9" y="0"/>
                </a:lnTo>
                <a:lnTo>
                  <a:pt x="7" y="0"/>
                </a:lnTo>
                <a:lnTo>
                  <a:pt x="5" y="0"/>
                </a:lnTo>
                <a:lnTo>
                  <a:pt x="4" y="1"/>
                </a:lnTo>
                <a:lnTo>
                  <a:pt x="2" y="2"/>
                </a:lnTo>
                <a:lnTo>
                  <a:pt x="1" y="4"/>
                </a:lnTo>
                <a:lnTo>
                  <a:pt x="1" y="5"/>
                </a:lnTo>
                <a:lnTo>
                  <a:pt x="0" y="7"/>
                </a:lnTo>
                <a:lnTo>
                  <a:pt x="0" y="8"/>
                </a:lnTo>
                <a:lnTo>
                  <a:pt x="0" y="10"/>
                </a:lnTo>
                <a:lnTo>
                  <a:pt x="1" y="12"/>
                </a:lnTo>
                <a:lnTo>
                  <a:pt x="1" y="13"/>
                </a:lnTo>
                <a:lnTo>
                  <a:pt x="2" y="15"/>
                </a:lnTo>
                <a:lnTo>
                  <a:pt x="4" y="16"/>
                </a:lnTo>
                <a:lnTo>
                  <a:pt x="5" y="16"/>
                </a:lnTo>
                <a:lnTo>
                  <a:pt x="7" y="17"/>
                </a:lnTo>
                <a:lnTo>
                  <a:pt x="9" y="17"/>
                </a:lnTo>
                <a:lnTo>
                  <a:pt x="10" y="17"/>
                </a:lnTo>
                <a:lnTo>
                  <a:pt x="12" y="16"/>
                </a:lnTo>
                <a:lnTo>
                  <a:pt x="14" y="16"/>
                </a:lnTo>
                <a:lnTo>
                  <a:pt x="15" y="15"/>
                </a:lnTo>
                <a:lnTo>
                  <a:pt x="16" y="13"/>
                </a:lnTo>
                <a:lnTo>
                  <a:pt x="17" y="12"/>
                </a:lnTo>
                <a:lnTo>
                  <a:pt x="17" y="10"/>
                </a:lnTo>
                <a:lnTo>
                  <a:pt x="17" y="8"/>
                </a:lnTo>
                <a:close/>
              </a:path>
            </a:pathLst>
          </a:cu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Freeform 40"/>
          <p:cNvSpPr/>
          <p:nvPr/>
        </p:nvSpPr>
        <p:spPr>
          <a:xfrm>
            <a:off x="1028700" y="2311400"/>
            <a:ext cx="215900" cy="228600"/>
          </a:xfrm>
          <a:custGeom>
            <a:avLst/>
            <a:gdLst/>
            <a:ahLst/>
            <a:cxnLst/>
            <a:rect l="l" t="t" r="r" b="b"/>
            <a:pathLst>
              <a:path w="17" h="18">
                <a:moveTo>
                  <a:pt x="17" y="9"/>
                </a:moveTo>
                <a:lnTo>
                  <a:pt x="17" y="7"/>
                </a:lnTo>
                <a:lnTo>
                  <a:pt x="17" y="5"/>
                </a:lnTo>
                <a:lnTo>
                  <a:pt x="16" y="4"/>
                </a:lnTo>
                <a:lnTo>
                  <a:pt x="15" y="3"/>
                </a:lnTo>
                <a:lnTo>
                  <a:pt x="13" y="2"/>
                </a:lnTo>
                <a:lnTo>
                  <a:pt x="12" y="1"/>
                </a:lnTo>
                <a:lnTo>
                  <a:pt x="10" y="0"/>
                </a:lnTo>
                <a:lnTo>
                  <a:pt x="8" y="0"/>
                </a:lnTo>
                <a:lnTo>
                  <a:pt x="7" y="0"/>
                </a:lnTo>
                <a:lnTo>
                  <a:pt x="5" y="1"/>
                </a:lnTo>
                <a:lnTo>
                  <a:pt x="4" y="2"/>
                </a:lnTo>
                <a:lnTo>
                  <a:pt x="2" y="3"/>
                </a:lnTo>
                <a:lnTo>
                  <a:pt x="1" y="4"/>
                </a:lnTo>
                <a:lnTo>
                  <a:pt x="0" y="5"/>
                </a:lnTo>
                <a:lnTo>
                  <a:pt x="0" y="7"/>
                </a:lnTo>
                <a:lnTo>
                  <a:pt x="0" y="9"/>
                </a:lnTo>
                <a:lnTo>
                  <a:pt x="0" y="11"/>
                </a:lnTo>
                <a:lnTo>
                  <a:pt x="0" y="12"/>
                </a:lnTo>
                <a:lnTo>
                  <a:pt x="1" y="14"/>
                </a:lnTo>
                <a:lnTo>
                  <a:pt x="2" y="15"/>
                </a:lnTo>
                <a:lnTo>
                  <a:pt x="4" y="16"/>
                </a:lnTo>
                <a:lnTo>
                  <a:pt x="5" y="17"/>
                </a:lnTo>
                <a:lnTo>
                  <a:pt x="7" y="17"/>
                </a:lnTo>
                <a:lnTo>
                  <a:pt x="8" y="18"/>
                </a:lnTo>
                <a:lnTo>
                  <a:pt x="10" y="17"/>
                </a:lnTo>
                <a:lnTo>
                  <a:pt x="12" y="17"/>
                </a:lnTo>
                <a:lnTo>
                  <a:pt x="13" y="16"/>
                </a:lnTo>
                <a:lnTo>
                  <a:pt x="15" y="15"/>
                </a:lnTo>
                <a:lnTo>
                  <a:pt x="16" y="14"/>
                </a:lnTo>
                <a:lnTo>
                  <a:pt x="17" y="12"/>
                </a:lnTo>
                <a:lnTo>
                  <a:pt x="17" y="11"/>
                </a:lnTo>
                <a:lnTo>
                  <a:pt x="17" y="9"/>
                </a:lnTo>
                <a:close/>
              </a:path>
            </a:pathLst>
          </a:cu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Freeform 41"/>
          <p:cNvSpPr/>
          <p:nvPr/>
        </p:nvSpPr>
        <p:spPr>
          <a:xfrm>
            <a:off x="1028700" y="1549400"/>
            <a:ext cx="215900" cy="215900"/>
          </a:xfrm>
          <a:custGeom>
            <a:avLst/>
            <a:gdLst/>
            <a:ahLst/>
            <a:cxnLst/>
            <a:rect l="l" t="t" r="r" b="b"/>
            <a:pathLst>
              <a:path w="17" h="17">
                <a:moveTo>
                  <a:pt x="17" y="9"/>
                </a:moveTo>
                <a:lnTo>
                  <a:pt x="17" y="7"/>
                </a:lnTo>
                <a:lnTo>
                  <a:pt x="17" y="5"/>
                </a:lnTo>
                <a:lnTo>
                  <a:pt x="16" y="4"/>
                </a:lnTo>
                <a:lnTo>
                  <a:pt x="15" y="2"/>
                </a:lnTo>
                <a:lnTo>
                  <a:pt x="13" y="1"/>
                </a:lnTo>
                <a:lnTo>
                  <a:pt x="12" y="1"/>
                </a:lnTo>
                <a:lnTo>
                  <a:pt x="10" y="0"/>
                </a:lnTo>
                <a:lnTo>
                  <a:pt x="8" y="0"/>
                </a:lnTo>
                <a:lnTo>
                  <a:pt x="7" y="0"/>
                </a:lnTo>
                <a:lnTo>
                  <a:pt x="5" y="1"/>
                </a:lnTo>
                <a:lnTo>
                  <a:pt x="4" y="1"/>
                </a:lnTo>
                <a:lnTo>
                  <a:pt x="2" y="2"/>
                </a:lnTo>
                <a:lnTo>
                  <a:pt x="1" y="4"/>
                </a:lnTo>
                <a:lnTo>
                  <a:pt x="0" y="5"/>
                </a:lnTo>
                <a:lnTo>
                  <a:pt x="0" y="7"/>
                </a:lnTo>
                <a:lnTo>
                  <a:pt x="0" y="9"/>
                </a:lnTo>
                <a:lnTo>
                  <a:pt x="0" y="10"/>
                </a:lnTo>
                <a:lnTo>
                  <a:pt x="0" y="12"/>
                </a:lnTo>
                <a:lnTo>
                  <a:pt x="1" y="14"/>
                </a:lnTo>
                <a:lnTo>
                  <a:pt x="2" y="15"/>
                </a:lnTo>
                <a:lnTo>
                  <a:pt x="4" y="16"/>
                </a:lnTo>
                <a:lnTo>
                  <a:pt x="5" y="17"/>
                </a:lnTo>
                <a:lnTo>
                  <a:pt x="7" y="17"/>
                </a:lnTo>
                <a:lnTo>
                  <a:pt x="8" y="17"/>
                </a:lnTo>
                <a:lnTo>
                  <a:pt x="10" y="17"/>
                </a:lnTo>
                <a:lnTo>
                  <a:pt x="12" y="17"/>
                </a:lnTo>
                <a:lnTo>
                  <a:pt x="13" y="16"/>
                </a:lnTo>
                <a:lnTo>
                  <a:pt x="15" y="15"/>
                </a:lnTo>
                <a:lnTo>
                  <a:pt x="16" y="14"/>
                </a:lnTo>
                <a:lnTo>
                  <a:pt x="17" y="12"/>
                </a:lnTo>
                <a:lnTo>
                  <a:pt x="17" y="10"/>
                </a:lnTo>
                <a:lnTo>
                  <a:pt x="17" y="9"/>
                </a:lnTo>
                <a:close/>
              </a:path>
            </a:pathLst>
          </a:cu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Freeform 42"/>
          <p:cNvSpPr/>
          <p:nvPr/>
        </p:nvSpPr>
        <p:spPr>
          <a:xfrm>
            <a:off x="2171700" y="1549400"/>
            <a:ext cx="228600" cy="215900"/>
          </a:xfrm>
          <a:custGeom>
            <a:avLst/>
            <a:gdLst/>
            <a:ahLst/>
            <a:cxnLst/>
            <a:rect l="l" t="t" r="r" b="b"/>
            <a:pathLst>
              <a:path w="18" h="17">
                <a:moveTo>
                  <a:pt x="18" y="9"/>
                </a:moveTo>
                <a:lnTo>
                  <a:pt x="18" y="7"/>
                </a:lnTo>
                <a:lnTo>
                  <a:pt x="17" y="5"/>
                </a:lnTo>
                <a:lnTo>
                  <a:pt x="16" y="4"/>
                </a:lnTo>
                <a:lnTo>
                  <a:pt x="15" y="2"/>
                </a:lnTo>
                <a:lnTo>
                  <a:pt x="14" y="1"/>
                </a:lnTo>
                <a:lnTo>
                  <a:pt x="12" y="1"/>
                </a:lnTo>
                <a:lnTo>
                  <a:pt x="11" y="0"/>
                </a:lnTo>
                <a:lnTo>
                  <a:pt x="9" y="0"/>
                </a:lnTo>
                <a:lnTo>
                  <a:pt x="7" y="0"/>
                </a:lnTo>
                <a:lnTo>
                  <a:pt x="6" y="1"/>
                </a:lnTo>
                <a:lnTo>
                  <a:pt x="4" y="1"/>
                </a:lnTo>
                <a:lnTo>
                  <a:pt x="3" y="2"/>
                </a:lnTo>
                <a:lnTo>
                  <a:pt x="2" y="4"/>
                </a:lnTo>
                <a:lnTo>
                  <a:pt x="1" y="5"/>
                </a:lnTo>
                <a:lnTo>
                  <a:pt x="0" y="7"/>
                </a:lnTo>
                <a:lnTo>
                  <a:pt x="0" y="9"/>
                </a:lnTo>
                <a:lnTo>
                  <a:pt x="0" y="10"/>
                </a:lnTo>
                <a:lnTo>
                  <a:pt x="1" y="12"/>
                </a:lnTo>
                <a:lnTo>
                  <a:pt x="2" y="14"/>
                </a:lnTo>
                <a:lnTo>
                  <a:pt x="3" y="15"/>
                </a:lnTo>
                <a:lnTo>
                  <a:pt x="4" y="16"/>
                </a:lnTo>
                <a:lnTo>
                  <a:pt x="6" y="17"/>
                </a:lnTo>
                <a:lnTo>
                  <a:pt x="7" y="17"/>
                </a:lnTo>
                <a:lnTo>
                  <a:pt x="9" y="17"/>
                </a:lnTo>
                <a:lnTo>
                  <a:pt x="11" y="17"/>
                </a:lnTo>
                <a:lnTo>
                  <a:pt x="12" y="17"/>
                </a:lnTo>
                <a:lnTo>
                  <a:pt x="14" y="16"/>
                </a:lnTo>
                <a:lnTo>
                  <a:pt x="15" y="15"/>
                </a:lnTo>
                <a:lnTo>
                  <a:pt x="16" y="14"/>
                </a:lnTo>
                <a:lnTo>
                  <a:pt x="17" y="12"/>
                </a:lnTo>
                <a:lnTo>
                  <a:pt x="18" y="10"/>
                </a:lnTo>
                <a:lnTo>
                  <a:pt x="18" y="9"/>
                </a:lnTo>
                <a:close/>
              </a:path>
            </a:pathLst>
          </a:cu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Freeform 43"/>
          <p:cNvSpPr/>
          <p:nvPr/>
        </p:nvSpPr>
        <p:spPr>
          <a:xfrm>
            <a:off x="2171700" y="1054100"/>
            <a:ext cx="228600" cy="215900"/>
          </a:xfrm>
          <a:custGeom>
            <a:avLst/>
            <a:gdLst/>
            <a:ahLst/>
            <a:cxnLst/>
            <a:rect l="l" t="t" r="r" b="b"/>
            <a:pathLst>
              <a:path w="18" h="17">
                <a:moveTo>
                  <a:pt x="18" y="8"/>
                </a:moveTo>
                <a:lnTo>
                  <a:pt x="18" y="7"/>
                </a:lnTo>
                <a:lnTo>
                  <a:pt x="17" y="5"/>
                </a:lnTo>
                <a:lnTo>
                  <a:pt x="16" y="3"/>
                </a:lnTo>
                <a:lnTo>
                  <a:pt x="15" y="2"/>
                </a:lnTo>
                <a:lnTo>
                  <a:pt x="14" y="1"/>
                </a:lnTo>
                <a:lnTo>
                  <a:pt x="12" y="0"/>
                </a:lnTo>
                <a:lnTo>
                  <a:pt x="11" y="0"/>
                </a:lnTo>
                <a:lnTo>
                  <a:pt x="9" y="0"/>
                </a:lnTo>
                <a:lnTo>
                  <a:pt x="7" y="0"/>
                </a:lnTo>
                <a:lnTo>
                  <a:pt x="6" y="0"/>
                </a:lnTo>
                <a:lnTo>
                  <a:pt x="4" y="1"/>
                </a:lnTo>
                <a:lnTo>
                  <a:pt x="3" y="2"/>
                </a:lnTo>
                <a:lnTo>
                  <a:pt x="2" y="3"/>
                </a:lnTo>
                <a:lnTo>
                  <a:pt x="1" y="5"/>
                </a:lnTo>
                <a:lnTo>
                  <a:pt x="0" y="7"/>
                </a:lnTo>
                <a:lnTo>
                  <a:pt x="0" y="8"/>
                </a:lnTo>
                <a:lnTo>
                  <a:pt x="0" y="10"/>
                </a:lnTo>
                <a:lnTo>
                  <a:pt x="1" y="12"/>
                </a:lnTo>
                <a:lnTo>
                  <a:pt x="2" y="13"/>
                </a:lnTo>
                <a:lnTo>
                  <a:pt x="3" y="15"/>
                </a:lnTo>
                <a:lnTo>
                  <a:pt x="4" y="16"/>
                </a:lnTo>
                <a:lnTo>
                  <a:pt x="6" y="16"/>
                </a:lnTo>
                <a:lnTo>
                  <a:pt x="7" y="17"/>
                </a:lnTo>
                <a:lnTo>
                  <a:pt x="9" y="17"/>
                </a:lnTo>
                <a:lnTo>
                  <a:pt x="11" y="17"/>
                </a:lnTo>
                <a:lnTo>
                  <a:pt x="12" y="16"/>
                </a:lnTo>
                <a:lnTo>
                  <a:pt x="14" y="16"/>
                </a:lnTo>
                <a:lnTo>
                  <a:pt x="15" y="15"/>
                </a:lnTo>
                <a:lnTo>
                  <a:pt x="16" y="13"/>
                </a:lnTo>
                <a:lnTo>
                  <a:pt x="17" y="12"/>
                </a:lnTo>
                <a:lnTo>
                  <a:pt x="18" y="10"/>
                </a:lnTo>
                <a:lnTo>
                  <a:pt x="18" y="8"/>
                </a:lnTo>
                <a:close/>
              </a:path>
            </a:pathLst>
          </a:cu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Freeform 44"/>
          <p:cNvSpPr/>
          <p:nvPr/>
        </p:nvSpPr>
        <p:spPr>
          <a:xfrm>
            <a:off x="1701800" y="1054100"/>
            <a:ext cx="215900" cy="215900"/>
          </a:xfrm>
          <a:custGeom>
            <a:avLst/>
            <a:gdLst/>
            <a:ahLst/>
            <a:cxnLst/>
            <a:rect l="l" t="t" r="r" b="b"/>
            <a:pathLst>
              <a:path w="17" h="17">
                <a:moveTo>
                  <a:pt x="17" y="8"/>
                </a:moveTo>
                <a:lnTo>
                  <a:pt x="17" y="7"/>
                </a:lnTo>
                <a:lnTo>
                  <a:pt x="16" y="5"/>
                </a:lnTo>
                <a:lnTo>
                  <a:pt x="16" y="3"/>
                </a:lnTo>
                <a:lnTo>
                  <a:pt x="14" y="2"/>
                </a:lnTo>
                <a:lnTo>
                  <a:pt x="13" y="1"/>
                </a:lnTo>
                <a:lnTo>
                  <a:pt x="12" y="0"/>
                </a:lnTo>
                <a:lnTo>
                  <a:pt x="10" y="0"/>
                </a:lnTo>
                <a:lnTo>
                  <a:pt x="8" y="0"/>
                </a:lnTo>
                <a:lnTo>
                  <a:pt x="7" y="0"/>
                </a:lnTo>
                <a:lnTo>
                  <a:pt x="5" y="0"/>
                </a:lnTo>
                <a:lnTo>
                  <a:pt x="3" y="1"/>
                </a:lnTo>
                <a:lnTo>
                  <a:pt x="2" y="2"/>
                </a:lnTo>
                <a:lnTo>
                  <a:pt x="1" y="3"/>
                </a:lnTo>
                <a:lnTo>
                  <a:pt x="0" y="5"/>
                </a:lnTo>
                <a:lnTo>
                  <a:pt x="0" y="7"/>
                </a:lnTo>
                <a:lnTo>
                  <a:pt x="0" y="8"/>
                </a:lnTo>
                <a:lnTo>
                  <a:pt x="0" y="10"/>
                </a:lnTo>
                <a:lnTo>
                  <a:pt x="0" y="12"/>
                </a:lnTo>
                <a:lnTo>
                  <a:pt x="1" y="13"/>
                </a:lnTo>
                <a:lnTo>
                  <a:pt x="2" y="15"/>
                </a:lnTo>
                <a:lnTo>
                  <a:pt x="3" y="16"/>
                </a:lnTo>
                <a:lnTo>
                  <a:pt x="5" y="16"/>
                </a:lnTo>
                <a:lnTo>
                  <a:pt x="7" y="17"/>
                </a:lnTo>
                <a:lnTo>
                  <a:pt x="8" y="17"/>
                </a:lnTo>
                <a:lnTo>
                  <a:pt x="10" y="17"/>
                </a:lnTo>
                <a:lnTo>
                  <a:pt x="12" y="16"/>
                </a:lnTo>
                <a:lnTo>
                  <a:pt x="13" y="16"/>
                </a:lnTo>
                <a:lnTo>
                  <a:pt x="14" y="15"/>
                </a:lnTo>
                <a:lnTo>
                  <a:pt x="16" y="13"/>
                </a:lnTo>
                <a:lnTo>
                  <a:pt x="16" y="12"/>
                </a:lnTo>
                <a:lnTo>
                  <a:pt x="17" y="10"/>
                </a:lnTo>
                <a:lnTo>
                  <a:pt x="17" y="8"/>
                </a:lnTo>
                <a:close/>
              </a:path>
            </a:pathLst>
          </a:cu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Freeform 45"/>
          <p:cNvSpPr/>
          <p:nvPr/>
        </p:nvSpPr>
        <p:spPr>
          <a:xfrm>
            <a:off x="1651000" y="1358900"/>
            <a:ext cx="304800" cy="215900"/>
          </a:xfrm>
          <a:custGeom>
            <a:avLst/>
            <a:gdLst/>
            <a:ahLst/>
            <a:cxnLst/>
            <a:rect l="l" t="t" r="r" b="b"/>
            <a:pathLst>
              <a:path w="24" h="17">
                <a:moveTo>
                  <a:pt x="24" y="9"/>
                </a:moveTo>
                <a:lnTo>
                  <a:pt x="24" y="7"/>
                </a:lnTo>
                <a:lnTo>
                  <a:pt x="23" y="5"/>
                </a:lnTo>
                <a:lnTo>
                  <a:pt x="22" y="4"/>
                </a:lnTo>
                <a:lnTo>
                  <a:pt x="21" y="2"/>
                </a:lnTo>
                <a:lnTo>
                  <a:pt x="19" y="1"/>
                </a:lnTo>
                <a:lnTo>
                  <a:pt x="17" y="1"/>
                </a:lnTo>
                <a:lnTo>
                  <a:pt x="15" y="0"/>
                </a:lnTo>
                <a:lnTo>
                  <a:pt x="12" y="0"/>
                </a:lnTo>
                <a:lnTo>
                  <a:pt x="10" y="0"/>
                </a:lnTo>
                <a:lnTo>
                  <a:pt x="8" y="1"/>
                </a:lnTo>
                <a:lnTo>
                  <a:pt x="6" y="1"/>
                </a:lnTo>
                <a:lnTo>
                  <a:pt x="4" y="2"/>
                </a:lnTo>
                <a:lnTo>
                  <a:pt x="2" y="4"/>
                </a:lnTo>
                <a:lnTo>
                  <a:pt x="1" y="5"/>
                </a:lnTo>
                <a:lnTo>
                  <a:pt x="1" y="7"/>
                </a:lnTo>
                <a:lnTo>
                  <a:pt x="0" y="9"/>
                </a:lnTo>
                <a:lnTo>
                  <a:pt x="1" y="10"/>
                </a:lnTo>
                <a:lnTo>
                  <a:pt x="1" y="12"/>
                </a:lnTo>
                <a:lnTo>
                  <a:pt x="2" y="13"/>
                </a:lnTo>
                <a:lnTo>
                  <a:pt x="4" y="15"/>
                </a:lnTo>
                <a:lnTo>
                  <a:pt x="6" y="16"/>
                </a:lnTo>
                <a:lnTo>
                  <a:pt x="8" y="17"/>
                </a:lnTo>
                <a:lnTo>
                  <a:pt x="10" y="17"/>
                </a:lnTo>
                <a:lnTo>
                  <a:pt x="12" y="17"/>
                </a:lnTo>
                <a:lnTo>
                  <a:pt x="15" y="17"/>
                </a:lnTo>
                <a:lnTo>
                  <a:pt x="17" y="17"/>
                </a:lnTo>
                <a:lnTo>
                  <a:pt x="19" y="16"/>
                </a:lnTo>
                <a:lnTo>
                  <a:pt x="21" y="15"/>
                </a:lnTo>
                <a:lnTo>
                  <a:pt x="22" y="13"/>
                </a:lnTo>
                <a:lnTo>
                  <a:pt x="23" y="12"/>
                </a:lnTo>
                <a:lnTo>
                  <a:pt x="24" y="10"/>
                </a:lnTo>
                <a:lnTo>
                  <a:pt x="24" y="9"/>
                </a:lnTo>
                <a:close/>
              </a:path>
            </a:pathLst>
          </a:cu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7" name="Connector 46"/>
          <p:cNvCxnSpPr/>
          <p:nvPr/>
        </p:nvCxnSpPr>
        <p:spPr>
          <a:xfrm flipV="1">
            <a:off x="2859547" y="934572"/>
            <a:ext cx="0" cy="225209"/>
          </a:xfrm>
          <a:prstGeom prst="line">
            <a:avLst/>
          </a:prstGeom>
          <a:ln w="812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Freeform 47"/>
          <p:cNvSpPr/>
          <p:nvPr/>
        </p:nvSpPr>
        <p:spPr>
          <a:xfrm>
            <a:off x="2832100" y="9144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2" y="0"/>
                </a:moveTo>
                <a:lnTo>
                  <a:pt x="0" y="3"/>
                </a:lnTo>
                <a:lnTo>
                  <a:pt x="2" y="2"/>
                </a:lnTo>
                <a:lnTo>
                  <a:pt x="4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9" name="Connector 48"/>
          <p:cNvCxnSpPr/>
          <p:nvPr/>
        </p:nvCxnSpPr>
        <p:spPr>
          <a:xfrm>
            <a:off x="526679" y="1159781"/>
            <a:ext cx="345048" cy="0"/>
          </a:xfrm>
          <a:prstGeom prst="line">
            <a:avLst/>
          </a:prstGeom>
          <a:ln w="812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871727" y="1159781"/>
            <a:ext cx="264270" cy="0"/>
          </a:xfrm>
          <a:prstGeom prst="line">
            <a:avLst/>
          </a:prstGeom>
          <a:ln w="812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871727" y="2423737"/>
            <a:ext cx="0" cy="267224"/>
          </a:xfrm>
          <a:prstGeom prst="line">
            <a:avLst/>
          </a:prstGeom>
          <a:ln w="812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871727" y="1159781"/>
            <a:ext cx="0" cy="881215"/>
          </a:xfrm>
          <a:prstGeom prst="line">
            <a:avLst/>
          </a:prstGeom>
          <a:ln w="812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Freeform 52"/>
          <p:cNvSpPr/>
          <p:nvPr/>
        </p:nvSpPr>
        <p:spPr>
          <a:xfrm>
            <a:off x="850900" y="20193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2" y="4"/>
                </a:moveTo>
                <a:lnTo>
                  <a:pt x="3" y="0"/>
                </a:lnTo>
                <a:lnTo>
                  <a:pt x="2" y="2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4" name="Connector 53"/>
          <p:cNvCxnSpPr/>
          <p:nvPr/>
        </p:nvCxnSpPr>
        <p:spPr>
          <a:xfrm flipV="1">
            <a:off x="871727" y="2338364"/>
            <a:ext cx="0" cy="85373"/>
          </a:xfrm>
          <a:prstGeom prst="line">
            <a:avLst/>
          </a:prstGeom>
          <a:ln w="812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Freeform 54"/>
          <p:cNvSpPr/>
          <p:nvPr/>
        </p:nvSpPr>
        <p:spPr>
          <a:xfrm>
            <a:off x="850900" y="23114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2" y="0"/>
                </a:moveTo>
                <a:lnTo>
                  <a:pt x="0" y="3"/>
                </a:lnTo>
                <a:lnTo>
                  <a:pt x="2" y="2"/>
                </a:lnTo>
                <a:lnTo>
                  <a:pt x="3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" name="Connector 55"/>
          <p:cNvCxnSpPr/>
          <p:nvPr/>
        </p:nvCxnSpPr>
        <p:spPr>
          <a:xfrm>
            <a:off x="1135997" y="1159781"/>
            <a:ext cx="0" cy="350670"/>
          </a:xfrm>
          <a:prstGeom prst="line">
            <a:avLst/>
          </a:prstGeom>
          <a:ln w="812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Freeform 56"/>
          <p:cNvSpPr/>
          <p:nvPr/>
        </p:nvSpPr>
        <p:spPr>
          <a:xfrm>
            <a:off x="1117600" y="14986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3"/>
                </a:moveTo>
                <a:lnTo>
                  <a:pt x="3" y="0"/>
                </a:lnTo>
                <a:lnTo>
                  <a:pt x="1" y="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" name="Connector 57"/>
          <p:cNvCxnSpPr/>
          <p:nvPr/>
        </p:nvCxnSpPr>
        <p:spPr>
          <a:xfrm>
            <a:off x="1135997" y="1781423"/>
            <a:ext cx="0" cy="493630"/>
          </a:xfrm>
          <a:prstGeom prst="line">
            <a:avLst/>
          </a:prstGeom>
          <a:ln w="812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Freeform 58"/>
          <p:cNvSpPr/>
          <p:nvPr/>
        </p:nvSpPr>
        <p:spPr>
          <a:xfrm>
            <a:off x="1117600" y="22606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3"/>
                </a:moveTo>
                <a:lnTo>
                  <a:pt x="3" y="0"/>
                </a:lnTo>
                <a:lnTo>
                  <a:pt x="1" y="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0" name="Connector 59"/>
          <p:cNvCxnSpPr/>
          <p:nvPr/>
        </p:nvCxnSpPr>
        <p:spPr>
          <a:xfrm>
            <a:off x="871727" y="2423737"/>
            <a:ext cx="115586" cy="0"/>
          </a:xfrm>
          <a:prstGeom prst="line">
            <a:avLst/>
          </a:prstGeom>
          <a:ln w="812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Freeform 60"/>
          <p:cNvSpPr/>
          <p:nvPr/>
        </p:nvSpPr>
        <p:spPr>
          <a:xfrm>
            <a:off x="965200" y="24003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4" y="2"/>
                </a:moveTo>
                <a:lnTo>
                  <a:pt x="0" y="0"/>
                </a:lnTo>
                <a:lnTo>
                  <a:pt x="2" y="2"/>
                </a:lnTo>
                <a:lnTo>
                  <a:pt x="0" y="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2" name="Connector 61"/>
          <p:cNvCxnSpPr/>
          <p:nvPr/>
        </p:nvCxnSpPr>
        <p:spPr>
          <a:xfrm>
            <a:off x="1258285" y="2423737"/>
            <a:ext cx="1027234" cy="0"/>
          </a:xfrm>
          <a:prstGeom prst="line">
            <a:avLst/>
          </a:prstGeom>
          <a:ln w="812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2285519" y="2130711"/>
            <a:ext cx="0" cy="293026"/>
          </a:xfrm>
          <a:prstGeom prst="line">
            <a:avLst/>
          </a:prstGeom>
          <a:ln w="812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Freeform 63"/>
          <p:cNvSpPr/>
          <p:nvPr/>
        </p:nvSpPr>
        <p:spPr>
          <a:xfrm>
            <a:off x="2260600" y="21082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2" y="0"/>
                </a:moveTo>
                <a:lnTo>
                  <a:pt x="0" y="3"/>
                </a:lnTo>
                <a:lnTo>
                  <a:pt x="2" y="2"/>
                </a:lnTo>
                <a:lnTo>
                  <a:pt x="4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" name="Connector 64"/>
          <p:cNvCxnSpPr/>
          <p:nvPr/>
        </p:nvCxnSpPr>
        <p:spPr>
          <a:xfrm flipV="1">
            <a:off x="2285519" y="1807818"/>
            <a:ext cx="0" cy="30305"/>
          </a:xfrm>
          <a:prstGeom prst="line">
            <a:avLst/>
          </a:prstGeom>
          <a:ln w="812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Freeform 65"/>
          <p:cNvSpPr/>
          <p:nvPr/>
        </p:nvSpPr>
        <p:spPr>
          <a:xfrm>
            <a:off x="2260600" y="17780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2" y="0"/>
                </a:moveTo>
                <a:lnTo>
                  <a:pt x="0" y="4"/>
                </a:lnTo>
                <a:lnTo>
                  <a:pt x="2" y="2"/>
                </a:lnTo>
                <a:lnTo>
                  <a:pt x="4" y="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7" name="Connector 66"/>
          <p:cNvCxnSpPr/>
          <p:nvPr/>
        </p:nvCxnSpPr>
        <p:spPr>
          <a:xfrm>
            <a:off x="1807167" y="1659135"/>
            <a:ext cx="329668" cy="0"/>
          </a:xfrm>
          <a:prstGeom prst="line">
            <a:avLst/>
          </a:prstGeom>
          <a:ln w="812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Freeform 67"/>
          <p:cNvSpPr/>
          <p:nvPr/>
        </p:nvSpPr>
        <p:spPr>
          <a:xfrm>
            <a:off x="2120900" y="16383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2"/>
                </a:moveTo>
                <a:lnTo>
                  <a:pt x="0" y="0"/>
                </a:lnTo>
                <a:lnTo>
                  <a:pt x="1" y="2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9" name="Connector 68"/>
          <p:cNvCxnSpPr/>
          <p:nvPr/>
        </p:nvCxnSpPr>
        <p:spPr>
          <a:xfrm flipV="1">
            <a:off x="2285519" y="1308465"/>
            <a:ext cx="0" cy="228382"/>
          </a:xfrm>
          <a:prstGeom prst="line">
            <a:avLst/>
          </a:prstGeom>
          <a:ln w="812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Freeform 69"/>
          <p:cNvSpPr/>
          <p:nvPr/>
        </p:nvSpPr>
        <p:spPr>
          <a:xfrm>
            <a:off x="2260600" y="12827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2" y="0"/>
                </a:moveTo>
                <a:lnTo>
                  <a:pt x="0" y="3"/>
                </a:lnTo>
                <a:lnTo>
                  <a:pt x="2" y="2"/>
                </a:lnTo>
                <a:lnTo>
                  <a:pt x="4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1" name="Connector 70"/>
          <p:cNvCxnSpPr/>
          <p:nvPr/>
        </p:nvCxnSpPr>
        <p:spPr>
          <a:xfrm>
            <a:off x="994015" y="2189680"/>
            <a:ext cx="412215" cy="0"/>
          </a:xfrm>
          <a:prstGeom prst="line">
            <a:avLst/>
          </a:prstGeom>
          <a:ln w="30457">
            <a:solidFill>
              <a:srgbClr val="93D4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994015" y="2189680"/>
            <a:ext cx="412215" cy="0"/>
          </a:xfrm>
          <a:prstGeom prst="line">
            <a:avLst/>
          </a:prstGeom>
          <a:ln w="812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1406230" y="2189680"/>
            <a:ext cx="400937" cy="0"/>
          </a:xfrm>
          <a:prstGeom prst="line">
            <a:avLst/>
          </a:prstGeom>
          <a:ln w="812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1406230" y="2116043"/>
            <a:ext cx="0" cy="73637"/>
          </a:xfrm>
          <a:prstGeom prst="line">
            <a:avLst/>
          </a:prstGeom>
          <a:ln w="812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Freeform 74"/>
          <p:cNvSpPr/>
          <p:nvPr/>
        </p:nvSpPr>
        <p:spPr>
          <a:xfrm>
            <a:off x="1384300" y="20955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2" y="0"/>
                </a:moveTo>
                <a:lnTo>
                  <a:pt x="0" y="3"/>
                </a:lnTo>
                <a:lnTo>
                  <a:pt x="2" y="2"/>
                </a:lnTo>
                <a:lnTo>
                  <a:pt x="3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6" name="Connector 75"/>
          <p:cNvCxnSpPr/>
          <p:nvPr/>
        </p:nvCxnSpPr>
        <p:spPr>
          <a:xfrm flipV="1">
            <a:off x="1807167" y="2116043"/>
            <a:ext cx="0" cy="73637"/>
          </a:xfrm>
          <a:prstGeom prst="line">
            <a:avLst/>
          </a:prstGeom>
          <a:ln w="812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Freeform 76"/>
          <p:cNvSpPr/>
          <p:nvPr/>
        </p:nvSpPr>
        <p:spPr>
          <a:xfrm>
            <a:off x="1790700" y="20955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0"/>
                </a:moveTo>
                <a:lnTo>
                  <a:pt x="0" y="3"/>
                </a:lnTo>
                <a:lnTo>
                  <a:pt x="1" y="2"/>
                </a:lnTo>
                <a:lnTo>
                  <a:pt x="3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8" name="Connector 77"/>
          <p:cNvCxnSpPr/>
          <p:nvPr/>
        </p:nvCxnSpPr>
        <p:spPr>
          <a:xfrm flipV="1">
            <a:off x="1406230" y="1659135"/>
            <a:ext cx="0" cy="193656"/>
          </a:xfrm>
          <a:prstGeom prst="line">
            <a:avLst/>
          </a:prstGeom>
          <a:ln w="812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H="1">
            <a:off x="1284681" y="1659135"/>
            <a:ext cx="121549" cy="0"/>
          </a:xfrm>
          <a:prstGeom prst="line">
            <a:avLst/>
          </a:prstGeom>
          <a:ln w="812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Freeform 79"/>
          <p:cNvSpPr/>
          <p:nvPr/>
        </p:nvSpPr>
        <p:spPr>
          <a:xfrm>
            <a:off x="1257300" y="16383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0" y="2"/>
                </a:moveTo>
                <a:lnTo>
                  <a:pt x="3" y="3"/>
                </a:lnTo>
                <a:lnTo>
                  <a:pt x="2" y="2"/>
                </a:lnTo>
                <a:lnTo>
                  <a:pt x="3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1" name="Connector 80"/>
          <p:cNvCxnSpPr/>
          <p:nvPr/>
        </p:nvCxnSpPr>
        <p:spPr>
          <a:xfrm flipV="1">
            <a:off x="1807167" y="1616815"/>
            <a:ext cx="0" cy="235976"/>
          </a:xfrm>
          <a:prstGeom prst="line">
            <a:avLst/>
          </a:prstGeom>
          <a:ln w="812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Freeform 81"/>
          <p:cNvSpPr/>
          <p:nvPr/>
        </p:nvSpPr>
        <p:spPr>
          <a:xfrm>
            <a:off x="1790700" y="15875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1" y="0"/>
                </a:moveTo>
                <a:lnTo>
                  <a:pt x="0" y="4"/>
                </a:lnTo>
                <a:lnTo>
                  <a:pt x="1" y="2"/>
                </a:lnTo>
                <a:lnTo>
                  <a:pt x="3" y="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3" name="Connector 82"/>
          <p:cNvCxnSpPr/>
          <p:nvPr/>
        </p:nvCxnSpPr>
        <p:spPr>
          <a:xfrm flipV="1">
            <a:off x="1807167" y="1308465"/>
            <a:ext cx="0" cy="37379"/>
          </a:xfrm>
          <a:prstGeom prst="line">
            <a:avLst/>
          </a:prstGeom>
          <a:ln w="812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Freeform 83"/>
          <p:cNvSpPr/>
          <p:nvPr/>
        </p:nvSpPr>
        <p:spPr>
          <a:xfrm>
            <a:off x="1790700" y="12827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0"/>
                </a:moveTo>
                <a:lnTo>
                  <a:pt x="0" y="3"/>
                </a:lnTo>
                <a:lnTo>
                  <a:pt x="1" y="2"/>
                </a:lnTo>
                <a:lnTo>
                  <a:pt x="3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5" name="Connector 84"/>
          <p:cNvCxnSpPr/>
          <p:nvPr/>
        </p:nvCxnSpPr>
        <p:spPr>
          <a:xfrm>
            <a:off x="1135997" y="1159781"/>
            <a:ext cx="522487" cy="0"/>
          </a:xfrm>
          <a:prstGeom prst="line">
            <a:avLst/>
          </a:prstGeom>
          <a:ln w="812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Freeform 85"/>
          <p:cNvSpPr/>
          <p:nvPr/>
        </p:nvSpPr>
        <p:spPr>
          <a:xfrm>
            <a:off x="1638300" y="11430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4" y="1"/>
                </a:moveTo>
                <a:lnTo>
                  <a:pt x="0" y="0"/>
                </a:lnTo>
                <a:lnTo>
                  <a:pt x="2" y="1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7" name="Connector 86"/>
          <p:cNvCxnSpPr/>
          <p:nvPr/>
        </p:nvCxnSpPr>
        <p:spPr>
          <a:xfrm>
            <a:off x="1929455" y="1159781"/>
            <a:ext cx="207380" cy="0"/>
          </a:xfrm>
          <a:prstGeom prst="line">
            <a:avLst/>
          </a:prstGeom>
          <a:ln w="812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Freeform 87"/>
          <p:cNvSpPr/>
          <p:nvPr/>
        </p:nvSpPr>
        <p:spPr>
          <a:xfrm>
            <a:off x="2120900" y="11430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1"/>
                </a:moveTo>
                <a:lnTo>
                  <a:pt x="0" y="0"/>
                </a:lnTo>
                <a:lnTo>
                  <a:pt x="1" y="1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9" name="Connector 88"/>
          <p:cNvCxnSpPr/>
          <p:nvPr/>
        </p:nvCxnSpPr>
        <p:spPr>
          <a:xfrm>
            <a:off x="2407807" y="1159781"/>
            <a:ext cx="653453" cy="0"/>
          </a:xfrm>
          <a:prstGeom prst="line">
            <a:avLst/>
          </a:prstGeom>
          <a:ln w="812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Freeform 89"/>
          <p:cNvSpPr/>
          <p:nvPr/>
        </p:nvSpPr>
        <p:spPr>
          <a:xfrm>
            <a:off x="3048000" y="11430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1"/>
                </a:moveTo>
                <a:lnTo>
                  <a:pt x="0" y="0"/>
                </a:lnTo>
                <a:lnTo>
                  <a:pt x="1" y="1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-2" y="3146742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2880001" y="3146742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3" name="Picture 9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94" name="Picture 9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95" name="TextBox 94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Gaterd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Recurrent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Units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(GRU)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8000" y="359888"/>
            <a:ext cx="5677395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1">
                <a:solidFill>
                  <a:srgbClr val="003373"/>
                </a:solidFill>
                <a:latin typeface="Josefin Sans"/>
              </a:rPr>
              <a:t>Architecture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277057" y="1098945"/>
            <a:ext cx="5508338" cy="17231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75" b="0">
                <a:solidFill>
                  <a:srgbClr val="000000"/>
                </a:solidFill>
                <a:latin typeface="Cambria Math"/>
              </a:rPr>
              <a:t>h</a:t>
            </a:r>
            <a:r>
              <a:rPr sz="639" b="0">
                <a:solidFill>
                  <a:srgbClr val="000000"/>
                </a:solidFill>
                <a:latin typeface="Cambria Math"/>
              </a:rPr>
              <a:t>t</a:t>
            </a:r>
            <a:r>
              <a:rPr sz="639" b="0">
                <a:solidFill>
                  <a:srgbClr val="000000"/>
                </a:solidFill>
                <a:latin typeface="Cambria Math"/>
              </a:rPr>
              <a:t>−</a:t>
            </a:r>
            <a:r>
              <a:rPr sz="639" b="0">
                <a:solidFill>
                  <a:srgbClr val="000000"/>
                </a:solidFill>
                <a:latin typeface="Cambria Math"/>
              </a:rPr>
              <a:t>1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21850" y="2691014"/>
            <a:ext cx="4963545" cy="17231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75" b="0">
                <a:solidFill>
                  <a:srgbClr val="000000"/>
                </a:solidFill>
                <a:latin typeface="Cambria Math"/>
              </a:rPr>
              <a:t>x</a:t>
            </a:r>
            <a:r>
              <a:rPr sz="639" b="0">
                <a:solidFill>
                  <a:srgbClr val="000000"/>
                </a:solidFill>
                <a:latin typeface="Cambria Math"/>
              </a:rPr>
              <a:t>t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2809391" y="765553"/>
            <a:ext cx="2976004" cy="17231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75" b="0">
                <a:solidFill>
                  <a:srgbClr val="000000"/>
                </a:solidFill>
                <a:latin typeface="Cambria Math"/>
              </a:rPr>
              <a:t>h</a:t>
            </a:r>
            <a:r>
              <a:rPr sz="639" b="0">
                <a:solidFill>
                  <a:srgbClr val="000000"/>
                </a:solidFill>
                <a:latin typeface="Cambria Math"/>
              </a:rPr>
              <a:t>t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3126723" y="1103174"/>
            <a:ext cx="2658672" cy="17231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75" b="0">
                <a:solidFill>
                  <a:srgbClr val="000000"/>
                </a:solidFill>
                <a:latin typeface="Cambria Math"/>
              </a:rPr>
              <a:t>h</a:t>
            </a:r>
            <a:r>
              <a:rPr sz="639" b="0">
                <a:solidFill>
                  <a:srgbClr val="000000"/>
                </a:solidFill>
                <a:latin typeface="Cambria Math"/>
              </a:rPr>
              <a:t>t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773406" y="1908273"/>
            <a:ext cx="4011989" cy="17231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75" b="0">
                <a:solidFill>
                  <a:srgbClr val="000000"/>
                </a:solidFill>
                <a:latin typeface="Cambria Math"/>
              </a:rPr>
              <a:t>σ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372482" y="1908273"/>
            <a:ext cx="4412913" cy="17231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75" b="0">
                <a:solidFill>
                  <a:srgbClr val="000000"/>
                </a:solidFill>
                <a:latin typeface="Cambria Math"/>
              </a:rPr>
              <a:t>σ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2174341" y="1922937"/>
            <a:ext cx="3611054" cy="17231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75" b="0">
                <a:solidFill>
                  <a:srgbClr val="000000"/>
                </a:solidFill>
                <a:latin typeface="Cambria Math"/>
              </a:rPr>
              <a:t>tanh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828504" y="2116033"/>
            <a:ext cx="4956891" cy="17231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75" b="0">
                <a:solidFill>
                  <a:srgbClr val="FFFFFF"/>
                </a:solidFill>
                <a:latin typeface="MSAM10"/>
              </a:rPr>
              <a:t>⊞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092774" y="2350088"/>
            <a:ext cx="4692621" cy="17231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75" b="0">
                <a:solidFill>
                  <a:srgbClr val="FFFFFF"/>
                </a:solidFill>
                <a:latin typeface="MSAM10"/>
              </a:rPr>
              <a:t>⊞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092774" y="1598611"/>
            <a:ext cx="4692621" cy="17231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75" b="0">
                <a:solidFill>
                  <a:srgbClr val="FFFFFF"/>
                </a:solidFill>
                <a:latin typeface="Cambria Math"/>
              </a:rPr>
              <a:t>×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2242281" y="1598611"/>
            <a:ext cx="3543114" cy="17231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75" b="0">
                <a:solidFill>
                  <a:srgbClr val="FFFFFF"/>
                </a:solidFill>
                <a:latin typeface="Cambria Math"/>
              </a:rPr>
              <a:t>×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2242281" y="1100708"/>
            <a:ext cx="3543114" cy="17231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75" b="0">
                <a:solidFill>
                  <a:srgbClr val="FFFFFF"/>
                </a:solidFill>
                <a:latin typeface="Cambria Math"/>
              </a:rPr>
              <a:t>+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763929" y="1099267"/>
            <a:ext cx="4021466" cy="17231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75" b="0">
                <a:solidFill>
                  <a:srgbClr val="FFFFFF"/>
                </a:solidFill>
                <a:latin typeface="Cambria Math"/>
              </a:rPr>
              <a:t>×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736140" y="1411004"/>
            <a:ext cx="4049255" cy="17231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75" b="0">
                <a:solidFill>
                  <a:srgbClr val="FFFFFF"/>
                </a:solidFill>
                <a:latin typeface="Cambria Math"/>
              </a:rPr>
              <a:t>1</a:t>
            </a:r>
            <a:r>
              <a:rPr sz="875" b="0">
                <a:solidFill>
                  <a:srgbClr val="FFFFFF"/>
                </a:solidFill>
                <a:latin typeface="Cambria Math"/>
              </a:rPr>
              <a:t>−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3707979" y="1548026"/>
            <a:ext cx="2077416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Cambria Math"/>
              </a:rPr>
              <a:t>r</a:t>
            </a:r>
            <a:r>
              <a:rPr sz="797" b="0">
                <a:solidFill>
                  <a:srgbClr val="000000"/>
                </a:solidFill>
                <a:latin typeface="Cambria Math"/>
              </a:rPr>
              <a:t>t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=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σ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(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W</a:t>
            </a:r>
            <a:r>
              <a:rPr sz="797" b="0">
                <a:solidFill>
                  <a:srgbClr val="000000"/>
                </a:solidFill>
                <a:latin typeface="Cambria Math"/>
              </a:rPr>
              <a:t>r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·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[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h</a:t>
            </a:r>
            <a:r>
              <a:rPr sz="797" b="0">
                <a:solidFill>
                  <a:srgbClr val="000000"/>
                </a:solidFill>
                <a:latin typeface="Cambria Math"/>
              </a:rPr>
              <a:t>t</a:t>
            </a:r>
            <a:r>
              <a:rPr sz="797" b="0">
                <a:solidFill>
                  <a:srgbClr val="000000"/>
                </a:solidFill>
                <a:latin typeface="Cambria Math"/>
              </a:rPr>
              <a:t>−</a:t>
            </a:r>
            <a:r>
              <a:rPr sz="797" b="0">
                <a:solidFill>
                  <a:srgbClr val="000000"/>
                </a:solidFill>
                <a:latin typeface="Cambria Math"/>
              </a:rPr>
              <a:t>1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, x</a:t>
            </a:r>
            <a:r>
              <a:rPr sz="797" b="0">
                <a:solidFill>
                  <a:srgbClr val="000000"/>
                </a:solidFill>
                <a:latin typeface="Cambria Math"/>
              </a:rPr>
              <a:t>t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] +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b</a:t>
            </a:r>
            <a:r>
              <a:rPr sz="797" b="0">
                <a:solidFill>
                  <a:srgbClr val="000000"/>
                </a:solidFill>
                <a:latin typeface="Cambria Math"/>
              </a:rPr>
              <a:t>r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)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3704233" y="1758059"/>
            <a:ext cx="208116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Cambria Math"/>
              </a:rPr>
              <a:t>z</a:t>
            </a:r>
            <a:r>
              <a:rPr sz="797" b="0">
                <a:solidFill>
                  <a:srgbClr val="000000"/>
                </a:solidFill>
                <a:latin typeface="Cambria Math"/>
              </a:rPr>
              <a:t>t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=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σ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(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W</a:t>
            </a:r>
            <a:r>
              <a:rPr sz="797" b="0">
                <a:solidFill>
                  <a:srgbClr val="000000"/>
                </a:solidFill>
                <a:latin typeface="Cambria Math"/>
              </a:rPr>
              <a:t>z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·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[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h</a:t>
            </a:r>
            <a:r>
              <a:rPr sz="797" b="0">
                <a:solidFill>
                  <a:srgbClr val="000000"/>
                </a:solidFill>
                <a:latin typeface="Cambria Math"/>
              </a:rPr>
              <a:t>t</a:t>
            </a:r>
            <a:r>
              <a:rPr sz="797" b="0">
                <a:solidFill>
                  <a:srgbClr val="000000"/>
                </a:solidFill>
                <a:latin typeface="Cambria Math"/>
              </a:rPr>
              <a:t>−</a:t>
            </a:r>
            <a:r>
              <a:rPr sz="797" b="0">
                <a:solidFill>
                  <a:srgbClr val="000000"/>
                </a:solidFill>
                <a:latin typeface="Cambria Math"/>
              </a:rPr>
              <a:t>1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, x</a:t>
            </a:r>
            <a:r>
              <a:rPr sz="797" b="0">
                <a:solidFill>
                  <a:srgbClr val="000000"/>
                </a:solidFill>
                <a:latin typeface="Cambria Math"/>
              </a:rPr>
              <a:t>t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] +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b</a:t>
            </a:r>
            <a:r>
              <a:rPr sz="797" b="0">
                <a:solidFill>
                  <a:srgbClr val="000000"/>
                </a:solidFill>
                <a:latin typeface="Cambria Math"/>
              </a:rPr>
              <a:t>z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)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3504031" y="1954609"/>
            <a:ext cx="2281364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Cambria Math"/>
              </a:rPr>
              <a:t>˜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h</a:t>
            </a:r>
            <a:r>
              <a:rPr sz="797" b="0">
                <a:solidFill>
                  <a:srgbClr val="000000"/>
                </a:solidFill>
                <a:latin typeface="Cambria Math"/>
              </a:rPr>
              <a:t>t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= tanh (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W</a:t>
            </a:r>
            <a:r>
              <a:rPr sz="797" b="0">
                <a:solidFill>
                  <a:srgbClr val="000000"/>
                </a:solidFill>
                <a:latin typeface="Cambria Math"/>
              </a:rPr>
              <a:t>h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·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[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r</a:t>
            </a:r>
            <a:r>
              <a:rPr sz="797" b="0">
                <a:solidFill>
                  <a:srgbClr val="000000"/>
                </a:solidFill>
                <a:latin typeface="Cambria Math"/>
              </a:rPr>
              <a:t>t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·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h</a:t>
            </a:r>
            <a:r>
              <a:rPr sz="797" b="0">
                <a:solidFill>
                  <a:srgbClr val="000000"/>
                </a:solidFill>
                <a:latin typeface="Cambria Math"/>
              </a:rPr>
              <a:t>t</a:t>
            </a:r>
            <a:r>
              <a:rPr sz="797" b="0">
                <a:solidFill>
                  <a:srgbClr val="000000"/>
                </a:solidFill>
                <a:latin typeface="Cambria Math"/>
              </a:rPr>
              <a:t>−</a:t>
            </a:r>
            <a:r>
              <a:rPr sz="797" b="0">
                <a:solidFill>
                  <a:srgbClr val="000000"/>
                </a:solidFill>
                <a:latin typeface="Cambria Math"/>
              </a:rPr>
              <a:t>1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, x</a:t>
            </a:r>
            <a:r>
              <a:rPr sz="797" b="0">
                <a:solidFill>
                  <a:srgbClr val="000000"/>
                </a:solidFill>
                <a:latin typeface="Cambria Math"/>
              </a:rPr>
              <a:t>t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] +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b</a:t>
            </a:r>
            <a:r>
              <a:rPr sz="797" b="0">
                <a:solidFill>
                  <a:srgbClr val="000000"/>
                </a:solidFill>
                <a:latin typeface="Cambria Math"/>
              </a:rPr>
              <a:t>h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)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3695968" y="2185939"/>
            <a:ext cx="2089427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Cambria Math"/>
              </a:rPr>
              <a:t>h</a:t>
            </a:r>
            <a:r>
              <a:rPr sz="797" b="0">
                <a:solidFill>
                  <a:srgbClr val="000000"/>
                </a:solidFill>
                <a:latin typeface="Cambria Math"/>
              </a:rPr>
              <a:t>t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= (1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−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z</a:t>
            </a:r>
            <a:r>
              <a:rPr sz="797" b="0">
                <a:solidFill>
                  <a:srgbClr val="000000"/>
                </a:solidFill>
                <a:latin typeface="Cambria Math"/>
              </a:rPr>
              <a:t>t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)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·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h</a:t>
            </a:r>
            <a:r>
              <a:rPr sz="797" b="0">
                <a:solidFill>
                  <a:srgbClr val="000000"/>
                </a:solidFill>
                <a:latin typeface="Cambria Math"/>
              </a:rPr>
              <a:t>t</a:t>
            </a:r>
            <a:r>
              <a:rPr sz="797" b="0">
                <a:solidFill>
                  <a:srgbClr val="000000"/>
                </a:solidFill>
                <a:latin typeface="Cambria Math"/>
              </a:rPr>
              <a:t>−</a:t>
            </a:r>
            <a:r>
              <a:rPr sz="797" b="0">
                <a:solidFill>
                  <a:srgbClr val="000000"/>
                </a:solidFill>
                <a:latin typeface="Cambria Math"/>
              </a:rPr>
              <a:t>1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+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z</a:t>
            </a:r>
            <a:r>
              <a:rPr sz="797" b="0">
                <a:solidFill>
                  <a:srgbClr val="000000"/>
                </a:solidFill>
                <a:latin typeface="Cambria Math"/>
              </a:rPr>
              <a:t>t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·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˜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h</a:t>
            </a:r>
            <a:r>
              <a:rPr sz="797" b="0">
                <a:solidFill>
                  <a:srgbClr val="000000"/>
                </a:solidFill>
                <a:latin typeface="Cambria Math"/>
              </a:rPr>
              <a:t>t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4898159" y="3150918"/>
            <a:ext cx="887236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5638531" y="3150694"/>
            <a:ext cx="146865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16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0" y="3146743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880005" y="3146743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Gaterd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Recurrent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Units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(GRU)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8000" y="359888"/>
            <a:ext cx="5677395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1">
                <a:solidFill>
                  <a:srgbClr val="003373"/>
                </a:solidFill>
                <a:latin typeface="Josefin Sans"/>
              </a:rPr>
              <a:t>Strengths</a:t>
            </a:r>
            <a:r>
              <a:rPr sz="896" b="1">
                <a:solidFill>
                  <a:srgbClr val="003373"/>
                </a:solidFill>
                <a:latin typeface="Josefin Sans"/>
              </a:rPr>
              <a:t> </a:t>
            </a:r>
            <a:r>
              <a:rPr sz="896" b="1">
                <a:solidFill>
                  <a:srgbClr val="003373"/>
                </a:solidFill>
                <a:latin typeface="Josefin Sans"/>
              </a:rPr>
              <a:t>and</a:t>
            </a:r>
            <a:r>
              <a:rPr sz="896" b="1">
                <a:solidFill>
                  <a:srgbClr val="003373"/>
                </a:solidFill>
                <a:latin typeface="Josefin Sans"/>
              </a:rPr>
              <a:t> </a:t>
            </a:r>
            <a:r>
              <a:rPr sz="896" b="1">
                <a:solidFill>
                  <a:srgbClr val="003373"/>
                </a:solidFill>
                <a:latin typeface="Josefin Sans"/>
              </a:rPr>
              <a:t>Limitations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0056" y="896504"/>
            <a:ext cx="532533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GRUs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are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simpler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than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LSTMs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because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have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fewer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gates.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898162" y="3150918"/>
            <a:ext cx="887233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42559" y="3150694"/>
            <a:ext cx="142836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17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0" y="3146743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880005" y="3146743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Gaterd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Recurrent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Units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(GRU)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8000" y="359888"/>
            <a:ext cx="5677395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1">
                <a:solidFill>
                  <a:srgbClr val="003373"/>
                </a:solidFill>
                <a:latin typeface="Josefin Sans"/>
              </a:rPr>
              <a:t>Strengths</a:t>
            </a:r>
            <a:r>
              <a:rPr sz="896" b="1">
                <a:solidFill>
                  <a:srgbClr val="003373"/>
                </a:solidFill>
                <a:latin typeface="Josefin Sans"/>
              </a:rPr>
              <a:t> </a:t>
            </a:r>
            <a:r>
              <a:rPr sz="896" b="1">
                <a:solidFill>
                  <a:srgbClr val="003373"/>
                </a:solidFill>
                <a:latin typeface="Josefin Sans"/>
              </a:rPr>
              <a:t>and</a:t>
            </a:r>
            <a:r>
              <a:rPr sz="896" b="1">
                <a:solidFill>
                  <a:srgbClr val="003373"/>
                </a:solidFill>
                <a:latin typeface="Josefin Sans"/>
              </a:rPr>
              <a:t> </a:t>
            </a:r>
            <a:r>
              <a:rPr sz="896" b="1">
                <a:solidFill>
                  <a:srgbClr val="003373"/>
                </a:solidFill>
                <a:latin typeface="Josefin Sans"/>
              </a:rPr>
              <a:t>Limitations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0056" y="896504"/>
            <a:ext cx="532533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GRUs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are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simpler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than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LSTMs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because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have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fewer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gates.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60056" y="1154606"/>
            <a:ext cx="532533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tend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train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faster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and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may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work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well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LSTMs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certain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tasks.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898162" y="3150918"/>
            <a:ext cx="887233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642559" y="3150694"/>
            <a:ext cx="142836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17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0" y="3146743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880005" y="3146743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Gaterd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Recurrent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Units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(GRU)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8000" y="359888"/>
            <a:ext cx="5677395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1">
                <a:solidFill>
                  <a:srgbClr val="003373"/>
                </a:solidFill>
                <a:latin typeface="Josefin Sans"/>
              </a:rPr>
              <a:t>Strengths</a:t>
            </a:r>
            <a:r>
              <a:rPr sz="896" b="1">
                <a:solidFill>
                  <a:srgbClr val="003373"/>
                </a:solidFill>
                <a:latin typeface="Josefin Sans"/>
              </a:rPr>
              <a:t> </a:t>
            </a:r>
            <a:r>
              <a:rPr sz="896" b="1">
                <a:solidFill>
                  <a:srgbClr val="003373"/>
                </a:solidFill>
                <a:latin typeface="Josefin Sans"/>
              </a:rPr>
              <a:t>and</a:t>
            </a:r>
            <a:r>
              <a:rPr sz="896" b="1">
                <a:solidFill>
                  <a:srgbClr val="003373"/>
                </a:solidFill>
                <a:latin typeface="Josefin Sans"/>
              </a:rPr>
              <a:t> </a:t>
            </a:r>
            <a:r>
              <a:rPr sz="896" b="1">
                <a:solidFill>
                  <a:srgbClr val="003373"/>
                </a:solidFill>
                <a:latin typeface="Josefin Sans"/>
              </a:rPr>
              <a:t>Limitations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0056" y="896504"/>
            <a:ext cx="532533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GRUs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are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simpler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than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LSTMs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because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have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fewer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gates.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60056" y="1154606"/>
            <a:ext cx="532533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tend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train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faster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and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may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work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well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LSTMs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certain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tasks.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60056" y="1412721"/>
            <a:ext cx="532533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Fewer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parameters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compared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LSTM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(since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fewer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gates),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leading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simpler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7094" y="1628563"/>
            <a:ext cx="5148301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model.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898162" y="3150918"/>
            <a:ext cx="887233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642559" y="3150694"/>
            <a:ext cx="142836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17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0" y="3146743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880005" y="3146743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Gaterd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Recurrent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Units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(GRU)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8000" y="359888"/>
            <a:ext cx="5677395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1">
                <a:solidFill>
                  <a:srgbClr val="003373"/>
                </a:solidFill>
                <a:latin typeface="Josefin Sans"/>
              </a:rPr>
              <a:t>Strengths</a:t>
            </a:r>
            <a:r>
              <a:rPr sz="896" b="1">
                <a:solidFill>
                  <a:srgbClr val="003373"/>
                </a:solidFill>
                <a:latin typeface="Josefin Sans"/>
              </a:rPr>
              <a:t> </a:t>
            </a:r>
            <a:r>
              <a:rPr sz="896" b="1">
                <a:solidFill>
                  <a:srgbClr val="003373"/>
                </a:solidFill>
                <a:latin typeface="Josefin Sans"/>
              </a:rPr>
              <a:t>and</a:t>
            </a:r>
            <a:r>
              <a:rPr sz="896" b="1">
                <a:solidFill>
                  <a:srgbClr val="003373"/>
                </a:solidFill>
                <a:latin typeface="Josefin Sans"/>
              </a:rPr>
              <a:t> </a:t>
            </a:r>
            <a:r>
              <a:rPr sz="896" b="1">
                <a:solidFill>
                  <a:srgbClr val="003373"/>
                </a:solidFill>
                <a:latin typeface="Josefin Sans"/>
              </a:rPr>
              <a:t>Limitations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0056" y="896504"/>
            <a:ext cx="532533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GRUs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are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simpler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than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LSTMs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because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have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fewer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gates.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60056" y="1154606"/>
            <a:ext cx="532533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tend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train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faster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and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may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work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well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LSTMs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certain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tasks.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60056" y="1412721"/>
            <a:ext cx="532533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Fewer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parameters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compared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LSTM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(since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fewer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gates),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leading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simpler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7094" y="1628563"/>
            <a:ext cx="5148301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model.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60056" y="1842909"/>
            <a:ext cx="532533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Often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faster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train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due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fewer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computations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per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time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step.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898162" y="3150918"/>
            <a:ext cx="887233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42559" y="3150694"/>
            <a:ext cx="142836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17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0" y="3146743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880005" y="3146743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Gaterd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Recurrent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Units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(GRU)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8000" y="359888"/>
            <a:ext cx="5677395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1">
                <a:solidFill>
                  <a:srgbClr val="003373"/>
                </a:solidFill>
                <a:latin typeface="Josefin Sans"/>
              </a:rPr>
              <a:t>Strengths</a:t>
            </a:r>
            <a:r>
              <a:rPr sz="896" b="1">
                <a:solidFill>
                  <a:srgbClr val="003373"/>
                </a:solidFill>
                <a:latin typeface="Josefin Sans"/>
              </a:rPr>
              <a:t> </a:t>
            </a:r>
            <a:r>
              <a:rPr sz="896" b="1">
                <a:solidFill>
                  <a:srgbClr val="003373"/>
                </a:solidFill>
                <a:latin typeface="Josefin Sans"/>
              </a:rPr>
              <a:t>and</a:t>
            </a:r>
            <a:r>
              <a:rPr sz="896" b="1">
                <a:solidFill>
                  <a:srgbClr val="003373"/>
                </a:solidFill>
                <a:latin typeface="Josefin Sans"/>
              </a:rPr>
              <a:t> </a:t>
            </a:r>
            <a:r>
              <a:rPr sz="896" b="1">
                <a:solidFill>
                  <a:srgbClr val="003373"/>
                </a:solidFill>
                <a:latin typeface="Josefin Sans"/>
              </a:rPr>
              <a:t>Limitations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0056" y="896504"/>
            <a:ext cx="532533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GRUs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are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simpler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than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LSTMs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because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have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fewer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gates.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60056" y="1154606"/>
            <a:ext cx="532533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tend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train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faster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and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may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work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well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LSTMs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certain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tasks.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60056" y="1412721"/>
            <a:ext cx="532533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Fewer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parameters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compared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LSTM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(since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fewer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gates),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leading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simpler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7094" y="1628563"/>
            <a:ext cx="5148301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model.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60056" y="1842909"/>
            <a:ext cx="532533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Often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faster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train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due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fewer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computations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per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time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step.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60056" y="2101023"/>
            <a:ext cx="532533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Provides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similar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performance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LSTMs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for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many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tasks,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especially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with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7094" y="2316852"/>
            <a:ext cx="5148301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medium-length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sequences.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898162" y="3150918"/>
            <a:ext cx="887233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642559" y="3150694"/>
            <a:ext cx="142836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17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359993" y="1287678"/>
            <a:ext cx="1679994" cy="222681"/>
          </a:xfrm>
          <a:prstGeom prst="rect">
            <a:avLst/>
          </a:prstGeom>
          <a:solidFill>
            <a:srgbClr val="D9E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040000" y="1287678"/>
            <a:ext cx="1679993" cy="222681"/>
          </a:xfrm>
          <a:prstGeom prst="rect">
            <a:avLst/>
          </a:prstGeom>
          <a:solidFill>
            <a:srgbClr val="E6F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719994" y="1287678"/>
            <a:ext cx="1679994" cy="222681"/>
          </a:xfrm>
          <a:prstGeom prst="rect">
            <a:avLst/>
          </a:prstGeom>
          <a:solidFill>
            <a:srgbClr val="EEE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59993" y="1510360"/>
            <a:ext cx="1679994" cy="779398"/>
          </a:xfrm>
          <a:prstGeom prst="rect">
            <a:avLst/>
          </a:prstGeom>
          <a:solidFill>
            <a:srgbClr val="D9E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040000" y="1510360"/>
            <a:ext cx="1679993" cy="779398"/>
          </a:xfrm>
          <a:prstGeom prst="rect">
            <a:avLst/>
          </a:prstGeom>
          <a:solidFill>
            <a:srgbClr val="E6F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719994" y="1510360"/>
            <a:ext cx="1679994" cy="779398"/>
          </a:xfrm>
          <a:prstGeom prst="rect">
            <a:avLst/>
          </a:prstGeom>
          <a:solidFill>
            <a:srgbClr val="EEE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0" y="3146742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880004" y="3146742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Comparisons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322842" y="1049979"/>
            <a:ext cx="3462553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1">
                <a:solidFill>
                  <a:srgbClr val="000000"/>
                </a:solidFill>
                <a:latin typeface="Josefin Sans"/>
              </a:rPr>
              <a:t>Memory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handling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42263" y="1322823"/>
            <a:ext cx="474313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RNN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735846" y="1322823"/>
            <a:ext cx="304954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GRU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375937" y="1322823"/>
            <a:ext cx="1409458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LSTM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9624" y="1565213"/>
            <a:ext cx="5175771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Josefin Sans"/>
              </a:rPr>
              <a:t>Struggles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with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long-term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6066" y="1704393"/>
            <a:ext cx="4949330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Josefin Sans"/>
              </a:rPr>
              <a:t>memory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due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to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05548" y="1843572"/>
            <a:ext cx="5279847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Josefin Sans"/>
              </a:rPr>
              <a:t>vanishing/exploding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gradient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58227" y="1982739"/>
            <a:ext cx="4727169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Josefin Sans"/>
              </a:rPr>
              <a:t>issues.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433903" y="1565213"/>
            <a:ext cx="3351492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Josefin Sans"/>
              </a:rPr>
              <a:t>Handles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long-term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279205" y="1704393"/>
            <a:ext cx="3506191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Josefin Sans"/>
              </a:rPr>
              <a:t>dependencies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similarly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to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152179" y="1843572"/>
            <a:ext cx="3633216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Josefin Sans"/>
              </a:rPr>
              <a:t>LSTMs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but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does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so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with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fewer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401048" y="1982739"/>
            <a:ext cx="3384347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Josefin Sans"/>
              </a:rPr>
              <a:t>gates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and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a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simpler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588945" y="2121918"/>
            <a:ext cx="3196450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Josefin Sans"/>
              </a:rPr>
              <a:t>architecture.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013351" y="1565213"/>
            <a:ext cx="1772044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Josefin Sans"/>
              </a:rPr>
              <a:t>Strong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ability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to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retain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815841" y="1704393"/>
            <a:ext cx="1969554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Josefin Sans"/>
              </a:rPr>
              <a:t>long-term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dependencies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due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to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918101" y="1843572"/>
            <a:ext cx="1867294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Josefin Sans"/>
              </a:rPr>
              <a:t>its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memory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cell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and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gating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284712" y="1982739"/>
            <a:ext cx="1500683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Josefin Sans"/>
              </a:rPr>
              <a:t>mechanism.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898161" y="3150917"/>
            <a:ext cx="887234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639675" y="3150693"/>
            <a:ext cx="145720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18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359993" y="1287221"/>
            <a:ext cx="1679994" cy="222681"/>
          </a:xfrm>
          <a:prstGeom prst="rect">
            <a:avLst/>
          </a:prstGeom>
          <a:solidFill>
            <a:srgbClr val="D9E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040000" y="1287221"/>
            <a:ext cx="1679993" cy="222681"/>
          </a:xfrm>
          <a:prstGeom prst="rect">
            <a:avLst/>
          </a:prstGeom>
          <a:solidFill>
            <a:srgbClr val="E6F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719994" y="1287221"/>
            <a:ext cx="1679994" cy="222681"/>
          </a:xfrm>
          <a:prstGeom prst="rect">
            <a:avLst/>
          </a:prstGeom>
          <a:solidFill>
            <a:srgbClr val="EEE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59993" y="1509902"/>
            <a:ext cx="1679994" cy="779398"/>
          </a:xfrm>
          <a:prstGeom prst="rect">
            <a:avLst/>
          </a:prstGeom>
          <a:solidFill>
            <a:srgbClr val="D9E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040000" y="1509902"/>
            <a:ext cx="1679993" cy="779398"/>
          </a:xfrm>
          <a:prstGeom prst="rect">
            <a:avLst/>
          </a:prstGeom>
          <a:solidFill>
            <a:srgbClr val="E6F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719994" y="1509902"/>
            <a:ext cx="1679994" cy="779398"/>
          </a:xfrm>
          <a:prstGeom prst="rect">
            <a:avLst/>
          </a:prstGeom>
          <a:solidFill>
            <a:srgbClr val="EEE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0" y="3146742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880004" y="3146742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Comparisons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529623" y="1050284"/>
            <a:ext cx="325577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1">
                <a:solidFill>
                  <a:srgbClr val="000000"/>
                </a:solidFill>
                <a:latin typeface="Josefin Sans"/>
              </a:rPr>
              <a:t>Complexity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42263" y="1322366"/>
            <a:ext cx="474313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RNN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735846" y="1322366"/>
            <a:ext cx="304954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GRU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375937" y="1322366"/>
            <a:ext cx="1409458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LSTM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35914" y="1564756"/>
            <a:ext cx="5349481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Josefin Sans"/>
              </a:rPr>
              <a:t>Simplest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architecture,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but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prone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16305" y="1703935"/>
            <a:ext cx="5269090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Josefin Sans"/>
              </a:rPr>
              <a:t>to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performance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degradation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0463" y="1843115"/>
            <a:ext cx="5074933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Josefin Sans"/>
              </a:rPr>
              <a:t>over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long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sequences.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219934" y="1564756"/>
            <a:ext cx="3565461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Josefin Sans"/>
              </a:rPr>
              <a:t>Slightly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simpler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than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LSTM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208326" y="1703935"/>
            <a:ext cx="3577069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Josefin Sans"/>
              </a:rPr>
              <a:t>with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two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gates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(update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and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115908" y="1843115"/>
            <a:ext cx="3669487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Josefin Sans"/>
              </a:rPr>
              <a:t>reset),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leading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to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faster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training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161692" y="1982281"/>
            <a:ext cx="3623704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Josefin Sans"/>
              </a:rPr>
              <a:t>and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comparable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performance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536443" y="2121461"/>
            <a:ext cx="3248952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Josefin Sans"/>
              </a:rPr>
              <a:t>in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many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cases.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805935" y="1564756"/>
            <a:ext cx="1979460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Josefin Sans"/>
              </a:rPr>
              <a:t>More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complex,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with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three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gates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949979" y="1703935"/>
            <a:ext cx="1835417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Josefin Sans"/>
              </a:rPr>
              <a:t>and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a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memory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cell,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which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871531" y="1843115"/>
            <a:ext cx="1913864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Josefin Sans"/>
              </a:rPr>
              <a:t>allows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it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to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perform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better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in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882110" y="1982281"/>
            <a:ext cx="1903285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Josefin Sans"/>
              </a:rPr>
              <a:t>tasks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requiring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memory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over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173283" y="2121461"/>
            <a:ext cx="1612112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Josefin Sans"/>
              </a:rPr>
              <a:t>long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time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spans.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898161" y="3150917"/>
            <a:ext cx="887234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638532" y="3150693"/>
            <a:ext cx="146863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19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359993" y="1343342"/>
            <a:ext cx="1679994" cy="222681"/>
          </a:xfrm>
          <a:prstGeom prst="rect">
            <a:avLst/>
          </a:prstGeom>
          <a:solidFill>
            <a:srgbClr val="EEE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040000" y="1343342"/>
            <a:ext cx="1679993" cy="222681"/>
          </a:xfrm>
          <a:prstGeom prst="rect">
            <a:avLst/>
          </a:prstGeom>
          <a:solidFill>
            <a:srgbClr val="E6F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719994" y="1343342"/>
            <a:ext cx="1679994" cy="222681"/>
          </a:xfrm>
          <a:prstGeom prst="rect">
            <a:avLst/>
          </a:prstGeom>
          <a:solidFill>
            <a:srgbClr val="D9E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59993" y="1566024"/>
            <a:ext cx="1679994" cy="640219"/>
          </a:xfrm>
          <a:prstGeom prst="rect">
            <a:avLst/>
          </a:prstGeom>
          <a:solidFill>
            <a:srgbClr val="EEE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040000" y="1566024"/>
            <a:ext cx="1679993" cy="640219"/>
          </a:xfrm>
          <a:prstGeom prst="rect">
            <a:avLst/>
          </a:prstGeom>
          <a:solidFill>
            <a:srgbClr val="E6F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719994" y="1566024"/>
            <a:ext cx="1679994" cy="640219"/>
          </a:xfrm>
          <a:prstGeom prst="rect">
            <a:avLst/>
          </a:prstGeom>
          <a:solidFill>
            <a:srgbClr val="D9E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0" y="3146742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880004" y="3146742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Comparisons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448013" y="1105643"/>
            <a:ext cx="333738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1">
                <a:solidFill>
                  <a:srgbClr val="000000"/>
                </a:solidFill>
                <a:latin typeface="Josefin Sans"/>
              </a:rPr>
              <a:t>Training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Time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15948" y="1378500"/>
            <a:ext cx="4769447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LSTM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735846" y="1378500"/>
            <a:ext cx="304954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GRU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402264" y="1378500"/>
            <a:ext cx="1383131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RNN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4443" y="1620878"/>
            <a:ext cx="5180952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Josefin Sans"/>
              </a:rPr>
              <a:t>Slower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to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train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due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to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its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63473" y="1760057"/>
            <a:ext cx="5321922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Josefin Sans"/>
              </a:rPr>
              <a:t>complexity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but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more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robust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for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29627" y="1899236"/>
            <a:ext cx="4955768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Josefin Sans"/>
              </a:rPr>
              <a:t>long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sequences.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243111" y="1620878"/>
            <a:ext cx="3542284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Josefin Sans"/>
              </a:rPr>
              <a:t>Faster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to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train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than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LSTM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284221" y="1760057"/>
            <a:ext cx="3501174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Josefin Sans"/>
              </a:rPr>
              <a:t>while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maintaining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similar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566618" y="1899236"/>
            <a:ext cx="3218777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Josefin Sans"/>
              </a:rPr>
              <a:t>performance.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857002" y="1620878"/>
            <a:ext cx="1928393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Josefin Sans"/>
              </a:rPr>
              <a:t>Generally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faster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to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train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than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965409" y="1760057"/>
            <a:ext cx="1819986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Josefin Sans"/>
              </a:rPr>
              <a:t>LSTM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and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GRU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but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less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874032" y="1899236"/>
            <a:ext cx="1911363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Josefin Sans"/>
              </a:rPr>
              <a:t>effective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in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terms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of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learning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930967" y="2038415"/>
            <a:ext cx="1854429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Josefin Sans"/>
              </a:rPr>
              <a:t>longer-term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dependencies.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898161" y="3150917"/>
            <a:ext cx="887234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617133" y="3150693"/>
            <a:ext cx="168262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20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359993" y="1271181"/>
            <a:ext cx="1679994" cy="222681"/>
          </a:xfrm>
          <a:prstGeom prst="rect">
            <a:avLst/>
          </a:prstGeom>
          <a:solidFill>
            <a:srgbClr val="D9E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040000" y="1271181"/>
            <a:ext cx="1679993" cy="222681"/>
          </a:xfrm>
          <a:prstGeom prst="rect">
            <a:avLst/>
          </a:prstGeom>
          <a:solidFill>
            <a:srgbClr val="E6F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719994" y="1271181"/>
            <a:ext cx="1679994" cy="222681"/>
          </a:xfrm>
          <a:prstGeom prst="rect">
            <a:avLst/>
          </a:prstGeom>
          <a:solidFill>
            <a:srgbClr val="EEE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59993" y="1493850"/>
            <a:ext cx="1679994" cy="779398"/>
          </a:xfrm>
          <a:prstGeom prst="rect">
            <a:avLst/>
          </a:prstGeom>
          <a:solidFill>
            <a:srgbClr val="D9E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040000" y="1493850"/>
            <a:ext cx="1679993" cy="779398"/>
          </a:xfrm>
          <a:prstGeom prst="rect">
            <a:avLst/>
          </a:prstGeom>
          <a:solidFill>
            <a:srgbClr val="E6F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719994" y="1493850"/>
            <a:ext cx="1679994" cy="779398"/>
          </a:xfrm>
          <a:prstGeom prst="rect">
            <a:avLst/>
          </a:prstGeom>
          <a:solidFill>
            <a:srgbClr val="EEE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0" y="3146742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880004" y="3146742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Comparisons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558579" y="1060977"/>
            <a:ext cx="3226816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1">
                <a:solidFill>
                  <a:srgbClr val="000000"/>
                </a:solidFill>
                <a:latin typeface="Josefin Sans"/>
              </a:rPr>
              <a:t>Use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Cases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42263" y="1306326"/>
            <a:ext cx="474313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RNN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735846" y="1306326"/>
            <a:ext cx="304954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GRU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375937" y="1306326"/>
            <a:ext cx="1409458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LSTM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63409" y="1548703"/>
            <a:ext cx="5321986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Josefin Sans"/>
              </a:rPr>
              <a:t>Short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sequence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tasks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like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basic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1984" y="1687883"/>
            <a:ext cx="5243411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Josefin Sans"/>
              </a:rPr>
              <a:t>sentiment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analysis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or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where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68426" y="1827062"/>
            <a:ext cx="5316969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Josefin Sans"/>
              </a:rPr>
              <a:t>past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information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is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less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critical.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258085" y="1548703"/>
            <a:ext cx="3527311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Josefin Sans"/>
              </a:rPr>
              <a:t>Medium-length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sequences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138806" y="1687883"/>
            <a:ext cx="3646589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Josefin Sans"/>
              </a:rPr>
              <a:t>where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computational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efficiency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115921" y="1827062"/>
            <a:ext cx="3669474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Josefin Sans"/>
              </a:rPr>
              <a:t>is needed without sacrificing too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174849" y="1966241"/>
            <a:ext cx="3610546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Josefin Sans"/>
              </a:rPr>
              <a:t>much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accuracy,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e.g.,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real-time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322766" y="2105421"/>
            <a:ext cx="3462629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Josefin Sans"/>
              </a:rPr>
              <a:t>predictions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or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chatbots.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967746" y="1548703"/>
            <a:ext cx="1817649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Josefin Sans"/>
              </a:rPr>
              <a:t>Long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sequence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tasks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like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076661" y="1687883"/>
            <a:ext cx="1708734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Josefin Sans"/>
              </a:rPr>
              <a:t>machine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translation,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914228" y="1827062"/>
            <a:ext cx="1871167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Josefin Sans"/>
              </a:rPr>
              <a:t>speech-to-text,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handwriting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023829" y="1966241"/>
            <a:ext cx="1761566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Josefin Sans"/>
              </a:rPr>
              <a:t>recognition,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and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music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292853" y="2105421"/>
            <a:ext cx="1492542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Josefin Sans"/>
              </a:rPr>
              <a:t>generation.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898161" y="3150917"/>
            <a:ext cx="887234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640209" y="3150693"/>
            <a:ext cx="145186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21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0" y="3146742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880004" y="3146742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Design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a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neural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network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0057" y="930908"/>
            <a:ext cx="5325338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Data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conditioning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0057" y="1189023"/>
            <a:ext cx="5325338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Number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of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hidden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layers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60057" y="1447138"/>
            <a:ext cx="5325338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Number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of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neurons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hidden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layers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60057" y="1705253"/>
            <a:ext cx="5325338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Activation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functions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60057" y="1963367"/>
            <a:ext cx="5325338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Connections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60057" y="2221470"/>
            <a:ext cx="5325338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Learning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algorithm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898161" y="3150917"/>
            <a:ext cx="887234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25629" y="3150693"/>
            <a:ext cx="159766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22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51597731" y="-49609458"/>
            <a:ext cx="47829" cy="47829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1597731" y="-49371587"/>
            <a:ext cx="47829" cy="47829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1597731" y="-48981890"/>
            <a:ext cx="47829" cy="47829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1597731" y="-48592190"/>
            <a:ext cx="47829" cy="47829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1597731" y="-48354319"/>
            <a:ext cx="47829" cy="47829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1597731" y="-48116449"/>
            <a:ext cx="47829" cy="47829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-2" y="3146741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880002" y="3146741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Design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a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neural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network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8000" y="359888"/>
            <a:ext cx="5677395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1">
                <a:solidFill>
                  <a:srgbClr val="003373"/>
                </a:solidFill>
                <a:latin typeface="Josefin Sans"/>
              </a:rPr>
              <a:t>Data</a:t>
            </a:r>
            <a:r>
              <a:rPr sz="896" b="1">
                <a:solidFill>
                  <a:srgbClr val="003373"/>
                </a:solidFill>
                <a:latin typeface="Josefin Sans"/>
              </a:rPr>
              <a:t> </a:t>
            </a:r>
            <a:r>
              <a:rPr sz="896" b="1">
                <a:solidFill>
                  <a:srgbClr val="003373"/>
                </a:solidFill>
                <a:latin typeface="Josefin Sans"/>
              </a:rPr>
              <a:t>conditioning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60056" y="608925"/>
            <a:ext cx="532533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Representation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of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input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data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(categorical,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continuous,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discrete).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898159" y="3150916"/>
            <a:ext cx="887236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624636" y="3150692"/>
            <a:ext cx="160759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23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26197402" y="-24209131"/>
            <a:ext cx="47829" cy="47828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6197402" y="-23971260"/>
            <a:ext cx="47829" cy="47828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6197402" y="-23581562"/>
            <a:ext cx="47829" cy="47828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6197402" y="-23191861"/>
            <a:ext cx="47829" cy="47828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6197402" y="-22953991"/>
            <a:ext cx="47829" cy="47828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6197402" y="-22716120"/>
            <a:ext cx="47829" cy="47828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0" y="3146739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880005" y="3146739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Design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a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neural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network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8000" y="359888"/>
            <a:ext cx="5677395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1">
                <a:solidFill>
                  <a:srgbClr val="003373"/>
                </a:solidFill>
                <a:latin typeface="Josefin Sans"/>
              </a:rPr>
              <a:t>Data</a:t>
            </a:r>
            <a:r>
              <a:rPr sz="896" b="1">
                <a:solidFill>
                  <a:srgbClr val="003373"/>
                </a:solidFill>
                <a:latin typeface="Josefin Sans"/>
              </a:rPr>
              <a:t> </a:t>
            </a:r>
            <a:r>
              <a:rPr sz="896" b="1">
                <a:solidFill>
                  <a:srgbClr val="003373"/>
                </a:solidFill>
                <a:latin typeface="Josefin Sans"/>
              </a:rPr>
              <a:t>conditioning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60056" y="608925"/>
            <a:ext cx="532533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Representation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of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input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data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(categorical,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continuous,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discrete).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60056" y="846795"/>
            <a:ext cx="532533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Data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for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training,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testing,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and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validation.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898162" y="3150915"/>
            <a:ext cx="887233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624640" y="3150691"/>
            <a:ext cx="160756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23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797076" y="1191195"/>
            <a:ext cx="47828" cy="47828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6197402" y="-23971260"/>
            <a:ext cx="47829" cy="47828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6197402" y="-23581562"/>
            <a:ext cx="47829" cy="47828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6197402" y="-23191861"/>
            <a:ext cx="47829" cy="47828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6197402" y="-22953991"/>
            <a:ext cx="47829" cy="47828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6197402" y="-22716120"/>
            <a:ext cx="47829" cy="47828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0" y="3146739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880005" y="3146739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Design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a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neural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network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8000" y="359888"/>
            <a:ext cx="5677395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1">
                <a:solidFill>
                  <a:srgbClr val="003373"/>
                </a:solidFill>
                <a:latin typeface="Josefin Sans"/>
              </a:rPr>
              <a:t>Data</a:t>
            </a:r>
            <a:r>
              <a:rPr sz="896" b="1">
                <a:solidFill>
                  <a:srgbClr val="003373"/>
                </a:solidFill>
                <a:latin typeface="Josefin Sans"/>
              </a:rPr>
              <a:t> </a:t>
            </a:r>
            <a:r>
              <a:rPr sz="896" b="1">
                <a:solidFill>
                  <a:srgbClr val="003373"/>
                </a:solidFill>
                <a:latin typeface="Josefin Sans"/>
              </a:rPr>
              <a:t>conditioning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60056" y="608925"/>
            <a:ext cx="532533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Representation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of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input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data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(categorical,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continuous,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discrete).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60056" y="846795"/>
            <a:ext cx="532533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Data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for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training,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testing,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and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validation.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14183" y="1138019"/>
            <a:ext cx="487121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training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data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is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used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to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train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neural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network,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898162" y="3150915"/>
            <a:ext cx="887233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624640" y="3150691"/>
            <a:ext cx="160756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23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797076" y="1191195"/>
            <a:ext cx="47828" cy="47828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97076" y="1429065"/>
            <a:ext cx="47828" cy="47828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6197402" y="-23581560"/>
            <a:ext cx="47829" cy="47828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6197402" y="-23191860"/>
            <a:ext cx="47829" cy="47828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6197402" y="-22953989"/>
            <a:ext cx="47829" cy="47828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6197402" y="-22716118"/>
            <a:ext cx="47829" cy="47828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0" y="3146741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880005" y="3146741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Design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a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neural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network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8000" y="359888"/>
            <a:ext cx="5677395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1">
                <a:solidFill>
                  <a:srgbClr val="003373"/>
                </a:solidFill>
                <a:latin typeface="Josefin Sans"/>
              </a:rPr>
              <a:t>Data</a:t>
            </a:r>
            <a:r>
              <a:rPr sz="896" b="1">
                <a:solidFill>
                  <a:srgbClr val="003373"/>
                </a:solidFill>
                <a:latin typeface="Josefin Sans"/>
              </a:rPr>
              <a:t> </a:t>
            </a:r>
            <a:r>
              <a:rPr sz="896" b="1">
                <a:solidFill>
                  <a:srgbClr val="003373"/>
                </a:solidFill>
                <a:latin typeface="Josefin Sans"/>
              </a:rPr>
              <a:t>conditioning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60056" y="608925"/>
            <a:ext cx="532533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Representation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of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input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data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(categorical,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continuous,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discrete).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60056" y="846795"/>
            <a:ext cx="532533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Data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for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training,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testing,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and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validation.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14183" y="1138019"/>
            <a:ext cx="487121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training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data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is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used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to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train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neural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network,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14183" y="1375890"/>
            <a:ext cx="487121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Josefin Sans"/>
              </a:rPr>
              <a:t>from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time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to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time,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performance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of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neural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network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is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evaluated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using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14183" y="1527718"/>
            <a:ext cx="487121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Josefin Sans"/>
              </a:rPr>
              <a:t>validation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data,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898162" y="3150916"/>
            <a:ext cx="887233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624640" y="3150692"/>
            <a:ext cx="160756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23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797076" y="1191195"/>
            <a:ext cx="47828" cy="47828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97076" y="1429065"/>
            <a:ext cx="47828" cy="47828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97076" y="1818765"/>
            <a:ext cx="47828" cy="47828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6197402" y="-23191860"/>
            <a:ext cx="47829" cy="47828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6197402" y="-22953989"/>
            <a:ext cx="47829" cy="47828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6197402" y="-22716118"/>
            <a:ext cx="47829" cy="47828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0" y="3146741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880005" y="3146741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Design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a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neural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network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8000" y="359888"/>
            <a:ext cx="5677395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1">
                <a:solidFill>
                  <a:srgbClr val="003373"/>
                </a:solidFill>
                <a:latin typeface="Josefin Sans"/>
              </a:rPr>
              <a:t>Data</a:t>
            </a:r>
            <a:r>
              <a:rPr sz="896" b="1">
                <a:solidFill>
                  <a:srgbClr val="003373"/>
                </a:solidFill>
                <a:latin typeface="Josefin Sans"/>
              </a:rPr>
              <a:t> </a:t>
            </a:r>
            <a:r>
              <a:rPr sz="896" b="1">
                <a:solidFill>
                  <a:srgbClr val="003373"/>
                </a:solidFill>
                <a:latin typeface="Josefin Sans"/>
              </a:rPr>
              <a:t>conditioning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60056" y="608925"/>
            <a:ext cx="532533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Representation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of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input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data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(categorical,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continuous,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discrete).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60056" y="846795"/>
            <a:ext cx="532533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Data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for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training,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testing,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and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validation.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14183" y="1138019"/>
            <a:ext cx="487121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training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data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is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used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to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train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neural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network,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14183" y="1375890"/>
            <a:ext cx="487121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Josefin Sans"/>
              </a:rPr>
              <a:t>from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time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to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time,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performance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of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neural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network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is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evaluated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using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14183" y="1527718"/>
            <a:ext cx="487121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Josefin Sans"/>
              </a:rPr>
              <a:t>validation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data,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14183" y="1765590"/>
            <a:ext cx="487121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Josefin Sans"/>
              </a:rPr>
              <a:t>when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neural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network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training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is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terminated,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neural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network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is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tested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with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14183" y="1917418"/>
            <a:ext cx="487121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Josefin Sans"/>
              </a:rPr>
              <a:t>testing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data.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898162" y="3150916"/>
            <a:ext cx="887233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624640" y="3150692"/>
            <a:ext cx="160756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23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797076" y="1191195"/>
            <a:ext cx="47828" cy="47828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97076" y="1429065"/>
            <a:ext cx="47828" cy="47828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97076" y="1818765"/>
            <a:ext cx="47828" cy="47828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97076" y="2208465"/>
            <a:ext cx="47828" cy="47828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6197402" y="-22953989"/>
            <a:ext cx="47829" cy="47828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6197402" y="-22716118"/>
            <a:ext cx="47829" cy="47828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0" y="3146741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880005" y="3146741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Design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a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neural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network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8000" y="359888"/>
            <a:ext cx="5677395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1">
                <a:solidFill>
                  <a:srgbClr val="003373"/>
                </a:solidFill>
                <a:latin typeface="Josefin Sans"/>
              </a:rPr>
              <a:t>Data</a:t>
            </a:r>
            <a:r>
              <a:rPr sz="896" b="1">
                <a:solidFill>
                  <a:srgbClr val="003373"/>
                </a:solidFill>
                <a:latin typeface="Josefin Sans"/>
              </a:rPr>
              <a:t> </a:t>
            </a:r>
            <a:r>
              <a:rPr sz="896" b="1">
                <a:solidFill>
                  <a:srgbClr val="003373"/>
                </a:solidFill>
                <a:latin typeface="Josefin Sans"/>
              </a:rPr>
              <a:t>conditioning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60056" y="608925"/>
            <a:ext cx="532533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Representation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of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input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data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(categorical,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continuous,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discrete).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60056" y="846795"/>
            <a:ext cx="532533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Data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for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training,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testing,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and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validation.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14183" y="1138019"/>
            <a:ext cx="487121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training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data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is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used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to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train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neural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network,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14183" y="1375890"/>
            <a:ext cx="487121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Josefin Sans"/>
              </a:rPr>
              <a:t>from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time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to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time,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performance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of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neural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network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is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evaluated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using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14183" y="1527718"/>
            <a:ext cx="487121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Josefin Sans"/>
              </a:rPr>
              <a:t>validation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data,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14183" y="1765590"/>
            <a:ext cx="487121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Josefin Sans"/>
              </a:rPr>
              <a:t>when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neural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network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training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is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terminated,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neural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network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is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tested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with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14183" y="1917418"/>
            <a:ext cx="487121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Josefin Sans"/>
              </a:rPr>
              <a:t>testing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data.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14183" y="2155290"/>
            <a:ext cx="487121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Josefin Sans"/>
              </a:rPr>
              <a:t>training,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validation,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and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testing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data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are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independent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of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each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other.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898162" y="3150916"/>
            <a:ext cx="887233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624640" y="3150692"/>
            <a:ext cx="160756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23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797076" y="1191195"/>
            <a:ext cx="47828" cy="47828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97076" y="1429065"/>
            <a:ext cx="47828" cy="47828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97076" y="1818765"/>
            <a:ext cx="47828" cy="47828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97076" y="2208465"/>
            <a:ext cx="47828" cy="47828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97076" y="2446336"/>
            <a:ext cx="47828" cy="47828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6197402" y="-22716118"/>
            <a:ext cx="47829" cy="47828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0" y="3146741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880005" y="3146741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Design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a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neural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network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8000" y="359888"/>
            <a:ext cx="5677395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1">
                <a:solidFill>
                  <a:srgbClr val="003373"/>
                </a:solidFill>
                <a:latin typeface="Josefin Sans"/>
              </a:rPr>
              <a:t>Data</a:t>
            </a:r>
            <a:r>
              <a:rPr sz="896" b="1">
                <a:solidFill>
                  <a:srgbClr val="003373"/>
                </a:solidFill>
                <a:latin typeface="Josefin Sans"/>
              </a:rPr>
              <a:t> </a:t>
            </a:r>
            <a:r>
              <a:rPr sz="896" b="1">
                <a:solidFill>
                  <a:srgbClr val="003373"/>
                </a:solidFill>
                <a:latin typeface="Josefin Sans"/>
              </a:rPr>
              <a:t>conditioning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60056" y="608925"/>
            <a:ext cx="532533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Representation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of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input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data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(categorical,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continuous,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discrete).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60056" y="846795"/>
            <a:ext cx="532533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Data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for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training,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testing,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and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validation.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14183" y="1138019"/>
            <a:ext cx="487121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training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data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is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used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to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train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neural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network,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14183" y="1375890"/>
            <a:ext cx="487121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Josefin Sans"/>
              </a:rPr>
              <a:t>from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time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to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time,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performance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of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neural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network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is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evaluated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using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14183" y="1527718"/>
            <a:ext cx="487121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Josefin Sans"/>
              </a:rPr>
              <a:t>validation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data,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14183" y="1765590"/>
            <a:ext cx="487121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Josefin Sans"/>
              </a:rPr>
              <a:t>when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neural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network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training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is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terminated,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neural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network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is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tested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with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14183" y="1917418"/>
            <a:ext cx="487121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Josefin Sans"/>
              </a:rPr>
              <a:t>testing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data.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14183" y="2155290"/>
            <a:ext cx="487121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Josefin Sans"/>
              </a:rPr>
              <a:t>training,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validation,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and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testing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data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are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independent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of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each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other.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14183" y="2393161"/>
            <a:ext cx="487121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available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data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is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split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into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different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proportions.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898162" y="3150916"/>
            <a:ext cx="887233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624640" y="3150692"/>
            <a:ext cx="160756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23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797076" y="1191195"/>
            <a:ext cx="47828" cy="47828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97076" y="1429065"/>
            <a:ext cx="47828" cy="47828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97076" y="1818765"/>
            <a:ext cx="47828" cy="47828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97076" y="2208465"/>
            <a:ext cx="47828" cy="47828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97076" y="2446336"/>
            <a:ext cx="47828" cy="47828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97076" y="2684207"/>
            <a:ext cx="47828" cy="47828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-2" y="3146741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880002" y="3146741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Design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a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neural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network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8000" y="359888"/>
            <a:ext cx="5677395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1">
                <a:solidFill>
                  <a:srgbClr val="003373"/>
                </a:solidFill>
                <a:latin typeface="Josefin Sans"/>
              </a:rPr>
              <a:t>Data</a:t>
            </a:r>
            <a:r>
              <a:rPr sz="896" b="1">
                <a:solidFill>
                  <a:srgbClr val="003373"/>
                </a:solidFill>
                <a:latin typeface="Josefin Sans"/>
              </a:rPr>
              <a:t> </a:t>
            </a:r>
            <a:r>
              <a:rPr sz="896" b="1">
                <a:solidFill>
                  <a:srgbClr val="003373"/>
                </a:solidFill>
                <a:latin typeface="Josefin Sans"/>
              </a:rPr>
              <a:t>conditioning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60056" y="608925"/>
            <a:ext cx="532533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Representation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of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input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data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(categorical,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continuous,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discrete).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60056" y="846795"/>
            <a:ext cx="532533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Data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for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training,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testing,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and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validation.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14183" y="1138019"/>
            <a:ext cx="487121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training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data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is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used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to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train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neural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network,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14183" y="1375890"/>
            <a:ext cx="487121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Josefin Sans"/>
              </a:rPr>
              <a:t>from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time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to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time,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performance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of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neural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network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is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evaluated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using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14183" y="1527718"/>
            <a:ext cx="487121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Josefin Sans"/>
              </a:rPr>
              <a:t>validation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data,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14183" y="1765590"/>
            <a:ext cx="487121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Josefin Sans"/>
              </a:rPr>
              <a:t>when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neural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network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training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is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terminated,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neural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network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is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tested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with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14183" y="1917418"/>
            <a:ext cx="487121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Josefin Sans"/>
              </a:rPr>
              <a:t>testing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data.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14183" y="2155290"/>
            <a:ext cx="487121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Josefin Sans"/>
              </a:rPr>
              <a:t>training,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validation,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and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testing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data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are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independent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of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each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other.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14183" y="2393161"/>
            <a:ext cx="487121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available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data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is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split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into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different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proportions.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14183" y="2631032"/>
            <a:ext cx="487121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Josefin Sans"/>
              </a:rPr>
              <a:t>training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data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has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largest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proportion;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proportions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for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validation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and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testing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data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14183" y="2782860"/>
            <a:ext cx="487121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Josefin Sans"/>
              </a:rPr>
              <a:t>are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similar.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898159" y="3150916"/>
            <a:ext cx="887236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624636" y="3150692"/>
            <a:ext cx="160759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23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0" y="3146743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880005" y="3146743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Design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a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neural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network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8000" y="359888"/>
            <a:ext cx="5677395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1">
                <a:solidFill>
                  <a:srgbClr val="003373"/>
                </a:solidFill>
                <a:latin typeface="Josefin Sans"/>
              </a:rPr>
              <a:t>Number</a:t>
            </a:r>
            <a:r>
              <a:rPr sz="896" b="1">
                <a:solidFill>
                  <a:srgbClr val="003373"/>
                </a:solidFill>
                <a:latin typeface="Josefin Sans"/>
              </a:rPr>
              <a:t> </a:t>
            </a:r>
            <a:r>
              <a:rPr sz="896" b="1">
                <a:solidFill>
                  <a:srgbClr val="003373"/>
                </a:solidFill>
                <a:latin typeface="Josefin Sans"/>
              </a:rPr>
              <a:t>of</a:t>
            </a:r>
            <a:r>
              <a:rPr sz="896" b="1">
                <a:solidFill>
                  <a:srgbClr val="003373"/>
                </a:solidFill>
                <a:latin typeface="Josefin Sans"/>
              </a:rPr>
              <a:t> </a:t>
            </a:r>
            <a:r>
              <a:rPr sz="896" b="1">
                <a:solidFill>
                  <a:srgbClr val="003373"/>
                </a:solidFill>
                <a:latin typeface="Josefin Sans"/>
              </a:rPr>
              <a:t>hidden</a:t>
            </a:r>
            <a:r>
              <a:rPr sz="896" b="1">
                <a:solidFill>
                  <a:srgbClr val="003373"/>
                </a:solidFill>
                <a:latin typeface="Josefin Sans"/>
              </a:rPr>
              <a:t> </a:t>
            </a:r>
            <a:r>
              <a:rPr sz="896" b="1">
                <a:solidFill>
                  <a:srgbClr val="003373"/>
                </a:solidFill>
                <a:latin typeface="Josefin Sans"/>
              </a:rPr>
              <a:t>layers</a:t>
            </a:r>
            <a:r>
              <a:rPr sz="896" b="1">
                <a:solidFill>
                  <a:srgbClr val="003373"/>
                </a:solidFill>
                <a:latin typeface="Josefin Sans"/>
              </a:rPr>
              <a:t> </a:t>
            </a:r>
            <a:r>
              <a:rPr sz="896" b="1">
                <a:solidFill>
                  <a:srgbClr val="003373"/>
                </a:solidFill>
                <a:latin typeface="Josefin Sans"/>
              </a:rPr>
              <a:t>&amp;</a:t>
            </a:r>
            <a:r>
              <a:rPr sz="896" b="1">
                <a:solidFill>
                  <a:srgbClr val="003373"/>
                </a:solidFill>
                <a:latin typeface="Josefin Sans"/>
              </a:rPr>
              <a:t> </a:t>
            </a:r>
            <a:r>
              <a:rPr sz="896" b="1">
                <a:solidFill>
                  <a:srgbClr val="003373"/>
                </a:solidFill>
                <a:latin typeface="Josefin Sans"/>
              </a:rPr>
              <a:t>number</a:t>
            </a:r>
            <a:r>
              <a:rPr sz="896" b="1">
                <a:solidFill>
                  <a:srgbClr val="003373"/>
                </a:solidFill>
                <a:latin typeface="Josefin Sans"/>
              </a:rPr>
              <a:t> </a:t>
            </a:r>
            <a:r>
              <a:rPr sz="896" b="1">
                <a:solidFill>
                  <a:srgbClr val="003373"/>
                </a:solidFill>
                <a:latin typeface="Josefin Sans"/>
              </a:rPr>
              <a:t>of</a:t>
            </a:r>
            <a:r>
              <a:rPr sz="896" b="1">
                <a:solidFill>
                  <a:srgbClr val="003373"/>
                </a:solidFill>
                <a:latin typeface="Josefin Sans"/>
              </a:rPr>
              <a:t> </a:t>
            </a:r>
            <a:r>
              <a:rPr sz="896" b="1">
                <a:solidFill>
                  <a:srgbClr val="003373"/>
                </a:solidFill>
                <a:latin typeface="Josefin Sans"/>
              </a:rPr>
              <a:t>hidden</a:t>
            </a:r>
            <a:r>
              <a:rPr sz="896" b="1">
                <a:solidFill>
                  <a:srgbClr val="003373"/>
                </a:solidFill>
                <a:latin typeface="Josefin Sans"/>
              </a:rPr>
              <a:t> </a:t>
            </a:r>
            <a:r>
              <a:rPr sz="896" b="1">
                <a:solidFill>
                  <a:srgbClr val="003373"/>
                </a:solidFill>
                <a:latin typeface="Josefin Sans"/>
              </a:rPr>
              <a:t>neurons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0056" y="1240649"/>
            <a:ext cx="532533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Hidden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layers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are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useful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identifying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hidden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features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input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patterns.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898162" y="3150919"/>
            <a:ext cx="887233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25935" y="3150695"/>
            <a:ext cx="159460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24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0" y="3146743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880005" y="3146743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Design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a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neural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network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8000" y="359888"/>
            <a:ext cx="5677395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1">
                <a:solidFill>
                  <a:srgbClr val="003373"/>
                </a:solidFill>
                <a:latin typeface="Josefin Sans"/>
              </a:rPr>
              <a:t>Number</a:t>
            </a:r>
            <a:r>
              <a:rPr sz="896" b="1">
                <a:solidFill>
                  <a:srgbClr val="003373"/>
                </a:solidFill>
                <a:latin typeface="Josefin Sans"/>
              </a:rPr>
              <a:t> </a:t>
            </a:r>
            <a:r>
              <a:rPr sz="896" b="1">
                <a:solidFill>
                  <a:srgbClr val="003373"/>
                </a:solidFill>
                <a:latin typeface="Josefin Sans"/>
              </a:rPr>
              <a:t>of</a:t>
            </a:r>
            <a:r>
              <a:rPr sz="896" b="1">
                <a:solidFill>
                  <a:srgbClr val="003373"/>
                </a:solidFill>
                <a:latin typeface="Josefin Sans"/>
              </a:rPr>
              <a:t> </a:t>
            </a:r>
            <a:r>
              <a:rPr sz="896" b="1">
                <a:solidFill>
                  <a:srgbClr val="003373"/>
                </a:solidFill>
                <a:latin typeface="Josefin Sans"/>
              </a:rPr>
              <a:t>hidden</a:t>
            </a:r>
            <a:r>
              <a:rPr sz="896" b="1">
                <a:solidFill>
                  <a:srgbClr val="003373"/>
                </a:solidFill>
                <a:latin typeface="Josefin Sans"/>
              </a:rPr>
              <a:t> </a:t>
            </a:r>
            <a:r>
              <a:rPr sz="896" b="1">
                <a:solidFill>
                  <a:srgbClr val="003373"/>
                </a:solidFill>
                <a:latin typeface="Josefin Sans"/>
              </a:rPr>
              <a:t>layers</a:t>
            </a:r>
            <a:r>
              <a:rPr sz="896" b="1">
                <a:solidFill>
                  <a:srgbClr val="003373"/>
                </a:solidFill>
                <a:latin typeface="Josefin Sans"/>
              </a:rPr>
              <a:t> </a:t>
            </a:r>
            <a:r>
              <a:rPr sz="896" b="1">
                <a:solidFill>
                  <a:srgbClr val="003373"/>
                </a:solidFill>
                <a:latin typeface="Josefin Sans"/>
              </a:rPr>
              <a:t>&amp;</a:t>
            </a:r>
            <a:r>
              <a:rPr sz="896" b="1">
                <a:solidFill>
                  <a:srgbClr val="003373"/>
                </a:solidFill>
                <a:latin typeface="Josefin Sans"/>
              </a:rPr>
              <a:t> </a:t>
            </a:r>
            <a:r>
              <a:rPr sz="896" b="1">
                <a:solidFill>
                  <a:srgbClr val="003373"/>
                </a:solidFill>
                <a:latin typeface="Josefin Sans"/>
              </a:rPr>
              <a:t>number</a:t>
            </a:r>
            <a:r>
              <a:rPr sz="896" b="1">
                <a:solidFill>
                  <a:srgbClr val="003373"/>
                </a:solidFill>
                <a:latin typeface="Josefin Sans"/>
              </a:rPr>
              <a:t> </a:t>
            </a:r>
            <a:r>
              <a:rPr sz="896" b="1">
                <a:solidFill>
                  <a:srgbClr val="003373"/>
                </a:solidFill>
                <a:latin typeface="Josefin Sans"/>
              </a:rPr>
              <a:t>of</a:t>
            </a:r>
            <a:r>
              <a:rPr sz="896" b="1">
                <a:solidFill>
                  <a:srgbClr val="003373"/>
                </a:solidFill>
                <a:latin typeface="Josefin Sans"/>
              </a:rPr>
              <a:t> </a:t>
            </a:r>
            <a:r>
              <a:rPr sz="896" b="1">
                <a:solidFill>
                  <a:srgbClr val="003373"/>
                </a:solidFill>
                <a:latin typeface="Josefin Sans"/>
              </a:rPr>
              <a:t>hidden</a:t>
            </a:r>
            <a:r>
              <a:rPr sz="896" b="1">
                <a:solidFill>
                  <a:srgbClr val="003373"/>
                </a:solidFill>
                <a:latin typeface="Josefin Sans"/>
              </a:rPr>
              <a:t> </a:t>
            </a:r>
            <a:r>
              <a:rPr sz="896" b="1">
                <a:solidFill>
                  <a:srgbClr val="003373"/>
                </a:solidFill>
                <a:latin typeface="Josefin Sans"/>
              </a:rPr>
              <a:t>neurons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0056" y="1240649"/>
            <a:ext cx="532533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Hidden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layers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are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useful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identifying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hidden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features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input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patterns.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60056" y="1498763"/>
            <a:ext cx="532533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Does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mean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that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we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should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use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many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hidden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neurons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possible?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898162" y="3150919"/>
            <a:ext cx="887233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625935" y="3150695"/>
            <a:ext cx="159460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24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-2" y="3146742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880002" y="3146742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Design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a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neural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network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8000" y="359888"/>
            <a:ext cx="5677395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1">
                <a:solidFill>
                  <a:srgbClr val="003373"/>
                </a:solidFill>
                <a:latin typeface="Josefin Sans"/>
              </a:rPr>
              <a:t>Number</a:t>
            </a:r>
            <a:r>
              <a:rPr sz="896" b="1">
                <a:solidFill>
                  <a:srgbClr val="003373"/>
                </a:solidFill>
                <a:latin typeface="Josefin Sans"/>
              </a:rPr>
              <a:t> </a:t>
            </a:r>
            <a:r>
              <a:rPr sz="896" b="1">
                <a:solidFill>
                  <a:srgbClr val="003373"/>
                </a:solidFill>
                <a:latin typeface="Josefin Sans"/>
              </a:rPr>
              <a:t>of</a:t>
            </a:r>
            <a:r>
              <a:rPr sz="896" b="1">
                <a:solidFill>
                  <a:srgbClr val="003373"/>
                </a:solidFill>
                <a:latin typeface="Josefin Sans"/>
              </a:rPr>
              <a:t> </a:t>
            </a:r>
            <a:r>
              <a:rPr sz="896" b="1">
                <a:solidFill>
                  <a:srgbClr val="003373"/>
                </a:solidFill>
                <a:latin typeface="Josefin Sans"/>
              </a:rPr>
              <a:t>hidden</a:t>
            </a:r>
            <a:r>
              <a:rPr sz="896" b="1">
                <a:solidFill>
                  <a:srgbClr val="003373"/>
                </a:solidFill>
                <a:latin typeface="Josefin Sans"/>
              </a:rPr>
              <a:t> </a:t>
            </a:r>
            <a:r>
              <a:rPr sz="896" b="1">
                <a:solidFill>
                  <a:srgbClr val="003373"/>
                </a:solidFill>
                <a:latin typeface="Josefin Sans"/>
              </a:rPr>
              <a:t>layers</a:t>
            </a:r>
            <a:r>
              <a:rPr sz="896" b="1">
                <a:solidFill>
                  <a:srgbClr val="003373"/>
                </a:solidFill>
                <a:latin typeface="Josefin Sans"/>
              </a:rPr>
              <a:t> </a:t>
            </a:r>
            <a:r>
              <a:rPr sz="896" b="1">
                <a:solidFill>
                  <a:srgbClr val="003373"/>
                </a:solidFill>
                <a:latin typeface="Josefin Sans"/>
              </a:rPr>
              <a:t>&amp;</a:t>
            </a:r>
            <a:r>
              <a:rPr sz="896" b="1">
                <a:solidFill>
                  <a:srgbClr val="003373"/>
                </a:solidFill>
                <a:latin typeface="Josefin Sans"/>
              </a:rPr>
              <a:t> </a:t>
            </a:r>
            <a:r>
              <a:rPr sz="896" b="1">
                <a:solidFill>
                  <a:srgbClr val="003373"/>
                </a:solidFill>
                <a:latin typeface="Josefin Sans"/>
              </a:rPr>
              <a:t>number</a:t>
            </a:r>
            <a:r>
              <a:rPr sz="896" b="1">
                <a:solidFill>
                  <a:srgbClr val="003373"/>
                </a:solidFill>
                <a:latin typeface="Josefin Sans"/>
              </a:rPr>
              <a:t> </a:t>
            </a:r>
            <a:r>
              <a:rPr sz="896" b="1">
                <a:solidFill>
                  <a:srgbClr val="003373"/>
                </a:solidFill>
                <a:latin typeface="Josefin Sans"/>
              </a:rPr>
              <a:t>of</a:t>
            </a:r>
            <a:r>
              <a:rPr sz="896" b="1">
                <a:solidFill>
                  <a:srgbClr val="003373"/>
                </a:solidFill>
                <a:latin typeface="Josefin Sans"/>
              </a:rPr>
              <a:t> </a:t>
            </a:r>
            <a:r>
              <a:rPr sz="896" b="1">
                <a:solidFill>
                  <a:srgbClr val="003373"/>
                </a:solidFill>
                <a:latin typeface="Josefin Sans"/>
              </a:rPr>
              <a:t>hidden</a:t>
            </a:r>
            <a:r>
              <a:rPr sz="896" b="1">
                <a:solidFill>
                  <a:srgbClr val="003373"/>
                </a:solidFill>
                <a:latin typeface="Josefin Sans"/>
              </a:rPr>
              <a:t> </a:t>
            </a:r>
            <a:r>
              <a:rPr sz="896" b="1">
                <a:solidFill>
                  <a:srgbClr val="003373"/>
                </a:solidFill>
                <a:latin typeface="Josefin Sans"/>
              </a:rPr>
              <a:t>neurons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0056" y="1240649"/>
            <a:ext cx="532533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Hidden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layers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are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useful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identifying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hidden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features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input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patterns.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60056" y="1498763"/>
            <a:ext cx="532533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Does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mean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that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we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should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use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many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hidden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neurons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possible?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60056" y="1756878"/>
            <a:ext cx="532533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No.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Overfitting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might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happen.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898159" y="3150917"/>
            <a:ext cx="887236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25932" y="3150693"/>
            <a:ext cx="159463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24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0" y="3146743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880005" y="3146743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Overfitting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0056" y="827670"/>
            <a:ext cx="532533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problem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of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overfitting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occurs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when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network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simply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memorise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training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7094" y="1043499"/>
            <a:ext cx="5148301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data.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898162" y="3150918"/>
            <a:ext cx="887233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24106" y="3150694"/>
            <a:ext cx="161289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25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0" y="3146743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880005" y="3146743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Overfitting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0056" y="827670"/>
            <a:ext cx="532533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problem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of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overfitting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occurs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when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network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simply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memorise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training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7094" y="1043499"/>
            <a:ext cx="5148301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data.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60056" y="1257857"/>
            <a:ext cx="532533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overfitted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neural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network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unable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generalise.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898162" y="3150918"/>
            <a:ext cx="887233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624106" y="3150694"/>
            <a:ext cx="161289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25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0" y="3146743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880005" y="3146743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Overfitting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0056" y="827670"/>
            <a:ext cx="532533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problem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of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overfitting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occurs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when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network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simply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memorise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training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7094" y="1043499"/>
            <a:ext cx="5148301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data.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60056" y="1257857"/>
            <a:ext cx="532533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overfitted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neural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network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unable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generalise.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60056" y="1515972"/>
            <a:ext cx="532533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neural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network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will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be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unable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identify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correct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output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when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presented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7094" y="1731802"/>
            <a:ext cx="5148301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with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data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that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are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not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part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of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training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data.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898162" y="3150918"/>
            <a:ext cx="887233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624106" y="3150694"/>
            <a:ext cx="161289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25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0" y="3146744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880005" y="3146744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Overfitting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0056" y="827670"/>
            <a:ext cx="532533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problem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of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overfitting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occurs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when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network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simply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memorise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training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7094" y="1043499"/>
            <a:ext cx="5148301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data.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60056" y="1257857"/>
            <a:ext cx="532533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overfitted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neural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network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unable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generalise.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60056" y="1515972"/>
            <a:ext cx="532533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neural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network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will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be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unable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identify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correct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output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when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presented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7094" y="1731802"/>
            <a:ext cx="5148301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with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data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that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are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not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part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of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training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data.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60056" y="1946160"/>
            <a:ext cx="532533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prevent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overfitting,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we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should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choose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smallest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number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of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hidden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neurons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7094" y="2161989"/>
            <a:ext cx="5148301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that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yields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good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generalisation.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898162" y="3150920"/>
            <a:ext cx="887233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624106" y="3150696"/>
            <a:ext cx="161289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25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0" y="3146743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880005" y="3146743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Overfitting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0056" y="827670"/>
            <a:ext cx="532533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problem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of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overfitting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occurs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when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network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simply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memorise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training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7094" y="1043499"/>
            <a:ext cx="5148301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data.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60056" y="1257857"/>
            <a:ext cx="532533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overfitted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neural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network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unable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generalise.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60056" y="1515972"/>
            <a:ext cx="532533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neural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network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will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be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unable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identify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correct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output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when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presented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7094" y="1731802"/>
            <a:ext cx="5148301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with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data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that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are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not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part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of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training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data.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60056" y="1946160"/>
            <a:ext cx="532533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prevent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overfitting,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we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should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choose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smallest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number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of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hidden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neurons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7094" y="2161989"/>
            <a:ext cx="5148301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that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yields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good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generalisation.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60056" y="2376347"/>
            <a:ext cx="532533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Occasional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check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with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validation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data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another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approach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prevent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overfitting.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898162" y="3150918"/>
            <a:ext cx="887233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624106" y="3150694"/>
            <a:ext cx="161289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25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0" y="3146740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880005" y="3146740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Design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a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neural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network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8000" y="359888"/>
            <a:ext cx="5677395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1">
                <a:solidFill>
                  <a:srgbClr val="003373"/>
                </a:solidFill>
                <a:latin typeface="Josefin Sans"/>
              </a:rPr>
              <a:t>Activation</a:t>
            </a:r>
            <a:r>
              <a:rPr sz="896" b="1">
                <a:solidFill>
                  <a:srgbClr val="003373"/>
                </a:solidFill>
                <a:latin typeface="Josefin Sans"/>
              </a:rPr>
              <a:t> </a:t>
            </a:r>
            <a:r>
              <a:rPr sz="896" b="1">
                <a:solidFill>
                  <a:srgbClr val="003373"/>
                </a:solidFill>
                <a:latin typeface="Josefin Sans"/>
              </a:rPr>
              <a:t>functions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0056" y="1171814"/>
            <a:ext cx="532533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mentioned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previously,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there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are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different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type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of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activation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functions: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linear,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7094" y="1387656"/>
            <a:ext cx="5148301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sign,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step,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sigmoid.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898162" y="3150916"/>
            <a:ext cx="887233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623967" y="3150692"/>
            <a:ext cx="161428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26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0" y="3146740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880005" y="3146740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Design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a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neural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network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8000" y="359888"/>
            <a:ext cx="5677395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1">
                <a:solidFill>
                  <a:srgbClr val="003373"/>
                </a:solidFill>
                <a:latin typeface="Josefin Sans"/>
              </a:rPr>
              <a:t>Activation</a:t>
            </a:r>
            <a:r>
              <a:rPr sz="896" b="1">
                <a:solidFill>
                  <a:srgbClr val="003373"/>
                </a:solidFill>
                <a:latin typeface="Josefin Sans"/>
              </a:rPr>
              <a:t> </a:t>
            </a:r>
            <a:r>
              <a:rPr sz="896" b="1">
                <a:solidFill>
                  <a:srgbClr val="003373"/>
                </a:solidFill>
                <a:latin typeface="Josefin Sans"/>
              </a:rPr>
              <a:t>functions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0056" y="1171814"/>
            <a:ext cx="532533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mentioned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previously,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there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are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different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type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of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activation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functions: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linear,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7094" y="1387656"/>
            <a:ext cx="5148301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sign,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step,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sigmoid.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60056" y="1602001"/>
            <a:ext cx="532533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Generally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each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layer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will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have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same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type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of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activation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function.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898162" y="3150916"/>
            <a:ext cx="887233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23967" y="3150692"/>
            <a:ext cx="161428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26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-2" y="3146740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880002" y="3146740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Design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a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neural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network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8000" y="359888"/>
            <a:ext cx="5677395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1">
                <a:solidFill>
                  <a:srgbClr val="003373"/>
                </a:solidFill>
                <a:latin typeface="Josefin Sans"/>
              </a:rPr>
              <a:t>Activation</a:t>
            </a:r>
            <a:r>
              <a:rPr sz="896" b="1">
                <a:solidFill>
                  <a:srgbClr val="003373"/>
                </a:solidFill>
                <a:latin typeface="Josefin Sans"/>
              </a:rPr>
              <a:t> </a:t>
            </a:r>
            <a:r>
              <a:rPr sz="896" b="1">
                <a:solidFill>
                  <a:srgbClr val="003373"/>
                </a:solidFill>
                <a:latin typeface="Josefin Sans"/>
              </a:rPr>
              <a:t>functions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0056" y="1171814"/>
            <a:ext cx="532533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mentioned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previously,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there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are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different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type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of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activation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functions: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linear,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7094" y="1387656"/>
            <a:ext cx="5148301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sign,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step,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sigmoid.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60056" y="1602001"/>
            <a:ext cx="532533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Generally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each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layer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will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have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same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type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of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activation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function.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60056" y="1860115"/>
            <a:ext cx="532533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Activation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functions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different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layers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are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not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necessarily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same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type.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898159" y="3150916"/>
            <a:ext cx="887236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623964" y="3150692"/>
            <a:ext cx="161432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26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0" y="3146741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880004" y="3146741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Design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a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neural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network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8000" y="359888"/>
            <a:ext cx="5677395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1">
                <a:solidFill>
                  <a:srgbClr val="003373"/>
                </a:solidFill>
                <a:latin typeface="Josefin Sans"/>
              </a:rPr>
              <a:t>Connections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0056" y="1353068"/>
            <a:ext cx="532533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Feedforward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network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898161" y="3150916"/>
            <a:ext cx="887234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27979" y="3150692"/>
            <a:ext cx="157416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27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0" y="3146741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880004" y="3146741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Design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a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neural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network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8000" y="359888"/>
            <a:ext cx="5677395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1">
                <a:solidFill>
                  <a:srgbClr val="003373"/>
                </a:solidFill>
                <a:latin typeface="Josefin Sans"/>
              </a:rPr>
              <a:t>Connections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0056" y="1353068"/>
            <a:ext cx="532533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Feedforward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network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60056" y="1611170"/>
            <a:ext cx="532533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Recurrent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network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898161" y="3150916"/>
            <a:ext cx="887234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627979" y="3150692"/>
            <a:ext cx="157416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27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51597731" y="-49055777"/>
            <a:ext cx="47829" cy="47829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1597731" y="-48817907"/>
            <a:ext cx="47829" cy="47829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-2" y="3146741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880002" y="3146741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Design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a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neural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network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8000" y="359888"/>
            <a:ext cx="5677395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1">
                <a:solidFill>
                  <a:srgbClr val="003373"/>
                </a:solidFill>
                <a:latin typeface="Josefin Sans"/>
              </a:rPr>
              <a:t>Learning</a:t>
            </a:r>
            <a:r>
              <a:rPr sz="896" b="1">
                <a:solidFill>
                  <a:srgbClr val="003373"/>
                </a:solidFill>
                <a:latin typeface="Josefin Sans"/>
              </a:rPr>
              <a:t> </a:t>
            </a:r>
            <a:r>
              <a:rPr sz="896" b="1">
                <a:solidFill>
                  <a:srgbClr val="003373"/>
                </a:solidFill>
                <a:latin typeface="Josefin Sans"/>
              </a:rPr>
              <a:t>algorithms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60056" y="1162607"/>
            <a:ext cx="532533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Supervised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learning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898159" y="3150916"/>
            <a:ext cx="887236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25094" y="3150692"/>
            <a:ext cx="160301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28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26197402" y="-23655449"/>
            <a:ext cx="47829" cy="47828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6197402" y="-23417576"/>
            <a:ext cx="47829" cy="47828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0" y="3146742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880005" y="3146742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Design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a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neural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network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8000" y="359888"/>
            <a:ext cx="5677395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1">
                <a:solidFill>
                  <a:srgbClr val="003373"/>
                </a:solidFill>
                <a:latin typeface="Josefin Sans"/>
              </a:rPr>
              <a:t>Learning</a:t>
            </a:r>
            <a:r>
              <a:rPr sz="896" b="1">
                <a:solidFill>
                  <a:srgbClr val="003373"/>
                </a:solidFill>
                <a:latin typeface="Josefin Sans"/>
              </a:rPr>
              <a:t> </a:t>
            </a:r>
            <a:r>
              <a:rPr sz="896" b="1">
                <a:solidFill>
                  <a:srgbClr val="003373"/>
                </a:solidFill>
                <a:latin typeface="Josefin Sans"/>
              </a:rPr>
              <a:t>algorithms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60056" y="1162607"/>
            <a:ext cx="532533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Supervised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learning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60056" y="1400478"/>
            <a:ext cx="532533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Unsupervised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learning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898162" y="3150918"/>
            <a:ext cx="887233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625097" y="3150694"/>
            <a:ext cx="160298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28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797076" y="1744878"/>
            <a:ext cx="47828" cy="47828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6197402" y="-23417576"/>
            <a:ext cx="47829" cy="47828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0" y="3146742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880005" y="3146742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Design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a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neural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network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8000" y="359888"/>
            <a:ext cx="5677395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1">
                <a:solidFill>
                  <a:srgbClr val="003373"/>
                </a:solidFill>
                <a:latin typeface="Josefin Sans"/>
              </a:rPr>
              <a:t>Learning</a:t>
            </a:r>
            <a:r>
              <a:rPr sz="896" b="1">
                <a:solidFill>
                  <a:srgbClr val="003373"/>
                </a:solidFill>
                <a:latin typeface="Josefin Sans"/>
              </a:rPr>
              <a:t> </a:t>
            </a:r>
            <a:r>
              <a:rPr sz="896" b="1">
                <a:solidFill>
                  <a:srgbClr val="003373"/>
                </a:solidFill>
                <a:latin typeface="Josefin Sans"/>
              </a:rPr>
              <a:t>algorithms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60056" y="1162607"/>
            <a:ext cx="532533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Supervised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learning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60056" y="1400478"/>
            <a:ext cx="532533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Unsupervised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learning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4183" y="1691702"/>
            <a:ext cx="487121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Josefin Sans"/>
              </a:rPr>
              <a:t>Hebbian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learning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898162" y="3150918"/>
            <a:ext cx="887233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25097" y="3150694"/>
            <a:ext cx="160298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28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797076" y="1744878"/>
            <a:ext cx="47828" cy="47828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97076" y="1982749"/>
            <a:ext cx="47828" cy="47828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-2" y="3146742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880002" y="3146742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Design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a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neural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network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8000" y="359888"/>
            <a:ext cx="5677395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1">
                <a:solidFill>
                  <a:srgbClr val="003373"/>
                </a:solidFill>
                <a:latin typeface="Josefin Sans"/>
              </a:rPr>
              <a:t>Learning</a:t>
            </a:r>
            <a:r>
              <a:rPr sz="896" b="1">
                <a:solidFill>
                  <a:srgbClr val="003373"/>
                </a:solidFill>
                <a:latin typeface="Josefin Sans"/>
              </a:rPr>
              <a:t> </a:t>
            </a:r>
            <a:r>
              <a:rPr sz="896" b="1">
                <a:solidFill>
                  <a:srgbClr val="003373"/>
                </a:solidFill>
                <a:latin typeface="Josefin Sans"/>
              </a:rPr>
              <a:t>algorithms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60056" y="1162607"/>
            <a:ext cx="532533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Supervised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learning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60056" y="1400478"/>
            <a:ext cx="532533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Unsupervised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learning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4183" y="1691702"/>
            <a:ext cx="487121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Josefin Sans"/>
              </a:rPr>
              <a:t>Hebbian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learning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4183" y="1929573"/>
            <a:ext cx="487121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Josefin Sans"/>
              </a:rPr>
              <a:t>Competitive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learning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898159" y="3150918"/>
            <a:ext cx="887236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625094" y="3150694"/>
            <a:ext cx="160301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28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60073" cy="324004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146742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880004" y="3146742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59988" cy="323999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22610" y="1461234"/>
            <a:ext cx="1662785" cy="48793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78" b="1">
                <a:solidFill>
                  <a:srgbClr val="FFFFFF"/>
                </a:solidFill>
                <a:latin typeface="Josefin Sans"/>
              </a:rPr>
              <a:t>Thank</a:t>
            </a:r>
            <a:r>
              <a:rPr sz="2478" b="1">
                <a:solidFill>
                  <a:srgbClr val="914300"/>
                </a:solidFill>
                <a:latin typeface="Josefin Sans"/>
              </a:rPr>
              <a:t> </a:t>
            </a:r>
            <a:r>
              <a:rPr sz="2478" b="1">
                <a:solidFill>
                  <a:srgbClr val="914300"/>
                </a:solidFill>
                <a:latin typeface="Josefin Sans"/>
              </a:rPr>
              <a:t>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98161" y="3150918"/>
            <a:ext cx="887234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23966" y="3150694"/>
            <a:ext cx="161429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29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9284" y="479056"/>
            <a:ext cx="4181140" cy="14348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8" b="0">
                <a:solidFill>
                  <a:srgbClr val="0D3361"/>
                </a:solidFill>
                <a:latin typeface="Arial"/>
              </a:rPr>
              <a:t>CSC3034 Current Course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9284" y="722056"/>
            <a:ext cx="4181140" cy="23914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14" b="1">
                <a:solidFill>
                  <a:srgbClr val="0D3361"/>
                </a:solidFill>
                <a:latin typeface="Arial"/>
              </a:rPr>
              <a:t>08 Recurrent Neural Network -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9284" y="1027928"/>
            <a:ext cx="4181140" cy="11957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7" b="0">
                <a:solidFill>
                  <a:srgbClr val="1A1A1A"/>
                </a:solidFill>
                <a:latin typeface="Arial"/>
              </a:rPr>
              <a:t>Synchronized from the current CSC3034 course site on 14 August 2026.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998" y="1367356"/>
            <a:ext cx="4065426" cy="11957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7" b="0">
                <a:solidFill>
                  <a:srgbClr val="1A1A1A"/>
                </a:solidFill>
                <a:latin typeface="Arial"/>
              </a:rPr>
              <a:t>•  Current Lab 8b uses a Keras Embedding/LSTM pipeline for IMDb sentiment analysis.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998" y="1629642"/>
            <a:ext cx="4065426" cy="11957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7" b="0">
                <a:solidFill>
                  <a:srgbClr val="1A1A1A"/>
                </a:solidFill>
                <a:latin typeface="Arial"/>
              </a:rPr>
              <a:t>•  The practical covers preprocessing, training, evaluation, and prediction.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998" y="1891927"/>
            <a:ext cx="4065426" cy="11957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7" b="0">
                <a:solidFill>
                  <a:srgbClr val="1A1A1A"/>
                </a:solidFill>
                <a:latin typeface="Arial"/>
              </a:rPr>
              <a:t>•  Deep-learning requirements are separated from the core lab environment.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9284" y="2670916"/>
            <a:ext cx="4181140" cy="13152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8" b="1">
                <a:solidFill>
                  <a:srgbClr val="0D3361"/>
                </a:solidFill>
                <a:latin typeface="Arial"/>
              </a:rPr>
              <a:t>Current materials author: Dr Tang Tiong Yew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9284" y="2856791"/>
            <a:ext cx="4181140" cy="10761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6" b="0">
                <a:solidFill>
                  <a:srgbClr val="0D3361"/>
                </a:solidFill>
                <a:latin typeface="Arial"/>
              </a:rPr>
              <a:t>See the synchronized lab notes and runnable examples for full instructions.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08 Recurrent Neural Network - presentation</dc:title>
  <dc:subject>Editable objects converted from 08 Recurrent Neural Network - presentation.pdf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