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7560005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984095" y="2373617"/>
            <a:ext cx="359180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986635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443645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499243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569523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573369" y="23761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84095" y="2606433"/>
            <a:ext cx="359180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986635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443645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499243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569523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573369" y="260896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86635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443645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99243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569523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573369" y="2836697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86635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443645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499243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569523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573369" y="30644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86635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43645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499243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569523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573369" y="329219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986635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443645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499243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569523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573369" y="351994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986635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443645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499243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569523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573369" y="374768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986635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43645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499243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569523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573369" y="39754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986635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43645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99243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69523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573369" y="42031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986635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443645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499243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569523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573369" y="443092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986635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443645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99243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569523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73369" y="465866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986635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443645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499243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569523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73369" y="4886413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986635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443645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99243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569523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573369" y="511416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986635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443645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499243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569523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573369" y="5341911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986635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443645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499243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69523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573369" y="55696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986635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443645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499243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569523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5573369" y="57973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984095" y="6027674"/>
            <a:ext cx="359180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205456" y="7167041"/>
            <a:ext cx="31490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207983" y="716956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263582" y="716956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333862" y="716956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352008" y="716956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205456" y="7399845"/>
            <a:ext cx="31490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07983" y="74023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263582" y="74023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333862" y="74023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352008" y="74023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207983" y="763012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263582" y="763012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333862" y="763012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352008" y="763012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207983" y="78578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263582" y="78578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333862" y="78578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352008" y="78578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207983" y="8085608"/>
            <a:ext cx="0" cy="22774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263582" y="8085608"/>
            <a:ext cx="0" cy="22774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333862" y="8085608"/>
            <a:ext cx="0" cy="22774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52008" y="8085608"/>
            <a:ext cx="0" cy="22774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205456" y="8315897"/>
            <a:ext cx="31490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20416" y="922857"/>
            <a:ext cx="5064988" cy="235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5" b="1">
                <a:solidFill>
                  <a:srgbClr val="000000"/>
                </a:solidFill>
                <a:latin typeface="Roboto Bold"/>
              </a:rPr>
              <a:t>CSC3034 Computational Intelligence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75038" y="1099997"/>
            <a:ext cx="4810366" cy="235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5" b="1">
                <a:solidFill>
                  <a:srgbClr val="000000"/>
                </a:solidFill>
                <a:latin typeface="Roboto Bold"/>
              </a:rPr>
              <a:t>Tutorial Performance Metrics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6904" y="1397447"/>
            <a:ext cx="659850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Percent correct.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A neural network has been designed to distinguish between four classes, A, B, C, and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35697" y="154928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D. The neural network has two output neurons with the sigmoid activation function.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raw values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5697" y="170111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from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output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neurons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using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sets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input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data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are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recorded.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expected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class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each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35697" y="1852946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input data set is provided alongside with the raw values in Table 1.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34755" y="2213917"/>
            <a:ext cx="5150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Table 1: Raw output values and expected classes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65070" y="2436598"/>
            <a:ext cx="55203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522080" y="2436598"/>
            <a:ext cx="50633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577691" y="2436598"/>
            <a:ext cx="40077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47958" y="2436598"/>
            <a:ext cx="29374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187422" y="2669415"/>
            <a:ext cx="53979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814993" y="2669415"/>
            <a:ext cx="47704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876725" y="2669415"/>
            <a:ext cx="37086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0.028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30380" y="2669415"/>
            <a:ext cx="2555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80082" y="2897152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29674" y="2897152"/>
            <a:ext cx="475573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0.112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77932" y="2897152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31968" y="2897152"/>
            <a:ext cx="25534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80082" y="3124900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13215" y="3124900"/>
            <a:ext cx="4772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0.809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77932" y="3124900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032730" y="3124900"/>
            <a:ext cx="2552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80082" y="3352649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814421" y="3352649"/>
            <a:ext cx="47709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0.349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77932" y="3352649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0.284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31968" y="3352649"/>
            <a:ext cx="25534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80082" y="3580398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814993" y="3580398"/>
            <a:ext cx="47704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0.664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77360" y="3580398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032730" y="3580398"/>
            <a:ext cx="2552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80082" y="3808134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821127" y="3808134"/>
            <a:ext cx="47642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76725" y="3808134"/>
            <a:ext cx="37086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0.304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30380" y="3808134"/>
            <a:ext cx="2555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83688" y="4035884"/>
            <a:ext cx="54017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18599" y="4035884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885272" y="4035884"/>
            <a:ext cx="37001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030076" y="4035884"/>
            <a:ext cx="25553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80082" y="4263633"/>
            <a:ext cx="5405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14993" y="4263633"/>
            <a:ext cx="47704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0.465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77360" y="4263633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0.439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031968" y="4263633"/>
            <a:ext cx="25534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179523" y="4491382"/>
            <a:ext cx="54058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818599" y="4491382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880967" y="4491382"/>
            <a:ext cx="37044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0.972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032730" y="4491382"/>
            <a:ext cx="2552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151176" y="4719118"/>
            <a:ext cx="54342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18599" y="4719118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877360" y="4719118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0.829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30076" y="4719118"/>
            <a:ext cx="25553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59711" y="4946868"/>
            <a:ext cx="54256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14993" y="4946868"/>
            <a:ext cx="47704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877932" y="4946868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0.658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030076" y="4946868"/>
            <a:ext cx="25553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52383" y="5174617"/>
            <a:ext cx="54330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813215" y="5174617"/>
            <a:ext cx="4772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0.890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77360" y="5174617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030380" y="5174617"/>
            <a:ext cx="2555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152383" y="5402366"/>
            <a:ext cx="54330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813850" y="5402366"/>
            <a:ext cx="47715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0.699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881539" y="5402366"/>
            <a:ext cx="37038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0.478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032730" y="5402366"/>
            <a:ext cx="25526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152383" y="5630102"/>
            <a:ext cx="54330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18599" y="5630102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77360" y="5630102"/>
            <a:ext cx="37080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0.984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030076" y="5630102"/>
            <a:ext cx="25553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152383" y="5857851"/>
            <a:ext cx="54330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818599" y="5857851"/>
            <a:ext cx="47668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877932" y="5857851"/>
            <a:ext cx="37074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0.366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030380" y="5857851"/>
            <a:ext cx="2555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35697" y="619250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To determine the predicted class of a set of input data, the raw values of the output neurons need to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35697" y="634435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be translated into a boolean value using a threshold. A raw value above the threshold is translated to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35697" y="649617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SFTT1000"/>
              </a:rPr>
              <a:t>True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, otherwise, to</a:t>
            </a:r>
            <a:r>
              <a:rPr sz="996" b="0">
                <a:solidFill>
                  <a:srgbClr val="000000"/>
                </a:solidFill>
                <a:latin typeface="SFTT1000"/>
              </a:rPr>
              <a:t> False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. The combination of the translated outputs provides the predicted class for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5697" y="664800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the set of input data as shown in Table 2.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336444" y="7007341"/>
            <a:ext cx="52489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Table 2: Predicted class based on translated outputs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286431" y="7230023"/>
            <a:ext cx="52989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342030" y="7230023"/>
            <a:ext cx="42433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412310" y="7230023"/>
            <a:ext cx="31730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588641" y="7462826"/>
            <a:ext cx="49967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False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651580" y="7462826"/>
            <a:ext cx="3933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False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803457" y="7462826"/>
            <a:ext cx="27819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588641" y="7690576"/>
            <a:ext cx="499676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False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674668" y="7690576"/>
            <a:ext cx="39107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True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804219" y="7690576"/>
            <a:ext cx="27811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611729" y="7918325"/>
            <a:ext cx="49736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True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651580" y="7918325"/>
            <a:ext cx="3933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False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801882" y="7918325"/>
            <a:ext cx="27835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611729" y="8146074"/>
            <a:ext cx="49736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True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674668" y="8146074"/>
            <a:ext cx="391073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True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801565" y="8146074"/>
            <a:ext cx="27838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752291" y="9997810"/>
            <a:ext cx="3833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19427" y="1300175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821954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278964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334562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404842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422988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26847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19427" y="1532991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21954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78964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34562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404842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22988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26847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21954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78964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34562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404842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22988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26847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21954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278964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334562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04842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22988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426847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21954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78964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334562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04842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422988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426847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821954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278964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334562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404842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422988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26847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21954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278964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34562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404842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422988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426847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821954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78964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334562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404842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422988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426847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821954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78964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34562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04842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22988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426847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821954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78964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334562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404842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422988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426847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821954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278964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334562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04842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422988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26847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821954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78964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334562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404842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422988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426847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821954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278964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334562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404842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422988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26847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821954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278964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334562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404842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422988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426847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21954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278964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334562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404842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422988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426847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821954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278964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334562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404842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422988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426847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819427" y="4954232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603197" y="5009908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605737" y="5012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643065" y="5012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605737" y="50216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643065" y="50216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605737" y="51130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643065" y="51130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605737" y="52045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643065" y="52045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605737" y="52959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6643065" y="52959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605737" y="53874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643065" y="53874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605737" y="54788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643065" y="54788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605737" y="55702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43065" y="55702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605737" y="56617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643065" y="56617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05737" y="57531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643065" y="57531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605737" y="584462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643065" y="584462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605737" y="59360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643065" y="59360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605737" y="60275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643065" y="60275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605737" y="61189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643065" y="61189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605737" y="62104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643065" y="62104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605737" y="6301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643065" y="6301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605737" y="63933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643065" y="63933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605737" y="6484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643065" y="6484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605737" y="65761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643065" y="65761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605737" y="66676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6643065" y="66676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605737" y="67590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6643065" y="67590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605737" y="6850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6643065" y="6850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605737" y="69419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643065" y="69419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605737" y="70334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643065" y="70334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605737" y="70425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643065" y="70425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603197" y="7136562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603197" y="7465530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605737" y="74680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6643065" y="74680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605737" y="74772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3065" y="74772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605737" y="75686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643065" y="75686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605737" y="7660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643065" y="7660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605737" y="77515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643065" y="77515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605737" y="78430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43065" y="78430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605737" y="79344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3065" y="79344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605737" y="80259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43065" y="80259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605737" y="81173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643065" y="81173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605737" y="82088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643065" y="82088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605737" y="83002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643065" y="83002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605737" y="8391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43065" y="8391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605737" y="84831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643065" y="84831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605737" y="8574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643065" y="8574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605737" y="86660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643065" y="86660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605737" y="87574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43065" y="87574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605737" y="8848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643065" y="8848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605737" y="89403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643065" y="89403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605737" y="90318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643065" y="90318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605737" y="912326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643065" y="912326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605737" y="92147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643065" y="92147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605737" y="93061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3065" y="93061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605737" y="9397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43065" y="9397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605737" y="94890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643065" y="94890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605737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603197" y="9592195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80109" y="941962"/>
            <a:ext cx="64052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(a)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Using the threshold of</a:t>
            </a:r>
            <a:r>
              <a:rPr sz="996" b="1">
                <a:solidFill>
                  <a:srgbClr val="000000"/>
                </a:solidFill>
                <a:latin typeface="Roboto Bold"/>
              </a:rPr>
              <a:t> 0.5</a:t>
            </a:r>
            <a:r>
              <a:rPr sz="996" b="0">
                <a:solidFill>
                  <a:srgbClr val="000000"/>
                </a:solidFill>
                <a:latin typeface="Roboto Light"/>
              </a:rPr>
              <a:t>, calculate the percent correct for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481480" y="1119101"/>
            <a:ext cx="61039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all the input data (overall percent correct)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900402" y="1363156"/>
            <a:ext cx="56850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357412" y="1363156"/>
            <a:ext cx="52279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413010" y="1363156"/>
            <a:ext cx="4172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483290" y="1363156"/>
            <a:ext cx="3102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501436" y="1363156"/>
            <a:ext cx="2083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22754" y="1595973"/>
            <a:ext cx="55626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650324" y="1595973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0.623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712057" y="1595973"/>
            <a:ext cx="3873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0.028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883859" y="1595973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015413" y="1823709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664993" y="1823709"/>
            <a:ext cx="49204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0.112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713264" y="1823709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0.225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885446" y="1823709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015413" y="2051458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648546" y="2051458"/>
            <a:ext cx="493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0.809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713264" y="2051458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0.228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886208" y="2051458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015413" y="2279207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649753" y="2279207"/>
            <a:ext cx="4935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0.349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713264" y="2279207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0.284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885446" y="2279207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015413" y="2506957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650324" y="2506957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0.664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712692" y="2506957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886208" y="2506957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015413" y="2734692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656458" y="2734692"/>
            <a:ext cx="492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0.810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712057" y="2734692"/>
            <a:ext cx="3873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0.304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883859" y="2734692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019020" y="2962442"/>
            <a:ext cx="55663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653919" y="2962442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720591" y="2962442"/>
            <a:ext cx="38648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0.818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883541" y="2962442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015413" y="3190191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650324" y="3190191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0.465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712692" y="3190191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0.439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885446" y="3190191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014842" y="3417940"/>
            <a:ext cx="55705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653919" y="3417940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0.275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716299" y="3417940"/>
            <a:ext cx="38691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0.972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886208" y="3417940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986508" y="3645676"/>
            <a:ext cx="55988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653919" y="3645676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712692" y="3645676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0.829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883541" y="3645676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995042" y="3873425"/>
            <a:ext cx="5590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650324" y="3873425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0.624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713264" y="3873425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0.658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883541" y="3873425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87702" y="4101175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648546" y="4101175"/>
            <a:ext cx="493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0.890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712692" y="4101175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883859" y="4101175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987702" y="4328924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649181" y="4328924"/>
            <a:ext cx="49362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0.699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716858" y="4328924"/>
            <a:ext cx="38685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0.478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886208" y="4328924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987702" y="4556660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653919" y="4556660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0.674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712692" y="4556660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0.984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883541" y="4556660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987702" y="4784409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653919" y="4784409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3713264" y="4784409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0.366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883859" y="4784409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453146" y="7217260"/>
            <a:ext cx="6132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input data that are supposed to be D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19427" y="1300175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821954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278964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334562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404842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422988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26847" y="130270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19427" y="1532991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21954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78964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34562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404842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22988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26847" y="15355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821954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278964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34562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404842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22988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26847" y="17632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21954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278964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334562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04842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22988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426847" y="199100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21954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78964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334562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04842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422988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426847" y="221875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821954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278964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334562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404842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422988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26847" y="244650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21954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278964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334562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404842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422988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426847" y="267423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821954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78964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334562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404842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422988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426847" y="290198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821954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78964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34562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04842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22988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426847" y="312973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821954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78964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334562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404842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422988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426847" y="33574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821954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278964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334562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04842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422988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26847" y="358522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821954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78964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334562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404842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422988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426847" y="381297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821954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278964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334562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404842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422988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26847" y="404072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821954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278964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334562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404842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422988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426847" y="42684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821954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278964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334562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404842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422988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426847" y="449620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821954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278964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334562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404842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5422988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426847" y="472395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819427" y="4954232"/>
            <a:ext cx="460994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603197" y="5009908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605737" y="5012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643065" y="5012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605737" y="50216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643065" y="50216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605737" y="51130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643065" y="511307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605737" y="52045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643065" y="52045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605737" y="52959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6643065" y="52959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605737" y="53874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643065" y="53874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605737" y="54788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643065" y="54788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605737" y="55702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43065" y="55702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605737" y="56617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643065" y="56617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05737" y="57531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643065" y="57531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605737" y="584462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643065" y="584462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605737" y="59360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643065" y="59360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605737" y="60275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6643065" y="60275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605737" y="61189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6643065" y="61189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605737" y="62104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6643065" y="62104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605737" y="6301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6643065" y="63018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605737" y="63933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6643065" y="63933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605737" y="6484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6643065" y="64847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605737" y="65761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643065" y="65761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605737" y="66676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6643065" y="66676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605737" y="67590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6643065" y="67590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605737" y="6850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6643065" y="6850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1605737" y="69419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6643065" y="69419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605737" y="70334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6643065" y="70334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605737" y="70425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6643065" y="70425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603197" y="7136562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603197" y="7465530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605737" y="74680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6643065" y="74680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1605737" y="74772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6643065" y="74772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605737" y="75686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6643065" y="75686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605737" y="7660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6643065" y="7660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605737" y="77515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6643065" y="77515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605737" y="78430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43065" y="78430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605737" y="79344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6643065" y="79344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605737" y="80259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643065" y="80259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605737" y="81173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643065" y="81173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605737" y="82088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643065" y="82088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605737" y="83002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643065" y="83002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605737" y="8391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43065" y="8391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605737" y="84831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643065" y="84831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605737" y="8574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643065" y="8574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1605737" y="86660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643065" y="86660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1605737" y="87574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643065" y="87574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605737" y="8848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643065" y="8848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1605737" y="89403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6643065" y="89403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1605737" y="90318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6643065" y="90318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605737" y="912326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6643065" y="912326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605737" y="92147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643065" y="92147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605737" y="93061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6643065" y="93061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605737" y="9397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6643065" y="9397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605737" y="94890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6643065" y="94890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605737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603197" y="9592195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77696" y="941962"/>
            <a:ext cx="640770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(b)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Using the threshold of</a:t>
            </a:r>
            <a:r>
              <a:rPr sz="996" b="1">
                <a:solidFill>
                  <a:srgbClr val="000000"/>
                </a:solidFill>
                <a:latin typeface="Roboto Bold"/>
              </a:rPr>
              <a:t> 0.3</a:t>
            </a:r>
            <a:r>
              <a:rPr sz="996" b="0">
                <a:solidFill>
                  <a:srgbClr val="000000"/>
                </a:solidFill>
                <a:latin typeface="Roboto Light"/>
              </a:rPr>
              <a:t>, calculate the percent correct for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481480" y="1119101"/>
            <a:ext cx="61039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all the input data (overall percent correct)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900402" y="1363156"/>
            <a:ext cx="56850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357412" y="1363156"/>
            <a:ext cx="52279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413010" y="1363156"/>
            <a:ext cx="4172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483290" y="1363156"/>
            <a:ext cx="3102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501436" y="1363156"/>
            <a:ext cx="2083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022754" y="1595973"/>
            <a:ext cx="55626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650324" y="1595973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0.623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712057" y="1595973"/>
            <a:ext cx="3873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0.028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883859" y="1595973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015413" y="1823709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664993" y="1823709"/>
            <a:ext cx="492041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0.112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713264" y="1823709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0.225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885446" y="1823709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015413" y="2051458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648546" y="2051458"/>
            <a:ext cx="493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0.809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713264" y="2051458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0.228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886208" y="2051458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015413" y="2279207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649753" y="2279207"/>
            <a:ext cx="49356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0.349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713264" y="2279207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0.284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885446" y="2279207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015413" y="2506957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650324" y="2506957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0.664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712692" y="2506957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886208" y="2506957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015413" y="2734692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656458" y="2734692"/>
            <a:ext cx="49289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0.810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712057" y="2734692"/>
            <a:ext cx="38733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0.304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883859" y="2734692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019020" y="2962442"/>
            <a:ext cx="55663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653919" y="2962442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720591" y="2962442"/>
            <a:ext cx="38648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0.818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883541" y="2962442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015413" y="3190191"/>
            <a:ext cx="55699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650324" y="3190191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0.465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712692" y="3190191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0.439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885446" y="3190191"/>
            <a:ext cx="16999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014842" y="3417940"/>
            <a:ext cx="55705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653919" y="3417940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0.275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716299" y="3417940"/>
            <a:ext cx="38691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0.972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886208" y="3417940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986508" y="3645676"/>
            <a:ext cx="55988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653919" y="3645676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712692" y="3645676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0.829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883541" y="3645676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995042" y="3873425"/>
            <a:ext cx="55903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650324" y="3873425"/>
            <a:ext cx="49350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0.624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713264" y="3873425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0.658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883541" y="3873425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87702" y="4101175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648546" y="4101175"/>
            <a:ext cx="49368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0.890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3712692" y="4101175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883859" y="4101175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987702" y="4328924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649181" y="4328924"/>
            <a:ext cx="49362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0.699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716858" y="4328924"/>
            <a:ext cx="38685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0.478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886208" y="4328924"/>
            <a:ext cx="16991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1987702" y="4556660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653919" y="4556660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0.674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712692" y="4556660"/>
            <a:ext cx="38727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0.984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883541" y="4556660"/>
            <a:ext cx="170186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987702" y="4784409"/>
            <a:ext cx="55977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653919" y="4784409"/>
            <a:ext cx="49314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3713264" y="4784409"/>
            <a:ext cx="3872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0.366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883859" y="4784409"/>
            <a:ext cx="170154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453146" y="7217260"/>
            <a:ext cx="6132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input data that are supposed to be D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35697" y="1511604"/>
            <a:ext cx="573868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138224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595234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650832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721112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724958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798400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871843" y="151413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38224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595234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650832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21112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724958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798400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871843" y="16750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35697" y="1905355"/>
            <a:ext cx="573868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38224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595234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50832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21112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724958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98400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871843" y="190788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38224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95234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650832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721112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24958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798400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71843" y="21356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138224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595234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650832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21112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724958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798400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71843" y="23633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38224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595234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50832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721112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724958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798400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871843" y="259111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138224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595234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50832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721112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724958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798400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871843" y="281886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38224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595234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650832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721112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724958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8400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871843" y="3046602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138224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595234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650832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721112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724958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98400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871843" y="327435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38224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595234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650832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721112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724958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798400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71843" y="350210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138224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595234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650832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721112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724958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98400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871843" y="372985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224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595234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650832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721112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724958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798400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871843" y="3957586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138224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595234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650832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721112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724958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5798400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871843" y="4185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38224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595234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650832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721112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724958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798400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71843" y="4413084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138224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595234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650832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721112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724958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798400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871843" y="46408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138224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595234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650832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721112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724958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5798400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871843" y="486857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138224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595234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650832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721112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724958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5798400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71843" y="509631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135697" y="5326596"/>
            <a:ext cx="573868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392415" y="6119279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94942" y="612181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612181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394942" y="61640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61640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394942" y="6255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62554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394942" y="63469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63469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394942" y="64383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64383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394942" y="65297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65297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394942" y="66212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66212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394942" y="671267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671267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394942" y="68041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68041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394942" y="68955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68955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394942" y="69870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69870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394942" y="70784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70784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394942" y="71698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71698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394942" y="72613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72613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394942" y="73527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73527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394942" y="74442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74442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394942" y="75356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75356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394942" y="76271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76271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394942" y="77185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77185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394942" y="78100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78100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394942" y="79014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79014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394942" y="79929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79929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394942" y="80843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643065" y="80843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394942" y="81758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643065" y="81758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394942" y="82672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643065" y="82672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394942" y="83586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643065" y="83586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394942" y="84501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43065" y="84501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394942" y="85415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643065" y="85415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394942" y="86330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643065" y="86330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394942" y="87244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43065" y="87244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394942" y="88159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643065" y="88159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394942" y="89073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6643065" y="89073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394942" y="89988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643065" y="89988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394942" y="90902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643065" y="90902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394942" y="91817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6643065" y="91817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394942" y="92731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43065" y="92731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394942" y="936459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6643065" y="936459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394942" y="94560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6643065" y="94560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394942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392415" y="9592195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Errors.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Using the data in Question 1, consider</a:t>
            </a:r>
            <a:r>
              <a:rPr sz="996" b="0">
                <a:solidFill>
                  <a:srgbClr val="000000"/>
                </a:solidFill>
                <a:latin typeface="SFTT1000"/>
              </a:rPr>
              <a:t> False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as 0 and</a:t>
            </a:r>
            <a:r>
              <a:rPr sz="996" b="0">
                <a:solidFill>
                  <a:srgbClr val="000000"/>
                </a:solidFill>
                <a:latin typeface="SFTT1000"/>
              </a:rPr>
              <a:t> True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as 1, identify the expected output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of the output neurons for each set of input data.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803406" y="1574586"/>
            <a:ext cx="27819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Output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876848" y="1574586"/>
            <a:ext cx="17085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Output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216672" y="1735520"/>
            <a:ext cx="63687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673682" y="1735520"/>
            <a:ext cx="59117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1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729280" y="1735520"/>
            <a:ext cx="48561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Output Neuron 2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799560" y="1735520"/>
            <a:ext cx="37858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015598" y="1735520"/>
            <a:ext cx="25698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Neuron 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081699" y="1735520"/>
            <a:ext cx="15037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Neuron 2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339024" y="1968337"/>
            <a:ext cx="62463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966582" y="1968337"/>
            <a:ext cx="5618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0.623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028327" y="1968337"/>
            <a:ext cx="45570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0.028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181983" y="1968337"/>
            <a:ext cx="3403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331683" y="2196073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981263" y="2196073"/>
            <a:ext cx="56041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0.112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029521" y="2196073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0.225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183557" y="2196073"/>
            <a:ext cx="3401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331683" y="2423822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964817" y="2423822"/>
            <a:ext cx="56205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0.809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029521" y="2423822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0.228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184319" y="2423822"/>
            <a:ext cx="34010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331683" y="2651571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966010" y="2651571"/>
            <a:ext cx="56193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0.349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029521" y="2651571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0.284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183557" y="2651571"/>
            <a:ext cx="3401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331683" y="2879320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966582" y="2879320"/>
            <a:ext cx="5618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0.664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028950" y="2879320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184319" y="2879320"/>
            <a:ext cx="34010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331683" y="3107070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972716" y="3107070"/>
            <a:ext cx="56126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028327" y="3107070"/>
            <a:ext cx="45570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0.304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181983" y="3107070"/>
            <a:ext cx="3403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335290" y="3334806"/>
            <a:ext cx="62501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970189" y="3334806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0.673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036862" y="3334806"/>
            <a:ext cx="454854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0.818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181665" y="3334806"/>
            <a:ext cx="3403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331683" y="3562555"/>
            <a:ext cx="625372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966582" y="3562555"/>
            <a:ext cx="5618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0.465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028950" y="3562555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0.439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183557" y="3562555"/>
            <a:ext cx="3401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331112" y="3790304"/>
            <a:ext cx="62542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970189" y="3790304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0.275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032556" y="3790304"/>
            <a:ext cx="45528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0.972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4184319" y="3790304"/>
            <a:ext cx="34010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302766" y="4018053"/>
            <a:ext cx="62826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970189" y="4018053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028950" y="4018053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0.829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181665" y="4018053"/>
            <a:ext cx="3403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311313" y="4245790"/>
            <a:ext cx="62740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966582" y="4245790"/>
            <a:ext cx="56188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0.624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029521" y="4245790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0.658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181665" y="4245790"/>
            <a:ext cx="3403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303972" y="4473539"/>
            <a:ext cx="62814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964817" y="4473539"/>
            <a:ext cx="56205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0.890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028950" y="4473539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0.359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181983" y="4473539"/>
            <a:ext cx="3403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303972" y="4701288"/>
            <a:ext cx="62814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965451" y="4701288"/>
            <a:ext cx="56199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0.699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3033128" y="4701288"/>
            <a:ext cx="455227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0.478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184319" y="4701288"/>
            <a:ext cx="34010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303972" y="4929037"/>
            <a:ext cx="62814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970189" y="4929037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0.674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3028950" y="4929037"/>
            <a:ext cx="455645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0.984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181665" y="4929037"/>
            <a:ext cx="34037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303972" y="5156773"/>
            <a:ext cx="62814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970189" y="5156773"/>
            <a:ext cx="561521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0.788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3029521" y="5156773"/>
            <a:ext cx="45558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0.366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4181983" y="5156773"/>
            <a:ext cx="34034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135697" y="5491431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Note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that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for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this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question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we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will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not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use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threshold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translate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raw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values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35697" y="5643272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neurons but just use them as it is.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180109" y="5845710"/>
            <a:ext cx="64052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(a)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 the average sum-squared error for the system.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92415" y="1038403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394942" y="10409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43065" y="10409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394942" y="1063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43065" y="10630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394942" y="1154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11545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94942" y="12459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12459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94942" y="1337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1337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4942" y="14288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14288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94942" y="15203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15203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4942" y="16117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16117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4942" y="17032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17032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94942" y="17946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17946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94942" y="18861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18861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94942" y="1977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1977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94942" y="20689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20689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94942" y="21604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21604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394942" y="2251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2251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394942" y="23433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23433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94942" y="24347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24347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94942" y="25262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25262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394942" y="26176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26176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394942" y="27091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27091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394942" y="2800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2800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94942" y="2891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2891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394942" y="29834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29834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394942" y="3074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3074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394942" y="31663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31663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394942" y="3257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3257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394942" y="33492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33492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394942" y="34406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34406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394942" y="35321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35321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394942" y="36235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36235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394942" y="3715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3715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394942" y="38064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38064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394942" y="38978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38978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94942" y="39893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39893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394942" y="40807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40807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394942" y="41722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41722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394942" y="426368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426368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394942" y="43551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43551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394942" y="44465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44465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394942" y="453801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453801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394942" y="46294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46294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394942" y="47209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47209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394942" y="48123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48123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394942" y="4903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49038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394942" y="49952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49952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394942" y="50866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50866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394942" y="51781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51781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394942" y="52695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52695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394942" y="53610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53610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394942" y="54524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54524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394942" y="55439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55439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394942" y="56353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56353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394942" y="572681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572681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394942" y="5818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5818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394942" y="59097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59097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394942" y="60011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60011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394942" y="60925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60925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94942" y="61840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61840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394942" y="62754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62754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394942" y="63669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63669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394942" y="6458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64583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94942" y="654982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654982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394942" y="6641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6641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394942" y="67327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67327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394942" y="68241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68241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394942" y="69155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69155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394942" y="70070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70070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394942" y="70984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70984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394942" y="71899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71899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394942" y="72813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72813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394942" y="73728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73728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394942" y="74642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74642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394942" y="75557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75557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394942" y="76471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76471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394942" y="77386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77386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394942" y="78300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78300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394942" y="792149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792149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394942" y="80129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80129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394942" y="81043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81043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394942" y="81958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81958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394942" y="82872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82872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394942" y="83787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83787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394942" y="84701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84701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394942" y="85616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643065" y="85616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394942" y="86530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643065" y="86530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394942" y="874450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643065" y="874450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394942" y="88359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643065" y="88359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394942" y="89274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43065" y="89274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394942" y="90188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643065" y="90188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394942" y="91102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643065" y="91102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394942" y="92017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43065" y="92017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394942" y="92931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643065" y="92931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394942" y="93846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6643065" y="93846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1394942" y="94760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6643065" y="94760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1394942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392415" y="9592195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92415" y="1215529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394942" y="1218070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43065" y="1218070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394942" y="12284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43065" y="12284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394942" y="13199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13199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94942" y="14113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14113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94942" y="15028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15028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4942" y="15942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15942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94942" y="16856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16856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4942" y="17771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17771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4942" y="18685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18685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94942" y="19600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19600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94942" y="20514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20514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94942" y="21429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21429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94942" y="22343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22343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94942" y="23258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23258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394942" y="24172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24172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394942" y="25087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25087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94942" y="26001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26001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94942" y="26916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26916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394942" y="27830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27830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394942" y="28744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28744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394942" y="29659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29659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94942" y="30573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30573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394942" y="31488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31488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394942" y="32402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32402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394942" y="33317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33317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394942" y="34231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34231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394942" y="35146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35146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394942" y="36060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36060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394942" y="3697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3697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394942" y="37889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37889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394942" y="38803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38803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394942" y="39718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39718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394942" y="40632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40632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94942" y="415472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415472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394942" y="42461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42461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394942" y="43376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43376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394942" y="44290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44290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394942" y="45205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45205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394942" y="46119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46119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394942" y="47034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47034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394942" y="479484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479484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394942" y="48862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48862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394942" y="49777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49777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394942" y="50691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50691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394942" y="51606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51606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394942" y="52520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52520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394942" y="53435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53435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394942" y="54349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54349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394942" y="552640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552640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394942" y="561785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561785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394942" y="57092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57092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394942" y="58007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58007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394942" y="58921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58921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394942" y="59836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59836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394942" y="60750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60750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394942" y="61665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61665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394942" y="62579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62579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94942" y="634941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634941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394942" y="64408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64408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394942" y="64512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64512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392415" y="6545237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392415" y="6924814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94942" y="69273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69273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394942" y="693254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693254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394942" y="70240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70240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394942" y="71154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71154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394942" y="72068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72068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394942" y="72983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72983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394942" y="73897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73897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394942" y="74812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74812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394942" y="75726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75726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394942" y="76641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76641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394942" y="77555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77555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394942" y="78470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78470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394942" y="79384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79384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394942" y="80298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80298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394942" y="81213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81213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394942" y="82127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82127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394942" y="83042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83042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394942" y="83956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83956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394942" y="84871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84871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394942" y="85785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85785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394942" y="86700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86700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394942" y="876146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876146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394942" y="88529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643065" y="88529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394942" y="89443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643065" y="89443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394942" y="90357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643065" y="90357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394942" y="91272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643065" y="91272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394942" y="92186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43065" y="92186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394942" y="93101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643065" y="93101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394942" y="94015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643065" y="94015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394942" y="94930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43065" y="94930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394942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392415" y="9592195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77696" y="941962"/>
            <a:ext cx="640770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(b)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 the mean absolute error for the system.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182636" y="6651233"/>
            <a:ext cx="64027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(c)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 the maximum absolute error for the system.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92415" y="1215529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394942" y="1218070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43065" y="1218070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394942" y="12431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43065" y="12431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394942" y="13345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13345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94942" y="14259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14259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94942" y="15174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15174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4942" y="16088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16088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94942" y="17003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17003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4942" y="17917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17917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4942" y="18832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18832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94942" y="19746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19746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394942" y="20661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20661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94942" y="21575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21575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94942" y="2249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2249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94942" y="23404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23404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394942" y="24318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24318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394942" y="25233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25233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394942" y="26147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26147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394942" y="27062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27062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394942" y="27976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27976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394942" y="28891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28891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394942" y="29805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29805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94942" y="30720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30720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394942" y="31634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31634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394942" y="32549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32549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394942" y="33463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33463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394942" y="34377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34377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394942" y="35292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35292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394942" y="36206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36206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394942" y="371213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371213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394942" y="38035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38035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394942" y="38950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38950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394942" y="39864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39864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394942" y="407790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407790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394942" y="41693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41693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394942" y="42607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42607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394942" y="4352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4352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394942" y="444369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444369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394942" y="4535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45351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394942" y="46265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46265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394942" y="47180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47180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394942" y="48094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48094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394942" y="49009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49009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394942" y="49923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49923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394942" y="50838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50838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394942" y="5175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51752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394942" y="5266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5266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394942" y="53581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53581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394942" y="5449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5449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394942" y="55410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55410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394942" y="56324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563248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394942" y="5723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57239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394942" y="58153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58153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394942" y="590682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590682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394942" y="59982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59982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394942" y="60897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60897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394942" y="61811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61811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394942" y="6272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6272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94942" y="63640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63640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394942" y="645549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645549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394942" y="65469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65469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394942" y="66383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66383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94942" y="672983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672983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394942" y="68212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68212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394942" y="69127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69127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394942" y="700416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700416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394942" y="70956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70956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394942" y="71870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71870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394942" y="72784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72784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394942" y="73699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73699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394942" y="74613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74613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394942" y="75528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75528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394942" y="76442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76442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394942" y="77357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77357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394942" y="782717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782717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394942" y="79186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79186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394942" y="80100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80100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394942" y="81015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81015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394942" y="81929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81929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394942" y="82844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82844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394942" y="83758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83758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394942" y="84672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84672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394942" y="85587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85587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394942" y="86501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86501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394942" y="87416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643065" y="87416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394942" y="88330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643065" y="88330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394942" y="89245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643065" y="89245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394942" y="90159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643065" y="90159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394942" y="91074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43065" y="91074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394942" y="91988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643065" y="91988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1394942" y="92903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643065" y="92903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1394942" y="93817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43065" y="93817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1394942" y="94731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643065" y="94731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1394942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392415" y="9592195"/>
            <a:ext cx="52531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TextBox 18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77569" y="941962"/>
            <a:ext cx="64078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(d)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 the normalised error for the system.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748557" y="9997810"/>
            <a:ext cx="3836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2554477" y="175357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161870" y="1983854"/>
            <a:ext cx="323626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554477" y="1986381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2554477" y="2214130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35697" y="3687521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38224" y="36900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36900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38224" y="3713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37136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38224" y="38050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38050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38224" y="38964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38964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38224" y="39879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39879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38224" y="40793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40793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38224" y="41708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41708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38224" y="42622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42622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38224" y="43537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435372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38224" y="444517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444517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38224" y="45366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45366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38224" y="46280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46280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38224" y="47195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47195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38224" y="48109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48109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8224" y="49024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49024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38224" y="49938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49938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38224" y="50852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50852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38224" y="51767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517673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38224" y="52681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52681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38224" y="53596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53596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38224" y="54510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54510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38224" y="55425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55425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38224" y="56339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56339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38224" y="57254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57254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38224" y="581685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581685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38224" y="59083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59083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138224" y="59997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59997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138224" y="60911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60911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138224" y="61826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61826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38224" y="62740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62740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38224" y="636553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636553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38224" y="64569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64569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38224" y="6548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6548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38224" y="6639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66398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38224" y="67313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67313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38224" y="682275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682275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38224" y="69141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69141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224" y="70056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70056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38224" y="70970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70970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138224" y="71885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71885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138224" y="72799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72799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138224" y="73714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73714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38224" y="7462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74628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38224" y="75543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75543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38224" y="76457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76457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38224" y="77372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77372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138224" y="782866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782866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138224" y="79201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79201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38224" y="8011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8011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138224" y="8102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8102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138224" y="819443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8194433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138224" y="8285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82858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38224" y="83773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83773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8224" y="84687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84687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38224" y="85602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85602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38224" y="865167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865167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38224" y="87431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87431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138224" y="88345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88345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138224" y="8926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8926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138224" y="90174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90174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138224" y="91088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91088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38224" y="92003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920033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38224" y="92917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929179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138224" y="93832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93832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138224" y="947468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947468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138224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135697" y="9592195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Mann-Whitney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U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test.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effort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comparing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performance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GA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PSO,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Tim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has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imple-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mented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both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GA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PSO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solve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same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problem.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Both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algorithms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have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been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executed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for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six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35697" y="124561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times each, and the solutions are recorded in Table 3.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78405" y="1596419"/>
            <a:ext cx="54069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Table 3: Solutions provided for the six runs by GA and PSO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256891" y="1814033"/>
            <a:ext cx="53285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Run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773616" y="1814032"/>
            <a:ext cx="48117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243530" y="1814032"/>
            <a:ext cx="43418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706485" y="1814032"/>
            <a:ext cx="38789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169314" y="1814032"/>
            <a:ext cx="34160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35811" y="1814032"/>
            <a:ext cx="294959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116227" y="1814032"/>
            <a:ext cx="246917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310663" y="2046848"/>
            <a:ext cx="527474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GA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32925" y="2046848"/>
            <a:ext cx="49524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-0.031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121565" y="2046848"/>
            <a:ext cx="446383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0.394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587430" y="2046848"/>
            <a:ext cx="39979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0.407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047348" y="2046848"/>
            <a:ext cx="353805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0.389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518021" y="2046848"/>
            <a:ext cx="30673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0.375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994767" y="2046848"/>
            <a:ext cx="25906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0.246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237778" y="2274585"/>
            <a:ext cx="53476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PSO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634119" y="2274585"/>
            <a:ext cx="49512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-0.416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122126" y="2274585"/>
            <a:ext cx="446327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0.263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588624" y="2274585"/>
            <a:ext cx="399678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0.376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050947" y="2274585"/>
            <a:ext cx="353445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0.279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513269" y="2274585"/>
            <a:ext cx="30721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0.042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980399" y="2274585"/>
            <a:ext cx="2605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-0.247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35697" y="260418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The ﬁtness of the solution can be calculated using Equation 1.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364610" y="2916682"/>
            <a:ext cx="42207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f</a:t>
            </a:r>
            <a:r>
              <a:rPr sz="996" b="0">
                <a:solidFill>
                  <a:srgbClr val="000000"/>
                </a:solidFill>
                <a:latin typeface="TeX matha10"/>
              </a:rPr>
              <a:t>p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TeX matha10"/>
              </a:rPr>
              <a:t>q “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x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TeX matha10"/>
              </a:rPr>
              <a:t> </a:t>
            </a:r>
            <a:r>
              <a:rPr sz="996" b="0">
                <a:solidFill>
                  <a:srgbClr val="000000"/>
                </a:solidFill>
                <a:latin typeface="TeX matha10"/>
              </a:rPr>
              <a:t>`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x</a:t>
            </a:r>
            <a:r>
              <a:rPr sz="996" b="0">
                <a:solidFill>
                  <a:srgbClr val="000000"/>
                </a:solidFill>
                <a:latin typeface="TeX matha10"/>
              </a:rPr>
              <a:t> `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08825" y="2958455"/>
            <a:ext cx="10765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(1)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35697" y="3236813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Using Mann-Whitney U test, evaluate if any of the algorithms perform better than the other. Note that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35697" y="3388641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the higher ﬁtness corresponds to better chromosome.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744950" y="9997810"/>
            <a:ext cx="384045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35697" y="2101215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138224" y="21037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43065" y="21037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38224" y="21431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43065" y="21431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38224" y="22346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22346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38224" y="23260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23260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38224" y="24175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241750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38224" y="25089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25089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38224" y="26004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26004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38224" y="26918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26918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38224" y="27832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27832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38224" y="2874734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2874734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38224" y="29661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29661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38224" y="30576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30576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38224" y="31490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31490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38224" y="32405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32405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38224" y="33319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33319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38224" y="34233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34233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8224" y="35148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35148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38224" y="36062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36062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38224" y="36977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36977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38224" y="37891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37891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38224" y="38806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38806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38224" y="39720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39720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38224" y="40635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40635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38224" y="41549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41549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38224" y="42464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42464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38224" y="43378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43378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38224" y="442930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442930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38224" y="45207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45207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138224" y="46121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46121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138224" y="47036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470363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138224" y="47950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47950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38224" y="48865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48865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38224" y="49779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49779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38224" y="50694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50694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38224" y="51608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51608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38224" y="52523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52523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38224" y="53437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53437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38224" y="54352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54352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38224" y="55266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55266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224" y="561809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561809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38224" y="57095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57095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138224" y="58009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58009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138224" y="58924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58924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138224" y="59838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59838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38224" y="60753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60753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38224" y="61667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61667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38224" y="62582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62582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38224" y="634965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634965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138224" y="64411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64411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138224" y="65325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65325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38224" y="66240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66240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138224" y="67154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67154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138224" y="680688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680688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138224" y="68983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689833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38224" y="69897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69897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8224" y="70812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70812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38224" y="71726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71726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38224" y="72641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72641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38224" y="73555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73555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138224" y="74470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74470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138224" y="75384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75384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138224" y="76298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76298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138224" y="77213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77213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38224" y="78127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78127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38224" y="79042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79042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138224" y="79956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79956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138224" y="80871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80871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138224" y="81785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81785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138224" y="82700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82700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38224" y="83614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83614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138224" y="84529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84529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138224" y="85443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85443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138224" y="86357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86357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138224" y="87272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87272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38224" y="88186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88186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38224" y="89101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89101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38224" y="90015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90015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138224" y="90930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90930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138224" y="91844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91844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138224" y="92759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92759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138224" y="93673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93673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138224" y="945880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945880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138224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135697" y="9592195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Mann-Whitney U test.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Two evolutionary algorithms are designed to determine the best conﬁguration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of a neural network.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Daniel intends to compare the performance of the two evolutionary algorithms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35697" y="124561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through the accuracies of the neural network conﬁgurations provided.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35697" y="144805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EA</a:t>
            </a:r>
            <a:r>
              <a:rPr sz="697" b="0">
                <a:solidFill>
                  <a:srgbClr val="000000"/>
                </a:solidFill>
                <a:latin typeface="Roboto Light"/>
              </a:rPr>
              <a:t>1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produces neural networks with accuracies 0.95, 0.89, 0.85, 0.80, and 0.88 whereas EA</a:t>
            </a:r>
            <a:r>
              <a:rPr sz="697" b="0">
                <a:solidFill>
                  <a:srgbClr val="000000"/>
                </a:solidFill>
                <a:latin typeface="Roboto Light"/>
              </a:rPr>
              <a:t>2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produces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35697" y="159989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neural networks with accuracies 0.70, 0.93, 0.90, 0.98, 0.82, 0.75, and 0.86.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5697" y="1802336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Using Mann-Whitney U test to compare the performance of the two evolutionary algorithms.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744379" y="9997810"/>
            <a:ext cx="384102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49159" y="1397266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49159" y="1630070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49159" y="1860346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1101" y="1860346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14193" y="1860346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9159" y="2315832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1101" y="2315832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14193" y="2315832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9159" y="2771330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1101" y="2771330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14193" y="2771330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9159" y="3226816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1101" y="3226816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4193" y="3226816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9159" y="3682314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1101" y="3682314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14193" y="3682314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9159" y="4137799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1101" y="4137799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14193" y="4137799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9159" y="4593297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01101" y="4593297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14193" y="4593297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9159" y="5048783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01101" y="5048783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4193" y="5048783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9159" y="5504281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01101" y="5504281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14193" y="5504281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49159" y="5959767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01101" y="5959767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14193" y="5959767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9159" y="6415265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01101" y="6415265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14193" y="6415265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49159" y="6870751"/>
            <a:ext cx="451954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01101" y="6870751"/>
            <a:ext cx="1013091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4193" y="6870751"/>
            <a:ext cx="998791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149159" y="7328775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08501" y="1397266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08501" y="1630070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4008501" y="1860346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60456" y="1860346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73547" y="1860346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8501" y="2315832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60456" y="2315832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73547" y="2315832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08501" y="2771330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60456" y="2771330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73547" y="2771330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08501" y="3226816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60456" y="3226816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73547" y="3226816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08501" y="3682314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60456" y="3682314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73547" y="3682314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08501" y="4137799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60456" y="4137799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73547" y="4137799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08501" y="4593297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60456" y="4593297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73547" y="4593297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08501" y="5048783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60456" y="5048783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73547" y="5048783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08501" y="5504281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60456" y="5504281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73547" y="5504281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08501" y="5959767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60456" y="5959767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73547" y="5959767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08501" y="6415265"/>
            <a:ext cx="451954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460456" y="6415265"/>
            <a:ext cx="10130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3547" y="6415265"/>
            <a:ext cx="998791" cy="2277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08501" y="6870751"/>
            <a:ext cx="451954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60456" y="6870751"/>
            <a:ext cx="1013091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73547" y="6870751"/>
            <a:ext cx="998791" cy="22774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4008501" y="7328775"/>
            <a:ext cx="246382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396754" y="7449108"/>
            <a:ext cx="19116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394227" y="74465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5305894" y="744656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396754" y="7676858"/>
            <a:ext cx="19116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394227" y="767433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030903" y="767433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666056" y="767433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305894" y="767433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472867" y="8170684"/>
            <a:ext cx="2835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475395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754388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394227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030903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666056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305894" y="8173211"/>
            <a:ext cx="0" cy="4929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756916" y="8668690"/>
            <a:ext cx="255151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475395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54388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94227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030903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666056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305894" y="8666162"/>
            <a:ext cx="0" cy="492938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756916" y="9161627"/>
            <a:ext cx="255151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475395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754388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394227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030903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4666056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305894" y="9159100"/>
            <a:ext cx="0" cy="493827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472867" y="9655454"/>
            <a:ext cx="28355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Confusion Matrices.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Construct the confusion matrix for the data in Table 4.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62199" y="1237567"/>
            <a:ext cx="48232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Table 4: Expected and predicted data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25067" y="1460248"/>
            <a:ext cx="63603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677014" y="1460248"/>
            <a:ext cx="59083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90100" y="1460248"/>
            <a:ext cx="48953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47419" y="1693051"/>
            <a:ext cx="623798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68232" y="1693051"/>
            <a:ext cx="55171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074106" y="1693051"/>
            <a:ext cx="451129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40091" y="1920800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068169" y="1920800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74111" y="1920800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40091" y="2148549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68875" y="2148549"/>
            <a:ext cx="551652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074116" y="2148549"/>
            <a:ext cx="45112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40091" y="2376286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068169" y="2376286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074111" y="2376286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340091" y="2604035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68116" y="2604035"/>
            <a:ext cx="551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074116" y="2604035"/>
            <a:ext cx="45112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40091" y="2831784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068169" y="2831784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074111" y="2831784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43685" y="3059533"/>
            <a:ext cx="62417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068167" y="3059533"/>
            <a:ext cx="55172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74168" y="3059533"/>
            <a:ext cx="451123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40091" y="3287269"/>
            <a:ext cx="62453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066594" y="3287269"/>
            <a:ext cx="55188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74111" y="3287269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339519" y="3515018"/>
            <a:ext cx="624588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068177" y="3515018"/>
            <a:ext cx="55172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074051" y="3515018"/>
            <a:ext cx="45113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11173" y="3742768"/>
            <a:ext cx="62742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068169" y="3742768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074111" y="3742768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19720" y="3970517"/>
            <a:ext cx="626568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68115" y="3970517"/>
            <a:ext cx="551728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074116" y="3970517"/>
            <a:ext cx="45112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312379" y="4198253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068931" y="4198253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074111" y="4198253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12379" y="4426003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68113" y="4426003"/>
            <a:ext cx="55172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074114" y="4426003"/>
            <a:ext cx="45112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12379" y="4653752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68169" y="4653752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074111" y="4653752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12379" y="4881501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068113" y="4881501"/>
            <a:ext cx="551729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74114" y="4881501"/>
            <a:ext cx="45112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312379" y="5109237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068169" y="5109237"/>
            <a:ext cx="55172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074111" y="5109237"/>
            <a:ext cx="45112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15986" y="5336986"/>
            <a:ext cx="62694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066533" y="5336986"/>
            <a:ext cx="55188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074051" y="5336986"/>
            <a:ext cx="451135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312379" y="5564736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18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068931" y="5564736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074873" y="5564736"/>
            <a:ext cx="4510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11808" y="5792485"/>
            <a:ext cx="627359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19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068933" y="5792485"/>
            <a:ext cx="55164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074934" y="5792485"/>
            <a:ext cx="4510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303832" y="6020221"/>
            <a:ext cx="628157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068931" y="6020221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074873" y="6020221"/>
            <a:ext cx="4510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312379" y="6247970"/>
            <a:ext cx="62730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21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068872" y="6247970"/>
            <a:ext cx="5516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074873" y="6247970"/>
            <a:ext cx="451053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305039" y="6475719"/>
            <a:ext cx="6280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068931" y="6475719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074873" y="6475719"/>
            <a:ext cx="4510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305039" y="6703468"/>
            <a:ext cx="6280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68870" y="6703468"/>
            <a:ext cx="55165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074871" y="6703468"/>
            <a:ext cx="45105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305039" y="6931204"/>
            <a:ext cx="6280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068931" y="6931204"/>
            <a:ext cx="551647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074873" y="6931204"/>
            <a:ext cx="45105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305039" y="7158953"/>
            <a:ext cx="62803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068870" y="7158953"/>
            <a:ext cx="551653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074871" y="7158953"/>
            <a:ext cx="451053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084421" y="1460248"/>
            <a:ext cx="35009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Index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536369" y="1460248"/>
            <a:ext cx="304903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 Class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549455" y="1460248"/>
            <a:ext cx="203595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Expected Class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164380" y="1693051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26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927579" y="1693051"/>
            <a:ext cx="2657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934212" y="1693051"/>
            <a:ext cx="1651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167987" y="1920800"/>
            <a:ext cx="34174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925936" y="1920800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934214" y="1920800"/>
            <a:ext cx="1651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164380" y="2148549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28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928339" y="2148549"/>
            <a:ext cx="2657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934212" y="2148549"/>
            <a:ext cx="1651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163809" y="2376286"/>
            <a:ext cx="34215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29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925936" y="2376286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934214" y="2376286"/>
            <a:ext cx="1651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163186" y="2604035"/>
            <a:ext cx="34222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925879" y="2604035"/>
            <a:ext cx="26595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934157" y="2604035"/>
            <a:ext cx="16512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171721" y="2831784"/>
            <a:ext cx="34136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31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928285" y="2831784"/>
            <a:ext cx="26571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934214" y="2831784"/>
            <a:ext cx="1651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164380" y="3059533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32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927579" y="3059533"/>
            <a:ext cx="2657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934212" y="3059533"/>
            <a:ext cx="1651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164380" y="3287269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33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928285" y="3287269"/>
            <a:ext cx="26571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934214" y="3287269"/>
            <a:ext cx="165119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164380" y="3515018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34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928339" y="3515018"/>
            <a:ext cx="2657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934212" y="3515018"/>
            <a:ext cx="165119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164380" y="3742768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35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925936" y="3742768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5931877" y="3742768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164380" y="3970517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36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925934" y="3970517"/>
            <a:ext cx="2659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931935" y="3970517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167987" y="4198253"/>
            <a:ext cx="34174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37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927523" y="4198253"/>
            <a:ext cx="26578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931877" y="4198253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164380" y="4426003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38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928339" y="4426003"/>
            <a:ext cx="26570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931935" y="4426003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63809" y="4653752"/>
            <a:ext cx="34215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39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927523" y="4653752"/>
            <a:ext cx="26578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931877" y="4653752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163186" y="4881501"/>
            <a:ext cx="34222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40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925879" y="4881501"/>
            <a:ext cx="26595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931880" y="4881501"/>
            <a:ext cx="16535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171721" y="5109237"/>
            <a:ext cx="341368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927523" y="5109237"/>
            <a:ext cx="26578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931877" y="5109237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4164380" y="5336986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925934" y="5336986"/>
            <a:ext cx="2659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931935" y="5336986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4164380" y="5564736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43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928285" y="5564736"/>
            <a:ext cx="265711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931877" y="5564736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164380" y="5792485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44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927579" y="5792485"/>
            <a:ext cx="2657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931935" y="5792485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164380" y="6020221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45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925936" y="6020221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931877" y="6020221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164380" y="6247970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46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925934" y="6247970"/>
            <a:ext cx="2659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5931935" y="6247970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167987" y="6475719"/>
            <a:ext cx="34174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47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927523" y="6475719"/>
            <a:ext cx="265788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5931877" y="6475719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164380" y="6703468"/>
            <a:ext cx="34210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48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925934" y="6703468"/>
            <a:ext cx="26594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931935" y="6703468"/>
            <a:ext cx="1653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163809" y="6931204"/>
            <a:ext cx="34215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49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925936" y="6931204"/>
            <a:ext cx="265946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5931877" y="6931204"/>
            <a:ext cx="165352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163186" y="7158953"/>
            <a:ext cx="34222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50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4925879" y="7158953"/>
            <a:ext cx="26595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931880" y="7158953"/>
            <a:ext cx="16535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087901" y="7507035"/>
            <a:ext cx="349750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Predicted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3673081" y="7867880"/>
            <a:ext cx="391232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4309757" y="7867880"/>
            <a:ext cx="32756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944922" y="7867880"/>
            <a:ext cx="26404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551660" y="8454670"/>
            <a:ext cx="50337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Actual/Expected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3034830" y="8366774"/>
            <a:ext cx="455057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3035592" y="8859712"/>
            <a:ext cx="4549813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B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033242" y="9352650"/>
            <a:ext cx="45521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716045" y="9997810"/>
            <a:ext cx="386935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603197" y="1367358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605737" y="13698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43065" y="13698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605737" y="13940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43065" y="13940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605737" y="1485456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1485456"/>
            <a:ext cx="0" cy="914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05737" y="15768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15768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605737" y="16683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16683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05737" y="17597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175978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5737" y="1851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1851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05737" y="19426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19426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605737" y="20341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20341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5737" y="21255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21255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05737" y="22170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22170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05737" y="23084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23084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605737" y="23999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23999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05737" y="24913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249134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605737" y="25827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25827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605737" y="26742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26742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605737" y="27656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27656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605737" y="28571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28571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605737" y="29485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29485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605737" y="30400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30400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605737" y="31314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31314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605737" y="32229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322291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605737" y="33143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331435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605737" y="34058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340580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605737" y="34972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34972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605737" y="3588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35887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605737" y="36801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36801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605737" y="3771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37715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605737" y="37956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379568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603197" y="3889667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603197" y="4218635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605737" y="42211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42211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605737" y="42452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42452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605737" y="43367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43367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605737" y="44281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442815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605737" y="45196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45196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605737" y="46110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46110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605737" y="47025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47025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605737" y="47939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479394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605737" y="48853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48853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605737" y="49768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49768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605737" y="506827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506827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605737" y="51597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51597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605737" y="52511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52511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605737" y="53426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53426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605737" y="54340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54340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605737" y="5525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5525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605737" y="561695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561695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605737" y="57083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57083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605737" y="57998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57998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605737" y="589128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589128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605737" y="59827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59827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605737" y="60741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60741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605737" y="61656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61656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605737" y="62570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62570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605737" y="63485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63485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605737" y="64399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64399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605737" y="65314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653140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605737" y="66228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66228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605737" y="66469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664696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603197" y="6740931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603197" y="7069900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605737" y="70724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70724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605737" y="70965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70965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605737" y="71879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71879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05737" y="7279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72794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605737" y="73708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73708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605737" y="7462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74623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605737" y="75537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75537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605737" y="76452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76452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605737" y="773666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773666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605737" y="78281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78281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605737" y="7919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791954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605737" y="80109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80109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605737" y="81024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81024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605737" y="81938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81938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605737" y="82853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82853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605737" y="83767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83767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605737" y="84682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84682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605737" y="85596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855966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605737" y="86511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86511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605737" y="8742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874255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605737" y="88340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88340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605737" y="892544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892544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605737" y="90168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6643065" y="90168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605737" y="91083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6643065" y="91083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605737" y="9199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643065" y="9199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605737" y="92912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643065" y="92912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605737" y="93826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643065" y="938267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605737" y="94741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43065" y="947412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605737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603197" y="9592195"/>
            <a:ext cx="50423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80109" y="941962"/>
            <a:ext cx="640529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(a)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Calculate, for the system,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481480" y="1119101"/>
            <a:ext cx="610392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accuracy,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453146" y="3970365"/>
            <a:ext cx="613225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precision of predicting each classes, and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424800" y="6821629"/>
            <a:ext cx="61606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iii.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recall of predicting each classes.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724579" y="9997810"/>
            <a:ext cx="386082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35697" y="2253043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138224" y="22555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43065" y="22555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38224" y="22648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43065" y="22648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38224" y="23562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235625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38224" y="24476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244769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38224" y="25391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253914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38224" y="26305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263058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38224" y="27220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27220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38224" y="28134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281348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38224" y="29049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29049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38224" y="29963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299637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38224" y="30878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308781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38224" y="31792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317926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38224" y="32707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32707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38224" y="33621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33621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38224" y="34536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34536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38224" y="35450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35450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8224" y="36364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363649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38224" y="372793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372793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38224" y="38193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381938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38224" y="39108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391082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38224" y="40022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40022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38224" y="40937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40937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38224" y="41851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41851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38224" y="42766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427661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38224" y="43680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436805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38224" y="4459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445950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38224" y="45509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455094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38224" y="46423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46423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138224" y="47338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473383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138224" y="48252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48252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138224" y="491672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491672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38224" y="50081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50081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38224" y="50996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509962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38224" y="51910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519106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38224" y="52825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528250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38224" y="53739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53739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38224" y="54653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54653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38224" y="555684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643065" y="555684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38224" y="56482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56482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224" y="57397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573973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38224" y="58311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583117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138224" y="59226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59226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138224" y="60140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601407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138224" y="61055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610551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38224" y="61969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61969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38224" y="628840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628840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38224" y="637985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6379857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38224" y="64712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647129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138224" y="65627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656273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138224" y="665418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6654189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38224" y="674563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674563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138224" y="68370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683708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138224" y="69285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692852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138224" y="70199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701997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38224" y="71114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71114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8224" y="72028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720286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38224" y="72943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72943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38224" y="73857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73857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38224" y="747720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7477200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138224" y="75686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756864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138224" y="76600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76600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138224" y="77515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77515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138224" y="78429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784298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38224" y="79344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79344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38224" y="80258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80258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138224" y="81173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811731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138224" y="82087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820875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138224" y="830021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830021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138224" y="83916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839165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38224" y="84831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84831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138224" y="85745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85745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138224" y="86659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866598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138224" y="87574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87574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138224" y="88488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88488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38224" y="89403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894033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138224" y="90317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643065" y="903177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138224" y="912322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6643065" y="912322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1138224" y="92146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6643065" y="921466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138224" y="93061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6643065" y="93061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138224" y="93975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6643065" y="93975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138224" y="94889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6643065" y="94889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138224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43065" y="949822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135697" y="9592195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72223" y="94196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6.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Confusion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Matrices.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artiﬁcial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neural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network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designed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recognise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between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three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types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vehicles (car,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van,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bus) from the footage of a CCTV device.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neural network has been tested 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35697" y="124561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1000 images with 400 images of cars and 300 images of bus.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35697" y="144805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The system accuracy is recorded to be 90%. The precision for recognition of van is 0.875. The recalls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35697" y="159989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for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recognition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of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car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bus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are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0.875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and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0.9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respectively.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There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are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365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images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have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been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35697" y="175172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recognised as car, and 320 images as van. 5% of the images that contain van are recognised as bus.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35697" y="1954165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Construct the confusion matrix for the neural network.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717239" y="9997810"/>
            <a:ext cx="38681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35697" y="1898777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138224" y="19013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6643065" y="19013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138224" y="19181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643065" y="191818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38224" y="20096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643065" y="20096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38224" y="21010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643065" y="21010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38224" y="21925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43065" y="21925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38224" y="22839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643065" y="228395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38224" y="23754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643065" y="237540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38224" y="24668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43065" y="246684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38224" y="25583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43065" y="255830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38224" y="26497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43065" y="26497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38224" y="27411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43065" y="27411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38224" y="28326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43065" y="28326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38224" y="29240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43065" y="292407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38224" y="30155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43065" y="30155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38224" y="31069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643065" y="310696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38224" y="31984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43065" y="31984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138224" y="328985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643065" y="328985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38224" y="33812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643065" y="338129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38224" y="34727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43065" y="34727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38224" y="35641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3065" y="35641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138224" y="36556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43065" y="36556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138224" y="37470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643065" y="374708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38224" y="38385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643065" y="38385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138224" y="39299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643065" y="392997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138224" y="40214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43065" y="402141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138224" y="41128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643065" y="41128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38224" y="42043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643065" y="42043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138224" y="42957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643065" y="429576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138224" y="43872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643065" y="438720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138224" y="447865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43065" y="447865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138224" y="45700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643065" y="457009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38224" y="46615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643065" y="4661534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38224" y="47529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43065" y="47529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38224" y="48444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43065" y="48444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38224" y="49358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43065" y="49358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138224" y="50273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643065" y="502732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38224" y="50441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643065" y="50441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35697" y="5138166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35697" y="6251587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38224" y="62541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643065" y="625412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224" y="6270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643065" y="627099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38224" y="63624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3065" y="636243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138224" y="64538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643065" y="6453885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138224" y="65453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643065" y="654532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138224" y="6636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43065" y="663677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38224" y="67282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643065" y="672821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138224" y="681965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43065" y="6819658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138224" y="69111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643065" y="691111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138224" y="70025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3065" y="70025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138224" y="7094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643065" y="709400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138224" y="71854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643065" y="718544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138224" y="72768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643065" y="7276896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138224" y="73683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643065" y="736833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138224" y="74597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643065" y="7459776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138224" y="75512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6643065" y="755122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138224" y="76426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6643065" y="764266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138224" y="77341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643065" y="773412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1138224" y="782556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643065" y="7825561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138224" y="79170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43065" y="791701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138224" y="80084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643065" y="800845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138224" y="80998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643065" y="8099894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138224" y="81913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643065" y="819134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138224" y="82827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643065" y="8282787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138224" y="83742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643065" y="837424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138224" y="84656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6643065" y="8465680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138224" y="85571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643065" y="8557132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138224" y="864857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6643065" y="8648572"/>
            <a:ext cx="0" cy="91441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138224" y="87400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6643065" y="8740013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138224" y="88314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643065" y="883146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138224" y="89229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643065" y="8922905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38224" y="90143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6643065" y="901435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138224" y="91057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6643065" y="9105798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138224" y="9197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6643065" y="919725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138224" y="92886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6643065" y="928869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138224" y="93801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6643065" y="9380131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138224" y="93970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6643065" y="9397009"/>
            <a:ext cx="0" cy="9144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135697" y="9490977"/>
            <a:ext cx="55099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914400" y="575608"/>
            <a:ext cx="6671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Tutorial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440200" y="575608"/>
            <a:ext cx="21452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1">
                <a:solidFill>
                  <a:srgbClr val="000000"/>
                </a:solidFill>
                <a:latin typeface="Roboto Bold"/>
              </a:rPr>
              <a:t>Performance Metrics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79436" y="941962"/>
            <a:ext cx="660596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7.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Chi-Square test.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A decision tree is used to classify 50 data points into 5 classes, A, B, C, D, and E. The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35697" y="109379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data set contains 10 data points for each class.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result provided by the decision tree classiﬁed 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35697" y="124561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points to class A, 8 points to B, 15 points to C, 12 points to D, and the rest to E.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35697" y="144805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Use chi-square test, with 0.05 level of signiﬁcance, to comment on the performance of the decision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35697" y="159989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tree.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2223" y="5294772"/>
            <a:ext cx="661318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8.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Chi-Square</a:t>
            </a:r>
            <a:r>
              <a:rPr sz="996" b="1">
                <a:solidFill>
                  <a:srgbClr val="000000"/>
                </a:solidFill>
                <a:latin typeface="Roboto Bold"/>
              </a:rPr>
              <a:t> </a:t>
            </a:r>
            <a:r>
              <a:rPr sz="996" b="1">
                <a:solidFill>
                  <a:srgbClr val="000000"/>
                </a:solidFill>
                <a:latin typeface="Roboto Bold"/>
              </a:rPr>
              <a:t>test.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neural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network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trained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to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perform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classiﬁcation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on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same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data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set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as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in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5697" y="5446600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question (7).</a:t>
            </a:r>
            <a:r>
              <a:rPr sz="996" b="0">
                <a:solidFill>
                  <a:srgbClr val="000000"/>
                </a:solidFill>
                <a:latin typeface="Roboto Light"/>
              </a:rPr>
              <a:t> </a:t>
            </a:r>
            <a:r>
              <a:rPr sz="996" b="0">
                <a:solidFill>
                  <a:srgbClr val="000000"/>
                </a:solidFill>
                <a:latin typeface="Roboto Light"/>
              </a:rPr>
              <a:t>The result of the neural network shows 3 points for class A, 12 points for B, 5 points for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35697" y="5598428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C, 18 points for D, and the rest for E.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35697" y="5800879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Compare the performance of the neural network and the decision tree from (7) using chi-square test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35697" y="5952707"/>
            <a:ext cx="64497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at 0.05 level of signiﬁcance.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717239" y="9997810"/>
            <a:ext cx="386816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Roboto 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8824" y="3466800"/>
            <a:ext cx="6886592" cy="2363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8824" y="3867035"/>
            <a:ext cx="6886592" cy="3938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3361"/>
                </a:solidFill>
                <a:latin typeface="Arial"/>
              </a:rPr>
              <a:t>Tutorial 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824" y="4370824"/>
            <a:ext cx="6886592" cy="1969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412" y="4929883"/>
            <a:ext cx="6696004" cy="1969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•  Current labs connect core CI algorithms with physical-AI simulation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412" y="5361883"/>
            <a:ext cx="6696004" cy="1969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•  Isaac Sim examples use its bundled Python 3.12 environment and current launchers.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412" y="5793884"/>
            <a:ext cx="6696004" cy="1969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Arial"/>
              </a:rPr>
              <a:t>•  Every simulator-dependent example includes a CPU/Matplotlib learning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824" y="7076925"/>
            <a:ext cx="6886592" cy="2166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824" y="7383073"/>
            <a:ext cx="6886592" cy="1772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Q</dc:title>
  <dc:subject>Editable objects converted from Tutorial Q.pdf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