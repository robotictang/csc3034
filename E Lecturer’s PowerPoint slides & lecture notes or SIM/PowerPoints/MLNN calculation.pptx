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05480" y="1268736"/>
            <a:ext cx="177138" cy="227748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5480" y="1988745"/>
            <a:ext cx="177138" cy="227748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583279" y="1382610"/>
            <a:ext cx="49436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reeform 4"/>
          <p:cNvSpPr/>
          <p:nvPr/>
        </p:nvSpPr>
        <p:spPr>
          <a:xfrm>
            <a:off x="1066800" y="135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583279" y="2102619"/>
            <a:ext cx="49436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reeform 6"/>
          <p:cNvSpPr/>
          <p:nvPr/>
        </p:nvSpPr>
        <p:spPr>
          <a:xfrm>
            <a:off x="1066800" y="2082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285148" y="1382610"/>
            <a:ext cx="84991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2120900" y="135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285148" y="1443308"/>
            <a:ext cx="873264" cy="58221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reeform 10"/>
          <p:cNvSpPr/>
          <p:nvPr/>
        </p:nvSpPr>
        <p:spPr>
          <a:xfrm>
            <a:off x="2133600" y="2006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2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1285148" y="1459710"/>
            <a:ext cx="873264" cy="58221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Freeform 12"/>
          <p:cNvSpPr/>
          <p:nvPr/>
        </p:nvSpPr>
        <p:spPr>
          <a:xfrm>
            <a:off x="2133600" y="1447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0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285148" y="2102619"/>
            <a:ext cx="84991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2120900" y="2082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2381918" y="1418562"/>
            <a:ext cx="840296" cy="2801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reeform 16"/>
          <p:cNvSpPr/>
          <p:nvPr/>
        </p:nvSpPr>
        <p:spPr>
          <a:xfrm>
            <a:off x="3200400" y="1676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V="1">
            <a:off x="2381918" y="1786568"/>
            <a:ext cx="840296" cy="2801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/>
          <p:cNvSpPr/>
          <p:nvPr/>
        </p:nvSpPr>
        <p:spPr>
          <a:xfrm>
            <a:off x="3200400" y="1778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3467771" y="1742615"/>
            <a:ext cx="11690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Freeform 20"/>
          <p:cNvSpPr/>
          <p:nvPr/>
        </p:nvSpPr>
        <p:spPr>
          <a:xfrm>
            <a:off x="3568700" y="1727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2274062" y="880924"/>
            <a:ext cx="0" cy="36268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Freeform 22"/>
          <p:cNvSpPr/>
          <p:nvPr/>
        </p:nvSpPr>
        <p:spPr>
          <a:xfrm>
            <a:off x="2247900" y="1231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V="1">
            <a:off x="2274062" y="2241620"/>
            <a:ext cx="0" cy="36268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/>
          <p:cNvSpPr/>
          <p:nvPr/>
        </p:nvSpPr>
        <p:spPr>
          <a:xfrm>
            <a:off x="2247900" y="2222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4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3354075" y="1240929"/>
            <a:ext cx="0" cy="3626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3340100" y="1587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5290820" y="1083729"/>
            <a:ext cx="28089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71731" y="1083729"/>
            <a:ext cx="28089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852629" y="1083729"/>
            <a:ext cx="2184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290820" y="1291221"/>
            <a:ext cx="28089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71731" y="1291221"/>
            <a:ext cx="28089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852629" y="1291221"/>
            <a:ext cx="2184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290820" y="2106053"/>
            <a:ext cx="28089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71731" y="2106053"/>
            <a:ext cx="28089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852629" y="2106053"/>
            <a:ext cx="2184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59994" y="3740823"/>
            <a:ext cx="705243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65237" y="3740823"/>
            <a:ext cx="70524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770481" y="3740823"/>
            <a:ext cx="70524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475725" y="3740823"/>
            <a:ext cx="70524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180956" y="3740823"/>
            <a:ext cx="70524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886200" y="3740823"/>
            <a:ext cx="705243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591443" y="3740823"/>
            <a:ext cx="70524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296674" y="3740823"/>
            <a:ext cx="70524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001918" y="3740823"/>
            <a:ext cx="705243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707161" y="3740823"/>
            <a:ext cx="70524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59994" y="3948315"/>
            <a:ext cx="705243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065237" y="3948315"/>
            <a:ext cx="70524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770481" y="3948315"/>
            <a:ext cx="70524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475725" y="3948315"/>
            <a:ext cx="70524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180956" y="3948315"/>
            <a:ext cx="70524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3886200" y="3948315"/>
            <a:ext cx="705243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591443" y="3948315"/>
            <a:ext cx="70524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5296674" y="3948315"/>
            <a:ext cx="70524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6001918" y="3948315"/>
            <a:ext cx="705243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6707161" y="3948315"/>
            <a:ext cx="70524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59994" y="4155821"/>
            <a:ext cx="705243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65237" y="4155821"/>
            <a:ext cx="70524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770481" y="4155821"/>
            <a:ext cx="70524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475725" y="4155821"/>
            <a:ext cx="70524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180956" y="4155821"/>
            <a:ext cx="70524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886200" y="4155821"/>
            <a:ext cx="705243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4591443" y="4155821"/>
            <a:ext cx="70524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5296674" y="4155821"/>
            <a:ext cx="70524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6001918" y="4155821"/>
            <a:ext cx="705243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6707161" y="4155821"/>
            <a:ext cx="70524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359994" y="387641"/>
            <a:ext cx="743780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Consider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the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training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the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following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multilayer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neural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network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the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operation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XOR.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09498" y="1301482"/>
            <a:ext cx="73883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9498" y="2021483"/>
            <a:ext cx="73883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62405" y="1324507"/>
            <a:ext cx="663539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62405" y="2044495"/>
            <a:ext cx="663539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42400" y="1324494"/>
            <a:ext cx="55553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42400" y="2044495"/>
            <a:ext cx="55553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322408" y="1684501"/>
            <a:ext cx="44753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193201" y="686851"/>
            <a:ext cx="560459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93201" y="2668331"/>
            <a:ext cx="560459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273196" y="1046845"/>
            <a:ext cx="452460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654640" y="1658669"/>
            <a:ext cx="414315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623847" y="1220050"/>
            <a:ext cx="617395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13382" y="1890787"/>
            <a:ext cx="608441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13382" y="1432178"/>
            <a:ext cx="608441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623847" y="2102903"/>
            <a:ext cx="617395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715145" y="1400046"/>
            <a:ext cx="50826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715145" y="1922905"/>
            <a:ext cx="50826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318740" y="1010486"/>
            <a:ext cx="547905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318740" y="2345866"/>
            <a:ext cx="547905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398735" y="1370481"/>
            <a:ext cx="439906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93368" y="2827362"/>
            <a:ext cx="690443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input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layer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934705" y="2827362"/>
            <a:ext cx="586309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hidden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layer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14700" y="2827362"/>
            <a:ext cx="47830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output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layer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005070" y="924114"/>
            <a:ext cx="279272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Table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1: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operation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66740" y="1118957"/>
            <a:ext cx="243105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647639" y="1118957"/>
            <a:ext cx="215016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928550" y="1118957"/>
            <a:ext cx="186924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399646" y="1326463"/>
            <a:ext cx="239815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680531" y="1326463"/>
            <a:ext cx="211726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930165" y="1326463"/>
            <a:ext cx="186763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399646" y="1528901"/>
            <a:ext cx="239815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680531" y="1528901"/>
            <a:ext cx="211726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930165" y="1528901"/>
            <a:ext cx="186763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399646" y="1731339"/>
            <a:ext cx="239815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680531" y="1731339"/>
            <a:ext cx="211726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930165" y="1731339"/>
            <a:ext cx="186763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399646" y="1933777"/>
            <a:ext cx="239815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680531" y="1933777"/>
            <a:ext cx="211726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930165" y="1933777"/>
            <a:ext cx="186763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59994" y="3306114"/>
            <a:ext cx="743780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67542" y="3306114"/>
            <a:ext cx="7130257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0">
                <a:solidFill>
                  <a:srgbClr val="000000"/>
                </a:solidFill>
                <a:latin typeface="Cambria Math"/>
              </a:rPr>
              <a:t>Initialisation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1918" y="3776052"/>
            <a:ext cx="71258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α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318967" y="3776052"/>
            <a:ext cx="647883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024215" y="3776052"/>
            <a:ext cx="577358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729445" y="3776052"/>
            <a:ext cx="50683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434689" y="3776052"/>
            <a:ext cx="436311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139933" y="3776052"/>
            <a:ext cx="365786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45176" y="3776052"/>
            <a:ext cx="295262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591225" y="3776052"/>
            <a:ext cx="220657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296456" y="3776052"/>
            <a:ext cx="15013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001699" y="3776052"/>
            <a:ext cx="79610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31786" y="3983557"/>
            <a:ext cx="716601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0.5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337036" y="3983557"/>
            <a:ext cx="646076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042243" y="3983557"/>
            <a:ext cx="575555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715855" y="3983557"/>
            <a:ext cx="508194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452726" y="3983557"/>
            <a:ext cx="434507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157961" y="3983557"/>
            <a:ext cx="363983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63205" y="3983557"/>
            <a:ext cx="293459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568449" y="3983557"/>
            <a:ext cx="222935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73680" y="3983557"/>
            <a:ext cx="152411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947292" y="3983557"/>
            <a:ext cx="85050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59994" y="4345800"/>
            <a:ext cx="743780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67542" y="4345800"/>
            <a:ext cx="7130257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0">
                <a:solidFill>
                  <a:srgbClr val="000000"/>
                </a:solidFill>
                <a:latin typeface="Cambria Math"/>
              </a:rPr>
              <a:t>Epoch</a:t>
            </a:r>
            <a:r>
              <a:rPr sz="1434" b="0">
                <a:solidFill>
                  <a:srgbClr val="000000"/>
                </a:solidFill>
                <a:latin typeface="Cambria Math"/>
              </a:rPr>
              <a:t> </a:t>
            </a:r>
            <a:r>
              <a:rPr sz="1434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59994" y="4671969"/>
            <a:ext cx="7437805" cy="2353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95" b="0">
                <a:solidFill>
                  <a:srgbClr val="000000"/>
                </a:solidFill>
                <a:latin typeface="Cambria Math"/>
              </a:rPr>
              <a:t>2.1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49289" y="4671969"/>
            <a:ext cx="7048510" cy="2353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95" b="0">
                <a:solidFill>
                  <a:srgbClr val="000000"/>
                </a:solidFill>
                <a:latin typeface="Cambria Math"/>
              </a:rPr>
              <a:t>Iteration</a:t>
            </a:r>
            <a:r>
              <a:rPr sz="1195" b="0">
                <a:solidFill>
                  <a:srgbClr val="000000"/>
                </a:solidFill>
                <a:latin typeface="Cambria Math"/>
              </a:rPr>
              <a:t> </a:t>
            </a:r>
            <a:r>
              <a:rPr sz="1195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9808" y="4922950"/>
            <a:ext cx="7247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SFRM1000"/>
              </a:rPr>
              <a:t>•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Inputs: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49808" y="5150699"/>
            <a:ext cx="7247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SFRM1000"/>
              </a:rPr>
              <a:t>•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Expected/desired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output: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518945" y="5657492"/>
            <a:ext cx="62788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output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hidden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sigmoid(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209112" y="5847281"/>
            <a:ext cx="458868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sigmoid(0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4501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518946" y="6037069"/>
            <a:ext cx="627885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output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hidden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sigmoid(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209113" y="6226858"/>
            <a:ext cx="458868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sigmoid(0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4256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518946" y="6416647"/>
            <a:ext cx="627885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output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output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sigmoid(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209113" y="6606436"/>
            <a:ext cx="458868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sigmoid(0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45013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42555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15)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4844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421748" y="7011324"/>
            <a:ext cx="437605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error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4844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716379" y="7416200"/>
            <a:ext cx="608142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error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gradient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e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427107" y="7605989"/>
            <a:ext cx="43706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4844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4844)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4844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716380" y="7795778"/>
            <a:ext cx="608141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error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gradient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427108" y="7985566"/>
            <a:ext cx="43706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4501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4501)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854576" y="9599510"/>
            <a:ext cx="394322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69426" y="386001"/>
            <a:ext cx="572837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68356" y="575790"/>
            <a:ext cx="39294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4501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121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0272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69427" y="765579"/>
            <a:ext cx="57283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68356" y="955368"/>
            <a:ext cx="39294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4256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121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0257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69427" y="1145157"/>
            <a:ext cx="57283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68356" y="1334946"/>
            <a:ext cx="39294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003 =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69427" y="1524735"/>
            <a:ext cx="57283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68357" y="1714524"/>
            <a:ext cx="392944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003 =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69427" y="1904314"/>
            <a:ext cx="57283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68357" y="2094103"/>
            <a:ext cx="392944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0029 =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69427" y="2283892"/>
            <a:ext cx="57283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68357" y="2473681"/>
            <a:ext cx="392944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0029 =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95043" y="2880197"/>
            <a:ext cx="530275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7460" y="3069986"/>
            <a:ext cx="394033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 + 0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95042" y="3259775"/>
            <a:ext cx="530275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57459" y="3449564"/>
            <a:ext cx="394034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 + 0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95041" y="3639353"/>
            <a:ext cx="530275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57458" y="3829142"/>
            <a:ext cx="394034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15 + 0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95040" y="4018931"/>
            <a:ext cx="530275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57457" y="4208719"/>
            <a:ext cx="394034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 + 0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95039" y="4398508"/>
            <a:ext cx="530276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57457" y="4586657"/>
            <a:ext cx="394034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0272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0728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95038" y="4778086"/>
            <a:ext cx="530276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57456" y="4966235"/>
            <a:ext cx="39403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0257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0743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51846" y="5371111"/>
            <a:ext cx="584595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2446" y="5560900"/>
            <a:ext cx="368535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003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51845" y="5750688"/>
            <a:ext cx="58459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2446" y="5940477"/>
            <a:ext cx="368535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0029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0015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51845" y="6130266"/>
            <a:ext cx="58459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2446" y="6320055"/>
            <a:ext cx="368535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121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0605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79" y="6726571"/>
            <a:ext cx="546602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55867" y="6916360"/>
            <a:ext cx="374193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0015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1779" y="7106148"/>
            <a:ext cx="546602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55868" y="7295937"/>
            <a:ext cx="374193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0015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3015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80" y="7485726"/>
            <a:ext cx="546601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55869" y="7675515"/>
            <a:ext cx="374193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15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0605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2105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0004" y="8035314"/>
            <a:ext cx="7437795" cy="2353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95" b="0">
                <a:solidFill>
                  <a:srgbClr val="000000"/>
                </a:solidFill>
                <a:latin typeface="Cambria Math"/>
              </a:rPr>
              <a:t>2.2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299" y="8035314"/>
            <a:ext cx="7048500" cy="2353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95" b="0">
                <a:solidFill>
                  <a:srgbClr val="000000"/>
                </a:solidFill>
                <a:latin typeface="Cambria Math"/>
              </a:rPr>
              <a:t>Iteration</a:t>
            </a:r>
            <a:r>
              <a:rPr sz="1195" b="0">
                <a:solidFill>
                  <a:srgbClr val="000000"/>
                </a:solidFill>
                <a:latin typeface="Cambria Math"/>
              </a:rPr>
              <a:t> </a:t>
            </a:r>
            <a:r>
              <a:rPr sz="1195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9806" y="8286295"/>
            <a:ext cx="724799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SFRM1000"/>
              </a:rPr>
              <a:t>•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Inputs: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9806" y="8514045"/>
            <a:ext cx="724799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SFRM1000"/>
              </a:rPr>
              <a:t>•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Expected/desired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output: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4574" y="9599527"/>
            <a:ext cx="394322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29156" y="649945"/>
            <a:ext cx="64686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output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hidden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sigmoid(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19324" y="839734"/>
            <a:ext cx="477847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sigmoid(0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2015)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4996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9157" y="1029522"/>
            <a:ext cx="646864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output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hidden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sigmoid(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9324" y="1219311"/>
            <a:ext cx="477847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sigmoid(0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3015)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4746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9158" y="1409099"/>
            <a:ext cx="646864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output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output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sigmoid(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9325" y="1598887"/>
            <a:ext cx="477847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sigmoid(0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0728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4996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0743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4746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2105)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4653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0950" y="1976562"/>
            <a:ext cx="432684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error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5347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56628" y="2350969"/>
            <a:ext cx="614117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error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gradient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e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7368" y="2540757"/>
            <a:ext cx="443043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4653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4653)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5347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133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56627" y="2730545"/>
            <a:ext cx="61411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error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gradient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7368" y="2920334"/>
            <a:ext cx="443043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4996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4996)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133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07278)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67840" y="3296381"/>
            <a:ext cx="562995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6770" y="3486170"/>
            <a:ext cx="383102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4996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133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0332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67839" y="3675959"/>
            <a:ext cx="562996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66769" y="3865748"/>
            <a:ext cx="383103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4746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133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0316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67839" y="4055536"/>
            <a:ext cx="562996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6769" y="4245325"/>
            <a:ext cx="383103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0024 = 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67839" y="4435114"/>
            <a:ext cx="562996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6769" y="4624903"/>
            <a:ext cx="383103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0024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67839" y="4814692"/>
            <a:ext cx="562996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6769" y="5004480"/>
            <a:ext cx="383103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0025 =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67839" y="5194269"/>
            <a:ext cx="562996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66769" y="5384058"/>
            <a:ext cx="383103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0025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17725" y="5761732"/>
            <a:ext cx="538007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80142" y="5951521"/>
            <a:ext cx="401765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 + 0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17724" y="6141310"/>
            <a:ext cx="538007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80141" y="6331099"/>
            <a:ext cx="401765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0012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17723" y="6520888"/>
            <a:ext cx="538007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80140" y="6710676"/>
            <a:ext cx="401765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15 + 0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17722" y="6900465"/>
            <a:ext cx="538007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80140" y="7090254"/>
            <a:ext cx="401765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0012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17722" y="7280043"/>
            <a:ext cx="538007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80139" y="7469831"/>
            <a:ext cx="401766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07278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0332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17721" y="7659620"/>
            <a:ext cx="538007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80138" y="7849410"/>
            <a:ext cx="401766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07428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0316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1058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51859" y="8223816"/>
            <a:ext cx="584594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2459" y="8413605"/>
            <a:ext cx="368534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0024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51858" y="8603394"/>
            <a:ext cx="584594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2458" y="8793182"/>
            <a:ext cx="368534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0025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0012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1857" y="8982971"/>
            <a:ext cx="584594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2457" y="9172760"/>
            <a:ext cx="368534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133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54570" y="9599520"/>
            <a:ext cx="394322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87676" y="387641"/>
            <a:ext cx="561012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11765" y="575790"/>
            <a:ext cx="388603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20149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0012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87676" y="767218"/>
            <a:ext cx="561012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11765" y="955368"/>
            <a:ext cx="388603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30147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0012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3003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87676" y="1146797"/>
            <a:ext cx="561012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11765" y="1334946"/>
            <a:ext cx="388603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21048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0665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9993" y="1696386"/>
            <a:ext cx="7437806" cy="2353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95" b="0">
                <a:solidFill>
                  <a:srgbClr val="000000"/>
                </a:solidFill>
                <a:latin typeface="Cambria Math"/>
              </a:rPr>
              <a:t>2.3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288" y="1696386"/>
            <a:ext cx="7048511" cy="2353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95" b="0">
                <a:solidFill>
                  <a:srgbClr val="000000"/>
                </a:solidFill>
                <a:latin typeface="Cambria Math"/>
              </a:rPr>
              <a:t>Iteration</a:t>
            </a:r>
            <a:r>
              <a:rPr sz="1195" b="0">
                <a:solidFill>
                  <a:srgbClr val="000000"/>
                </a:solidFill>
                <a:latin typeface="Cambria Math"/>
              </a:rPr>
              <a:t> </a:t>
            </a:r>
            <a:r>
              <a:rPr sz="1195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9808" y="1947367"/>
            <a:ext cx="7247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SFRM1000"/>
              </a:rPr>
              <a:t>•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Inputs: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9808" y="2175116"/>
            <a:ext cx="7247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SFRM1000"/>
              </a:rPr>
              <a:t>•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Expected/desired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output: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2415" y="2681907"/>
            <a:ext cx="640538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output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hidden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sigmoid(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82582" y="2871697"/>
            <a:ext cx="471521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sigmoid(0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2012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2003)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4749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2415" y="3061485"/>
            <a:ext cx="640538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output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hidden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sigmoid(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2582" y="3251274"/>
            <a:ext cx="471521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sigmoid(0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2012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3003)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4625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92416" y="3441062"/>
            <a:ext cx="640538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output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output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sigmoid(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82583" y="3630851"/>
            <a:ext cx="471521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sigmoid(0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106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4749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1058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4625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144)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4888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0949" y="4037379"/>
            <a:ext cx="432685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error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5112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88263" y="4440616"/>
            <a:ext cx="610953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error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gradient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e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98991" y="4630404"/>
            <a:ext cx="439880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4888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4888)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5112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1277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88263" y="4820193"/>
            <a:ext cx="610953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error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gradient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98991" y="5009982"/>
            <a:ext cx="439880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4749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4749)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1277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106)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36204" y="5414858"/>
            <a:ext cx="566159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5134" y="5604647"/>
            <a:ext cx="386266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4749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1277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0303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36204" y="5794436"/>
            <a:ext cx="566159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5134" y="5984225"/>
            <a:ext cx="386266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4625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1277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0295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36204" y="6174013"/>
            <a:ext cx="566159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35134" y="6363802"/>
            <a:ext cx="386266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0034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36204" y="6553591"/>
            <a:ext cx="566159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5134" y="6743379"/>
            <a:ext cx="386266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0034 =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36204" y="6933168"/>
            <a:ext cx="566159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35134" y="7122957"/>
            <a:ext cx="386266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0033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0017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36204" y="7312746"/>
            <a:ext cx="566159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35134" y="7502535"/>
            <a:ext cx="386266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0033 = 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54565" y="9599510"/>
            <a:ext cx="394323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17724" y="387641"/>
            <a:ext cx="538007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780141" y="577430"/>
            <a:ext cx="401765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0017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1017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17724" y="767218"/>
            <a:ext cx="538007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80140" y="957008"/>
            <a:ext cx="401765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2012 + 0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17723" y="1146797"/>
            <a:ext cx="538007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80140" y="1336586"/>
            <a:ext cx="401765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15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0017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1517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17722" y="1526375"/>
            <a:ext cx="538007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80139" y="1716164"/>
            <a:ext cx="401766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20122 + 0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17721" y="1905954"/>
            <a:ext cx="538007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0138" y="2095743"/>
            <a:ext cx="401766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106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0303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1363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17720" y="2285532"/>
            <a:ext cx="538007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80137" y="2475321"/>
            <a:ext cx="401766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10583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0295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1354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51845" y="2878557"/>
            <a:ext cx="58459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2446" y="3068346"/>
            <a:ext cx="368535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0034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51845" y="3258135"/>
            <a:ext cx="58459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2445" y="3447924"/>
            <a:ext cx="36853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0033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51844" y="3637713"/>
            <a:ext cx="584595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2444" y="3827502"/>
            <a:ext cx="368535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1277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0639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87682" y="4234018"/>
            <a:ext cx="561011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11771" y="4422167"/>
            <a:ext cx="388602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20029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0017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1986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87682" y="4613595"/>
            <a:ext cx="561011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11771" y="4801744"/>
            <a:ext cx="388602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30025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0017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2986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87682" y="4993173"/>
            <a:ext cx="561011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11771" y="5181322"/>
            <a:ext cx="388602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14397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0639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0801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0000" y="5542762"/>
            <a:ext cx="7437799" cy="2353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95" b="0">
                <a:solidFill>
                  <a:srgbClr val="000000"/>
                </a:solidFill>
                <a:latin typeface="Cambria Math"/>
              </a:rPr>
              <a:t>2.4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295" y="5542762"/>
            <a:ext cx="7048504" cy="2353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95" b="0">
                <a:solidFill>
                  <a:srgbClr val="000000"/>
                </a:solidFill>
                <a:latin typeface="Cambria Math"/>
              </a:rPr>
              <a:t>Iteration</a:t>
            </a:r>
            <a:r>
              <a:rPr sz="1195" b="0">
                <a:solidFill>
                  <a:srgbClr val="000000"/>
                </a:solidFill>
                <a:latin typeface="Cambria Math"/>
              </a:rPr>
              <a:t> </a:t>
            </a:r>
            <a:r>
              <a:rPr sz="1195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9802" y="5793743"/>
            <a:ext cx="724799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SFRM1000"/>
              </a:rPr>
              <a:t>•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Inputs: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9802" y="6021492"/>
            <a:ext cx="724799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SFRM1000"/>
              </a:rPr>
              <a:t>•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Expected/desired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output: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60785" y="6528296"/>
            <a:ext cx="643701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output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hidden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sigmoid(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50953" y="6718086"/>
            <a:ext cx="474684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sigmoid(0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1017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2012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1986)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60786" y="6907875"/>
            <a:ext cx="643701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output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hidden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sigmoid(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50953" y="7097663"/>
            <a:ext cx="474684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sigmoid(0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1517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2012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2986)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5135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60787" y="7287452"/>
            <a:ext cx="64370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output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output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sigmoid(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50954" y="7477241"/>
            <a:ext cx="474684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sigmoid(0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1363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526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1354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5135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0801)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5152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21743" y="7882117"/>
            <a:ext cx="437605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error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5152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89844" y="8287005"/>
            <a:ext cx="620795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error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gradient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e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00584" y="8476794"/>
            <a:ext cx="449721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5152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5152)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5152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1287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89857" y="8666583"/>
            <a:ext cx="620794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error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gradient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00585" y="8856372"/>
            <a:ext cx="449721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526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526)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1287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13632)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0044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54571" y="9599527"/>
            <a:ext cx="394322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69426" y="386001"/>
            <a:ext cx="572837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68356" y="575790"/>
            <a:ext cx="39294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526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1287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0338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69427" y="765579"/>
            <a:ext cx="57283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68356" y="955368"/>
            <a:ext cx="39294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5135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1287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69427" y="1145157"/>
            <a:ext cx="57283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68357" y="1334946"/>
            <a:ext cx="392944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0044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69427" y="1524735"/>
            <a:ext cx="57283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68357" y="1714524"/>
            <a:ext cx="392944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0044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69427" y="1904314"/>
            <a:ext cx="57283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68357" y="2094103"/>
            <a:ext cx="392944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0044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69427" y="2283892"/>
            <a:ext cx="57283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68357" y="2473681"/>
            <a:ext cx="392944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0044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68512" y="2880197"/>
            <a:ext cx="542928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943" y="3068346"/>
            <a:ext cx="406685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10168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0022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0995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68512" y="3259775"/>
            <a:ext cx="542928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942" y="3447924"/>
            <a:ext cx="406685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2012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0022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199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68512" y="3639353"/>
            <a:ext cx="542928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30942" y="3827502"/>
            <a:ext cx="406685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15166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0022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1495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68511" y="4018931"/>
            <a:ext cx="542928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30942" y="4207080"/>
            <a:ext cx="406685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20122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0022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1991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68511" y="4398508"/>
            <a:ext cx="542928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30942" y="4586657"/>
            <a:ext cx="406685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13632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0338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68511" y="4778086"/>
            <a:ext cx="542928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30942" y="4966235"/>
            <a:ext cx="406685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13536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033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1023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51850" y="5371111"/>
            <a:ext cx="584594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2450" y="5560900"/>
            <a:ext cx="368534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0044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0022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51849" y="5750688"/>
            <a:ext cx="584595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2450" y="5940477"/>
            <a:ext cx="368534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0044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0022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51849" y="6130266"/>
            <a:ext cx="584595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2450" y="6320055"/>
            <a:ext cx="368534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1287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0643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36888" y="6726571"/>
            <a:ext cx="55609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60977" y="6916360"/>
            <a:ext cx="383682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19861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0022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36889" y="7106148"/>
            <a:ext cx="556091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60977" y="7295937"/>
            <a:ext cx="383682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29858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0022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3008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36889" y="7485726"/>
            <a:ext cx="556091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60977" y="7675515"/>
            <a:ext cx="383682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08011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0643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1444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0007" y="8062192"/>
            <a:ext cx="7437792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55" y="8062192"/>
            <a:ext cx="7130244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0">
                <a:solidFill>
                  <a:srgbClr val="000000"/>
                </a:solidFill>
                <a:latin typeface="Cambria Math"/>
              </a:rPr>
              <a:t>Epoch</a:t>
            </a:r>
            <a:r>
              <a:rPr sz="1434" b="0">
                <a:solidFill>
                  <a:srgbClr val="000000"/>
                </a:solidFill>
                <a:latin typeface="Cambria Math"/>
              </a:rPr>
              <a:t> </a:t>
            </a:r>
            <a:r>
              <a:rPr sz="1434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0007" y="8388362"/>
            <a:ext cx="7437792" cy="2353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95" b="0">
                <a:solidFill>
                  <a:srgbClr val="000000"/>
                </a:solidFill>
                <a:latin typeface="Cambria Math"/>
              </a:rPr>
              <a:t>3.1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9301" y="8388362"/>
            <a:ext cx="7048498" cy="2353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95" b="0">
                <a:solidFill>
                  <a:srgbClr val="000000"/>
                </a:solidFill>
                <a:latin typeface="Cambria Math"/>
              </a:rPr>
              <a:t>Iteration</a:t>
            </a:r>
            <a:r>
              <a:rPr sz="1195" b="0">
                <a:solidFill>
                  <a:srgbClr val="000000"/>
                </a:solidFill>
                <a:latin typeface="Cambria Math"/>
              </a:rPr>
              <a:t> </a:t>
            </a:r>
            <a:r>
              <a:rPr sz="1195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9808" y="8639343"/>
            <a:ext cx="7247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SFRM1000"/>
              </a:rPr>
              <a:t>•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Inputs: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9808" y="8867092"/>
            <a:ext cx="7247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SFRM1000"/>
              </a:rPr>
              <a:t>•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Expected/desired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output: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54577" y="9599527"/>
            <a:ext cx="394322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92415" y="649945"/>
            <a:ext cx="640538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output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hidden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sigmoid(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82595" y="839734"/>
            <a:ext cx="47152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sigmoid(0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0995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199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2008)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92415" y="1029522"/>
            <a:ext cx="640538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output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hidden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sigmoid(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82595" y="1219311"/>
            <a:ext cx="47152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sigmoid(0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1495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1991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3008)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4254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2415" y="1409099"/>
            <a:ext cx="640538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output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output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sigmoid(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82595" y="1598887"/>
            <a:ext cx="47152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sigmoid(0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1025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45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1023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4254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1444)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4862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1749" y="1974922"/>
            <a:ext cx="437605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error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4862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4744" y="2350969"/>
            <a:ext cx="611305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error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gradient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e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95472" y="2540757"/>
            <a:ext cx="440232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4862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4862)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4862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84744" y="2730545"/>
            <a:ext cx="611305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error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gradient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5472" y="2920334"/>
            <a:ext cx="440232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45)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1025)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37791" y="3296381"/>
            <a:ext cx="576000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36734" y="3486170"/>
            <a:ext cx="396106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1214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0273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37791" y="3675959"/>
            <a:ext cx="576000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36734" y="3865748"/>
            <a:ext cx="396106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4254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1214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0258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37792" y="4055536"/>
            <a:ext cx="576000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36735" y="4245325"/>
            <a:ext cx="396106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0031 = 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37793" y="4435114"/>
            <a:ext cx="576000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36735" y="4624903"/>
            <a:ext cx="396106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0031 = 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37793" y="4814692"/>
            <a:ext cx="576000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36736" y="5004480"/>
            <a:ext cx="396106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003 =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37807" y="5194269"/>
            <a:ext cx="5759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36736" y="5384058"/>
            <a:ext cx="396106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003 = 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68528" y="5761732"/>
            <a:ext cx="542927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30945" y="5951521"/>
            <a:ext cx="40668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0995 + 0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0995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68527" y="6141310"/>
            <a:ext cx="54292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30944" y="6331099"/>
            <a:ext cx="406685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19902 + 0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68527" y="6520888"/>
            <a:ext cx="54292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30943" y="6710676"/>
            <a:ext cx="406685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14949 + 0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1495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68525" y="6900465"/>
            <a:ext cx="542927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30943" y="7090254"/>
            <a:ext cx="406685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19905 + 0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1991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68525" y="7280043"/>
            <a:ext cx="542927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30942" y="7468191"/>
            <a:ext cx="406685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1025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0273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0752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68524" y="7659620"/>
            <a:ext cx="542927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30941" y="7847769"/>
            <a:ext cx="406685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10234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0258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0765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51861" y="8223816"/>
            <a:ext cx="584593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2462" y="8413605"/>
            <a:ext cx="368533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0031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51861" y="8603394"/>
            <a:ext cx="584593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2462" y="8793182"/>
            <a:ext cx="368533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003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1862" y="8982971"/>
            <a:ext cx="584593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2462" y="9172760"/>
            <a:ext cx="368533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1214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0607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54575" y="9599520"/>
            <a:ext cx="394322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36889" y="387641"/>
            <a:ext cx="556091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60977" y="577430"/>
            <a:ext cx="383682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20079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0015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36889" y="767218"/>
            <a:ext cx="556091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60977" y="957008"/>
            <a:ext cx="383682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30075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0015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36889" y="1146797"/>
            <a:ext cx="556091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60977" y="1336586"/>
            <a:ext cx="383682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14444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0607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7" y="1696386"/>
            <a:ext cx="7437792" cy="2353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95" b="0">
                <a:solidFill>
                  <a:srgbClr val="000000"/>
                </a:solidFill>
                <a:latin typeface="Cambria Math"/>
              </a:rPr>
              <a:t>3.2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301" y="1696386"/>
            <a:ext cx="7048498" cy="2353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95" b="0">
                <a:solidFill>
                  <a:srgbClr val="000000"/>
                </a:solidFill>
                <a:latin typeface="Cambria Math"/>
              </a:rPr>
              <a:t>Iteration</a:t>
            </a:r>
            <a:r>
              <a:rPr sz="1195" b="0">
                <a:solidFill>
                  <a:srgbClr val="000000"/>
                </a:solidFill>
                <a:latin typeface="Cambria Math"/>
              </a:rPr>
              <a:t> </a:t>
            </a:r>
            <a:r>
              <a:rPr sz="1195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9808" y="1947367"/>
            <a:ext cx="7247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SFRM1000"/>
              </a:rPr>
              <a:t>•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Inputs: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9808" y="2175116"/>
            <a:ext cx="7247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SFRM1000"/>
              </a:rPr>
              <a:t>•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Expected/desired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output: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9156" y="2681907"/>
            <a:ext cx="64686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output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hidden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sigmoid(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9324" y="2871697"/>
            <a:ext cx="477847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sigmoid(0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0995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199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2023)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4991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9157" y="3061485"/>
            <a:ext cx="646864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output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hidden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sigmoid(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9324" y="3251274"/>
            <a:ext cx="477847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sigmoid(0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1495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1991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3023)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4742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9158" y="3441062"/>
            <a:ext cx="646864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output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output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sigmoid(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9325" y="3630851"/>
            <a:ext cx="477847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sigmoid(0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0752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4991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0765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4742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2052)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4672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0950" y="4037379"/>
            <a:ext cx="432684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error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5328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5005" y="4440616"/>
            <a:ext cx="617279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error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gradient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e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5733" y="4630404"/>
            <a:ext cx="446206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4672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4672)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5328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1326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25005" y="4820193"/>
            <a:ext cx="617279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error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gradient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35733" y="5009982"/>
            <a:ext cx="446206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4991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4991)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1326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07518)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36205" y="5414858"/>
            <a:ext cx="566159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5135" y="5604647"/>
            <a:ext cx="386266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4991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1326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0331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36205" y="5794436"/>
            <a:ext cx="566159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5148" y="5984225"/>
            <a:ext cx="386265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4742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1326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0314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36206" y="6174013"/>
            <a:ext cx="566159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35149" y="6363802"/>
            <a:ext cx="386265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0025 =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36207" y="6553591"/>
            <a:ext cx="56615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5150" y="6743379"/>
            <a:ext cx="386264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0025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36207" y="6933168"/>
            <a:ext cx="56615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35150" y="7122957"/>
            <a:ext cx="386264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0025 = 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36208" y="7312746"/>
            <a:ext cx="56615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35151" y="7502535"/>
            <a:ext cx="386264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0025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54582" y="9599510"/>
            <a:ext cx="394321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17724" y="387641"/>
            <a:ext cx="538007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780141" y="577430"/>
            <a:ext cx="401765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0995 + 0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0995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17723" y="767218"/>
            <a:ext cx="538007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80140" y="957008"/>
            <a:ext cx="401765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19902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0012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17723" y="1146797"/>
            <a:ext cx="538007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80140" y="1336586"/>
            <a:ext cx="401765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14949 + 0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1495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17722" y="1526375"/>
            <a:ext cx="538007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80139" y="1716164"/>
            <a:ext cx="401766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19905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0013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17721" y="1905954"/>
            <a:ext cx="538007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0138" y="2095743"/>
            <a:ext cx="401766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07518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0331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1083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17721" y="2285532"/>
            <a:ext cx="538007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80137" y="2475321"/>
            <a:ext cx="401766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07652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0314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51845" y="2878557"/>
            <a:ext cx="58459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2446" y="3068346"/>
            <a:ext cx="368535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0025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51845" y="3258135"/>
            <a:ext cx="58459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2458" y="3447924"/>
            <a:ext cx="368534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0025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51845" y="3637713"/>
            <a:ext cx="58459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2458" y="3827502"/>
            <a:ext cx="368534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1326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0663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87683" y="4234018"/>
            <a:ext cx="561011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11772" y="4422167"/>
            <a:ext cx="388602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20232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0012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87684" y="4613595"/>
            <a:ext cx="561011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11772" y="4801744"/>
            <a:ext cx="388602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30226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0013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87684" y="4993173"/>
            <a:ext cx="561011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11772" y="5181322"/>
            <a:ext cx="388602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20515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0663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1389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0002" y="5542762"/>
            <a:ext cx="7437797" cy="2353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95" b="0">
                <a:solidFill>
                  <a:srgbClr val="000000"/>
                </a:solidFill>
                <a:latin typeface="Cambria Math"/>
              </a:rPr>
              <a:t>3.3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296" y="5542762"/>
            <a:ext cx="7048503" cy="2353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95" b="0">
                <a:solidFill>
                  <a:srgbClr val="000000"/>
                </a:solidFill>
                <a:latin typeface="Cambria Math"/>
              </a:rPr>
              <a:t>Iteration</a:t>
            </a:r>
            <a:r>
              <a:rPr sz="1195" b="0">
                <a:solidFill>
                  <a:srgbClr val="000000"/>
                </a:solidFill>
                <a:latin typeface="Cambria Math"/>
              </a:rPr>
              <a:t> </a:t>
            </a:r>
            <a:r>
              <a:rPr sz="1195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9803" y="5793743"/>
            <a:ext cx="724799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SFRM1000"/>
              </a:rPr>
              <a:t>•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Inputs: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9803" y="6021492"/>
            <a:ext cx="724799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SFRM1000"/>
              </a:rPr>
              <a:t>•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Expected/desired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output: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60787" y="6528296"/>
            <a:ext cx="64370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output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hidden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sigmoid(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50954" y="6718086"/>
            <a:ext cx="474684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sigmoid(0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0995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2003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2011)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4746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60788" y="6907875"/>
            <a:ext cx="64370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output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hidden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sigmoid(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50955" y="7097663"/>
            <a:ext cx="474684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sigmoid(0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1495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2003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301)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4622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60789" y="7287452"/>
            <a:ext cx="643701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output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output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sigmoid(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50956" y="7477241"/>
            <a:ext cx="47468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sigmoid(0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1083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4746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108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4622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1389)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4906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0957" y="7883757"/>
            <a:ext cx="432684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error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5094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5000" y="8287005"/>
            <a:ext cx="61727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error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gradient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e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35728" y="8476794"/>
            <a:ext cx="446207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4906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4906)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5094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1273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25000" y="8666583"/>
            <a:ext cx="61727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error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gradient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35728" y="8856372"/>
            <a:ext cx="446207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4746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4746)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1273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10826)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54573" y="9599527"/>
            <a:ext cx="394322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36203" y="386001"/>
            <a:ext cx="566159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35133" y="575790"/>
            <a:ext cx="386266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4746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1273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0302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36203" y="765579"/>
            <a:ext cx="566159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5133" y="955368"/>
            <a:ext cx="386266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4622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1273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0294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36203" y="1145157"/>
            <a:ext cx="566159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5133" y="1334946"/>
            <a:ext cx="386266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0034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36203" y="1524735"/>
            <a:ext cx="566159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5133" y="1714524"/>
            <a:ext cx="386266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0034 =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36203" y="1904314"/>
            <a:ext cx="566159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5133" y="2094103"/>
            <a:ext cx="386266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0034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36203" y="2283892"/>
            <a:ext cx="566159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5133" y="2473681"/>
            <a:ext cx="386266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0034 =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17724" y="2880197"/>
            <a:ext cx="538007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80141" y="3069986"/>
            <a:ext cx="401765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0995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0017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1012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17724" y="3259775"/>
            <a:ext cx="538007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80140" y="3449564"/>
            <a:ext cx="401765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20026 + 0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17723" y="3639353"/>
            <a:ext cx="538007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80140" y="3829142"/>
            <a:ext cx="401765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14949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0017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1512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17722" y="4018931"/>
            <a:ext cx="538007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80139" y="4208719"/>
            <a:ext cx="401766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2003 + 0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17721" y="4398508"/>
            <a:ext cx="538007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80138" y="4588297"/>
            <a:ext cx="401766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10826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0302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1385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17721" y="4778086"/>
            <a:ext cx="538007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80137" y="4967875"/>
            <a:ext cx="401766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10796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0294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1374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51845" y="5371111"/>
            <a:ext cx="58459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2446" y="5560900"/>
            <a:ext cx="368535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0034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0017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51845" y="5750688"/>
            <a:ext cx="58459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2445" y="5940477"/>
            <a:ext cx="36853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0034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51844" y="6130266"/>
            <a:ext cx="584595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2444" y="6320055"/>
            <a:ext cx="368535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1273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0636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87682" y="6726571"/>
            <a:ext cx="561011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11771" y="6914719"/>
            <a:ext cx="388602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20108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0017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1994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87682" y="7106148"/>
            <a:ext cx="561011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11771" y="7294297"/>
            <a:ext cx="388602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30101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0017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2993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87682" y="7485726"/>
            <a:ext cx="561011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11771" y="7673875"/>
            <a:ext cx="388602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13885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0636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0752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0000" y="8035314"/>
            <a:ext cx="7437799" cy="2353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95" b="0">
                <a:solidFill>
                  <a:srgbClr val="000000"/>
                </a:solidFill>
                <a:latin typeface="Cambria Math"/>
              </a:rPr>
              <a:t>3.4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295" y="8035314"/>
            <a:ext cx="7048504" cy="2353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95" b="0">
                <a:solidFill>
                  <a:srgbClr val="000000"/>
                </a:solidFill>
                <a:latin typeface="Cambria Math"/>
              </a:rPr>
              <a:t>Iteration</a:t>
            </a:r>
            <a:r>
              <a:rPr sz="1195" b="0">
                <a:solidFill>
                  <a:srgbClr val="000000"/>
                </a:solidFill>
                <a:latin typeface="Cambria Math"/>
              </a:rPr>
              <a:t> </a:t>
            </a:r>
            <a:r>
              <a:rPr sz="1195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9802" y="8286295"/>
            <a:ext cx="724799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SFRM1000"/>
              </a:rPr>
              <a:t>•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Inputs: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9802" y="8514045"/>
            <a:ext cx="724799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SFRM1000"/>
              </a:rPr>
              <a:t>•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Expected/desired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output: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22934" y="9599527"/>
            <a:ext cx="397486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60779" y="649945"/>
            <a:ext cx="643702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output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hidden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sigmoid(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50959" y="839734"/>
            <a:ext cx="474684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sigmoid(0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1012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2003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1994)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5254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60780" y="1029522"/>
            <a:ext cx="643701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output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hidden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sigmoid(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50959" y="1219311"/>
            <a:ext cx="474684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sigmoid(0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1512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2003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2993)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60780" y="1409099"/>
            <a:ext cx="643701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output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output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sigmoid(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50959" y="1598887"/>
            <a:ext cx="474684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sigmoid(0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1385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5254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1374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0752)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5169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1749" y="1974922"/>
            <a:ext cx="437605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error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5169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6591" y="2350969"/>
            <a:ext cx="627120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error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gradient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e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7320" y="2540757"/>
            <a:ext cx="456047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5169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5169)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5169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1291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6592" y="2730545"/>
            <a:ext cx="627120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error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gradient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7320" y="2920334"/>
            <a:ext cx="456047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5254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5254)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1291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13846)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0044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37791" y="3296381"/>
            <a:ext cx="576000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36734" y="3486170"/>
            <a:ext cx="396106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5254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1291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0339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37792" y="3675959"/>
            <a:ext cx="576000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36735" y="3865748"/>
            <a:ext cx="396106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1291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0331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37792" y="4055536"/>
            <a:ext cx="576000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36735" y="4245325"/>
            <a:ext cx="396106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0044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37805" y="4435114"/>
            <a:ext cx="575999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36735" y="4624903"/>
            <a:ext cx="396106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0044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37805" y="4814692"/>
            <a:ext cx="575999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36735" y="5004480"/>
            <a:ext cx="396106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0044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37805" y="5194269"/>
            <a:ext cx="575999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36735" y="5384058"/>
            <a:ext cx="396106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0044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68526" y="5761732"/>
            <a:ext cx="542927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30943" y="5949881"/>
            <a:ext cx="406685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10121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0022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099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68525" y="6141310"/>
            <a:ext cx="542927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30943" y="6329459"/>
            <a:ext cx="406685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20026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0022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198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68525" y="6520888"/>
            <a:ext cx="542927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30942" y="6709036"/>
            <a:ext cx="406685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15118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0022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68524" y="6900465"/>
            <a:ext cx="542927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30941" y="7088614"/>
            <a:ext cx="406685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2003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0022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1981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68523" y="7280043"/>
            <a:ext cx="542927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30940" y="7468191"/>
            <a:ext cx="406685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13846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0339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1046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68522" y="7659620"/>
            <a:ext cx="542927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weight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w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30940" y="7847769"/>
            <a:ext cx="406685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13736 +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0331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1043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51860" y="8223816"/>
            <a:ext cx="584593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2460" y="8413605"/>
            <a:ext cx="368533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0044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0022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51860" y="8603394"/>
            <a:ext cx="584593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2460" y="8793182"/>
            <a:ext cx="368533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0044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0022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1859" y="8982971"/>
            <a:ext cx="584594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correction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δ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2460" y="9172760"/>
            <a:ext cx="368533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1291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0645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22950" y="9599520"/>
            <a:ext cx="397484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36889" y="387641"/>
            <a:ext cx="556091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60977" y="577430"/>
            <a:ext cx="383682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19937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0022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2016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36889" y="767218"/>
            <a:ext cx="556091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60977" y="957008"/>
            <a:ext cx="383682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29932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0022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3015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36889" y="1146797"/>
            <a:ext cx="556091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new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threshold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neuron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60977" y="1336586"/>
            <a:ext cx="383682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07521 + 0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0645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1397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22941" y="9599524"/>
            <a:ext cx="397485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8457" y="3097203"/>
            <a:ext cx="7080068" cy="2429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4" b="0">
                <a:solidFill>
                  <a:srgbClr val="0D3361"/>
                </a:solidFill>
                <a:latin typeface="Arial"/>
              </a:rPr>
              <a:t>CSC3034 Current Course Update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8457" y="3508683"/>
            <a:ext cx="7080068" cy="4049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7" b="1">
                <a:solidFill>
                  <a:srgbClr val="0D3361"/>
                </a:solidFill>
                <a:latin typeface="Arial"/>
              </a:rPr>
              <a:t>MLNN calculation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8457" y="4026625"/>
            <a:ext cx="7080068" cy="20247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28" b="0">
                <a:solidFill>
                  <a:srgbClr val="1A1A1A"/>
                </a:solidFill>
                <a:latin typeface="Arial"/>
              </a:rPr>
              <a:t>Synchronized from the current CSC3034 course site on 14 August 2026.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601391"/>
            <a:ext cx="6884125" cy="20247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28" b="0">
                <a:solidFill>
                  <a:srgbClr val="1A1A1A"/>
                </a:solidFill>
                <a:latin typeface="Arial"/>
              </a:rPr>
              <a:t>•  Current Lab 6 trains and evaluates a scikit-learn MLP on the Wine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45528"/>
            <a:ext cx="6884125" cy="20247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28" b="0">
                <a:solidFill>
                  <a:srgbClr val="1A1A1A"/>
                </a:solidFill>
                <a:latin typeface="Arial"/>
              </a:rPr>
              <a:t>•  Current Lab 7 visualizes neural-network hyperplanes on standardized Iris features.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489665"/>
            <a:ext cx="6884125" cy="20247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28" b="0">
                <a:solidFill>
                  <a:srgbClr val="1A1A1A"/>
                </a:solidFill>
                <a:latin typeface="Arial"/>
              </a:rPr>
              <a:t>•  Current Lab 8 adds Keras CNN/LSTM examples and Isaac Sim vision demonstrations.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8457" y="6808753"/>
            <a:ext cx="7080068" cy="2227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1" b="1">
                <a:solidFill>
                  <a:srgbClr val="0D3361"/>
                </a:solidFill>
                <a:latin typeface="Arial"/>
              </a:rPr>
              <a:t>Current materials author: Dr Tang Tiong Yew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8457" y="7123502"/>
            <a:ext cx="7080068" cy="18222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25" b="0">
                <a:solidFill>
                  <a:srgbClr val="0D3361"/>
                </a:solidFill>
                <a:latin typeface="Arial"/>
              </a:rPr>
              <a:t>See the synchronized lab notes and runnable examples for full instructions.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MLNN calculation</dc:title>
  <dc:subject>Editable objects converted from MLNN calculation.pdf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