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5759996" cy="323999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60073" cy="324004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5862" y="1709649"/>
            <a:ext cx="1587500" cy="193292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5862" y="1709646"/>
            <a:ext cx="1587500" cy="206885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5862" y="1709646"/>
            <a:ext cx="1587500" cy="220474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5862" y="1709647"/>
            <a:ext cx="1587500" cy="234062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88" cy="3239998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0872" y="63277"/>
            <a:ext cx="575962" cy="231502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5158" y="88661"/>
            <a:ext cx="575974" cy="20611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225" y="918848"/>
            <a:ext cx="5324170" cy="4067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66" b="1">
                <a:solidFill>
                  <a:srgbClr val="003373"/>
                </a:solidFill>
                <a:latin typeface="Josefin Sans"/>
              </a:rPr>
              <a:t>Artificial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 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Neural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 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Networks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225" y="1255046"/>
            <a:ext cx="532417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5A7D"/>
                </a:solidFill>
                <a:latin typeface="Josefin Sans"/>
              </a:rPr>
              <a:t>CSC3034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 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Computational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 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Intelligence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225" y="1740729"/>
            <a:ext cx="532417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Dr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Richard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Wong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01196" y="3150917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8690" y="3150693"/>
            <a:ext cx="1067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262" y="1728317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262" y="1741906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262" y="1755495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262" y="1769084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Lecture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outline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72762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Background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12655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The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Perceptron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52549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Exclusive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OR?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90038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Activation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Functions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227527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Multilayer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Networks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7816" y="2533387"/>
            <a:ext cx="52175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Back-propagation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01195" y="3150918"/>
            <a:ext cx="8842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4122" y="3150694"/>
            <a:ext cx="1212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Background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127506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Artificial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(ANNs)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inspired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human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brain.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533180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Human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brain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consists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densely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interconnected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nerve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cells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called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4" y="1749010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(basic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information-processing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units).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01196" y="3150918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3132" y="3150694"/>
            <a:ext cx="1222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97076" y="874216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7076" y="1112086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7076" y="1349957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3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6011" y="1780833"/>
            <a:ext cx="3528186" cy="119252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Background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6" y="52981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structure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consists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183" y="821040"/>
            <a:ext cx="487121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cell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body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called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soma,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183" y="1058910"/>
            <a:ext cx="487121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fibres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called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dendrites,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183" y="1296781"/>
            <a:ext cx="487121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single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long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fibre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called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axon.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0056" y="1501530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connected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synapses.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01196" y="3150916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3285" y="3150692"/>
            <a:ext cx="1221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1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6011" y="1777799"/>
            <a:ext cx="3528186" cy="119252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Background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552093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receives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signals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through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dendrites.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810207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 signal is received in the form of chemical substances released from the synapses.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068309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changes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electrical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potential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cell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body.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6" y="1326423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potential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exceeds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threshold,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electrical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pulse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through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axon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4" y="1542266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synapses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01195" y="3150917"/>
            <a:ext cx="8842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2598" y="3150693"/>
            <a:ext cx="1227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Background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3741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Plasticity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biological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networks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8" y="1051368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responding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stimulations,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demonstrate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long-term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changes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6" y="1267198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strength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their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connections.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8" y="1481555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connections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formed.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8" y="1739670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brain.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0058" y="1997772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Connections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‘right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answer’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strengthened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96" y="2213614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those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‘wrong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answer’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weaken.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0058" y="2427959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result,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ability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through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experience.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01197" y="3150918"/>
            <a:ext cx="884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2448" y="3150694"/>
            <a:ext cx="1229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08012" y="1396377"/>
            <a:ext cx="1046645" cy="18978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454658" y="1396377"/>
            <a:ext cx="984122" cy="18978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08012" y="1775955"/>
            <a:ext cx="1046645" cy="189788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454658" y="1775955"/>
            <a:ext cx="984122" cy="189788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08012" y="2155533"/>
            <a:ext cx="1046645" cy="189788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454658" y="2155533"/>
            <a:ext cx="984122" cy="189788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3083286" y="855438"/>
            <a:ext cx="456162" cy="0"/>
          </a:xfrm>
          <a:prstGeom prst="line">
            <a:avLst/>
          </a:prstGeom>
          <a:ln w="490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539448" y="855438"/>
            <a:ext cx="84226" cy="84227"/>
          </a:xfrm>
          <a:prstGeom prst="line">
            <a:avLst/>
          </a:prstGeom>
          <a:ln w="490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800469" y="1116459"/>
            <a:ext cx="53968" cy="53968"/>
          </a:xfrm>
          <a:prstGeom prst="line">
            <a:avLst/>
          </a:prstGeom>
          <a:ln w="490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3835400" y="1143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083286" y="1227533"/>
            <a:ext cx="262456" cy="0"/>
          </a:xfrm>
          <a:prstGeom prst="line">
            <a:avLst/>
          </a:prstGeom>
          <a:ln w="490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345742" y="1227533"/>
            <a:ext cx="117308" cy="20685"/>
          </a:xfrm>
          <a:prstGeom prst="line">
            <a:avLst/>
          </a:prstGeom>
          <a:ln w="490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709275" y="1291630"/>
            <a:ext cx="75170" cy="13258"/>
          </a:xfrm>
          <a:prstGeom prst="line">
            <a:avLst/>
          </a:prstGeom>
          <a:ln w="490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3771900" y="1282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3089117" y="1841865"/>
            <a:ext cx="450331" cy="0"/>
          </a:xfrm>
          <a:prstGeom prst="line">
            <a:avLst/>
          </a:prstGeom>
          <a:ln w="490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539448" y="1760874"/>
            <a:ext cx="80991" cy="80991"/>
          </a:xfrm>
          <a:prstGeom prst="line">
            <a:avLst/>
          </a:prstGeom>
          <a:ln w="490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803704" y="1526876"/>
            <a:ext cx="50733" cy="50732"/>
          </a:xfrm>
          <a:prstGeom prst="line">
            <a:avLst/>
          </a:prstGeom>
          <a:ln w="490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3835400" y="1511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3149600" y="1371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3149600" y="1524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3149600" y="1676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4260194" y="1348651"/>
            <a:ext cx="182301" cy="0"/>
          </a:xfrm>
          <a:prstGeom prst="line">
            <a:avLst/>
          </a:prstGeom>
          <a:ln w="490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4612439" y="1046621"/>
            <a:ext cx="117731" cy="203914"/>
          </a:xfrm>
          <a:prstGeom prst="line">
            <a:avLst/>
          </a:prstGeom>
          <a:ln w="490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730170" y="1046621"/>
            <a:ext cx="324240" cy="0"/>
          </a:xfrm>
          <a:prstGeom prst="line">
            <a:avLst/>
          </a:prstGeom>
          <a:ln w="490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5041900" y="1028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4669089" y="1348651"/>
            <a:ext cx="235458" cy="0"/>
          </a:xfrm>
          <a:prstGeom prst="line">
            <a:avLst/>
          </a:prstGeom>
          <a:ln w="490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4904547" y="1348651"/>
            <a:ext cx="149863" cy="0"/>
          </a:xfrm>
          <a:prstGeom prst="line">
            <a:avLst/>
          </a:prstGeom>
          <a:ln w="490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5041900" y="1333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4612439" y="1446768"/>
            <a:ext cx="117731" cy="203914"/>
          </a:xfrm>
          <a:prstGeom prst="line">
            <a:avLst/>
          </a:prstGeom>
          <a:ln w="490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730170" y="1650682"/>
            <a:ext cx="324240" cy="0"/>
          </a:xfrm>
          <a:prstGeom prst="line">
            <a:avLst/>
          </a:prstGeom>
          <a:ln w="490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5041900" y="1625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0" name="Picture 6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1987" y="1921159"/>
            <a:ext cx="2519997" cy="851759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Background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08012" y="1014466"/>
            <a:ext cx="537738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ANNs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simulate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biological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using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8012" y="1153645"/>
            <a:ext cx="537738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artificial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neurons.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83920" y="1428542"/>
            <a:ext cx="530147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FFFFFF"/>
                </a:solidFill>
                <a:latin typeface="Josefin Sans"/>
              </a:rPr>
              <a:t>Biological</a:t>
            </a:r>
            <a:r>
              <a:rPr sz="896" b="1">
                <a:solidFill>
                  <a:srgbClr val="FFFFFF"/>
                </a:solidFill>
                <a:latin typeface="Josefin Sans"/>
              </a:rPr>
              <a:t> </a:t>
            </a:r>
            <a:r>
              <a:rPr sz="896" b="1">
                <a:solidFill>
                  <a:srgbClr val="FFFFFF"/>
                </a:solidFill>
                <a:latin typeface="Josefin Sans"/>
              </a:rPr>
              <a:t>neuron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530565" y="1428542"/>
            <a:ext cx="425483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FFFFFF"/>
                </a:solidFill>
                <a:latin typeface="Josefin Sans"/>
              </a:rPr>
              <a:t>Artificial</a:t>
            </a:r>
            <a:r>
              <a:rPr sz="896" b="1">
                <a:solidFill>
                  <a:srgbClr val="FFFFFF"/>
                </a:solidFill>
                <a:latin typeface="Josefin Sans"/>
              </a:rPr>
              <a:t> </a:t>
            </a:r>
            <a:r>
              <a:rPr sz="896" b="1">
                <a:solidFill>
                  <a:srgbClr val="FFFFFF"/>
                </a:solidFill>
                <a:latin typeface="Josefin Sans"/>
              </a:rPr>
              <a:t>neuron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92060" y="1617995"/>
            <a:ext cx="49933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Soma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765905" y="1617995"/>
            <a:ext cx="401949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22033" y="1807784"/>
            <a:ext cx="506336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Dendrite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822424" y="1807784"/>
            <a:ext cx="396297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09548" y="1997573"/>
            <a:ext cx="497584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Axon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770639" y="1997573"/>
            <a:ext cx="401475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30745" y="2187361"/>
            <a:ext cx="505465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Synapse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775396" y="2187361"/>
            <a:ext cx="400999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Weight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857538" y="1299454"/>
            <a:ext cx="1927857" cy="17098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8" b="0">
                <a:solidFill>
                  <a:srgbClr val="000000"/>
                </a:solidFill>
                <a:latin typeface="Josefin Sans"/>
              </a:rPr>
              <a:t>Neuron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645912" y="959472"/>
            <a:ext cx="2139483" cy="17098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8" b="0">
                <a:solidFill>
                  <a:srgbClr val="000000"/>
                </a:solidFill>
                <a:latin typeface="Cambria Math"/>
              </a:rPr>
              <a:t>w</a:t>
            </a:r>
            <a:r>
              <a:rPr sz="579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520002" y="1201340"/>
            <a:ext cx="2265393" cy="17098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8" b="0">
                <a:solidFill>
                  <a:srgbClr val="000000"/>
                </a:solidFill>
                <a:latin typeface="Cambria Math"/>
              </a:rPr>
              <a:t>w</a:t>
            </a:r>
            <a:r>
              <a:rPr sz="579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40081" y="1600650"/>
            <a:ext cx="2145314" cy="17098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8" b="0">
                <a:solidFill>
                  <a:srgbClr val="000000"/>
                </a:solidFill>
                <a:latin typeface="Cambria Math"/>
              </a:rPr>
              <a:t>w</a:t>
            </a:r>
            <a:r>
              <a:rPr sz="579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8739" y="786860"/>
            <a:ext cx="2856657" cy="17098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8" b="0">
                <a:solidFill>
                  <a:srgbClr val="000000"/>
                </a:solidFill>
                <a:latin typeface="Cambria Math"/>
              </a:rPr>
              <a:t>x</a:t>
            </a:r>
            <a:r>
              <a:rPr sz="579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928739" y="1158943"/>
            <a:ext cx="2856657" cy="17098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8" b="0">
                <a:solidFill>
                  <a:srgbClr val="000000"/>
                </a:solidFill>
                <a:latin typeface="Cambria Math"/>
              </a:rPr>
              <a:t>x</a:t>
            </a:r>
            <a:r>
              <a:rPr sz="579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922907" y="1773263"/>
            <a:ext cx="2862488" cy="17098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8" b="0">
                <a:solidFill>
                  <a:srgbClr val="000000"/>
                </a:solidFill>
                <a:latin typeface="Cambria Math"/>
              </a:rPr>
              <a:t>x</a:t>
            </a:r>
            <a:r>
              <a:rPr sz="579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10281" y="1300134"/>
            <a:ext cx="1275114" cy="17098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8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18129" y="998104"/>
            <a:ext cx="667266" cy="17098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8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118129" y="1300134"/>
            <a:ext cx="667266" cy="17098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8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118129" y="1602163"/>
            <a:ext cx="667266" cy="17098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8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868761" y="613284"/>
            <a:ext cx="2916634" cy="17098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8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538826" y="623815"/>
            <a:ext cx="2246569" cy="17098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8" b="0">
                <a:solidFill>
                  <a:srgbClr val="000000"/>
                </a:solidFill>
                <a:latin typeface="Josefin Sans"/>
              </a:rPr>
              <a:t>weights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12002" y="613284"/>
            <a:ext cx="773393" cy="17098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8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901196" y="3150917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666474" y="3150693"/>
            <a:ext cx="118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208844" y="1390713"/>
            <a:ext cx="286168" cy="10416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37533" y="1583148"/>
            <a:ext cx="162596" cy="5918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Freeform 37"/>
          <p:cNvSpPr/>
          <p:nvPr/>
        </p:nvSpPr>
        <p:spPr>
          <a:xfrm>
            <a:off x="2882900" y="1612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 flipV="1">
            <a:off x="2208844" y="1952538"/>
            <a:ext cx="286168" cy="10416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737533" y="1805085"/>
            <a:ext cx="162596" cy="5918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2882900" y="179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3336351" y="1723707"/>
            <a:ext cx="21461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3530600" y="1701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Simplest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95272" y="945239"/>
            <a:ext cx="419012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simplest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60598" y="1655396"/>
            <a:ext cx="282479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47987" y="1468202"/>
            <a:ext cx="323740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w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47987" y="1837581"/>
            <a:ext cx="323740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w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49309" y="1283506"/>
            <a:ext cx="37360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49309" y="2022277"/>
            <a:ext cx="37360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16743" y="1673612"/>
            <a:ext cx="216865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72157" y="2309398"/>
            <a:ext cx="41132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produce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outputs?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01197" y="3150918"/>
            <a:ext cx="884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3591" y="3150694"/>
            <a:ext cx="1218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932163" y="1326127"/>
            <a:ext cx="241415" cy="241415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2980867" y="1518831"/>
            <a:ext cx="7200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052867" y="1374831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052867" y="1374831"/>
            <a:ext cx="7200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972249" y="1712555"/>
            <a:ext cx="161243" cy="188567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1098031" y="997378"/>
            <a:ext cx="388641" cy="1414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1460500" y="1117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1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1098031" y="1754828"/>
            <a:ext cx="388641" cy="14146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1460500" y="1739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802096" y="1253648"/>
            <a:ext cx="345736" cy="1258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/>
          <p:cNvSpPr/>
          <p:nvPr/>
        </p:nvSpPr>
        <p:spPr>
          <a:xfrm>
            <a:off x="2120900" y="1358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2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V="1">
            <a:off x="1802096" y="1514183"/>
            <a:ext cx="345736" cy="1258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 47"/>
          <p:cNvSpPr/>
          <p:nvPr/>
        </p:nvSpPr>
        <p:spPr>
          <a:xfrm>
            <a:off x="2120900" y="1498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2504468" y="1446834"/>
            <a:ext cx="3998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2882900" y="1422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 flipV="1">
            <a:off x="3052871" y="1595377"/>
            <a:ext cx="0" cy="11464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30353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3176109" y="1446834"/>
            <a:ext cx="46714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3632200" y="1422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Operation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Rosenblatt’s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259888" y="1350832"/>
            <a:ext cx="3525507" cy="3388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1" b="0">
                <a:solidFill>
                  <a:srgbClr val="000000"/>
                </a:solidFill>
                <a:latin typeface="Cambria Math"/>
              </a:rPr>
              <a:t>Σ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18421" y="1746658"/>
            <a:ext cx="27669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717251" y="1385889"/>
            <a:ext cx="20681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576641" y="1111722"/>
            <a:ext cx="42087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76641" y="1604241"/>
            <a:ext cx="42087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0056" y="865469"/>
            <a:ext cx="487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0056" y="1850507"/>
            <a:ext cx="487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2982" y="700498"/>
            <a:ext cx="49824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143886" y="939448"/>
            <a:ext cx="36415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Linear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64994" y="1111521"/>
            <a:ext cx="3720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combiner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00540" y="941353"/>
            <a:ext cx="28848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Hard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871647" y="1113426"/>
            <a:ext cx="291374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limiter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558679" y="1193016"/>
            <a:ext cx="22267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69679" y="1927381"/>
            <a:ext cx="30157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Threshold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49628" y="2448574"/>
            <a:ext cx="38357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0057" y="2257985"/>
            <a:ext cx="487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10057" y="2617979"/>
            <a:ext cx="487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506995" y="2257985"/>
            <a:ext cx="42784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06995" y="2617979"/>
            <a:ext cx="42784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921521" y="2453184"/>
            <a:ext cx="28638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17469" y="2315884"/>
            <a:ext cx="25679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329077" y="2356601"/>
            <a:ext cx="245631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+1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83163" y="2354805"/>
            <a:ext cx="210223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≥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29077" y="2561294"/>
            <a:ext cx="245631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83163" y="2561294"/>
            <a:ext cx="210223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&lt;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01196" y="3150917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62447" y="3150693"/>
            <a:ext cx="1229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388301" y="1686002"/>
            <a:ext cx="391236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779536" y="1686001"/>
            <a:ext cx="504710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84246" y="1686001"/>
            <a:ext cx="1309852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94100" y="1686001"/>
            <a:ext cx="328866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22965" y="1686001"/>
            <a:ext cx="448729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388295" y="2131379"/>
            <a:ext cx="391236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79531" y="2131379"/>
            <a:ext cx="504710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84241" y="2131379"/>
            <a:ext cx="1309852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594093" y="2131379"/>
            <a:ext cx="328866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22958" y="2131378"/>
            <a:ext cx="448729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388289" y="2576741"/>
            <a:ext cx="391236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79527" y="2576741"/>
            <a:ext cx="504710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84236" y="2576741"/>
            <a:ext cx="1309852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94089" y="2576741"/>
            <a:ext cx="328866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922955" y="2576740"/>
            <a:ext cx="448729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-11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7999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Rosenblatt’s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9993" y="7097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Rosenblatt’s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group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9993" y="88186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classes.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9993" y="119234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3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20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993" y="145046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let’s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+1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considered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04111" y="1723481"/>
            <a:ext cx="42812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52077" y="1723481"/>
            <a:ext cx="38333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60155" y="1721686"/>
            <a:ext cx="34252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w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+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w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−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94098" y="1723481"/>
            <a:ext cx="20912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98873" y="1721568"/>
            <a:ext cx="17865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class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79039" y="1943842"/>
            <a:ext cx="43063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1.25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13987" y="1943842"/>
            <a:ext cx="38714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5.24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17947" y="1943842"/>
            <a:ext cx="296744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9.95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70016" y="1946164"/>
            <a:ext cx="21153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+1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65316" y="1946165"/>
            <a:ext cx="17200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64216" y="2166524"/>
            <a:ext cx="432118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5.29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855451" y="2166524"/>
            <a:ext cx="39299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-100.5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18124" y="2166524"/>
            <a:ext cx="30672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-506.63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70013" y="2167051"/>
            <a:ext cx="21153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65313" y="2168846"/>
            <a:ext cx="17200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464898" y="2389205"/>
            <a:ext cx="43204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0.01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893892" y="2389205"/>
            <a:ext cx="38915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-7.36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767714" y="2389205"/>
            <a:ext cx="30176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-56.77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670010" y="2389732"/>
            <a:ext cx="21153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065309" y="2391527"/>
            <a:ext cx="17200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465735" y="2611899"/>
            <a:ext cx="431966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2.25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925474" y="2611899"/>
            <a:ext cx="385992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6.51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833245" y="2611899"/>
            <a:ext cx="295215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19.3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670010" y="2614221"/>
            <a:ext cx="21153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+1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065309" y="2614221"/>
            <a:ext cx="17200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01184" y="3150918"/>
            <a:ext cx="8842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31689" y="3150694"/>
            <a:ext cx="1537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40943" y="2268829"/>
            <a:ext cx="219522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3822700" y="2247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 flipV="1">
            <a:off x="2529157" y="1187285"/>
            <a:ext cx="0" cy="181944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2514600" y="1155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0"/>
                </a:moveTo>
                <a:lnTo>
                  <a:pt x="0" y="4"/>
                </a:lnTo>
                <a:lnTo>
                  <a:pt x="1" y="2"/>
                </a:lnTo>
                <a:lnTo>
                  <a:pt x="3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304800" y="787400"/>
            <a:ext cx="4445000" cy="6096000"/>
          </a:xfrm>
          <a:custGeom>
            <a:avLst/>
            <a:gdLst/>
            <a:ahLst/>
            <a:cxnLst/>
            <a:rect l="l" t="t" r="r" b="b"/>
            <a:pathLst>
              <a:path w="350" h="480">
                <a:moveTo>
                  <a:pt x="70" y="0"/>
                </a:moveTo>
                <a:lnTo>
                  <a:pt x="79" y="8"/>
                </a:lnTo>
                <a:lnTo>
                  <a:pt x="88" y="15"/>
                </a:lnTo>
                <a:lnTo>
                  <a:pt x="96" y="22"/>
                </a:lnTo>
                <a:lnTo>
                  <a:pt x="105" y="29"/>
                </a:lnTo>
                <a:lnTo>
                  <a:pt x="114" y="37"/>
                </a:lnTo>
                <a:lnTo>
                  <a:pt x="123" y="44"/>
                </a:lnTo>
                <a:lnTo>
                  <a:pt x="131" y="51"/>
                </a:lnTo>
                <a:lnTo>
                  <a:pt x="140" y="59"/>
                </a:lnTo>
                <a:lnTo>
                  <a:pt x="149" y="66"/>
                </a:lnTo>
                <a:lnTo>
                  <a:pt x="158" y="73"/>
                </a:lnTo>
                <a:lnTo>
                  <a:pt x="166" y="80"/>
                </a:lnTo>
                <a:lnTo>
                  <a:pt x="175" y="88"/>
                </a:lnTo>
                <a:lnTo>
                  <a:pt x="184" y="95"/>
                </a:lnTo>
                <a:lnTo>
                  <a:pt x="193" y="102"/>
                </a:lnTo>
                <a:lnTo>
                  <a:pt x="201" y="109"/>
                </a:lnTo>
                <a:lnTo>
                  <a:pt x="210" y="117"/>
                </a:lnTo>
                <a:lnTo>
                  <a:pt x="219" y="124"/>
                </a:lnTo>
                <a:lnTo>
                  <a:pt x="228" y="131"/>
                </a:lnTo>
                <a:lnTo>
                  <a:pt x="236" y="138"/>
                </a:lnTo>
                <a:lnTo>
                  <a:pt x="245" y="146"/>
                </a:lnTo>
                <a:lnTo>
                  <a:pt x="254" y="153"/>
                </a:lnTo>
                <a:lnTo>
                  <a:pt x="263" y="160"/>
                </a:lnTo>
                <a:lnTo>
                  <a:pt x="271" y="167"/>
                </a:lnTo>
                <a:lnTo>
                  <a:pt x="280" y="175"/>
                </a:lnTo>
                <a:lnTo>
                  <a:pt x="350" y="480"/>
                </a:lnTo>
                <a:lnTo>
                  <a:pt x="335" y="480"/>
                </a:lnTo>
                <a:lnTo>
                  <a:pt x="321" y="480"/>
                </a:lnTo>
                <a:lnTo>
                  <a:pt x="306" y="480"/>
                </a:lnTo>
                <a:lnTo>
                  <a:pt x="292" y="480"/>
                </a:lnTo>
                <a:lnTo>
                  <a:pt x="277" y="480"/>
                </a:lnTo>
                <a:lnTo>
                  <a:pt x="263" y="480"/>
                </a:lnTo>
                <a:lnTo>
                  <a:pt x="248" y="480"/>
                </a:lnTo>
                <a:lnTo>
                  <a:pt x="233" y="480"/>
                </a:lnTo>
                <a:lnTo>
                  <a:pt x="219" y="480"/>
                </a:lnTo>
                <a:lnTo>
                  <a:pt x="204" y="480"/>
                </a:lnTo>
                <a:lnTo>
                  <a:pt x="190" y="480"/>
                </a:lnTo>
                <a:lnTo>
                  <a:pt x="175" y="480"/>
                </a:lnTo>
                <a:lnTo>
                  <a:pt x="161" y="480"/>
                </a:lnTo>
                <a:lnTo>
                  <a:pt x="146" y="480"/>
                </a:lnTo>
                <a:lnTo>
                  <a:pt x="131" y="480"/>
                </a:lnTo>
                <a:lnTo>
                  <a:pt x="117" y="480"/>
                </a:lnTo>
                <a:lnTo>
                  <a:pt x="102" y="480"/>
                </a:lnTo>
                <a:lnTo>
                  <a:pt x="88" y="480"/>
                </a:lnTo>
                <a:lnTo>
                  <a:pt x="73" y="480"/>
                </a:lnTo>
                <a:lnTo>
                  <a:pt x="59" y="480"/>
                </a:lnTo>
                <a:lnTo>
                  <a:pt x="44" y="480"/>
                </a:lnTo>
                <a:lnTo>
                  <a:pt x="29" y="480"/>
                </a:lnTo>
                <a:lnTo>
                  <a:pt x="15" y="480"/>
                </a:lnTo>
                <a:lnTo>
                  <a:pt x="0" y="480"/>
                </a:lnTo>
                <a:lnTo>
                  <a:pt x="70" y="0"/>
                </a:lnTo>
                <a:close/>
              </a:path>
            </a:pathLst>
          </a:custGeom>
          <a:solidFill>
            <a:srgbClr val="7F8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1196837" y="793031"/>
            <a:ext cx="111026" cy="922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307863" y="885268"/>
            <a:ext cx="111027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418890" y="977506"/>
            <a:ext cx="111026" cy="922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529916" y="1069743"/>
            <a:ext cx="111027" cy="922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640943" y="1161980"/>
            <a:ext cx="111027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751970" y="1254218"/>
            <a:ext cx="111027" cy="922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862997" y="1346455"/>
            <a:ext cx="111026" cy="922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974023" y="1438692"/>
            <a:ext cx="111027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085050" y="1530930"/>
            <a:ext cx="111027" cy="922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196077" y="1623167"/>
            <a:ext cx="111026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307103" y="1715405"/>
            <a:ext cx="111027" cy="922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418130" y="1807642"/>
            <a:ext cx="111027" cy="922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529157" y="1899879"/>
            <a:ext cx="111026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640183" y="1992117"/>
            <a:ext cx="111027" cy="922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751210" y="2084354"/>
            <a:ext cx="111026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862236" y="2176592"/>
            <a:ext cx="111027" cy="922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973263" y="2268829"/>
            <a:ext cx="111027" cy="922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084290" y="2361066"/>
            <a:ext cx="111026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195316" y="2453304"/>
            <a:ext cx="111027" cy="922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306343" y="2545541"/>
            <a:ext cx="111027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417370" y="2637779"/>
            <a:ext cx="111027" cy="922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528397" y="2730016"/>
            <a:ext cx="111026" cy="922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639423" y="2822253"/>
            <a:ext cx="111027" cy="922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750450" y="2914491"/>
            <a:ext cx="111026" cy="922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08624" y="6880699"/>
            <a:ext cx="1850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493665" y="6880699"/>
            <a:ext cx="1850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678706" y="6880699"/>
            <a:ext cx="18504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863748" y="6880699"/>
            <a:ext cx="1850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048789" y="6880699"/>
            <a:ext cx="18504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233831" y="6880699"/>
            <a:ext cx="1850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418872" y="6880699"/>
            <a:ext cx="18504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603914" y="6880699"/>
            <a:ext cx="1850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788955" y="6880699"/>
            <a:ext cx="1850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973996" y="6880699"/>
            <a:ext cx="18504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159038" y="6880699"/>
            <a:ext cx="1850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344079" y="6880699"/>
            <a:ext cx="18504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529121" y="6880699"/>
            <a:ext cx="1850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714162" y="6880699"/>
            <a:ext cx="18504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2899204" y="6880699"/>
            <a:ext cx="1850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084245" y="6880699"/>
            <a:ext cx="18504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269287" y="6880699"/>
            <a:ext cx="1850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454328" y="6880699"/>
            <a:ext cx="18504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639370" y="6880699"/>
            <a:ext cx="1850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824411" y="6880699"/>
            <a:ext cx="18504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009453" y="6880699"/>
            <a:ext cx="1850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194494" y="6880699"/>
            <a:ext cx="18504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4379536" y="6880699"/>
            <a:ext cx="1850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4564577" y="6880699"/>
            <a:ext cx="18504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3390900" y="2019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3"/>
                </a:lnTo>
                <a:lnTo>
                  <a:pt x="3" y="3"/>
                </a:lnTo>
                <a:lnTo>
                  <a:pt x="4" y="2"/>
                </a:lnTo>
                <a:lnTo>
                  <a:pt x="4" y="2"/>
                </a:lnTo>
                <a:lnTo>
                  <a:pt x="4" y="2"/>
                </a:lnTo>
                <a:lnTo>
                  <a:pt x="4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-2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880002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Rosenblatt’s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59993" y="56989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Rosenblatt’s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classifier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divides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2-dimensional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space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59992" y="741962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decision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regions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hyperplane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925522" y="1240881"/>
            <a:ext cx="3859873" cy="2147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6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6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w</a:t>
            </a:r>
            <a:r>
              <a:rPr sz="796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6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91241" y="1828572"/>
            <a:ext cx="28941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003041" y="2335873"/>
            <a:ext cx="37823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936121" y="2198865"/>
            <a:ext cx="18492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497236" y="975055"/>
            <a:ext cx="328815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901194" y="3150915"/>
            <a:ext cx="8842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654774" y="3150691"/>
            <a:ext cx="1306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267603" y="2285004"/>
            <a:ext cx="148542" cy="148542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2297563" y="2403574"/>
            <a:ext cx="443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341864" y="2314971"/>
            <a:ext cx="0" cy="886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341864" y="2314971"/>
            <a:ext cx="443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292268" y="2522773"/>
            <a:ext cx="99212" cy="116025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1139062" y="2082725"/>
            <a:ext cx="239130" cy="8704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1358900" y="2159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1139062" y="2548784"/>
            <a:ext cx="239130" cy="870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1358900" y="2540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572273" y="2240407"/>
            <a:ext cx="212731" cy="7742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/>
          <p:cNvSpPr/>
          <p:nvPr/>
        </p:nvSpPr>
        <p:spPr>
          <a:xfrm>
            <a:off x="1778000" y="2298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0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V="1">
            <a:off x="1572273" y="2400715"/>
            <a:ext cx="212731" cy="7742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 47"/>
          <p:cNvSpPr/>
          <p:nvPr/>
        </p:nvSpPr>
        <p:spPr>
          <a:xfrm>
            <a:off x="1778000" y="2387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2004442" y="2359275"/>
            <a:ext cx="24603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2235200" y="2349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 flipV="1">
            <a:off x="2341875" y="2450674"/>
            <a:ext cx="0" cy="705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2324100" y="2438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2417703" y="2359275"/>
            <a:ext cx="28743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2692400" y="2349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 flipH="1">
            <a:off x="3216829" y="2461595"/>
            <a:ext cx="408434" cy="199502"/>
          </a:xfrm>
          <a:prstGeom prst="line">
            <a:avLst/>
          </a:prstGeom>
          <a:ln w="50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625263" y="2461595"/>
            <a:ext cx="584875" cy="140063"/>
          </a:xfrm>
          <a:prstGeom prst="line">
            <a:avLst/>
          </a:prstGeom>
          <a:ln w="50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625263" y="1790065"/>
            <a:ext cx="0" cy="671530"/>
          </a:xfrm>
          <a:prstGeom prst="line">
            <a:avLst/>
          </a:prstGeom>
          <a:ln w="50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Freeform 57"/>
          <p:cNvSpPr/>
          <p:nvPr/>
        </p:nvSpPr>
        <p:spPr>
          <a:xfrm>
            <a:off x="3289300" y="1905000"/>
            <a:ext cx="825500" cy="723900"/>
          </a:xfrm>
          <a:custGeom>
            <a:avLst/>
            <a:gdLst/>
            <a:ahLst/>
            <a:cxnLst/>
            <a:rect l="l" t="t" r="r" b="b"/>
            <a:pathLst>
              <a:path w="65" h="57">
                <a:moveTo>
                  <a:pt x="26" y="0"/>
                </a:moveTo>
                <a:lnTo>
                  <a:pt x="65" y="53"/>
                </a:lnTo>
                <a:lnTo>
                  <a:pt x="0" y="57"/>
                </a:lnTo>
                <a:lnTo>
                  <a:pt x="26" y="0"/>
                </a:lnTo>
                <a:close/>
              </a:path>
            </a:pathLst>
          </a:custGeom>
          <a:solidFill>
            <a:srgbClr val="7F807F"/>
          </a:solidFill>
          <a:ln w="3175">
            <a:solidFill>
              <a:srgbClr val="7F8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 flipV="1">
            <a:off x="3676786" y="2024773"/>
            <a:ext cx="243375" cy="34309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3670300" y="2349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0" y="2"/>
                </a:moveTo>
                <a:lnTo>
                  <a:pt x="2" y="1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880001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4" name="Picture 6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with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three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inputs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59993" y="74123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three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given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28304" y="1164109"/>
            <a:ext cx="41570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24252" y="1026809"/>
            <a:ext cx="386114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35859" y="1067526"/>
            <a:ext cx="37495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+1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389946" y="1065730"/>
            <a:ext cx="339544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≥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035859" y="1272219"/>
            <a:ext cx="37495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389946" y="1272219"/>
            <a:ext cx="339544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&lt;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53944" y="2300213"/>
            <a:ext cx="3931451" cy="20851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9" b="0">
                <a:solidFill>
                  <a:srgbClr val="000000"/>
                </a:solidFill>
                <a:latin typeface="Cambria Math"/>
              </a:rPr>
              <a:t>Σ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20670" y="2543765"/>
            <a:ext cx="3464725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750668" y="2321776"/>
            <a:ext cx="3034727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433542" y="2153088"/>
            <a:ext cx="4351853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433542" y="2456135"/>
            <a:ext cx="4351853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0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23401" y="2001569"/>
            <a:ext cx="4761994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Cambria Math"/>
              </a:rPr>
              <a:t>x</a:t>
            </a:r>
            <a:r>
              <a:rPr sz="4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23401" y="2607654"/>
            <a:ext cx="4761994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Cambria Math"/>
              </a:rPr>
              <a:t>x</a:t>
            </a:r>
            <a:r>
              <a:rPr sz="490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57518" y="1900062"/>
            <a:ext cx="4827877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82577" y="2047080"/>
            <a:ext cx="4002819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Josefin Sans"/>
              </a:rPr>
              <a:t>Linear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734026" y="2152964"/>
            <a:ext cx="4051369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Josefin Sans"/>
              </a:rPr>
              <a:t>combiner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248137" y="2048253"/>
            <a:ext cx="3537258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Josefin Sans"/>
              </a:rPr>
              <a:t>Hard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230360" y="2154137"/>
            <a:ext cx="3555035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Josefin Sans"/>
              </a:rPr>
              <a:t>limiter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653091" y="2203101"/>
            <a:ext cx="3132304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167619" y="2654964"/>
            <a:ext cx="3617776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Josefin Sans"/>
              </a:rPr>
              <a:t>Threshold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117028" y="2664618"/>
            <a:ext cx="2668367" cy="10737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5" b="0">
                <a:solidFill>
                  <a:srgbClr val="000000"/>
                </a:solidFill>
                <a:latin typeface="Cambria Math"/>
              </a:rPr>
              <a:t>x</a:t>
            </a:r>
            <a:r>
              <a:rPr sz="39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40673" y="2604141"/>
            <a:ext cx="1544722" cy="10737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5" b="0">
                <a:solidFill>
                  <a:srgbClr val="000000"/>
                </a:solidFill>
                <a:latin typeface="Cambria Math"/>
              </a:rPr>
              <a:t>x</a:t>
            </a:r>
            <a:r>
              <a:rPr sz="39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590439" y="1694865"/>
            <a:ext cx="2194956" cy="10737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5" b="0">
                <a:solidFill>
                  <a:srgbClr val="000000"/>
                </a:solidFill>
                <a:latin typeface="Cambria Math"/>
              </a:rPr>
              <a:t>x</a:t>
            </a:r>
            <a:r>
              <a:rPr sz="39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44509" y="1988601"/>
            <a:ext cx="1840886" cy="10737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5" b="0">
                <a:solidFill>
                  <a:srgbClr val="000000"/>
                </a:solidFill>
                <a:latin typeface="Cambria Math"/>
              </a:rPr>
              <a:t>w</a:t>
            </a:r>
            <a:r>
              <a:rPr sz="398" b="0">
                <a:solidFill>
                  <a:srgbClr val="000000"/>
                </a:solidFill>
                <a:latin typeface="Cambria Math"/>
              </a:rPr>
              <a:t>1</a:t>
            </a:r>
            <a:r>
              <a:rPr sz="545" b="0">
                <a:solidFill>
                  <a:srgbClr val="000000"/>
                </a:solidFill>
                <a:latin typeface="Cambria Math"/>
              </a:rPr>
              <a:t>x</a:t>
            </a:r>
            <a:r>
              <a:rPr sz="398" b="0">
                <a:solidFill>
                  <a:srgbClr val="000000"/>
                </a:solidFill>
                <a:latin typeface="Cambria Math"/>
              </a:rPr>
              <a:t>1</a:t>
            </a:r>
            <a:r>
              <a:rPr sz="545" b="0">
                <a:solidFill>
                  <a:srgbClr val="000000"/>
                </a:solidFill>
                <a:latin typeface="Cambria Math"/>
              </a:rPr>
              <a:t> +</a:t>
            </a:r>
            <a:r>
              <a:rPr sz="545" b="0">
                <a:solidFill>
                  <a:srgbClr val="000000"/>
                </a:solidFill>
                <a:latin typeface="Cambria Math"/>
              </a:rPr>
              <a:t> w</a:t>
            </a:r>
            <a:r>
              <a:rPr sz="398" b="0">
                <a:solidFill>
                  <a:srgbClr val="000000"/>
                </a:solidFill>
                <a:latin typeface="Cambria Math"/>
              </a:rPr>
              <a:t>2</a:t>
            </a:r>
            <a:r>
              <a:rPr sz="545" b="0">
                <a:solidFill>
                  <a:srgbClr val="000000"/>
                </a:solidFill>
                <a:latin typeface="Cambria Math"/>
              </a:rPr>
              <a:t>x</a:t>
            </a:r>
            <a:r>
              <a:rPr sz="398" b="0">
                <a:solidFill>
                  <a:srgbClr val="000000"/>
                </a:solidFill>
                <a:latin typeface="Cambria Math"/>
              </a:rPr>
              <a:t>2</a:t>
            </a:r>
            <a:r>
              <a:rPr sz="545" b="0">
                <a:solidFill>
                  <a:srgbClr val="000000"/>
                </a:solidFill>
                <a:latin typeface="Cambria Math"/>
              </a:rPr>
              <a:t> +</a:t>
            </a:r>
            <a:r>
              <a:rPr sz="545" b="0">
                <a:solidFill>
                  <a:srgbClr val="000000"/>
                </a:solidFill>
                <a:latin typeface="Cambria Math"/>
              </a:rPr>
              <a:t> w</a:t>
            </a:r>
            <a:r>
              <a:rPr sz="398" b="0">
                <a:solidFill>
                  <a:srgbClr val="000000"/>
                </a:solidFill>
                <a:latin typeface="Cambria Math"/>
              </a:rPr>
              <a:t>3</a:t>
            </a:r>
            <a:r>
              <a:rPr sz="545" b="0">
                <a:solidFill>
                  <a:srgbClr val="000000"/>
                </a:solidFill>
                <a:latin typeface="Cambria Math"/>
              </a:rPr>
              <a:t>x</a:t>
            </a:r>
            <a:r>
              <a:rPr sz="398" b="0">
                <a:solidFill>
                  <a:srgbClr val="000000"/>
                </a:solidFill>
                <a:latin typeface="Cambria Math"/>
              </a:rPr>
              <a:t>3</a:t>
            </a:r>
            <a:r>
              <a:rPr sz="545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545" b="0">
                <a:solidFill>
                  <a:srgbClr val="000000"/>
                </a:solidFill>
                <a:latin typeface="Cambria Math"/>
              </a:rPr>
              <a:t>θ</a:t>
            </a:r>
            <a:r>
              <a:rPr sz="545" b="0">
                <a:solidFill>
                  <a:srgbClr val="000000"/>
                </a:solidFill>
                <a:latin typeface="Cambria Math"/>
              </a:rPr>
              <a:t> </a:t>
            </a:r>
            <a:r>
              <a:rPr sz="545" b="0">
                <a:solidFill>
                  <a:srgbClr val="000000"/>
                </a:solidFill>
                <a:latin typeface="Cambria Math"/>
              </a:rPr>
              <a:t>= 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901193" y="3150916"/>
            <a:ext cx="8842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40206" y="3150692"/>
            <a:ext cx="145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with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multiple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inputs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72353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Therefore,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 . . 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obtained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09024" y="1271093"/>
            <a:ext cx="377637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04972" y="1003555"/>
            <a:ext cx="34804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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04972" y="1128256"/>
            <a:ext cx="34804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04972" y="1169811"/>
            <a:ext cx="34804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04972" y="1211378"/>
            <a:ext cx="34804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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04972" y="1460768"/>
            <a:ext cx="34804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04972" y="1502322"/>
            <a:ext cx="34804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04972" y="1543889"/>
            <a:ext cx="34804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28124" y="1097954"/>
            <a:ext cx="335727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+1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96081" y="995502"/>
            <a:ext cx="298931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782187" y="1251763"/>
            <a:ext cx="300320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79317" y="1096159"/>
            <a:ext cx="280607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≥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28125" y="1423704"/>
            <a:ext cx="335727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96082" y="1323061"/>
            <a:ext cx="298931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82188" y="1579322"/>
            <a:ext cx="30032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79317" y="1423704"/>
            <a:ext cx="280607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&lt;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9993" y="197658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hyperplane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separate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linearly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separable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993" y="214865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457588" y="2251559"/>
            <a:ext cx="33278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90151" y="2363573"/>
            <a:ext cx="33952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403194" y="2590941"/>
            <a:ext cx="338220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13366" y="2393769"/>
            <a:ext cx="317202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01195" y="3150917"/>
            <a:ext cx="8842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39218" y="3150693"/>
            <a:ext cx="146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How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do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learn?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20810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learning,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data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pairs)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3801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connections.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74302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adjusted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reduce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actual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desired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91510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outputs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01194" y="3150918"/>
            <a:ext cx="8842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39369" y="3150694"/>
            <a:ext cx="1460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1498600" y="1155700"/>
            <a:ext cx="1384300" cy="292100"/>
          </a:xfrm>
          <a:custGeom>
            <a:avLst/>
            <a:gdLst/>
            <a:ahLst/>
            <a:cxnLst/>
            <a:rect l="l" t="t" r="r" b="b"/>
            <a:pathLst>
              <a:path w="109" h="23">
                <a:moveTo>
                  <a:pt x="105" y="0"/>
                </a:move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20"/>
                </a:lnTo>
                <a:lnTo>
                  <a:pt x="0" y="20"/>
                </a:lnTo>
                <a:lnTo>
                  <a:pt x="1" y="21"/>
                </a:lnTo>
                <a:lnTo>
                  <a:pt x="1" y="21"/>
                </a:lnTo>
                <a:lnTo>
                  <a:pt x="1" y="22"/>
                </a:lnTo>
                <a:lnTo>
                  <a:pt x="2" y="22"/>
                </a:lnTo>
                <a:lnTo>
                  <a:pt x="2" y="23"/>
                </a:lnTo>
                <a:lnTo>
                  <a:pt x="3" y="23"/>
                </a:lnTo>
                <a:lnTo>
                  <a:pt x="4" y="23"/>
                </a:lnTo>
                <a:lnTo>
                  <a:pt x="105" y="23"/>
                </a:lnTo>
                <a:lnTo>
                  <a:pt x="106" y="23"/>
                </a:lnTo>
                <a:lnTo>
                  <a:pt x="107" y="23"/>
                </a:lnTo>
                <a:lnTo>
                  <a:pt x="107" y="22"/>
                </a:lnTo>
                <a:lnTo>
                  <a:pt x="108" y="22"/>
                </a:lnTo>
                <a:lnTo>
                  <a:pt x="108" y="21"/>
                </a:lnTo>
                <a:lnTo>
                  <a:pt x="108" y="21"/>
                </a:lnTo>
                <a:lnTo>
                  <a:pt x="109" y="20"/>
                </a:lnTo>
                <a:lnTo>
                  <a:pt x="109" y="20"/>
                </a:lnTo>
                <a:lnTo>
                  <a:pt x="109" y="4"/>
                </a:lnTo>
                <a:lnTo>
                  <a:pt x="109" y="3"/>
                </a:lnTo>
                <a:lnTo>
                  <a:pt x="108" y="2"/>
                </a:lnTo>
                <a:lnTo>
                  <a:pt x="108" y="2"/>
                </a:lnTo>
                <a:lnTo>
                  <a:pt x="108" y="1"/>
                </a:lnTo>
                <a:lnTo>
                  <a:pt x="107" y="1"/>
                </a:lnTo>
                <a:lnTo>
                  <a:pt x="107" y="1"/>
                </a:lnTo>
                <a:lnTo>
                  <a:pt x="106" y="0"/>
                </a:lnTo>
                <a:lnTo>
                  <a:pt x="105" y="0"/>
                </a:lnTo>
                <a:close/>
              </a:path>
            </a:pathLst>
          </a:custGeom>
          <a:solidFill>
            <a:srgbClr val="99AD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498600" y="1447800"/>
            <a:ext cx="1384300" cy="292100"/>
          </a:xfrm>
          <a:custGeom>
            <a:avLst/>
            <a:gdLst/>
            <a:ahLst/>
            <a:cxnLst/>
            <a:rect l="l" t="t" r="r" b="b"/>
            <a:pathLst>
              <a:path w="109" h="23">
                <a:moveTo>
                  <a:pt x="105" y="0"/>
                </a:move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19"/>
                </a:lnTo>
                <a:lnTo>
                  <a:pt x="0" y="20"/>
                </a:lnTo>
                <a:lnTo>
                  <a:pt x="1" y="21"/>
                </a:lnTo>
                <a:lnTo>
                  <a:pt x="1" y="21"/>
                </a:lnTo>
                <a:lnTo>
                  <a:pt x="1" y="22"/>
                </a:lnTo>
                <a:lnTo>
                  <a:pt x="2" y="22"/>
                </a:lnTo>
                <a:lnTo>
                  <a:pt x="2" y="23"/>
                </a:lnTo>
                <a:lnTo>
                  <a:pt x="3" y="23"/>
                </a:lnTo>
                <a:lnTo>
                  <a:pt x="4" y="23"/>
                </a:lnTo>
                <a:lnTo>
                  <a:pt x="105" y="23"/>
                </a:lnTo>
                <a:lnTo>
                  <a:pt x="106" y="23"/>
                </a:lnTo>
                <a:lnTo>
                  <a:pt x="107" y="23"/>
                </a:lnTo>
                <a:lnTo>
                  <a:pt x="107" y="22"/>
                </a:lnTo>
                <a:lnTo>
                  <a:pt x="108" y="22"/>
                </a:lnTo>
                <a:lnTo>
                  <a:pt x="108" y="21"/>
                </a:lnTo>
                <a:lnTo>
                  <a:pt x="108" y="21"/>
                </a:lnTo>
                <a:lnTo>
                  <a:pt x="109" y="20"/>
                </a:lnTo>
                <a:lnTo>
                  <a:pt x="109" y="19"/>
                </a:lnTo>
                <a:lnTo>
                  <a:pt x="109" y="4"/>
                </a:lnTo>
                <a:lnTo>
                  <a:pt x="109" y="3"/>
                </a:lnTo>
                <a:lnTo>
                  <a:pt x="108" y="2"/>
                </a:lnTo>
                <a:lnTo>
                  <a:pt x="108" y="2"/>
                </a:lnTo>
                <a:lnTo>
                  <a:pt x="108" y="1"/>
                </a:lnTo>
                <a:lnTo>
                  <a:pt x="107" y="1"/>
                </a:lnTo>
                <a:lnTo>
                  <a:pt x="107" y="0"/>
                </a:lnTo>
                <a:lnTo>
                  <a:pt x="106" y="0"/>
                </a:lnTo>
                <a:lnTo>
                  <a:pt x="105" y="0"/>
                </a:lnTo>
                <a:close/>
              </a:path>
            </a:pathLst>
          </a:custGeom>
          <a:solidFill>
            <a:srgbClr val="668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2882900" y="1447800"/>
            <a:ext cx="1371600" cy="292100"/>
          </a:xfrm>
          <a:custGeom>
            <a:avLst/>
            <a:gdLst/>
            <a:ahLst/>
            <a:cxnLst/>
            <a:rect l="l" t="t" r="r" b="b"/>
            <a:pathLst>
              <a:path w="108" h="23">
                <a:moveTo>
                  <a:pt x="105" y="0"/>
                </a:move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19"/>
                </a:lnTo>
                <a:lnTo>
                  <a:pt x="0" y="20"/>
                </a:lnTo>
                <a:lnTo>
                  <a:pt x="0" y="21"/>
                </a:lnTo>
                <a:lnTo>
                  <a:pt x="1" y="21"/>
                </a:lnTo>
                <a:lnTo>
                  <a:pt x="1" y="22"/>
                </a:lnTo>
                <a:lnTo>
                  <a:pt x="1" y="22"/>
                </a:lnTo>
                <a:lnTo>
                  <a:pt x="2" y="23"/>
                </a:lnTo>
                <a:lnTo>
                  <a:pt x="3" y="23"/>
                </a:lnTo>
                <a:lnTo>
                  <a:pt x="3" y="23"/>
                </a:lnTo>
                <a:lnTo>
                  <a:pt x="105" y="23"/>
                </a:lnTo>
                <a:lnTo>
                  <a:pt x="106" y="23"/>
                </a:lnTo>
                <a:lnTo>
                  <a:pt x="106" y="23"/>
                </a:lnTo>
                <a:lnTo>
                  <a:pt x="107" y="22"/>
                </a:lnTo>
                <a:lnTo>
                  <a:pt x="107" y="22"/>
                </a:lnTo>
                <a:lnTo>
                  <a:pt x="108" y="21"/>
                </a:lnTo>
                <a:lnTo>
                  <a:pt x="108" y="21"/>
                </a:lnTo>
                <a:lnTo>
                  <a:pt x="108" y="20"/>
                </a:lnTo>
                <a:lnTo>
                  <a:pt x="108" y="19"/>
                </a:lnTo>
                <a:lnTo>
                  <a:pt x="108" y="4"/>
                </a:lnTo>
                <a:lnTo>
                  <a:pt x="108" y="3"/>
                </a:lnTo>
                <a:lnTo>
                  <a:pt x="108" y="2"/>
                </a:lnTo>
                <a:lnTo>
                  <a:pt x="108" y="2"/>
                </a:lnTo>
                <a:lnTo>
                  <a:pt x="107" y="1"/>
                </a:lnTo>
                <a:lnTo>
                  <a:pt x="107" y="1"/>
                </a:lnTo>
                <a:lnTo>
                  <a:pt x="106" y="0"/>
                </a:lnTo>
                <a:lnTo>
                  <a:pt x="106" y="0"/>
                </a:lnTo>
                <a:lnTo>
                  <a:pt x="105" y="0"/>
                </a:lnTo>
                <a:close/>
              </a:path>
            </a:pathLst>
          </a:custGeom>
          <a:solidFill>
            <a:srgbClr val="335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2882900" y="1155700"/>
            <a:ext cx="1371600" cy="292100"/>
          </a:xfrm>
          <a:custGeom>
            <a:avLst/>
            <a:gdLst/>
            <a:ahLst/>
            <a:cxnLst/>
            <a:rect l="l" t="t" r="r" b="b"/>
            <a:pathLst>
              <a:path w="108" h="23">
                <a:moveTo>
                  <a:pt x="105" y="0"/>
                </a:moveTo>
                <a:lnTo>
                  <a:pt x="3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20"/>
                </a:lnTo>
                <a:lnTo>
                  <a:pt x="0" y="20"/>
                </a:lnTo>
                <a:lnTo>
                  <a:pt x="0" y="21"/>
                </a:lnTo>
                <a:lnTo>
                  <a:pt x="1" y="21"/>
                </a:lnTo>
                <a:lnTo>
                  <a:pt x="1" y="22"/>
                </a:lnTo>
                <a:lnTo>
                  <a:pt x="1" y="22"/>
                </a:lnTo>
                <a:lnTo>
                  <a:pt x="2" y="23"/>
                </a:lnTo>
                <a:lnTo>
                  <a:pt x="3" y="23"/>
                </a:lnTo>
                <a:lnTo>
                  <a:pt x="3" y="23"/>
                </a:lnTo>
                <a:lnTo>
                  <a:pt x="105" y="23"/>
                </a:lnTo>
                <a:lnTo>
                  <a:pt x="106" y="23"/>
                </a:lnTo>
                <a:lnTo>
                  <a:pt x="106" y="23"/>
                </a:lnTo>
                <a:lnTo>
                  <a:pt x="107" y="22"/>
                </a:lnTo>
                <a:lnTo>
                  <a:pt x="107" y="22"/>
                </a:lnTo>
                <a:lnTo>
                  <a:pt x="108" y="21"/>
                </a:lnTo>
                <a:lnTo>
                  <a:pt x="108" y="21"/>
                </a:lnTo>
                <a:lnTo>
                  <a:pt x="108" y="20"/>
                </a:lnTo>
                <a:lnTo>
                  <a:pt x="108" y="20"/>
                </a:lnTo>
                <a:lnTo>
                  <a:pt x="108" y="4"/>
                </a:lnTo>
                <a:lnTo>
                  <a:pt x="108" y="3"/>
                </a:lnTo>
                <a:lnTo>
                  <a:pt x="108" y="2"/>
                </a:lnTo>
                <a:lnTo>
                  <a:pt x="108" y="2"/>
                </a:lnTo>
                <a:lnTo>
                  <a:pt x="107" y="1"/>
                </a:lnTo>
                <a:lnTo>
                  <a:pt x="107" y="1"/>
                </a:lnTo>
                <a:lnTo>
                  <a:pt x="106" y="1"/>
                </a:lnTo>
                <a:lnTo>
                  <a:pt x="106" y="0"/>
                </a:lnTo>
                <a:lnTo>
                  <a:pt x="105" y="0"/>
                </a:lnTo>
                <a:close/>
              </a:path>
            </a:pathLst>
          </a:cu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540000" y="11049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7" h="27">
                <a:moveTo>
                  <a:pt x="0" y="27"/>
                </a:moveTo>
                <a:lnTo>
                  <a:pt x="27" y="27"/>
                </a:lnTo>
                <a:lnTo>
                  <a:pt x="27" y="0"/>
                </a:lnTo>
                <a:lnTo>
                  <a:pt x="21" y="0"/>
                </a:lnTo>
                <a:lnTo>
                  <a:pt x="16" y="2"/>
                </a:lnTo>
                <a:lnTo>
                  <a:pt x="12" y="4"/>
                </a:lnTo>
                <a:lnTo>
                  <a:pt x="8" y="8"/>
                </a:lnTo>
                <a:lnTo>
                  <a:pt x="4" y="12"/>
                </a:lnTo>
                <a:lnTo>
                  <a:pt x="2" y="16"/>
                </a:lnTo>
                <a:lnTo>
                  <a:pt x="0" y="22"/>
                </a:lnTo>
                <a:lnTo>
                  <a:pt x="0" y="27"/>
                </a:lnTo>
                <a:close/>
              </a:path>
            </a:pathLst>
          </a:custGeom>
          <a:solidFill>
            <a:srgbClr val="F79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540000" y="14478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7" h="27">
                <a:moveTo>
                  <a:pt x="0" y="0"/>
                </a:moveTo>
                <a:lnTo>
                  <a:pt x="27" y="0"/>
                </a:lnTo>
                <a:lnTo>
                  <a:pt x="27" y="27"/>
                </a:lnTo>
                <a:lnTo>
                  <a:pt x="21" y="27"/>
                </a:lnTo>
                <a:lnTo>
                  <a:pt x="16" y="25"/>
                </a:lnTo>
                <a:lnTo>
                  <a:pt x="12" y="23"/>
                </a:lnTo>
                <a:lnTo>
                  <a:pt x="8" y="19"/>
                </a:lnTo>
                <a:lnTo>
                  <a:pt x="4" y="15"/>
                </a:lnTo>
                <a:lnTo>
                  <a:pt x="2" y="11"/>
                </a:lnTo>
                <a:lnTo>
                  <a:pt x="0" y="6"/>
                </a:lnTo>
                <a:lnTo>
                  <a:pt x="0" y="0"/>
                </a:lnTo>
                <a:close/>
              </a:path>
            </a:pathLst>
          </a:custGeom>
          <a:solidFill>
            <a:srgbClr val="F9A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882900" y="14478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7" h="27">
                <a:moveTo>
                  <a:pt x="27" y="0"/>
                </a:moveTo>
                <a:lnTo>
                  <a:pt x="0" y="0"/>
                </a:lnTo>
                <a:lnTo>
                  <a:pt x="0" y="27"/>
                </a:lnTo>
                <a:lnTo>
                  <a:pt x="5" y="27"/>
                </a:lnTo>
                <a:lnTo>
                  <a:pt x="10" y="25"/>
                </a:lnTo>
                <a:lnTo>
                  <a:pt x="15" y="23"/>
                </a:lnTo>
                <a:lnTo>
                  <a:pt x="19" y="19"/>
                </a:lnTo>
                <a:lnTo>
                  <a:pt x="22" y="15"/>
                </a:lnTo>
                <a:lnTo>
                  <a:pt x="25" y="11"/>
                </a:lnTo>
                <a:lnTo>
                  <a:pt x="26" y="6"/>
                </a:lnTo>
                <a:lnTo>
                  <a:pt x="27" y="0"/>
                </a:lnTo>
                <a:close/>
              </a:path>
            </a:pathLst>
          </a:custGeom>
          <a:solidFill>
            <a:srgbClr val="FAB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2882900" y="11049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7" h="27">
                <a:moveTo>
                  <a:pt x="27" y="27"/>
                </a:moveTo>
                <a:lnTo>
                  <a:pt x="0" y="27"/>
                </a:lnTo>
                <a:lnTo>
                  <a:pt x="0" y="0"/>
                </a:lnTo>
                <a:lnTo>
                  <a:pt x="5" y="0"/>
                </a:lnTo>
                <a:lnTo>
                  <a:pt x="10" y="2"/>
                </a:lnTo>
                <a:lnTo>
                  <a:pt x="15" y="4"/>
                </a:lnTo>
                <a:lnTo>
                  <a:pt x="19" y="8"/>
                </a:lnTo>
                <a:lnTo>
                  <a:pt x="22" y="12"/>
                </a:lnTo>
                <a:lnTo>
                  <a:pt x="25" y="16"/>
                </a:lnTo>
                <a:lnTo>
                  <a:pt x="26" y="22"/>
                </a:lnTo>
                <a:lnTo>
                  <a:pt x="27" y="27"/>
                </a:lnTo>
                <a:close/>
              </a:path>
            </a:pathLst>
          </a:custGeom>
          <a:solidFill>
            <a:srgbClr val="FCD4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2534335" y="1448498"/>
            <a:ext cx="691489" cy="0"/>
          </a:xfrm>
          <a:prstGeom prst="line">
            <a:avLst/>
          </a:prstGeom>
          <a:ln w="418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880080" y="1102754"/>
            <a:ext cx="0" cy="691489"/>
          </a:xfrm>
          <a:prstGeom prst="line">
            <a:avLst/>
          </a:prstGeom>
          <a:ln w="418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523451" y="2564958"/>
            <a:ext cx="0" cy="4464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290036" y="2552096"/>
            <a:ext cx="4464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290036" y="2200264"/>
            <a:ext cx="4464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312360" y="2587282"/>
            <a:ext cx="401261" cy="0"/>
          </a:xfrm>
          <a:prstGeom prst="line">
            <a:avLst/>
          </a:prstGeom>
          <a:ln w="418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2705100" y="2565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 flipV="1">
            <a:off x="2312360" y="2186001"/>
            <a:ext cx="0" cy="401281"/>
          </a:xfrm>
          <a:prstGeom prst="line">
            <a:avLst/>
          </a:prstGeom>
          <a:ln w="418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2298700" y="2159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2347543" y="2552096"/>
            <a:ext cx="175908" cy="0"/>
          </a:xfrm>
          <a:prstGeom prst="line">
            <a:avLst/>
          </a:prstGeom>
          <a:ln w="836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2523451" y="2200264"/>
            <a:ext cx="0" cy="351832"/>
          </a:xfrm>
          <a:prstGeom prst="line">
            <a:avLst/>
          </a:prstGeom>
          <a:ln w="836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523451" y="2200264"/>
            <a:ext cx="175909" cy="0"/>
          </a:xfrm>
          <a:prstGeom prst="line">
            <a:avLst/>
          </a:prstGeom>
          <a:ln w="836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Procedure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training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617947" y="1256505"/>
            <a:ext cx="4167448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Initialisation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17947" y="1545317"/>
            <a:ext cx="4167448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Activation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323500" y="1535699"/>
            <a:ext cx="2461895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Weight</a:t>
            </a:r>
            <a:r>
              <a:rPr sz="901" b="1">
                <a:solidFill>
                  <a:srgbClr val="FFFFFF"/>
                </a:solidFill>
                <a:latin typeface="Josefin Sans"/>
              </a:rPr>
              <a:t> </a:t>
            </a:r>
            <a:r>
              <a:rPr sz="901" b="1">
                <a:solidFill>
                  <a:srgbClr val="FFFFFF"/>
                </a:solidFill>
                <a:latin typeface="Josefin Sans"/>
              </a:rPr>
              <a:t>training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94908" y="1253470"/>
            <a:ext cx="2090487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25409" y="1249953"/>
            <a:ext cx="3059986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700093" y="1540508"/>
            <a:ext cx="3085302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96728" y="1539962"/>
            <a:ext cx="2788667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996728" y="1249953"/>
            <a:ext cx="2788667" cy="1775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1" b="1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62756" y="884809"/>
            <a:ext cx="5022640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Set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initial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weights,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1</a:t>
            </a:r>
            <a:r>
              <a:rPr sz="741" b="0">
                <a:solidFill>
                  <a:srgbClr val="000000"/>
                </a:solidFill>
                <a:latin typeface="Josefin Sans"/>
              </a:rPr>
              <a:t>,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2</a:t>
            </a:r>
            <a:r>
              <a:rPr sz="741" b="0">
                <a:solidFill>
                  <a:srgbClr val="000000"/>
                </a:solidFill>
                <a:latin typeface="Josefin Sans"/>
              </a:rPr>
              <a:t>,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. . . ,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and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threshold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49148" y="999883"/>
            <a:ext cx="4636248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to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numbers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in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[</a:t>
            </a:r>
            <a:r>
              <a:rPr sz="741" b="0">
                <a:solidFill>
                  <a:srgbClr val="000000"/>
                </a:solidFill>
                <a:latin typeface="Cambria Math"/>
              </a:rPr>
              <a:t>−</a:t>
            </a:r>
            <a:r>
              <a:rPr sz="741" b="0">
                <a:solidFill>
                  <a:srgbClr val="000000"/>
                </a:solidFill>
                <a:latin typeface="Cambria Math"/>
              </a:rPr>
              <a:t>0</a:t>
            </a:r>
            <a:r>
              <a:rPr sz="741" b="0">
                <a:solidFill>
                  <a:srgbClr val="000000"/>
                </a:solidFill>
                <a:latin typeface="Cambria Math"/>
              </a:rPr>
              <a:t>.</a:t>
            </a:r>
            <a:r>
              <a:rPr sz="741" b="0">
                <a:solidFill>
                  <a:srgbClr val="000000"/>
                </a:solidFill>
                <a:latin typeface="Cambria Math"/>
              </a:rPr>
              <a:t>5</a:t>
            </a:r>
            <a:r>
              <a:rPr sz="741" b="0">
                <a:solidFill>
                  <a:srgbClr val="000000"/>
                </a:solidFill>
                <a:latin typeface="Cambria Math"/>
              </a:rPr>
              <a:t>,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0</a:t>
            </a:r>
            <a:r>
              <a:rPr sz="741" b="0">
                <a:solidFill>
                  <a:srgbClr val="000000"/>
                </a:solidFill>
                <a:latin typeface="Cambria Math"/>
              </a:rPr>
              <a:t>.</a:t>
            </a:r>
            <a:r>
              <a:rPr sz="741" b="0">
                <a:solidFill>
                  <a:srgbClr val="000000"/>
                </a:solidFill>
                <a:latin typeface="Cambria Math"/>
              </a:rPr>
              <a:t>5]</a:t>
            </a:r>
            <a:r>
              <a:rPr sz="741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79635" y="1793689"/>
            <a:ext cx="4905760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Activate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to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72846" y="1908762"/>
            <a:ext cx="5012549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of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function.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499252" y="2645859"/>
            <a:ext cx="3286143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44624" y="2498781"/>
            <a:ext cx="3640771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154421" y="2159377"/>
            <a:ext cx="3630975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b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8922" y="2202093"/>
            <a:ext cx="4996473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Y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 step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68216" y="2136969"/>
            <a:ext cx="4617179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_x0012_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301298" y="2108932"/>
            <a:ext cx="4484097" cy="972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4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255569" y="2180073"/>
            <a:ext cx="4529826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262940" y="2335677"/>
            <a:ext cx="4522455" cy="972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494" b="0">
                <a:solidFill>
                  <a:srgbClr val="000000"/>
                </a:solidFill>
                <a:latin typeface="Cambria Math"/>
              </a:rPr>
              <a:t>=0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411468" y="2200873"/>
            <a:ext cx="437392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x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768322" y="2136969"/>
            <a:ext cx="4017073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_x0013_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3364" y="2528224"/>
            <a:ext cx="5022031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step(</a:t>
            </a:r>
            <a:r>
              <a:rPr sz="741" b="0">
                <a:solidFill>
                  <a:srgbClr val="000000"/>
                </a:solidFill>
                <a:latin typeface="Cambria Math"/>
              </a:rPr>
              <a:t>x</a:t>
            </a:r>
            <a:r>
              <a:rPr sz="741" b="0">
                <a:solidFill>
                  <a:srgbClr val="000000"/>
                </a:solidFill>
                <a:latin typeface="Cambria Math"/>
              </a:rPr>
              <a:t>) =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84345" y="2434854"/>
            <a:ext cx="4601050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(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262289" y="2463258"/>
            <a:ext cx="4523106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407751" y="2462038"/>
            <a:ext cx="4377644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x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≥</a:t>
            </a:r>
            <a:r>
              <a:rPr sz="741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62289" y="2601348"/>
            <a:ext cx="4523106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b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07657" y="2601348"/>
            <a:ext cx="4377738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x &lt;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94628" y="1793689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error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desired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Y</a:t>
            </a:r>
            <a:r>
              <a:rPr sz="494" b="0">
                <a:solidFill>
                  <a:srgbClr val="000000"/>
                </a:solidFill>
                <a:latin typeface="Cambria Math"/>
              </a:rPr>
              <a:t>d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and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cal-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994628" y="1908762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culated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88607" y="2024194"/>
            <a:ext cx="1896788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e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=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Y</a:t>
            </a:r>
            <a:r>
              <a:rPr sz="494" b="0">
                <a:solidFill>
                  <a:srgbClr val="000000"/>
                </a:solidFill>
                <a:latin typeface="Cambria Math"/>
              </a:rPr>
              <a:t>d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741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994628" y="2247514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(and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  <a:r>
              <a:rPr sz="741" b="0">
                <a:solidFill>
                  <a:srgbClr val="000000"/>
                </a:solidFill>
                <a:latin typeface="Josefin Sans"/>
              </a:rPr>
              <a:t>)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correction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delta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rule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247792" y="2362946"/>
            <a:ext cx="2537603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∆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×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x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×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76186" y="2362946"/>
            <a:ext cx="1509209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∆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× −</a:t>
            </a:r>
            <a:r>
              <a:rPr sz="741" b="0">
                <a:solidFill>
                  <a:srgbClr val="000000"/>
                </a:solidFill>
                <a:latin typeface="Cambria Math"/>
              </a:rPr>
              <a:t>1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×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21356" y="2477661"/>
            <a:ext cx="2664039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(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α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is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rate,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a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constant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less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than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1)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994628" y="2686681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new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of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perceptron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358833" y="2787051"/>
            <a:ext cx="2426562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′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428177" y="2803333"/>
            <a:ext cx="2357218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+ ∆</a:t>
            </a:r>
            <a:r>
              <a:rPr sz="74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4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389979" y="2763337"/>
            <a:ext cx="1395416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  <a:r>
              <a:rPr sz="494" b="0">
                <a:solidFill>
                  <a:srgbClr val="000000"/>
                </a:solidFill>
                <a:latin typeface="Cambria Math"/>
              </a:rPr>
              <a:t>′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</a:t>
            </a:r>
            <a:r>
              <a:rPr sz="741" b="0">
                <a:solidFill>
                  <a:srgbClr val="000000"/>
                </a:solidFill>
                <a:latin typeface="Cambria Math"/>
              </a:rPr>
              <a:t>=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θ</a:t>
            </a:r>
            <a:r>
              <a:rPr sz="741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741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994628" y="775437"/>
            <a:ext cx="2790767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Repeat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292796" y="890500"/>
            <a:ext cx="2492599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1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–</a:t>
            </a:r>
            <a:r>
              <a:rPr sz="741" b="1">
                <a:solidFill>
                  <a:srgbClr val="000000"/>
                </a:solidFill>
                <a:latin typeface="Josefin Sans"/>
              </a:rPr>
              <a:t> </a:t>
            </a:r>
            <a:r>
              <a:rPr sz="741" b="1">
                <a:solidFill>
                  <a:srgbClr val="000000"/>
                </a:solidFill>
                <a:latin typeface="Josefin Sans"/>
              </a:rPr>
              <a:t>Weight</a:t>
            </a:r>
            <a:r>
              <a:rPr sz="741" b="1">
                <a:solidFill>
                  <a:srgbClr val="000000"/>
                </a:solidFill>
                <a:latin typeface="Josefin Sans"/>
              </a:rPr>
              <a:t> </a:t>
            </a:r>
            <a:r>
              <a:rPr sz="741" b="1">
                <a:solidFill>
                  <a:srgbClr val="000000"/>
                </a:solidFill>
                <a:latin typeface="Josefin Sans"/>
              </a:rPr>
              <a:t>training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–</a:t>
            </a:r>
            <a:r>
              <a:rPr sz="741" b="1">
                <a:solidFill>
                  <a:srgbClr val="000000"/>
                </a:solidFill>
                <a:latin typeface="Josefin Sans"/>
              </a:rPr>
              <a:t> </a:t>
            </a:r>
            <a:r>
              <a:rPr sz="741" b="1">
                <a:solidFill>
                  <a:srgbClr val="000000"/>
                </a:solidFill>
                <a:latin typeface="Josefin Sans"/>
              </a:rPr>
              <a:t>Iteration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035256" y="1005574"/>
            <a:ext cx="1750140" cy="1459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1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741" b="0">
                <a:solidFill>
                  <a:srgbClr val="000000"/>
                </a:solidFill>
                <a:latin typeface="Josefin Sans"/>
              </a:rPr>
              <a:t> </a:t>
            </a:r>
            <a:r>
              <a:rPr sz="741" b="0">
                <a:solidFill>
                  <a:srgbClr val="000000"/>
                </a:solidFill>
                <a:latin typeface="Josefin Sans"/>
              </a:rPr>
              <a:t>(convergence)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901196" y="3150917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38685" y="3150693"/>
            <a:ext cx="1467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864476" y="935851"/>
            <a:ext cx="622922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487398" y="935851"/>
            <a:ext cx="648119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64476" y="1158533"/>
            <a:ext cx="311454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75943" y="1158533"/>
            <a:ext cx="311454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487398" y="1158533"/>
            <a:ext cx="648119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64476" y="1608964"/>
            <a:ext cx="311454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75943" y="1608964"/>
            <a:ext cx="311454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487398" y="1608964"/>
            <a:ext cx="648119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64476" y="2054340"/>
            <a:ext cx="311454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75943" y="2054340"/>
            <a:ext cx="311454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487398" y="2054340"/>
            <a:ext cx="648119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864476" y="1383755"/>
            <a:ext cx="31145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75943" y="1383755"/>
            <a:ext cx="31145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487398" y="1383755"/>
            <a:ext cx="64811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4673104" y="1562293"/>
            <a:ext cx="185677" cy="185677"/>
          </a:xfrm>
          <a:prstGeom prst="rect">
            <a:avLst/>
          </a:prstGeom>
          <a:noFill/>
          <a:ln w="3892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4710562" y="1710505"/>
            <a:ext cx="55377" cy="0"/>
          </a:xfrm>
          <a:prstGeom prst="line">
            <a:avLst/>
          </a:prstGeom>
          <a:ln w="389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765939" y="1599752"/>
            <a:ext cx="0" cy="110753"/>
          </a:xfrm>
          <a:prstGeom prst="line">
            <a:avLst/>
          </a:prstGeom>
          <a:ln w="389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4765939" y="1599752"/>
            <a:ext cx="55376" cy="0"/>
          </a:xfrm>
          <a:prstGeom prst="line">
            <a:avLst/>
          </a:prstGeom>
          <a:ln w="389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4703934" y="1859502"/>
            <a:ext cx="124015" cy="145031"/>
          </a:xfrm>
          <a:prstGeom prst="rect">
            <a:avLst/>
          </a:prstGeom>
          <a:noFill/>
          <a:ln w="3892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3262436" y="1309446"/>
            <a:ext cx="298911" cy="108801"/>
          </a:xfrm>
          <a:prstGeom prst="line">
            <a:avLst/>
          </a:prstGeom>
          <a:ln w="389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3543300" y="1397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 flipV="1">
            <a:off x="3262436" y="1892016"/>
            <a:ext cx="298911" cy="108801"/>
          </a:xfrm>
          <a:prstGeom prst="line">
            <a:avLst/>
          </a:prstGeom>
          <a:ln w="389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Freeform 57"/>
          <p:cNvSpPr/>
          <p:nvPr/>
        </p:nvSpPr>
        <p:spPr>
          <a:xfrm>
            <a:off x="3543300" y="1879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3803946" y="1506548"/>
            <a:ext cx="265912" cy="96784"/>
          </a:xfrm>
          <a:prstGeom prst="line">
            <a:avLst/>
          </a:prstGeom>
          <a:ln w="389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4051300" y="1587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3803946" y="1706930"/>
            <a:ext cx="265912" cy="96785"/>
          </a:xfrm>
          <a:prstGeom prst="line">
            <a:avLst/>
          </a:prstGeom>
          <a:ln w="389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reeform 61"/>
          <p:cNvSpPr/>
          <p:nvPr/>
        </p:nvSpPr>
        <p:spPr>
          <a:xfrm>
            <a:off x="4051300" y="1701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4344155" y="1655131"/>
            <a:ext cx="307540" cy="0"/>
          </a:xfrm>
          <a:prstGeom prst="line">
            <a:avLst/>
          </a:prstGeom>
          <a:ln w="389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 63"/>
          <p:cNvSpPr/>
          <p:nvPr/>
        </p:nvSpPr>
        <p:spPr>
          <a:xfrm>
            <a:off x="4635500" y="1638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 flipV="1">
            <a:off x="4765942" y="1769379"/>
            <a:ext cx="0" cy="88177"/>
          </a:xfrm>
          <a:prstGeom prst="line">
            <a:avLst/>
          </a:prstGeom>
          <a:ln w="389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47498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4860727" y="1655131"/>
            <a:ext cx="359292" cy="0"/>
          </a:xfrm>
          <a:prstGeom prst="line">
            <a:avLst/>
          </a:prstGeom>
          <a:ln w="389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Freeform 67"/>
          <p:cNvSpPr/>
          <p:nvPr/>
        </p:nvSpPr>
        <p:spPr>
          <a:xfrm>
            <a:off x="5207000" y="1638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Learn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the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AND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logical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operation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using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perceptron.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1557" y="971418"/>
            <a:ext cx="48038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Inputs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652270" y="971418"/>
            <a:ext cx="41331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AND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40396" y="1196013"/>
            <a:ext cx="48449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51851" y="1196013"/>
            <a:ext cx="45335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563319" y="1194217"/>
            <a:ext cx="42220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∩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77328" y="1421440"/>
            <a:ext cx="48080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88779" y="1421440"/>
            <a:ext cx="449661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768562" y="1421440"/>
            <a:ext cx="40168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77328" y="1644122"/>
            <a:ext cx="48080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309852" y="1644122"/>
            <a:ext cx="447554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768576" y="1644122"/>
            <a:ext cx="401681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98384" y="1866804"/>
            <a:ext cx="478701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88776" y="1866804"/>
            <a:ext cx="449661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768559" y="1866804"/>
            <a:ext cx="40168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98385" y="2089486"/>
            <a:ext cx="478701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309852" y="2089486"/>
            <a:ext cx="447554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89633" y="2089486"/>
            <a:ext cx="399576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156043" y="1581304"/>
            <a:ext cx="1629352" cy="260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0">
                <a:solidFill>
                  <a:srgbClr val="000000"/>
                </a:solidFill>
                <a:latin typeface="Cambria Math"/>
              </a:rPr>
              <a:t>Σ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39446" y="1885732"/>
            <a:ext cx="1045949" cy="16516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276930" y="1608258"/>
            <a:ext cx="508465" cy="16516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30544" y="1397400"/>
            <a:ext cx="2154851" cy="16516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Cambria Math"/>
              </a:rPr>
              <a:t>w</a:t>
            </a:r>
            <a:r>
              <a:rPr sz="612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630544" y="1776205"/>
            <a:ext cx="2154851" cy="16516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Cambria Math"/>
              </a:rPr>
              <a:t>w</a:t>
            </a:r>
            <a:r>
              <a:rPr sz="612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117860" y="1207992"/>
            <a:ext cx="2667535" cy="16516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Cambria Math"/>
              </a:rPr>
              <a:t>x</a:t>
            </a:r>
            <a:r>
              <a:rPr sz="612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117860" y="1965604"/>
            <a:ext cx="2667535" cy="16516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Cambria Math"/>
              </a:rPr>
              <a:t>x</a:t>
            </a:r>
            <a:r>
              <a:rPr sz="612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035508" y="1081109"/>
            <a:ext cx="2749887" cy="16516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066824" y="1264891"/>
            <a:ext cx="1718571" cy="16516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Josefin Sans"/>
              </a:rPr>
              <a:t>Linear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006146" y="1397235"/>
            <a:ext cx="1779249" cy="16516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Josefin Sans"/>
              </a:rPr>
              <a:t>combiner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648781" y="1266356"/>
            <a:ext cx="1136614" cy="16516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Josefin Sans"/>
              </a:rPr>
              <a:t>Hard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626559" y="1398700"/>
            <a:ext cx="1158836" cy="16516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Josefin Sans"/>
              </a:rPr>
              <a:t>limiter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154969" y="1459915"/>
            <a:ext cx="630426" cy="16516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548134" y="2024739"/>
            <a:ext cx="1237262" cy="16516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Josefin Sans"/>
              </a:rPr>
              <a:t>Threshold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901194" y="3150931"/>
            <a:ext cx="8842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38531" y="3150707"/>
            <a:ext cx="1468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1319" y="1181168"/>
            <a:ext cx="52840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1.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Initialisation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–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w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w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896" b="0">
                <a:solidFill>
                  <a:srgbClr val="000000"/>
                </a:solidFill>
                <a:latin typeface="Josefin Sans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[</a:t>
            </a:r>
            <a:r>
              <a:rPr sz="8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896" b="0">
                <a:solidFill>
                  <a:srgbClr val="000000"/>
                </a:solidFill>
                <a:latin typeface="Cambria Math"/>
              </a:rPr>
              <a:t>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5]</a:t>
            </a:r>
            <a:r>
              <a:rPr sz="896" b="0">
                <a:solidFill>
                  <a:srgbClr val="000000"/>
                </a:solidFill>
                <a:latin typeface="Josefin Sans"/>
              </a:rPr>
              <a:t>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4712" y="1439282"/>
            <a:ext cx="531068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2.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–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2909" y="1697384"/>
            <a:ext cx="53124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3.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–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896" b="0">
                <a:solidFill>
                  <a:srgbClr val="000000"/>
                </a:solidFill>
                <a:latin typeface="Cambria Math"/>
              </a:rPr>
              <a:t>w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896" b="0">
                <a:solidFill>
                  <a:srgbClr val="000000"/>
                </a:solidFill>
                <a:latin typeface="Josefin Sans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∆</a:t>
            </a:r>
            <a:r>
              <a:rPr sz="8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896" b="0">
                <a:solidFill>
                  <a:srgbClr val="000000"/>
                </a:solidFill>
                <a:latin typeface="Josefin Sans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w</a:t>
            </a:r>
            <a:r>
              <a:rPr sz="597" b="0">
                <a:solidFill>
                  <a:srgbClr val="000000"/>
                </a:solidFill>
                <a:latin typeface="Cambria Math"/>
              </a:rPr>
              <a:t>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55530" y="1699296"/>
            <a:ext cx="292986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896" b="0">
                <a:solidFill>
                  <a:srgbClr val="000000"/>
                </a:solidFill>
                <a:latin typeface="Josefin Sans"/>
              </a:rPr>
              <a:t>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θ</a:t>
            </a:r>
            <a:r>
              <a:rPr sz="597" b="0">
                <a:solidFill>
                  <a:srgbClr val="000000"/>
                </a:solidFill>
                <a:latin typeface="Cambria Math"/>
              </a:rPr>
              <a:t>′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3188" y="1955499"/>
            <a:ext cx="531220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4.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01196" y="3150917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42558" y="3150693"/>
            <a:ext cx="1428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59993" y="514273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26363" y="51427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74648" y="514273"/>
            <a:ext cx="62810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802740" y="514272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16482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158631" y="514273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9749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43807" y="514273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457856" y="514273"/>
            <a:ext cx="94214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59998" y="628141"/>
            <a:ext cx="366369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26366" y="628142"/>
            <a:ext cx="448284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74651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488695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802741" y="628141"/>
            <a:ext cx="413740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216482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530538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4458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58627" y="628142"/>
            <a:ext cx="671118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829746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43804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457847" y="628142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771893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085951" y="628141"/>
            <a:ext cx="314045" cy="11386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59990" y="74201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26361" y="74202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74648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48869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802734" y="742010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21647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530535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844581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158627" y="74201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29749" y="74201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143804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457850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771896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085942" y="74201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26362" y="85589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74648" y="85589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488692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802738" y="85589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21647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530538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84458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158630" y="85589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829749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143804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457850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771896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085951" y="8558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26356" y="96975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17463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488686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802728" y="96975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21646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530516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844575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158621" y="96975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829737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143792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457838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771884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085929" y="96975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726350" y="10836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74635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488679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802725" y="10836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216466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530526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44572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158618" y="10836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82974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143798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457844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771890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085951" y="10836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59983" y="165299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26354" y="165300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174642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488686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802728" y="165300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216469" y="165300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530526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844575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158624" y="1652990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829743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143798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457844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771890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5085936" y="1652990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26356" y="176687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17464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488686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802731" y="176687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21647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53053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844581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158630" y="17668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829749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143804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457850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771896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085942" y="17668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726362" y="188073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174648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48869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802734" y="188073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216475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53053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844581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158630" y="188073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829749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143811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457856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4771902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5085948" y="188073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726371" y="19946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174657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488704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802750" y="19946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2216491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2530551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44600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158646" y="19946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829765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4143823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4457869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771915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085976" y="19946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60030" y="2563970"/>
            <a:ext cx="366369" cy="45549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726400" y="2563983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1174685" y="2563984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488729" y="2563983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802772" y="2563983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216513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530569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844619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158664" y="256397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829786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143842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457887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771933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5085979" y="256397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26399" y="2677851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174685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488729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1802775" y="2677851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216516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530576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2844625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158671" y="2677851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829786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143842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457887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771933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085979" y="2677851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726399" y="279171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1174682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1488729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1802772" y="279171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2216513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2530569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2844619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3158664" y="279171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3829783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4143842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4457887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4771933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5085979" y="279171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726399" y="2905599"/>
            <a:ext cx="448284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1174685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1488729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1802775" y="2905598"/>
            <a:ext cx="413740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2216516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2530576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2844625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158671" y="2905598"/>
            <a:ext cx="671118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3829789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143848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4457894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4771940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5085985" y="2905598"/>
            <a:ext cx="314045" cy="1138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42" y="314673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2880046" y="314673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0" name="Picture 21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21" name="Picture 2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22" name="TextBox 22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learning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process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for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108000" y="361460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α</a:t>
            </a:r>
            <a:r>
              <a:rPr sz="896" b="0">
                <a:solidFill>
                  <a:srgbClr val="003373"/>
                </a:solidFill>
                <a:latin typeface="Cambria Math"/>
              </a:rPr>
              <a:t> = 0</a:t>
            </a:r>
            <a:r>
              <a:rPr sz="896" b="0">
                <a:solidFill>
                  <a:srgbClr val="003373"/>
                </a:solidFill>
                <a:latin typeface="Cambria Math"/>
              </a:rPr>
              <a:t>.</a:t>
            </a:r>
            <a:r>
              <a:rPr sz="896" b="0">
                <a:solidFill>
                  <a:srgbClr val="003373"/>
                </a:solidFill>
                <a:latin typeface="Cambria Math"/>
              </a:rPr>
              <a:t>1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35914" y="528532"/>
            <a:ext cx="53494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Epoch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802284" y="528532"/>
            <a:ext cx="49831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1382193" y="528532"/>
            <a:ext cx="44032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Inputs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878662" y="528532"/>
            <a:ext cx="39067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Desired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329384" y="528532"/>
            <a:ext cx="34560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Weights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&amp;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Threshold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3905670" y="528532"/>
            <a:ext cx="18797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CalculatedError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4734093" y="528532"/>
            <a:ext cx="10513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Corrections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1274587" y="643462"/>
            <a:ext cx="45108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1588633" y="643462"/>
            <a:ext cx="41967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949172" y="643462"/>
            <a:ext cx="38362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  <a:r>
              <a:rPr sz="498" b="0">
                <a:solidFill>
                  <a:srgbClr val="FFFFFF"/>
                </a:solidFill>
                <a:latin typeface="Cambria Math"/>
              </a:rPr>
              <a:t>d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2307668" y="643462"/>
            <a:ext cx="3477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2621711" y="643462"/>
            <a:ext cx="31636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2974502" y="643462"/>
            <a:ext cx="28108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3234548" y="586515"/>
            <a:ext cx="25508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P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x</a:t>
            </a:r>
            <a:r>
              <a:rPr sz="498" b="0">
                <a:solidFill>
                  <a:srgbClr val="FFFFFF"/>
                </a:solidFill>
                <a:latin typeface="Cambria Math"/>
              </a:rPr>
              <a:t>i</a:t>
            </a:r>
            <a:r>
              <a:rPr sz="597" b="0">
                <a:solidFill>
                  <a:srgbClr val="FFFFFF"/>
                </a:solidFill>
                <a:latin typeface="Cambria Math"/>
              </a:rPr>
              <a:t> </a:t>
            </a:r>
            <a:r>
              <a:rPr sz="597" b="0">
                <a:solidFill>
                  <a:srgbClr val="FFFFFF"/>
                </a:solidFill>
                <a:latin typeface="Cambria Math"/>
              </a:rPr>
              <a:t>−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3944325" y="643462"/>
            <a:ext cx="184107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Y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275197" y="643462"/>
            <a:ext cx="1510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e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533755" y="643462"/>
            <a:ext cx="12516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4847814" y="643462"/>
            <a:ext cx="9375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w</a:t>
            </a:r>
            <a:r>
              <a:rPr sz="498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5172464" y="643462"/>
            <a:ext cx="6129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Cambria Math"/>
              </a:rPr>
              <a:t>∆</a:t>
            </a:r>
            <a:r>
              <a:rPr sz="597" b="0">
                <a:solidFill>
                  <a:srgbClr val="FFFFFF"/>
                </a:solidFill>
                <a:latin typeface="Cambria Math"/>
              </a:rPr>
              <a:t>θ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531224" y="926873"/>
            <a:ext cx="525417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938555" y="756058"/>
            <a:ext cx="48468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1308175" y="756058"/>
            <a:ext cx="44772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622218" y="756058"/>
            <a:ext cx="4163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986109" y="756058"/>
            <a:ext cx="37992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2331791" y="756058"/>
            <a:ext cx="34536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2634370" y="756058"/>
            <a:ext cx="31510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2952112" y="756058"/>
            <a:ext cx="2833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3433227" y="756058"/>
            <a:ext cx="23521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3963275" y="756058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4277334" y="756058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591380" y="756058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4905426" y="756058"/>
            <a:ext cx="8799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5219484" y="756058"/>
            <a:ext cx="5659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931265" y="869926"/>
            <a:ext cx="48541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1308175" y="869926"/>
            <a:ext cx="44772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633765" y="869926"/>
            <a:ext cx="41516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986112" y="869926"/>
            <a:ext cx="3799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2331794" y="869926"/>
            <a:ext cx="34536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634374" y="869926"/>
            <a:ext cx="31510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2952115" y="869926"/>
            <a:ext cx="28332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3434715" y="869926"/>
            <a:ext cx="23506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-0.4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3963275" y="869926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4277334" y="869926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4591380" y="869926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905423" y="869926"/>
            <a:ext cx="8799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5219478" y="869926"/>
            <a:ext cx="5659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930763" y="983806"/>
            <a:ext cx="48546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1319697" y="983806"/>
            <a:ext cx="44656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1622212" y="983806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1986103" y="983806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2331784" y="983806"/>
            <a:ext cx="34536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2634364" y="983806"/>
            <a:ext cx="31510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2952106" y="983806"/>
            <a:ext cx="2833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3433714" y="983806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3963263" y="983806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4277321" y="983806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4591367" y="983806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4905413" y="983806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5219472" y="983806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930834" y="1097673"/>
            <a:ext cx="48545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1319707" y="1097673"/>
            <a:ext cx="44656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633752" y="1097673"/>
            <a:ext cx="41516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1997643" y="1097673"/>
            <a:ext cx="378775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2331781" y="1097673"/>
            <a:ext cx="34536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2634361" y="1097673"/>
            <a:ext cx="31510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2952103" y="1097673"/>
            <a:ext cx="2833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3433218" y="1097673"/>
            <a:ext cx="2352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3963269" y="1097673"/>
            <a:ext cx="18221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4288859" y="1097673"/>
            <a:ext cx="14965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4573148" y="1097673"/>
            <a:ext cx="12122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4887207" y="1097673"/>
            <a:ext cx="8981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5189787" y="1097673"/>
            <a:ext cx="5956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23933" y="1382357"/>
            <a:ext cx="52614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930499" y="1211542"/>
            <a:ext cx="48548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1308169" y="1211542"/>
            <a:ext cx="4477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1622212" y="1211542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1986103" y="1211542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2324495" y="1211542"/>
            <a:ext cx="34609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2664052" y="1211542"/>
            <a:ext cx="31213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2952584" y="1211542"/>
            <a:ext cx="2832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3433714" y="1211542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963263" y="1211542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4277321" y="1211542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4591367" y="1211542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4905413" y="1211542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5219472" y="1211542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930412" y="1325422"/>
            <a:ext cx="48549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1308163" y="1325422"/>
            <a:ext cx="44772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1633752" y="1325422"/>
            <a:ext cx="41516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1986100" y="1325422"/>
            <a:ext cx="37992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2324492" y="1325422"/>
            <a:ext cx="346090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2664052" y="1325422"/>
            <a:ext cx="31213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2952584" y="1325422"/>
            <a:ext cx="2832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3433714" y="1325422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3963263" y="1325422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4277321" y="1325422"/>
            <a:ext cx="15080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4591367" y="1325422"/>
            <a:ext cx="11940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4905413" y="1325422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5219472" y="1325422"/>
            <a:ext cx="565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932422" y="1439290"/>
            <a:ext cx="48529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1319707" y="1439290"/>
            <a:ext cx="44656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1622206" y="1439290"/>
            <a:ext cx="4163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1986097" y="1439290"/>
            <a:ext cx="37992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2324489" y="1439290"/>
            <a:ext cx="34609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2664046" y="1439290"/>
            <a:ext cx="31213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2952577" y="1439290"/>
            <a:ext cx="28328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3470676" y="1439290"/>
            <a:ext cx="23147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3974803" y="1439290"/>
            <a:ext cx="18105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4277396" y="1439290"/>
            <a:ext cx="15079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-1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4561685" y="1439290"/>
            <a:ext cx="12237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4905413" y="1439290"/>
            <a:ext cx="8799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5201246" y="1439290"/>
            <a:ext cx="5841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930989" y="1553170"/>
            <a:ext cx="48544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1319697" y="1553170"/>
            <a:ext cx="44656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1633759" y="1553170"/>
            <a:ext cx="41516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1997650" y="1553170"/>
            <a:ext cx="378774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2331787" y="1553170"/>
            <a:ext cx="34536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2664059" y="1553170"/>
            <a:ext cx="31213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2952106" y="1553170"/>
            <a:ext cx="2833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3433714" y="1553170"/>
            <a:ext cx="23516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3963263" y="1553170"/>
            <a:ext cx="18221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4288852" y="1553170"/>
            <a:ext cx="14965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4573142" y="1553170"/>
            <a:ext cx="12122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4887200" y="1553170"/>
            <a:ext cx="8981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5189780" y="1553170"/>
            <a:ext cx="5956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23433" y="1837853"/>
            <a:ext cx="52619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930419" y="1667039"/>
            <a:ext cx="48549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351" name="TextBox 350"/>
          <p:cNvSpPr txBox="1"/>
          <p:nvPr/>
        </p:nvSpPr>
        <p:spPr>
          <a:xfrm>
            <a:off x="1308169" y="1667039"/>
            <a:ext cx="4477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1622212" y="1667039"/>
            <a:ext cx="4163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1986103" y="1667039"/>
            <a:ext cx="3799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4" name="TextBox 353"/>
          <p:cNvSpPr txBox="1"/>
          <p:nvPr/>
        </p:nvSpPr>
        <p:spPr>
          <a:xfrm>
            <a:off x="2324495" y="1667039"/>
            <a:ext cx="34609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2645830" y="1667039"/>
            <a:ext cx="31395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2952590" y="1667039"/>
            <a:ext cx="28328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3433720" y="1667039"/>
            <a:ext cx="23516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3963269" y="1667039"/>
            <a:ext cx="18221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4277328" y="1667039"/>
            <a:ext cx="15080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4591374" y="1667039"/>
            <a:ext cx="11940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4905419" y="1667039"/>
            <a:ext cx="8799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5219478" y="1667039"/>
            <a:ext cx="5659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915040" y="1780906"/>
            <a:ext cx="48703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1308169" y="1780906"/>
            <a:ext cx="4477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1633759" y="1780906"/>
            <a:ext cx="41516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1986106" y="1780906"/>
            <a:ext cx="3799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2324498" y="1780906"/>
            <a:ext cx="34608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2645836" y="1780906"/>
            <a:ext cx="313955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2952596" y="1780906"/>
            <a:ext cx="28327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3441016" y="1780906"/>
            <a:ext cx="23443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3963275" y="1780906"/>
            <a:ext cx="18221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4277334" y="1780906"/>
            <a:ext cx="15080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4591380" y="1780906"/>
            <a:ext cx="11940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4905426" y="1780906"/>
            <a:ext cx="8799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5219484" y="1780906"/>
            <a:ext cx="5659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926589" y="1894786"/>
            <a:ext cx="48588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11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1319719" y="1894786"/>
            <a:ext cx="44656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1622218" y="1894786"/>
            <a:ext cx="4163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1986109" y="1894786"/>
            <a:ext cx="37992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2324501" y="1894786"/>
            <a:ext cx="34608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2645836" y="1894786"/>
            <a:ext cx="313955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2952596" y="1894786"/>
            <a:ext cx="28327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383" name="TextBox 382"/>
          <p:cNvSpPr txBox="1"/>
          <p:nvPr/>
        </p:nvSpPr>
        <p:spPr>
          <a:xfrm>
            <a:off x="3470695" y="1894786"/>
            <a:ext cx="23147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3974822" y="1894786"/>
            <a:ext cx="18105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4277414" y="1894786"/>
            <a:ext cx="15079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-1</a:t>
            </a:r>
          </a:p>
        </p:txBody>
      </p:sp>
      <p:sp>
        <p:nvSpPr>
          <p:cNvPr id="386" name="TextBox 385"/>
          <p:cNvSpPr txBox="1"/>
          <p:nvPr/>
        </p:nvSpPr>
        <p:spPr>
          <a:xfrm>
            <a:off x="4561704" y="1894786"/>
            <a:ext cx="122369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87" name="TextBox 386"/>
          <p:cNvSpPr txBox="1"/>
          <p:nvPr/>
        </p:nvSpPr>
        <p:spPr>
          <a:xfrm>
            <a:off x="4905432" y="1894786"/>
            <a:ext cx="8799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88" name="TextBox 387"/>
          <p:cNvSpPr txBox="1"/>
          <p:nvPr/>
        </p:nvSpPr>
        <p:spPr>
          <a:xfrm>
            <a:off x="5201265" y="1894786"/>
            <a:ext cx="5841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89" name="TextBox 388"/>
          <p:cNvSpPr txBox="1"/>
          <p:nvPr/>
        </p:nvSpPr>
        <p:spPr>
          <a:xfrm>
            <a:off x="919309" y="2008653"/>
            <a:ext cx="48660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12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319716" y="2008653"/>
            <a:ext cx="44656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1633777" y="2008653"/>
            <a:ext cx="41516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1997668" y="2008653"/>
            <a:ext cx="3787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93" name="TextBox 392"/>
          <p:cNvSpPr txBox="1"/>
          <p:nvPr/>
        </p:nvSpPr>
        <p:spPr>
          <a:xfrm>
            <a:off x="2331806" y="2008653"/>
            <a:ext cx="34535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2645855" y="2008653"/>
            <a:ext cx="31395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2952131" y="2008653"/>
            <a:ext cx="28332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396" name="TextBox 395"/>
          <p:cNvSpPr txBox="1"/>
          <p:nvPr/>
        </p:nvSpPr>
        <p:spPr>
          <a:xfrm>
            <a:off x="3441031" y="2008653"/>
            <a:ext cx="23443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97" name="TextBox 396"/>
          <p:cNvSpPr txBox="1"/>
          <p:nvPr/>
        </p:nvSpPr>
        <p:spPr>
          <a:xfrm>
            <a:off x="3963294" y="2008653"/>
            <a:ext cx="18221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4288883" y="2008653"/>
            <a:ext cx="14965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4573173" y="2008653"/>
            <a:ext cx="12122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4887231" y="2008653"/>
            <a:ext cx="8981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01" name="TextBox 400"/>
          <p:cNvSpPr txBox="1"/>
          <p:nvPr/>
        </p:nvSpPr>
        <p:spPr>
          <a:xfrm>
            <a:off x="5189811" y="2008653"/>
            <a:ext cx="5955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402" name="TextBox 401"/>
          <p:cNvSpPr txBox="1"/>
          <p:nvPr/>
        </p:nvSpPr>
        <p:spPr>
          <a:xfrm>
            <a:off x="523540" y="2293337"/>
            <a:ext cx="52618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918829" y="2122522"/>
            <a:ext cx="486656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13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1308197" y="2122522"/>
            <a:ext cx="4477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05" name="TextBox 404"/>
          <p:cNvSpPr txBox="1"/>
          <p:nvPr/>
        </p:nvSpPr>
        <p:spPr>
          <a:xfrm>
            <a:off x="1622240" y="2122522"/>
            <a:ext cx="41631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1986131" y="2122522"/>
            <a:ext cx="37992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2324523" y="2122522"/>
            <a:ext cx="346087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08" name="TextBox 407"/>
          <p:cNvSpPr txBox="1"/>
          <p:nvPr/>
        </p:nvSpPr>
        <p:spPr>
          <a:xfrm>
            <a:off x="2638572" y="2122522"/>
            <a:ext cx="31468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2952618" y="2122522"/>
            <a:ext cx="28327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3433745" y="2122522"/>
            <a:ext cx="235165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3963294" y="2122522"/>
            <a:ext cx="18221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2" name="TextBox 411"/>
          <p:cNvSpPr txBox="1"/>
          <p:nvPr/>
        </p:nvSpPr>
        <p:spPr>
          <a:xfrm>
            <a:off x="4277352" y="2122522"/>
            <a:ext cx="15080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4591398" y="2122522"/>
            <a:ext cx="11939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4" name="TextBox 413"/>
          <p:cNvSpPr txBox="1"/>
          <p:nvPr/>
        </p:nvSpPr>
        <p:spPr>
          <a:xfrm>
            <a:off x="4905444" y="2122522"/>
            <a:ext cx="8799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5" name="TextBox 414"/>
          <p:cNvSpPr txBox="1"/>
          <p:nvPr/>
        </p:nvSpPr>
        <p:spPr>
          <a:xfrm>
            <a:off x="5219503" y="2122522"/>
            <a:ext cx="5658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6" name="TextBox 415"/>
          <p:cNvSpPr txBox="1"/>
          <p:nvPr/>
        </p:nvSpPr>
        <p:spPr>
          <a:xfrm>
            <a:off x="918900" y="2236402"/>
            <a:ext cx="48664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14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1308194" y="2236402"/>
            <a:ext cx="44772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1633783" y="2236402"/>
            <a:ext cx="41516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1986131" y="2236402"/>
            <a:ext cx="37992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2324523" y="2236402"/>
            <a:ext cx="346087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2638572" y="2236402"/>
            <a:ext cx="31468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2952618" y="2236402"/>
            <a:ext cx="28327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23" name="TextBox 422"/>
          <p:cNvSpPr txBox="1"/>
          <p:nvPr/>
        </p:nvSpPr>
        <p:spPr>
          <a:xfrm>
            <a:off x="3470713" y="2236402"/>
            <a:ext cx="23146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3974841" y="2236402"/>
            <a:ext cx="18105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25" name="TextBox 424"/>
          <p:cNvSpPr txBox="1"/>
          <p:nvPr/>
        </p:nvSpPr>
        <p:spPr>
          <a:xfrm>
            <a:off x="4277433" y="2236402"/>
            <a:ext cx="15079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-1</a:t>
            </a:r>
          </a:p>
        </p:txBody>
      </p:sp>
      <p:sp>
        <p:nvSpPr>
          <p:cNvPr id="426" name="TextBox 425"/>
          <p:cNvSpPr txBox="1"/>
          <p:nvPr/>
        </p:nvSpPr>
        <p:spPr>
          <a:xfrm>
            <a:off x="4591405" y="2236402"/>
            <a:ext cx="119399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27" name="TextBox 426"/>
          <p:cNvSpPr txBox="1"/>
          <p:nvPr/>
        </p:nvSpPr>
        <p:spPr>
          <a:xfrm>
            <a:off x="4875769" y="2236402"/>
            <a:ext cx="9096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428" name="TextBox 427"/>
          <p:cNvSpPr txBox="1"/>
          <p:nvPr/>
        </p:nvSpPr>
        <p:spPr>
          <a:xfrm>
            <a:off x="5201284" y="2236402"/>
            <a:ext cx="5841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29" name="TextBox 428"/>
          <p:cNvSpPr txBox="1"/>
          <p:nvPr/>
        </p:nvSpPr>
        <p:spPr>
          <a:xfrm>
            <a:off x="918568" y="2350270"/>
            <a:ext cx="48668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15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1319734" y="2350270"/>
            <a:ext cx="44656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31" name="TextBox 430"/>
          <p:cNvSpPr txBox="1"/>
          <p:nvPr/>
        </p:nvSpPr>
        <p:spPr>
          <a:xfrm>
            <a:off x="1622249" y="2350270"/>
            <a:ext cx="41631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1986140" y="2350270"/>
            <a:ext cx="37992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2324532" y="2350270"/>
            <a:ext cx="34608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34" name="TextBox 433"/>
          <p:cNvSpPr txBox="1"/>
          <p:nvPr/>
        </p:nvSpPr>
        <p:spPr>
          <a:xfrm>
            <a:off x="2645867" y="2350270"/>
            <a:ext cx="31395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2952143" y="2350270"/>
            <a:ext cx="283325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3441044" y="2350270"/>
            <a:ext cx="23443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437" name="TextBox 436"/>
          <p:cNvSpPr txBox="1"/>
          <p:nvPr/>
        </p:nvSpPr>
        <p:spPr>
          <a:xfrm>
            <a:off x="3963306" y="2350270"/>
            <a:ext cx="18220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4277365" y="2350270"/>
            <a:ext cx="15080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4591411" y="2350270"/>
            <a:ext cx="11939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40" name="TextBox 439"/>
          <p:cNvSpPr txBox="1"/>
          <p:nvPr/>
        </p:nvSpPr>
        <p:spPr>
          <a:xfrm>
            <a:off x="4905457" y="2350270"/>
            <a:ext cx="8799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41" name="TextBox 440"/>
          <p:cNvSpPr txBox="1"/>
          <p:nvPr/>
        </p:nvSpPr>
        <p:spPr>
          <a:xfrm>
            <a:off x="5219515" y="2350270"/>
            <a:ext cx="5658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42" name="TextBox 441"/>
          <p:cNvSpPr txBox="1"/>
          <p:nvPr/>
        </p:nvSpPr>
        <p:spPr>
          <a:xfrm>
            <a:off x="918494" y="2464150"/>
            <a:ext cx="48669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16</a:t>
            </a:r>
          </a:p>
        </p:txBody>
      </p:sp>
      <p:sp>
        <p:nvSpPr>
          <p:cNvPr id="443" name="TextBox 442"/>
          <p:cNvSpPr txBox="1"/>
          <p:nvPr/>
        </p:nvSpPr>
        <p:spPr>
          <a:xfrm>
            <a:off x="1319747" y="2464150"/>
            <a:ext cx="446564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44" name="TextBox 443"/>
          <p:cNvSpPr txBox="1"/>
          <p:nvPr/>
        </p:nvSpPr>
        <p:spPr>
          <a:xfrm>
            <a:off x="1633796" y="2464150"/>
            <a:ext cx="41515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45" name="TextBox 444"/>
          <p:cNvSpPr txBox="1"/>
          <p:nvPr/>
        </p:nvSpPr>
        <p:spPr>
          <a:xfrm>
            <a:off x="1997687" y="2464150"/>
            <a:ext cx="37877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46" name="TextBox 445"/>
          <p:cNvSpPr txBox="1"/>
          <p:nvPr/>
        </p:nvSpPr>
        <p:spPr>
          <a:xfrm>
            <a:off x="2324535" y="2464150"/>
            <a:ext cx="346086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47" name="TextBox 446"/>
          <p:cNvSpPr txBox="1"/>
          <p:nvPr/>
        </p:nvSpPr>
        <p:spPr>
          <a:xfrm>
            <a:off x="2645874" y="2464150"/>
            <a:ext cx="31395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48" name="TextBox 447"/>
          <p:cNvSpPr txBox="1"/>
          <p:nvPr/>
        </p:nvSpPr>
        <p:spPr>
          <a:xfrm>
            <a:off x="2952150" y="2464150"/>
            <a:ext cx="28332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449" name="TextBox 448"/>
          <p:cNvSpPr txBox="1"/>
          <p:nvPr/>
        </p:nvSpPr>
        <p:spPr>
          <a:xfrm>
            <a:off x="3470729" y="2464150"/>
            <a:ext cx="231466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3974856" y="2464150"/>
            <a:ext cx="18105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51" name="TextBox 450"/>
          <p:cNvSpPr txBox="1"/>
          <p:nvPr/>
        </p:nvSpPr>
        <p:spPr>
          <a:xfrm>
            <a:off x="4277371" y="2464150"/>
            <a:ext cx="15080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52" name="TextBox 451"/>
          <p:cNvSpPr txBox="1"/>
          <p:nvPr/>
        </p:nvSpPr>
        <p:spPr>
          <a:xfrm>
            <a:off x="4591417" y="2464150"/>
            <a:ext cx="119397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53" name="TextBox 452"/>
          <p:cNvSpPr txBox="1"/>
          <p:nvPr/>
        </p:nvSpPr>
        <p:spPr>
          <a:xfrm>
            <a:off x="4905463" y="2464150"/>
            <a:ext cx="8799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54" name="TextBox 453"/>
          <p:cNvSpPr txBox="1"/>
          <p:nvPr/>
        </p:nvSpPr>
        <p:spPr>
          <a:xfrm>
            <a:off x="5219521" y="2464150"/>
            <a:ext cx="5658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523213" y="2748833"/>
            <a:ext cx="52621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920519" y="2578019"/>
            <a:ext cx="48648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17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1308213" y="2578019"/>
            <a:ext cx="44771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58" name="TextBox 457"/>
          <p:cNvSpPr txBox="1"/>
          <p:nvPr/>
        </p:nvSpPr>
        <p:spPr>
          <a:xfrm>
            <a:off x="1622256" y="2578019"/>
            <a:ext cx="41631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59" name="TextBox 458"/>
          <p:cNvSpPr txBox="1"/>
          <p:nvPr/>
        </p:nvSpPr>
        <p:spPr>
          <a:xfrm>
            <a:off x="1986146" y="2578019"/>
            <a:ext cx="37992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60" name="TextBox 459"/>
          <p:cNvSpPr txBox="1"/>
          <p:nvPr/>
        </p:nvSpPr>
        <p:spPr>
          <a:xfrm>
            <a:off x="2324538" y="2578019"/>
            <a:ext cx="34608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61" name="TextBox 460"/>
          <p:cNvSpPr txBox="1"/>
          <p:nvPr/>
        </p:nvSpPr>
        <p:spPr>
          <a:xfrm>
            <a:off x="2645874" y="2578019"/>
            <a:ext cx="31395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62" name="TextBox 461"/>
          <p:cNvSpPr txBox="1"/>
          <p:nvPr/>
        </p:nvSpPr>
        <p:spPr>
          <a:xfrm>
            <a:off x="2952150" y="2578019"/>
            <a:ext cx="28332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463" name="TextBox 462"/>
          <p:cNvSpPr txBox="1"/>
          <p:nvPr/>
        </p:nvSpPr>
        <p:spPr>
          <a:xfrm>
            <a:off x="3433264" y="2578019"/>
            <a:ext cx="23521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464" name="TextBox 463"/>
          <p:cNvSpPr txBox="1"/>
          <p:nvPr/>
        </p:nvSpPr>
        <p:spPr>
          <a:xfrm>
            <a:off x="3963313" y="2578019"/>
            <a:ext cx="1822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4277371" y="2578019"/>
            <a:ext cx="15080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66" name="TextBox 465"/>
          <p:cNvSpPr txBox="1"/>
          <p:nvPr/>
        </p:nvSpPr>
        <p:spPr>
          <a:xfrm>
            <a:off x="4591417" y="2578019"/>
            <a:ext cx="119397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67" name="TextBox 466"/>
          <p:cNvSpPr txBox="1"/>
          <p:nvPr/>
        </p:nvSpPr>
        <p:spPr>
          <a:xfrm>
            <a:off x="4905463" y="2578019"/>
            <a:ext cx="8799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68" name="TextBox 467"/>
          <p:cNvSpPr txBox="1"/>
          <p:nvPr/>
        </p:nvSpPr>
        <p:spPr>
          <a:xfrm>
            <a:off x="5219521" y="2578019"/>
            <a:ext cx="5658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919071" y="2691886"/>
            <a:ext cx="48663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18</a:t>
            </a:r>
          </a:p>
        </p:txBody>
      </p:sp>
      <p:sp>
        <p:nvSpPr>
          <p:cNvPr id="470" name="TextBox 469"/>
          <p:cNvSpPr txBox="1"/>
          <p:nvPr/>
        </p:nvSpPr>
        <p:spPr>
          <a:xfrm>
            <a:off x="1308213" y="2691886"/>
            <a:ext cx="44771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71" name="TextBox 470"/>
          <p:cNvSpPr txBox="1"/>
          <p:nvPr/>
        </p:nvSpPr>
        <p:spPr>
          <a:xfrm>
            <a:off x="1633802" y="2691886"/>
            <a:ext cx="41515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72" name="TextBox 471"/>
          <p:cNvSpPr txBox="1"/>
          <p:nvPr/>
        </p:nvSpPr>
        <p:spPr>
          <a:xfrm>
            <a:off x="1986150" y="2691886"/>
            <a:ext cx="37992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73" name="TextBox 472"/>
          <p:cNvSpPr txBox="1"/>
          <p:nvPr/>
        </p:nvSpPr>
        <p:spPr>
          <a:xfrm>
            <a:off x="2324541" y="2691886"/>
            <a:ext cx="34608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74" name="TextBox 473"/>
          <p:cNvSpPr txBox="1"/>
          <p:nvPr/>
        </p:nvSpPr>
        <p:spPr>
          <a:xfrm>
            <a:off x="2645880" y="2691886"/>
            <a:ext cx="31395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75" name="TextBox 474"/>
          <p:cNvSpPr txBox="1"/>
          <p:nvPr/>
        </p:nvSpPr>
        <p:spPr>
          <a:xfrm>
            <a:off x="2952156" y="2691886"/>
            <a:ext cx="28332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476" name="TextBox 475"/>
          <p:cNvSpPr txBox="1"/>
          <p:nvPr/>
        </p:nvSpPr>
        <p:spPr>
          <a:xfrm>
            <a:off x="3433764" y="2691886"/>
            <a:ext cx="23516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477" name="TextBox 476"/>
          <p:cNvSpPr txBox="1"/>
          <p:nvPr/>
        </p:nvSpPr>
        <p:spPr>
          <a:xfrm>
            <a:off x="3963313" y="2691886"/>
            <a:ext cx="1822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78" name="TextBox 477"/>
          <p:cNvSpPr txBox="1"/>
          <p:nvPr/>
        </p:nvSpPr>
        <p:spPr>
          <a:xfrm>
            <a:off x="4277371" y="2691886"/>
            <a:ext cx="15080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79" name="TextBox 478"/>
          <p:cNvSpPr txBox="1"/>
          <p:nvPr/>
        </p:nvSpPr>
        <p:spPr>
          <a:xfrm>
            <a:off x="4591417" y="2691886"/>
            <a:ext cx="119397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80" name="TextBox 479"/>
          <p:cNvSpPr txBox="1"/>
          <p:nvPr/>
        </p:nvSpPr>
        <p:spPr>
          <a:xfrm>
            <a:off x="4905463" y="2691886"/>
            <a:ext cx="8799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81" name="TextBox 480"/>
          <p:cNvSpPr txBox="1"/>
          <p:nvPr/>
        </p:nvSpPr>
        <p:spPr>
          <a:xfrm>
            <a:off x="5219521" y="2691886"/>
            <a:ext cx="5658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82" name="TextBox 481"/>
          <p:cNvSpPr txBox="1"/>
          <p:nvPr/>
        </p:nvSpPr>
        <p:spPr>
          <a:xfrm>
            <a:off x="918500" y="2805766"/>
            <a:ext cx="48668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19</a:t>
            </a:r>
          </a:p>
        </p:txBody>
      </p:sp>
      <p:sp>
        <p:nvSpPr>
          <p:cNvPr id="483" name="TextBox 482"/>
          <p:cNvSpPr txBox="1"/>
          <p:nvPr/>
        </p:nvSpPr>
        <p:spPr>
          <a:xfrm>
            <a:off x="1319753" y="2805766"/>
            <a:ext cx="44656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84" name="TextBox 483"/>
          <p:cNvSpPr txBox="1"/>
          <p:nvPr/>
        </p:nvSpPr>
        <p:spPr>
          <a:xfrm>
            <a:off x="1622256" y="2805766"/>
            <a:ext cx="41631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85" name="TextBox 484"/>
          <p:cNvSpPr txBox="1"/>
          <p:nvPr/>
        </p:nvSpPr>
        <p:spPr>
          <a:xfrm>
            <a:off x="1986146" y="2805766"/>
            <a:ext cx="37992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86" name="TextBox 485"/>
          <p:cNvSpPr txBox="1"/>
          <p:nvPr/>
        </p:nvSpPr>
        <p:spPr>
          <a:xfrm>
            <a:off x="2324538" y="2805766"/>
            <a:ext cx="34608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487" name="TextBox 486"/>
          <p:cNvSpPr txBox="1"/>
          <p:nvPr/>
        </p:nvSpPr>
        <p:spPr>
          <a:xfrm>
            <a:off x="2645874" y="2805766"/>
            <a:ext cx="31395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488" name="TextBox 487"/>
          <p:cNvSpPr txBox="1"/>
          <p:nvPr/>
        </p:nvSpPr>
        <p:spPr>
          <a:xfrm>
            <a:off x="2952150" y="2805766"/>
            <a:ext cx="28332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489" name="TextBox 488"/>
          <p:cNvSpPr txBox="1"/>
          <p:nvPr/>
        </p:nvSpPr>
        <p:spPr>
          <a:xfrm>
            <a:off x="3441050" y="2805766"/>
            <a:ext cx="234434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490" name="TextBox 489"/>
          <p:cNvSpPr txBox="1"/>
          <p:nvPr/>
        </p:nvSpPr>
        <p:spPr>
          <a:xfrm>
            <a:off x="3963313" y="2805766"/>
            <a:ext cx="1822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91" name="TextBox 490"/>
          <p:cNvSpPr txBox="1"/>
          <p:nvPr/>
        </p:nvSpPr>
        <p:spPr>
          <a:xfrm>
            <a:off x="4277371" y="2805766"/>
            <a:ext cx="15080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92" name="TextBox 491"/>
          <p:cNvSpPr txBox="1"/>
          <p:nvPr/>
        </p:nvSpPr>
        <p:spPr>
          <a:xfrm>
            <a:off x="4591417" y="2805766"/>
            <a:ext cx="119397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93" name="TextBox 492"/>
          <p:cNvSpPr txBox="1"/>
          <p:nvPr/>
        </p:nvSpPr>
        <p:spPr>
          <a:xfrm>
            <a:off x="4905463" y="2805766"/>
            <a:ext cx="8799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94" name="TextBox 493"/>
          <p:cNvSpPr txBox="1"/>
          <p:nvPr/>
        </p:nvSpPr>
        <p:spPr>
          <a:xfrm>
            <a:off x="5219521" y="2805766"/>
            <a:ext cx="5658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95" name="TextBox 494"/>
          <p:cNvSpPr txBox="1"/>
          <p:nvPr/>
        </p:nvSpPr>
        <p:spPr>
          <a:xfrm>
            <a:off x="907806" y="2919633"/>
            <a:ext cx="48775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20</a:t>
            </a:r>
          </a:p>
        </p:txBody>
      </p:sp>
      <p:sp>
        <p:nvSpPr>
          <p:cNvPr id="496" name="TextBox 495"/>
          <p:cNvSpPr txBox="1"/>
          <p:nvPr/>
        </p:nvSpPr>
        <p:spPr>
          <a:xfrm>
            <a:off x="1319756" y="2919633"/>
            <a:ext cx="44656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97" name="TextBox 496"/>
          <p:cNvSpPr txBox="1"/>
          <p:nvPr/>
        </p:nvSpPr>
        <p:spPr>
          <a:xfrm>
            <a:off x="1633802" y="2919633"/>
            <a:ext cx="41515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98" name="TextBox 497"/>
          <p:cNvSpPr txBox="1"/>
          <p:nvPr/>
        </p:nvSpPr>
        <p:spPr>
          <a:xfrm>
            <a:off x="1997693" y="2919633"/>
            <a:ext cx="37877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99" name="TextBox 498"/>
          <p:cNvSpPr txBox="1"/>
          <p:nvPr/>
        </p:nvSpPr>
        <p:spPr>
          <a:xfrm>
            <a:off x="2324541" y="2919633"/>
            <a:ext cx="34608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500" name="TextBox 499"/>
          <p:cNvSpPr txBox="1"/>
          <p:nvPr/>
        </p:nvSpPr>
        <p:spPr>
          <a:xfrm>
            <a:off x="2645880" y="2919633"/>
            <a:ext cx="31395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501" name="TextBox 500"/>
          <p:cNvSpPr txBox="1"/>
          <p:nvPr/>
        </p:nvSpPr>
        <p:spPr>
          <a:xfrm>
            <a:off x="2952156" y="2919633"/>
            <a:ext cx="28332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502" name="TextBox 501"/>
          <p:cNvSpPr txBox="1"/>
          <p:nvPr/>
        </p:nvSpPr>
        <p:spPr>
          <a:xfrm>
            <a:off x="3470735" y="2919633"/>
            <a:ext cx="231466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503" name="TextBox 502"/>
          <p:cNvSpPr txBox="1"/>
          <p:nvPr/>
        </p:nvSpPr>
        <p:spPr>
          <a:xfrm>
            <a:off x="3974862" y="2919633"/>
            <a:ext cx="18105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504" name="TextBox 503"/>
          <p:cNvSpPr txBox="1"/>
          <p:nvPr/>
        </p:nvSpPr>
        <p:spPr>
          <a:xfrm>
            <a:off x="4277377" y="2919633"/>
            <a:ext cx="15080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505" name="TextBox 504"/>
          <p:cNvSpPr txBox="1"/>
          <p:nvPr/>
        </p:nvSpPr>
        <p:spPr>
          <a:xfrm>
            <a:off x="4591423" y="2919633"/>
            <a:ext cx="119397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506" name="TextBox 505"/>
          <p:cNvSpPr txBox="1"/>
          <p:nvPr/>
        </p:nvSpPr>
        <p:spPr>
          <a:xfrm>
            <a:off x="4905469" y="2919633"/>
            <a:ext cx="8799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507" name="TextBox 506"/>
          <p:cNvSpPr txBox="1"/>
          <p:nvPr/>
        </p:nvSpPr>
        <p:spPr>
          <a:xfrm>
            <a:off x="5219527" y="2919633"/>
            <a:ext cx="5658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508" name="TextBox 507"/>
          <p:cNvSpPr txBox="1"/>
          <p:nvPr/>
        </p:nvSpPr>
        <p:spPr>
          <a:xfrm>
            <a:off x="4901238" y="3150908"/>
            <a:ext cx="8841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9" name="TextBox 508"/>
          <p:cNvSpPr txBox="1"/>
          <p:nvPr/>
        </p:nvSpPr>
        <p:spPr>
          <a:xfrm>
            <a:off x="5639718" y="3150684"/>
            <a:ext cx="1456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277350" y="825207"/>
            <a:ext cx="597725" cy="20243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75076" y="825207"/>
            <a:ext cx="607567" cy="20243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77350" y="1027658"/>
            <a:ext cx="298869" cy="20243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576220" y="1027658"/>
            <a:ext cx="298869" cy="20243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75076" y="1027658"/>
            <a:ext cx="607567" cy="20243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277350" y="1437601"/>
            <a:ext cx="298869" cy="202438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576220" y="1437601"/>
            <a:ext cx="298869" cy="202438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75076" y="1437601"/>
            <a:ext cx="607567" cy="202438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277350" y="1842477"/>
            <a:ext cx="298869" cy="202438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576220" y="1842477"/>
            <a:ext cx="298869" cy="202438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75076" y="1842477"/>
            <a:ext cx="607567" cy="202438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2277350" y="1232623"/>
            <a:ext cx="2988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576220" y="1232623"/>
            <a:ext cx="29886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875076" y="1232623"/>
            <a:ext cx="60756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3210515" y="2550328"/>
            <a:ext cx="148542" cy="148542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3240475" y="2668899"/>
            <a:ext cx="443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284776" y="2580296"/>
            <a:ext cx="0" cy="886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284776" y="2580296"/>
            <a:ext cx="443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3235180" y="2788097"/>
            <a:ext cx="99212" cy="116025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2081974" y="2348049"/>
            <a:ext cx="239130" cy="870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2311400" y="2425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 flipV="1">
            <a:off x="2081974" y="2814108"/>
            <a:ext cx="239130" cy="870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Freeform 57"/>
          <p:cNvSpPr/>
          <p:nvPr/>
        </p:nvSpPr>
        <p:spPr>
          <a:xfrm>
            <a:off x="2311400" y="2806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2515185" y="2505732"/>
            <a:ext cx="212731" cy="7742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2717800" y="2565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2515185" y="2666039"/>
            <a:ext cx="212731" cy="7742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reeform 61"/>
          <p:cNvSpPr/>
          <p:nvPr/>
        </p:nvSpPr>
        <p:spPr>
          <a:xfrm>
            <a:off x="2717800" y="2654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2947354" y="2624599"/>
            <a:ext cx="24603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 63"/>
          <p:cNvSpPr/>
          <p:nvPr/>
        </p:nvSpPr>
        <p:spPr>
          <a:xfrm>
            <a:off x="3187700" y="2616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 flipV="1">
            <a:off x="3284787" y="2715998"/>
            <a:ext cx="0" cy="705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3276600" y="2705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3360615" y="2624599"/>
            <a:ext cx="28743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Freeform 67"/>
          <p:cNvSpPr/>
          <p:nvPr/>
        </p:nvSpPr>
        <p:spPr>
          <a:xfrm>
            <a:off x="3644900" y="2616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9993" y="553719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Learn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logical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operation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perceptron.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98699" y="856162"/>
            <a:ext cx="338669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FFFFFF"/>
                </a:solidFill>
                <a:latin typeface="Josefin Sans"/>
              </a:rPr>
              <a:t>Inputs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082645" y="856162"/>
            <a:ext cx="270275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FFFFFF"/>
                </a:solidFill>
                <a:latin typeface="Josefin Sans"/>
              </a:rPr>
              <a:t>OR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353271" y="1060359"/>
            <a:ext cx="343212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FFFFFF"/>
                </a:solidFill>
                <a:latin typeface="Cambria Math"/>
              </a:rPr>
              <a:t>x</a:t>
            </a:r>
            <a:r>
              <a:rPr sz="697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652127" y="1060359"/>
            <a:ext cx="313326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FFFFFF"/>
                </a:solidFill>
                <a:latin typeface="Cambria Math"/>
              </a:rPr>
              <a:t>x</a:t>
            </a:r>
            <a:r>
              <a:rPr sz="697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950997" y="1058720"/>
            <a:ext cx="28343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FFFFFF"/>
                </a:solidFill>
                <a:latin typeface="Cambria Math"/>
              </a:rPr>
              <a:t>x</a:t>
            </a:r>
            <a:r>
              <a:rPr sz="697" b="0">
                <a:solidFill>
                  <a:srgbClr val="FFFFFF"/>
                </a:solidFill>
                <a:latin typeface="Cambria Math"/>
              </a:rPr>
              <a:t>1</a:t>
            </a:r>
            <a:r>
              <a:rPr sz="996" b="0">
                <a:solidFill>
                  <a:srgbClr val="FFFFFF"/>
                </a:solidFill>
                <a:latin typeface="Cambria Math"/>
              </a:rPr>
              <a:t> </a:t>
            </a:r>
            <a:r>
              <a:rPr sz="996" b="0">
                <a:solidFill>
                  <a:srgbClr val="FFFFFF"/>
                </a:solidFill>
                <a:latin typeface="Cambria Math"/>
              </a:rPr>
              <a:t>∪</a:t>
            </a:r>
            <a:r>
              <a:rPr sz="996" b="0">
                <a:solidFill>
                  <a:srgbClr val="FFFFFF"/>
                </a:solidFill>
                <a:latin typeface="Cambria Math"/>
              </a:rPr>
              <a:t>x</a:t>
            </a:r>
            <a:r>
              <a:rPr sz="697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387625" y="1265731"/>
            <a:ext cx="339777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686477" y="1265731"/>
            <a:ext cx="309891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39689" y="1265731"/>
            <a:ext cx="264570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387624" y="1468169"/>
            <a:ext cx="339777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705721" y="1468169"/>
            <a:ext cx="307967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158934" y="1468169"/>
            <a:ext cx="262646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406852" y="1670620"/>
            <a:ext cx="33785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86472" y="1670620"/>
            <a:ext cx="309892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58917" y="1670620"/>
            <a:ext cx="262647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406852" y="1873058"/>
            <a:ext cx="33785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05721" y="1873058"/>
            <a:ext cx="307967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158934" y="1873058"/>
            <a:ext cx="262646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796856" y="2565529"/>
            <a:ext cx="2988539" cy="20851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9" b="0">
                <a:solidFill>
                  <a:srgbClr val="000000"/>
                </a:solidFill>
                <a:latin typeface="Cambria Math"/>
              </a:rPr>
              <a:t>Σ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263582" y="2809081"/>
            <a:ext cx="2521813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693579" y="2587100"/>
            <a:ext cx="2091816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376454" y="2418413"/>
            <a:ext cx="3408941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376454" y="2721451"/>
            <a:ext cx="3408941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Cambria Math"/>
              </a:rPr>
              <a:t>w</a:t>
            </a:r>
            <a:r>
              <a:rPr sz="490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966312" y="2266885"/>
            <a:ext cx="3819083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Cambria Math"/>
              </a:rPr>
              <a:t>x</a:t>
            </a:r>
            <a:r>
              <a:rPr sz="4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966312" y="2872979"/>
            <a:ext cx="3819083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Cambria Math"/>
              </a:rPr>
              <a:t>x</a:t>
            </a:r>
            <a:r>
              <a:rPr sz="490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900430" y="2165379"/>
            <a:ext cx="3884965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725488" y="2312405"/>
            <a:ext cx="3059907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Josefin Sans"/>
              </a:rPr>
              <a:t>Linear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676938" y="2418281"/>
            <a:ext cx="3108457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Josefin Sans"/>
              </a:rPr>
              <a:t>combiner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191049" y="2313577"/>
            <a:ext cx="2594346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Josefin Sans"/>
              </a:rPr>
              <a:t>Hard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173280" y="2419453"/>
            <a:ext cx="2612115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Josefin Sans"/>
              </a:rPr>
              <a:t>limiter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596002" y="2468425"/>
            <a:ext cx="2189393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110531" y="2920288"/>
            <a:ext cx="2674865" cy="1321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1" b="0">
                <a:solidFill>
                  <a:srgbClr val="000000"/>
                </a:solidFill>
                <a:latin typeface="Josefin Sans"/>
              </a:rPr>
              <a:t>Threshold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901196" y="3150917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38532" y="3150693"/>
            <a:ext cx="1468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783905" y="1213345"/>
            <a:ext cx="622922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06827" y="1213345"/>
            <a:ext cx="1569275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783905" y="1436027"/>
            <a:ext cx="311454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095359" y="1436027"/>
            <a:ext cx="311454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06827" y="1436027"/>
            <a:ext cx="1569275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2881350" y="1500809"/>
            <a:ext cx="159626" cy="0"/>
          </a:xfrm>
          <a:prstGeom prst="line">
            <a:avLst/>
          </a:prstGeom>
          <a:ln w="553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341928" y="1500809"/>
            <a:ext cx="159626" cy="0"/>
          </a:xfrm>
          <a:prstGeom prst="line">
            <a:avLst/>
          </a:prstGeom>
          <a:ln w="553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783905" y="1886458"/>
            <a:ext cx="311454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95359" y="1886458"/>
            <a:ext cx="311454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406827" y="1886458"/>
            <a:ext cx="1569275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783905" y="2331834"/>
            <a:ext cx="311454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095359" y="2331834"/>
            <a:ext cx="311454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406827" y="2331834"/>
            <a:ext cx="1569275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1783905" y="1661248"/>
            <a:ext cx="31145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095359" y="1661248"/>
            <a:ext cx="31145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406827" y="1661248"/>
            <a:ext cx="156927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Question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9993" y="87306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XOR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(exclusive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operation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setup?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900986" y="1248912"/>
            <a:ext cx="38844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Inputs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041205" y="1248912"/>
            <a:ext cx="27441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XOR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59813" y="1473507"/>
            <a:ext cx="392558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171280" y="1473507"/>
            <a:ext cx="361411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482735" y="1471711"/>
            <a:ext cx="330266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(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∩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)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∪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(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∩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896757" y="1698934"/>
            <a:ext cx="38886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208207" y="1698934"/>
            <a:ext cx="357718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48516" y="1698934"/>
            <a:ext cx="26368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96757" y="1921616"/>
            <a:ext cx="38886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29268" y="1921616"/>
            <a:ext cx="355612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169640" y="1921616"/>
            <a:ext cx="261575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917813" y="2144297"/>
            <a:ext cx="38675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08205" y="2144297"/>
            <a:ext cx="357719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69573" y="2144297"/>
            <a:ext cx="26158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17813" y="2366979"/>
            <a:ext cx="38675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29268" y="2366979"/>
            <a:ext cx="355612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148583" y="2366979"/>
            <a:ext cx="26368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901196" y="3150917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17133" y="3150693"/>
            <a:ext cx="1682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777203" y="19598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66519" y="1440645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88416" y="1986845"/>
            <a:ext cx="120532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2082800" y="1968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V="1">
            <a:off x="1093520" y="1192849"/>
            <a:ext cx="0" cy="95785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1079500" y="1168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-2324100" y="-1079500"/>
            <a:ext cx="6832600" cy="5791200"/>
          </a:xfrm>
          <a:custGeom>
            <a:avLst/>
            <a:gdLst/>
            <a:ahLst/>
            <a:cxnLst/>
            <a:rect l="l" t="t" r="r" b="b"/>
            <a:pathLst>
              <a:path w="538" h="456">
                <a:moveTo>
                  <a:pt x="0" y="0"/>
                </a:moveTo>
                <a:lnTo>
                  <a:pt x="22" y="18"/>
                </a:lnTo>
                <a:lnTo>
                  <a:pt x="45" y="36"/>
                </a:lnTo>
                <a:lnTo>
                  <a:pt x="67" y="54"/>
                </a:lnTo>
                <a:lnTo>
                  <a:pt x="90" y="72"/>
                </a:lnTo>
                <a:lnTo>
                  <a:pt x="112" y="90"/>
                </a:lnTo>
                <a:lnTo>
                  <a:pt x="135" y="108"/>
                </a:lnTo>
                <a:lnTo>
                  <a:pt x="157" y="126"/>
                </a:lnTo>
                <a:lnTo>
                  <a:pt x="179" y="144"/>
                </a:lnTo>
                <a:lnTo>
                  <a:pt x="202" y="162"/>
                </a:lnTo>
                <a:lnTo>
                  <a:pt x="224" y="180"/>
                </a:lnTo>
                <a:lnTo>
                  <a:pt x="247" y="197"/>
                </a:lnTo>
                <a:lnTo>
                  <a:pt x="269" y="215"/>
                </a:lnTo>
                <a:lnTo>
                  <a:pt x="292" y="233"/>
                </a:lnTo>
                <a:lnTo>
                  <a:pt x="314" y="251"/>
                </a:lnTo>
                <a:lnTo>
                  <a:pt x="336" y="269"/>
                </a:lnTo>
                <a:lnTo>
                  <a:pt x="359" y="287"/>
                </a:lnTo>
                <a:lnTo>
                  <a:pt x="381" y="305"/>
                </a:lnTo>
                <a:lnTo>
                  <a:pt x="404" y="323"/>
                </a:lnTo>
                <a:lnTo>
                  <a:pt x="426" y="341"/>
                </a:lnTo>
                <a:lnTo>
                  <a:pt x="449" y="359"/>
                </a:lnTo>
                <a:lnTo>
                  <a:pt x="471" y="377"/>
                </a:lnTo>
                <a:lnTo>
                  <a:pt x="493" y="395"/>
                </a:lnTo>
                <a:lnTo>
                  <a:pt x="516" y="412"/>
                </a:lnTo>
                <a:lnTo>
                  <a:pt x="538" y="430"/>
                </a:lnTo>
                <a:lnTo>
                  <a:pt x="538" y="456"/>
                </a:lnTo>
                <a:lnTo>
                  <a:pt x="516" y="456"/>
                </a:lnTo>
                <a:lnTo>
                  <a:pt x="493" y="456"/>
                </a:lnTo>
                <a:lnTo>
                  <a:pt x="471" y="456"/>
                </a:lnTo>
                <a:lnTo>
                  <a:pt x="449" y="456"/>
                </a:lnTo>
                <a:lnTo>
                  <a:pt x="426" y="456"/>
                </a:lnTo>
                <a:lnTo>
                  <a:pt x="404" y="456"/>
                </a:lnTo>
                <a:lnTo>
                  <a:pt x="381" y="456"/>
                </a:lnTo>
                <a:lnTo>
                  <a:pt x="359" y="456"/>
                </a:lnTo>
                <a:lnTo>
                  <a:pt x="336" y="456"/>
                </a:lnTo>
                <a:lnTo>
                  <a:pt x="314" y="456"/>
                </a:lnTo>
                <a:lnTo>
                  <a:pt x="292" y="456"/>
                </a:lnTo>
                <a:lnTo>
                  <a:pt x="269" y="456"/>
                </a:lnTo>
                <a:lnTo>
                  <a:pt x="247" y="456"/>
                </a:lnTo>
                <a:lnTo>
                  <a:pt x="224" y="456"/>
                </a:lnTo>
                <a:lnTo>
                  <a:pt x="202" y="456"/>
                </a:lnTo>
                <a:lnTo>
                  <a:pt x="179" y="456"/>
                </a:lnTo>
                <a:lnTo>
                  <a:pt x="157" y="456"/>
                </a:lnTo>
                <a:lnTo>
                  <a:pt x="135" y="456"/>
                </a:lnTo>
                <a:lnTo>
                  <a:pt x="112" y="456"/>
                </a:lnTo>
                <a:lnTo>
                  <a:pt x="90" y="456"/>
                </a:lnTo>
                <a:lnTo>
                  <a:pt x="67" y="456"/>
                </a:lnTo>
                <a:lnTo>
                  <a:pt x="45" y="456"/>
                </a:lnTo>
                <a:lnTo>
                  <a:pt x="22" y="456"/>
                </a:lnTo>
                <a:lnTo>
                  <a:pt x="0" y="45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-2324890" y="-1075181"/>
            <a:ext cx="284863" cy="2275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-2040027" y="-847602"/>
            <a:ext cx="284863" cy="22758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-1755164" y="-620021"/>
            <a:ext cx="284863" cy="2275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-1470301" y="-392442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-1185438" y="-164862"/>
            <a:ext cx="284863" cy="2275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-900575" y="62717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-615712" y="290297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-330849" y="517877"/>
            <a:ext cx="284864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-45985" y="745457"/>
            <a:ext cx="284861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38876" y="973037"/>
            <a:ext cx="284864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523740" y="1200617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08603" y="1428197"/>
            <a:ext cx="284862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093465" y="1655777"/>
            <a:ext cx="284864" cy="2275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378329" y="1883356"/>
            <a:ext cx="284862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663191" y="2110936"/>
            <a:ext cx="284864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948055" y="2338516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232918" y="2566096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517781" y="2793676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802644" y="3021256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087507" y="3248836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372370" y="3476416"/>
            <a:ext cx="284863" cy="2275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657233" y="3703995"/>
            <a:ext cx="284863" cy="22758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942096" y="3931576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4226959" y="4159156"/>
            <a:ext cx="284863" cy="2275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-2324890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-2040027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-1755164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-1470301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-1185438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-900575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-615712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-330849" y="4717848"/>
            <a:ext cx="2848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-45985" y="4717848"/>
            <a:ext cx="2848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38876" y="4717848"/>
            <a:ext cx="2848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523740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808603" y="4717848"/>
            <a:ext cx="2848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093465" y="4717848"/>
            <a:ext cx="2848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378329" y="4717848"/>
            <a:ext cx="2848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663191" y="4717848"/>
            <a:ext cx="2848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948055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232918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2517781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2802644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3087507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3372370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3657233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942096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4226959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066800" y="1955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2"/>
                </a:ln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1066800" y="1409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2"/>
                </a:ln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1752600" y="1955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2"/>
                </a:lnTo>
                <a:lnTo>
                  <a:pt x="4" y="2"/>
                </a:lnTo>
                <a:lnTo>
                  <a:pt x="4" y="1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1752600" y="1409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2"/>
                </a:lnTo>
                <a:lnTo>
                  <a:pt x="4" y="2"/>
                </a:lnTo>
                <a:lnTo>
                  <a:pt x="4" y="1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 flipV="1">
            <a:off x="4297200" y="19598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3586517" y="1440645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3408414" y="1986845"/>
            <a:ext cx="120532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Freeform 97"/>
          <p:cNvSpPr/>
          <p:nvPr/>
        </p:nvSpPr>
        <p:spPr>
          <a:xfrm>
            <a:off x="4597400" y="1968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9" name="Connector 98"/>
          <p:cNvCxnSpPr/>
          <p:nvPr/>
        </p:nvCxnSpPr>
        <p:spPr>
          <a:xfrm flipV="1">
            <a:off x="3613518" y="1192849"/>
            <a:ext cx="0" cy="95785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Freeform 99"/>
          <p:cNvSpPr/>
          <p:nvPr/>
        </p:nvSpPr>
        <p:spPr>
          <a:xfrm>
            <a:off x="3594100" y="1168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190500" y="-1473200"/>
            <a:ext cx="6845300" cy="6184900"/>
          </a:xfrm>
          <a:custGeom>
            <a:avLst/>
            <a:gdLst/>
            <a:ahLst/>
            <a:cxnLst/>
            <a:rect l="l" t="t" r="r" b="b"/>
            <a:pathLst>
              <a:path w="539" h="487">
                <a:moveTo>
                  <a:pt x="0" y="0"/>
                </a:moveTo>
                <a:lnTo>
                  <a:pt x="23" y="18"/>
                </a:lnTo>
                <a:lnTo>
                  <a:pt x="45" y="36"/>
                </a:lnTo>
                <a:lnTo>
                  <a:pt x="68" y="54"/>
                </a:lnTo>
                <a:lnTo>
                  <a:pt x="90" y="72"/>
                </a:lnTo>
                <a:lnTo>
                  <a:pt x="113" y="90"/>
                </a:lnTo>
                <a:lnTo>
                  <a:pt x="135" y="108"/>
                </a:lnTo>
                <a:lnTo>
                  <a:pt x="157" y="125"/>
                </a:lnTo>
                <a:lnTo>
                  <a:pt x="180" y="143"/>
                </a:lnTo>
                <a:lnTo>
                  <a:pt x="202" y="161"/>
                </a:lnTo>
                <a:lnTo>
                  <a:pt x="225" y="179"/>
                </a:lnTo>
                <a:lnTo>
                  <a:pt x="247" y="197"/>
                </a:lnTo>
                <a:lnTo>
                  <a:pt x="270" y="215"/>
                </a:lnTo>
                <a:lnTo>
                  <a:pt x="292" y="233"/>
                </a:lnTo>
                <a:lnTo>
                  <a:pt x="314" y="251"/>
                </a:lnTo>
                <a:lnTo>
                  <a:pt x="337" y="269"/>
                </a:lnTo>
                <a:lnTo>
                  <a:pt x="359" y="287"/>
                </a:lnTo>
                <a:lnTo>
                  <a:pt x="382" y="305"/>
                </a:lnTo>
                <a:lnTo>
                  <a:pt x="404" y="323"/>
                </a:lnTo>
                <a:lnTo>
                  <a:pt x="427" y="341"/>
                </a:lnTo>
                <a:lnTo>
                  <a:pt x="449" y="358"/>
                </a:lnTo>
                <a:lnTo>
                  <a:pt x="471" y="376"/>
                </a:lnTo>
                <a:lnTo>
                  <a:pt x="494" y="394"/>
                </a:lnTo>
                <a:lnTo>
                  <a:pt x="516" y="412"/>
                </a:lnTo>
                <a:lnTo>
                  <a:pt x="539" y="430"/>
                </a:lnTo>
                <a:lnTo>
                  <a:pt x="539" y="487"/>
                </a:lnTo>
                <a:lnTo>
                  <a:pt x="516" y="487"/>
                </a:lnTo>
                <a:lnTo>
                  <a:pt x="494" y="487"/>
                </a:lnTo>
                <a:lnTo>
                  <a:pt x="471" y="487"/>
                </a:lnTo>
                <a:lnTo>
                  <a:pt x="449" y="487"/>
                </a:lnTo>
                <a:lnTo>
                  <a:pt x="427" y="487"/>
                </a:lnTo>
                <a:lnTo>
                  <a:pt x="404" y="487"/>
                </a:lnTo>
                <a:lnTo>
                  <a:pt x="382" y="487"/>
                </a:lnTo>
                <a:lnTo>
                  <a:pt x="359" y="487"/>
                </a:lnTo>
                <a:lnTo>
                  <a:pt x="337" y="487"/>
                </a:lnTo>
                <a:lnTo>
                  <a:pt x="314" y="487"/>
                </a:lnTo>
                <a:lnTo>
                  <a:pt x="292" y="487"/>
                </a:lnTo>
                <a:lnTo>
                  <a:pt x="270" y="487"/>
                </a:lnTo>
                <a:lnTo>
                  <a:pt x="247" y="487"/>
                </a:lnTo>
                <a:lnTo>
                  <a:pt x="225" y="487"/>
                </a:lnTo>
                <a:lnTo>
                  <a:pt x="202" y="487"/>
                </a:lnTo>
                <a:lnTo>
                  <a:pt x="180" y="487"/>
                </a:lnTo>
                <a:lnTo>
                  <a:pt x="157" y="487"/>
                </a:lnTo>
                <a:lnTo>
                  <a:pt x="135" y="487"/>
                </a:lnTo>
                <a:lnTo>
                  <a:pt x="113" y="487"/>
                </a:lnTo>
                <a:lnTo>
                  <a:pt x="90" y="487"/>
                </a:lnTo>
                <a:lnTo>
                  <a:pt x="68" y="487"/>
                </a:lnTo>
                <a:lnTo>
                  <a:pt x="45" y="487"/>
                </a:lnTo>
                <a:lnTo>
                  <a:pt x="23" y="487"/>
                </a:lnTo>
                <a:lnTo>
                  <a:pt x="0" y="48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95107" y="-1472422"/>
            <a:ext cx="284863" cy="2275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479970" y="-1244843"/>
            <a:ext cx="284863" cy="22758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764833" y="-1017262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1049696" y="-789682"/>
            <a:ext cx="284863" cy="2275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334559" y="-562103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1619422" y="-334523"/>
            <a:ext cx="284863" cy="22758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1904285" y="-106942"/>
            <a:ext cx="284863" cy="22757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2189148" y="120636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2474011" y="348216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2758874" y="575796"/>
            <a:ext cx="284864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3043738" y="803376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3328601" y="1030956"/>
            <a:ext cx="284862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613463" y="1258536"/>
            <a:ext cx="284864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3898327" y="1486116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4183190" y="1713696"/>
            <a:ext cx="284862" cy="2275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4468052" y="1941275"/>
            <a:ext cx="284864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4752916" y="2168855"/>
            <a:ext cx="284862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5037778" y="2396435"/>
            <a:ext cx="284864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5322642" y="2624015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5607505" y="2851595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5892368" y="3079175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6177231" y="3306755"/>
            <a:ext cx="284862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6462093" y="3534335"/>
            <a:ext cx="284864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6746957" y="3761915"/>
            <a:ext cx="284863" cy="2275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195107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479970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764833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1049696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1334559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1619422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1904285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2189148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2474011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2758874" y="4717848"/>
            <a:ext cx="2848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3043738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3328601" y="4717848"/>
            <a:ext cx="2848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3613463" y="4717848"/>
            <a:ext cx="2848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3898327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4183190" y="4717848"/>
            <a:ext cx="2848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4468052" y="4717848"/>
            <a:ext cx="2848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4752916" y="4717848"/>
            <a:ext cx="2848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5037778" y="4717848"/>
            <a:ext cx="2848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5322642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5607505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5892368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6177231" y="4717848"/>
            <a:ext cx="2848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6462093" y="4717848"/>
            <a:ext cx="2848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6746957" y="4717848"/>
            <a:ext cx="2848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Freeform 149"/>
          <p:cNvSpPr/>
          <p:nvPr/>
        </p:nvSpPr>
        <p:spPr>
          <a:xfrm>
            <a:off x="3594100" y="1955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3" y="3"/>
                </a:lnTo>
                <a:lnTo>
                  <a:pt x="3" y="3"/>
                </a:lnTo>
                <a:lnTo>
                  <a:pt x="4" y="2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3594100" y="1409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3" y="3"/>
                </a:lnTo>
                <a:lnTo>
                  <a:pt x="3" y="3"/>
                </a:lnTo>
                <a:lnTo>
                  <a:pt x="4" y="2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4267200" y="1955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2"/>
                </a:ln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4267200" y="1409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2"/>
                </a:ln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2880006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6" name="Picture 1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7" name="Picture 15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XOR?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516442" y="778679"/>
            <a:ext cx="426895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983163" y="778679"/>
            <a:ext cx="18022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742554" y="2043558"/>
            <a:ext cx="40428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48537" y="1377024"/>
            <a:ext cx="483685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68664" y="1897393"/>
            <a:ext cx="361673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24483" y="989051"/>
            <a:ext cx="47609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262552" y="2043558"/>
            <a:ext cx="152284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3468535" y="1377024"/>
            <a:ext cx="231686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688663" y="1897393"/>
            <a:ext cx="10967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44481" y="989051"/>
            <a:ext cx="224091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2357134" y="2280630"/>
            <a:ext cx="342826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about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XOR?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88519" y="2538732"/>
            <a:ext cx="47968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dimensional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plot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exclusive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operation?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901198" y="3150916"/>
            <a:ext cx="8841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5640211" y="3150692"/>
            <a:ext cx="1451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3037537" y="1784778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326853" y="1265577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148750" y="1811777"/>
            <a:ext cx="120532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3340100" y="179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V="1">
            <a:off x="2353854" y="1017781"/>
            <a:ext cx="0" cy="95785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2336800" y="990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324100" y="1244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3"/>
                </a:lnTo>
                <a:lnTo>
                  <a:pt x="3" y="3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lnTo>
                  <a:pt x="4" y="2"/>
                </a:lnTo>
                <a:lnTo>
                  <a:pt x="4" y="2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3009900" y="1790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3"/>
                </a:lnTo>
                <a:lnTo>
                  <a:pt x="3" y="3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lnTo>
                  <a:pt x="4" y="2"/>
                </a:lnTo>
                <a:lnTo>
                  <a:pt x="4" y="2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2324100" y="1790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3"/>
                </a:lnTo>
                <a:lnTo>
                  <a:pt x="3" y="3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lnTo>
                  <a:pt x="4" y="2"/>
                </a:lnTo>
                <a:lnTo>
                  <a:pt x="4" y="2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3009900" y="1244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3"/>
                </a:lnTo>
                <a:lnTo>
                  <a:pt x="3" y="3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lnTo>
                  <a:pt x="4" y="2"/>
                </a:lnTo>
                <a:lnTo>
                  <a:pt x="4" y="2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880001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XOR?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02888" y="1868490"/>
            <a:ext cx="278250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208872" y="1201943"/>
            <a:ext cx="35765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428326" y="1722897"/>
            <a:ext cx="235706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84246" y="814517"/>
            <a:ext cx="350114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30107" y="2170459"/>
            <a:ext cx="395528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linearly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separable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function?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2211" y="2428561"/>
            <a:ext cx="46431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draw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straight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separate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classes?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01193" y="3150929"/>
            <a:ext cx="8842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25627" y="3150705"/>
            <a:ext cx="1597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395878" y="1158563"/>
            <a:ext cx="241414" cy="241415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3444582" y="1351267"/>
            <a:ext cx="7200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516582" y="1207268"/>
            <a:ext cx="0" cy="1439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516582" y="1207268"/>
            <a:ext cx="7200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3435964" y="1544992"/>
            <a:ext cx="161243" cy="188567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1561746" y="829814"/>
            <a:ext cx="388640" cy="14146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1930400" y="952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1561746" y="1587265"/>
            <a:ext cx="388640" cy="1414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19304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2265811" y="1086084"/>
            <a:ext cx="345735" cy="12583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/>
          <p:cNvSpPr/>
          <p:nvPr/>
        </p:nvSpPr>
        <p:spPr>
          <a:xfrm>
            <a:off x="2590800" y="1193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1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V="1">
            <a:off x="2265811" y="1346619"/>
            <a:ext cx="345735" cy="1258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 47"/>
          <p:cNvSpPr/>
          <p:nvPr/>
        </p:nvSpPr>
        <p:spPr>
          <a:xfrm>
            <a:off x="2590800" y="1333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2968183" y="1279271"/>
            <a:ext cx="3998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3352800" y="1257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 flipV="1">
            <a:off x="3516586" y="1427814"/>
            <a:ext cx="0" cy="11464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3492500" y="1397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2" y="0"/>
                </a:moveTo>
                <a:lnTo>
                  <a:pt x="0" y="4"/>
                </a:lnTo>
                <a:lnTo>
                  <a:pt x="2" y="2"/>
                </a:lnTo>
                <a:lnTo>
                  <a:pt x="3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3639824" y="1279271"/>
            <a:ext cx="46714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4089400" y="1257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Activation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function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perceptron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723590" y="1183281"/>
            <a:ext cx="3061805" cy="3388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1" b="0">
                <a:solidFill>
                  <a:srgbClr val="000000"/>
                </a:solidFill>
                <a:latin typeface="Cambria Math"/>
              </a:rPr>
              <a:t>Σ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482135" y="1579095"/>
            <a:ext cx="230326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80966" y="1218326"/>
            <a:ext cx="160442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40355" y="944171"/>
            <a:ext cx="37450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40355" y="1436690"/>
            <a:ext cx="37450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73770" y="697905"/>
            <a:ext cx="44116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373770" y="1682943"/>
            <a:ext cx="44116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266697" y="532934"/>
            <a:ext cx="451869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607601" y="771885"/>
            <a:ext cx="317779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Linear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28696" y="943957"/>
            <a:ext cx="32566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combiner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364241" y="773790"/>
            <a:ext cx="24211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Hard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335362" y="945862"/>
            <a:ext cx="24500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limiter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22381" y="1025453"/>
            <a:ext cx="176301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233393" y="1759831"/>
            <a:ext cx="25520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Threshold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9993" y="206543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perceptron?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9995" y="2362710"/>
            <a:ext cx="54254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hard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limiter,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case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operations,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428240" y="2699352"/>
            <a:ext cx="335715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678227" y="2586423"/>
            <a:ext cx="310716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(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772499" y="2619301"/>
            <a:ext cx="301289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≥</a:t>
            </a:r>
            <a:r>
              <a:rPr sz="896" b="0">
                <a:solidFill>
                  <a:srgbClr val="000000"/>
                </a:solidFill>
                <a:latin typeface="Cambria Math"/>
              </a:rPr>
              <a:t>θ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772499" y="2787795"/>
            <a:ext cx="301289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&lt; θ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901197" y="3150918"/>
            <a:ext cx="884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24640" y="3150694"/>
            <a:ext cx="1607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27625" y="1923424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27625" y="1425934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09308" y="1674679"/>
            <a:ext cx="6653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1257300" y="1651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V="1">
            <a:off x="954624" y="1202494"/>
            <a:ext cx="0" cy="8453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939800" y="1181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609308" y="1674679"/>
            <a:ext cx="345316" cy="0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954624" y="1425934"/>
            <a:ext cx="0" cy="248745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954624" y="1425934"/>
            <a:ext cx="345317" cy="0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187630" y="1425934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869313" y="1674679"/>
            <a:ext cx="6653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2514600" y="1651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 flipV="1">
            <a:off x="2214629" y="1202494"/>
            <a:ext cx="0" cy="8453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2197100" y="1181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2187630" y="1923424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869313" y="1923424"/>
            <a:ext cx="345316" cy="0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214629" y="1425934"/>
            <a:ext cx="0" cy="497490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214629" y="1425934"/>
            <a:ext cx="345317" cy="0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447651" y="1923424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447651" y="1425934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129354" y="1674679"/>
            <a:ext cx="66527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3784600" y="1651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V="1">
            <a:off x="3474651" y="1202494"/>
            <a:ext cx="0" cy="8453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3454400" y="1181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 flipV="1">
            <a:off x="3129354" y="1672162"/>
            <a:ext cx="28774" cy="85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3158128" y="1670881"/>
            <a:ext cx="28775" cy="1281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186903" y="1668964"/>
            <a:ext cx="28774" cy="1917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3215677" y="1666111"/>
            <a:ext cx="28774" cy="2853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244451" y="1661910"/>
            <a:ext cx="28775" cy="4201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3273226" y="1655810"/>
            <a:ext cx="28774" cy="6100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302000" y="1647136"/>
            <a:ext cx="28774" cy="8674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330774" y="1635161"/>
            <a:ext cx="28774" cy="11975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359548" y="1619284"/>
            <a:ext cx="28775" cy="15877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388323" y="1599327"/>
            <a:ext cx="28774" cy="19957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3417097" y="1575850"/>
            <a:ext cx="28774" cy="23477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3445871" y="1550314"/>
            <a:ext cx="28775" cy="25536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3474646" y="1524785"/>
            <a:ext cx="28774" cy="25529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3503420" y="1501299"/>
            <a:ext cx="28774" cy="23486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3532194" y="1481337"/>
            <a:ext cx="28775" cy="1996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3560969" y="1465465"/>
            <a:ext cx="28773" cy="1587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589742" y="1453478"/>
            <a:ext cx="28775" cy="11987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618517" y="1444806"/>
            <a:ext cx="28774" cy="867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647291" y="1438707"/>
            <a:ext cx="28775" cy="6099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676066" y="1434503"/>
            <a:ext cx="28774" cy="4204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704840" y="1431650"/>
            <a:ext cx="28774" cy="2853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733614" y="1429732"/>
            <a:ext cx="28774" cy="1918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3762388" y="1428454"/>
            <a:ext cx="28775" cy="1278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791163" y="1427603"/>
            <a:ext cx="28774" cy="851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658298" y="1923414"/>
            <a:ext cx="539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658298" y="1425924"/>
            <a:ext cx="539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389290" y="1674669"/>
            <a:ext cx="66533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5041900" y="1651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V="1">
            <a:off x="4685297" y="1202484"/>
            <a:ext cx="0" cy="8453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4660900" y="1181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4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3501325" y="2814752"/>
            <a:ext cx="98663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3599988" y="2711110"/>
            <a:ext cx="98662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3698650" y="2607468"/>
            <a:ext cx="98663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3797313" y="2503826"/>
            <a:ext cx="98663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3895976" y="2400184"/>
            <a:ext cx="98663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3994639" y="2296542"/>
            <a:ext cx="98663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4093302" y="2192899"/>
            <a:ext cx="98663" cy="103643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4191965" y="2089257"/>
            <a:ext cx="98662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4290627" y="1985615"/>
            <a:ext cx="98663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4389290" y="1881973"/>
            <a:ext cx="98663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4487953" y="1778331"/>
            <a:ext cx="98662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4586615" y="1674689"/>
            <a:ext cx="98663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4685278" y="1571047"/>
            <a:ext cx="98663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4783941" y="1467405"/>
            <a:ext cx="98662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4882603" y="1363762"/>
            <a:ext cx="98663" cy="103643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4981266" y="1260120"/>
            <a:ext cx="98663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5079929" y="1156478"/>
            <a:ext cx="98663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5178592" y="1052836"/>
            <a:ext cx="98663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5277255" y="949194"/>
            <a:ext cx="98662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5375917" y="845552"/>
            <a:ext cx="98663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5474580" y="741910"/>
            <a:ext cx="98663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5573243" y="638267"/>
            <a:ext cx="98662" cy="103643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5671905" y="534625"/>
            <a:ext cx="98663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5770568" y="430983"/>
            <a:ext cx="98663" cy="103642"/>
          </a:xfrm>
          <a:prstGeom prst="line">
            <a:avLst/>
          </a:prstGeom>
          <a:ln w="20244">
            <a:solidFill>
              <a:srgbClr val="F794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515320" y="2288830"/>
            <a:ext cx="312216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ectangle 114"/>
          <p:cNvSpPr/>
          <p:nvPr/>
        </p:nvSpPr>
        <p:spPr>
          <a:xfrm>
            <a:off x="-2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2880001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8" name="Picture 1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What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other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activation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functions?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59993" y="57781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common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52132" y="870336"/>
            <a:ext cx="50332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function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015834" y="870336"/>
            <a:ext cx="376956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Sign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function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195818" y="870336"/>
            <a:ext cx="25895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Sigmoid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function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493007" y="870336"/>
            <a:ext cx="12923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Linear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function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53936" y="1870350"/>
            <a:ext cx="50314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37578" y="1379448"/>
            <a:ext cx="494781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336358" y="1630082"/>
            <a:ext cx="444903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1568" y="1061630"/>
            <a:ext cx="48738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097583" y="1379448"/>
            <a:ext cx="368781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223885" y="1870350"/>
            <a:ext cx="35615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596363" y="1630082"/>
            <a:ext cx="31890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171561" y="1061630"/>
            <a:ext cx="36138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273956" y="1870350"/>
            <a:ext cx="25114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357611" y="1379448"/>
            <a:ext cx="24277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856302" y="1630108"/>
            <a:ext cx="19290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431589" y="1061694"/>
            <a:ext cx="235380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484585" y="1870350"/>
            <a:ext cx="13008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568240" y="1379448"/>
            <a:ext cx="12171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116384" y="1629993"/>
            <a:ext cx="66901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642357" y="1061605"/>
            <a:ext cx="1143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2732" y="2235034"/>
            <a:ext cx="51626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52360" y="2134485"/>
            <a:ext cx="49330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39000" y="2165142"/>
            <a:ext cx="484639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≥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9000" y="2310688"/>
            <a:ext cx="484639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&lt;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840902" y="2235034"/>
            <a:ext cx="39444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070531" y="2134485"/>
            <a:ext cx="37148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157171" y="2165142"/>
            <a:ext cx="36282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+1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≥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57170" y="2309376"/>
            <a:ext cx="36282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&lt;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270502" y="2235034"/>
            <a:ext cx="25148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648225" y="2213421"/>
            <a:ext cx="213717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515320" y="2288631"/>
            <a:ext cx="22700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1+</a:t>
            </a:r>
            <a:r>
              <a:rPr sz="597" b="0">
                <a:solidFill>
                  <a:srgbClr val="000000"/>
                </a:solidFill>
                <a:latin typeface="Cambria Math"/>
              </a:rPr>
              <a:t>e</a:t>
            </a:r>
            <a:r>
              <a:rPr sz="498" b="0">
                <a:solidFill>
                  <a:srgbClr val="000000"/>
                </a:solidFill>
                <a:latin typeface="Cambria Math"/>
              </a:rPr>
              <a:t>−</a:t>
            </a:r>
            <a:r>
              <a:rPr sz="498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653620" y="2235034"/>
            <a:ext cx="113177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X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45946" y="2674904"/>
            <a:ext cx="513945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hard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limit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function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905949" y="2674904"/>
            <a:ext cx="387944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hard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limit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function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054258" y="2494616"/>
            <a:ext cx="273113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always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be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in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964265" y="2614808"/>
            <a:ext cx="28211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016907" y="2735014"/>
            <a:ext cx="27684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for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all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inputs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between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414404" y="2855591"/>
            <a:ext cx="237099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±∞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384697" y="2614807"/>
            <a:ext cx="140069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often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for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linear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462231" y="2735012"/>
            <a:ext cx="13231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approximation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901193" y="3150915"/>
            <a:ext cx="8842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625932" y="3150691"/>
            <a:ext cx="1594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XOR?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12898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sigmoid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linear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instead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30105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XOR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operation?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650711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No.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Regardless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hard-limit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soft-limit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function,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single-layer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perceptrons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make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decisions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789891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way.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5" y="2058153"/>
            <a:ext cx="54254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Single-layer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perceptrons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can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classify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linearly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separable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patterns.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01197" y="3150919"/>
            <a:ext cx="884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4107" y="3150695"/>
            <a:ext cx="1612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So?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34503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linearly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separable?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70829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Multilayer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networks.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01197" y="3150917"/>
            <a:ext cx="884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3954" y="3150693"/>
            <a:ext cx="1614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099555" y="1585081"/>
            <a:ext cx="126527" cy="126527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099555" y="1945085"/>
            <a:ext cx="126527" cy="126527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99555" y="2305090"/>
            <a:ext cx="126527" cy="126527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1921164" y="1648345"/>
            <a:ext cx="15055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Freeform 39"/>
          <p:cNvSpPr/>
          <p:nvPr/>
        </p:nvSpPr>
        <p:spPr>
          <a:xfrm>
            <a:off x="2057400" y="1625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1921164" y="2008349"/>
            <a:ext cx="15055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2057400" y="1993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1921164" y="2368354"/>
            <a:ext cx="15055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2057400" y="2349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2228612" y="1664785"/>
            <a:ext cx="540406" cy="13511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/>
          <p:cNvSpPr/>
          <p:nvPr/>
        </p:nvSpPr>
        <p:spPr>
          <a:xfrm>
            <a:off x="2743200" y="1778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1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2228612" y="1697659"/>
            <a:ext cx="560369" cy="42030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 47"/>
          <p:cNvSpPr/>
          <p:nvPr/>
        </p:nvSpPr>
        <p:spPr>
          <a:xfrm>
            <a:off x="27686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 flipV="1">
            <a:off x="2228612" y="1856796"/>
            <a:ext cx="540406" cy="1351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2743200" y="1841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2228612" y="2024789"/>
            <a:ext cx="540406" cy="1351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2743200" y="2133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1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V="1">
            <a:off x="2228612" y="1898733"/>
            <a:ext cx="560369" cy="42030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2768600" y="1879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 flipV="1">
            <a:off x="2228612" y="2216801"/>
            <a:ext cx="540406" cy="13511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2743200" y="2197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2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 flipV="1">
            <a:off x="2972087" y="1676794"/>
            <a:ext cx="516940" cy="12924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Freeform 57"/>
          <p:cNvSpPr/>
          <p:nvPr/>
        </p:nvSpPr>
        <p:spPr>
          <a:xfrm>
            <a:off x="3467100" y="1663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2972087" y="1850659"/>
            <a:ext cx="516940" cy="12924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3467100" y="1955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1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2956431" y="1883550"/>
            <a:ext cx="552558" cy="41441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reeform 61"/>
          <p:cNvSpPr/>
          <p:nvPr/>
        </p:nvSpPr>
        <p:spPr>
          <a:xfrm>
            <a:off x="3479800" y="2273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2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 flipV="1">
            <a:off x="2956431" y="1718731"/>
            <a:ext cx="552558" cy="4144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 63"/>
          <p:cNvSpPr/>
          <p:nvPr/>
        </p:nvSpPr>
        <p:spPr>
          <a:xfrm>
            <a:off x="3479800" y="1701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 flipV="1">
            <a:off x="2972087" y="2036798"/>
            <a:ext cx="516940" cy="12924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3467100" y="2019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2972087" y="2210664"/>
            <a:ext cx="516940" cy="12924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Freeform 67"/>
          <p:cNvSpPr/>
          <p:nvPr/>
        </p:nvSpPr>
        <p:spPr>
          <a:xfrm>
            <a:off x="3467100" y="2311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3"/>
                </a:moveTo>
                <a:lnTo>
                  <a:pt x="1" y="0"/>
                </a:lnTo>
                <a:lnTo>
                  <a:pt x="2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3694844" y="1648345"/>
            <a:ext cx="12997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3810000" y="1625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3694844" y="2008349"/>
            <a:ext cx="12997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Freeform 71"/>
          <p:cNvSpPr/>
          <p:nvPr/>
        </p:nvSpPr>
        <p:spPr>
          <a:xfrm>
            <a:off x="3810000" y="1993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3694844" y="2368354"/>
            <a:ext cx="12997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Freeform 73"/>
          <p:cNvSpPr/>
          <p:nvPr/>
        </p:nvSpPr>
        <p:spPr>
          <a:xfrm>
            <a:off x="3810000" y="2349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8" name="Picture 7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Multilayer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59993" y="81079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multilayer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feedforward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59993" y="9828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layers.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59993" y="1293359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structure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consists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733167" y="1559498"/>
            <a:ext cx="405222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733167" y="1919505"/>
            <a:ext cx="405222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733167" y="2279499"/>
            <a:ext cx="405222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98796" y="1556424"/>
            <a:ext cx="18865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98796" y="1916419"/>
            <a:ext cx="18865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898796" y="2276425"/>
            <a:ext cx="18865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906484" y="2489239"/>
            <a:ext cx="387891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585096" y="2489239"/>
            <a:ext cx="320029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311409" y="2489239"/>
            <a:ext cx="24739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901195" y="3150930"/>
            <a:ext cx="8842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627978" y="3150706"/>
            <a:ext cx="1574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Hidden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layer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7142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‘hidden’?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085784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sheltered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direct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interaction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4" y="1301614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signals.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51597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observed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through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input/output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094" y="1731802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behaviour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0056" y="1946159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obvious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way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know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desired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94" y="2161989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should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0056" y="237634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desired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determined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itself.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01194" y="3150917"/>
            <a:ext cx="8842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25094" y="3150693"/>
            <a:ext cx="1603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Why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hidden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layer?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00909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223439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features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4" y="1439281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patterns.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653627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−→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continuous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6" y="191174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−→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continuous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+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discontinuous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0056" y="216985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multilayer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layers?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01194" y="3150916"/>
            <a:ext cx="8842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951" y="3150692"/>
            <a:ext cx="1614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How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do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multilayer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learn?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79045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method: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back-propagation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5" y="984566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similar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perceptron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4171" y="1275789"/>
            <a:ext cx="500122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1.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presented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layer,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9876" y="1513648"/>
            <a:ext cx="502551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2.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propagates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181" y="1665489"/>
            <a:ext cx="487121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before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generating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8238" y="1903347"/>
            <a:ext cx="502715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3.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generated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desired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error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calculated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181" y="2055188"/>
            <a:ext cx="487121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propagated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backwards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8492" y="2293046"/>
            <a:ext cx="502690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4.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adjusted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error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propagated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0055" y="2497807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typically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sigmoid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01194" y="3150916"/>
            <a:ext cx="8842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16140" y="3150692"/>
            <a:ext cx="1692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832513" y="997766"/>
            <a:ext cx="230279" cy="296073"/>
          </a:xfrm>
          <a:prstGeom prst="rect">
            <a:avLst/>
          </a:prstGeom>
          <a:noFill/>
          <a:ln w="657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832513" y="1465772"/>
            <a:ext cx="230279" cy="296073"/>
          </a:xfrm>
          <a:prstGeom prst="rect">
            <a:avLst/>
          </a:prstGeom>
          <a:noFill/>
          <a:ln w="657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832513" y="1933778"/>
            <a:ext cx="230279" cy="296073"/>
          </a:xfrm>
          <a:prstGeom prst="rect">
            <a:avLst/>
          </a:prstGeom>
          <a:noFill/>
          <a:ln w="6579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1633502" y="1145803"/>
            <a:ext cx="162825" cy="0"/>
          </a:xfrm>
          <a:prstGeom prst="line">
            <a:avLst/>
          </a:prstGeom>
          <a:ln w="657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Freeform 39"/>
          <p:cNvSpPr/>
          <p:nvPr/>
        </p:nvSpPr>
        <p:spPr>
          <a:xfrm>
            <a:off x="1778000" y="1117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1633502" y="1613808"/>
            <a:ext cx="162825" cy="0"/>
          </a:xfrm>
          <a:prstGeom prst="line">
            <a:avLst/>
          </a:prstGeom>
          <a:ln w="657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1778000" y="1587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1633502" y="2081814"/>
            <a:ext cx="162825" cy="0"/>
          </a:xfrm>
          <a:prstGeom prst="line">
            <a:avLst/>
          </a:prstGeom>
          <a:ln w="657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1778000" y="2057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2066082" y="1175399"/>
            <a:ext cx="628248" cy="157078"/>
          </a:xfrm>
          <a:prstGeom prst="line">
            <a:avLst/>
          </a:prstGeom>
          <a:ln w="657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/>
          <p:cNvSpPr/>
          <p:nvPr/>
        </p:nvSpPr>
        <p:spPr>
          <a:xfrm>
            <a:off x="2667000" y="13081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5" y="3"/>
                </a:moveTo>
                <a:lnTo>
                  <a:pt x="1" y="0"/>
                </a:lnTo>
                <a:lnTo>
                  <a:pt x="2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2066082" y="1234583"/>
            <a:ext cx="660543" cy="495446"/>
          </a:xfrm>
          <a:prstGeom prst="line">
            <a:avLst/>
          </a:prstGeom>
          <a:ln w="657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 47"/>
          <p:cNvSpPr/>
          <p:nvPr/>
        </p:nvSpPr>
        <p:spPr>
          <a:xfrm>
            <a:off x="2692400" y="17018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5" y="4"/>
                </a:moveTo>
                <a:lnTo>
                  <a:pt x="3" y="0"/>
                </a:lnTo>
                <a:lnTo>
                  <a:pt x="3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 flipV="1">
            <a:off x="2066082" y="1427134"/>
            <a:ext cx="628248" cy="157078"/>
          </a:xfrm>
          <a:prstGeom prst="line">
            <a:avLst/>
          </a:prstGeom>
          <a:ln w="657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2667000" y="14097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5" y="1"/>
                </a:moveTo>
                <a:lnTo>
                  <a:pt x="0" y="0"/>
                </a:lnTo>
                <a:lnTo>
                  <a:pt x="2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2066082" y="1643405"/>
            <a:ext cx="627138" cy="156800"/>
          </a:xfrm>
          <a:prstGeom prst="line">
            <a:avLst/>
          </a:prstGeom>
          <a:ln w="657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2667000" y="17653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5" y="3"/>
                </a:moveTo>
                <a:lnTo>
                  <a:pt x="1" y="0"/>
                </a:lnTo>
                <a:lnTo>
                  <a:pt x="2" y="3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V="1">
            <a:off x="2066082" y="1496900"/>
            <a:ext cx="661458" cy="496099"/>
          </a:xfrm>
          <a:prstGeom prst="line">
            <a:avLst/>
          </a:prstGeom>
          <a:ln w="657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2692400" y="14732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5" y="0"/>
                </a:moveTo>
                <a:lnTo>
                  <a:pt x="0" y="1"/>
                </a:lnTo>
                <a:lnTo>
                  <a:pt x="3" y="2"/>
                </a:lnTo>
                <a:lnTo>
                  <a:pt x="3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 flipV="1">
            <a:off x="2066082" y="1895417"/>
            <a:ext cx="627138" cy="156801"/>
          </a:xfrm>
          <a:prstGeom prst="line">
            <a:avLst/>
          </a:prstGeom>
          <a:ln w="657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2667000" y="18796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5" y="1"/>
                </a:moveTo>
                <a:lnTo>
                  <a:pt x="0" y="0"/>
                </a:lnTo>
                <a:lnTo>
                  <a:pt x="2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 flipV="1">
            <a:off x="3041084" y="1193613"/>
            <a:ext cx="587330" cy="146842"/>
          </a:xfrm>
          <a:prstGeom prst="line">
            <a:avLst/>
          </a:prstGeom>
          <a:ln w="657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Freeform 57"/>
          <p:cNvSpPr/>
          <p:nvPr/>
        </p:nvSpPr>
        <p:spPr>
          <a:xfrm>
            <a:off x="3606800" y="1168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1"/>
                </a:moveTo>
                <a:lnTo>
                  <a:pt x="0" y="0"/>
                </a:lnTo>
                <a:lnTo>
                  <a:pt x="2" y="2"/>
                </a:lnTo>
                <a:lnTo>
                  <a:pt x="1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3041084" y="1419156"/>
            <a:ext cx="591642" cy="147920"/>
          </a:xfrm>
          <a:prstGeom prst="line">
            <a:avLst/>
          </a:prstGeom>
          <a:ln w="657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3606800" y="15367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5" y="3"/>
                </a:moveTo>
                <a:lnTo>
                  <a:pt x="1" y="0"/>
                </a:lnTo>
                <a:lnTo>
                  <a:pt x="2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3013472" y="1477163"/>
            <a:ext cx="649164" cy="486869"/>
          </a:xfrm>
          <a:prstGeom prst="line">
            <a:avLst/>
          </a:prstGeom>
          <a:ln w="657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reeform 61"/>
          <p:cNvSpPr/>
          <p:nvPr/>
        </p:nvSpPr>
        <p:spPr>
          <a:xfrm>
            <a:off x="3632200" y="1930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4"/>
                </a:moveTo>
                <a:lnTo>
                  <a:pt x="2" y="0"/>
                </a:lnTo>
                <a:lnTo>
                  <a:pt x="2" y="3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 flipV="1">
            <a:off x="3014387" y="1264089"/>
            <a:ext cx="647574" cy="485678"/>
          </a:xfrm>
          <a:prstGeom prst="line">
            <a:avLst/>
          </a:prstGeom>
          <a:ln w="657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 63"/>
          <p:cNvSpPr/>
          <p:nvPr/>
        </p:nvSpPr>
        <p:spPr>
          <a:xfrm>
            <a:off x="3632200" y="1244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0"/>
                </a:moveTo>
                <a:lnTo>
                  <a:pt x="0" y="1"/>
                </a:lnTo>
                <a:lnTo>
                  <a:pt x="2" y="2"/>
                </a:lnTo>
                <a:lnTo>
                  <a:pt x="2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 flipV="1">
            <a:off x="3042194" y="1660541"/>
            <a:ext cx="590532" cy="147642"/>
          </a:xfrm>
          <a:prstGeom prst="line">
            <a:avLst/>
          </a:prstGeom>
          <a:ln w="657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3606800" y="16383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5" y="1"/>
                </a:moveTo>
                <a:lnTo>
                  <a:pt x="0" y="0"/>
                </a:lnTo>
                <a:lnTo>
                  <a:pt x="2" y="2"/>
                </a:lnTo>
                <a:lnTo>
                  <a:pt x="1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3042194" y="1887439"/>
            <a:ext cx="587038" cy="146769"/>
          </a:xfrm>
          <a:prstGeom prst="line">
            <a:avLst/>
          </a:prstGeom>
          <a:ln w="657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Freeform 67"/>
          <p:cNvSpPr/>
          <p:nvPr/>
        </p:nvSpPr>
        <p:spPr>
          <a:xfrm>
            <a:off x="3606800" y="2006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3"/>
                </a:moveTo>
                <a:lnTo>
                  <a:pt x="1" y="0"/>
                </a:lnTo>
                <a:lnTo>
                  <a:pt x="2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3983929" y="1145803"/>
            <a:ext cx="124317" cy="0"/>
          </a:xfrm>
          <a:prstGeom prst="line">
            <a:avLst/>
          </a:prstGeom>
          <a:ln w="657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4089400" y="1117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3979483" y="1613808"/>
            <a:ext cx="128763" cy="0"/>
          </a:xfrm>
          <a:prstGeom prst="line">
            <a:avLst/>
          </a:prstGeom>
          <a:ln w="657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Freeform 71"/>
          <p:cNvSpPr/>
          <p:nvPr/>
        </p:nvSpPr>
        <p:spPr>
          <a:xfrm>
            <a:off x="4089400" y="1587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3983085" y="2081814"/>
            <a:ext cx="125161" cy="0"/>
          </a:xfrm>
          <a:prstGeom prst="line">
            <a:avLst/>
          </a:prstGeom>
          <a:ln w="657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Freeform 73"/>
          <p:cNvSpPr/>
          <p:nvPr/>
        </p:nvSpPr>
        <p:spPr>
          <a:xfrm>
            <a:off x="4089400" y="2057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1947653" y="911800"/>
            <a:ext cx="1819387" cy="0"/>
          </a:xfrm>
          <a:prstGeom prst="line">
            <a:avLst/>
          </a:prstGeom>
          <a:ln w="1973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Freeform 75"/>
          <p:cNvSpPr/>
          <p:nvPr/>
        </p:nvSpPr>
        <p:spPr>
          <a:xfrm>
            <a:off x="3733800" y="863600"/>
            <a:ext cx="88900" cy="88900"/>
          </a:xfrm>
          <a:custGeom>
            <a:avLst/>
            <a:gdLst/>
            <a:ahLst/>
            <a:cxnLst/>
            <a:rect l="l" t="t" r="r" b="b"/>
            <a:pathLst>
              <a:path w="7" h="7">
                <a:moveTo>
                  <a:pt x="7" y="4"/>
                </a:moveTo>
                <a:lnTo>
                  <a:pt x="0" y="0"/>
                </a:lnTo>
                <a:lnTo>
                  <a:pt x="3" y="4"/>
                </a:lnTo>
                <a:lnTo>
                  <a:pt x="0" y="7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 flipH="1">
            <a:off x="2000288" y="2549820"/>
            <a:ext cx="1819388" cy="0"/>
          </a:xfrm>
          <a:prstGeom prst="line">
            <a:avLst/>
          </a:prstGeom>
          <a:ln w="1973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Freeform 77"/>
          <p:cNvSpPr/>
          <p:nvPr/>
        </p:nvSpPr>
        <p:spPr>
          <a:xfrm>
            <a:off x="1943100" y="2501900"/>
            <a:ext cx="88900" cy="88900"/>
          </a:xfrm>
          <a:custGeom>
            <a:avLst/>
            <a:gdLst/>
            <a:ahLst/>
            <a:cxnLst/>
            <a:rect l="l" t="t" r="r" b="b"/>
            <a:pathLst>
              <a:path w="7" h="7">
                <a:moveTo>
                  <a:pt x="0" y="4"/>
                </a:moveTo>
                <a:lnTo>
                  <a:pt x="7" y="7"/>
                </a:lnTo>
                <a:lnTo>
                  <a:pt x="5" y="4"/>
                </a:lnTo>
                <a:lnTo>
                  <a:pt x="7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2" name="Picture 8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Back-propagation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training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389123" y="1030318"/>
            <a:ext cx="4396273" cy="2791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18" b="0">
                <a:solidFill>
                  <a:srgbClr val="000000"/>
                </a:solidFill>
                <a:latin typeface="Cambria Math"/>
              </a:rPr>
              <a:t>x</a:t>
            </a:r>
            <a:r>
              <a:rPr sz="1036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389123" y="1498311"/>
            <a:ext cx="4396273" cy="2791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18" b="0">
                <a:solidFill>
                  <a:srgbClr val="000000"/>
                </a:solidFill>
                <a:latin typeface="Cambria Math"/>
              </a:rPr>
              <a:t>x</a:t>
            </a:r>
            <a:r>
              <a:rPr sz="1036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389123" y="1966320"/>
            <a:ext cx="4396273" cy="2791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18" b="0">
                <a:solidFill>
                  <a:srgbClr val="000000"/>
                </a:solidFill>
                <a:latin typeface="Cambria Math"/>
              </a:rPr>
              <a:t>x</a:t>
            </a:r>
            <a:r>
              <a:rPr sz="1036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919292" y="1060617"/>
            <a:ext cx="3866103" cy="2791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18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01989" y="1528609"/>
            <a:ext cx="3883406" cy="2791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18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900833" y="1995759"/>
            <a:ext cx="3884562" cy="2791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18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837000" y="1294613"/>
            <a:ext cx="2948395" cy="2791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18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836191" y="1761747"/>
            <a:ext cx="2949204" cy="2791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18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772011" y="1059758"/>
            <a:ext cx="2013384" cy="2791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18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776782" y="1528609"/>
            <a:ext cx="2008613" cy="2791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18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773365" y="1995759"/>
            <a:ext cx="2012031" cy="2791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18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204441" y="1026306"/>
            <a:ext cx="1580955" cy="2791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18" b="0">
                <a:solidFill>
                  <a:srgbClr val="000000"/>
                </a:solidFill>
                <a:latin typeface="Cambria Math"/>
              </a:rPr>
              <a:t>y</a:t>
            </a:r>
            <a:r>
              <a:rPr sz="1036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204441" y="1494315"/>
            <a:ext cx="1580955" cy="2791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18" b="0">
                <a:solidFill>
                  <a:srgbClr val="000000"/>
                </a:solidFill>
                <a:latin typeface="Cambria Math"/>
              </a:rPr>
              <a:t>y</a:t>
            </a:r>
            <a:r>
              <a:rPr sz="1036" b="0">
                <a:solidFill>
                  <a:srgbClr val="000000"/>
                </a:solidFill>
                <a:latin typeface="Cambria Math"/>
              </a:rPr>
              <a:t>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04441" y="1962308"/>
            <a:ext cx="1580955" cy="2791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18" b="0">
                <a:solidFill>
                  <a:srgbClr val="000000"/>
                </a:solidFill>
                <a:latin typeface="Cambria Math"/>
              </a:rPr>
              <a:t>y</a:t>
            </a:r>
            <a:r>
              <a:rPr sz="1036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725497" y="2358183"/>
            <a:ext cx="4059898" cy="1529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777" b="0">
                <a:solidFill>
                  <a:srgbClr val="000000"/>
                </a:solidFill>
                <a:latin typeface="Josefin Sans"/>
              </a:rPr>
              <a:t> </a:t>
            </a:r>
            <a:r>
              <a:rPr sz="77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625623" y="2358183"/>
            <a:ext cx="3159773" cy="1529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777" b="0">
                <a:solidFill>
                  <a:srgbClr val="000000"/>
                </a:solidFill>
                <a:latin typeface="Josefin Sans"/>
              </a:rPr>
              <a:t> </a:t>
            </a:r>
            <a:r>
              <a:rPr sz="77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567105" y="2358183"/>
            <a:ext cx="2218290" cy="1529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777" b="0">
                <a:solidFill>
                  <a:srgbClr val="000000"/>
                </a:solidFill>
                <a:latin typeface="Josefin Sans"/>
              </a:rPr>
              <a:t> </a:t>
            </a:r>
            <a:r>
              <a:rPr sz="77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537509" y="711929"/>
            <a:ext cx="3247887" cy="2039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1036" b="0">
                <a:solidFill>
                  <a:srgbClr val="000000"/>
                </a:solidFill>
                <a:latin typeface="Josefin Sans"/>
              </a:rPr>
              <a:t> </a:t>
            </a:r>
            <a:r>
              <a:rPr sz="1036" b="0">
                <a:solidFill>
                  <a:srgbClr val="000000"/>
                </a:solidFill>
                <a:latin typeface="Josefin Sans"/>
              </a:rPr>
              <a:t>signals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545219" y="2613088"/>
            <a:ext cx="3240176" cy="2039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6" b="0">
                <a:solidFill>
                  <a:srgbClr val="000000"/>
                </a:solidFill>
                <a:latin typeface="Josefin Sans"/>
              </a:rPr>
              <a:t>error</a:t>
            </a:r>
            <a:r>
              <a:rPr sz="1036" b="0">
                <a:solidFill>
                  <a:srgbClr val="000000"/>
                </a:solidFill>
                <a:latin typeface="Josefin Sans"/>
              </a:rPr>
              <a:t> </a:t>
            </a:r>
            <a:r>
              <a:rPr sz="1036" b="0">
                <a:solidFill>
                  <a:srgbClr val="000000"/>
                </a:solidFill>
                <a:latin typeface="Josefin Sans"/>
              </a:rPr>
              <a:t>signals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901196" y="3150918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39218" y="3150694"/>
            <a:ext cx="146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1587500" y="889000"/>
            <a:ext cx="1295400" cy="266700"/>
          </a:xfrm>
          <a:custGeom>
            <a:avLst/>
            <a:gdLst/>
            <a:ahLst/>
            <a:cxnLst/>
            <a:rect l="l" t="t" r="r" b="b"/>
            <a:pathLst>
              <a:path w="102" h="21">
                <a:moveTo>
                  <a:pt x="99" y="0"/>
                </a:moveTo>
                <a:lnTo>
                  <a:pt x="3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18"/>
                </a:lnTo>
                <a:lnTo>
                  <a:pt x="0" y="19"/>
                </a:lnTo>
                <a:lnTo>
                  <a:pt x="0" y="20"/>
                </a:lnTo>
                <a:lnTo>
                  <a:pt x="1" y="20"/>
                </a:lnTo>
                <a:lnTo>
                  <a:pt x="1" y="21"/>
                </a:lnTo>
                <a:lnTo>
                  <a:pt x="2" y="21"/>
                </a:lnTo>
                <a:lnTo>
                  <a:pt x="2" y="21"/>
                </a:lnTo>
                <a:lnTo>
                  <a:pt x="3" y="21"/>
                </a:lnTo>
                <a:lnTo>
                  <a:pt x="3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1"/>
                </a:lnTo>
                <a:lnTo>
                  <a:pt x="100" y="21"/>
                </a:lnTo>
                <a:lnTo>
                  <a:pt x="101" y="21"/>
                </a:lnTo>
                <a:lnTo>
                  <a:pt x="101" y="20"/>
                </a:lnTo>
                <a:lnTo>
                  <a:pt x="101" y="20"/>
                </a:lnTo>
                <a:lnTo>
                  <a:pt x="102" y="19"/>
                </a:lnTo>
                <a:lnTo>
                  <a:pt x="102" y="18"/>
                </a:lnTo>
                <a:lnTo>
                  <a:pt x="102" y="3"/>
                </a:lnTo>
                <a:lnTo>
                  <a:pt x="102" y="3"/>
                </a:lnTo>
                <a:lnTo>
                  <a:pt x="101" y="2"/>
                </a:lnTo>
                <a:lnTo>
                  <a:pt x="101" y="2"/>
                </a:lnTo>
                <a:lnTo>
                  <a:pt x="101" y="1"/>
                </a:lnTo>
                <a:lnTo>
                  <a:pt x="100" y="1"/>
                </a:lnTo>
                <a:lnTo>
                  <a:pt x="100" y="1"/>
                </a:lnTo>
                <a:lnTo>
                  <a:pt x="99" y="0"/>
                </a:lnTo>
                <a:lnTo>
                  <a:pt x="99" y="0"/>
                </a:lnTo>
                <a:close/>
              </a:path>
            </a:pathLst>
          </a:custGeom>
          <a:solidFill>
            <a:srgbClr val="99AD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587500" y="1168400"/>
            <a:ext cx="1295400" cy="266700"/>
          </a:xfrm>
          <a:custGeom>
            <a:avLst/>
            <a:gdLst/>
            <a:ahLst/>
            <a:cxnLst/>
            <a:rect l="l" t="t" r="r" b="b"/>
            <a:pathLst>
              <a:path w="102" h="21">
                <a:moveTo>
                  <a:pt x="99" y="0"/>
                </a:move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18"/>
                </a:lnTo>
                <a:lnTo>
                  <a:pt x="0" y="18"/>
                </a:lnTo>
                <a:lnTo>
                  <a:pt x="0" y="19"/>
                </a:lnTo>
                <a:lnTo>
                  <a:pt x="1" y="20"/>
                </a:lnTo>
                <a:lnTo>
                  <a:pt x="1" y="20"/>
                </a:lnTo>
                <a:lnTo>
                  <a:pt x="2" y="20"/>
                </a:lnTo>
                <a:lnTo>
                  <a:pt x="2" y="21"/>
                </a:lnTo>
                <a:lnTo>
                  <a:pt x="3" y="21"/>
                </a:lnTo>
                <a:lnTo>
                  <a:pt x="3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1"/>
                </a:lnTo>
                <a:lnTo>
                  <a:pt x="100" y="20"/>
                </a:lnTo>
                <a:lnTo>
                  <a:pt x="101" y="20"/>
                </a:lnTo>
                <a:lnTo>
                  <a:pt x="101" y="20"/>
                </a:lnTo>
                <a:lnTo>
                  <a:pt x="101" y="19"/>
                </a:lnTo>
                <a:lnTo>
                  <a:pt x="102" y="18"/>
                </a:lnTo>
                <a:lnTo>
                  <a:pt x="102" y="18"/>
                </a:lnTo>
                <a:lnTo>
                  <a:pt x="102" y="3"/>
                </a:lnTo>
                <a:lnTo>
                  <a:pt x="102" y="2"/>
                </a:lnTo>
                <a:lnTo>
                  <a:pt x="101" y="2"/>
                </a:lnTo>
                <a:lnTo>
                  <a:pt x="101" y="1"/>
                </a:lnTo>
                <a:lnTo>
                  <a:pt x="101" y="1"/>
                </a:lnTo>
                <a:lnTo>
                  <a:pt x="100" y="0"/>
                </a:lnTo>
                <a:lnTo>
                  <a:pt x="100" y="0"/>
                </a:lnTo>
                <a:lnTo>
                  <a:pt x="99" y="0"/>
                </a:lnTo>
                <a:lnTo>
                  <a:pt x="99" y="0"/>
                </a:lnTo>
                <a:close/>
              </a:path>
            </a:pathLst>
          </a:custGeom>
          <a:solidFill>
            <a:srgbClr val="6685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2882900" y="1168400"/>
            <a:ext cx="1282700" cy="266700"/>
          </a:xfrm>
          <a:custGeom>
            <a:avLst/>
            <a:gdLst/>
            <a:ahLst/>
            <a:cxnLst/>
            <a:rect l="l" t="t" r="r" b="b"/>
            <a:pathLst>
              <a:path w="101" h="21">
                <a:moveTo>
                  <a:pt x="98" y="0"/>
                </a:move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18"/>
                </a:lnTo>
                <a:lnTo>
                  <a:pt x="0" y="18"/>
                </a:lnTo>
                <a:lnTo>
                  <a:pt x="0" y="19"/>
                </a:lnTo>
                <a:lnTo>
                  <a:pt x="0" y="20"/>
                </a:lnTo>
                <a:lnTo>
                  <a:pt x="1" y="20"/>
                </a:lnTo>
                <a:lnTo>
                  <a:pt x="1" y="20"/>
                </a:lnTo>
                <a:lnTo>
                  <a:pt x="2" y="21"/>
                </a:lnTo>
                <a:lnTo>
                  <a:pt x="2" y="21"/>
                </a:lnTo>
                <a:lnTo>
                  <a:pt x="3" y="21"/>
                </a:lnTo>
                <a:lnTo>
                  <a:pt x="98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0"/>
                </a:lnTo>
                <a:lnTo>
                  <a:pt x="100" y="20"/>
                </a:lnTo>
                <a:lnTo>
                  <a:pt x="101" y="20"/>
                </a:lnTo>
                <a:lnTo>
                  <a:pt x="101" y="19"/>
                </a:lnTo>
                <a:lnTo>
                  <a:pt x="101" y="18"/>
                </a:lnTo>
                <a:lnTo>
                  <a:pt x="101" y="18"/>
                </a:lnTo>
                <a:lnTo>
                  <a:pt x="101" y="3"/>
                </a:lnTo>
                <a:lnTo>
                  <a:pt x="101" y="2"/>
                </a:lnTo>
                <a:lnTo>
                  <a:pt x="101" y="2"/>
                </a:lnTo>
                <a:lnTo>
                  <a:pt x="101" y="1"/>
                </a:lnTo>
                <a:lnTo>
                  <a:pt x="100" y="1"/>
                </a:lnTo>
                <a:lnTo>
                  <a:pt x="100" y="0"/>
                </a:lnTo>
                <a:lnTo>
                  <a:pt x="99" y="0"/>
                </a:lnTo>
                <a:lnTo>
                  <a:pt x="99" y="0"/>
                </a:lnTo>
                <a:lnTo>
                  <a:pt x="98" y="0"/>
                </a:lnTo>
                <a:close/>
              </a:path>
            </a:pathLst>
          </a:custGeom>
          <a:solidFill>
            <a:srgbClr val="335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2882900" y="889000"/>
            <a:ext cx="1282700" cy="266700"/>
          </a:xfrm>
          <a:custGeom>
            <a:avLst/>
            <a:gdLst/>
            <a:ahLst/>
            <a:cxnLst/>
            <a:rect l="l" t="t" r="r" b="b"/>
            <a:pathLst>
              <a:path w="101" h="21">
                <a:moveTo>
                  <a:pt x="98" y="0"/>
                </a:move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18"/>
                </a:lnTo>
                <a:lnTo>
                  <a:pt x="0" y="19"/>
                </a:lnTo>
                <a:lnTo>
                  <a:pt x="0" y="20"/>
                </a:lnTo>
                <a:lnTo>
                  <a:pt x="0" y="20"/>
                </a:lnTo>
                <a:lnTo>
                  <a:pt x="1" y="21"/>
                </a:lnTo>
                <a:lnTo>
                  <a:pt x="1" y="21"/>
                </a:lnTo>
                <a:lnTo>
                  <a:pt x="2" y="21"/>
                </a:lnTo>
                <a:lnTo>
                  <a:pt x="2" y="21"/>
                </a:lnTo>
                <a:lnTo>
                  <a:pt x="3" y="21"/>
                </a:lnTo>
                <a:lnTo>
                  <a:pt x="98" y="21"/>
                </a:lnTo>
                <a:lnTo>
                  <a:pt x="99" y="21"/>
                </a:lnTo>
                <a:lnTo>
                  <a:pt x="99" y="21"/>
                </a:lnTo>
                <a:lnTo>
                  <a:pt x="100" y="21"/>
                </a:lnTo>
                <a:lnTo>
                  <a:pt x="100" y="21"/>
                </a:lnTo>
                <a:lnTo>
                  <a:pt x="101" y="20"/>
                </a:lnTo>
                <a:lnTo>
                  <a:pt x="101" y="20"/>
                </a:lnTo>
                <a:lnTo>
                  <a:pt x="101" y="19"/>
                </a:lnTo>
                <a:lnTo>
                  <a:pt x="101" y="18"/>
                </a:lnTo>
                <a:lnTo>
                  <a:pt x="101" y="3"/>
                </a:lnTo>
                <a:lnTo>
                  <a:pt x="101" y="3"/>
                </a:lnTo>
                <a:lnTo>
                  <a:pt x="101" y="2"/>
                </a:lnTo>
                <a:lnTo>
                  <a:pt x="101" y="2"/>
                </a:lnTo>
                <a:lnTo>
                  <a:pt x="100" y="1"/>
                </a:lnTo>
                <a:lnTo>
                  <a:pt x="100" y="1"/>
                </a:lnTo>
                <a:lnTo>
                  <a:pt x="99" y="1"/>
                </a:lnTo>
                <a:lnTo>
                  <a:pt x="99" y="0"/>
                </a:lnTo>
                <a:lnTo>
                  <a:pt x="98" y="0"/>
                </a:lnTo>
                <a:close/>
              </a:path>
            </a:pathLst>
          </a:cu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552700" y="8382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26" h="26">
                <a:moveTo>
                  <a:pt x="0" y="26"/>
                </a:moveTo>
                <a:lnTo>
                  <a:pt x="26" y="26"/>
                </a:lnTo>
                <a:lnTo>
                  <a:pt x="26" y="0"/>
                </a:lnTo>
                <a:lnTo>
                  <a:pt x="21" y="1"/>
                </a:lnTo>
                <a:lnTo>
                  <a:pt x="16" y="2"/>
                </a:lnTo>
                <a:lnTo>
                  <a:pt x="11" y="4"/>
                </a:lnTo>
                <a:lnTo>
                  <a:pt x="8" y="8"/>
                </a:lnTo>
                <a:lnTo>
                  <a:pt x="5" y="11"/>
                </a:lnTo>
                <a:lnTo>
                  <a:pt x="2" y="16"/>
                </a:lnTo>
                <a:lnTo>
                  <a:pt x="1" y="20"/>
                </a:lnTo>
                <a:lnTo>
                  <a:pt x="0" y="26"/>
                </a:lnTo>
                <a:close/>
              </a:path>
            </a:pathLst>
          </a:custGeom>
          <a:solidFill>
            <a:srgbClr val="F79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552700" y="1168400"/>
            <a:ext cx="330200" cy="317500"/>
          </a:xfrm>
          <a:custGeom>
            <a:avLst/>
            <a:gdLst/>
            <a:ahLst/>
            <a:cxnLst/>
            <a:rect l="l" t="t" r="r" b="b"/>
            <a:pathLst>
              <a:path w="26" h="25">
                <a:moveTo>
                  <a:pt x="0" y="0"/>
                </a:moveTo>
                <a:lnTo>
                  <a:pt x="26" y="0"/>
                </a:lnTo>
                <a:lnTo>
                  <a:pt x="26" y="25"/>
                </a:lnTo>
                <a:lnTo>
                  <a:pt x="21" y="25"/>
                </a:lnTo>
                <a:lnTo>
                  <a:pt x="16" y="23"/>
                </a:lnTo>
                <a:lnTo>
                  <a:pt x="11" y="21"/>
                </a:lnTo>
                <a:lnTo>
                  <a:pt x="8" y="18"/>
                </a:lnTo>
                <a:lnTo>
                  <a:pt x="5" y="14"/>
                </a:lnTo>
                <a:lnTo>
                  <a:pt x="2" y="10"/>
                </a:lnTo>
                <a:lnTo>
                  <a:pt x="1" y="5"/>
                </a:lnTo>
                <a:lnTo>
                  <a:pt x="0" y="0"/>
                </a:lnTo>
                <a:close/>
              </a:path>
            </a:pathLst>
          </a:custGeom>
          <a:solidFill>
            <a:srgbClr val="F9A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882900" y="1168400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25" h="25">
                <a:moveTo>
                  <a:pt x="25" y="0"/>
                </a:moveTo>
                <a:lnTo>
                  <a:pt x="0" y="0"/>
                </a:lnTo>
                <a:lnTo>
                  <a:pt x="0" y="25"/>
                </a:lnTo>
                <a:lnTo>
                  <a:pt x="5" y="25"/>
                </a:lnTo>
                <a:lnTo>
                  <a:pt x="10" y="23"/>
                </a:lnTo>
                <a:lnTo>
                  <a:pt x="14" y="21"/>
                </a:lnTo>
                <a:lnTo>
                  <a:pt x="18" y="18"/>
                </a:lnTo>
                <a:lnTo>
                  <a:pt x="21" y="14"/>
                </a:lnTo>
                <a:lnTo>
                  <a:pt x="23" y="10"/>
                </a:lnTo>
                <a:lnTo>
                  <a:pt x="25" y="5"/>
                </a:lnTo>
                <a:lnTo>
                  <a:pt x="25" y="0"/>
                </a:lnTo>
                <a:close/>
              </a:path>
            </a:pathLst>
          </a:custGeom>
          <a:solidFill>
            <a:srgbClr val="FAB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2882900" y="838200"/>
            <a:ext cx="317500" cy="330200"/>
          </a:xfrm>
          <a:custGeom>
            <a:avLst/>
            <a:gdLst/>
            <a:ahLst/>
            <a:cxnLst/>
            <a:rect l="l" t="t" r="r" b="b"/>
            <a:pathLst>
              <a:path w="25" h="26">
                <a:moveTo>
                  <a:pt x="25" y="26"/>
                </a:moveTo>
                <a:lnTo>
                  <a:pt x="0" y="26"/>
                </a:lnTo>
                <a:lnTo>
                  <a:pt x="0" y="0"/>
                </a:lnTo>
                <a:lnTo>
                  <a:pt x="5" y="1"/>
                </a:lnTo>
                <a:lnTo>
                  <a:pt x="10" y="2"/>
                </a:lnTo>
                <a:lnTo>
                  <a:pt x="14" y="4"/>
                </a:lnTo>
                <a:lnTo>
                  <a:pt x="18" y="8"/>
                </a:lnTo>
                <a:lnTo>
                  <a:pt x="21" y="11"/>
                </a:lnTo>
                <a:lnTo>
                  <a:pt x="23" y="16"/>
                </a:lnTo>
                <a:lnTo>
                  <a:pt x="25" y="20"/>
                </a:lnTo>
                <a:lnTo>
                  <a:pt x="25" y="26"/>
                </a:lnTo>
                <a:close/>
              </a:path>
            </a:pathLst>
          </a:custGeom>
          <a:solidFill>
            <a:srgbClr val="FCD4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2555941" y="1163450"/>
            <a:ext cx="648133" cy="0"/>
          </a:xfrm>
          <a:prstGeom prst="line">
            <a:avLst/>
          </a:prstGeom>
          <a:ln w="3922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880007" y="839384"/>
            <a:ext cx="0" cy="648132"/>
          </a:xfrm>
          <a:prstGeom prst="line">
            <a:avLst/>
          </a:prstGeom>
          <a:ln w="3922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Back-propagation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training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97001" y="983495"/>
            <a:ext cx="4088395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Initialisation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97001" y="1254199"/>
            <a:ext cx="4088395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Activation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95615" y="1245173"/>
            <a:ext cx="2489780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Weight</a:t>
            </a:r>
            <a:r>
              <a:rPr sz="845" b="1">
                <a:solidFill>
                  <a:srgbClr val="FFFFFF"/>
                </a:solidFill>
                <a:latin typeface="Josefin Sans"/>
              </a:rPr>
              <a:t> </a:t>
            </a:r>
            <a:r>
              <a:rPr sz="845" b="1">
                <a:solidFill>
                  <a:srgbClr val="FFFFFF"/>
                </a:solidFill>
                <a:latin typeface="Josefin Sans"/>
              </a:rPr>
              <a:t>training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43736" y="980650"/>
            <a:ext cx="2141659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Iteration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390403" y="635105"/>
            <a:ext cx="4394992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Set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all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weights,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and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threshold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61497" y="742963"/>
            <a:ext cx="442389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numbers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in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[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0</a:t>
            </a:r>
            <a:r>
              <a:rPr sz="694" b="0">
                <a:solidFill>
                  <a:srgbClr val="000000"/>
                </a:solidFill>
                <a:latin typeface="Cambria Math"/>
              </a:rPr>
              <a:t>.</a:t>
            </a:r>
            <a:r>
              <a:rPr sz="694" b="0">
                <a:solidFill>
                  <a:srgbClr val="000000"/>
                </a:solidFill>
                <a:latin typeface="Cambria Math"/>
              </a:rPr>
              <a:t>5</a:t>
            </a:r>
            <a:r>
              <a:rPr sz="694" b="0">
                <a:solidFill>
                  <a:srgbClr val="000000"/>
                </a:solidFill>
                <a:latin typeface="Cambria Math"/>
              </a:rPr>
              <a:t>,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0</a:t>
            </a:r>
            <a:r>
              <a:rPr sz="694" b="0">
                <a:solidFill>
                  <a:srgbClr val="000000"/>
                </a:solidFill>
                <a:latin typeface="Cambria Math"/>
              </a:rPr>
              <a:t>.</a:t>
            </a:r>
            <a:r>
              <a:rPr sz="694" b="0">
                <a:solidFill>
                  <a:srgbClr val="000000"/>
                </a:solidFill>
                <a:latin typeface="Cambria Math"/>
              </a:rPr>
              <a:t>5]</a:t>
            </a:r>
            <a:r>
              <a:rPr sz="694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935" y="1488897"/>
            <a:ext cx="4485460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of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18766" y="1644866"/>
            <a:ext cx="416662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 sigmoid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40726" y="1543620"/>
            <a:ext cx="364466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_x0014_</a:t>
            </a:r>
            <a:r>
              <a:rPr sz="463" b="0">
                <a:solidFill>
                  <a:srgbClr val="000000"/>
                </a:solidFill>
                <a:latin typeface="Cambria Math"/>
              </a:rPr>
              <a:t> </a:t>
            </a:r>
            <a:r>
              <a:rPr sz="463" b="0">
                <a:solidFill>
                  <a:srgbClr val="000000"/>
                </a:solidFill>
                <a:latin typeface="Cambria Math"/>
              </a:rPr>
              <a:t>n</a:t>
            </a:r>
            <a:r>
              <a:rPr sz="694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188588" y="1743599"/>
            <a:ext cx="3596807" cy="911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i</a:t>
            </a:r>
            <a:r>
              <a:rPr sz="463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20894" y="1643722"/>
            <a:ext cx="346450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x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24770" y="1583825"/>
            <a:ext cx="30606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_x0015_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309728" y="1908126"/>
            <a:ext cx="4475667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of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67017" y="2090570"/>
            <a:ext cx="421837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 sigmoid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95571" y="2003055"/>
            <a:ext cx="368982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"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62851" y="2029725"/>
            <a:ext cx="362254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n</a:t>
            </a:r>
            <a:r>
              <a:rPr sz="694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148482" y="2189303"/>
            <a:ext cx="3636913" cy="911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463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288071" y="2089426"/>
            <a:ext cx="349732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x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719730" y="2003055"/>
            <a:ext cx="306566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#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87374" y="1496485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error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062552" y="1496821"/>
            <a:ext cx="172284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e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d,k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87374" y="1708038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error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gradient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163860" y="1815897"/>
            <a:ext cx="262153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78220" y="1816232"/>
            <a:ext cx="170717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(1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)</a:t>
            </a:r>
            <a:r>
              <a:rPr sz="694" b="0">
                <a:solidFill>
                  <a:srgbClr val="000000"/>
                </a:solidFill>
                <a:latin typeface="Cambria Math"/>
              </a:rPr>
              <a:t>e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163870" y="1992561"/>
            <a:ext cx="26215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941574" y="1992896"/>
            <a:ext cx="18438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(1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66826" y="1933195"/>
            <a:ext cx="121856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l</a:t>
            </a:r>
            <a:r>
              <a:rPr sz="694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49159" y="2094653"/>
            <a:ext cx="1236236" cy="911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463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695352" y="1994040"/>
            <a:ext cx="1090043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987374" y="2259180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corrections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163860" y="2367038"/>
            <a:ext cx="262153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033823" y="2367374"/>
            <a:ext cx="1751572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α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y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63860" y="2474897"/>
            <a:ext cx="262153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049235" y="2475232"/>
            <a:ext cx="1736160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α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x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987374" y="2686450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new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163870" y="2794308"/>
            <a:ext cx="26215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058980" y="2795788"/>
            <a:ext cx="172641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jk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63870" y="2902167"/>
            <a:ext cx="2621525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neurons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084716" y="2903646"/>
            <a:ext cx="1700679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+ 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w</a:t>
            </a:r>
            <a:r>
              <a:rPr sz="463" b="0">
                <a:solidFill>
                  <a:srgbClr val="000000"/>
                </a:solidFill>
                <a:latin typeface="Cambria Math"/>
              </a:rPr>
              <a:t>ij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25297" y="2694038"/>
            <a:ext cx="516009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threshold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corrections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α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(</a:t>
            </a:r>
            <a:r>
              <a:rPr sz="694" b="0">
                <a:solidFill>
                  <a:srgbClr val="000000"/>
                </a:solidFill>
                <a:latin typeface="Cambria Math"/>
              </a:rPr>
              <a:t>−</a:t>
            </a:r>
            <a:r>
              <a:rPr sz="694" b="0">
                <a:solidFill>
                  <a:srgbClr val="000000"/>
                </a:solidFill>
                <a:latin typeface="Cambria Math"/>
              </a:rPr>
              <a:t>1)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×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δ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5297" y="2913190"/>
            <a:ext cx="516009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new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threshold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26531" y="2914669"/>
            <a:ext cx="3958864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</a:t>
            </a:r>
            <a:r>
              <a:rPr sz="694" b="0">
                <a:solidFill>
                  <a:srgbClr val="000000"/>
                </a:solidFill>
                <a:latin typeface="Cambria Math"/>
              </a:rPr>
              <a:t>=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  <a:r>
              <a:rPr sz="694" b="0">
                <a:solidFill>
                  <a:srgbClr val="000000"/>
                </a:solidFill>
                <a:latin typeface="Cambria Math"/>
              </a:rPr>
              <a:t> + ∆</a:t>
            </a:r>
            <a:r>
              <a:rPr sz="694" b="0">
                <a:solidFill>
                  <a:srgbClr val="000000"/>
                </a:solidFill>
                <a:latin typeface="Cambria Math"/>
              </a:rPr>
              <a:t>θ</a:t>
            </a:r>
            <a:r>
              <a:rPr sz="463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987374" y="532581"/>
            <a:ext cx="279802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Repeat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the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266847" y="640439"/>
            <a:ext cx="2518548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1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–</a:t>
            </a:r>
            <a:r>
              <a:rPr sz="694" b="1">
                <a:solidFill>
                  <a:srgbClr val="000000"/>
                </a:solidFill>
                <a:latin typeface="Josefin Sans"/>
              </a:rPr>
              <a:t> </a:t>
            </a:r>
            <a:r>
              <a:rPr sz="694" b="1">
                <a:solidFill>
                  <a:srgbClr val="000000"/>
                </a:solidFill>
                <a:latin typeface="Josefin Sans"/>
              </a:rPr>
              <a:t>Weight</a:t>
            </a:r>
            <a:r>
              <a:rPr sz="694" b="1">
                <a:solidFill>
                  <a:srgbClr val="000000"/>
                </a:solidFill>
                <a:latin typeface="Josefin Sans"/>
              </a:rPr>
              <a:t> </a:t>
            </a:r>
            <a:r>
              <a:rPr sz="694" b="1">
                <a:solidFill>
                  <a:srgbClr val="000000"/>
                </a:solidFill>
                <a:latin typeface="Josefin Sans"/>
              </a:rPr>
              <a:t>training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–</a:t>
            </a:r>
            <a:r>
              <a:rPr sz="694" b="1">
                <a:solidFill>
                  <a:srgbClr val="000000"/>
                </a:solidFill>
                <a:latin typeface="Josefin Sans"/>
              </a:rPr>
              <a:t> </a:t>
            </a:r>
            <a:r>
              <a:rPr sz="694" b="1">
                <a:solidFill>
                  <a:srgbClr val="000000"/>
                </a:solidFill>
                <a:latin typeface="Josefin Sans"/>
              </a:rPr>
              <a:t>Iteration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962744" y="748297"/>
            <a:ext cx="1822651" cy="1367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4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694" b="0">
                <a:solidFill>
                  <a:srgbClr val="000000"/>
                </a:solidFill>
                <a:latin typeface="Josefin Sans"/>
              </a:rPr>
              <a:t> </a:t>
            </a:r>
            <a:r>
              <a:rPr sz="694" b="0">
                <a:solidFill>
                  <a:srgbClr val="000000"/>
                </a:solidFill>
                <a:latin typeface="Josefin Sans"/>
              </a:rPr>
              <a:t>(convergence)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735035" y="977344"/>
            <a:ext cx="3050360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711306" y="1249681"/>
            <a:ext cx="3074089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89332" y="1249179"/>
            <a:ext cx="2796063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989332" y="977344"/>
            <a:ext cx="2796063" cy="16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5" b="1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901196" y="3150917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25020" y="3150693"/>
            <a:ext cx="1603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244483" y="1213345"/>
            <a:ext cx="622922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67405" y="1213345"/>
            <a:ext cx="648118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44483" y="1436027"/>
            <a:ext cx="311454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555938" y="1436027"/>
            <a:ext cx="311454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67405" y="1436027"/>
            <a:ext cx="648118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244483" y="1886458"/>
            <a:ext cx="311454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555938" y="1886458"/>
            <a:ext cx="311454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67405" y="1886458"/>
            <a:ext cx="648118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244483" y="2331834"/>
            <a:ext cx="311454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555938" y="2331834"/>
            <a:ext cx="311454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67405" y="2331834"/>
            <a:ext cx="648118" cy="222681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2244483" y="1661248"/>
            <a:ext cx="31145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555938" y="1661248"/>
            <a:ext cx="31145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867405" y="1661248"/>
            <a:ext cx="64811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Question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9993" y="87306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XOR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(exclusive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operation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multilayer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network?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61564" y="1248912"/>
            <a:ext cx="342383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Inputs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041205" y="1248912"/>
            <a:ext cx="27441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XOR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320391" y="1473507"/>
            <a:ext cx="34650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631858" y="1473507"/>
            <a:ext cx="31535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43313" y="1471711"/>
            <a:ext cx="28420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1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 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∪</a:t>
            </a:r>
            <a:r>
              <a:rPr sz="1090" b="0">
                <a:solidFill>
                  <a:srgbClr val="FFFFFF"/>
                </a:solidFill>
                <a:latin typeface="Cambria Math"/>
              </a:rPr>
              <a:t>x</a:t>
            </a:r>
            <a:r>
              <a:rPr sz="797" b="0">
                <a:solidFill>
                  <a:srgbClr val="FFFFFF"/>
                </a:solidFill>
                <a:latin typeface="Cambria Math"/>
              </a:rP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57335" y="1698934"/>
            <a:ext cx="342806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668786" y="1698934"/>
            <a:ext cx="31166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148569" y="1698934"/>
            <a:ext cx="26368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57335" y="1921616"/>
            <a:ext cx="342806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689846" y="1921616"/>
            <a:ext cx="309554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169640" y="1921616"/>
            <a:ext cx="261575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78392" y="2144297"/>
            <a:ext cx="34070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668783" y="2144297"/>
            <a:ext cx="31166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169625" y="2144297"/>
            <a:ext cx="261577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378392" y="2366979"/>
            <a:ext cx="34070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89846" y="2366979"/>
            <a:ext cx="309554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148583" y="2366979"/>
            <a:ext cx="26368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901196" y="3150917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24258" y="3150693"/>
            <a:ext cx="1611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894251" y="1206392"/>
            <a:ext cx="177138" cy="227748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894251" y="1926401"/>
            <a:ext cx="177138" cy="227748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381161" y="1320266"/>
            <a:ext cx="48525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1854200" y="1295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381161" y="2040275"/>
            <a:ext cx="48525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1854200" y="2019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2073919" y="1320266"/>
            <a:ext cx="83790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2895600" y="1295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2073919" y="1380966"/>
            <a:ext cx="864009" cy="57603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2908300" y="1930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2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2073919" y="1404024"/>
            <a:ext cx="863276" cy="57552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2908300" y="1384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0"/>
                </a:moveTo>
                <a:lnTo>
                  <a:pt x="0" y="1"/>
                </a:lnTo>
                <a:lnTo>
                  <a:pt x="2" y="2"/>
                </a:lnTo>
                <a:lnTo>
                  <a:pt x="2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2073919" y="2040275"/>
            <a:ext cx="83879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2895600" y="2019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3182077" y="1360013"/>
            <a:ext cx="817520" cy="27250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3975100" y="1612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1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V="1">
            <a:off x="3181242" y="1728019"/>
            <a:ext cx="818355" cy="27278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3975100" y="1714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4268546" y="1680270"/>
            <a:ext cx="9627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4343400" y="1663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3062833" y="818580"/>
            <a:ext cx="0" cy="35068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3048000" y="1155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V="1">
            <a:off x="3062833" y="2190399"/>
            <a:ext cx="0" cy="3515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3048000" y="2159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0"/>
                </a:moveTo>
                <a:lnTo>
                  <a:pt x="0" y="4"/>
                </a:lnTo>
                <a:lnTo>
                  <a:pt x="1" y="2"/>
                </a:lnTo>
                <a:lnTo>
                  <a:pt x="3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4142847" y="1178584"/>
            <a:ext cx="0" cy="35068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4127500" y="1511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5" name="Picture 6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XOR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93177" y="1231432"/>
            <a:ext cx="45922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93177" y="1951433"/>
            <a:ext cx="45922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960993" y="1254738"/>
            <a:ext cx="3824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947697" y="1974727"/>
            <a:ext cx="38376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026790" y="1254078"/>
            <a:ext cx="27586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026930" y="1974727"/>
            <a:ext cx="275846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106303" y="1614072"/>
            <a:ext cx="16790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74301" y="609940"/>
            <a:ext cx="281109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74301" y="2608183"/>
            <a:ext cx="281109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054296" y="969947"/>
            <a:ext cx="17310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438801" y="1588353"/>
            <a:ext cx="134659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398978" y="1142507"/>
            <a:ext cx="338641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475928" y="1823607"/>
            <a:ext cx="33094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475381" y="1359613"/>
            <a:ext cx="331001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99423" y="2040346"/>
            <a:ext cx="33859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496284" y="1322504"/>
            <a:ext cx="228911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495864" y="1860488"/>
            <a:ext cx="228953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111524" y="936017"/>
            <a:ext cx="267387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111524" y="2282954"/>
            <a:ext cx="267387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91520" y="1296024"/>
            <a:ext cx="159387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θ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811933" y="2792871"/>
            <a:ext cx="39734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864332" y="2792871"/>
            <a:ext cx="29210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948543" y="2792871"/>
            <a:ext cx="183685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901196" y="3150917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623813" y="3150693"/>
            <a:ext cx="1615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XOR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38765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process?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5" y="1645772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squared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errors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threshold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e.g.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0.001).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01197" y="3150918"/>
            <a:ext cx="8841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3128" y="3150694"/>
            <a:ext cx="16226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Question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43204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initial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(weights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thresholds),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60411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find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solution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01196" y="3150917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2975" y="3150693"/>
            <a:ext cx="1624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60073" cy="324004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88" cy="32399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22610" y="1461234"/>
            <a:ext cx="1662785" cy="4879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78" b="1">
                <a:solidFill>
                  <a:srgbClr val="FFFFFF"/>
                </a:solidFill>
                <a:latin typeface="Josefin Sans"/>
              </a:rPr>
              <a:t>Thank</a:t>
            </a:r>
            <a:r>
              <a:rPr sz="2478" b="1">
                <a:solidFill>
                  <a:srgbClr val="914300"/>
                </a:solidFill>
                <a:latin typeface="Josefin Sans"/>
              </a:rPr>
              <a:t> </a:t>
            </a:r>
            <a:r>
              <a:rPr sz="2478" b="1">
                <a:solidFill>
                  <a:srgbClr val="914300"/>
                </a:solidFill>
                <a:latin typeface="Josefin Sans"/>
              </a:rPr>
              <a:t>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01196" y="3150918"/>
            <a:ext cx="884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7001" y="3150694"/>
            <a:ext cx="1583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9284" y="479056"/>
            <a:ext cx="4181140" cy="1434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8" b="0">
                <a:solidFill>
                  <a:srgbClr val="0D3361"/>
                </a:solidFill>
                <a:latin typeface="Arial"/>
              </a:rPr>
              <a:t>CSC3034 Current Course Update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9284" y="722056"/>
            <a:ext cx="4181140" cy="23914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14" b="1">
                <a:solidFill>
                  <a:srgbClr val="0D3361"/>
                </a:solidFill>
                <a:latin typeface="Arial"/>
              </a:rPr>
              <a:t>06 Artificial Neural Networks - handout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9284" y="1027928"/>
            <a:ext cx="4181140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Synchronized from the current CSC3034 course site on 14 August 2026.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998" y="1367356"/>
            <a:ext cx="4065426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•  Current Lab 6 trains and evaluates a scikit-learn MLP on the Wine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998" y="1629642"/>
            <a:ext cx="4065426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•  Current Lab 7 visualizes neural-network hyperplanes on standardized Iris features.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998" y="1891927"/>
            <a:ext cx="4065426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•  Current Lab 8 adds Keras CNN/LSTM examples and Isaac Sim vision demonstrations.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9284" y="2670916"/>
            <a:ext cx="4181140" cy="1315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8" b="1">
                <a:solidFill>
                  <a:srgbClr val="0D3361"/>
                </a:solidFill>
                <a:latin typeface="Arial"/>
              </a:rPr>
              <a:t>Current materials author: Dr Tang Tiong Yew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9284" y="2856791"/>
            <a:ext cx="4181140" cy="1076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6" b="0">
                <a:solidFill>
                  <a:srgbClr val="0D3361"/>
                </a:solidFill>
                <a:latin typeface="Arial"/>
              </a:rPr>
              <a:t>See the synchronized lab notes and runnable examples for full instructions.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06 Artificial Neural Networks - handout</dc:title>
  <dc:subject>Editable objects converted from 06 Artificial Neural Networks - handout.pdf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