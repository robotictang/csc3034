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</p:sldIdLst>
  <p:sldSz cx="5759996" cy="323999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60073" cy="324004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35862" y="1709649"/>
            <a:ext cx="1587500" cy="193292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5862" y="1709646"/>
            <a:ext cx="1587500" cy="206885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5862" y="1709646"/>
            <a:ext cx="1587500" cy="220474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5862" y="1709647"/>
            <a:ext cx="1587500" cy="234062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59988" cy="3239998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0872" y="63277"/>
            <a:ext cx="575962" cy="231502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05158" y="88661"/>
            <a:ext cx="575974" cy="20611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1225" y="918848"/>
            <a:ext cx="5324170" cy="40674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66" b="1">
                <a:solidFill>
                  <a:srgbClr val="003373"/>
                </a:solidFill>
                <a:latin typeface="Josefin Sans"/>
              </a:rPr>
              <a:t>Hybrid</a:t>
            </a:r>
            <a:r>
              <a:rPr sz="2066" b="1">
                <a:solidFill>
                  <a:srgbClr val="003373"/>
                </a:solidFill>
                <a:latin typeface="Josefin Sans"/>
              </a:rPr>
              <a:t> </a:t>
            </a:r>
            <a:r>
              <a:rPr sz="2066" b="1">
                <a:solidFill>
                  <a:srgbClr val="003373"/>
                </a:solidFill>
                <a:latin typeface="Josefin Sans"/>
              </a:rPr>
              <a:t>Intelligent</a:t>
            </a:r>
            <a:r>
              <a:rPr sz="2066" b="1">
                <a:solidFill>
                  <a:srgbClr val="003373"/>
                </a:solidFill>
                <a:latin typeface="Josefin Sans"/>
              </a:rPr>
              <a:t> </a:t>
            </a:r>
            <a:r>
              <a:rPr sz="2066" b="1">
                <a:solidFill>
                  <a:srgbClr val="003373"/>
                </a:solidFill>
                <a:latin typeface="Josefin Sans"/>
              </a:rPr>
              <a:t>Systems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225" y="1255046"/>
            <a:ext cx="532417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5A7D"/>
                </a:solidFill>
                <a:latin typeface="Josefin Sans"/>
              </a:rPr>
              <a:t>CSC3034</a:t>
            </a:r>
            <a:r>
              <a:rPr sz="1090" b="1">
                <a:solidFill>
                  <a:srgbClr val="005A7D"/>
                </a:solidFill>
                <a:latin typeface="Josefin Sans"/>
              </a:rPr>
              <a:t> </a:t>
            </a:r>
            <a:r>
              <a:rPr sz="1090" b="1">
                <a:solidFill>
                  <a:srgbClr val="005A7D"/>
                </a:solidFill>
                <a:latin typeface="Josefin Sans"/>
              </a:rPr>
              <a:t>Computational</a:t>
            </a:r>
            <a:r>
              <a:rPr sz="1090" b="1">
                <a:solidFill>
                  <a:srgbClr val="005A7D"/>
                </a:solidFill>
                <a:latin typeface="Josefin Sans"/>
              </a:rPr>
              <a:t> </a:t>
            </a:r>
            <a:r>
              <a:rPr sz="1090" b="1">
                <a:solidFill>
                  <a:srgbClr val="005A7D"/>
                </a:solidFill>
                <a:latin typeface="Josefin Sans"/>
              </a:rPr>
              <a:t>Intelligence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225" y="1740729"/>
            <a:ext cx="532417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Dr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Richard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Wong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01653" y="3150917"/>
            <a:ext cx="8837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78690" y="3150693"/>
            <a:ext cx="10670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262" y="1728317"/>
            <a:ext cx="5324133" cy="1968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D3361"/>
                </a:solidFill>
                <a:latin typeface="Arial"/>
              </a:rPr>
              <a:t>Dr Tang Tiong Yew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262" y="1741906"/>
            <a:ext cx="5324133" cy="1968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D3361"/>
                </a:solidFill>
                <a:latin typeface="Arial"/>
              </a:rPr>
              <a:t>Dr Tang Tiong Yew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262" y="1755495"/>
            <a:ext cx="5324133" cy="1968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D3361"/>
                </a:solidFill>
                <a:latin typeface="Arial"/>
              </a:rPr>
              <a:t>Dr Tang Tiong Yew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262" y="1769084"/>
            <a:ext cx="5324133" cy="1968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D3361"/>
                </a:solidFill>
                <a:latin typeface="Arial"/>
              </a:rPr>
              <a:t>Dr Tang Tiong Yew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Lecture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outline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78311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Introduction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18104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Neuro-Fuzzy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Systems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161068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ANFIS: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Adaptive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Neuro-Fuzzy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Inference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System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203736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Evolutionary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Neural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Networks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9993" y="2464033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Evolutionary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Systems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01653" y="3150918"/>
            <a:ext cx="8837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4123" y="3150694"/>
            <a:ext cx="12127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359991" y="1373911"/>
            <a:ext cx="5039996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362531" y="1373911"/>
            <a:ext cx="0" cy="539826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5397472" y="1373911"/>
            <a:ext cx="0" cy="539826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59991" y="1913737"/>
            <a:ext cx="5039996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-2" y="3146744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880002" y="3146744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Introduction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9993" y="99254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Previously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considered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several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intelligent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technologies,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including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evolutionary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9993" y="116463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computation,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artificial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network,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78927" y="1488406"/>
            <a:ext cx="530646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hybrid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intelligent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system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combines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least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two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intelligent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78927" y="1660478"/>
            <a:ext cx="530646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technologies.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9991" y="2063780"/>
            <a:ext cx="542540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combination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evolutionary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computation,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artificial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netwrorks,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9991" y="2235865"/>
            <a:ext cx="542540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systems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forms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soft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computing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901651" y="3150919"/>
            <a:ext cx="88374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3131" y="3150695"/>
            <a:ext cx="12226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359996" y="1461985"/>
            <a:ext cx="503999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362536" y="1461985"/>
            <a:ext cx="0" cy="539826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5397476" y="1461985"/>
            <a:ext cx="0" cy="539826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59996" y="2001811"/>
            <a:ext cx="503999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3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880008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Soft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computing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0873" y="1036999"/>
            <a:ext cx="493452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Traditional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or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‘hard’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computing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955911" y="1036590"/>
            <a:ext cx="282948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numbers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34819" y="1259694"/>
            <a:ext cx="395057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Soft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computing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955914" y="1259285"/>
            <a:ext cx="282948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soft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78932" y="1576480"/>
            <a:ext cx="530646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Soft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computing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capable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operating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uncertain,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imprecise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incomplete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78932" y="1748553"/>
            <a:ext cx="530646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information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manner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reflects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human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thinking.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9996" y="2151854"/>
            <a:ext cx="542539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How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combine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different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intelligent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technologies?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901657" y="3150930"/>
            <a:ext cx="88373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63289" y="3150706"/>
            <a:ext cx="12210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359993" y="788148"/>
            <a:ext cx="503999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362533" y="788136"/>
            <a:ext cx="0" cy="534771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5397473" y="788136"/>
            <a:ext cx="0" cy="534771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59993" y="1322907"/>
            <a:ext cx="503999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359991" y="1786991"/>
            <a:ext cx="5039996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362531" y="1786979"/>
            <a:ext cx="0" cy="534771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5397472" y="1786979"/>
            <a:ext cx="0" cy="534771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359991" y="2321750"/>
            <a:ext cx="5039996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-2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880002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7" name="Picture 4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Lotfi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Zadeh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said. . 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394764" y="897576"/>
            <a:ext cx="439063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. . . British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police,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German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mechanics,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French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cuisine,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913470" y="1069661"/>
            <a:ext cx="387192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Swiss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banking,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Italian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love. . 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402432" y="1472950"/>
            <a:ext cx="338296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good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hybrid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394762" y="1896419"/>
            <a:ext cx="439063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. . . British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cuisine,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German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police,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French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mechanics,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913468" y="2068491"/>
            <a:ext cx="387192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Swiss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love,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Italian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banking. . 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435756" y="2471792"/>
            <a:ext cx="33496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bad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hybrid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901651" y="3150918"/>
            <a:ext cx="88374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2597" y="3150694"/>
            <a:ext cx="1227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5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Hybrid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intelligent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27692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Likewise,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hybrid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intelligent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good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bad.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5" y="1639777"/>
            <a:ext cx="54254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We need to understand the strengths and weaknesses of different components in order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5" y="1811849"/>
            <a:ext cx="54254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create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good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hybrid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01654" y="3150916"/>
            <a:ext cx="88374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2448" y="3150692"/>
            <a:ext cx="12294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3123054" y="839425"/>
            <a:ext cx="143999" cy="143999"/>
          </a:xfrm>
          <a:prstGeom prst="rect">
            <a:avLst/>
          </a:prstGeom>
          <a:solidFill>
            <a:srgbClr val="FDB8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3987800" y="838200"/>
            <a:ext cx="177800" cy="139700"/>
          </a:xfrm>
          <a:custGeom>
            <a:avLst/>
            <a:gdLst/>
            <a:ahLst/>
            <a:cxnLst/>
            <a:rect l="l" t="t" r="r" b="b"/>
            <a:pathLst>
              <a:path w="14" h="11">
                <a:moveTo>
                  <a:pt x="0" y="11"/>
                </a:moveTo>
                <a:lnTo>
                  <a:pt x="14" y="11"/>
                </a:lnTo>
                <a:lnTo>
                  <a:pt x="7" y="0"/>
                </a:lnTo>
                <a:lnTo>
                  <a:pt x="0" y="11"/>
                </a:lnTo>
                <a:close/>
              </a:path>
            </a:pathLst>
          </a:custGeom>
          <a:solidFill>
            <a:srgbClr val="E661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4889500" y="863600"/>
            <a:ext cx="139700" cy="139700"/>
          </a:xfrm>
          <a:custGeom>
            <a:avLst/>
            <a:gdLst/>
            <a:ahLst/>
            <a:cxnLst/>
            <a:rect l="l" t="t" r="r" b="b"/>
            <a:pathLst>
              <a:path w="11" h="11">
                <a:moveTo>
                  <a:pt x="11" y="5"/>
                </a:moveTo>
                <a:lnTo>
                  <a:pt x="11" y="4"/>
                </a:lnTo>
                <a:lnTo>
                  <a:pt x="11" y="3"/>
                </a:lnTo>
                <a:lnTo>
                  <a:pt x="10" y="2"/>
                </a:lnTo>
                <a:lnTo>
                  <a:pt x="9" y="1"/>
                </a:lnTo>
                <a:lnTo>
                  <a:pt x="9" y="1"/>
                </a:lnTo>
                <a:lnTo>
                  <a:pt x="8" y="0"/>
                </a:lnTo>
                <a:lnTo>
                  <a:pt x="7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8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1"/>
                </a:lnTo>
                <a:lnTo>
                  <a:pt x="4" y="11"/>
                </a:lnTo>
                <a:lnTo>
                  <a:pt x="5" y="11"/>
                </a:lnTo>
                <a:lnTo>
                  <a:pt x="7" y="11"/>
                </a:lnTo>
                <a:lnTo>
                  <a:pt x="8" y="11"/>
                </a:lnTo>
                <a:lnTo>
                  <a:pt x="9" y="10"/>
                </a:lnTo>
                <a:lnTo>
                  <a:pt x="9" y="9"/>
                </a:lnTo>
                <a:lnTo>
                  <a:pt x="10" y="8"/>
                </a:lnTo>
                <a:lnTo>
                  <a:pt x="11" y="8"/>
                </a:lnTo>
                <a:lnTo>
                  <a:pt x="11" y="6"/>
                </a:lnTo>
                <a:lnTo>
                  <a:pt x="11" y="5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3124200" y="1079500"/>
            <a:ext cx="139700" cy="152400"/>
          </a:xfrm>
          <a:custGeom>
            <a:avLst/>
            <a:gdLst/>
            <a:ahLst/>
            <a:cxnLst/>
            <a:rect l="l" t="t" r="r" b="b"/>
            <a:pathLst>
              <a:path w="11" h="12">
                <a:moveTo>
                  <a:pt x="11" y="6"/>
                </a:moveTo>
                <a:lnTo>
                  <a:pt x="11" y="5"/>
                </a:lnTo>
                <a:lnTo>
                  <a:pt x="11" y="4"/>
                </a:lnTo>
                <a:lnTo>
                  <a:pt x="10" y="3"/>
                </a:lnTo>
                <a:lnTo>
                  <a:pt x="10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2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0" y="8"/>
                </a:lnTo>
                <a:lnTo>
                  <a:pt x="1" y="9"/>
                </a:lnTo>
                <a:lnTo>
                  <a:pt x="2" y="10"/>
                </a:lnTo>
                <a:lnTo>
                  <a:pt x="2" y="11"/>
                </a:lnTo>
                <a:lnTo>
                  <a:pt x="3" y="11"/>
                </a:lnTo>
                <a:lnTo>
                  <a:pt x="4" y="11"/>
                </a:lnTo>
                <a:lnTo>
                  <a:pt x="6" y="12"/>
                </a:lnTo>
                <a:lnTo>
                  <a:pt x="7" y="11"/>
                </a:lnTo>
                <a:lnTo>
                  <a:pt x="8" y="11"/>
                </a:lnTo>
                <a:lnTo>
                  <a:pt x="9" y="11"/>
                </a:lnTo>
                <a:lnTo>
                  <a:pt x="10" y="10"/>
                </a:lnTo>
                <a:lnTo>
                  <a:pt x="10" y="9"/>
                </a:lnTo>
                <a:lnTo>
                  <a:pt x="11" y="8"/>
                </a:lnTo>
                <a:lnTo>
                  <a:pt x="11" y="7"/>
                </a:lnTo>
                <a:lnTo>
                  <a:pt x="11" y="6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4000500" y="10795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2" h="12">
                <a:moveTo>
                  <a:pt x="12" y="6"/>
                </a:moveTo>
                <a:lnTo>
                  <a:pt x="12" y="5"/>
                </a:lnTo>
                <a:lnTo>
                  <a:pt x="11" y="4"/>
                </a:lnTo>
                <a:lnTo>
                  <a:pt x="11" y="3"/>
                </a:lnTo>
                <a:lnTo>
                  <a:pt x="10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1"/>
                </a:lnTo>
                <a:lnTo>
                  <a:pt x="3" y="1"/>
                </a:lnTo>
                <a:lnTo>
                  <a:pt x="2" y="2"/>
                </a:lnTo>
                <a:lnTo>
                  <a:pt x="1" y="3"/>
                </a:lnTo>
                <a:lnTo>
                  <a:pt x="1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1"/>
                </a:lnTo>
                <a:lnTo>
                  <a:pt x="4" y="11"/>
                </a:lnTo>
                <a:lnTo>
                  <a:pt x="5" y="11"/>
                </a:lnTo>
                <a:lnTo>
                  <a:pt x="6" y="12"/>
                </a:lnTo>
                <a:lnTo>
                  <a:pt x="7" y="11"/>
                </a:lnTo>
                <a:lnTo>
                  <a:pt x="8" y="11"/>
                </a:lnTo>
                <a:lnTo>
                  <a:pt x="9" y="11"/>
                </a:lnTo>
                <a:lnTo>
                  <a:pt x="10" y="10"/>
                </a:lnTo>
                <a:lnTo>
                  <a:pt x="11" y="9"/>
                </a:lnTo>
                <a:lnTo>
                  <a:pt x="11" y="8"/>
                </a:lnTo>
                <a:lnTo>
                  <a:pt x="12" y="7"/>
                </a:lnTo>
                <a:lnTo>
                  <a:pt x="12" y="6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4889500" y="1079500"/>
            <a:ext cx="139700" cy="152400"/>
          </a:xfrm>
          <a:custGeom>
            <a:avLst/>
            <a:gdLst/>
            <a:ahLst/>
            <a:cxnLst/>
            <a:rect l="l" t="t" r="r" b="b"/>
            <a:pathLst>
              <a:path w="11" h="12">
                <a:moveTo>
                  <a:pt x="11" y="6"/>
                </a:moveTo>
                <a:lnTo>
                  <a:pt x="11" y="5"/>
                </a:lnTo>
                <a:lnTo>
                  <a:pt x="11" y="4"/>
                </a:lnTo>
                <a:lnTo>
                  <a:pt x="10" y="3"/>
                </a:lnTo>
                <a:lnTo>
                  <a:pt x="9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0" y="8"/>
                </a:lnTo>
                <a:lnTo>
                  <a:pt x="1" y="9"/>
                </a:lnTo>
                <a:lnTo>
                  <a:pt x="1" y="10"/>
                </a:lnTo>
                <a:lnTo>
                  <a:pt x="2" y="11"/>
                </a:lnTo>
                <a:lnTo>
                  <a:pt x="3" y="11"/>
                </a:lnTo>
                <a:lnTo>
                  <a:pt x="4" y="11"/>
                </a:lnTo>
                <a:lnTo>
                  <a:pt x="5" y="12"/>
                </a:lnTo>
                <a:lnTo>
                  <a:pt x="7" y="11"/>
                </a:lnTo>
                <a:lnTo>
                  <a:pt x="8" y="11"/>
                </a:lnTo>
                <a:lnTo>
                  <a:pt x="9" y="11"/>
                </a:lnTo>
                <a:lnTo>
                  <a:pt x="9" y="10"/>
                </a:lnTo>
                <a:lnTo>
                  <a:pt x="10" y="9"/>
                </a:lnTo>
                <a:lnTo>
                  <a:pt x="11" y="8"/>
                </a:lnTo>
                <a:lnTo>
                  <a:pt x="11" y="7"/>
                </a:lnTo>
                <a:lnTo>
                  <a:pt x="11" y="6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3124200" y="1308100"/>
            <a:ext cx="139700" cy="139700"/>
          </a:xfrm>
          <a:custGeom>
            <a:avLst/>
            <a:gdLst/>
            <a:ahLst/>
            <a:cxnLst/>
            <a:rect l="l" t="t" r="r" b="b"/>
            <a:pathLst>
              <a:path w="11" h="11">
                <a:moveTo>
                  <a:pt x="11" y="5"/>
                </a:moveTo>
                <a:lnTo>
                  <a:pt x="11" y="4"/>
                </a:lnTo>
                <a:lnTo>
                  <a:pt x="11" y="3"/>
                </a:lnTo>
                <a:lnTo>
                  <a:pt x="10" y="2"/>
                </a:lnTo>
                <a:lnTo>
                  <a:pt x="10" y="1"/>
                </a:lnTo>
                <a:lnTo>
                  <a:pt x="9" y="1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2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7"/>
                </a:lnTo>
                <a:lnTo>
                  <a:pt x="0" y="8"/>
                </a:lnTo>
                <a:lnTo>
                  <a:pt x="1" y="9"/>
                </a:lnTo>
                <a:lnTo>
                  <a:pt x="2" y="9"/>
                </a:lnTo>
                <a:lnTo>
                  <a:pt x="2" y="10"/>
                </a:lnTo>
                <a:lnTo>
                  <a:pt x="3" y="11"/>
                </a:lnTo>
                <a:lnTo>
                  <a:pt x="4" y="11"/>
                </a:lnTo>
                <a:lnTo>
                  <a:pt x="6" y="11"/>
                </a:lnTo>
                <a:lnTo>
                  <a:pt x="7" y="11"/>
                </a:lnTo>
                <a:lnTo>
                  <a:pt x="8" y="11"/>
                </a:lnTo>
                <a:lnTo>
                  <a:pt x="9" y="10"/>
                </a:lnTo>
                <a:lnTo>
                  <a:pt x="10" y="9"/>
                </a:lnTo>
                <a:lnTo>
                  <a:pt x="10" y="9"/>
                </a:lnTo>
                <a:lnTo>
                  <a:pt x="11" y="8"/>
                </a:lnTo>
                <a:lnTo>
                  <a:pt x="11" y="7"/>
                </a:lnTo>
                <a:lnTo>
                  <a:pt x="11" y="5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4000500" y="1308100"/>
            <a:ext cx="152400" cy="139700"/>
          </a:xfrm>
          <a:custGeom>
            <a:avLst/>
            <a:gdLst/>
            <a:ahLst/>
            <a:cxnLst/>
            <a:rect l="l" t="t" r="r" b="b"/>
            <a:pathLst>
              <a:path w="12" h="11">
                <a:moveTo>
                  <a:pt x="12" y="5"/>
                </a:moveTo>
                <a:lnTo>
                  <a:pt x="12" y="4"/>
                </a:lnTo>
                <a:lnTo>
                  <a:pt x="11" y="3"/>
                </a:lnTo>
                <a:lnTo>
                  <a:pt x="11" y="2"/>
                </a:lnTo>
                <a:lnTo>
                  <a:pt x="10" y="1"/>
                </a:lnTo>
                <a:lnTo>
                  <a:pt x="9" y="1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9"/>
                </a:lnTo>
                <a:lnTo>
                  <a:pt x="3" y="10"/>
                </a:lnTo>
                <a:lnTo>
                  <a:pt x="4" y="11"/>
                </a:lnTo>
                <a:lnTo>
                  <a:pt x="5" y="11"/>
                </a:lnTo>
                <a:lnTo>
                  <a:pt x="6" y="11"/>
                </a:lnTo>
                <a:lnTo>
                  <a:pt x="7" y="11"/>
                </a:lnTo>
                <a:lnTo>
                  <a:pt x="8" y="11"/>
                </a:lnTo>
                <a:lnTo>
                  <a:pt x="9" y="10"/>
                </a:lnTo>
                <a:lnTo>
                  <a:pt x="10" y="9"/>
                </a:lnTo>
                <a:lnTo>
                  <a:pt x="11" y="9"/>
                </a:lnTo>
                <a:lnTo>
                  <a:pt x="11" y="8"/>
                </a:lnTo>
                <a:lnTo>
                  <a:pt x="12" y="7"/>
                </a:lnTo>
                <a:lnTo>
                  <a:pt x="12" y="5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4889500" y="1308100"/>
            <a:ext cx="139700" cy="139700"/>
          </a:xfrm>
          <a:custGeom>
            <a:avLst/>
            <a:gdLst/>
            <a:ahLst/>
            <a:cxnLst/>
            <a:rect l="l" t="t" r="r" b="b"/>
            <a:pathLst>
              <a:path w="11" h="11">
                <a:moveTo>
                  <a:pt x="11" y="5"/>
                </a:moveTo>
                <a:lnTo>
                  <a:pt x="11" y="4"/>
                </a:lnTo>
                <a:lnTo>
                  <a:pt x="11" y="3"/>
                </a:lnTo>
                <a:lnTo>
                  <a:pt x="10" y="2"/>
                </a:lnTo>
                <a:lnTo>
                  <a:pt x="9" y="1"/>
                </a:lnTo>
                <a:lnTo>
                  <a:pt x="9" y="1"/>
                </a:lnTo>
                <a:lnTo>
                  <a:pt x="8" y="0"/>
                </a:lnTo>
                <a:lnTo>
                  <a:pt x="7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7"/>
                </a:lnTo>
                <a:lnTo>
                  <a:pt x="0" y="8"/>
                </a:lnTo>
                <a:lnTo>
                  <a:pt x="1" y="9"/>
                </a:lnTo>
                <a:lnTo>
                  <a:pt x="1" y="9"/>
                </a:lnTo>
                <a:lnTo>
                  <a:pt x="2" y="10"/>
                </a:lnTo>
                <a:lnTo>
                  <a:pt x="3" y="11"/>
                </a:lnTo>
                <a:lnTo>
                  <a:pt x="4" y="11"/>
                </a:lnTo>
                <a:lnTo>
                  <a:pt x="5" y="11"/>
                </a:lnTo>
                <a:lnTo>
                  <a:pt x="7" y="11"/>
                </a:lnTo>
                <a:lnTo>
                  <a:pt x="8" y="11"/>
                </a:lnTo>
                <a:lnTo>
                  <a:pt x="9" y="10"/>
                </a:lnTo>
                <a:lnTo>
                  <a:pt x="9" y="9"/>
                </a:lnTo>
                <a:lnTo>
                  <a:pt x="10" y="9"/>
                </a:lnTo>
                <a:lnTo>
                  <a:pt x="11" y="8"/>
                </a:lnTo>
                <a:lnTo>
                  <a:pt x="11" y="7"/>
                </a:lnTo>
                <a:lnTo>
                  <a:pt x="11" y="5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3124200" y="1524000"/>
            <a:ext cx="139700" cy="152400"/>
          </a:xfrm>
          <a:custGeom>
            <a:avLst/>
            <a:gdLst/>
            <a:ahLst/>
            <a:cxnLst/>
            <a:rect l="l" t="t" r="r" b="b"/>
            <a:pathLst>
              <a:path w="11" h="12">
                <a:moveTo>
                  <a:pt x="11" y="6"/>
                </a:moveTo>
                <a:lnTo>
                  <a:pt x="11" y="5"/>
                </a:lnTo>
                <a:lnTo>
                  <a:pt x="11" y="4"/>
                </a:lnTo>
                <a:lnTo>
                  <a:pt x="10" y="3"/>
                </a:lnTo>
                <a:lnTo>
                  <a:pt x="10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2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0" y="8"/>
                </a:lnTo>
                <a:lnTo>
                  <a:pt x="1" y="9"/>
                </a:lnTo>
                <a:lnTo>
                  <a:pt x="2" y="10"/>
                </a:lnTo>
                <a:lnTo>
                  <a:pt x="2" y="11"/>
                </a:lnTo>
                <a:lnTo>
                  <a:pt x="3" y="11"/>
                </a:lnTo>
                <a:lnTo>
                  <a:pt x="4" y="11"/>
                </a:lnTo>
                <a:lnTo>
                  <a:pt x="6" y="12"/>
                </a:lnTo>
                <a:lnTo>
                  <a:pt x="7" y="11"/>
                </a:lnTo>
                <a:lnTo>
                  <a:pt x="8" y="11"/>
                </a:lnTo>
                <a:lnTo>
                  <a:pt x="9" y="11"/>
                </a:lnTo>
                <a:lnTo>
                  <a:pt x="10" y="10"/>
                </a:lnTo>
                <a:lnTo>
                  <a:pt x="10" y="9"/>
                </a:lnTo>
                <a:lnTo>
                  <a:pt x="11" y="8"/>
                </a:lnTo>
                <a:lnTo>
                  <a:pt x="11" y="7"/>
                </a:lnTo>
                <a:lnTo>
                  <a:pt x="11" y="6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4000500" y="15240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2" h="12">
                <a:moveTo>
                  <a:pt x="12" y="6"/>
                </a:moveTo>
                <a:lnTo>
                  <a:pt x="12" y="5"/>
                </a:lnTo>
                <a:lnTo>
                  <a:pt x="11" y="4"/>
                </a:lnTo>
                <a:lnTo>
                  <a:pt x="11" y="3"/>
                </a:lnTo>
                <a:lnTo>
                  <a:pt x="10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1"/>
                </a:lnTo>
                <a:lnTo>
                  <a:pt x="3" y="1"/>
                </a:lnTo>
                <a:lnTo>
                  <a:pt x="2" y="2"/>
                </a:lnTo>
                <a:lnTo>
                  <a:pt x="1" y="3"/>
                </a:lnTo>
                <a:lnTo>
                  <a:pt x="1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1"/>
                </a:lnTo>
                <a:lnTo>
                  <a:pt x="4" y="11"/>
                </a:lnTo>
                <a:lnTo>
                  <a:pt x="5" y="11"/>
                </a:lnTo>
                <a:lnTo>
                  <a:pt x="6" y="12"/>
                </a:lnTo>
                <a:lnTo>
                  <a:pt x="7" y="11"/>
                </a:lnTo>
                <a:lnTo>
                  <a:pt x="8" y="11"/>
                </a:lnTo>
                <a:lnTo>
                  <a:pt x="9" y="11"/>
                </a:lnTo>
                <a:lnTo>
                  <a:pt x="10" y="10"/>
                </a:lnTo>
                <a:lnTo>
                  <a:pt x="11" y="9"/>
                </a:lnTo>
                <a:lnTo>
                  <a:pt x="11" y="8"/>
                </a:lnTo>
                <a:lnTo>
                  <a:pt x="12" y="7"/>
                </a:lnTo>
                <a:lnTo>
                  <a:pt x="12" y="6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887017" y="1507473"/>
            <a:ext cx="143999" cy="143999"/>
          </a:xfrm>
          <a:prstGeom prst="rect">
            <a:avLst/>
          </a:prstGeom>
          <a:solidFill>
            <a:srgbClr val="FDB8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3124200" y="1752600"/>
            <a:ext cx="139700" cy="139700"/>
          </a:xfrm>
          <a:custGeom>
            <a:avLst/>
            <a:gdLst/>
            <a:ahLst/>
            <a:cxnLst/>
            <a:rect l="l" t="t" r="r" b="b"/>
            <a:pathLst>
              <a:path w="11" h="11">
                <a:moveTo>
                  <a:pt x="11" y="5"/>
                </a:moveTo>
                <a:lnTo>
                  <a:pt x="11" y="4"/>
                </a:lnTo>
                <a:lnTo>
                  <a:pt x="11" y="3"/>
                </a:lnTo>
                <a:lnTo>
                  <a:pt x="10" y="2"/>
                </a:lnTo>
                <a:lnTo>
                  <a:pt x="10" y="1"/>
                </a:lnTo>
                <a:lnTo>
                  <a:pt x="9" y="1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2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7"/>
                </a:lnTo>
                <a:lnTo>
                  <a:pt x="0" y="8"/>
                </a:lnTo>
                <a:lnTo>
                  <a:pt x="1" y="9"/>
                </a:lnTo>
                <a:lnTo>
                  <a:pt x="2" y="9"/>
                </a:lnTo>
                <a:lnTo>
                  <a:pt x="2" y="10"/>
                </a:lnTo>
                <a:lnTo>
                  <a:pt x="3" y="11"/>
                </a:lnTo>
                <a:lnTo>
                  <a:pt x="4" y="11"/>
                </a:lnTo>
                <a:lnTo>
                  <a:pt x="6" y="11"/>
                </a:lnTo>
                <a:lnTo>
                  <a:pt x="7" y="11"/>
                </a:lnTo>
                <a:lnTo>
                  <a:pt x="8" y="11"/>
                </a:lnTo>
                <a:lnTo>
                  <a:pt x="9" y="10"/>
                </a:lnTo>
                <a:lnTo>
                  <a:pt x="10" y="9"/>
                </a:lnTo>
                <a:lnTo>
                  <a:pt x="10" y="9"/>
                </a:lnTo>
                <a:lnTo>
                  <a:pt x="11" y="8"/>
                </a:lnTo>
                <a:lnTo>
                  <a:pt x="11" y="7"/>
                </a:lnTo>
                <a:lnTo>
                  <a:pt x="11" y="5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4000500" y="1752600"/>
            <a:ext cx="152400" cy="139700"/>
          </a:xfrm>
          <a:custGeom>
            <a:avLst/>
            <a:gdLst/>
            <a:ahLst/>
            <a:cxnLst/>
            <a:rect l="l" t="t" r="r" b="b"/>
            <a:pathLst>
              <a:path w="12" h="11">
                <a:moveTo>
                  <a:pt x="12" y="5"/>
                </a:moveTo>
                <a:lnTo>
                  <a:pt x="12" y="4"/>
                </a:lnTo>
                <a:lnTo>
                  <a:pt x="11" y="3"/>
                </a:lnTo>
                <a:lnTo>
                  <a:pt x="11" y="2"/>
                </a:lnTo>
                <a:lnTo>
                  <a:pt x="10" y="1"/>
                </a:lnTo>
                <a:lnTo>
                  <a:pt x="9" y="1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9"/>
                </a:lnTo>
                <a:lnTo>
                  <a:pt x="3" y="10"/>
                </a:lnTo>
                <a:lnTo>
                  <a:pt x="4" y="11"/>
                </a:lnTo>
                <a:lnTo>
                  <a:pt x="5" y="11"/>
                </a:lnTo>
                <a:lnTo>
                  <a:pt x="6" y="11"/>
                </a:lnTo>
                <a:lnTo>
                  <a:pt x="7" y="11"/>
                </a:lnTo>
                <a:lnTo>
                  <a:pt x="8" y="11"/>
                </a:lnTo>
                <a:lnTo>
                  <a:pt x="9" y="10"/>
                </a:lnTo>
                <a:lnTo>
                  <a:pt x="10" y="9"/>
                </a:lnTo>
                <a:lnTo>
                  <a:pt x="11" y="9"/>
                </a:lnTo>
                <a:lnTo>
                  <a:pt x="11" y="8"/>
                </a:lnTo>
                <a:lnTo>
                  <a:pt x="12" y="7"/>
                </a:lnTo>
                <a:lnTo>
                  <a:pt x="12" y="5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4876800" y="1727200"/>
            <a:ext cx="165100" cy="152400"/>
          </a:xfrm>
          <a:custGeom>
            <a:avLst/>
            <a:gdLst/>
            <a:ahLst/>
            <a:cxnLst/>
            <a:rect l="l" t="t" r="r" b="b"/>
            <a:pathLst>
              <a:path w="13" h="12">
                <a:moveTo>
                  <a:pt x="0" y="12"/>
                </a:moveTo>
                <a:lnTo>
                  <a:pt x="13" y="12"/>
                </a:lnTo>
                <a:lnTo>
                  <a:pt x="6" y="0"/>
                </a:lnTo>
                <a:lnTo>
                  <a:pt x="0" y="12"/>
                </a:lnTo>
                <a:close/>
              </a:path>
            </a:pathLst>
          </a:custGeom>
          <a:solidFill>
            <a:srgbClr val="E661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123054" y="1952852"/>
            <a:ext cx="143999" cy="143999"/>
          </a:xfrm>
          <a:prstGeom prst="rect">
            <a:avLst/>
          </a:prstGeom>
          <a:solidFill>
            <a:srgbClr val="FDB8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3987800" y="1955800"/>
            <a:ext cx="177800" cy="139700"/>
          </a:xfrm>
          <a:custGeom>
            <a:avLst/>
            <a:gdLst/>
            <a:ahLst/>
            <a:cxnLst/>
            <a:rect l="l" t="t" r="r" b="b"/>
            <a:pathLst>
              <a:path w="14" h="11">
                <a:moveTo>
                  <a:pt x="0" y="11"/>
                </a:moveTo>
                <a:lnTo>
                  <a:pt x="14" y="11"/>
                </a:lnTo>
                <a:lnTo>
                  <a:pt x="7" y="0"/>
                </a:lnTo>
                <a:lnTo>
                  <a:pt x="0" y="11"/>
                </a:lnTo>
                <a:close/>
              </a:path>
            </a:pathLst>
          </a:custGeom>
          <a:solidFill>
            <a:srgbClr val="E661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4889500" y="1968500"/>
            <a:ext cx="139700" cy="152400"/>
          </a:xfrm>
          <a:custGeom>
            <a:avLst/>
            <a:gdLst/>
            <a:ahLst/>
            <a:cxnLst/>
            <a:rect l="l" t="t" r="r" b="b"/>
            <a:pathLst>
              <a:path w="11" h="12">
                <a:moveTo>
                  <a:pt x="11" y="6"/>
                </a:moveTo>
                <a:lnTo>
                  <a:pt x="11" y="5"/>
                </a:lnTo>
                <a:lnTo>
                  <a:pt x="11" y="4"/>
                </a:lnTo>
                <a:lnTo>
                  <a:pt x="10" y="3"/>
                </a:lnTo>
                <a:lnTo>
                  <a:pt x="9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0" y="8"/>
                </a:lnTo>
                <a:lnTo>
                  <a:pt x="1" y="9"/>
                </a:lnTo>
                <a:lnTo>
                  <a:pt x="1" y="10"/>
                </a:lnTo>
                <a:lnTo>
                  <a:pt x="2" y="11"/>
                </a:lnTo>
                <a:lnTo>
                  <a:pt x="3" y="11"/>
                </a:lnTo>
                <a:lnTo>
                  <a:pt x="4" y="12"/>
                </a:lnTo>
                <a:lnTo>
                  <a:pt x="5" y="12"/>
                </a:lnTo>
                <a:lnTo>
                  <a:pt x="7" y="12"/>
                </a:lnTo>
                <a:lnTo>
                  <a:pt x="8" y="11"/>
                </a:lnTo>
                <a:lnTo>
                  <a:pt x="9" y="11"/>
                </a:lnTo>
                <a:lnTo>
                  <a:pt x="9" y="10"/>
                </a:lnTo>
                <a:lnTo>
                  <a:pt x="10" y="9"/>
                </a:lnTo>
                <a:lnTo>
                  <a:pt x="11" y="8"/>
                </a:lnTo>
                <a:lnTo>
                  <a:pt x="11" y="7"/>
                </a:lnTo>
                <a:lnTo>
                  <a:pt x="11" y="6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3111500" y="2171700"/>
            <a:ext cx="165100" cy="152400"/>
          </a:xfrm>
          <a:custGeom>
            <a:avLst/>
            <a:gdLst/>
            <a:ahLst/>
            <a:cxnLst/>
            <a:rect l="l" t="t" r="r" b="b"/>
            <a:pathLst>
              <a:path w="13" h="12">
                <a:moveTo>
                  <a:pt x="3" y="12"/>
                </a:moveTo>
                <a:lnTo>
                  <a:pt x="10" y="12"/>
                </a:lnTo>
                <a:lnTo>
                  <a:pt x="13" y="6"/>
                </a:lnTo>
                <a:lnTo>
                  <a:pt x="10" y="0"/>
                </a:lnTo>
                <a:lnTo>
                  <a:pt x="3" y="0"/>
                </a:lnTo>
                <a:lnTo>
                  <a:pt x="0" y="6"/>
                </a:lnTo>
                <a:lnTo>
                  <a:pt x="3" y="11"/>
                </a:lnTo>
                <a:lnTo>
                  <a:pt x="3" y="12"/>
                </a:lnTo>
                <a:close/>
              </a:path>
            </a:pathLst>
          </a:custGeom>
          <a:solidFill>
            <a:srgbClr val="B2AB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4000500" y="2197100"/>
            <a:ext cx="152400" cy="139700"/>
          </a:xfrm>
          <a:custGeom>
            <a:avLst/>
            <a:gdLst/>
            <a:ahLst/>
            <a:cxnLst/>
            <a:rect l="l" t="t" r="r" b="b"/>
            <a:pathLst>
              <a:path w="12" h="11">
                <a:moveTo>
                  <a:pt x="12" y="6"/>
                </a:moveTo>
                <a:lnTo>
                  <a:pt x="12" y="4"/>
                </a:lnTo>
                <a:lnTo>
                  <a:pt x="11" y="3"/>
                </a:lnTo>
                <a:lnTo>
                  <a:pt x="11" y="2"/>
                </a:lnTo>
                <a:lnTo>
                  <a:pt x="10" y="2"/>
                </a:lnTo>
                <a:lnTo>
                  <a:pt x="9" y="1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2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0"/>
                </a:lnTo>
                <a:lnTo>
                  <a:pt x="4" y="11"/>
                </a:lnTo>
                <a:lnTo>
                  <a:pt x="5" y="11"/>
                </a:lnTo>
                <a:lnTo>
                  <a:pt x="6" y="11"/>
                </a:lnTo>
                <a:lnTo>
                  <a:pt x="7" y="11"/>
                </a:lnTo>
                <a:lnTo>
                  <a:pt x="8" y="11"/>
                </a:lnTo>
                <a:lnTo>
                  <a:pt x="9" y="10"/>
                </a:lnTo>
                <a:lnTo>
                  <a:pt x="10" y="10"/>
                </a:lnTo>
                <a:lnTo>
                  <a:pt x="11" y="9"/>
                </a:lnTo>
                <a:lnTo>
                  <a:pt x="11" y="8"/>
                </a:lnTo>
                <a:lnTo>
                  <a:pt x="12" y="7"/>
                </a:lnTo>
                <a:lnTo>
                  <a:pt x="12" y="6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887017" y="2175534"/>
            <a:ext cx="143999" cy="143999"/>
          </a:xfrm>
          <a:prstGeom prst="rect">
            <a:avLst/>
          </a:prstGeom>
          <a:solidFill>
            <a:srgbClr val="FDB8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3111500" y="2400300"/>
            <a:ext cx="165100" cy="139700"/>
          </a:xfrm>
          <a:custGeom>
            <a:avLst/>
            <a:gdLst/>
            <a:ahLst/>
            <a:cxnLst/>
            <a:rect l="l" t="t" r="r" b="b"/>
            <a:pathLst>
              <a:path w="13" h="11">
                <a:moveTo>
                  <a:pt x="3" y="11"/>
                </a:moveTo>
                <a:lnTo>
                  <a:pt x="10" y="11"/>
                </a:lnTo>
                <a:lnTo>
                  <a:pt x="13" y="6"/>
                </a:lnTo>
                <a:lnTo>
                  <a:pt x="10" y="0"/>
                </a:lnTo>
                <a:lnTo>
                  <a:pt x="3" y="0"/>
                </a:lnTo>
                <a:lnTo>
                  <a:pt x="0" y="6"/>
                </a:lnTo>
                <a:lnTo>
                  <a:pt x="3" y="10"/>
                </a:lnTo>
                <a:lnTo>
                  <a:pt x="3" y="11"/>
                </a:lnTo>
                <a:close/>
              </a:path>
            </a:pathLst>
          </a:custGeom>
          <a:solidFill>
            <a:srgbClr val="B2AB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4000500" y="24130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2" h="12">
                <a:moveTo>
                  <a:pt x="12" y="6"/>
                </a:moveTo>
                <a:lnTo>
                  <a:pt x="12" y="5"/>
                </a:lnTo>
                <a:lnTo>
                  <a:pt x="11" y="4"/>
                </a:lnTo>
                <a:lnTo>
                  <a:pt x="11" y="3"/>
                </a:lnTo>
                <a:lnTo>
                  <a:pt x="10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1"/>
                </a:lnTo>
                <a:lnTo>
                  <a:pt x="3" y="1"/>
                </a:lnTo>
                <a:lnTo>
                  <a:pt x="2" y="2"/>
                </a:lnTo>
                <a:lnTo>
                  <a:pt x="1" y="3"/>
                </a:lnTo>
                <a:lnTo>
                  <a:pt x="1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1"/>
                </a:lnTo>
                <a:lnTo>
                  <a:pt x="4" y="11"/>
                </a:lnTo>
                <a:lnTo>
                  <a:pt x="5" y="12"/>
                </a:lnTo>
                <a:lnTo>
                  <a:pt x="6" y="12"/>
                </a:lnTo>
                <a:lnTo>
                  <a:pt x="7" y="12"/>
                </a:lnTo>
                <a:lnTo>
                  <a:pt x="8" y="11"/>
                </a:lnTo>
                <a:lnTo>
                  <a:pt x="9" y="11"/>
                </a:lnTo>
                <a:lnTo>
                  <a:pt x="10" y="10"/>
                </a:lnTo>
                <a:lnTo>
                  <a:pt x="11" y="9"/>
                </a:lnTo>
                <a:lnTo>
                  <a:pt x="11" y="8"/>
                </a:lnTo>
                <a:lnTo>
                  <a:pt x="12" y="7"/>
                </a:lnTo>
                <a:lnTo>
                  <a:pt x="12" y="6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4876800" y="2400300"/>
            <a:ext cx="165100" cy="139700"/>
          </a:xfrm>
          <a:custGeom>
            <a:avLst/>
            <a:gdLst/>
            <a:ahLst/>
            <a:cxnLst/>
            <a:rect l="l" t="t" r="r" b="b"/>
            <a:pathLst>
              <a:path w="13" h="11">
                <a:moveTo>
                  <a:pt x="3" y="11"/>
                </a:moveTo>
                <a:lnTo>
                  <a:pt x="10" y="11"/>
                </a:lnTo>
                <a:lnTo>
                  <a:pt x="13" y="6"/>
                </a:lnTo>
                <a:lnTo>
                  <a:pt x="10" y="0"/>
                </a:lnTo>
                <a:lnTo>
                  <a:pt x="3" y="0"/>
                </a:lnTo>
                <a:lnTo>
                  <a:pt x="0" y="6"/>
                </a:lnTo>
                <a:lnTo>
                  <a:pt x="3" y="10"/>
                </a:lnTo>
                <a:lnTo>
                  <a:pt x="3" y="11"/>
                </a:lnTo>
                <a:close/>
              </a:path>
            </a:pathLst>
          </a:custGeom>
          <a:solidFill>
            <a:srgbClr val="B2AB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286000" y="2743200"/>
            <a:ext cx="165100" cy="139700"/>
          </a:xfrm>
          <a:custGeom>
            <a:avLst/>
            <a:gdLst/>
            <a:ahLst/>
            <a:cxnLst/>
            <a:rect l="l" t="t" r="r" b="b"/>
            <a:pathLst>
              <a:path w="13" h="11">
                <a:moveTo>
                  <a:pt x="0" y="11"/>
                </a:moveTo>
                <a:lnTo>
                  <a:pt x="13" y="11"/>
                </a:lnTo>
                <a:lnTo>
                  <a:pt x="6" y="0"/>
                </a:lnTo>
                <a:lnTo>
                  <a:pt x="0" y="11"/>
                </a:lnTo>
                <a:close/>
              </a:path>
            </a:pathLst>
          </a:custGeom>
          <a:solidFill>
            <a:srgbClr val="E661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639601" y="2744063"/>
            <a:ext cx="143999" cy="143999"/>
          </a:xfrm>
          <a:prstGeom prst="rect">
            <a:avLst/>
          </a:prstGeom>
          <a:solidFill>
            <a:srgbClr val="FDB8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971800" y="2743200"/>
            <a:ext cx="165100" cy="139700"/>
          </a:xfrm>
          <a:custGeom>
            <a:avLst/>
            <a:gdLst/>
            <a:ahLst/>
            <a:cxnLst/>
            <a:rect l="l" t="t" r="r" b="b"/>
            <a:pathLst>
              <a:path w="13" h="11">
                <a:moveTo>
                  <a:pt x="4" y="11"/>
                </a:moveTo>
                <a:lnTo>
                  <a:pt x="10" y="11"/>
                </a:lnTo>
                <a:lnTo>
                  <a:pt x="13" y="6"/>
                </a:lnTo>
                <a:lnTo>
                  <a:pt x="10" y="0"/>
                </a:lnTo>
                <a:lnTo>
                  <a:pt x="4" y="0"/>
                </a:lnTo>
                <a:lnTo>
                  <a:pt x="0" y="6"/>
                </a:lnTo>
                <a:lnTo>
                  <a:pt x="3" y="11"/>
                </a:lnTo>
                <a:lnTo>
                  <a:pt x="4" y="11"/>
                </a:lnTo>
                <a:close/>
              </a:path>
            </a:pathLst>
          </a:custGeom>
          <a:solidFill>
            <a:srgbClr val="B2AB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3340100" y="2768600"/>
            <a:ext cx="139700" cy="139700"/>
          </a:xfrm>
          <a:custGeom>
            <a:avLst/>
            <a:gdLst/>
            <a:ahLst/>
            <a:cxnLst/>
            <a:rect l="l" t="t" r="r" b="b"/>
            <a:pathLst>
              <a:path w="11" h="11">
                <a:moveTo>
                  <a:pt x="11" y="5"/>
                </a:moveTo>
                <a:lnTo>
                  <a:pt x="11" y="4"/>
                </a:lnTo>
                <a:lnTo>
                  <a:pt x="11" y="3"/>
                </a:lnTo>
                <a:lnTo>
                  <a:pt x="10" y="2"/>
                </a:lnTo>
                <a:lnTo>
                  <a:pt x="9" y="1"/>
                </a:lnTo>
                <a:lnTo>
                  <a:pt x="8" y="1"/>
                </a:lnTo>
                <a:lnTo>
                  <a:pt x="8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1"/>
                </a:lnTo>
                <a:lnTo>
                  <a:pt x="4" y="11"/>
                </a:lnTo>
                <a:lnTo>
                  <a:pt x="5" y="11"/>
                </a:lnTo>
                <a:lnTo>
                  <a:pt x="6" y="11"/>
                </a:lnTo>
                <a:lnTo>
                  <a:pt x="8" y="11"/>
                </a:lnTo>
                <a:lnTo>
                  <a:pt x="8" y="10"/>
                </a:lnTo>
                <a:lnTo>
                  <a:pt x="9" y="9"/>
                </a:lnTo>
                <a:lnTo>
                  <a:pt x="10" y="8"/>
                </a:lnTo>
                <a:lnTo>
                  <a:pt x="11" y="7"/>
                </a:lnTo>
                <a:lnTo>
                  <a:pt x="11" y="6"/>
                </a:lnTo>
                <a:lnTo>
                  <a:pt x="11" y="5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" y="3146749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880012" y="3146749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7" name="Picture 6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Comparisons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paradigms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978557" y="623955"/>
            <a:ext cx="28068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EC/GA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963139" y="623955"/>
            <a:ext cx="182225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NN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878723" y="623955"/>
            <a:ext cx="90667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FS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55251" y="846637"/>
            <a:ext cx="463014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Knowledge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representation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421254" y="1069320"/>
            <a:ext cx="436414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Uncertainty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tolerance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443705" y="1292002"/>
            <a:ext cx="434169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Imprecision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tolerance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946068" y="1514685"/>
            <a:ext cx="383932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Adaptability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751832" y="1737380"/>
            <a:ext cx="403356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Learning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ability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580308" y="1960064"/>
            <a:ext cx="420508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Explanation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ability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35922" y="2182747"/>
            <a:ext cx="534947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Knowledge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discovery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data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mining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791724" y="2405429"/>
            <a:ext cx="399367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Maintainability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489309" y="2753598"/>
            <a:ext cx="329608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&lt;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826139" y="2753598"/>
            <a:ext cx="295925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&lt;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185269" y="2753598"/>
            <a:ext cx="260012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&lt;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901662" y="3150925"/>
            <a:ext cx="88373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6482" y="3150701"/>
            <a:ext cx="11891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5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Hybrid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intelligent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07791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looking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6" y="1292274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neuro-fuzzy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system,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6" y="1550389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adaptive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neuro-fuzzy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inference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(ANFIS),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0056" y="1808490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evolutionary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network,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0056" y="2066605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evolutionary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01654" y="3150916"/>
            <a:ext cx="88374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3591" y="3150692"/>
            <a:ext cx="12180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359993" y="43859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CCD6E3"/>
                </a:solidFill>
                <a:latin typeface="Josefin Sans"/>
              </a:rPr>
              <a:t>Introduction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88952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Neuro-Fuzzy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Systems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37217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CCD6E3"/>
                </a:solidFill>
                <a:latin typeface="Josefin Sans"/>
              </a:rPr>
              <a:t>ANFIS:</a:t>
            </a:r>
            <a:r>
              <a:rPr sz="1090" b="0">
                <a:solidFill>
                  <a:srgbClr val="CCD6E3"/>
                </a:solidFill>
                <a:latin typeface="Josefin Sans"/>
              </a:rPr>
              <a:t> </a:t>
            </a:r>
            <a:r>
              <a:rPr sz="1090" b="0">
                <a:solidFill>
                  <a:srgbClr val="CCD6E3"/>
                </a:solidFill>
                <a:latin typeface="Josefin Sans"/>
              </a:rPr>
              <a:t>Adaptive</a:t>
            </a:r>
            <a:r>
              <a:rPr sz="1090" b="0">
                <a:solidFill>
                  <a:srgbClr val="CCD6E3"/>
                </a:solidFill>
                <a:latin typeface="Josefin Sans"/>
              </a:rPr>
              <a:t> </a:t>
            </a:r>
            <a:r>
              <a:rPr sz="1090" b="0">
                <a:solidFill>
                  <a:srgbClr val="CCD6E3"/>
                </a:solidFill>
                <a:latin typeface="Josefin Sans"/>
              </a:rPr>
              <a:t>Neuro-Fuzzy</a:t>
            </a:r>
            <a:r>
              <a:rPr sz="1090" b="0">
                <a:solidFill>
                  <a:srgbClr val="CCD6E3"/>
                </a:solidFill>
                <a:latin typeface="Josefin Sans"/>
              </a:rPr>
              <a:t> </a:t>
            </a:r>
            <a:r>
              <a:rPr sz="1090" b="0">
                <a:solidFill>
                  <a:srgbClr val="CCD6E3"/>
                </a:solidFill>
                <a:latin typeface="Josefin Sans"/>
              </a:rPr>
              <a:t>Inference</a:t>
            </a:r>
            <a:r>
              <a:rPr sz="1090" b="0">
                <a:solidFill>
                  <a:srgbClr val="CCD6E3"/>
                </a:solidFill>
                <a:latin typeface="Josefin Sans"/>
              </a:rPr>
              <a:t> </a:t>
            </a:r>
            <a:r>
              <a:rPr sz="1090" b="0">
                <a:solidFill>
                  <a:srgbClr val="CCD6E3"/>
                </a:solidFill>
                <a:latin typeface="Josefin Sans"/>
              </a:rPr>
              <a:t>System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185185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CCD6E3"/>
                </a:solidFill>
                <a:latin typeface="Josefin Sans"/>
              </a:rPr>
              <a:t>Evolutionary</a:t>
            </a:r>
            <a:r>
              <a:rPr sz="1090" b="0">
                <a:solidFill>
                  <a:srgbClr val="CCD6E3"/>
                </a:solidFill>
                <a:latin typeface="Josefin Sans"/>
              </a:rPr>
              <a:t> </a:t>
            </a:r>
            <a:r>
              <a:rPr sz="1090" b="0">
                <a:solidFill>
                  <a:srgbClr val="CCD6E3"/>
                </a:solidFill>
                <a:latin typeface="Josefin Sans"/>
              </a:rPr>
              <a:t>Neural</a:t>
            </a:r>
            <a:r>
              <a:rPr sz="1090" b="0">
                <a:solidFill>
                  <a:srgbClr val="CCD6E3"/>
                </a:solidFill>
                <a:latin typeface="Josefin Sans"/>
              </a:rPr>
              <a:t> </a:t>
            </a:r>
            <a:r>
              <a:rPr sz="1090" b="0">
                <a:solidFill>
                  <a:srgbClr val="CCD6E3"/>
                </a:solidFill>
                <a:latin typeface="Josefin Sans"/>
              </a:rPr>
              <a:t>Networks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233153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CCD6E3"/>
                </a:solidFill>
                <a:latin typeface="Josefin Sans"/>
              </a:rPr>
              <a:t>Fuzzy</a:t>
            </a:r>
            <a:r>
              <a:rPr sz="1090" b="0">
                <a:solidFill>
                  <a:srgbClr val="CCD6E3"/>
                </a:solidFill>
                <a:latin typeface="Josefin Sans"/>
              </a:rPr>
              <a:t> </a:t>
            </a:r>
            <a:r>
              <a:rPr sz="1090" b="0">
                <a:solidFill>
                  <a:srgbClr val="CCD6E3"/>
                </a:solidFill>
                <a:latin typeface="Josefin Sans"/>
              </a:rPr>
              <a:t>Evolutionary</a:t>
            </a:r>
            <a:r>
              <a:rPr sz="1090" b="0">
                <a:solidFill>
                  <a:srgbClr val="CCD6E3"/>
                </a:solidFill>
                <a:latin typeface="Josefin Sans"/>
              </a:rPr>
              <a:t> </a:t>
            </a:r>
            <a:r>
              <a:rPr sz="1090" b="0">
                <a:solidFill>
                  <a:srgbClr val="CCD6E3"/>
                </a:solidFill>
                <a:latin typeface="Josefin Sans"/>
              </a:rPr>
              <a:t>Systems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01653" y="3150917"/>
            <a:ext cx="8837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2446" y="3150693"/>
            <a:ext cx="12294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359993" y="1360639"/>
            <a:ext cx="2519997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4" y="1360639"/>
            <a:ext cx="2519997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59992" y="1806015"/>
            <a:ext cx="2519997" cy="394754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880002" y="1806016"/>
            <a:ext cx="2519997" cy="394754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-1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880003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Neuro-fuzzy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9993" y="84572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Neuro-fuzzy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intelligent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combine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networks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fuzzy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9993" y="101779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logic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04683" y="1396207"/>
            <a:ext cx="468071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FFFFFF"/>
                </a:solidFill>
                <a:latin typeface="Josefin Sans"/>
              </a:rPr>
              <a:t>Neural</a:t>
            </a:r>
            <a:r>
              <a:rPr sz="1090" b="1">
                <a:solidFill>
                  <a:srgbClr val="FFFFFF"/>
                </a:solidFill>
                <a:latin typeface="Josefin Sans"/>
              </a:rPr>
              <a:t> </a:t>
            </a:r>
            <a:r>
              <a:rPr sz="1090" b="1">
                <a:solidFill>
                  <a:srgbClr val="FFFFFF"/>
                </a:solidFill>
                <a:latin typeface="Josefin Sans"/>
              </a:rPr>
              <a:t>networks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791356" y="1396207"/>
            <a:ext cx="19940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FFFFFF"/>
                </a:solidFill>
                <a:latin typeface="Josefin Sans"/>
              </a:rPr>
              <a:t>Fuzzy</a:t>
            </a:r>
            <a:r>
              <a:rPr sz="1090" b="1">
                <a:solidFill>
                  <a:srgbClr val="FFFFFF"/>
                </a:solidFill>
                <a:latin typeface="Josefin Sans"/>
              </a:rPr>
              <a:t> </a:t>
            </a:r>
            <a:r>
              <a:rPr sz="1090" b="1">
                <a:solidFill>
                  <a:srgbClr val="FFFFFF"/>
                </a:solidFill>
                <a:latin typeface="Josefin Sans"/>
              </a:rPr>
              <a:t>logic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35914" y="1618479"/>
            <a:ext cx="534948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low-level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computational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structures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955911" y="1618479"/>
            <a:ext cx="282948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high-level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reasoning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5912" y="1841161"/>
            <a:ext cx="534948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good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raw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data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955911" y="1841161"/>
            <a:ext cx="282948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information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domain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955911" y="2013234"/>
            <a:ext cx="282948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expert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35912" y="2235929"/>
            <a:ext cx="534948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opaque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users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55911" y="2235929"/>
            <a:ext cx="282948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cannot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learn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adjust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new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environ-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955911" y="2408002"/>
            <a:ext cx="282948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ment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01652" y="3150918"/>
            <a:ext cx="8837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31699" y="3150694"/>
            <a:ext cx="15369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39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5" y="3146739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Neuro-fuzzy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96719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integrated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neuro-fuzzy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combines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8" y="1181542"/>
            <a:ext cx="53253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parallel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computation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learning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abilities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networks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8" y="1439657"/>
            <a:ext cx="53253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human-like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knowledge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representation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explanation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abilities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7096" y="1655486"/>
            <a:ext cx="514829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systems.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626377" y="2018349"/>
            <a:ext cx="415901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networks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become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more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transparent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57719" y="2276451"/>
            <a:ext cx="422767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gain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capability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learning.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01654" y="3150915"/>
            <a:ext cx="88374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54777" y="3150691"/>
            <a:ext cx="13061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4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Neuro-fuzzy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0056" y="1206231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neuro-fuzzy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network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functionally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equivalent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7094" y="1422073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inference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model.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6" y="1636417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trained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develop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IF-THEN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determine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7094" y="1852260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functions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variables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01653" y="3150916"/>
            <a:ext cx="8837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40209" y="3150692"/>
            <a:ext cx="14518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1443747" y="1497637"/>
            <a:ext cx="74356" cy="74356"/>
          </a:xfrm>
          <a:prstGeom prst="rect">
            <a:avLst/>
          </a:prstGeom>
          <a:noFill/>
          <a:ln w="495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443747" y="2555467"/>
            <a:ext cx="74356" cy="74357"/>
          </a:xfrm>
          <a:prstGeom prst="rect">
            <a:avLst/>
          </a:prstGeom>
          <a:noFill/>
          <a:ln w="495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062217" y="1058278"/>
            <a:ext cx="247856" cy="247856"/>
          </a:xfrm>
          <a:prstGeom prst="rect">
            <a:avLst/>
          </a:prstGeom>
          <a:noFill/>
          <a:ln w="495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062217" y="1410888"/>
            <a:ext cx="247856" cy="247856"/>
          </a:xfrm>
          <a:prstGeom prst="rect">
            <a:avLst/>
          </a:prstGeom>
          <a:noFill/>
          <a:ln w="495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062217" y="1763497"/>
            <a:ext cx="247856" cy="247856"/>
          </a:xfrm>
          <a:prstGeom prst="rect">
            <a:avLst/>
          </a:prstGeom>
          <a:noFill/>
          <a:ln w="495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062217" y="2116108"/>
            <a:ext cx="247856" cy="247856"/>
          </a:xfrm>
          <a:prstGeom prst="rect">
            <a:avLst/>
          </a:prstGeom>
          <a:noFill/>
          <a:ln w="495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062217" y="2468717"/>
            <a:ext cx="247856" cy="247856"/>
          </a:xfrm>
          <a:prstGeom prst="rect">
            <a:avLst/>
          </a:prstGeom>
          <a:noFill/>
          <a:ln w="495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062217" y="2821327"/>
            <a:ext cx="247856" cy="247856"/>
          </a:xfrm>
          <a:prstGeom prst="rect">
            <a:avLst/>
          </a:prstGeom>
          <a:noFill/>
          <a:ln w="495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472657" y="1410888"/>
            <a:ext cx="247856" cy="247856"/>
          </a:xfrm>
          <a:prstGeom prst="rect">
            <a:avLst/>
          </a:prstGeom>
          <a:noFill/>
          <a:ln w="495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472657" y="2468717"/>
            <a:ext cx="247856" cy="247856"/>
          </a:xfrm>
          <a:prstGeom prst="rect">
            <a:avLst/>
          </a:prstGeom>
          <a:noFill/>
          <a:ln w="495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1199529" y="1534816"/>
            <a:ext cx="216954" cy="0"/>
          </a:xfrm>
          <a:prstGeom prst="line">
            <a:avLst/>
          </a:prstGeom>
          <a:ln w="495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1397000" y="1511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1209047" y="2592646"/>
            <a:ext cx="207436" cy="0"/>
          </a:xfrm>
          <a:prstGeom prst="line">
            <a:avLst/>
          </a:prstGeom>
          <a:ln w="495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1397000" y="2578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2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1520582" y="1195771"/>
            <a:ext cx="518414" cy="339045"/>
          </a:xfrm>
          <a:prstGeom prst="line">
            <a:avLst/>
          </a:prstGeom>
          <a:ln w="495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2019300" y="1181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0"/>
                </a:moveTo>
                <a:lnTo>
                  <a:pt x="0" y="0"/>
                </a:lnTo>
                <a:lnTo>
                  <a:pt x="2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1520582" y="1534816"/>
            <a:ext cx="514371" cy="0"/>
          </a:xfrm>
          <a:prstGeom prst="line">
            <a:avLst/>
          </a:prstGeom>
          <a:ln w="495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2019300" y="1511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1520582" y="1534816"/>
            <a:ext cx="518414" cy="339044"/>
          </a:xfrm>
          <a:prstGeom prst="line">
            <a:avLst/>
          </a:prstGeom>
          <a:ln w="495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2019300" y="1854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3"/>
                </a:moveTo>
                <a:lnTo>
                  <a:pt x="1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V="1">
            <a:off x="1520582" y="2253601"/>
            <a:ext cx="518414" cy="339045"/>
          </a:xfrm>
          <a:prstGeom prst="line">
            <a:avLst/>
          </a:prstGeom>
          <a:ln w="495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2019300" y="2235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0"/>
                </a:moveTo>
                <a:lnTo>
                  <a:pt x="0" y="1"/>
                </a:lnTo>
                <a:lnTo>
                  <a:pt x="2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1520582" y="2592646"/>
            <a:ext cx="514371" cy="0"/>
          </a:xfrm>
          <a:prstGeom prst="line">
            <a:avLst/>
          </a:prstGeom>
          <a:ln w="495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2019300" y="2578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1520582" y="2592646"/>
            <a:ext cx="518414" cy="339044"/>
          </a:xfrm>
          <a:prstGeom prst="line">
            <a:avLst/>
          </a:prstGeom>
          <a:ln w="495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2019300" y="2908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3"/>
                </a:moveTo>
                <a:lnTo>
                  <a:pt x="1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2312552" y="1182206"/>
            <a:ext cx="427621" cy="0"/>
          </a:xfrm>
          <a:prstGeom prst="line">
            <a:avLst/>
          </a:prstGeom>
          <a:ln w="495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2730500" y="1168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2312552" y="1182206"/>
            <a:ext cx="432858" cy="337374"/>
          </a:xfrm>
          <a:prstGeom prst="line">
            <a:avLst/>
          </a:prstGeom>
          <a:ln w="495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2717800" y="1498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3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2312552" y="1182206"/>
            <a:ext cx="439025" cy="684359"/>
          </a:xfrm>
          <a:prstGeom prst="line">
            <a:avLst/>
          </a:prstGeom>
          <a:ln w="495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2730500" y="18415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4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2312552" y="1534816"/>
            <a:ext cx="439025" cy="684359"/>
          </a:xfrm>
          <a:prstGeom prst="line">
            <a:avLst/>
          </a:prstGeom>
          <a:ln w="495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2730500" y="2197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3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2312552" y="1887426"/>
            <a:ext cx="439025" cy="684359"/>
          </a:xfrm>
          <a:prstGeom prst="line">
            <a:avLst/>
          </a:prstGeom>
          <a:ln w="495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2730500" y="2552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3"/>
                </a:moveTo>
                <a:lnTo>
                  <a:pt x="2" y="0"/>
                </a:lnTo>
                <a:lnTo>
                  <a:pt x="2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2312552" y="1887426"/>
            <a:ext cx="442661" cy="1035042"/>
          </a:xfrm>
          <a:prstGeom prst="line">
            <a:avLst/>
          </a:prstGeom>
          <a:ln w="495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2730500" y="28956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4"/>
                </a:moveTo>
                <a:lnTo>
                  <a:pt x="3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 flipV="1">
            <a:off x="2312552" y="1204994"/>
            <a:ext cx="442661" cy="1035042"/>
          </a:xfrm>
          <a:prstGeom prst="line">
            <a:avLst/>
          </a:prstGeom>
          <a:ln w="495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2730500" y="11811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0"/>
                </a:moveTo>
                <a:lnTo>
                  <a:pt x="0" y="2"/>
                </a:lnTo>
                <a:lnTo>
                  <a:pt x="2" y="2"/>
                </a:lnTo>
                <a:lnTo>
                  <a:pt x="3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2312552" y="2240036"/>
            <a:ext cx="439025" cy="684359"/>
          </a:xfrm>
          <a:prstGeom prst="line">
            <a:avLst/>
          </a:prstGeom>
          <a:ln w="495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reeform 76"/>
          <p:cNvSpPr/>
          <p:nvPr/>
        </p:nvSpPr>
        <p:spPr>
          <a:xfrm>
            <a:off x="2730500" y="28956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4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 flipV="1">
            <a:off x="2312552" y="1557604"/>
            <a:ext cx="442661" cy="1035042"/>
          </a:xfrm>
          <a:prstGeom prst="line">
            <a:avLst/>
          </a:prstGeom>
          <a:ln w="495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2730500" y="1536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0"/>
                </a:moveTo>
                <a:lnTo>
                  <a:pt x="0" y="2"/>
                </a:lnTo>
                <a:lnTo>
                  <a:pt x="2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 flipV="1">
            <a:off x="2312552" y="2255272"/>
            <a:ext cx="432858" cy="337374"/>
          </a:xfrm>
          <a:prstGeom prst="line">
            <a:avLst/>
          </a:prstGeom>
          <a:ln w="495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2717800" y="22352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0"/>
                </a:moveTo>
                <a:lnTo>
                  <a:pt x="0" y="1"/>
                </a:lnTo>
                <a:lnTo>
                  <a:pt x="2" y="2"/>
                </a:lnTo>
                <a:lnTo>
                  <a:pt x="2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 flipV="1">
            <a:off x="2312552" y="1910214"/>
            <a:ext cx="442661" cy="1035042"/>
          </a:xfrm>
          <a:prstGeom prst="line">
            <a:avLst/>
          </a:prstGeom>
          <a:ln w="495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2730500" y="1892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0"/>
                </a:moveTo>
                <a:lnTo>
                  <a:pt x="0" y="2"/>
                </a:lnTo>
                <a:lnTo>
                  <a:pt x="2" y="1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 flipV="1">
            <a:off x="2312552" y="2607881"/>
            <a:ext cx="432858" cy="337375"/>
          </a:xfrm>
          <a:prstGeom prst="line">
            <a:avLst/>
          </a:prstGeom>
          <a:ln w="495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2717800" y="2590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0"/>
                </a:moveTo>
                <a:lnTo>
                  <a:pt x="0" y="1"/>
                </a:lnTo>
                <a:lnTo>
                  <a:pt x="2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>
            <a:off x="3017772" y="1182206"/>
            <a:ext cx="444837" cy="1386840"/>
          </a:xfrm>
          <a:prstGeom prst="line">
            <a:avLst/>
          </a:prstGeom>
          <a:ln w="495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3441700" y="2552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3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3017772" y="1534816"/>
            <a:ext cx="442661" cy="1035042"/>
          </a:xfrm>
          <a:prstGeom prst="line">
            <a:avLst/>
          </a:prstGeom>
          <a:ln w="495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3441700" y="2552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 flipV="1">
            <a:off x="3017772" y="1550051"/>
            <a:ext cx="432858" cy="337375"/>
          </a:xfrm>
          <a:prstGeom prst="line">
            <a:avLst/>
          </a:prstGeom>
          <a:ln w="495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3429000" y="1536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0"/>
                </a:moveTo>
                <a:lnTo>
                  <a:pt x="0" y="1"/>
                </a:lnTo>
                <a:lnTo>
                  <a:pt x="2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3017772" y="2240036"/>
            <a:ext cx="432858" cy="337374"/>
          </a:xfrm>
          <a:prstGeom prst="line">
            <a:avLst/>
          </a:prstGeom>
          <a:ln w="495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3429000" y="2552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3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3017772" y="2592646"/>
            <a:ext cx="427621" cy="0"/>
          </a:xfrm>
          <a:prstGeom prst="line">
            <a:avLst/>
          </a:prstGeom>
          <a:ln w="495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3429000" y="2578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 flipV="1">
            <a:off x="3017772" y="1558416"/>
            <a:ext cx="444837" cy="1386840"/>
          </a:xfrm>
          <a:prstGeom prst="line">
            <a:avLst/>
          </a:prstGeom>
          <a:ln w="495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Freeform 96"/>
          <p:cNvSpPr/>
          <p:nvPr/>
        </p:nvSpPr>
        <p:spPr>
          <a:xfrm>
            <a:off x="3441700" y="1536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0"/>
                </a:moveTo>
                <a:lnTo>
                  <a:pt x="0" y="2"/>
                </a:lnTo>
                <a:lnTo>
                  <a:pt x="2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>
            <a:off x="3722992" y="1534816"/>
            <a:ext cx="467209" cy="426931"/>
          </a:xfrm>
          <a:prstGeom prst="line">
            <a:avLst/>
          </a:prstGeom>
          <a:ln w="495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reeform 98"/>
          <p:cNvSpPr/>
          <p:nvPr/>
        </p:nvSpPr>
        <p:spPr>
          <a:xfrm>
            <a:off x="4165600" y="1943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3"/>
                </a:moveTo>
                <a:lnTo>
                  <a:pt x="2" y="0"/>
                </a:lnTo>
                <a:lnTo>
                  <a:pt x="2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3722992" y="2165714"/>
            <a:ext cx="467209" cy="426932"/>
          </a:xfrm>
          <a:prstGeom prst="line">
            <a:avLst/>
          </a:prstGeom>
          <a:ln w="495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4165600" y="2146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0"/>
                </a:moveTo>
                <a:lnTo>
                  <a:pt x="0" y="1"/>
                </a:lnTo>
                <a:lnTo>
                  <a:pt x="2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4428212" y="2063731"/>
            <a:ext cx="143390" cy="0"/>
          </a:xfrm>
          <a:prstGeom prst="line">
            <a:avLst/>
          </a:prstGeom>
          <a:ln w="495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Freeform 102"/>
          <p:cNvSpPr/>
          <p:nvPr/>
        </p:nvSpPr>
        <p:spPr>
          <a:xfrm>
            <a:off x="4559300" y="2044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2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2880016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6" name="Picture 10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07" name="Picture 10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Structure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neuro-fuzzy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92627" y="1487927"/>
            <a:ext cx="4692768" cy="153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83112" y="2545739"/>
            <a:ext cx="4702284" cy="153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135525" y="1140153"/>
            <a:ext cx="3649870" cy="153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2126009" y="1492753"/>
            <a:ext cx="3659386" cy="153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125362" y="1844893"/>
            <a:ext cx="3660033" cy="153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141272" y="2196610"/>
            <a:ext cx="3644123" cy="153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131756" y="2549210"/>
            <a:ext cx="3653639" cy="153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2131109" y="2901349"/>
            <a:ext cx="3654286" cy="153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844357" y="1138785"/>
            <a:ext cx="2941038" cy="153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2834841" y="1491397"/>
            <a:ext cx="2950554" cy="153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2834194" y="1843525"/>
            <a:ext cx="2951201" cy="153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834294" y="2196610"/>
            <a:ext cx="2951101" cy="153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833846" y="2548737"/>
            <a:ext cx="2951549" cy="153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833747" y="2901349"/>
            <a:ext cx="2951648" cy="153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3546696" y="1490925"/>
            <a:ext cx="2238699" cy="153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37168" y="2548737"/>
            <a:ext cx="2248227" cy="153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63738" y="2029306"/>
            <a:ext cx="1521657" cy="153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631875" y="1994100"/>
            <a:ext cx="1153521" cy="153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2348060" y="1166069"/>
            <a:ext cx="3437335" cy="1152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5" b="0">
                <a:solidFill>
                  <a:srgbClr val="FFFFFF"/>
                </a:solidFill>
                <a:latin typeface="SFSS0600"/>
              </a:rPr>
              <a:t>µ</a:t>
            </a:r>
            <a:r>
              <a:rPr sz="487" b="0">
                <a:solidFill>
                  <a:srgbClr val="FFFFFF"/>
                </a:solidFill>
                <a:latin typeface="Josefin Sans"/>
              </a:rPr>
              <a:t>A1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348060" y="1166069"/>
            <a:ext cx="3437335" cy="1152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5" b="0">
                <a:solidFill>
                  <a:srgbClr val="000000"/>
                </a:solidFill>
                <a:latin typeface="SFSS0600"/>
              </a:rPr>
              <a:t>µ</a:t>
            </a:r>
            <a:r>
              <a:rPr sz="487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348060" y="1518681"/>
            <a:ext cx="3437335" cy="1152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5" b="0">
                <a:solidFill>
                  <a:srgbClr val="FFFFFF"/>
                </a:solidFill>
                <a:latin typeface="SFSS0600"/>
              </a:rPr>
              <a:t>µ</a:t>
            </a:r>
            <a:r>
              <a:rPr sz="487" b="0">
                <a:solidFill>
                  <a:srgbClr val="FFFFFF"/>
                </a:solidFill>
                <a:latin typeface="Josefin Sans"/>
              </a:rPr>
              <a:t>A2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348060" y="1518681"/>
            <a:ext cx="3437335" cy="1152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5" b="0">
                <a:solidFill>
                  <a:srgbClr val="000000"/>
                </a:solidFill>
                <a:latin typeface="SFSS0600"/>
              </a:rPr>
              <a:t>µ</a:t>
            </a:r>
            <a:r>
              <a:rPr sz="487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2348060" y="1895774"/>
            <a:ext cx="3437335" cy="1152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5" b="0">
                <a:solidFill>
                  <a:srgbClr val="FFFFFF"/>
                </a:solidFill>
                <a:latin typeface="SFSS0600"/>
              </a:rPr>
              <a:t>µ</a:t>
            </a:r>
            <a:r>
              <a:rPr sz="487" b="0">
                <a:solidFill>
                  <a:srgbClr val="FFFFFF"/>
                </a:solidFill>
                <a:latin typeface="Josefin Sans"/>
              </a:rPr>
              <a:t>A3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348060" y="1895774"/>
            <a:ext cx="3437335" cy="1152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5" b="0">
                <a:solidFill>
                  <a:srgbClr val="000000"/>
                </a:solidFill>
                <a:latin typeface="SFSS0600"/>
              </a:rPr>
              <a:t>µ</a:t>
            </a:r>
            <a:r>
              <a:rPr sz="487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2348060" y="2187559"/>
            <a:ext cx="3437335" cy="1152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5" b="0">
                <a:solidFill>
                  <a:srgbClr val="FFFFFF"/>
                </a:solidFill>
                <a:latin typeface="SFSS0600"/>
              </a:rPr>
              <a:t>µ</a:t>
            </a:r>
            <a:r>
              <a:rPr sz="487" b="0">
                <a:solidFill>
                  <a:srgbClr val="FFFFFF"/>
                </a:solidFill>
                <a:latin typeface="Josefin Sans"/>
              </a:rPr>
              <a:t>B1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2348060" y="2187559"/>
            <a:ext cx="3437335" cy="1152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5" b="0">
                <a:solidFill>
                  <a:srgbClr val="000000"/>
                </a:solidFill>
                <a:latin typeface="SFSS0600"/>
              </a:rPr>
              <a:t>µ</a:t>
            </a:r>
            <a:r>
              <a:rPr sz="487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348060" y="2478212"/>
            <a:ext cx="3437335" cy="1152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5" b="0">
                <a:solidFill>
                  <a:srgbClr val="FFFFFF"/>
                </a:solidFill>
                <a:latin typeface="SFSS0600"/>
              </a:rPr>
              <a:t>µ</a:t>
            </a:r>
            <a:r>
              <a:rPr sz="487" b="0">
                <a:solidFill>
                  <a:srgbClr val="FFFFFF"/>
                </a:solidFill>
                <a:latin typeface="Josefin Sans"/>
              </a:rPr>
              <a:t>B2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348060" y="2478212"/>
            <a:ext cx="3437335" cy="1152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5" b="0">
                <a:solidFill>
                  <a:srgbClr val="000000"/>
                </a:solidFill>
                <a:latin typeface="SFSS0600"/>
              </a:rPr>
              <a:t>µ</a:t>
            </a:r>
            <a:r>
              <a:rPr sz="487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348060" y="2830513"/>
            <a:ext cx="3437335" cy="1152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5" b="0">
                <a:solidFill>
                  <a:srgbClr val="FFFFFF"/>
                </a:solidFill>
                <a:latin typeface="SFSS0600"/>
              </a:rPr>
              <a:t>µ</a:t>
            </a:r>
            <a:r>
              <a:rPr sz="487" b="0">
                <a:solidFill>
                  <a:srgbClr val="FFFFFF"/>
                </a:solidFill>
                <a:latin typeface="Josefin Sans"/>
              </a:rPr>
              <a:t>B3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2348060" y="2830513"/>
            <a:ext cx="3437335" cy="1152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5" b="0">
                <a:solidFill>
                  <a:srgbClr val="000000"/>
                </a:solidFill>
                <a:latin typeface="SFSS0600"/>
              </a:rPr>
              <a:t>µ</a:t>
            </a:r>
            <a:r>
              <a:rPr sz="487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3053273" y="1166927"/>
            <a:ext cx="2732122" cy="1152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5" b="0">
                <a:solidFill>
                  <a:srgbClr val="FFFFFF"/>
                </a:solidFill>
                <a:latin typeface="SFSS0600"/>
              </a:rPr>
              <a:t>µ</a:t>
            </a:r>
            <a:r>
              <a:rPr sz="487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3053273" y="1166927"/>
            <a:ext cx="2732122" cy="1152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5" b="0">
                <a:solidFill>
                  <a:srgbClr val="000000"/>
                </a:solidFill>
                <a:latin typeface="SFSS0600"/>
              </a:rPr>
              <a:t>µ</a:t>
            </a:r>
            <a:r>
              <a:rPr sz="487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053273" y="1519527"/>
            <a:ext cx="2732122" cy="1152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5" b="0">
                <a:solidFill>
                  <a:srgbClr val="FFFFFF"/>
                </a:solidFill>
                <a:latin typeface="SFSS0600"/>
              </a:rPr>
              <a:t>µ</a:t>
            </a:r>
            <a:r>
              <a:rPr sz="487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3053273" y="1519527"/>
            <a:ext cx="2732122" cy="1152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5" b="0">
                <a:solidFill>
                  <a:srgbClr val="000000"/>
                </a:solidFill>
                <a:latin typeface="SFSS0600"/>
              </a:rPr>
              <a:t>µ</a:t>
            </a:r>
            <a:r>
              <a:rPr sz="487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3053273" y="1834661"/>
            <a:ext cx="2732122" cy="1152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5" b="0">
                <a:solidFill>
                  <a:srgbClr val="FFFFFF"/>
                </a:solidFill>
                <a:latin typeface="SFSS0600"/>
              </a:rPr>
              <a:t>µ</a:t>
            </a:r>
            <a:r>
              <a:rPr sz="487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053273" y="1834661"/>
            <a:ext cx="2732122" cy="1152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5" b="0">
                <a:solidFill>
                  <a:srgbClr val="000000"/>
                </a:solidFill>
                <a:latin typeface="SFSS0600"/>
              </a:rPr>
              <a:t>µ</a:t>
            </a:r>
            <a:r>
              <a:rPr sz="487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053273" y="2187559"/>
            <a:ext cx="2732122" cy="1152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5" b="0">
                <a:solidFill>
                  <a:srgbClr val="FFFFFF"/>
                </a:solidFill>
                <a:latin typeface="SFSS0600"/>
              </a:rPr>
              <a:t>µ</a:t>
            </a:r>
            <a:r>
              <a:rPr sz="487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053273" y="2187559"/>
            <a:ext cx="2732122" cy="1152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5" b="0">
                <a:solidFill>
                  <a:srgbClr val="000000"/>
                </a:solidFill>
                <a:latin typeface="SFSS0600"/>
              </a:rPr>
              <a:t>µ</a:t>
            </a:r>
            <a:r>
              <a:rPr sz="487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3053273" y="2539873"/>
            <a:ext cx="2732122" cy="1152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5" b="0">
                <a:solidFill>
                  <a:srgbClr val="FFFFFF"/>
                </a:solidFill>
                <a:latin typeface="SFSS0600"/>
              </a:rPr>
              <a:t>µ</a:t>
            </a:r>
            <a:r>
              <a:rPr sz="487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3053273" y="2539873"/>
            <a:ext cx="2732122" cy="1152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5" b="0">
                <a:solidFill>
                  <a:srgbClr val="000000"/>
                </a:solidFill>
                <a:latin typeface="SFSS0600"/>
              </a:rPr>
              <a:t>µ</a:t>
            </a:r>
            <a:r>
              <a:rPr sz="487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053273" y="2830513"/>
            <a:ext cx="2732122" cy="1152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5" b="0">
                <a:solidFill>
                  <a:srgbClr val="FFFFFF"/>
                </a:solidFill>
                <a:latin typeface="SFSS0600"/>
              </a:rPr>
              <a:t>µ</a:t>
            </a:r>
            <a:r>
              <a:rPr sz="487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053273" y="2830513"/>
            <a:ext cx="2732122" cy="1152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5" b="0">
                <a:solidFill>
                  <a:srgbClr val="000000"/>
                </a:solidFill>
                <a:latin typeface="SFSS0600"/>
              </a:rPr>
              <a:t>µ</a:t>
            </a:r>
            <a:r>
              <a:rPr sz="487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3320241" y="2104207"/>
            <a:ext cx="2465154" cy="1152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5" b="0">
                <a:solidFill>
                  <a:srgbClr val="FFFFFF"/>
                </a:solidFill>
                <a:latin typeface="Josefin Sans"/>
              </a:rPr>
              <a:t>w</a:t>
            </a:r>
            <a:r>
              <a:rPr sz="487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3320241" y="2104207"/>
            <a:ext cx="2465154" cy="1152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5" b="0">
                <a:solidFill>
                  <a:srgbClr val="000000"/>
                </a:solidFill>
                <a:latin typeface="Josefin Sans"/>
              </a:rPr>
              <a:t>w</a:t>
            </a:r>
            <a:r>
              <a:rPr sz="487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271169" y="2290097"/>
            <a:ext cx="2514226" cy="1152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5" b="0">
                <a:solidFill>
                  <a:srgbClr val="FFFFFF"/>
                </a:solidFill>
                <a:latin typeface="Josefin Sans"/>
              </a:rPr>
              <a:t>w</a:t>
            </a:r>
            <a:r>
              <a:rPr sz="487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3271169" y="2290097"/>
            <a:ext cx="2514226" cy="1152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5" b="0">
                <a:solidFill>
                  <a:srgbClr val="000000"/>
                </a:solidFill>
                <a:latin typeface="Josefin Sans"/>
              </a:rPr>
              <a:t>w</a:t>
            </a:r>
            <a:r>
              <a:rPr sz="487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3307541" y="1479836"/>
            <a:ext cx="2477854" cy="1152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5" b="0">
                <a:solidFill>
                  <a:srgbClr val="FFFFFF"/>
                </a:solidFill>
                <a:latin typeface="Josefin Sans"/>
              </a:rPr>
              <a:t>w</a:t>
            </a:r>
            <a:r>
              <a:rPr sz="487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3307541" y="1479836"/>
            <a:ext cx="2477854" cy="1152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5" b="0">
                <a:solidFill>
                  <a:srgbClr val="000000"/>
                </a:solidFill>
                <a:latin typeface="Josefin Sans"/>
              </a:rPr>
              <a:t>w</a:t>
            </a:r>
            <a:r>
              <a:rPr sz="487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3282887" y="2451197"/>
            <a:ext cx="2502508" cy="1152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5" b="0">
                <a:solidFill>
                  <a:srgbClr val="FFFFFF"/>
                </a:solidFill>
                <a:latin typeface="Josefin Sans"/>
              </a:rPr>
              <a:t>w</a:t>
            </a:r>
            <a:r>
              <a:rPr sz="487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3282887" y="2451197"/>
            <a:ext cx="2502508" cy="1152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5" b="0">
                <a:solidFill>
                  <a:srgbClr val="000000"/>
                </a:solidFill>
                <a:latin typeface="Josefin Sans"/>
              </a:rPr>
              <a:t>w</a:t>
            </a:r>
            <a:r>
              <a:rPr sz="487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3307106" y="2587219"/>
            <a:ext cx="2478289" cy="1152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5" b="0">
                <a:solidFill>
                  <a:srgbClr val="FFFFFF"/>
                </a:solidFill>
                <a:latin typeface="Josefin Sans"/>
              </a:rPr>
              <a:t>w</a:t>
            </a:r>
            <a:r>
              <a:rPr sz="487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3307106" y="2587219"/>
            <a:ext cx="2478289" cy="1152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5" b="0">
                <a:solidFill>
                  <a:srgbClr val="000000"/>
                </a:solidFill>
                <a:latin typeface="Josefin Sans"/>
              </a:rPr>
              <a:t>w</a:t>
            </a:r>
            <a:r>
              <a:rPr sz="487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3331773" y="1665727"/>
            <a:ext cx="2453622" cy="1152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5" b="0">
                <a:solidFill>
                  <a:srgbClr val="FFFFFF"/>
                </a:solidFill>
                <a:latin typeface="Josefin Sans"/>
              </a:rPr>
              <a:t>w</a:t>
            </a:r>
            <a:r>
              <a:rPr sz="487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3331773" y="1665727"/>
            <a:ext cx="2453622" cy="1152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5" b="0">
                <a:solidFill>
                  <a:srgbClr val="000000"/>
                </a:solidFill>
                <a:latin typeface="Josefin Sans"/>
              </a:rPr>
              <a:t>w</a:t>
            </a:r>
            <a:r>
              <a:rPr sz="487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3758485" y="1519241"/>
            <a:ext cx="2026910" cy="1152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5" b="0">
                <a:solidFill>
                  <a:srgbClr val="FFFFFF"/>
                </a:solidFill>
                <a:latin typeface="SFSS0600"/>
              </a:rPr>
              <a:t>µ</a:t>
            </a:r>
            <a:r>
              <a:rPr sz="487" b="0">
                <a:solidFill>
                  <a:srgbClr val="FFFFFF"/>
                </a:solidFill>
                <a:latin typeface="Josefin Sans"/>
              </a:rPr>
              <a:t>C1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758485" y="1519241"/>
            <a:ext cx="2026910" cy="1152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5" b="0">
                <a:solidFill>
                  <a:srgbClr val="000000"/>
                </a:solidFill>
                <a:latin typeface="SFSS0600"/>
              </a:rPr>
              <a:t>µ</a:t>
            </a:r>
            <a:r>
              <a:rPr sz="487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3758485" y="2502692"/>
            <a:ext cx="2026910" cy="1152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5" b="0">
                <a:solidFill>
                  <a:srgbClr val="FFFFFF"/>
                </a:solidFill>
                <a:latin typeface="SFSS0600"/>
              </a:rPr>
              <a:t>µ</a:t>
            </a:r>
            <a:r>
              <a:rPr sz="487" b="0">
                <a:solidFill>
                  <a:srgbClr val="FFFFFF"/>
                </a:solidFill>
                <a:latin typeface="Josefin Sans"/>
              </a:rPr>
              <a:t>C2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3758485" y="2502692"/>
            <a:ext cx="2026910" cy="1152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5" b="0">
                <a:solidFill>
                  <a:srgbClr val="000000"/>
                </a:solidFill>
                <a:latin typeface="SFSS0600"/>
              </a:rPr>
              <a:t>µ</a:t>
            </a:r>
            <a:r>
              <a:rPr sz="487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318883" y="506199"/>
            <a:ext cx="4466512" cy="153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780" b="1">
                <a:solidFill>
                  <a:srgbClr val="000000"/>
                </a:solidFill>
                <a:latin typeface="Josefin Sans"/>
              </a:rPr>
              <a:t> </a:t>
            </a:r>
            <a:r>
              <a:rPr sz="780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233264" y="623630"/>
            <a:ext cx="4552131" cy="153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780" b="0">
                <a:solidFill>
                  <a:srgbClr val="000000"/>
                </a:solidFill>
                <a:latin typeface="Josefin Sans"/>
              </a:rPr>
              <a:t> </a:t>
            </a:r>
            <a:r>
              <a:rPr sz="780" b="0">
                <a:solidFill>
                  <a:srgbClr val="000000"/>
                </a:solidFill>
                <a:latin typeface="Josefin Sans"/>
              </a:rPr>
              <a:t>inputs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2013136" y="506199"/>
            <a:ext cx="3772259" cy="153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780" b="1">
                <a:solidFill>
                  <a:srgbClr val="000000"/>
                </a:solidFill>
                <a:latin typeface="Josefin Sans"/>
              </a:rPr>
              <a:t> </a:t>
            </a:r>
            <a:r>
              <a:rPr sz="780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2077919" y="623631"/>
            <a:ext cx="3707476" cy="153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000000"/>
                </a:solidFill>
                <a:latin typeface="Josefin Sans"/>
              </a:rPr>
              <a:t>Input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932381" y="741367"/>
            <a:ext cx="3853014" cy="153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2001381" y="859091"/>
            <a:ext cx="3784014" cy="153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2719779" y="506199"/>
            <a:ext cx="3065616" cy="153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780" b="1">
                <a:solidFill>
                  <a:srgbClr val="000000"/>
                </a:solidFill>
                <a:latin typeface="Josefin Sans"/>
              </a:rPr>
              <a:t> </a:t>
            </a:r>
            <a:r>
              <a:rPr sz="780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2664313" y="623630"/>
            <a:ext cx="3121082" cy="153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780" b="0">
                <a:solidFill>
                  <a:srgbClr val="000000"/>
                </a:solidFill>
                <a:latin typeface="Josefin Sans"/>
              </a:rPr>
              <a:t> </a:t>
            </a:r>
            <a:r>
              <a:rPr sz="780" b="0">
                <a:solidFill>
                  <a:srgbClr val="000000"/>
                </a:solidFill>
                <a:latin typeface="Josefin Sans"/>
              </a:rPr>
              <a:t>rules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3424245" y="506199"/>
            <a:ext cx="2361150" cy="153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780" b="1">
                <a:solidFill>
                  <a:srgbClr val="000000"/>
                </a:solidFill>
                <a:latin typeface="Josefin Sans"/>
              </a:rPr>
              <a:t> </a:t>
            </a:r>
            <a:r>
              <a:rPr sz="780" b="1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3443289" y="623631"/>
            <a:ext cx="2342106" cy="153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000000"/>
                </a:solidFill>
                <a:latin typeface="Josefin Sans"/>
              </a:rPr>
              <a:t>Output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3342806" y="741367"/>
            <a:ext cx="2442589" cy="153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3411806" y="859091"/>
            <a:ext cx="2373589" cy="153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4130304" y="506199"/>
            <a:ext cx="1655091" cy="153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780" b="1">
                <a:solidFill>
                  <a:srgbClr val="000000"/>
                </a:solidFill>
                <a:latin typeface="Josefin Sans"/>
              </a:rPr>
              <a:t> </a:t>
            </a:r>
            <a:r>
              <a:rPr sz="780" b="1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3995028" y="623631"/>
            <a:ext cx="1790367" cy="153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901666" y="3150917"/>
            <a:ext cx="88372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5639231" y="3150693"/>
            <a:ext cx="14616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511073" y="1451851"/>
            <a:ext cx="51199" cy="51199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11073" y="2180234"/>
            <a:ext cx="51199" cy="51199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36929" y="1149325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36929" y="1392119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36929" y="1634913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36929" y="1877707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36929" y="2120501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36929" y="2363296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08106" y="1392119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908106" y="2120501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42914" y="1477451"/>
            <a:ext cx="149386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482600" y="1460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49467" y="2205834"/>
            <a:ext cx="142833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4826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563979" y="1243998"/>
            <a:ext cx="356961" cy="23345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901700" y="1231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563979" y="1477451"/>
            <a:ext cx="354177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901700" y="1460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563979" y="1477451"/>
            <a:ext cx="356961" cy="23345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901700" y="1689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1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V="1">
            <a:off x="563979" y="1972380"/>
            <a:ext cx="356961" cy="23345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901700" y="1968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563979" y="2205834"/>
            <a:ext cx="354177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901700" y="2197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563979" y="2205834"/>
            <a:ext cx="356961" cy="23345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901700" y="2425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1" y="0"/>
                </a:lnTo>
                <a:lnTo>
                  <a:pt x="2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1109300" y="1234657"/>
            <a:ext cx="294445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1397000" y="1219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1109300" y="1234657"/>
            <a:ext cx="298051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1397000" y="1447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1109300" y="1234657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1397000" y="1689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1109300" y="1477451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1397000" y="19304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1109300" y="1720245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13970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1109300" y="1720245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1397000" y="2413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 flipV="1">
            <a:off x="1109300" y="1250348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1397000" y="12319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1109300" y="1963040"/>
            <a:ext cx="302296" cy="47122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reeform 76"/>
          <p:cNvSpPr/>
          <p:nvPr/>
        </p:nvSpPr>
        <p:spPr>
          <a:xfrm>
            <a:off x="1397000" y="2413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 flipV="1">
            <a:off x="1109300" y="1493142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13970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 flipV="1">
            <a:off x="1109300" y="1973530"/>
            <a:ext cx="298051" cy="23230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1397000" y="1968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 flipV="1">
            <a:off x="1109300" y="1735936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1397000" y="17145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 flipV="1">
            <a:off x="1109300" y="2216324"/>
            <a:ext cx="298051" cy="23230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1397000" y="2209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>
            <a:off x="1594889" y="1234657"/>
            <a:ext cx="306298" cy="954927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18796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1594889" y="1477451"/>
            <a:ext cx="304800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18796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 flipV="1">
            <a:off x="1594889" y="1487942"/>
            <a:ext cx="298050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18796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1594889" y="1963040"/>
            <a:ext cx="298050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1879600" y="2184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1594889" y="2205834"/>
            <a:ext cx="294444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18796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 flipV="1">
            <a:off x="1594889" y="1493701"/>
            <a:ext cx="306298" cy="954927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Freeform 96"/>
          <p:cNvSpPr/>
          <p:nvPr/>
        </p:nvSpPr>
        <p:spPr>
          <a:xfrm>
            <a:off x="18796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2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>
            <a:off x="2080477" y="1477451"/>
            <a:ext cx="321704" cy="293969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reeform 98"/>
          <p:cNvSpPr/>
          <p:nvPr/>
        </p:nvSpPr>
        <p:spPr>
          <a:xfrm>
            <a:off x="2387600" y="1752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2080477" y="1911865"/>
            <a:ext cx="321704" cy="293969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23876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2566066" y="1841642"/>
            <a:ext cx="98733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Freeform 102"/>
          <p:cNvSpPr/>
          <p:nvPr/>
        </p:nvSpPr>
        <p:spPr>
          <a:xfrm>
            <a:off x="2654300" y="1828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3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2880017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6" name="Picture 10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07" name="Picture 10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Structure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neuro-fuzzy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69305" y="1445157"/>
            <a:ext cx="551609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62753" y="2173536"/>
            <a:ext cx="552264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87406" y="1205692"/>
            <a:ext cx="479798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80854" y="1448488"/>
            <a:ext cx="480454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80409" y="1690950"/>
            <a:ext cx="4804987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91363" y="1933130"/>
            <a:ext cx="479403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84811" y="2175917"/>
            <a:ext cx="480058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84366" y="2418387"/>
            <a:ext cx="480103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475482" y="1204759"/>
            <a:ext cx="4309913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468930" y="1447546"/>
            <a:ext cx="431646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468484" y="1690017"/>
            <a:ext cx="431691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468553" y="1933130"/>
            <a:ext cx="431684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468244" y="2175600"/>
            <a:ext cx="431715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468176" y="2418387"/>
            <a:ext cx="431721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959087" y="1447221"/>
            <a:ext cx="382630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952526" y="2175600"/>
            <a:ext cx="383286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452815" y="1817939"/>
            <a:ext cx="333258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706300" y="1793698"/>
            <a:ext cx="307909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133750" y="122354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133750" y="122354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133750" y="146633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133750" y="146633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33750" y="172599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750" y="172599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133750" y="192690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133750" y="192690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133750" y="2127030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133750" y="2127030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133750" y="2369621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133750" y="2369621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619333" y="1224128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619333" y="1224128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619333" y="1466924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619333" y="1466924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619333" y="1683913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619333" y="1683913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619333" y="192690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619333" y="192690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619333" y="216949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619333" y="216949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619333" y="2369621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619333" y="2369621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803158" y="1869504"/>
            <a:ext cx="398223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803158" y="1869504"/>
            <a:ext cx="398223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769369" y="1997501"/>
            <a:ext cx="4016026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769369" y="1997501"/>
            <a:ext cx="4016026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794413" y="1439586"/>
            <a:ext cx="39909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794413" y="1439586"/>
            <a:ext cx="39909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777437" y="2108437"/>
            <a:ext cx="4007958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777437" y="2108437"/>
            <a:ext cx="4007958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794113" y="2202097"/>
            <a:ext cx="39912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794113" y="2202097"/>
            <a:ext cx="39912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811098" y="1567583"/>
            <a:ext cx="397429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811098" y="1567583"/>
            <a:ext cx="397429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2104916" y="1466718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C1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2104916" y="1466718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2104916" y="2143895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C2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04916" y="2143895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425097" y="769175"/>
            <a:ext cx="5360298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66143" y="850042"/>
            <a:ext cx="541925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537" b="0">
                <a:solidFill>
                  <a:srgbClr val="000000"/>
                </a:solidFill>
                <a:latin typeface="Josefin Sans"/>
              </a:rPr>
              <a:t> </a:t>
            </a:r>
            <a:r>
              <a:rPr sz="537" b="0">
                <a:solidFill>
                  <a:srgbClr val="000000"/>
                </a:solidFill>
                <a:latin typeface="Josefin Sans"/>
              </a:rPr>
              <a:t>inputs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03134" y="769175"/>
            <a:ext cx="488226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947741" y="850042"/>
            <a:ext cx="483765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Input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847529" y="931103"/>
            <a:ext cx="4937866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95040" y="1012172"/>
            <a:ext cx="489035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389702" y="769175"/>
            <a:ext cx="4395693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351510" y="850042"/>
            <a:ext cx="443388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537" b="0">
                <a:solidFill>
                  <a:srgbClr val="000000"/>
                </a:solidFill>
                <a:latin typeface="Josefin Sans"/>
              </a:rPr>
              <a:t> </a:t>
            </a:r>
            <a:r>
              <a:rPr sz="537" b="0">
                <a:solidFill>
                  <a:srgbClr val="000000"/>
                </a:solidFill>
                <a:latin typeface="Josefin Sans"/>
              </a:rPr>
              <a:t>rules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874771" y="769175"/>
            <a:ext cx="391062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887884" y="850042"/>
            <a:ext cx="389751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Output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818695" y="931103"/>
            <a:ext cx="396670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866206" y="1012172"/>
            <a:ext cx="391918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2360937" y="769175"/>
            <a:ext cx="3424458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2267791" y="850043"/>
            <a:ext cx="351760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3119260" y="1123156"/>
            <a:ext cx="266613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two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inputs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–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x1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3119260" y="1312946"/>
            <a:ext cx="266613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one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–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3119260" y="1502735"/>
            <a:ext cx="266613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x1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–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sets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A1,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A2,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3119260" y="1692523"/>
            <a:ext cx="266613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x2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–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sets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B1,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B2,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3119260" y="1882311"/>
            <a:ext cx="266613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–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sets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C1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3119260" y="2072100"/>
            <a:ext cx="266613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based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Mamdani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inference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model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4901667" y="3150915"/>
            <a:ext cx="88372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5639384" y="3150691"/>
            <a:ext cx="1460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511073" y="1451851"/>
            <a:ext cx="51199" cy="51199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11073" y="2180234"/>
            <a:ext cx="51199" cy="51199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36929" y="1149325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36929" y="1392119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36929" y="1634913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36929" y="1877707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36929" y="2120501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36929" y="2363296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08106" y="1392119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908106" y="2120501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42914" y="1477451"/>
            <a:ext cx="149386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482600" y="1460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49467" y="2205834"/>
            <a:ext cx="142833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4826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563979" y="1243998"/>
            <a:ext cx="356961" cy="23345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901700" y="1231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563979" y="1477451"/>
            <a:ext cx="354177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901700" y="1460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563979" y="1477451"/>
            <a:ext cx="356961" cy="23345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901700" y="1689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1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V="1">
            <a:off x="563979" y="1972380"/>
            <a:ext cx="356961" cy="23345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901700" y="1968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563979" y="2205834"/>
            <a:ext cx="354177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901700" y="2197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563979" y="2205834"/>
            <a:ext cx="356961" cy="23345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901700" y="2425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1" y="0"/>
                </a:lnTo>
                <a:lnTo>
                  <a:pt x="2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1109300" y="1234657"/>
            <a:ext cx="294445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1397000" y="1219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1109300" y="1234657"/>
            <a:ext cx="298051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1397000" y="1447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1109300" y="1234657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1397000" y="1689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1109300" y="1477451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1397000" y="19304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1109300" y="1720245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13970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1109300" y="1720245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1397000" y="2413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 flipV="1">
            <a:off x="1109300" y="1250348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1397000" y="12319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1109300" y="1963040"/>
            <a:ext cx="302296" cy="47122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reeform 76"/>
          <p:cNvSpPr/>
          <p:nvPr/>
        </p:nvSpPr>
        <p:spPr>
          <a:xfrm>
            <a:off x="1397000" y="2413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 flipV="1">
            <a:off x="1109300" y="1493142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13970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 flipV="1">
            <a:off x="1109300" y="1973530"/>
            <a:ext cx="298051" cy="23230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1397000" y="1968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 flipV="1">
            <a:off x="1109300" y="1735936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1397000" y="17145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 flipV="1">
            <a:off x="1109300" y="2216324"/>
            <a:ext cx="298051" cy="23230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1397000" y="2209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>
            <a:off x="1594889" y="1234657"/>
            <a:ext cx="306298" cy="954927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18796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1594889" y="1477451"/>
            <a:ext cx="304800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18796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 flipV="1">
            <a:off x="1594889" y="1487942"/>
            <a:ext cx="298050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18796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1594889" y="1963040"/>
            <a:ext cx="298050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1879600" y="2184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1594889" y="2205834"/>
            <a:ext cx="294444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18796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 flipV="1">
            <a:off x="1594889" y="1493701"/>
            <a:ext cx="306298" cy="954927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Freeform 96"/>
          <p:cNvSpPr/>
          <p:nvPr/>
        </p:nvSpPr>
        <p:spPr>
          <a:xfrm>
            <a:off x="18796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2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>
            <a:off x="2080477" y="1477451"/>
            <a:ext cx="321704" cy="293969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reeform 98"/>
          <p:cNvSpPr/>
          <p:nvPr/>
        </p:nvSpPr>
        <p:spPr>
          <a:xfrm>
            <a:off x="2387600" y="1752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2080477" y="1911865"/>
            <a:ext cx="321704" cy="293969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23876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2566066" y="1841642"/>
            <a:ext cx="98733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Freeform 102"/>
          <p:cNvSpPr/>
          <p:nvPr/>
        </p:nvSpPr>
        <p:spPr>
          <a:xfrm>
            <a:off x="2654300" y="1828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3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2880017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6" name="Picture 10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07" name="Picture 10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Structure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neuro-fuzzy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69305" y="1445157"/>
            <a:ext cx="551609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62753" y="2173536"/>
            <a:ext cx="552264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87406" y="1205692"/>
            <a:ext cx="479798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80854" y="1448488"/>
            <a:ext cx="480454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80409" y="1690950"/>
            <a:ext cx="4804987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91363" y="1933130"/>
            <a:ext cx="479403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84811" y="2175917"/>
            <a:ext cx="480058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84366" y="2418387"/>
            <a:ext cx="480103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475482" y="1204759"/>
            <a:ext cx="4309913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468930" y="1447546"/>
            <a:ext cx="431646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468484" y="1690017"/>
            <a:ext cx="431691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468553" y="1933130"/>
            <a:ext cx="431684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468244" y="2175600"/>
            <a:ext cx="431715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468176" y="2418387"/>
            <a:ext cx="431721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959087" y="1447221"/>
            <a:ext cx="382630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952526" y="2175600"/>
            <a:ext cx="383286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452815" y="1817939"/>
            <a:ext cx="333258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706300" y="1793698"/>
            <a:ext cx="307909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133750" y="122354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133750" y="122354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133750" y="146633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133750" y="146633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33750" y="172599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750" y="172599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133750" y="192690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133750" y="192690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133750" y="2127030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133750" y="2127030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133750" y="2369621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133750" y="2369621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619333" y="1224128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619333" y="1224128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619333" y="1466924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619333" y="1466924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619333" y="1683913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619333" y="1683913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619333" y="192690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619333" y="192690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619333" y="216949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619333" y="216949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619333" y="2369621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619333" y="2369621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803158" y="1869504"/>
            <a:ext cx="398223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803158" y="1869504"/>
            <a:ext cx="398223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769369" y="1997501"/>
            <a:ext cx="4016026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769369" y="1997501"/>
            <a:ext cx="4016026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794413" y="1439586"/>
            <a:ext cx="39909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794413" y="1439586"/>
            <a:ext cx="39909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777437" y="2108437"/>
            <a:ext cx="4007958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777437" y="2108437"/>
            <a:ext cx="4007958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794113" y="2202097"/>
            <a:ext cx="39912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794113" y="2202097"/>
            <a:ext cx="39912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811098" y="1567583"/>
            <a:ext cx="397429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811098" y="1567583"/>
            <a:ext cx="397429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2104916" y="1466718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C1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2104916" y="1466718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2104916" y="2143895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C2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04916" y="2143895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425097" y="769175"/>
            <a:ext cx="5360298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66143" y="850042"/>
            <a:ext cx="541925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537" b="0">
                <a:solidFill>
                  <a:srgbClr val="000000"/>
                </a:solidFill>
                <a:latin typeface="Josefin Sans"/>
              </a:rPr>
              <a:t> </a:t>
            </a:r>
            <a:r>
              <a:rPr sz="537" b="0">
                <a:solidFill>
                  <a:srgbClr val="000000"/>
                </a:solidFill>
                <a:latin typeface="Josefin Sans"/>
              </a:rPr>
              <a:t>inputs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03134" y="769175"/>
            <a:ext cx="488226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947741" y="850042"/>
            <a:ext cx="483765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Input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847529" y="931103"/>
            <a:ext cx="4937866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95040" y="1012172"/>
            <a:ext cx="489035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389702" y="769175"/>
            <a:ext cx="4395693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351510" y="850042"/>
            <a:ext cx="443388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537" b="0">
                <a:solidFill>
                  <a:srgbClr val="000000"/>
                </a:solidFill>
                <a:latin typeface="Josefin Sans"/>
              </a:rPr>
              <a:t> </a:t>
            </a:r>
            <a:r>
              <a:rPr sz="537" b="0">
                <a:solidFill>
                  <a:srgbClr val="000000"/>
                </a:solidFill>
                <a:latin typeface="Josefin Sans"/>
              </a:rPr>
              <a:t>rules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874771" y="769175"/>
            <a:ext cx="391062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887884" y="850042"/>
            <a:ext cx="389751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Output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818695" y="931103"/>
            <a:ext cx="396670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866206" y="1012172"/>
            <a:ext cx="391918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2360937" y="769175"/>
            <a:ext cx="3424458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2267791" y="850043"/>
            <a:ext cx="351760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3000007" y="1422040"/>
            <a:ext cx="278538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1: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input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3119260" y="1572712"/>
            <a:ext cx="266613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External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signals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are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transmitted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directly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3277108" y="1750672"/>
            <a:ext cx="250828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next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4901667" y="3150931"/>
            <a:ext cx="88372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5638699" y="3150707"/>
            <a:ext cx="14669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511073" y="1451851"/>
            <a:ext cx="51199" cy="51199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11073" y="2180234"/>
            <a:ext cx="51199" cy="51199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36929" y="1149325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36929" y="1392119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36929" y="1634913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36929" y="1877707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36929" y="2120501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36929" y="2363296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08106" y="1392119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908106" y="2120501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42914" y="1477451"/>
            <a:ext cx="149386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482600" y="1460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49467" y="2205834"/>
            <a:ext cx="142833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4826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563979" y="1243998"/>
            <a:ext cx="356961" cy="23345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901700" y="1231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563979" y="1477451"/>
            <a:ext cx="354177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901700" y="1460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563979" y="1477451"/>
            <a:ext cx="356961" cy="23345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901700" y="1689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1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V="1">
            <a:off x="563979" y="1972380"/>
            <a:ext cx="356961" cy="23345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901700" y="1968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563979" y="2205834"/>
            <a:ext cx="354177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901700" y="2197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563979" y="2205834"/>
            <a:ext cx="356961" cy="23345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901700" y="2425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1" y="0"/>
                </a:lnTo>
                <a:lnTo>
                  <a:pt x="2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1109300" y="1234657"/>
            <a:ext cx="294445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1397000" y="1219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1109300" y="1234657"/>
            <a:ext cx="298051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1397000" y="1447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1109300" y="1234657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1397000" y="1689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1109300" y="1477451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1397000" y="19304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1109300" y="1720245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13970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1109300" y="1720245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1397000" y="2413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 flipV="1">
            <a:off x="1109300" y="1250348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1397000" y="12319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1109300" y="1963040"/>
            <a:ext cx="302296" cy="47122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reeform 76"/>
          <p:cNvSpPr/>
          <p:nvPr/>
        </p:nvSpPr>
        <p:spPr>
          <a:xfrm>
            <a:off x="1397000" y="2413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 flipV="1">
            <a:off x="1109300" y="1493142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13970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 flipV="1">
            <a:off x="1109300" y="1973530"/>
            <a:ext cx="298051" cy="23230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1397000" y="1968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 flipV="1">
            <a:off x="1109300" y="1735936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1397000" y="17145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 flipV="1">
            <a:off x="1109300" y="2216324"/>
            <a:ext cx="298051" cy="23230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1397000" y="2209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>
            <a:off x="1594889" y="1234657"/>
            <a:ext cx="306298" cy="954927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18796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1594889" y="1477451"/>
            <a:ext cx="304800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18796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 flipV="1">
            <a:off x="1594889" y="1487942"/>
            <a:ext cx="298050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18796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1594889" y="1963040"/>
            <a:ext cx="298050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1879600" y="2184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1594889" y="2205834"/>
            <a:ext cx="294444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18796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 flipV="1">
            <a:off x="1594889" y="1493701"/>
            <a:ext cx="306298" cy="954927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Freeform 96"/>
          <p:cNvSpPr/>
          <p:nvPr/>
        </p:nvSpPr>
        <p:spPr>
          <a:xfrm>
            <a:off x="18796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2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>
            <a:off x="2080477" y="1477451"/>
            <a:ext cx="321704" cy="293969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reeform 98"/>
          <p:cNvSpPr/>
          <p:nvPr/>
        </p:nvSpPr>
        <p:spPr>
          <a:xfrm>
            <a:off x="2387600" y="1752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2080477" y="1911865"/>
            <a:ext cx="321704" cy="293969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23876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2566066" y="1841642"/>
            <a:ext cx="98733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Freeform 102"/>
          <p:cNvSpPr/>
          <p:nvPr/>
        </p:nvSpPr>
        <p:spPr>
          <a:xfrm>
            <a:off x="2654300" y="1828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3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2880017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6" name="Picture 10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07" name="Picture 10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Structure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neuro-fuzzy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69305" y="1445157"/>
            <a:ext cx="551609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62753" y="2173536"/>
            <a:ext cx="552264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87406" y="1205692"/>
            <a:ext cx="479798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80854" y="1448488"/>
            <a:ext cx="480454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80409" y="1690950"/>
            <a:ext cx="4804987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91363" y="1933130"/>
            <a:ext cx="479403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84811" y="2175917"/>
            <a:ext cx="480058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84366" y="2418387"/>
            <a:ext cx="480103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475482" y="1204759"/>
            <a:ext cx="4309913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468930" y="1447546"/>
            <a:ext cx="431646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468484" y="1690017"/>
            <a:ext cx="431691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468553" y="1933130"/>
            <a:ext cx="431684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468244" y="2175600"/>
            <a:ext cx="431715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468176" y="2418387"/>
            <a:ext cx="431721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959087" y="1447221"/>
            <a:ext cx="382630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952526" y="2175600"/>
            <a:ext cx="383286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452815" y="1817939"/>
            <a:ext cx="333258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706300" y="1793698"/>
            <a:ext cx="307909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133750" y="122354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133750" y="122354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133750" y="146633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133750" y="146633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33750" y="172599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750" y="172599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133750" y="192690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133750" y="192690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133750" y="2127030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133750" y="2127030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133750" y="2369621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133750" y="2369621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619333" y="1224128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619333" y="1224128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619333" y="1466924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619333" y="1466924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619333" y="1683913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619333" y="1683913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619333" y="192690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619333" y="192690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619333" y="216949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619333" y="216949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619333" y="2369621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619333" y="2369621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803158" y="1869504"/>
            <a:ext cx="398223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803158" y="1869504"/>
            <a:ext cx="398223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769369" y="1997501"/>
            <a:ext cx="4016026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769369" y="1997501"/>
            <a:ext cx="4016026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794413" y="1439586"/>
            <a:ext cx="39909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794413" y="1439586"/>
            <a:ext cx="39909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777437" y="2108437"/>
            <a:ext cx="4007958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777437" y="2108437"/>
            <a:ext cx="4007958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794113" y="2202097"/>
            <a:ext cx="39912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794113" y="2202097"/>
            <a:ext cx="39912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811098" y="1567583"/>
            <a:ext cx="397429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811098" y="1567583"/>
            <a:ext cx="397429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2104916" y="1466718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C1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2104916" y="1466718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2104916" y="2143895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C2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04916" y="2143895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425097" y="769175"/>
            <a:ext cx="5360298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66143" y="850042"/>
            <a:ext cx="541925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537" b="0">
                <a:solidFill>
                  <a:srgbClr val="000000"/>
                </a:solidFill>
                <a:latin typeface="Josefin Sans"/>
              </a:rPr>
              <a:t> </a:t>
            </a:r>
            <a:r>
              <a:rPr sz="537" b="0">
                <a:solidFill>
                  <a:srgbClr val="000000"/>
                </a:solidFill>
                <a:latin typeface="Josefin Sans"/>
              </a:rPr>
              <a:t>inputs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03134" y="769175"/>
            <a:ext cx="488226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947741" y="850042"/>
            <a:ext cx="483765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Input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847529" y="931103"/>
            <a:ext cx="4937866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95040" y="1012172"/>
            <a:ext cx="489035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389702" y="769175"/>
            <a:ext cx="4395693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351510" y="850042"/>
            <a:ext cx="443388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537" b="0">
                <a:solidFill>
                  <a:srgbClr val="000000"/>
                </a:solidFill>
                <a:latin typeface="Josefin Sans"/>
              </a:rPr>
              <a:t> </a:t>
            </a:r>
            <a:r>
              <a:rPr sz="537" b="0">
                <a:solidFill>
                  <a:srgbClr val="000000"/>
                </a:solidFill>
                <a:latin typeface="Josefin Sans"/>
              </a:rPr>
              <a:t>rules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874771" y="769175"/>
            <a:ext cx="391062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887884" y="850042"/>
            <a:ext cx="389751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Output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818695" y="931103"/>
            <a:ext cx="396670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866206" y="1012172"/>
            <a:ext cx="391918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2360937" y="769175"/>
            <a:ext cx="3424458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2267791" y="850043"/>
            <a:ext cx="351760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3000007" y="950883"/>
            <a:ext cx="278538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2: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3000007" y="1089713"/>
            <a:ext cx="278538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0000"/>
                </a:solidFill>
                <a:latin typeface="Josefin Sans"/>
              </a:rPr>
              <a:t>input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or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fuzzification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3119260" y="1240722"/>
            <a:ext cx="266613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neurons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represent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sets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used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3277108" y="1418682"/>
            <a:ext cx="250828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antecedents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rules.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3119260" y="1569690"/>
            <a:ext cx="266613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layer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determines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3277108" y="1747650"/>
            <a:ext cx="250828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inputs.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3119260" y="1898658"/>
            <a:ext cx="266613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activation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function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set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function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3277108" y="2076618"/>
            <a:ext cx="250828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specifies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neuron’s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set,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for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3277108" y="2215797"/>
            <a:ext cx="250828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example,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triangular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function.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4901667" y="3150918"/>
            <a:ext cx="88372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5638546" y="3150694"/>
            <a:ext cx="14684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511073" y="1451851"/>
            <a:ext cx="51199" cy="51199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11073" y="2180234"/>
            <a:ext cx="51199" cy="51199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36929" y="1149325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36929" y="1392119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36929" y="1634913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36929" y="1877707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36929" y="2120501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36929" y="2363296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08106" y="1392119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908106" y="2120501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42914" y="1477451"/>
            <a:ext cx="149386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482600" y="1460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49467" y="2205834"/>
            <a:ext cx="142833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4826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563979" y="1243998"/>
            <a:ext cx="356961" cy="23345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901700" y="1231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563979" y="1477451"/>
            <a:ext cx="354177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901700" y="1460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563979" y="1477451"/>
            <a:ext cx="356961" cy="23345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901700" y="1689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1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V="1">
            <a:off x="563979" y="1972380"/>
            <a:ext cx="356961" cy="23345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901700" y="1968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563979" y="2205834"/>
            <a:ext cx="354177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901700" y="2197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563979" y="2205834"/>
            <a:ext cx="356961" cy="23345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901700" y="2425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1" y="0"/>
                </a:lnTo>
                <a:lnTo>
                  <a:pt x="2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1109300" y="1234657"/>
            <a:ext cx="294445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1397000" y="1219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1109300" y="1234657"/>
            <a:ext cx="298051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1397000" y="1447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1109300" y="1234657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1397000" y="1689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1109300" y="1477451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1397000" y="19304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1109300" y="1720245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13970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1109300" y="1720245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1397000" y="2413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 flipV="1">
            <a:off x="1109300" y="1250348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1397000" y="12319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1109300" y="1963040"/>
            <a:ext cx="302296" cy="47122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reeform 76"/>
          <p:cNvSpPr/>
          <p:nvPr/>
        </p:nvSpPr>
        <p:spPr>
          <a:xfrm>
            <a:off x="1397000" y="2413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 flipV="1">
            <a:off x="1109300" y="1493142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13970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 flipV="1">
            <a:off x="1109300" y="1973530"/>
            <a:ext cx="298051" cy="23230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1397000" y="1968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 flipV="1">
            <a:off x="1109300" y="1735936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1397000" y="17145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 flipV="1">
            <a:off x="1109300" y="2216324"/>
            <a:ext cx="298051" cy="23230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1397000" y="2209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>
            <a:off x="1594889" y="1234657"/>
            <a:ext cx="306298" cy="954927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18796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1594889" y="1477451"/>
            <a:ext cx="304800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18796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 flipV="1">
            <a:off x="1594889" y="1487942"/>
            <a:ext cx="298050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18796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1594889" y="1963040"/>
            <a:ext cx="298050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1879600" y="2184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1594889" y="2205834"/>
            <a:ext cx="294444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18796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 flipV="1">
            <a:off x="1594889" y="1493701"/>
            <a:ext cx="306298" cy="954927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Freeform 96"/>
          <p:cNvSpPr/>
          <p:nvPr/>
        </p:nvSpPr>
        <p:spPr>
          <a:xfrm>
            <a:off x="18796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2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>
            <a:off x="2080477" y="1477451"/>
            <a:ext cx="321704" cy="293969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reeform 98"/>
          <p:cNvSpPr/>
          <p:nvPr/>
        </p:nvSpPr>
        <p:spPr>
          <a:xfrm>
            <a:off x="2387600" y="1752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2080477" y="1911865"/>
            <a:ext cx="321704" cy="293969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23876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2566066" y="1841642"/>
            <a:ext cx="98733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Freeform 102"/>
          <p:cNvSpPr/>
          <p:nvPr/>
        </p:nvSpPr>
        <p:spPr>
          <a:xfrm>
            <a:off x="2654300" y="1828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2880001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6" name="Picture 10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07" name="Picture 10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Structure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neuro-fuzzy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69305" y="1445157"/>
            <a:ext cx="551609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62753" y="2173536"/>
            <a:ext cx="552264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87406" y="1205692"/>
            <a:ext cx="479798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80854" y="1448488"/>
            <a:ext cx="480454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80409" y="1690950"/>
            <a:ext cx="4804987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91363" y="1933130"/>
            <a:ext cx="479403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84811" y="2175917"/>
            <a:ext cx="480058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84366" y="2418387"/>
            <a:ext cx="480103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475482" y="1204759"/>
            <a:ext cx="4309913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468930" y="1447546"/>
            <a:ext cx="431646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468484" y="1690017"/>
            <a:ext cx="431691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468553" y="1933130"/>
            <a:ext cx="431684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468244" y="2175600"/>
            <a:ext cx="431715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468176" y="2418387"/>
            <a:ext cx="431721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959087" y="1447221"/>
            <a:ext cx="382630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952526" y="2175600"/>
            <a:ext cx="383286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452815" y="1817939"/>
            <a:ext cx="333258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706300" y="1793698"/>
            <a:ext cx="307909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133750" y="122354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133750" y="122354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133750" y="146633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133750" y="146633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33750" y="172599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750" y="172599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133750" y="192690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133750" y="192690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133750" y="2127030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133750" y="2127030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133750" y="2369621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133750" y="2369621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619333" y="1224128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619333" y="1224128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619333" y="1466924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619333" y="1466924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619333" y="1683913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619333" y="1683913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619333" y="192690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619333" y="192690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619333" y="216949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619333" y="216949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619333" y="2369621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619333" y="2369621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803158" y="1869504"/>
            <a:ext cx="398223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803158" y="1869504"/>
            <a:ext cx="398223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769369" y="1997501"/>
            <a:ext cx="4016026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769369" y="1997501"/>
            <a:ext cx="4016026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794413" y="1439586"/>
            <a:ext cx="39909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794413" y="1439586"/>
            <a:ext cx="39909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777437" y="2108437"/>
            <a:ext cx="4007958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777437" y="2108437"/>
            <a:ext cx="4007958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794113" y="2202097"/>
            <a:ext cx="39912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794113" y="2202097"/>
            <a:ext cx="39912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811098" y="1567583"/>
            <a:ext cx="397429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811098" y="1567583"/>
            <a:ext cx="397429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2104916" y="1466718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C1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2104916" y="1466718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2104916" y="2143895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C2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04916" y="2143895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425097" y="769175"/>
            <a:ext cx="5360298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66143" y="850042"/>
            <a:ext cx="541925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537" b="0">
                <a:solidFill>
                  <a:srgbClr val="000000"/>
                </a:solidFill>
                <a:latin typeface="Josefin Sans"/>
              </a:rPr>
              <a:t> </a:t>
            </a:r>
            <a:r>
              <a:rPr sz="537" b="0">
                <a:solidFill>
                  <a:srgbClr val="000000"/>
                </a:solidFill>
                <a:latin typeface="Josefin Sans"/>
              </a:rPr>
              <a:t>inputs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03134" y="769175"/>
            <a:ext cx="488226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947741" y="850042"/>
            <a:ext cx="483765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Input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847529" y="931103"/>
            <a:ext cx="4937866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95040" y="1012172"/>
            <a:ext cx="489035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389702" y="769175"/>
            <a:ext cx="4395693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351510" y="850042"/>
            <a:ext cx="443388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537" b="0">
                <a:solidFill>
                  <a:srgbClr val="000000"/>
                </a:solidFill>
                <a:latin typeface="Josefin Sans"/>
              </a:rPr>
              <a:t> </a:t>
            </a:r>
            <a:r>
              <a:rPr sz="537" b="0">
                <a:solidFill>
                  <a:srgbClr val="000000"/>
                </a:solidFill>
                <a:latin typeface="Josefin Sans"/>
              </a:rPr>
              <a:t>rules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874771" y="769175"/>
            <a:ext cx="391062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887884" y="850042"/>
            <a:ext cx="389751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Output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818695" y="931103"/>
            <a:ext cx="396670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866206" y="1012172"/>
            <a:ext cx="391918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2360937" y="769175"/>
            <a:ext cx="3424458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2267791" y="850043"/>
            <a:ext cx="351760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3000007" y="1093073"/>
            <a:ext cx="278538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3: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rules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3119260" y="1243745"/>
            <a:ext cx="266613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Each neuron corresponds to a single fuzzy rule.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3119260" y="1433534"/>
            <a:ext cx="266613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receives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inputs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3277108" y="1611494"/>
            <a:ext cx="250828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fuzzification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neurons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represent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sets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3277108" y="1750673"/>
            <a:ext cx="250828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antecedents.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3119260" y="1901669"/>
            <a:ext cx="266613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Multiple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antecedents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are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evaluated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using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3277108" y="2079642"/>
            <a:ext cx="250828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intersection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operation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(AND).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4901663" y="3150918"/>
            <a:ext cx="8837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5642569" y="3150694"/>
            <a:ext cx="1428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511073" y="1451851"/>
            <a:ext cx="51199" cy="51199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11073" y="2180234"/>
            <a:ext cx="51199" cy="51199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36929" y="1149325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36929" y="1392119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36929" y="1634913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36929" y="1877707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36929" y="2120501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36929" y="2363296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08106" y="1392119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908106" y="2120501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42914" y="1477451"/>
            <a:ext cx="149386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482600" y="1460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49467" y="2205834"/>
            <a:ext cx="142833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4826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563979" y="1243998"/>
            <a:ext cx="356961" cy="23345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901700" y="1231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563979" y="1477451"/>
            <a:ext cx="354177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901700" y="1460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563979" y="1477451"/>
            <a:ext cx="356961" cy="23345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901700" y="1689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1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V="1">
            <a:off x="563979" y="1972380"/>
            <a:ext cx="356961" cy="23345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901700" y="1968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563979" y="2205834"/>
            <a:ext cx="354177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901700" y="2197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563979" y="2205834"/>
            <a:ext cx="356961" cy="23345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901700" y="2425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1" y="0"/>
                </a:lnTo>
                <a:lnTo>
                  <a:pt x="2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1109300" y="1234657"/>
            <a:ext cx="294445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1397000" y="1219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1109300" y="1234657"/>
            <a:ext cx="298051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1397000" y="1447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1109300" y="1234657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1397000" y="1689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1109300" y="1477451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1397000" y="19304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1109300" y="1720245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13970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1109300" y="1720245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1397000" y="2413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 flipV="1">
            <a:off x="1109300" y="1250348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1397000" y="12319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1109300" y="1963040"/>
            <a:ext cx="302296" cy="47122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reeform 76"/>
          <p:cNvSpPr/>
          <p:nvPr/>
        </p:nvSpPr>
        <p:spPr>
          <a:xfrm>
            <a:off x="1397000" y="2413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 flipV="1">
            <a:off x="1109300" y="1493142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13970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 flipV="1">
            <a:off x="1109300" y="1973530"/>
            <a:ext cx="298051" cy="23230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1397000" y="1968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 flipV="1">
            <a:off x="1109300" y="1735936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1397000" y="17145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 flipV="1">
            <a:off x="1109300" y="2216324"/>
            <a:ext cx="298051" cy="23230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1397000" y="2209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>
            <a:off x="1594889" y="1234657"/>
            <a:ext cx="306298" cy="954927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18796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1594889" y="1477451"/>
            <a:ext cx="304800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18796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 flipV="1">
            <a:off x="1594889" y="1487942"/>
            <a:ext cx="298050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18796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1594889" y="1963040"/>
            <a:ext cx="298050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1879600" y="2184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1594889" y="2205834"/>
            <a:ext cx="294444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18796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 flipV="1">
            <a:off x="1594889" y="1493701"/>
            <a:ext cx="306298" cy="954927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Freeform 96"/>
          <p:cNvSpPr/>
          <p:nvPr/>
        </p:nvSpPr>
        <p:spPr>
          <a:xfrm>
            <a:off x="18796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2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>
            <a:off x="2080477" y="1477451"/>
            <a:ext cx="321704" cy="293969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reeform 98"/>
          <p:cNvSpPr/>
          <p:nvPr/>
        </p:nvSpPr>
        <p:spPr>
          <a:xfrm>
            <a:off x="2387600" y="1752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2080477" y="1911865"/>
            <a:ext cx="321704" cy="293969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23876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2566066" y="1841642"/>
            <a:ext cx="98733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Freeform 102"/>
          <p:cNvSpPr/>
          <p:nvPr/>
        </p:nvSpPr>
        <p:spPr>
          <a:xfrm>
            <a:off x="2654300" y="1828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2880014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6" name="Picture 10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07" name="Picture 10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Structure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neuro-fuzzy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69305" y="1445157"/>
            <a:ext cx="551609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62753" y="2173536"/>
            <a:ext cx="552264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87406" y="1205692"/>
            <a:ext cx="479798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80854" y="1448488"/>
            <a:ext cx="480454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80409" y="1690950"/>
            <a:ext cx="4804987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91363" y="1933130"/>
            <a:ext cx="479403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84811" y="2175917"/>
            <a:ext cx="480058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84366" y="2418387"/>
            <a:ext cx="480103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475482" y="1204759"/>
            <a:ext cx="4309913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468930" y="1447546"/>
            <a:ext cx="431646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468484" y="1690017"/>
            <a:ext cx="431691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468553" y="1933130"/>
            <a:ext cx="431684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468244" y="2175600"/>
            <a:ext cx="431715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468176" y="2418387"/>
            <a:ext cx="431721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959087" y="1447221"/>
            <a:ext cx="382630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952526" y="2175600"/>
            <a:ext cx="383286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452815" y="1817939"/>
            <a:ext cx="333258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706300" y="1793698"/>
            <a:ext cx="307909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133750" y="122354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133750" y="122354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133750" y="146633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133750" y="146633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33750" y="172599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750" y="172599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133750" y="192690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133750" y="192690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133750" y="2127030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133750" y="2127030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133750" y="2369621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133750" y="2369621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619333" y="1224128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619333" y="1224128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619333" y="1466924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619333" y="1466924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619333" y="1683913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619333" y="1683913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619333" y="192690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619333" y="192690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619333" y="216949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619333" y="216949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619333" y="2369621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619333" y="2369621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803158" y="1869504"/>
            <a:ext cx="398223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803158" y="1869504"/>
            <a:ext cx="398223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769369" y="1997501"/>
            <a:ext cx="4016026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769369" y="1997501"/>
            <a:ext cx="4016026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794413" y="1439586"/>
            <a:ext cx="39909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794413" y="1439586"/>
            <a:ext cx="39909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777437" y="2108437"/>
            <a:ext cx="4007958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777437" y="2108437"/>
            <a:ext cx="4007958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794113" y="2202097"/>
            <a:ext cx="39912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794113" y="2202097"/>
            <a:ext cx="39912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811098" y="1567583"/>
            <a:ext cx="397429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811098" y="1567583"/>
            <a:ext cx="397429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2104916" y="1466718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C1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2104916" y="1466718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2104916" y="2143895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C2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04916" y="2143895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425097" y="769175"/>
            <a:ext cx="5360298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66143" y="850042"/>
            <a:ext cx="541925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537" b="0">
                <a:solidFill>
                  <a:srgbClr val="000000"/>
                </a:solidFill>
                <a:latin typeface="Josefin Sans"/>
              </a:rPr>
              <a:t> </a:t>
            </a:r>
            <a:r>
              <a:rPr sz="537" b="0">
                <a:solidFill>
                  <a:srgbClr val="000000"/>
                </a:solidFill>
                <a:latin typeface="Josefin Sans"/>
              </a:rPr>
              <a:t>inputs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03134" y="769175"/>
            <a:ext cx="488226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947741" y="850042"/>
            <a:ext cx="483765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Input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847529" y="931103"/>
            <a:ext cx="4937866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95040" y="1012172"/>
            <a:ext cx="489035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389702" y="769175"/>
            <a:ext cx="4395693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351510" y="850042"/>
            <a:ext cx="443388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537" b="0">
                <a:solidFill>
                  <a:srgbClr val="000000"/>
                </a:solidFill>
                <a:latin typeface="Josefin Sans"/>
              </a:rPr>
              <a:t> </a:t>
            </a:r>
            <a:r>
              <a:rPr sz="537" b="0">
                <a:solidFill>
                  <a:srgbClr val="000000"/>
                </a:solidFill>
                <a:latin typeface="Josefin Sans"/>
              </a:rPr>
              <a:t>rules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874771" y="769175"/>
            <a:ext cx="391062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887884" y="850042"/>
            <a:ext cx="389751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Output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818695" y="931103"/>
            <a:ext cx="396670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866206" y="1012172"/>
            <a:ext cx="391918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2360937" y="769175"/>
            <a:ext cx="3424458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2267791" y="850043"/>
            <a:ext cx="351760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3000007" y="1033248"/>
            <a:ext cx="278538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3: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rules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3119260" y="1184257"/>
            <a:ext cx="266613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Normally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neuro-fuzzy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system,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intersection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3277108" y="1362217"/>
            <a:ext cx="250828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implemented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product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operator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3277108" y="1501396"/>
            <a:ext cx="250828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instead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min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operator.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3655682" y="1715165"/>
            <a:ext cx="212971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y</a:t>
            </a:r>
            <a:r>
              <a:rPr sz="597" b="0">
                <a:solidFill>
                  <a:srgbClr val="000000"/>
                </a:solidFill>
                <a:latin typeface="Cambria Math"/>
              </a:rPr>
              <a:t>(3)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3713327" y="1803671"/>
            <a:ext cx="207206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3875747" y="1715165"/>
            <a:ext cx="190964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=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(3)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4065612" y="1715165"/>
            <a:ext cx="171978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×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(3)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400816" y="1715165"/>
            <a:ext cx="138457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×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. . .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(3)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5015611" y="1806097"/>
            <a:ext cx="76978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ki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3312057" y="1976912"/>
            <a:ext cx="247333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For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example,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y</a:t>
            </a:r>
            <a:r>
              <a:rPr sz="597" b="0">
                <a:solidFill>
                  <a:srgbClr val="000000"/>
                </a:solidFill>
                <a:latin typeface="Cambria Math"/>
              </a:rPr>
              <a:t>(3)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4017631" y="2003975"/>
            <a:ext cx="176776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R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=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B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=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R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256692" y="2013471"/>
            <a:ext cx="52870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7" b="0">
                <a:solidFill>
                  <a:srgbClr val="000000"/>
                </a:solidFill>
                <a:latin typeface="Josefin Sans"/>
              </a:rPr>
              <a:t>(</a:t>
            </a:r>
            <a:r>
              <a:rPr sz="797" b="0">
                <a:solidFill>
                  <a:srgbClr val="000000"/>
                </a:solidFill>
                <a:latin typeface="SFSS0800"/>
              </a:rPr>
              <a:t>µ</a:t>
            </a:r>
            <a:r>
              <a:rPr sz="523" b="0">
                <a:solidFill>
                  <a:srgbClr val="000000"/>
                </a:solidFill>
                <a:latin typeface="Josefin Sans"/>
              </a:rPr>
              <a:t>R1</a:t>
            </a:r>
            <a:r>
              <a:rPr sz="747" b="0">
                <a:solidFill>
                  <a:srgbClr val="000000"/>
                </a:solidFill>
                <a:latin typeface="Josefin Sans"/>
              </a:rPr>
              <a:t> </a:t>
            </a:r>
            <a:r>
              <a:rPr sz="747" b="0">
                <a:solidFill>
                  <a:srgbClr val="000000"/>
                </a:solidFill>
                <a:latin typeface="Josefin Sans"/>
              </a:rPr>
              <a:t>is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3277105" y="2157872"/>
            <a:ext cx="2508290" cy="1470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7" b="0">
                <a:solidFill>
                  <a:srgbClr val="000000"/>
                </a:solidFill>
                <a:latin typeface="Josefin Sans"/>
              </a:rPr>
              <a:t>the</a:t>
            </a:r>
            <a:r>
              <a:rPr sz="747" b="0">
                <a:solidFill>
                  <a:srgbClr val="000000"/>
                </a:solidFill>
                <a:latin typeface="Josefin Sans"/>
              </a:rPr>
              <a:t> </a:t>
            </a:r>
            <a:r>
              <a:rPr sz="747" b="0">
                <a:solidFill>
                  <a:srgbClr val="000000"/>
                </a:solidFill>
                <a:latin typeface="Josefin Sans"/>
              </a:rPr>
              <a:t>firing</a:t>
            </a:r>
            <a:r>
              <a:rPr sz="747" b="0">
                <a:solidFill>
                  <a:srgbClr val="000000"/>
                </a:solidFill>
                <a:latin typeface="Josefin Sans"/>
              </a:rPr>
              <a:t> </a:t>
            </a:r>
            <a:r>
              <a:rPr sz="747" b="0">
                <a:solidFill>
                  <a:srgbClr val="000000"/>
                </a:solidFill>
                <a:latin typeface="Josefin Sans"/>
              </a:rPr>
              <a:t>strength</a:t>
            </a:r>
            <a:r>
              <a:rPr sz="747" b="0">
                <a:solidFill>
                  <a:srgbClr val="000000"/>
                </a:solidFill>
                <a:latin typeface="Josefin Sans"/>
              </a:rPr>
              <a:t> </a:t>
            </a:r>
            <a:r>
              <a:rPr sz="747" b="0">
                <a:solidFill>
                  <a:srgbClr val="000000"/>
                </a:solidFill>
                <a:latin typeface="Josefin Sans"/>
              </a:rPr>
              <a:t>of</a:t>
            </a:r>
            <a:r>
              <a:rPr sz="747" b="0">
                <a:solidFill>
                  <a:srgbClr val="000000"/>
                </a:solidFill>
                <a:latin typeface="Josefin Sans"/>
              </a:rPr>
              <a:t> </a:t>
            </a:r>
            <a:r>
              <a:rPr sz="747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747" b="0">
                <a:solidFill>
                  <a:srgbClr val="000000"/>
                </a:solidFill>
                <a:latin typeface="Josefin Sans"/>
              </a:rPr>
              <a:t> </a:t>
            </a:r>
            <a:r>
              <a:rPr sz="747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747" b="0">
                <a:solidFill>
                  <a:srgbClr val="000000"/>
                </a:solidFill>
                <a:latin typeface="Josefin Sans"/>
              </a:rPr>
              <a:t> </a:t>
            </a:r>
            <a:r>
              <a:rPr sz="747" b="0">
                <a:solidFill>
                  <a:srgbClr val="000000"/>
                </a:solidFill>
                <a:latin typeface="Josefin Sans"/>
              </a:rPr>
              <a:t>R1)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901663" y="3150918"/>
            <a:ext cx="8837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5639686" y="3150694"/>
            <a:ext cx="14570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511073" y="1451851"/>
            <a:ext cx="51199" cy="51199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11073" y="2180234"/>
            <a:ext cx="51199" cy="51199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36929" y="1149325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36929" y="1392119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36929" y="1634913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36929" y="1877707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36929" y="2120501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36929" y="2363296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08106" y="1392119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908106" y="2120501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42914" y="1477451"/>
            <a:ext cx="149386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482600" y="1460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49467" y="2205834"/>
            <a:ext cx="142833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4826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563979" y="1243998"/>
            <a:ext cx="356961" cy="23345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901700" y="1231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563979" y="1477451"/>
            <a:ext cx="354177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901700" y="1460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563979" y="1477451"/>
            <a:ext cx="356961" cy="23345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901700" y="1689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1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V="1">
            <a:off x="563979" y="1972380"/>
            <a:ext cx="356961" cy="23345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901700" y="1968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563979" y="2205834"/>
            <a:ext cx="354177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901700" y="2197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563979" y="2205834"/>
            <a:ext cx="356961" cy="23345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901700" y="2425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1" y="0"/>
                </a:lnTo>
                <a:lnTo>
                  <a:pt x="2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1109300" y="1234657"/>
            <a:ext cx="294445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1397000" y="1219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1109300" y="1234657"/>
            <a:ext cx="298051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1397000" y="1447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1109300" y="1234657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1397000" y="1689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1109300" y="1477451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1397000" y="19304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1109300" y="1720245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13970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1109300" y="1720245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1397000" y="2413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 flipV="1">
            <a:off x="1109300" y="1250348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1397000" y="12319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1109300" y="1963040"/>
            <a:ext cx="302296" cy="47122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reeform 76"/>
          <p:cNvSpPr/>
          <p:nvPr/>
        </p:nvSpPr>
        <p:spPr>
          <a:xfrm>
            <a:off x="1397000" y="2413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 flipV="1">
            <a:off x="1109300" y="1493142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13970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 flipV="1">
            <a:off x="1109300" y="1973530"/>
            <a:ext cx="298051" cy="23230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1397000" y="1968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 flipV="1">
            <a:off x="1109300" y="1735936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1397000" y="17145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 flipV="1">
            <a:off x="1109300" y="2216324"/>
            <a:ext cx="298051" cy="23230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1397000" y="2209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>
            <a:off x="1594889" y="1234657"/>
            <a:ext cx="306298" cy="954927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18796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1594889" y="1477451"/>
            <a:ext cx="304800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18796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 flipV="1">
            <a:off x="1594889" y="1487942"/>
            <a:ext cx="298050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18796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1594889" y="1963040"/>
            <a:ext cx="298050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1879600" y="2184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1594889" y="2205834"/>
            <a:ext cx="294444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18796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 flipV="1">
            <a:off x="1594889" y="1493701"/>
            <a:ext cx="306298" cy="954927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Freeform 96"/>
          <p:cNvSpPr/>
          <p:nvPr/>
        </p:nvSpPr>
        <p:spPr>
          <a:xfrm>
            <a:off x="18796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2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>
            <a:off x="2080477" y="1477451"/>
            <a:ext cx="321704" cy="293969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reeform 98"/>
          <p:cNvSpPr/>
          <p:nvPr/>
        </p:nvSpPr>
        <p:spPr>
          <a:xfrm>
            <a:off x="2387600" y="1752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2080477" y="1911865"/>
            <a:ext cx="321704" cy="293969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23876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2566066" y="1841642"/>
            <a:ext cx="98733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Freeform 102"/>
          <p:cNvSpPr/>
          <p:nvPr/>
        </p:nvSpPr>
        <p:spPr>
          <a:xfrm>
            <a:off x="2654300" y="1828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3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2880017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6" name="Picture 10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07" name="Picture 10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Structure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neuro-fuzzy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69305" y="1445157"/>
            <a:ext cx="551609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62753" y="2173536"/>
            <a:ext cx="552264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87406" y="1205692"/>
            <a:ext cx="479798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80854" y="1448488"/>
            <a:ext cx="480454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80409" y="1690950"/>
            <a:ext cx="4804987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91363" y="1933130"/>
            <a:ext cx="479403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84811" y="2175917"/>
            <a:ext cx="480058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84366" y="2418387"/>
            <a:ext cx="480103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475482" y="1204759"/>
            <a:ext cx="4309913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468930" y="1447546"/>
            <a:ext cx="431646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468484" y="1690017"/>
            <a:ext cx="431691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468553" y="1933130"/>
            <a:ext cx="431684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468244" y="2175600"/>
            <a:ext cx="431715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468176" y="2418387"/>
            <a:ext cx="431721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959087" y="1447221"/>
            <a:ext cx="382630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952526" y="2175600"/>
            <a:ext cx="383286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452815" y="1817939"/>
            <a:ext cx="333258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706300" y="1793698"/>
            <a:ext cx="307909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133750" y="122354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133750" y="122354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133750" y="146633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133750" y="146633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33750" y="172599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750" y="172599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133750" y="192690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133750" y="192690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133750" y="2127030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133750" y="2127030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133750" y="2369621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133750" y="2369621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619333" y="1224128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619333" y="1224128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619333" y="1466924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619333" y="1466924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619333" y="1683913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619333" y="1683913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619333" y="192690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619333" y="192690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619333" y="216949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619333" y="216949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619333" y="2369621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619333" y="2369621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803158" y="1869504"/>
            <a:ext cx="398223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803158" y="1869504"/>
            <a:ext cx="398223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769369" y="1997501"/>
            <a:ext cx="4016026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769369" y="1997501"/>
            <a:ext cx="4016026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794413" y="1439586"/>
            <a:ext cx="39909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794413" y="1439586"/>
            <a:ext cx="39909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777437" y="2108437"/>
            <a:ext cx="4007958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777437" y="2108437"/>
            <a:ext cx="4007958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794113" y="2202097"/>
            <a:ext cx="39912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794113" y="2202097"/>
            <a:ext cx="39912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811098" y="1567583"/>
            <a:ext cx="397429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811098" y="1567583"/>
            <a:ext cx="397429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2104916" y="1466718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C1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2104916" y="1466718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2104916" y="2143895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C2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04916" y="2143895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425097" y="769175"/>
            <a:ext cx="5360298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66143" y="850042"/>
            <a:ext cx="541925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537" b="0">
                <a:solidFill>
                  <a:srgbClr val="000000"/>
                </a:solidFill>
                <a:latin typeface="Josefin Sans"/>
              </a:rPr>
              <a:t> </a:t>
            </a:r>
            <a:r>
              <a:rPr sz="537" b="0">
                <a:solidFill>
                  <a:srgbClr val="000000"/>
                </a:solidFill>
                <a:latin typeface="Josefin Sans"/>
              </a:rPr>
              <a:t>inputs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03134" y="769175"/>
            <a:ext cx="488226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947741" y="850042"/>
            <a:ext cx="483765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Input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847529" y="931103"/>
            <a:ext cx="4937866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95040" y="1012172"/>
            <a:ext cx="489035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389702" y="769175"/>
            <a:ext cx="4395693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351510" y="850042"/>
            <a:ext cx="443388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537" b="0">
                <a:solidFill>
                  <a:srgbClr val="000000"/>
                </a:solidFill>
                <a:latin typeface="Josefin Sans"/>
              </a:rPr>
              <a:t> </a:t>
            </a:r>
            <a:r>
              <a:rPr sz="537" b="0">
                <a:solidFill>
                  <a:srgbClr val="000000"/>
                </a:solidFill>
                <a:latin typeface="Josefin Sans"/>
              </a:rPr>
              <a:t>rules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874771" y="769175"/>
            <a:ext cx="391062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887884" y="850042"/>
            <a:ext cx="389751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Output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818695" y="931103"/>
            <a:ext cx="396670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866206" y="1012172"/>
            <a:ext cx="391918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2360937" y="769175"/>
            <a:ext cx="3424458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2267791" y="850043"/>
            <a:ext cx="351760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3000007" y="1257562"/>
            <a:ext cx="278538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0000"/>
                </a:solidFill>
                <a:latin typeface="Josefin Sans"/>
              </a:rPr>
              <a:t>Weights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between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layers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3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and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3119260" y="1408221"/>
            <a:ext cx="266613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weights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are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normalised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degrees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3277108" y="1586181"/>
            <a:ext cx="250828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confidence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rules.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3119260" y="1737190"/>
            <a:ext cx="266613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It represents the importance or confidence of a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3277108" y="1915150"/>
            <a:ext cx="250828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rule.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4901667" y="3150931"/>
            <a:ext cx="88372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5638546" y="3150707"/>
            <a:ext cx="14684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511073" y="1451851"/>
            <a:ext cx="51199" cy="51199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11073" y="2180234"/>
            <a:ext cx="51199" cy="51199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36929" y="1149325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36929" y="1392119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36929" y="1634913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36929" y="1877707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36929" y="2120501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36929" y="2363296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08106" y="1392119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908106" y="2120501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42914" y="1477451"/>
            <a:ext cx="149386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482600" y="1460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49467" y="2205834"/>
            <a:ext cx="142833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4826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563979" y="1243998"/>
            <a:ext cx="356961" cy="23345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901700" y="1231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563979" y="1477451"/>
            <a:ext cx="354177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901700" y="1460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563979" y="1477451"/>
            <a:ext cx="356961" cy="23345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901700" y="1689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1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V="1">
            <a:off x="563979" y="1972380"/>
            <a:ext cx="356961" cy="23345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901700" y="1968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563979" y="2205834"/>
            <a:ext cx="354177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901700" y="2197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563979" y="2205834"/>
            <a:ext cx="356961" cy="23345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901700" y="2425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1" y="0"/>
                </a:lnTo>
                <a:lnTo>
                  <a:pt x="2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1109300" y="1234657"/>
            <a:ext cx="294445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1397000" y="1219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1109300" y="1234657"/>
            <a:ext cx="298051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1397000" y="1447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1109300" y="1234657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1397000" y="1689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1109300" y="1477451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1397000" y="19304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1109300" y="1720245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13970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1109300" y="1720245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1397000" y="2413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 flipV="1">
            <a:off x="1109300" y="1250348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1397000" y="12319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1109300" y="1963040"/>
            <a:ext cx="302296" cy="47122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reeform 76"/>
          <p:cNvSpPr/>
          <p:nvPr/>
        </p:nvSpPr>
        <p:spPr>
          <a:xfrm>
            <a:off x="1397000" y="2413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 flipV="1">
            <a:off x="1109300" y="1493142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13970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 flipV="1">
            <a:off x="1109300" y="1973530"/>
            <a:ext cx="298051" cy="23230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1397000" y="1968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 flipV="1">
            <a:off x="1109300" y="1735936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1397000" y="17145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 flipV="1">
            <a:off x="1109300" y="2216324"/>
            <a:ext cx="298051" cy="23230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1397000" y="2209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>
            <a:off x="1594889" y="1234657"/>
            <a:ext cx="306298" cy="954927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18796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1594889" y="1477451"/>
            <a:ext cx="304800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18796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 flipV="1">
            <a:off x="1594889" y="1487942"/>
            <a:ext cx="298050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18796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1594889" y="1963040"/>
            <a:ext cx="298050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1879600" y="2184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1594889" y="2205834"/>
            <a:ext cx="294444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18796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 flipV="1">
            <a:off x="1594889" y="1493701"/>
            <a:ext cx="306298" cy="954927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Freeform 96"/>
          <p:cNvSpPr/>
          <p:nvPr/>
        </p:nvSpPr>
        <p:spPr>
          <a:xfrm>
            <a:off x="18796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2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>
            <a:off x="2080477" y="1477451"/>
            <a:ext cx="321704" cy="293969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reeform 98"/>
          <p:cNvSpPr/>
          <p:nvPr/>
        </p:nvSpPr>
        <p:spPr>
          <a:xfrm>
            <a:off x="2387600" y="1752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2080477" y="1911865"/>
            <a:ext cx="321704" cy="293969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23876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2566066" y="1841642"/>
            <a:ext cx="98733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Freeform 102"/>
          <p:cNvSpPr/>
          <p:nvPr/>
        </p:nvSpPr>
        <p:spPr>
          <a:xfrm>
            <a:off x="2654300" y="1828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3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2880017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6" name="Picture 10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07" name="Picture 10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Structure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neuro-fuzzy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69305" y="1445157"/>
            <a:ext cx="551609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62753" y="2173536"/>
            <a:ext cx="552264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87406" y="1205692"/>
            <a:ext cx="479798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80854" y="1448488"/>
            <a:ext cx="480454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80409" y="1690950"/>
            <a:ext cx="4804987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91363" y="1933130"/>
            <a:ext cx="479403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84811" y="2175917"/>
            <a:ext cx="480058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84366" y="2418387"/>
            <a:ext cx="480103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475482" y="1204759"/>
            <a:ext cx="4309913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468930" y="1447546"/>
            <a:ext cx="431646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468484" y="1690017"/>
            <a:ext cx="431691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468553" y="1933130"/>
            <a:ext cx="431684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468244" y="2175600"/>
            <a:ext cx="431715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468176" y="2418387"/>
            <a:ext cx="431721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959087" y="1447221"/>
            <a:ext cx="382630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952526" y="2175600"/>
            <a:ext cx="383286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452815" y="1817939"/>
            <a:ext cx="333258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706300" y="1793698"/>
            <a:ext cx="307909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133750" y="122354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133750" y="122354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133750" y="146633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133750" y="146633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33750" y="172599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750" y="172599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133750" y="192690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133750" y="192690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133750" y="2127030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133750" y="2127030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133750" y="2369621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133750" y="2369621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619333" y="1224128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619333" y="1224128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619333" y="1466924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619333" y="1466924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619333" y="1683913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619333" y="1683913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619333" y="192690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619333" y="192690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619333" y="216949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619333" y="216949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619333" y="2369621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619333" y="2369621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803158" y="1869504"/>
            <a:ext cx="398223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803158" y="1869504"/>
            <a:ext cx="398223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769369" y="1997501"/>
            <a:ext cx="4016026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769369" y="1997501"/>
            <a:ext cx="4016026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794413" y="1439586"/>
            <a:ext cx="39909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794413" y="1439586"/>
            <a:ext cx="39909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777437" y="2108437"/>
            <a:ext cx="4007958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777437" y="2108437"/>
            <a:ext cx="4007958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794113" y="2202097"/>
            <a:ext cx="39912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794113" y="2202097"/>
            <a:ext cx="39912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811098" y="1567583"/>
            <a:ext cx="397429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811098" y="1567583"/>
            <a:ext cx="397429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2104916" y="1466718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C1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2104916" y="1466718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2104916" y="2143895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C2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04916" y="2143895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425097" y="769175"/>
            <a:ext cx="5360298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66143" y="850042"/>
            <a:ext cx="541925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537" b="0">
                <a:solidFill>
                  <a:srgbClr val="000000"/>
                </a:solidFill>
                <a:latin typeface="Josefin Sans"/>
              </a:rPr>
              <a:t> </a:t>
            </a:r>
            <a:r>
              <a:rPr sz="537" b="0">
                <a:solidFill>
                  <a:srgbClr val="000000"/>
                </a:solidFill>
                <a:latin typeface="Josefin Sans"/>
              </a:rPr>
              <a:t>inputs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03134" y="769175"/>
            <a:ext cx="488226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947741" y="850042"/>
            <a:ext cx="483765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Input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847529" y="931103"/>
            <a:ext cx="4937866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95040" y="1012172"/>
            <a:ext cx="489035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389702" y="769175"/>
            <a:ext cx="4395693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351510" y="850042"/>
            <a:ext cx="443388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537" b="0">
                <a:solidFill>
                  <a:srgbClr val="000000"/>
                </a:solidFill>
                <a:latin typeface="Josefin Sans"/>
              </a:rPr>
              <a:t> </a:t>
            </a:r>
            <a:r>
              <a:rPr sz="537" b="0">
                <a:solidFill>
                  <a:srgbClr val="000000"/>
                </a:solidFill>
                <a:latin typeface="Josefin Sans"/>
              </a:rPr>
              <a:t>rules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874771" y="769175"/>
            <a:ext cx="391062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887884" y="850042"/>
            <a:ext cx="389751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Output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818695" y="931103"/>
            <a:ext cx="396670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866206" y="1012172"/>
            <a:ext cx="391918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2360937" y="769175"/>
            <a:ext cx="3424458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2267791" y="850043"/>
            <a:ext cx="351760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3000007" y="1119831"/>
            <a:ext cx="278538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4: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output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3119260" y="1270503"/>
            <a:ext cx="266613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neurons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represent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sets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used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3277108" y="1448463"/>
            <a:ext cx="250828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consequent.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3119260" y="1599458"/>
            <a:ext cx="266613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receives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inputs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3277108" y="1777431"/>
            <a:ext cx="250828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corresponding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neurons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3277108" y="1916610"/>
            <a:ext cx="250828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combines them using the fuzzy operation union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3277108" y="2055777"/>
            <a:ext cx="250828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(OR).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4901667" y="3150931"/>
            <a:ext cx="88372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5617134" y="3150707"/>
            <a:ext cx="16826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511073" y="1451851"/>
            <a:ext cx="51199" cy="51199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11073" y="2180234"/>
            <a:ext cx="51199" cy="51199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36929" y="1149325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36929" y="1392119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36929" y="1634913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36929" y="1877707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36929" y="2120501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36929" y="2363296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08106" y="1392119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908106" y="2120501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42914" y="1477451"/>
            <a:ext cx="149386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482600" y="1460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49467" y="2205834"/>
            <a:ext cx="142833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4826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563979" y="1243998"/>
            <a:ext cx="356961" cy="23345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901700" y="1231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563979" y="1477451"/>
            <a:ext cx="354177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901700" y="1460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563979" y="1477451"/>
            <a:ext cx="356961" cy="23345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901700" y="1689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1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V="1">
            <a:off x="563979" y="1972380"/>
            <a:ext cx="356961" cy="23345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901700" y="1968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563979" y="2205834"/>
            <a:ext cx="354177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901700" y="2197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563979" y="2205834"/>
            <a:ext cx="356961" cy="23345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901700" y="2425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1" y="0"/>
                </a:lnTo>
                <a:lnTo>
                  <a:pt x="2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1109300" y="1234657"/>
            <a:ext cx="294445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1397000" y="1219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1109300" y="1234657"/>
            <a:ext cx="298051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1397000" y="1447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1109300" y="1234657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1397000" y="1689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1109300" y="1477451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1397000" y="19304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1109300" y="1720245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13970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1109300" y="1720245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1397000" y="2413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 flipV="1">
            <a:off x="1109300" y="1250348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1397000" y="12319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1109300" y="1963040"/>
            <a:ext cx="302296" cy="47122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reeform 76"/>
          <p:cNvSpPr/>
          <p:nvPr/>
        </p:nvSpPr>
        <p:spPr>
          <a:xfrm>
            <a:off x="1397000" y="2413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 flipV="1">
            <a:off x="1109300" y="1493142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13970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 flipV="1">
            <a:off x="1109300" y="1973530"/>
            <a:ext cx="298051" cy="23230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1397000" y="1968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 flipV="1">
            <a:off x="1109300" y="1735936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1397000" y="17145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 flipV="1">
            <a:off x="1109300" y="2216324"/>
            <a:ext cx="298051" cy="23230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1397000" y="2209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>
            <a:off x="1594889" y="1234657"/>
            <a:ext cx="306298" cy="954927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18796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1594889" y="1477451"/>
            <a:ext cx="304800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18796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 flipV="1">
            <a:off x="1594889" y="1487942"/>
            <a:ext cx="298050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18796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1594889" y="1963040"/>
            <a:ext cx="298050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1879600" y="2184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1594889" y="2205834"/>
            <a:ext cx="294444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18796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 flipV="1">
            <a:off x="1594889" y="1493701"/>
            <a:ext cx="306298" cy="954927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Freeform 96"/>
          <p:cNvSpPr/>
          <p:nvPr/>
        </p:nvSpPr>
        <p:spPr>
          <a:xfrm>
            <a:off x="18796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2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>
            <a:off x="2080477" y="1477451"/>
            <a:ext cx="321704" cy="293969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reeform 98"/>
          <p:cNvSpPr/>
          <p:nvPr/>
        </p:nvSpPr>
        <p:spPr>
          <a:xfrm>
            <a:off x="2387600" y="1752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2080477" y="1911865"/>
            <a:ext cx="321704" cy="293969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23876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2566066" y="1841642"/>
            <a:ext cx="98733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Freeform 102"/>
          <p:cNvSpPr/>
          <p:nvPr/>
        </p:nvSpPr>
        <p:spPr>
          <a:xfrm>
            <a:off x="2654300" y="1828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6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2880020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6" name="Picture 10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07" name="Picture 10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Structure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neuro-fuzzy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69305" y="1445157"/>
            <a:ext cx="551609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62753" y="2173536"/>
            <a:ext cx="552264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87406" y="1205692"/>
            <a:ext cx="479798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80854" y="1448488"/>
            <a:ext cx="480454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80409" y="1690950"/>
            <a:ext cx="4804987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91363" y="1933130"/>
            <a:ext cx="479403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84811" y="2175917"/>
            <a:ext cx="480058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84366" y="2418387"/>
            <a:ext cx="480103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475482" y="1204759"/>
            <a:ext cx="4309913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468930" y="1447546"/>
            <a:ext cx="431646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468484" y="1690017"/>
            <a:ext cx="431691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468553" y="1933130"/>
            <a:ext cx="431684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468244" y="2175600"/>
            <a:ext cx="431715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468176" y="2418387"/>
            <a:ext cx="431721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959087" y="1447221"/>
            <a:ext cx="382630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952526" y="2175600"/>
            <a:ext cx="383286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452815" y="1817939"/>
            <a:ext cx="333258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706300" y="1793698"/>
            <a:ext cx="307909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133750" y="122354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133750" y="122354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133750" y="146633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133750" y="146633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33750" y="172599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750" y="172599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133750" y="192690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133750" y="192690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133750" y="2127030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133750" y="2127030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133750" y="2369621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133750" y="2369621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619333" y="1224128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619333" y="1224128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619333" y="1466924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619333" y="1466924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619333" y="1683913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619333" y="1683913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619333" y="192690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619333" y="192690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619333" y="216949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619333" y="216949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619333" y="2369621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619333" y="2369621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803158" y="1869504"/>
            <a:ext cx="398223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803158" y="1869504"/>
            <a:ext cx="398223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769369" y="1997501"/>
            <a:ext cx="4016026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769369" y="1997501"/>
            <a:ext cx="4016026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794413" y="1439586"/>
            <a:ext cx="39909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794413" y="1439586"/>
            <a:ext cx="39909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777437" y="2108437"/>
            <a:ext cx="4007958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777437" y="2108437"/>
            <a:ext cx="4007958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794113" y="2202097"/>
            <a:ext cx="39912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794113" y="2202097"/>
            <a:ext cx="39912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811098" y="1567583"/>
            <a:ext cx="397429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811098" y="1567583"/>
            <a:ext cx="397429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2104916" y="1466718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C1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2104916" y="1466718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2104916" y="2143895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C2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04916" y="2143895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425097" y="769175"/>
            <a:ext cx="5360298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66143" y="850042"/>
            <a:ext cx="541925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537" b="0">
                <a:solidFill>
                  <a:srgbClr val="000000"/>
                </a:solidFill>
                <a:latin typeface="Josefin Sans"/>
              </a:rPr>
              <a:t> </a:t>
            </a:r>
            <a:r>
              <a:rPr sz="537" b="0">
                <a:solidFill>
                  <a:srgbClr val="000000"/>
                </a:solidFill>
                <a:latin typeface="Josefin Sans"/>
              </a:rPr>
              <a:t>inputs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03134" y="769175"/>
            <a:ext cx="488226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947741" y="850042"/>
            <a:ext cx="483765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Input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847529" y="931103"/>
            <a:ext cx="4937866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95040" y="1012172"/>
            <a:ext cx="489035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389702" y="769175"/>
            <a:ext cx="4395693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351510" y="850042"/>
            <a:ext cx="443388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537" b="0">
                <a:solidFill>
                  <a:srgbClr val="000000"/>
                </a:solidFill>
                <a:latin typeface="Josefin Sans"/>
              </a:rPr>
              <a:t> </a:t>
            </a:r>
            <a:r>
              <a:rPr sz="537" b="0">
                <a:solidFill>
                  <a:srgbClr val="000000"/>
                </a:solidFill>
                <a:latin typeface="Josefin Sans"/>
              </a:rPr>
              <a:t>rules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874771" y="769175"/>
            <a:ext cx="391062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887884" y="850042"/>
            <a:ext cx="389751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Output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818695" y="931103"/>
            <a:ext cx="396670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866206" y="1012172"/>
            <a:ext cx="391918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2360937" y="769175"/>
            <a:ext cx="3424458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2267791" y="850043"/>
            <a:ext cx="351760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3000007" y="848223"/>
            <a:ext cx="278538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4: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output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3119260" y="999231"/>
            <a:ext cx="266613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operation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union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(OR)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commonly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3277108" y="1177191"/>
            <a:ext cx="250828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implemented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probabilistic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3277108" y="1316370"/>
            <a:ext cx="250828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neuron-fuzzy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systems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(instead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max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3277108" y="1455550"/>
            <a:ext cx="250828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operator).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3569794" y="1679516"/>
            <a:ext cx="221560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y</a:t>
            </a:r>
            <a:r>
              <a:rPr sz="597" b="0">
                <a:solidFill>
                  <a:srgbClr val="000000"/>
                </a:solidFill>
                <a:latin typeface="Cambria Math"/>
              </a:rPr>
              <a:t>(4)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3627439" y="1768022"/>
            <a:ext cx="215795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3789860" y="1679516"/>
            <a:ext cx="199553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=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probor</a:t>
            </a:r>
            <a:r>
              <a:rPr sz="896" b="0">
                <a:solidFill>
                  <a:srgbClr val="000000"/>
                </a:solidFill>
                <a:latin typeface="Cambria Math"/>
              </a:rPr>
              <a:t>(</a:t>
            </a:r>
            <a:r>
              <a:rPr sz="896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(4)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359569" y="1679516"/>
            <a:ext cx="142582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(4)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4603752" y="1679516"/>
            <a:ext cx="118164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 . . . , 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(4)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5055987" y="1708042"/>
            <a:ext cx="72940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li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3789860" y="1887009"/>
            <a:ext cx="199553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=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(4)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3979725" y="1887009"/>
            <a:ext cx="180567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⊕</a:t>
            </a:r>
            <a:r>
              <a:rPr sz="896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(4)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4314929" y="1887009"/>
            <a:ext cx="147046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⊕</a:t>
            </a:r>
            <a:r>
              <a:rPr sz="896" b="0">
                <a:solidFill>
                  <a:srgbClr val="000000"/>
                </a:solidFill>
                <a:latin typeface="Cambria Math"/>
              </a:rPr>
              <a:t>. . .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⊕</a:t>
            </a:r>
            <a:r>
              <a:rPr sz="896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(4)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929724" y="1977941"/>
            <a:ext cx="85567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li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3312060" y="2157773"/>
            <a:ext cx="247333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For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example,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y</a:t>
            </a:r>
            <a:r>
              <a:rPr sz="597" b="0">
                <a:solidFill>
                  <a:srgbClr val="000000"/>
                </a:solidFill>
                <a:latin typeface="Cambria Math"/>
              </a:rPr>
              <a:t>(4)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4017634" y="2184836"/>
            <a:ext cx="176776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C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=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R</a:t>
            </a:r>
            <a:r>
              <a:rPr sz="597" b="0">
                <a:solidFill>
                  <a:srgbClr val="000000"/>
                </a:solidFill>
                <a:latin typeface="Cambria Math"/>
              </a:rPr>
              <a:t>3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⊕</a:t>
            </a:r>
            <a:r>
              <a:rPr sz="896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R</a:t>
            </a:r>
            <a:r>
              <a:rPr sz="597" b="0">
                <a:solidFill>
                  <a:srgbClr val="000000"/>
                </a:solidFill>
                <a:latin typeface="Cambria Math"/>
              </a:rPr>
              <a:t>6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=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C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3277110" y="2324015"/>
            <a:ext cx="250828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=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R</a:t>
            </a:r>
            <a:r>
              <a:rPr sz="597" b="0">
                <a:solidFill>
                  <a:srgbClr val="000000"/>
                </a:solidFill>
                <a:latin typeface="Cambria Math"/>
              </a:rPr>
              <a:t>3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+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R</a:t>
            </a:r>
            <a:r>
              <a:rPr sz="597" b="0">
                <a:solidFill>
                  <a:srgbClr val="000000"/>
                </a:solidFill>
                <a:latin typeface="Cambria Math"/>
              </a:rPr>
              <a:t>6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896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R</a:t>
            </a:r>
            <a:r>
              <a:rPr sz="597" b="0">
                <a:solidFill>
                  <a:srgbClr val="000000"/>
                </a:solidFill>
                <a:latin typeface="Cambria Math"/>
              </a:rPr>
              <a:t>3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R</a:t>
            </a:r>
            <a:r>
              <a:rPr sz="597" b="0">
                <a:solidFill>
                  <a:srgbClr val="000000"/>
                </a:solidFill>
                <a:latin typeface="Cambria Math"/>
              </a:rPr>
              <a:t>6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4901670" y="3150918"/>
            <a:ext cx="8837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5640226" y="3150694"/>
            <a:ext cx="14516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511073" y="1451851"/>
            <a:ext cx="51199" cy="51199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11073" y="2180234"/>
            <a:ext cx="51199" cy="51199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36929" y="1149325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36929" y="1392119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36929" y="1634913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36929" y="1877707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36929" y="2120501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36929" y="2363296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08106" y="1392119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908106" y="2120501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42914" y="1477451"/>
            <a:ext cx="149386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482600" y="1460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49467" y="2205834"/>
            <a:ext cx="142833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4826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563979" y="1243998"/>
            <a:ext cx="356961" cy="23345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901700" y="1231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563979" y="1477451"/>
            <a:ext cx="354177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901700" y="1460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563979" y="1477451"/>
            <a:ext cx="356961" cy="23345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901700" y="1689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1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V="1">
            <a:off x="563979" y="1972380"/>
            <a:ext cx="356961" cy="23345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901700" y="1968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563979" y="2205834"/>
            <a:ext cx="354177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901700" y="2197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563979" y="2205834"/>
            <a:ext cx="356961" cy="23345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901700" y="2425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1" y="0"/>
                </a:lnTo>
                <a:lnTo>
                  <a:pt x="2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1109300" y="1234657"/>
            <a:ext cx="294445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1397000" y="1219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1109300" y="1234657"/>
            <a:ext cx="298051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1397000" y="1447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1109300" y="1234657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1397000" y="1689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1109300" y="1477451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1397000" y="19304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1109300" y="1720245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13970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1109300" y="1720245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1397000" y="2413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 flipV="1">
            <a:off x="1109300" y="1250348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1397000" y="12319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1109300" y="1963040"/>
            <a:ext cx="302296" cy="47122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reeform 76"/>
          <p:cNvSpPr/>
          <p:nvPr/>
        </p:nvSpPr>
        <p:spPr>
          <a:xfrm>
            <a:off x="1397000" y="2413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 flipV="1">
            <a:off x="1109300" y="1493142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13970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 flipV="1">
            <a:off x="1109300" y="1973530"/>
            <a:ext cx="298051" cy="23230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1397000" y="1968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 flipV="1">
            <a:off x="1109300" y="1735936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1397000" y="17145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 flipV="1">
            <a:off x="1109300" y="2216324"/>
            <a:ext cx="298051" cy="23230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1397000" y="2209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>
            <a:off x="1594889" y="1234657"/>
            <a:ext cx="306298" cy="954927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18796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1594889" y="1477451"/>
            <a:ext cx="304800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18796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 flipV="1">
            <a:off x="1594889" y="1487942"/>
            <a:ext cx="298050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18796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1594889" y="1963040"/>
            <a:ext cx="298050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1879600" y="2184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1594889" y="2205834"/>
            <a:ext cx="294444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18796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 flipV="1">
            <a:off x="1594889" y="1493701"/>
            <a:ext cx="306298" cy="954927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Freeform 96"/>
          <p:cNvSpPr/>
          <p:nvPr/>
        </p:nvSpPr>
        <p:spPr>
          <a:xfrm>
            <a:off x="18796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2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>
            <a:off x="2080477" y="1477451"/>
            <a:ext cx="321704" cy="293969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reeform 98"/>
          <p:cNvSpPr/>
          <p:nvPr/>
        </p:nvSpPr>
        <p:spPr>
          <a:xfrm>
            <a:off x="2387600" y="1752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2080477" y="1911865"/>
            <a:ext cx="321704" cy="293969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23876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2566066" y="1841642"/>
            <a:ext cx="98733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Freeform 102"/>
          <p:cNvSpPr/>
          <p:nvPr/>
        </p:nvSpPr>
        <p:spPr>
          <a:xfrm>
            <a:off x="2654300" y="1828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6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2880008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6" name="Picture 10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07" name="Picture 10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Structure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neuro-fuzzy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69305" y="1445157"/>
            <a:ext cx="551609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62753" y="2173536"/>
            <a:ext cx="552264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87406" y="1205692"/>
            <a:ext cx="479798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80854" y="1448488"/>
            <a:ext cx="480454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80409" y="1690950"/>
            <a:ext cx="4804987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91363" y="1933130"/>
            <a:ext cx="479403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84811" y="2175917"/>
            <a:ext cx="480058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84366" y="2418387"/>
            <a:ext cx="480103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475482" y="1204759"/>
            <a:ext cx="4309913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468930" y="1447546"/>
            <a:ext cx="431646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468484" y="1690017"/>
            <a:ext cx="431691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468553" y="1933130"/>
            <a:ext cx="431684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468244" y="2175600"/>
            <a:ext cx="431715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468176" y="2418387"/>
            <a:ext cx="431721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959087" y="1447221"/>
            <a:ext cx="382630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952526" y="2175600"/>
            <a:ext cx="383286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452815" y="1817939"/>
            <a:ext cx="333258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706300" y="1793698"/>
            <a:ext cx="307909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133750" y="122354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133750" y="122354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133750" y="146633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133750" y="146633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33750" y="172599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750" y="172599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133750" y="192690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133750" y="192690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133750" y="2127030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133750" y="2127030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133750" y="2369621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133750" y="2369621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619333" y="1224128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619333" y="1224128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619333" y="1466924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619333" y="1466924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619333" y="1683913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619333" y="1683913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619333" y="192690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619333" y="192690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619333" y="216949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619333" y="216949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619333" y="2369621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619333" y="2369621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803158" y="1869504"/>
            <a:ext cx="398223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803158" y="1869504"/>
            <a:ext cx="398223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769369" y="1997501"/>
            <a:ext cx="4016026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769369" y="1997501"/>
            <a:ext cx="4016026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794413" y="1439586"/>
            <a:ext cx="39909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794413" y="1439586"/>
            <a:ext cx="39909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777437" y="2108437"/>
            <a:ext cx="4007958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777437" y="2108437"/>
            <a:ext cx="4007958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794113" y="2202097"/>
            <a:ext cx="39912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794113" y="2202097"/>
            <a:ext cx="39912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811098" y="1567583"/>
            <a:ext cx="397429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811098" y="1567583"/>
            <a:ext cx="397429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2104916" y="1466718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C1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2104916" y="1466718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2104916" y="2143895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C2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04916" y="2143895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425097" y="769175"/>
            <a:ext cx="5360298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66143" y="850042"/>
            <a:ext cx="541925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537" b="0">
                <a:solidFill>
                  <a:srgbClr val="000000"/>
                </a:solidFill>
                <a:latin typeface="Josefin Sans"/>
              </a:rPr>
              <a:t> </a:t>
            </a:r>
            <a:r>
              <a:rPr sz="537" b="0">
                <a:solidFill>
                  <a:srgbClr val="000000"/>
                </a:solidFill>
                <a:latin typeface="Josefin Sans"/>
              </a:rPr>
              <a:t>inputs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03134" y="769175"/>
            <a:ext cx="488226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947741" y="850042"/>
            <a:ext cx="483765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Input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847529" y="931103"/>
            <a:ext cx="4937866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95040" y="1012172"/>
            <a:ext cx="489035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389702" y="769175"/>
            <a:ext cx="4395693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351510" y="850042"/>
            <a:ext cx="443388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537" b="0">
                <a:solidFill>
                  <a:srgbClr val="000000"/>
                </a:solidFill>
                <a:latin typeface="Josefin Sans"/>
              </a:rPr>
              <a:t> </a:t>
            </a:r>
            <a:r>
              <a:rPr sz="537" b="0">
                <a:solidFill>
                  <a:srgbClr val="000000"/>
                </a:solidFill>
                <a:latin typeface="Josefin Sans"/>
              </a:rPr>
              <a:t>rules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874771" y="769175"/>
            <a:ext cx="391062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887884" y="850042"/>
            <a:ext cx="389751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Output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818695" y="931103"/>
            <a:ext cx="396670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866206" y="1012172"/>
            <a:ext cx="391918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2360937" y="769175"/>
            <a:ext cx="3424458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2267791" y="850043"/>
            <a:ext cx="351760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3000007" y="1117767"/>
            <a:ext cx="278538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4: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output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3119260" y="1268762"/>
            <a:ext cx="266613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activation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function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output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3277108" y="1446735"/>
            <a:ext cx="250828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3277108" y="1585902"/>
            <a:ext cx="250828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function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corresponding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set.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3119260" y="1736909"/>
            <a:ext cx="266613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Therefore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activation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function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neuron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3277108" y="1914869"/>
            <a:ext cx="250828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C1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clipped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firing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strength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rule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3277108" y="2053854"/>
            <a:ext cx="250828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SFSS0900"/>
              </a:rPr>
              <a:t>µ</a:t>
            </a:r>
            <a:r>
              <a:rPr sz="597" b="0">
                <a:solidFill>
                  <a:srgbClr val="000000"/>
                </a:solidFill>
                <a:latin typeface="Josefin Sans"/>
              </a:rPr>
              <a:t>C1</a:t>
            </a:r>
            <a:r>
              <a:rPr sz="896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4901670" y="3150918"/>
            <a:ext cx="8837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5625646" y="3150694"/>
            <a:ext cx="15974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511073" y="1451851"/>
            <a:ext cx="51199" cy="51199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11073" y="2180234"/>
            <a:ext cx="51199" cy="51199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36929" y="1149325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36929" y="1392119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36929" y="1634913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36929" y="1877707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36929" y="2120501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36929" y="2363296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08106" y="1392119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908106" y="2120501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42914" y="1477451"/>
            <a:ext cx="149386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482600" y="1460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49467" y="2205834"/>
            <a:ext cx="142833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4826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563979" y="1243998"/>
            <a:ext cx="356961" cy="23345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901700" y="1231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563979" y="1477451"/>
            <a:ext cx="354177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901700" y="1460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563979" y="1477451"/>
            <a:ext cx="356961" cy="23345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901700" y="1689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1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V="1">
            <a:off x="563979" y="1972380"/>
            <a:ext cx="356961" cy="23345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901700" y="1968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563979" y="2205834"/>
            <a:ext cx="354177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901700" y="2197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563979" y="2205834"/>
            <a:ext cx="356961" cy="23345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901700" y="2425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1" y="0"/>
                </a:lnTo>
                <a:lnTo>
                  <a:pt x="2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1109300" y="1234657"/>
            <a:ext cx="294445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1397000" y="1219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1109300" y="1234657"/>
            <a:ext cx="298051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1397000" y="1447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1109300" y="1234657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1397000" y="1689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1109300" y="1477451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1397000" y="19304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1109300" y="1720245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13970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1109300" y="1720245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1397000" y="2413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 flipV="1">
            <a:off x="1109300" y="1250348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1397000" y="12319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1109300" y="1963040"/>
            <a:ext cx="302296" cy="47122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reeform 76"/>
          <p:cNvSpPr/>
          <p:nvPr/>
        </p:nvSpPr>
        <p:spPr>
          <a:xfrm>
            <a:off x="1397000" y="2413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 flipV="1">
            <a:off x="1109300" y="1493142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13970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 flipV="1">
            <a:off x="1109300" y="1973530"/>
            <a:ext cx="298051" cy="23230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1397000" y="1968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 flipV="1">
            <a:off x="1109300" y="1735936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1397000" y="17145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 flipV="1">
            <a:off x="1109300" y="2216324"/>
            <a:ext cx="298051" cy="23230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1397000" y="2209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>
            <a:off x="1594889" y="1234657"/>
            <a:ext cx="306298" cy="954927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18796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1594889" y="1477451"/>
            <a:ext cx="304800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18796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 flipV="1">
            <a:off x="1594889" y="1487942"/>
            <a:ext cx="298050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18796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1594889" y="1963040"/>
            <a:ext cx="298050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1879600" y="2184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1594889" y="2205834"/>
            <a:ext cx="294444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18796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 flipV="1">
            <a:off x="1594889" y="1493701"/>
            <a:ext cx="306298" cy="954927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Freeform 96"/>
          <p:cNvSpPr/>
          <p:nvPr/>
        </p:nvSpPr>
        <p:spPr>
          <a:xfrm>
            <a:off x="18796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2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>
            <a:off x="2080477" y="1477451"/>
            <a:ext cx="321704" cy="293969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reeform 98"/>
          <p:cNvSpPr/>
          <p:nvPr/>
        </p:nvSpPr>
        <p:spPr>
          <a:xfrm>
            <a:off x="2387600" y="1752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2080477" y="1911865"/>
            <a:ext cx="321704" cy="293969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23876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2566066" y="1841642"/>
            <a:ext cx="98733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Freeform 102"/>
          <p:cNvSpPr/>
          <p:nvPr/>
        </p:nvSpPr>
        <p:spPr>
          <a:xfrm>
            <a:off x="2654300" y="1828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2880014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6" name="Picture 10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07" name="Picture 10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Structure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neuro-fuzzy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69305" y="1445157"/>
            <a:ext cx="551609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62753" y="2173536"/>
            <a:ext cx="552264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87406" y="1205692"/>
            <a:ext cx="479798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80854" y="1448488"/>
            <a:ext cx="480454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80409" y="1690950"/>
            <a:ext cx="4804987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91363" y="1933130"/>
            <a:ext cx="479403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84811" y="2175917"/>
            <a:ext cx="480058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84366" y="2418387"/>
            <a:ext cx="480103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475482" y="1204759"/>
            <a:ext cx="4309913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468930" y="1447546"/>
            <a:ext cx="431646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468484" y="1690017"/>
            <a:ext cx="431691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468553" y="1933130"/>
            <a:ext cx="431684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468244" y="2175600"/>
            <a:ext cx="431715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468176" y="2418387"/>
            <a:ext cx="431721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959087" y="1447221"/>
            <a:ext cx="382630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952526" y="2175600"/>
            <a:ext cx="383286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452815" y="1817939"/>
            <a:ext cx="333258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706300" y="1793698"/>
            <a:ext cx="307909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133750" y="122354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133750" y="122354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133750" y="146633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133750" y="146633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33750" y="172599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750" y="172599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133750" y="192690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133750" y="192690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133750" y="2127030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133750" y="2127030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133750" y="2369621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133750" y="2369621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619333" y="1224128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619333" y="1224128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619333" y="1466924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619333" y="1466924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619333" y="1683913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619333" y="1683913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619333" y="192690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619333" y="192690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619333" y="216949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619333" y="216949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619333" y="2369621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619333" y="2369621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803158" y="1869504"/>
            <a:ext cx="398223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803158" y="1869504"/>
            <a:ext cx="398223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769369" y="1997501"/>
            <a:ext cx="4016026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769369" y="1997501"/>
            <a:ext cx="4016026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794413" y="1439586"/>
            <a:ext cx="39909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794413" y="1439586"/>
            <a:ext cx="39909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777437" y="2108437"/>
            <a:ext cx="4007958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777437" y="2108437"/>
            <a:ext cx="4007958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794113" y="2202097"/>
            <a:ext cx="39912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794113" y="2202097"/>
            <a:ext cx="39912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811098" y="1567583"/>
            <a:ext cx="397429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811098" y="1567583"/>
            <a:ext cx="397429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2104916" y="1466718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C1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2104916" y="1466718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2104916" y="2143895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C2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04916" y="2143895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425097" y="769175"/>
            <a:ext cx="5360298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66143" y="850042"/>
            <a:ext cx="541925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537" b="0">
                <a:solidFill>
                  <a:srgbClr val="000000"/>
                </a:solidFill>
                <a:latin typeface="Josefin Sans"/>
              </a:rPr>
              <a:t> </a:t>
            </a:r>
            <a:r>
              <a:rPr sz="537" b="0">
                <a:solidFill>
                  <a:srgbClr val="000000"/>
                </a:solidFill>
                <a:latin typeface="Josefin Sans"/>
              </a:rPr>
              <a:t>inputs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03134" y="769175"/>
            <a:ext cx="488226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947741" y="850042"/>
            <a:ext cx="483765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Input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847529" y="931103"/>
            <a:ext cx="4937866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95040" y="1012172"/>
            <a:ext cx="489035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389702" y="769175"/>
            <a:ext cx="4395693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351510" y="850042"/>
            <a:ext cx="443388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537" b="0">
                <a:solidFill>
                  <a:srgbClr val="000000"/>
                </a:solidFill>
                <a:latin typeface="Josefin Sans"/>
              </a:rPr>
              <a:t> </a:t>
            </a:r>
            <a:r>
              <a:rPr sz="537" b="0">
                <a:solidFill>
                  <a:srgbClr val="000000"/>
                </a:solidFill>
                <a:latin typeface="Josefin Sans"/>
              </a:rPr>
              <a:t>rules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874771" y="769175"/>
            <a:ext cx="391062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887884" y="850042"/>
            <a:ext cx="389751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Output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818695" y="931103"/>
            <a:ext cx="396670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866206" y="1012172"/>
            <a:ext cx="391918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2360937" y="769175"/>
            <a:ext cx="3424458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2267791" y="850043"/>
            <a:ext cx="351760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3000007" y="858998"/>
            <a:ext cx="278538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5: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defuzzification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3119257" y="1009671"/>
            <a:ext cx="266613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layer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represents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single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3277105" y="1187631"/>
            <a:ext cx="250829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neuro-fuzzy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system.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3119257" y="1338639"/>
            <a:ext cx="266613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combines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sets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clipped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by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3277105" y="1516599"/>
            <a:ext cx="250829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firing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strengths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rules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into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single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3277105" y="1655778"/>
            <a:ext cx="250829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set.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3119257" y="1806773"/>
            <a:ext cx="266613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combined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set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defuzzified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find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3277105" y="1984746"/>
            <a:ext cx="250829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system.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3119257" y="2135742"/>
            <a:ext cx="266613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Defuzzification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can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achieved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3277105" y="2313715"/>
            <a:ext cx="250829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centroid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technique.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901663" y="3150918"/>
            <a:ext cx="8837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624649" y="3150694"/>
            <a:ext cx="16074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511073" y="1451851"/>
            <a:ext cx="51199" cy="51199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11073" y="2180234"/>
            <a:ext cx="51199" cy="51199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36929" y="1149325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36929" y="1392119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36929" y="1634913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36929" y="1877707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36929" y="2120501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36929" y="2363296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08106" y="1392119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908106" y="2120501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42914" y="1477451"/>
            <a:ext cx="149386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482600" y="1460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49467" y="2205834"/>
            <a:ext cx="142833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4826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563979" y="1243998"/>
            <a:ext cx="356961" cy="23345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901700" y="1231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563979" y="1477451"/>
            <a:ext cx="354177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901700" y="1460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563979" y="1477451"/>
            <a:ext cx="356961" cy="23345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901700" y="1689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1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V="1">
            <a:off x="563979" y="1972380"/>
            <a:ext cx="356961" cy="23345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901700" y="1968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563979" y="2205834"/>
            <a:ext cx="354177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901700" y="2197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563979" y="2205834"/>
            <a:ext cx="356961" cy="23345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901700" y="2425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1" y="0"/>
                </a:lnTo>
                <a:lnTo>
                  <a:pt x="2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1109300" y="1234657"/>
            <a:ext cx="294445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1397000" y="1219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1109300" y="1234657"/>
            <a:ext cx="298051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1397000" y="1447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1109300" y="1234657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1397000" y="1689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1109300" y="1477451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1397000" y="19304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1109300" y="1720245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13970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1109300" y="1720245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1397000" y="2413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 flipV="1">
            <a:off x="1109300" y="1250348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1397000" y="12319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1109300" y="1963040"/>
            <a:ext cx="302296" cy="47122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reeform 76"/>
          <p:cNvSpPr/>
          <p:nvPr/>
        </p:nvSpPr>
        <p:spPr>
          <a:xfrm>
            <a:off x="1397000" y="2413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 flipV="1">
            <a:off x="1109300" y="1493142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13970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 flipV="1">
            <a:off x="1109300" y="1973530"/>
            <a:ext cx="298051" cy="23230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1397000" y="1968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 flipV="1">
            <a:off x="1109300" y="1735936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1397000" y="17145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 flipV="1">
            <a:off x="1109300" y="2216324"/>
            <a:ext cx="298051" cy="23230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1397000" y="2209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>
            <a:off x="1594889" y="1234657"/>
            <a:ext cx="306298" cy="954927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18796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1594889" y="1477451"/>
            <a:ext cx="304800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18796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 flipV="1">
            <a:off x="1594889" y="1487942"/>
            <a:ext cx="298050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18796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1594889" y="1963040"/>
            <a:ext cx="298050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1879600" y="2184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1594889" y="2205834"/>
            <a:ext cx="294444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18796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 flipV="1">
            <a:off x="1594889" y="1493701"/>
            <a:ext cx="306298" cy="954927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Freeform 96"/>
          <p:cNvSpPr/>
          <p:nvPr/>
        </p:nvSpPr>
        <p:spPr>
          <a:xfrm>
            <a:off x="18796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2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>
            <a:off x="2080477" y="1477451"/>
            <a:ext cx="321704" cy="293969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reeform 98"/>
          <p:cNvSpPr/>
          <p:nvPr/>
        </p:nvSpPr>
        <p:spPr>
          <a:xfrm>
            <a:off x="2387600" y="1752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2080477" y="1911865"/>
            <a:ext cx="321704" cy="293969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23876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2566066" y="1841642"/>
            <a:ext cx="98733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Freeform 102"/>
          <p:cNvSpPr/>
          <p:nvPr/>
        </p:nvSpPr>
        <p:spPr>
          <a:xfrm>
            <a:off x="2654300" y="1828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3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2880017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6" name="Picture 10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07" name="Picture 10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Neuro-fuzzy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What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does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the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algorithm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modify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during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learning?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69305" y="1445157"/>
            <a:ext cx="551609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62753" y="2173536"/>
            <a:ext cx="552264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87406" y="1205692"/>
            <a:ext cx="479798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80854" y="1448488"/>
            <a:ext cx="480454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80409" y="1690950"/>
            <a:ext cx="4804987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91363" y="1933130"/>
            <a:ext cx="479403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84811" y="2175917"/>
            <a:ext cx="480058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984366" y="2418387"/>
            <a:ext cx="480103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475482" y="1204759"/>
            <a:ext cx="4309913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468930" y="1447546"/>
            <a:ext cx="431646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468484" y="1690017"/>
            <a:ext cx="431691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468553" y="1933130"/>
            <a:ext cx="431684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468244" y="2175600"/>
            <a:ext cx="431715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468176" y="2418387"/>
            <a:ext cx="431721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959087" y="1447221"/>
            <a:ext cx="382630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952526" y="2175600"/>
            <a:ext cx="383286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452815" y="1817939"/>
            <a:ext cx="333258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2706300" y="1793698"/>
            <a:ext cx="307909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133750" y="122354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133750" y="122354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133750" y="146633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33750" y="146633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750" y="172599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A3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133750" y="172599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133750" y="192690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133750" y="192690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133750" y="2127030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133750" y="2127030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133750" y="2369621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750" y="2369621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619333" y="1224128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619333" y="1224128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619333" y="1466924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619333" y="1466924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619333" y="1683913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619333" y="1683913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619333" y="192690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619333" y="192690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619333" y="216949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619333" y="216949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619333" y="2369621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619333" y="2369621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803158" y="1869504"/>
            <a:ext cx="398223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803158" y="1869504"/>
            <a:ext cx="398223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769369" y="1997501"/>
            <a:ext cx="4016026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769369" y="1997501"/>
            <a:ext cx="4016026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794413" y="1439586"/>
            <a:ext cx="39909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794413" y="1439586"/>
            <a:ext cx="39909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777437" y="2108437"/>
            <a:ext cx="4007958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777437" y="2108437"/>
            <a:ext cx="4007958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794113" y="2202097"/>
            <a:ext cx="39912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794113" y="2202097"/>
            <a:ext cx="39912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811098" y="1567583"/>
            <a:ext cx="397429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811098" y="1567583"/>
            <a:ext cx="397429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2104916" y="1466718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C1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2104916" y="1466718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04916" y="2143895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C2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104916" y="2143895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425097" y="769175"/>
            <a:ext cx="5360298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366143" y="850042"/>
            <a:ext cx="541925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537" b="0">
                <a:solidFill>
                  <a:srgbClr val="000000"/>
                </a:solidFill>
                <a:latin typeface="Josefin Sans"/>
              </a:rPr>
              <a:t> </a:t>
            </a:r>
            <a:r>
              <a:rPr sz="537" b="0">
                <a:solidFill>
                  <a:srgbClr val="000000"/>
                </a:solidFill>
                <a:latin typeface="Josefin Sans"/>
              </a:rPr>
              <a:t>inputs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903134" y="769175"/>
            <a:ext cx="488226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947741" y="850042"/>
            <a:ext cx="483765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Input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47529" y="931103"/>
            <a:ext cx="4937866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95040" y="1012172"/>
            <a:ext cx="489035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389702" y="769175"/>
            <a:ext cx="4395693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351510" y="850042"/>
            <a:ext cx="443388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537" b="0">
                <a:solidFill>
                  <a:srgbClr val="000000"/>
                </a:solidFill>
                <a:latin typeface="Josefin Sans"/>
              </a:rPr>
              <a:t> </a:t>
            </a:r>
            <a:r>
              <a:rPr sz="537" b="0">
                <a:solidFill>
                  <a:srgbClr val="000000"/>
                </a:solidFill>
                <a:latin typeface="Josefin Sans"/>
              </a:rPr>
              <a:t>rules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874771" y="769175"/>
            <a:ext cx="391062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887884" y="850042"/>
            <a:ext cx="389751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Output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818695" y="931103"/>
            <a:ext cx="396670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866206" y="1012172"/>
            <a:ext cx="391918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2360937" y="769175"/>
            <a:ext cx="3424458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2267791" y="850043"/>
            <a:ext cx="351760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3119260" y="1433152"/>
            <a:ext cx="266613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parameters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3119260" y="1622927"/>
            <a:ext cx="266613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normalised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confidence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(weights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3277108" y="1800899"/>
            <a:ext cx="250828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between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layers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3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4)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4901667" y="3150928"/>
            <a:ext cx="88372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5625948" y="3150704"/>
            <a:ext cx="15944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Neuro-fuzzy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35324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Since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neural-fuzzy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essentially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multilayer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network,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apply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52531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standard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learning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algorithms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developed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network,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including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169738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back-propagation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algorithm.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01653" y="3150917"/>
            <a:ext cx="8837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4105" y="3150693"/>
            <a:ext cx="16129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2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2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0004" y="927207"/>
            <a:ext cx="3023965" cy="1770311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77772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Let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consider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100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training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patterns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following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figure.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23282" y="1439273"/>
            <a:ext cx="216211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two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inputs: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x1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23282" y="1629061"/>
            <a:ext cx="216211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one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output: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23282" y="1818850"/>
            <a:ext cx="216211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variable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represented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two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781118" y="1996810"/>
            <a:ext cx="200427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linguistic values: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small (S) and large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781118" y="2135989"/>
            <a:ext cx="200427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(L)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901651" y="3150929"/>
            <a:ext cx="88374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23964" y="3150705"/>
            <a:ext cx="1614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3167578" y="1267908"/>
            <a:ext cx="57886" cy="57886"/>
          </a:xfrm>
          <a:prstGeom prst="rect">
            <a:avLst/>
          </a:prstGeom>
          <a:noFill/>
          <a:ln w="3858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167578" y="1926753"/>
            <a:ext cx="57886" cy="57886"/>
          </a:xfrm>
          <a:prstGeom prst="rect">
            <a:avLst/>
          </a:prstGeom>
          <a:noFill/>
          <a:ln w="3858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539263" y="1090572"/>
            <a:ext cx="192954" cy="192953"/>
          </a:xfrm>
          <a:prstGeom prst="rect">
            <a:avLst/>
          </a:prstGeom>
          <a:noFill/>
          <a:ln w="3858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539263" y="1310176"/>
            <a:ext cx="192954" cy="192953"/>
          </a:xfrm>
          <a:prstGeom prst="rect">
            <a:avLst/>
          </a:prstGeom>
          <a:noFill/>
          <a:ln w="3858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539263" y="1749452"/>
            <a:ext cx="192954" cy="192953"/>
          </a:xfrm>
          <a:prstGeom prst="rect">
            <a:avLst/>
          </a:prstGeom>
          <a:noFill/>
          <a:ln w="3858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539263" y="1969056"/>
            <a:ext cx="192954" cy="192953"/>
          </a:xfrm>
          <a:prstGeom prst="rect">
            <a:avLst/>
          </a:prstGeom>
          <a:noFill/>
          <a:ln w="3858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637378" y="1380492"/>
            <a:ext cx="192954" cy="192954"/>
          </a:xfrm>
          <a:prstGeom prst="rect">
            <a:avLst/>
          </a:prstGeom>
          <a:noFill/>
          <a:ln w="3858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637378" y="1670424"/>
            <a:ext cx="192954" cy="192953"/>
          </a:xfrm>
          <a:prstGeom prst="rect">
            <a:avLst/>
          </a:prstGeom>
          <a:noFill/>
          <a:ln w="3858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3032360" y="1296851"/>
            <a:ext cx="114003" cy="0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Freeform 44"/>
          <p:cNvSpPr/>
          <p:nvPr/>
        </p:nvSpPr>
        <p:spPr>
          <a:xfrm>
            <a:off x="3136900" y="1282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039770" y="1955719"/>
            <a:ext cx="106593" cy="11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3136900" y="1943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 flipV="1">
            <a:off x="3227407" y="1187044"/>
            <a:ext cx="309955" cy="109807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3227407" y="1296851"/>
            <a:ext cx="309955" cy="109808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3227407" y="1845958"/>
            <a:ext cx="309955" cy="109773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3227407" y="1955731"/>
            <a:ext cx="309955" cy="109842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3734186" y="1187038"/>
            <a:ext cx="352249" cy="6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3734186" y="1187044"/>
            <a:ext cx="352249" cy="219620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734186" y="1187044"/>
            <a:ext cx="352249" cy="439281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3734186" y="1406659"/>
            <a:ext cx="352249" cy="439328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3734186" y="1406659"/>
            <a:ext cx="352249" cy="658954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3734186" y="1187038"/>
            <a:ext cx="352249" cy="658920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3734186" y="1406664"/>
            <a:ext cx="352249" cy="439294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3734186" y="1845958"/>
            <a:ext cx="352249" cy="29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3734186" y="1626325"/>
            <a:ext cx="352249" cy="439248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734186" y="2065573"/>
            <a:ext cx="352249" cy="40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4283258" y="1187038"/>
            <a:ext cx="352278" cy="579887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4283258" y="1406664"/>
            <a:ext cx="352278" cy="70315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4283258" y="1476979"/>
            <a:ext cx="352278" cy="149346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4283258" y="1476979"/>
            <a:ext cx="352278" cy="369008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4283258" y="1766925"/>
            <a:ext cx="352278" cy="298688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4832360" y="1476979"/>
            <a:ext cx="250355" cy="106467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4832360" y="1660491"/>
            <a:ext cx="250355" cy="106434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5271680" y="1621986"/>
            <a:ext cx="56849" cy="0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Freeform 69"/>
          <p:cNvSpPr/>
          <p:nvPr/>
        </p:nvSpPr>
        <p:spPr>
          <a:xfrm>
            <a:off x="5321300" y="1612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2" y="3146739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880006" y="3146739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3" name="Picture 7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4" name="Picture 7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43254" y="878503"/>
            <a:ext cx="534214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Suppose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domain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expert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provides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01090" y="1056463"/>
            <a:ext cx="518430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five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rules.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43254" y="1207471"/>
            <a:ext cx="534214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possible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expert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might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make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01090" y="1385431"/>
            <a:ext cx="518430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mistakes.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43254" y="1536439"/>
            <a:ext cx="534214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neuro-fuzzy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should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able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to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01090" y="1714399"/>
            <a:ext cx="518430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bad/wrong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rules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training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01090" y="1853579"/>
            <a:ext cx="518430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training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patterns.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43254" y="2004573"/>
            <a:ext cx="534214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initial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state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neuro-fuzzy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system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01090" y="2182546"/>
            <a:ext cx="518430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designed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such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follows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01090" y="2321725"/>
            <a:ext cx="518430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specification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domain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expert.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949125" y="1260339"/>
            <a:ext cx="2836270" cy="11962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941717" y="1919144"/>
            <a:ext cx="2843678" cy="11962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13305" y="1152869"/>
            <a:ext cx="2172091" cy="11962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000000"/>
                </a:solidFill>
                <a:latin typeface="Josefin Sans"/>
              </a:rPr>
              <a:t>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612462" y="1372835"/>
            <a:ext cx="2172933" cy="11962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000000"/>
                </a:solidFill>
                <a:latin typeface="Josefin Sans"/>
              </a:rPr>
              <a:t>L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613305" y="1811741"/>
            <a:ext cx="2172091" cy="11962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000000"/>
                </a:solidFill>
                <a:latin typeface="Josefin Sans"/>
              </a:rPr>
              <a:t>S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612462" y="2031708"/>
            <a:ext cx="2172933" cy="11962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000000"/>
                </a:solidFill>
                <a:latin typeface="Josefin Sans"/>
              </a:rPr>
              <a:t>L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172609" y="1150535"/>
            <a:ext cx="1612786" cy="11962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165201" y="1370143"/>
            <a:ext cx="1620194" cy="11962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164697" y="1589422"/>
            <a:ext cx="1620698" cy="11962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164775" y="1809437"/>
            <a:ext cx="1620620" cy="11962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164426" y="2028687"/>
            <a:ext cx="1620969" cy="11962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711413" y="1442790"/>
            <a:ext cx="1073982" cy="11962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000000"/>
                </a:solidFill>
                <a:latin typeface="Josefin Sans"/>
              </a:rPr>
              <a:t>S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710561" y="1733080"/>
            <a:ext cx="1074834" cy="11962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000000"/>
                </a:solidFill>
                <a:latin typeface="Josefin Sans"/>
              </a:rPr>
              <a:t>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143521" y="1595147"/>
            <a:ext cx="641874" cy="11962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375321" y="1567759"/>
            <a:ext cx="410074" cy="11962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310893" y="1159653"/>
            <a:ext cx="1474502" cy="8972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5" b="0">
                <a:solidFill>
                  <a:srgbClr val="FFFFFF"/>
                </a:solidFill>
                <a:latin typeface="Josefin Sans"/>
              </a:rP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310893" y="1379281"/>
            <a:ext cx="1474502" cy="8972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5" b="0">
                <a:solidFill>
                  <a:srgbClr val="FFFFFF"/>
                </a:solidFill>
                <a:latin typeface="Josefin Sans"/>
              </a:rP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310893" y="1598937"/>
            <a:ext cx="1474502" cy="8972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5" b="0">
                <a:solidFill>
                  <a:srgbClr val="FFFFFF"/>
                </a:solidFill>
                <a:latin typeface="Josefin Sans"/>
              </a:rPr>
              <a:t>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310893" y="1818594"/>
            <a:ext cx="1474502" cy="8972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5" b="0">
                <a:solidFill>
                  <a:srgbClr val="FFFFFF"/>
                </a:solidFill>
                <a:latin typeface="Josefin Sans"/>
              </a:rPr>
              <a:t>1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310893" y="2038221"/>
            <a:ext cx="1474502" cy="8972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5" b="0">
                <a:solidFill>
                  <a:srgbClr val="FFFFFF"/>
                </a:solidFill>
                <a:latin typeface="Josefin Sans"/>
              </a:rPr>
              <a:t>1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901655" y="3150915"/>
            <a:ext cx="88374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627982" y="3150691"/>
            <a:ext cx="15741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1557423" y="1616076"/>
            <a:ext cx="75916" cy="75916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557423" y="2480135"/>
            <a:ext cx="75916" cy="75916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044878" y="1383504"/>
            <a:ext cx="253054" cy="253054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044878" y="1671509"/>
            <a:ext cx="253054" cy="253054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044878" y="2247609"/>
            <a:ext cx="253054" cy="253054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044878" y="2535614"/>
            <a:ext cx="253054" cy="253054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2768600" y="1384300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0" h="20">
                <a:moveTo>
                  <a:pt x="20" y="10"/>
                </a:moveTo>
                <a:lnTo>
                  <a:pt x="19" y="8"/>
                </a:lnTo>
                <a:lnTo>
                  <a:pt x="19" y="6"/>
                </a:lnTo>
                <a:lnTo>
                  <a:pt x="18" y="4"/>
                </a:lnTo>
                <a:lnTo>
                  <a:pt x="17" y="3"/>
                </a:lnTo>
                <a:lnTo>
                  <a:pt x="15" y="2"/>
                </a:lnTo>
                <a:lnTo>
                  <a:pt x="14" y="1"/>
                </a:lnTo>
                <a:lnTo>
                  <a:pt x="12" y="0"/>
                </a:lnTo>
                <a:lnTo>
                  <a:pt x="10" y="0"/>
                </a:lnTo>
                <a:lnTo>
                  <a:pt x="8" y="0"/>
                </a:lnTo>
                <a:lnTo>
                  <a:pt x="6" y="1"/>
                </a:lnTo>
                <a:lnTo>
                  <a:pt x="4" y="2"/>
                </a:lnTo>
                <a:lnTo>
                  <a:pt x="3" y="3"/>
                </a:lnTo>
                <a:lnTo>
                  <a:pt x="1" y="4"/>
                </a:lnTo>
                <a:lnTo>
                  <a:pt x="0" y="6"/>
                </a:lnTo>
                <a:lnTo>
                  <a:pt x="0" y="8"/>
                </a:lnTo>
                <a:lnTo>
                  <a:pt x="0" y="10"/>
                </a:lnTo>
                <a:lnTo>
                  <a:pt x="0" y="12"/>
                </a:lnTo>
                <a:lnTo>
                  <a:pt x="0" y="14"/>
                </a:lnTo>
                <a:lnTo>
                  <a:pt x="1" y="15"/>
                </a:lnTo>
                <a:lnTo>
                  <a:pt x="3" y="17"/>
                </a:lnTo>
                <a:lnTo>
                  <a:pt x="4" y="18"/>
                </a:lnTo>
                <a:lnTo>
                  <a:pt x="6" y="19"/>
                </a:lnTo>
                <a:lnTo>
                  <a:pt x="8" y="20"/>
                </a:lnTo>
                <a:lnTo>
                  <a:pt x="10" y="20"/>
                </a:lnTo>
                <a:lnTo>
                  <a:pt x="12" y="20"/>
                </a:lnTo>
                <a:lnTo>
                  <a:pt x="14" y="19"/>
                </a:lnTo>
                <a:lnTo>
                  <a:pt x="15" y="18"/>
                </a:lnTo>
                <a:lnTo>
                  <a:pt x="17" y="17"/>
                </a:lnTo>
                <a:lnTo>
                  <a:pt x="18" y="15"/>
                </a:lnTo>
                <a:lnTo>
                  <a:pt x="19" y="14"/>
                </a:lnTo>
                <a:lnTo>
                  <a:pt x="19" y="12"/>
                </a:lnTo>
                <a:lnTo>
                  <a:pt x="20" y="10"/>
                </a:lnTo>
                <a:close/>
              </a:path>
            </a:pathLst>
          </a:custGeom>
          <a:solidFill>
            <a:srgbClr val="000000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2768600" y="1955800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0" h="20">
                <a:moveTo>
                  <a:pt x="20" y="10"/>
                </a:moveTo>
                <a:lnTo>
                  <a:pt x="19" y="8"/>
                </a:lnTo>
                <a:lnTo>
                  <a:pt x="19" y="6"/>
                </a:lnTo>
                <a:lnTo>
                  <a:pt x="18" y="5"/>
                </a:lnTo>
                <a:lnTo>
                  <a:pt x="17" y="3"/>
                </a:lnTo>
                <a:lnTo>
                  <a:pt x="15" y="2"/>
                </a:lnTo>
                <a:lnTo>
                  <a:pt x="14" y="1"/>
                </a:lnTo>
                <a:lnTo>
                  <a:pt x="12" y="1"/>
                </a:lnTo>
                <a:lnTo>
                  <a:pt x="10" y="0"/>
                </a:lnTo>
                <a:lnTo>
                  <a:pt x="8" y="1"/>
                </a:lnTo>
                <a:lnTo>
                  <a:pt x="6" y="1"/>
                </a:lnTo>
                <a:lnTo>
                  <a:pt x="4" y="2"/>
                </a:lnTo>
                <a:lnTo>
                  <a:pt x="3" y="3"/>
                </a:lnTo>
                <a:lnTo>
                  <a:pt x="1" y="5"/>
                </a:lnTo>
                <a:lnTo>
                  <a:pt x="0" y="6"/>
                </a:lnTo>
                <a:lnTo>
                  <a:pt x="0" y="8"/>
                </a:lnTo>
                <a:lnTo>
                  <a:pt x="0" y="10"/>
                </a:lnTo>
                <a:lnTo>
                  <a:pt x="0" y="12"/>
                </a:lnTo>
                <a:lnTo>
                  <a:pt x="0" y="14"/>
                </a:lnTo>
                <a:lnTo>
                  <a:pt x="1" y="16"/>
                </a:lnTo>
                <a:lnTo>
                  <a:pt x="3" y="17"/>
                </a:lnTo>
                <a:lnTo>
                  <a:pt x="4" y="19"/>
                </a:lnTo>
                <a:lnTo>
                  <a:pt x="6" y="19"/>
                </a:lnTo>
                <a:lnTo>
                  <a:pt x="8" y="20"/>
                </a:lnTo>
                <a:lnTo>
                  <a:pt x="10" y="20"/>
                </a:lnTo>
                <a:lnTo>
                  <a:pt x="12" y="20"/>
                </a:lnTo>
                <a:lnTo>
                  <a:pt x="14" y="19"/>
                </a:lnTo>
                <a:lnTo>
                  <a:pt x="15" y="19"/>
                </a:lnTo>
                <a:lnTo>
                  <a:pt x="17" y="17"/>
                </a:lnTo>
                <a:lnTo>
                  <a:pt x="18" y="16"/>
                </a:lnTo>
                <a:lnTo>
                  <a:pt x="19" y="14"/>
                </a:lnTo>
                <a:lnTo>
                  <a:pt x="19" y="12"/>
                </a:lnTo>
                <a:lnTo>
                  <a:pt x="20" y="10"/>
                </a:lnTo>
                <a:close/>
              </a:path>
            </a:pathLst>
          </a:custGeom>
          <a:solidFill>
            <a:srgbClr val="000000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2768600" y="2247900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0" h="20">
                <a:moveTo>
                  <a:pt x="20" y="10"/>
                </a:moveTo>
                <a:lnTo>
                  <a:pt x="19" y="8"/>
                </a:lnTo>
                <a:lnTo>
                  <a:pt x="19" y="6"/>
                </a:lnTo>
                <a:lnTo>
                  <a:pt x="18" y="4"/>
                </a:lnTo>
                <a:lnTo>
                  <a:pt x="17" y="3"/>
                </a:lnTo>
                <a:lnTo>
                  <a:pt x="15" y="2"/>
                </a:lnTo>
                <a:lnTo>
                  <a:pt x="14" y="1"/>
                </a:lnTo>
                <a:lnTo>
                  <a:pt x="12" y="0"/>
                </a:lnTo>
                <a:lnTo>
                  <a:pt x="10" y="0"/>
                </a:lnTo>
                <a:lnTo>
                  <a:pt x="8" y="0"/>
                </a:lnTo>
                <a:lnTo>
                  <a:pt x="6" y="1"/>
                </a:lnTo>
                <a:lnTo>
                  <a:pt x="4" y="2"/>
                </a:lnTo>
                <a:lnTo>
                  <a:pt x="3" y="3"/>
                </a:lnTo>
                <a:lnTo>
                  <a:pt x="1" y="4"/>
                </a:lnTo>
                <a:lnTo>
                  <a:pt x="0" y="6"/>
                </a:lnTo>
                <a:lnTo>
                  <a:pt x="0" y="8"/>
                </a:lnTo>
                <a:lnTo>
                  <a:pt x="0" y="10"/>
                </a:lnTo>
                <a:lnTo>
                  <a:pt x="0" y="12"/>
                </a:lnTo>
                <a:lnTo>
                  <a:pt x="0" y="14"/>
                </a:lnTo>
                <a:lnTo>
                  <a:pt x="1" y="16"/>
                </a:lnTo>
                <a:lnTo>
                  <a:pt x="3" y="17"/>
                </a:lnTo>
                <a:lnTo>
                  <a:pt x="4" y="18"/>
                </a:lnTo>
                <a:lnTo>
                  <a:pt x="6" y="19"/>
                </a:lnTo>
                <a:lnTo>
                  <a:pt x="8" y="20"/>
                </a:lnTo>
                <a:lnTo>
                  <a:pt x="10" y="20"/>
                </a:lnTo>
                <a:lnTo>
                  <a:pt x="12" y="20"/>
                </a:lnTo>
                <a:lnTo>
                  <a:pt x="14" y="19"/>
                </a:lnTo>
                <a:lnTo>
                  <a:pt x="15" y="18"/>
                </a:lnTo>
                <a:lnTo>
                  <a:pt x="17" y="17"/>
                </a:lnTo>
                <a:lnTo>
                  <a:pt x="18" y="16"/>
                </a:lnTo>
                <a:lnTo>
                  <a:pt x="19" y="14"/>
                </a:lnTo>
                <a:lnTo>
                  <a:pt x="19" y="12"/>
                </a:lnTo>
                <a:lnTo>
                  <a:pt x="20" y="10"/>
                </a:lnTo>
                <a:close/>
              </a:path>
            </a:pathLst>
          </a:custGeom>
          <a:solidFill>
            <a:srgbClr val="000000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2768600" y="2540000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0" h="20">
                <a:moveTo>
                  <a:pt x="20" y="10"/>
                </a:moveTo>
                <a:lnTo>
                  <a:pt x="19" y="8"/>
                </a:lnTo>
                <a:lnTo>
                  <a:pt x="19" y="6"/>
                </a:lnTo>
                <a:lnTo>
                  <a:pt x="18" y="4"/>
                </a:lnTo>
                <a:lnTo>
                  <a:pt x="17" y="3"/>
                </a:lnTo>
                <a:lnTo>
                  <a:pt x="15" y="1"/>
                </a:lnTo>
                <a:lnTo>
                  <a:pt x="14" y="0"/>
                </a:lnTo>
                <a:lnTo>
                  <a:pt x="12" y="0"/>
                </a:lnTo>
                <a:lnTo>
                  <a:pt x="10" y="0"/>
                </a:lnTo>
                <a:lnTo>
                  <a:pt x="8" y="0"/>
                </a:lnTo>
                <a:lnTo>
                  <a:pt x="6" y="0"/>
                </a:lnTo>
                <a:lnTo>
                  <a:pt x="4" y="1"/>
                </a:lnTo>
                <a:lnTo>
                  <a:pt x="3" y="3"/>
                </a:lnTo>
                <a:lnTo>
                  <a:pt x="1" y="4"/>
                </a:lnTo>
                <a:lnTo>
                  <a:pt x="0" y="6"/>
                </a:lnTo>
                <a:lnTo>
                  <a:pt x="0" y="8"/>
                </a:lnTo>
                <a:lnTo>
                  <a:pt x="0" y="10"/>
                </a:lnTo>
                <a:lnTo>
                  <a:pt x="0" y="12"/>
                </a:lnTo>
                <a:lnTo>
                  <a:pt x="0" y="13"/>
                </a:lnTo>
                <a:lnTo>
                  <a:pt x="1" y="15"/>
                </a:lnTo>
                <a:lnTo>
                  <a:pt x="3" y="17"/>
                </a:lnTo>
                <a:lnTo>
                  <a:pt x="4" y="18"/>
                </a:lnTo>
                <a:lnTo>
                  <a:pt x="6" y="19"/>
                </a:lnTo>
                <a:lnTo>
                  <a:pt x="8" y="19"/>
                </a:lnTo>
                <a:lnTo>
                  <a:pt x="10" y="20"/>
                </a:lnTo>
                <a:lnTo>
                  <a:pt x="12" y="19"/>
                </a:lnTo>
                <a:lnTo>
                  <a:pt x="14" y="19"/>
                </a:lnTo>
                <a:lnTo>
                  <a:pt x="15" y="18"/>
                </a:lnTo>
                <a:lnTo>
                  <a:pt x="17" y="17"/>
                </a:lnTo>
                <a:lnTo>
                  <a:pt x="18" y="15"/>
                </a:lnTo>
                <a:lnTo>
                  <a:pt x="19" y="13"/>
                </a:lnTo>
                <a:lnTo>
                  <a:pt x="19" y="12"/>
                </a:lnTo>
                <a:lnTo>
                  <a:pt x="20" y="10"/>
                </a:lnTo>
                <a:close/>
              </a:path>
            </a:pathLst>
          </a:custGeom>
          <a:solidFill>
            <a:srgbClr val="000000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485030" y="1763727"/>
            <a:ext cx="253054" cy="253054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485030" y="2143965"/>
            <a:ext cx="253054" cy="253054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1380087" y="1654034"/>
            <a:ext cx="14951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1511300" y="1638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>
            <a:off x="1389805" y="2518123"/>
            <a:ext cx="139796" cy="1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1511300" y="2501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 flipV="1">
            <a:off x="1635887" y="1510024"/>
            <a:ext cx="406499" cy="14401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1635887" y="1654034"/>
            <a:ext cx="406499" cy="14400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1635887" y="2374174"/>
            <a:ext cx="406499" cy="14396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635887" y="2518138"/>
            <a:ext cx="406499" cy="14405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2300515" y="1510017"/>
            <a:ext cx="461966" cy="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300515" y="1510024"/>
            <a:ext cx="461966" cy="28802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2300515" y="1510024"/>
            <a:ext cx="461966" cy="57610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2300515" y="1798043"/>
            <a:ext cx="461966" cy="57616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300515" y="1798043"/>
            <a:ext cx="461966" cy="86420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2300515" y="1510017"/>
            <a:ext cx="461966" cy="86415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2300515" y="1798051"/>
            <a:ext cx="461966" cy="57612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2300515" y="2374174"/>
            <a:ext cx="461966" cy="3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2300515" y="2086131"/>
            <a:ext cx="461966" cy="57606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2300515" y="2662194"/>
            <a:ext cx="461966" cy="5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3020610" y="1510017"/>
            <a:ext cx="462004" cy="76050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3020610" y="1798051"/>
            <a:ext cx="462004" cy="9221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3020610" y="1890266"/>
            <a:ext cx="462004" cy="19586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3020610" y="1890266"/>
            <a:ext cx="462004" cy="48394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3020610" y="2270525"/>
            <a:ext cx="462004" cy="39172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3740742" y="1890266"/>
            <a:ext cx="328336" cy="13963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3740742" y="2130938"/>
            <a:ext cx="328336" cy="13958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4316901" y="2080440"/>
            <a:ext cx="74557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Freeform 73"/>
          <p:cNvSpPr/>
          <p:nvPr/>
        </p:nvSpPr>
        <p:spPr>
          <a:xfrm>
            <a:off x="4381500" y="2057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2880003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8" name="Picture 7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60056" y="671485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neuro-fuzzy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undergoes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training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back-propagation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algorithm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7094" y="887315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adjust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weights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modify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functions.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60056" y="1101672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training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continues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until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sum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squared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errors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0.001.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270940" y="1606149"/>
            <a:ext cx="451445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261225" y="2470155"/>
            <a:ext cx="452417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141995" y="1465217"/>
            <a:ext cx="364340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140877" y="1753697"/>
            <a:ext cx="364451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L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141995" y="2329312"/>
            <a:ext cx="364340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140877" y="2617793"/>
            <a:ext cx="364451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L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875496" y="1462143"/>
            <a:ext cx="290989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865781" y="1750167"/>
            <a:ext cx="291961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865120" y="2037745"/>
            <a:ext cx="292027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865222" y="2326289"/>
            <a:ext cx="292017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864765" y="2613818"/>
            <a:ext cx="29206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582124" y="1845429"/>
            <a:ext cx="220327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581007" y="2226150"/>
            <a:ext cx="220438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L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148824" y="2045255"/>
            <a:ext cx="163657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452824" y="2009323"/>
            <a:ext cx="133257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056852" y="1473746"/>
            <a:ext cx="27285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0.99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056852" y="1473746"/>
            <a:ext cx="27285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0.99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056852" y="1761973"/>
            <a:ext cx="27285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056852" y="2050047"/>
            <a:ext cx="27285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0.72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056852" y="2050047"/>
            <a:ext cx="27285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0.72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3056852" y="2337931"/>
            <a:ext cx="27285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0.61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056852" y="2337931"/>
            <a:ext cx="27285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0.61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056852" y="2625967"/>
            <a:ext cx="27285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0.79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056852" y="2625967"/>
            <a:ext cx="27285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0.79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901653" y="3150917"/>
            <a:ext cx="8837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625096" y="3150693"/>
            <a:ext cx="1602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745533" y="2186538"/>
            <a:ext cx="0" cy="4104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120579" y="2186538"/>
            <a:ext cx="0" cy="4104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495624" y="2186538"/>
            <a:ext cx="0" cy="4104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1870670" y="2186538"/>
            <a:ext cx="0" cy="4104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245716" y="2186538"/>
            <a:ext cx="0" cy="4104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620761" y="2186538"/>
            <a:ext cx="0" cy="4104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745533" y="669702"/>
            <a:ext cx="0" cy="4104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120579" y="669702"/>
            <a:ext cx="0" cy="4104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495624" y="669702"/>
            <a:ext cx="0" cy="4104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870670" y="669702"/>
            <a:ext cx="0" cy="4104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245716" y="669702"/>
            <a:ext cx="0" cy="4104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2620761" y="669702"/>
            <a:ext cx="0" cy="4104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745533" y="2227585"/>
            <a:ext cx="4104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745533" y="1919093"/>
            <a:ext cx="4104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745533" y="1610601"/>
            <a:ext cx="4104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745533" y="1302110"/>
            <a:ext cx="4104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745533" y="993618"/>
            <a:ext cx="4104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745533" y="685127"/>
            <a:ext cx="4104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2579718" y="2227585"/>
            <a:ext cx="4104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H="1">
            <a:off x="2579718" y="1919093"/>
            <a:ext cx="4104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H="1">
            <a:off x="2579718" y="1610601"/>
            <a:ext cx="4104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H="1">
            <a:off x="2579718" y="1302110"/>
            <a:ext cx="4104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H="1">
            <a:off x="2579718" y="993618"/>
            <a:ext cx="4104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H="1">
            <a:off x="2579718" y="685127"/>
            <a:ext cx="4104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778549" y="684305"/>
            <a:ext cx="21671" cy="79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800220" y="685095"/>
            <a:ext cx="28049" cy="68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828269" y="683173"/>
            <a:ext cx="29467" cy="199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857736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887203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916670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946137" y="683173"/>
            <a:ext cx="29466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975603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1005070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1034537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1064004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1093471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1122938" y="683173"/>
            <a:ext cx="29466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1152404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1181871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1211338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1240805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1270272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1299739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1329206" y="683173"/>
            <a:ext cx="29466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1358672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1388139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1417606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1447073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1476540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1506007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1535474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1564941" y="683173"/>
            <a:ext cx="29466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1594407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1623874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1653341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1682808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1712275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1741742" y="683173"/>
            <a:ext cx="29466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1771208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1800675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1830142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1859609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1889076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1918543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1948010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1977477" y="683173"/>
            <a:ext cx="29466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2006943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2036410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2065877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2095344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2124811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2154278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2183745" y="683173"/>
            <a:ext cx="29466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2213211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V="1">
            <a:off x="2242678" y="683139"/>
            <a:ext cx="37562" cy="34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2280240" y="683139"/>
            <a:ext cx="34766" cy="34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2315006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2344473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2373940" y="683173"/>
            <a:ext cx="29466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2403406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2432873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2462340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2491807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2521274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2550741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2580208" y="683173"/>
            <a:ext cx="26788" cy="158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790766" y="693621"/>
            <a:ext cx="19589" cy="15313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810355" y="708934"/>
            <a:ext cx="28629" cy="19001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838984" y="727935"/>
            <a:ext cx="29467" cy="19749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>
            <a:off x="868451" y="747684"/>
            <a:ext cx="29467" cy="19918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>
            <a:off x="897918" y="767602"/>
            <a:ext cx="29467" cy="19480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927385" y="787082"/>
            <a:ext cx="29467" cy="16032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>
            <a:off x="956852" y="803114"/>
            <a:ext cx="29467" cy="16874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>
            <a:off x="986319" y="819988"/>
            <a:ext cx="29466" cy="15966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>
            <a:off x="1015785" y="835954"/>
            <a:ext cx="29467" cy="15318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>
            <a:off x="1045252" y="851272"/>
            <a:ext cx="29467" cy="14538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>
            <a:off x="1074719" y="865810"/>
            <a:ext cx="29467" cy="13889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>
            <a:off x="1104186" y="879699"/>
            <a:ext cx="29467" cy="13630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>
            <a:off x="1133653" y="893329"/>
            <a:ext cx="29467" cy="12850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>
            <a:off x="1163120" y="906179"/>
            <a:ext cx="29467" cy="12462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>
            <a:off x="1192587" y="918641"/>
            <a:ext cx="29467" cy="11683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>
            <a:off x="1222054" y="930324"/>
            <a:ext cx="29466" cy="11033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>
            <a:off x="1251520" y="941357"/>
            <a:ext cx="29467" cy="10644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>
            <a:off x="1280987" y="952001"/>
            <a:ext cx="29467" cy="9865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1310454" y="961866"/>
            <a:ext cx="29467" cy="9476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1339921" y="971342"/>
            <a:ext cx="29467" cy="9087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1369388" y="980429"/>
            <a:ext cx="29467" cy="8826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1398855" y="989255"/>
            <a:ext cx="29466" cy="8178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>
            <a:off x="1428321" y="997433"/>
            <a:ext cx="29467" cy="7789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>
            <a:off x="1457788" y="1005222"/>
            <a:ext cx="29467" cy="7269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>
            <a:off x="1487255" y="1012491"/>
            <a:ext cx="29467" cy="7009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>
            <a:off x="1516722" y="1019500"/>
            <a:ext cx="29467" cy="6361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>
            <a:off x="1546189" y="1025861"/>
            <a:ext cx="29467" cy="6490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>
            <a:off x="1575656" y="1032351"/>
            <a:ext cx="29467" cy="3721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1605123" y="1036072"/>
            <a:ext cx="29467" cy="6793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1634590" y="1042865"/>
            <a:ext cx="29466" cy="4544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>
            <a:off x="1664056" y="1047409"/>
            <a:ext cx="29467" cy="4153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>
            <a:off x="1693523" y="1051562"/>
            <a:ext cx="29467" cy="3765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>
            <a:off x="1722990" y="1055327"/>
            <a:ext cx="29467" cy="3245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>
            <a:off x="1752457" y="1058572"/>
            <a:ext cx="29467" cy="2856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>
            <a:off x="1781924" y="1061428"/>
            <a:ext cx="29467" cy="2206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>
            <a:off x="1811391" y="1063634"/>
            <a:ext cx="29466" cy="2207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>
            <a:off x="1840857" y="1065841"/>
            <a:ext cx="29467" cy="1558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>
            <a:off x="1870324" y="1067399"/>
            <a:ext cx="29467" cy="1298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>
            <a:off x="1899791" y="1068697"/>
            <a:ext cx="29467" cy="1168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>
            <a:off x="1929258" y="1069865"/>
            <a:ext cx="29467" cy="1428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>
            <a:off x="1958725" y="1071293"/>
            <a:ext cx="29467" cy="259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>
            <a:off x="1988192" y="1071552"/>
            <a:ext cx="29467" cy="779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>
            <a:off x="2017659" y="1072331"/>
            <a:ext cx="29466" cy="649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2047125" y="1072980"/>
            <a:ext cx="29467" cy="390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>
            <a:off x="2076592" y="1073370"/>
            <a:ext cx="29467" cy="1038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>
            <a:off x="2106059" y="1074408"/>
            <a:ext cx="29467" cy="0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 flipV="1">
            <a:off x="2135526" y="1072980"/>
            <a:ext cx="29467" cy="1428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>
            <a:off x="2164993" y="1072980"/>
            <a:ext cx="29467" cy="0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 flipV="1">
            <a:off x="2194460" y="1071812"/>
            <a:ext cx="29467" cy="1168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 flipV="1">
            <a:off x="2223927" y="1071552"/>
            <a:ext cx="29466" cy="260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>
            <a:off x="2253393" y="1071552"/>
            <a:ext cx="29467" cy="0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 flipV="1">
            <a:off x="2282860" y="1070773"/>
            <a:ext cx="29467" cy="779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 flipV="1">
            <a:off x="2312327" y="1069865"/>
            <a:ext cx="29467" cy="908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 flipV="1">
            <a:off x="2341794" y="1068697"/>
            <a:ext cx="29467" cy="1168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 flipV="1">
            <a:off x="2371261" y="1068178"/>
            <a:ext cx="29467" cy="519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 flipV="1">
            <a:off x="2400728" y="1066620"/>
            <a:ext cx="29467" cy="1558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 flipV="1">
            <a:off x="2430195" y="1065841"/>
            <a:ext cx="29466" cy="779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 flipV="1">
            <a:off x="2459661" y="1064413"/>
            <a:ext cx="29467" cy="1428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 flipV="1">
            <a:off x="2489128" y="1062985"/>
            <a:ext cx="29467" cy="1428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 flipV="1">
            <a:off x="2518595" y="1062077"/>
            <a:ext cx="29467" cy="908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 flipV="1">
            <a:off x="2548062" y="1060389"/>
            <a:ext cx="29467" cy="1688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 flipV="1">
            <a:off x="2577529" y="1060130"/>
            <a:ext cx="25449" cy="259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>
            <a:off x="777803" y="684037"/>
            <a:ext cx="16260" cy="13981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>
            <a:off x="794063" y="698018"/>
            <a:ext cx="22596" cy="20497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>
            <a:off x="816659" y="718515"/>
            <a:ext cx="22559" cy="19866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>
            <a:off x="839218" y="738381"/>
            <a:ext cx="22289" cy="19950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>
            <a:off x="861507" y="758331"/>
            <a:ext cx="31340" cy="23950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>
            <a:off x="892847" y="782281"/>
            <a:ext cx="23227" cy="18823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>
            <a:off x="916074" y="801104"/>
            <a:ext cx="17362" cy="14480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>
            <a:off x="933436" y="815584"/>
            <a:ext cx="20354" cy="13979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>
            <a:off x="953790" y="829563"/>
            <a:ext cx="27171" cy="21395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>
            <a:off x="980961" y="850958"/>
            <a:ext cx="29467" cy="21037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>
            <a:off x="1010428" y="871995"/>
            <a:ext cx="29467" cy="20335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>
            <a:off x="1039895" y="892330"/>
            <a:ext cx="29467" cy="19738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>
            <a:off x="1069362" y="912068"/>
            <a:ext cx="29466" cy="19489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>
            <a:off x="1098828" y="931557"/>
            <a:ext cx="29467" cy="16355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7"/>
          <p:cNvCxnSpPr/>
          <p:nvPr/>
        </p:nvCxnSpPr>
        <p:spPr>
          <a:xfrm>
            <a:off x="1128295" y="947912"/>
            <a:ext cx="29467" cy="17515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>
            <a:off x="1157762" y="965427"/>
            <a:ext cx="29467" cy="17106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199"/>
          <p:cNvCxnSpPr/>
          <p:nvPr/>
        </p:nvCxnSpPr>
        <p:spPr>
          <a:xfrm>
            <a:off x="1187229" y="982533"/>
            <a:ext cx="29467" cy="16718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Connector 200"/>
          <p:cNvCxnSpPr/>
          <p:nvPr/>
        </p:nvCxnSpPr>
        <p:spPr>
          <a:xfrm>
            <a:off x="1216696" y="999251"/>
            <a:ext cx="29467" cy="12331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Connector 201"/>
          <p:cNvCxnSpPr/>
          <p:nvPr/>
        </p:nvCxnSpPr>
        <p:spPr>
          <a:xfrm>
            <a:off x="1246163" y="1011582"/>
            <a:ext cx="29466" cy="14019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 202"/>
          <p:cNvCxnSpPr/>
          <p:nvPr/>
        </p:nvCxnSpPr>
        <p:spPr>
          <a:xfrm>
            <a:off x="1275629" y="1025601"/>
            <a:ext cx="29467" cy="13630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 203"/>
          <p:cNvCxnSpPr/>
          <p:nvPr/>
        </p:nvCxnSpPr>
        <p:spPr>
          <a:xfrm>
            <a:off x="1305096" y="1039231"/>
            <a:ext cx="29467" cy="12591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 204"/>
          <p:cNvCxnSpPr/>
          <p:nvPr/>
        </p:nvCxnSpPr>
        <p:spPr>
          <a:xfrm>
            <a:off x="1334563" y="1051822"/>
            <a:ext cx="29467" cy="11942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5"/>
          <p:cNvCxnSpPr/>
          <p:nvPr/>
        </p:nvCxnSpPr>
        <p:spPr>
          <a:xfrm>
            <a:off x="1364030" y="1063764"/>
            <a:ext cx="29467" cy="11163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6"/>
          <p:cNvCxnSpPr/>
          <p:nvPr/>
        </p:nvCxnSpPr>
        <p:spPr>
          <a:xfrm>
            <a:off x="1393497" y="1074927"/>
            <a:ext cx="29467" cy="10385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Connector 207"/>
          <p:cNvCxnSpPr/>
          <p:nvPr/>
        </p:nvCxnSpPr>
        <p:spPr>
          <a:xfrm>
            <a:off x="1422964" y="1085312"/>
            <a:ext cx="29467" cy="9995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>
            <a:off x="1452431" y="1095307"/>
            <a:ext cx="29467" cy="9346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/>
          <p:nvPr/>
        </p:nvCxnSpPr>
        <p:spPr>
          <a:xfrm>
            <a:off x="1481898" y="1104653"/>
            <a:ext cx="29466" cy="8827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/>
          <p:nvPr/>
        </p:nvCxnSpPr>
        <p:spPr>
          <a:xfrm>
            <a:off x="1511364" y="1113480"/>
            <a:ext cx="29467" cy="8048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/>
          <p:nvPr/>
        </p:nvCxnSpPr>
        <p:spPr>
          <a:xfrm>
            <a:off x="1540831" y="1121528"/>
            <a:ext cx="29467" cy="7529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/>
          <p:nvPr/>
        </p:nvCxnSpPr>
        <p:spPr>
          <a:xfrm>
            <a:off x="1570298" y="1129057"/>
            <a:ext cx="29467" cy="6749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/>
          <p:nvPr/>
        </p:nvCxnSpPr>
        <p:spPr>
          <a:xfrm>
            <a:off x="1599765" y="1135806"/>
            <a:ext cx="29467" cy="6231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 214"/>
          <p:cNvCxnSpPr/>
          <p:nvPr/>
        </p:nvCxnSpPr>
        <p:spPr>
          <a:xfrm>
            <a:off x="1629232" y="1142037"/>
            <a:ext cx="29467" cy="5841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215"/>
          <p:cNvCxnSpPr/>
          <p:nvPr/>
        </p:nvCxnSpPr>
        <p:spPr>
          <a:xfrm>
            <a:off x="1658699" y="1147878"/>
            <a:ext cx="29466" cy="5323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/>
          <p:nvPr/>
        </p:nvCxnSpPr>
        <p:spPr>
          <a:xfrm>
            <a:off x="1688165" y="1153201"/>
            <a:ext cx="29467" cy="4932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/>
          <p:nvPr/>
        </p:nvCxnSpPr>
        <p:spPr>
          <a:xfrm>
            <a:off x="1717632" y="1158133"/>
            <a:ext cx="29467" cy="4284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/>
          <p:nvPr/>
        </p:nvCxnSpPr>
        <p:spPr>
          <a:xfrm>
            <a:off x="1747099" y="1162417"/>
            <a:ext cx="29467" cy="4154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/>
          <p:nvPr/>
        </p:nvCxnSpPr>
        <p:spPr>
          <a:xfrm>
            <a:off x="1776566" y="1166571"/>
            <a:ext cx="29467" cy="3634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 220"/>
          <p:cNvCxnSpPr/>
          <p:nvPr/>
        </p:nvCxnSpPr>
        <p:spPr>
          <a:xfrm>
            <a:off x="1806033" y="1170205"/>
            <a:ext cx="29467" cy="3116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1"/>
          <p:cNvCxnSpPr/>
          <p:nvPr/>
        </p:nvCxnSpPr>
        <p:spPr>
          <a:xfrm>
            <a:off x="1835500" y="1173321"/>
            <a:ext cx="29467" cy="2595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 222"/>
          <p:cNvCxnSpPr/>
          <p:nvPr/>
        </p:nvCxnSpPr>
        <p:spPr>
          <a:xfrm>
            <a:off x="1864967" y="1175916"/>
            <a:ext cx="29466" cy="1948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 223"/>
          <p:cNvCxnSpPr/>
          <p:nvPr/>
        </p:nvCxnSpPr>
        <p:spPr>
          <a:xfrm>
            <a:off x="1894433" y="1177864"/>
            <a:ext cx="29467" cy="3894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Connector 224"/>
          <p:cNvCxnSpPr/>
          <p:nvPr/>
        </p:nvCxnSpPr>
        <p:spPr>
          <a:xfrm>
            <a:off x="1923900" y="1181758"/>
            <a:ext cx="29467" cy="649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Connector 225"/>
          <p:cNvCxnSpPr/>
          <p:nvPr/>
        </p:nvCxnSpPr>
        <p:spPr>
          <a:xfrm>
            <a:off x="1953367" y="1182407"/>
            <a:ext cx="29467" cy="1817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Connector 226"/>
          <p:cNvCxnSpPr/>
          <p:nvPr/>
        </p:nvCxnSpPr>
        <p:spPr>
          <a:xfrm>
            <a:off x="1982834" y="1184224"/>
            <a:ext cx="29467" cy="1558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Connector 227"/>
          <p:cNvCxnSpPr/>
          <p:nvPr/>
        </p:nvCxnSpPr>
        <p:spPr>
          <a:xfrm>
            <a:off x="2012301" y="1185782"/>
            <a:ext cx="29467" cy="1687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 228"/>
          <p:cNvCxnSpPr/>
          <p:nvPr/>
        </p:nvCxnSpPr>
        <p:spPr>
          <a:xfrm>
            <a:off x="2041768" y="1187469"/>
            <a:ext cx="29467" cy="1169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 229"/>
          <p:cNvCxnSpPr/>
          <p:nvPr/>
        </p:nvCxnSpPr>
        <p:spPr>
          <a:xfrm>
            <a:off x="2071235" y="1188638"/>
            <a:ext cx="29467" cy="0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>
            <a:off x="2100702" y="1188638"/>
            <a:ext cx="29466" cy="1038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Connector 231"/>
          <p:cNvCxnSpPr/>
          <p:nvPr/>
        </p:nvCxnSpPr>
        <p:spPr>
          <a:xfrm>
            <a:off x="2130168" y="1189676"/>
            <a:ext cx="29468" cy="389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Connector 232"/>
          <p:cNvCxnSpPr/>
          <p:nvPr/>
        </p:nvCxnSpPr>
        <p:spPr>
          <a:xfrm>
            <a:off x="2159636" y="1190065"/>
            <a:ext cx="29466" cy="0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Connector 233"/>
          <p:cNvCxnSpPr/>
          <p:nvPr/>
        </p:nvCxnSpPr>
        <p:spPr>
          <a:xfrm>
            <a:off x="2189102" y="1190065"/>
            <a:ext cx="29467" cy="0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 flipV="1">
            <a:off x="2218569" y="1188767"/>
            <a:ext cx="29467" cy="1298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Connector 235"/>
          <p:cNvCxnSpPr/>
          <p:nvPr/>
        </p:nvCxnSpPr>
        <p:spPr>
          <a:xfrm flipV="1">
            <a:off x="2248036" y="1188638"/>
            <a:ext cx="29467" cy="129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 236"/>
          <p:cNvCxnSpPr/>
          <p:nvPr/>
        </p:nvCxnSpPr>
        <p:spPr>
          <a:xfrm flipV="1">
            <a:off x="2277503" y="1187859"/>
            <a:ext cx="29467" cy="779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 237"/>
          <p:cNvCxnSpPr/>
          <p:nvPr/>
        </p:nvCxnSpPr>
        <p:spPr>
          <a:xfrm flipV="1">
            <a:off x="2306970" y="1186301"/>
            <a:ext cx="29466" cy="1558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Connector 238"/>
          <p:cNvCxnSpPr/>
          <p:nvPr/>
        </p:nvCxnSpPr>
        <p:spPr>
          <a:xfrm flipV="1">
            <a:off x="2336436" y="1185393"/>
            <a:ext cx="29467" cy="908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Connector 239"/>
          <p:cNvCxnSpPr/>
          <p:nvPr/>
        </p:nvCxnSpPr>
        <p:spPr>
          <a:xfrm flipV="1">
            <a:off x="2365903" y="1183445"/>
            <a:ext cx="29467" cy="1948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Connector 240"/>
          <p:cNvCxnSpPr/>
          <p:nvPr/>
        </p:nvCxnSpPr>
        <p:spPr>
          <a:xfrm flipV="1">
            <a:off x="2395370" y="1182017"/>
            <a:ext cx="29467" cy="1428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Connector 241"/>
          <p:cNvCxnSpPr/>
          <p:nvPr/>
        </p:nvCxnSpPr>
        <p:spPr>
          <a:xfrm flipV="1">
            <a:off x="2424837" y="1179940"/>
            <a:ext cx="29467" cy="2077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Connector 242"/>
          <p:cNvCxnSpPr/>
          <p:nvPr/>
        </p:nvCxnSpPr>
        <p:spPr>
          <a:xfrm flipV="1">
            <a:off x="2454304" y="1177734"/>
            <a:ext cx="29467" cy="2206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Connector 243"/>
          <p:cNvCxnSpPr/>
          <p:nvPr/>
        </p:nvCxnSpPr>
        <p:spPr>
          <a:xfrm flipV="1">
            <a:off x="2483771" y="1175397"/>
            <a:ext cx="29467" cy="2337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5" name="Connector 244"/>
          <p:cNvCxnSpPr/>
          <p:nvPr/>
        </p:nvCxnSpPr>
        <p:spPr>
          <a:xfrm flipV="1">
            <a:off x="2513238" y="1173061"/>
            <a:ext cx="29466" cy="2336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Connector 245"/>
          <p:cNvCxnSpPr/>
          <p:nvPr/>
        </p:nvCxnSpPr>
        <p:spPr>
          <a:xfrm flipV="1">
            <a:off x="2542704" y="1170205"/>
            <a:ext cx="29467" cy="2856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Connector 246"/>
          <p:cNvCxnSpPr/>
          <p:nvPr/>
        </p:nvCxnSpPr>
        <p:spPr>
          <a:xfrm flipV="1">
            <a:off x="2572171" y="1167505"/>
            <a:ext cx="28128" cy="2700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8" name="Connector 247"/>
          <p:cNvCxnSpPr/>
          <p:nvPr/>
        </p:nvCxnSpPr>
        <p:spPr>
          <a:xfrm>
            <a:off x="774693" y="686418"/>
            <a:ext cx="28797" cy="24671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Connector 248"/>
          <p:cNvCxnSpPr/>
          <p:nvPr/>
        </p:nvCxnSpPr>
        <p:spPr>
          <a:xfrm>
            <a:off x="803490" y="711089"/>
            <a:ext cx="24658" cy="20922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Connector 249"/>
          <p:cNvCxnSpPr/>
          <p:nvPr/>
        </p:nvCxnSpPr>
        <p:spPr>
          <a:xfrm>
            <a:off x="828148" y="732011"/>
            <a:ext cx="21264" cy="18882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Connector 250"/>
          <p:cNvCxnSpPr/>
          <p:nvPr/>
        </p:nvCxnSpPr>
        <p:spPr>
          <a:xfrm>
            <a:off x="849412" y="750893"/>
            <a:ext cx="32433" cy="27082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Connector 251"/>
          <p:cNvCxnSpPr/>
          <p:nvPr/>
        </p:nvCxnSpPr>
        <p:spPr>
          <a:xfrm>
            <a:off x="881845" y="777975"/>
            <a:ext cx="29467" cy="24620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Connector 252"/>
          <p:cNvCxnSpPr/>
          <p:nvPr/>
        </p:nvCxnSpPr>
        <p:spPr>
          <a:xfrm>
            <a:off x="911312" y="802595"/>
            <a:ext cx="29467" cy="26090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Connector 253"/>
          <p:cNvCxnSpPr/>
          <p:nvPr/>
        </p:nvCxnSpPr>
        <p:spPr>
          <a:xfrm>
            <a:off x="940779" y="828685"/>
            <a:ext cx="29467" cy="24274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Connector 254"/>
          <p:cNvCxnSpPr/>
          <p:nvPr/>
        </p:nvCxnSpPr>
        <p:spPr>
          <a:xfrm>
            <a:off x="970246" y="852959"/>
            <a:ext cx="27433" cy="21907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Connector 255"/>
          <p:cNvCxnSpPr/>
          <p:nvPr/>
        </p:nvCxnSpPr>
        <p:spPr>
          <a:xfrm>
            <a:off x="997679" y="874866"/>
            <a:ext cx="27841" cy="20391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Connector 256"/>
          <p:cNvCxnSpPr/>
          <p:nvPr/>
        </p:nvCxnSpPr>
        <p:spPr>
          <a:xfrm>
            <a:off x="1025520" y="895257"/>
            <a:ext cx="31093" cy="21665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8" name="Connector 257"/>
          <p:cNvCxnSpPr/>
          <p:nvPr/>
        </p:nvCxnSpPr>
        <p:spPr>
          <a:xfrm>
            <a:off x="1056613" y="916922"/>
            <a:ext cx="27840" cy="19219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Connector 258"/>
          <p:cNvCxnSpPr/>
          <p:nvPr/>
        </p:nvCxnSpPr>
        <p:spPr>
          <a:xfrm>
            <a:off x="1084453" y="936141"/>
            <a:ext cx="29874" cy="20223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Connector 259"/>
          <p:cNvCxnSpPr/>
          <p:nvPr/>
        </p:nvCxnSpPr>
        <p:spPr>
          <a:xfrm>
            <a:off x="1114327" y="956364"/>
            <a:ext cx="29060" cy="18831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Connector 260"/>
          <p:cNvCxnSpPr/>
          <p:nvPr/>
        </p:nvCxnSpPr>
        <p:spPr>
          <a:xfrm>
            <a:off x="1143387" y="975195"/>
            <a:ext cx="31094" cy="19445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2" name="Connector 261"/>
          <p:cNvCxnSpPr/>
          <p:nvPr/>
        </p:nvCxnSpPr>
        <p:spPr>
          <a:xfrm>
            <a:off x="1174481" y="994640"/>
            <a:ext cx="29873" cy="17944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Connector 262"/>
          <p:cNvCxnSpPr/>
          <p:nvPr/>
        </p:nvCxnSpPr>
        <p:spPr>
          <a:xfrm>
            <a:off x="1204354" y="1012584"/>
            <a:ext cx="31093" cy="18404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Connector 263"/>
          <p:cNvCxnSpPr/>
          <p:nvPr/>
        </p:nvCxnSpPr>
        <p:spPr>
          <a:xfrm>
            <a:off x="1235447" y="1030988"/>
            <a:ext cx="29467" cy="17329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 264"/>
          <p:cNvCxnSpPr/>
          <p:nvPr/>
        </p:nvCxnSpPr>
        <p:spPr>
          <a:xfrm>
            <a:off x="1264914" y="1048317"/>
            <a:ext cx="29467" cy="16096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Connector 265"/>
          <p:cNvCxnSpPr/>
          <p:nvPr/>
        </p:nvCxnSpPr>
        <p:spPr>
          <a:xfrm>
            <a:off x="1294381" y="1064413"/>
            <a:ext cx="29467" cy="15577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Connector 266"/>
          <p:cNvCxnSpPr/>
          <p:nvPr/>
        </p:nvCxnSpPr>
        <p:spPr>
          <a:xfrm>
            <a:off x="1323848" y="1079990"/>
            <a:ext cx="29467" cy="14538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Connector 267"/>
          <p:cNvCxnSpPr/>
          <p:nvPr/>
        </p:nvCxnSpPr>
        <p:spPr>
          <a:xfrm>
            <a:off x="1353315" y="1094528"/>
            <a:ext cx="29467" cy="14408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Connector 268"/>
          <p:cNvCxnSpPr/>
          <p:nvPr/>
        </p:nvCxnSpPr>
        <p:spPr>
          <a:xfrm>
            <a:off x="1382782" y="1108936"/>
            <a:ext cx="29467" cy="13500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Connector 269"/>
          <p:cNvCxnSpPr/>
          <p:nvPr/>
        </p:nvCxnSpPr>
        <p:spPr>
          <a:xfrm>
            <a:off x="1412249" y="1122436"/>
            <a:ext cx="29466" cy="13370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 270"/>
          <p:cNvCxnSpPr/>
          <p:nvPr/>
        </p:nvCxnSpPr>
        <p:spPr>
          <a:xfrm>
            <a:off x="1441715" y="1135806"/>
            <a:ext cx="29467" cy="12592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Connector 271"/>
          <p:cNvCxnSpPr/>
          <p:nvPr/>
        </p:nvCxnSpPr>
        <p:spPr>
          <a:xfrm>
            <a:off x="1471182" y="1148398"/>
            <a:ext cx="29467" cy="12201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Connector 272"/>
          <p:cNvCxnSpPr/>
          <p:nvPr/>
        </p:nvCxnSpPr>
        <p:spPr>
          <a:xfrm>
            <a:off x="1500649" y="1160599"/>
            <a:ext cx="29467" cy="11294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Connector 273"/>
          <p:cNvCxnSpPr/>
          <p:nvPr/>
        </p:nvCxnSpPr>
        <p:spPr>
          <a:xfrm>
            <a:off x="1530116" y="1171893"/>
            <a:ext cx="29467" cy="10514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Connector 274"/>
          <p:cNvCxnSpPr/>
          <p:nvPr/>
        </p:nvCxnSpPr>
        <p:spPr>
          <a:xfrm>
            <a:off x="1559583" y="1182407"/>
            <a:ext cx="29467" cy="10125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 275"/>
          <p:cNvCxnSpPr/>
          <p:nvPr/>
        </p:nvCxnSpPr>
        <p:spPr>
          <a:xfrm>
            <a:off x="1589050" y="1192532"/>
            <a:ext cx="29467" cy="8956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Connector 276"/>
          <p:cNvCxnSpPr/>
          <p:nvPr/>
        </p:nvCxnSpPr>
        <p:spPr>
          <a:xfrm>
            <a:off x="1618517" y="1201488"/>
            <a:ext cx="29467" cy="8178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Connector 277"/>
          <p:cNvCxnSpPr/>
          <p:nvPr/>
        </p:nvCxnSpPr>
        <p:spPr>
          <a:xfrm>
            <a:off x="1647984" y="1209666"/>
            <a:ext cx="29466" cy="7529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Connector 278"/>
          <p:cNvCxnSpPr/>
          <p:nvPr/>
        </p:nvCxnSpPr>
        <p:spPr>
          <a:xfrm>
            <a:off x="1677450" y="1217195"/>
            <a:ext cx="29467" cy="6750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Connector 279"/>
          <p:cNvCxnSpPr/>
          <p:nvPr/>
        </p:nvCxnSpPr>
        <p:spPr>
          <a:xfrm>
            <a:off x="1706917" y="1223945"/>
            <a:ext cx="29467" cy="5971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Connector 280"/>
          <p:cNvCxnSpPr/>
          <p:nvPr/>
        </p:nvCxnSpPr>
        <p:spPr>
          <a:xfrm>
            <a:off x="1736384" y="1229916"/>
            <a:ext cx="29467" cy="5192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2" name="Connector 281"/>
          <p:cNvCxnSpPr/>
          <p:nvPr/>
        </p:nvCxnSpPr>
        <p:spPr>
          <a:xfrm>
            <a:off x="1765851" y="1235108"/>
            <a:ext cx="29467" cy="4543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3" name="Connector 282"/>
          <p:cNvCxnSpPr/>
          <p:nvPr/>
        </p:nvCxnSpPr>
        <p:spPr>
          <a:xfrm>
            <a:off x="1795318" y="1239651"/>
            <a:ext cx="29467" cy="4025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Connector 283"/>
          <p:cNvCxnSpPr/>
          <p:nvPr/>
        </p:nvCxnSpPr>
        <p:spPr>
          <a:xfrm>
            <a:off x="1824785" y="1243676"/>
            <a:ext cx="29466" cy="4283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5" name="Connector 284"/>
          <p:cNvCxnSpPr/>
          <p:nvPr/>
        </p:nvCxnSpPr>
        <p:spPr>
          <a:xfrm>
            <a:off x="1854251" y="1247959"/>
            <a:ext cx="29467" cy="5192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6" name="Connector 285"/>
          <p:cNvCxnSpPr/>
          <p:nvPr/>
        </p:nvCxnSpPr>
        <p:spPr>
          <a:xfrm>
            <a:off x="1883718" y="1253151"/>
            <a:ext cx="29467" cy="3245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Connector 286"/>
          <p:cNvCxnSpPr/>
          <p:nvPr/>
        </p:nvCxnSpPr>
        <p:spPr>
          <a:xfrm>
            <a:off x="1913185" y="1256396"/>
            <a:ext cx="29467" cy="4024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8" name="Connector 287"/>
          <p:cNvCxnSpPr/>
          <p:nvPr/>
        </p:nvCxnSpPr>
        <p:spPr>
          <a:xfrm>
            <a:off x="1942652" y="1260420"/>
            <a:ext cx="29467" cy="3765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9" name="Connector 288"/>
          <p:cNvCxnSpPr/>
          <p:nvPr/>
        </p:nvCxnSpPr>
        <p:spPr>
          <a:xfrm>
            <a:off x="1972119" y="1264185"/>
            <a:ext cx="29467" cy="4024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Connector 289"/>
          <p:cNvCxnSpPr/>
          <p:nvPr/>
        </p:nvCxnSpPr>
        <p:spPr>
          <a:xfrm>
            <a:off x="2001586" y="1268209"/>
            <a:ext cx="29467" cy="4024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Connector 290"/>
          <p:cNvCxnSpPr/>
          <p:nvPr/>
        </p:nvCxnSpPr>
        <p:spPr>
          <a:xfrm>
            <a:off x="2031053" y="1272233"/>
            <a:ext cx="29466" cy="3634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Connector 291"/>
          <p:cNvCxnSpPr/>
          <p:nvPr/>
        </p:nvCxnSpPr>
        <p:spPr>
          <a:xfrm>
            <a:off x="2060519" y="1275867"/>
            <a:ext cx="29467" cy="2986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Connector 292"/>
          <p:cNvCxnSpPr/>
          <p:nvPr/>
        </p:nvCxnSpPr>
        <p:spPr>
          <a:xfrm>
            <a:off x="2089986" y="1278853"/>
            <a:ext cx="29467" cy="2986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nector 293"/>
          <p:cNvCxnSpPr/>
          <p:nvPr/>
        </p:nvCxnSpPr>
        <p:spPr>
          <a:xfrm>
            <a:off x="2119453" y="1281839"/>
            <a:ext cx="29467" cy="2726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nector 294"/>
          <p:cNvCxnSpPr/>
          <p:nvPr/>
        </p:nvCxnSpPr>
        <p:spPr>
          <a:xfrm>
            <a:off x="2148920" y="1284565"/>
            <a:ext cx="29467" cy="2466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Connector 295"/>
          <p:cNvCxnSpPr/>
          <p:nvPr/>
        </p:nvCxnSpPr>
        <p:spPr>
          <a:xfrm>
            <a:off x="2178387" y="1287031"/>
            <a:ext cx="29467" cy="2661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Connector 296"/>
          <p:cNvCxnSpPr/>
          <p:nvPr/>
        </p:nvCxnSpPr>
        <p:spPr>
          <a:xfrm>
            <a:off x="2207854" y="1289692"/>
            <a:ext cx="29467" cy="1882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Connector 297"/>
          <p:cNvCxnSpPr/>
          <p:nvPr/>
        </p:nvCxnSpPr>
        <p:spPr>
          <a:xfrm>
            <a:off x="2237321" y="1291574"/>
            <a:ext cx="29466" cy="2077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Connector 298"/>
          <p:cNvCxnSpPr/>
          <p:nvPr/>
        </p:nvCxnSpPr>
        <p:spPr>
          <a:xfrm>
            <a:off x="2266787" y="1293651"/>
            <a:ext cx="29467" cy="908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Connector 299"/>
          <p:cNvCxnSpPr/>
          <p:nvPr/>
        </p:nvCxnSpPr>
        <p:spPr>
          <a:xfrm>
            <a:off x="2296254" y="1294559"/>
            <a:ext cx="29467" cy="1168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Connector 300"/>
          <p:cNvCxnSpPr/>
          <p:nvPr/>
        </p:nvCxnSpPr>
        <p:spPr>
          <a:xfrm>
            <a:off x="2325721" y="1295727"/>
            <a:ext cx="29467" cy="1299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301"/>
          <p:cNvCxnSpPr/>
          <p:nvPr/>
        </p:nvCxnSpPr>
        <p:spPr>
          <a:xfrm>
            <a:off x="2355188" y="1297026"/>
            <a:ext cx="29467" cy="129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Connector 302"/>
          <p:cNvCxnSpPr/>
          <p:nvPr/>
        </p:nvCxnSpPr>
        <p:spPr>
          <a:xfrm>
            <a:off x="2384655" y="1297155"/>
            <a:ext cx="29467" cy="0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Connector 303"/>
          <p:cNvCxnSpPr/>
          <p:nvPr/>
        </p:nvCxnSpPr>
        <p:spPr>
          <a:xfrm>
            <a:off x="2414122" y="1297155"/>
            <a:ext cx="29467" cy="0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nector 304"/>
          <p:cNvCxnSpPr/>
          <p:nvPr/>
        </p:nvCxnSpPr>
        <p:spPr>
          <a:xfrm>
            <a:off x="2443589" y="1297155"/>
            <a:ext cx="29467" cy="0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Connector 305"/>
          <p:cNvCxnSpPr/>
          <p:nvPr/>
        </p:nvCxnSpPr>
        <p:spPr>
          <a:xfrm>
            <a:off x="2473056" y="1297155"/>
            <a:ext cx="29467" cy="0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306"/>
          <p:cNvCxnSpPr/>
          <p:nvPr/>
        </p:nvCxnSpPr>
        <p:spPr>
          <a:xfrm flipV="1">
            <a:off x="2502523" y="1296507"/>
            <a:ext cx="29466" cy="648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307"/>
          <p:cNvCxnSpPr/>
          <p:nvPr/>
        </p:nvCxnSpPr>
        <p:spPr>
          <a:xfrm flipV="1">
            <a:off x="2531989" y="1295727"/>
            <a:ext cx="29467" cy="780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308"/>
          <p:cNvCxnSpPr/>
          <p:nvPr/>
        </p:nvCxnSpPr>
        <p:spPr>
          <a:xfrm flipV="1">
            <a:off x="2561456" y="1294429"/>
            <a:ext cx="29467" cy="1298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309"/>
          <p:cNvCxnSpPr/>
          <p:nvPr/>
        </p:nvCxnSpPr>
        <p:spPr>
          <a:xfrm flipV="1">
            <a:off x="2590923" y="1294300"/>
            <a:ext cx="17412" cy="129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Connector 310"/>
          <p:cNvCxnSpPr/>
          <p:nvPr/>
        </p:nvCxnSpPr>
        <p:spPr>
          <a:xfrm>
            <a:off x="782729" y="691091"/>
            <a:ext cx="22483" cy="32794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2" name="Connector 311"/>
          <p:cNvCxnSpPr/>
          <p:nvPr/>
        </p:nvCxnSpPr>
        <p:spPr>
          <a:xfrm>
            <a:off x="805212" y="723885"/>
            <a:ext cx="20378" cy="30151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Connector 312"/>
          <p:cNvCxnSpPr/>
          <p:nvPr/>
        </p:nvCxnSpPr>
        <p:spPr>
          <a:xfrm>
            <a:off x="825590" y="754036"/>
            <a:ext cx="20091" cy="29980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Connector 313"/>
          <p:cNvCxnSpPr/>
          <p:nvPr/>
        </p:nvCxnSpPr>
        <p:spPr>
          <a:xfrm>
            <a:off x="845681" y="784016"/>
            <a:ext cx="22770" cy="33376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Connector 314"/>
          <p:cNvCxnSpPr/>
          <p:nvPr/>
        </p:nvCxnSpPr>
        <p:spPr>
          <a:xfrm>
            <a:off x="868451" y="817392"/>
            <a:ext cx="22770" cy="33019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6" name="Connector 315"/>
          <p:cNvCxnSpPr/>
          <p:nvPr/>
        </p:nvCxnSpPr>
        <p:spPr>
          <a:xfrm>
            <a:off x="891221" y="850411"/>
            <a:ext cx="22770" cy="32663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7" name="Connector 316"/>
          <p:cNvCxnSpPr/>
          <p:nvPr/>
        </p:nvCxnSpPr>
        <p:spPr>
          <a:xfrm>
            <a:off x="913991" y="883074"/>
            <a:ext cx="22770" cy="33198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8" name="Connector 317"/>
          <p:cNvCxnSpPr/>
          <p:nvPr/>
        </p:nvCxnSpPr>
        <p:spPr>
          <a:xfrm>
            <a:off x="936761" y="916272"/>
            <a:ext cx="22770" cy="32484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9" name="Connector 318"/>
          <p:cNvCxnSpPr/>
          <p:nvPr/>
        </p:nvCxnSpPr>
        <p:spPr>
          <a:xfrm>
            <a:off x="959531" y="948756"/>
            <a:ext cx="24109" cy="34269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0" name="Connector 319"/>
          <p:cNvCxnSpPr/>
          <p:nvPr/>
        </p:nvCxnSpPr>
        <p:spPr>
          <a:xfrm>
            <a:off x="983640" y="983025"/>
            <a:ext cx="22769" cy="31234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nector 320"/>
          <p:cNvCxnSpPr/>
          <p:nvPr/>
        </p:nvCxnSpPr>
        <p:spPr>
          <a:xfrm>
            <a:off x="1006409" y="1014259"/>
            <a:ext cx="22771" cy="31433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2" name="Connector 321"/>
          <p:cNvCxnSpPr/>
          <p:nvPr/>
        </p:nvCxnSpPr>
        <p:spPr>
          <a:xfrm>
            <a:off x="1029180" y="1045692"/>
            <a:ext cx="24109" cy="32524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Connector 322"/>
          <p:cNvCxnSpPr/>
          <p:nvPr/>
        </p:nvCxnSpPr>
        <p:spPr>
          <a:xfrm>
            <a:off x="1053289" y="1078216"/>
            <a:ext cx="24109" cy="32682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4" name="Connector 323"/>
          <p:cNvCxnSpPr/>
          <p:nvPr/>
        </p:nvCxnSpPr>
        <p:spPr>
          <a:xfrm>
            <a:off x="1077398" y="1110898"/>
            <a:ext cx="24109" cy="31889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5" name="Connector 324"/>
          <p:cNvCxnSpPr/>
          <p:nvPr/>
        </p:nvCxnSpPr>
        <p:spPr>
          <a:xfrm>
            <a:off x="1101507" y="1142787"/>
            <a:ext cx="24109" cy="31572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Connector 325"/>
          <p:cNvCxnSpPr/>
          <p:nvPr/>
        </p:nvCxnSpPr>
        <p:spPr>
          <a:xfrm>
            <a:off x="1125616" y="1174359"/>
            <a:ext cx="24110" cy="30620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7" name="Connector 326"/>
          <p:cNvCxnSpPr/>
          <p:nvPr/>
        </p:nvCxnSpPr>
        <p:spPr>
          <a:xfrm>
            <a:off x="1149726" y="1204979"/>
            <a:ext cx="24109" cy="30778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8" name="Connector 327"/>
          <p:cNvCxnSpPr/>
          <p:nvPr/>
        </p:nvCxnSpPr>
        <p:spPr>
          <a:xfrm>
            <a:off x="1173835" y="1235757"/>
            <a:ext cx="24109" cy="30303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9" name="Connector 328"/>
          <p:cNvCxnSpPr/>
          <p:nvPr/>
        </p:nvCxnSpPr>
        <p:spPr>
          <a:xfrm>
            <a:off x="1197944" y="1266060"/>
            <a:ext cx="24110" cy="29826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0" name="Connector 329"/>
          <p:cNvCxnSpPr/>
          <p:nvPr/>
        </p:nvCxnSpPr>
        <p:spPr>
          <a:xfrm>
            <a:off x="1222054" y="1295886"/>
            <a:ext cx="24109" cy="29827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1" name="Connector 330"/>
          <p:cNvCxnSpPr/>
          <p:nvPr/>
        </p:nvCxnSpPr>
        <p:spPr>
          <a:xfrm>
            <a:off x="1246163" y="1325713"/>
            <a:ext cx="25448" cy="31127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2" name="Connector 331"/>
          <p:cNvCxnSpPr/>
          <p:nvPr/>
        </p:nvCxnSpPr>
        <p:spPr>
          <a:xfrm>
            <a:off x="1271611" y="1356840"/>
            <a:ext cx="26789" cy="32127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3" name="Connector 332"/>
          <p:cNvCxnSpPr/>
          <p:nvPr/>
        </p:nvCxnSpPr>
        <p:spPr>
          <a:xfrm>
            <a:off x="1298400" y="1388967"/>
            <a:ext cx="26788" cy="31699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4" name="Connector 333"/>
          <p:cNvCxnSpPr/>
          <p:nvPr/>
        </p:nvCxnSpPr>
        <p:spPr>
          <a:xfrm>
            <a:off x="1325188" y="1420666"/>
            <a:ext cx="26788" cy="31128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5" name="Connector 334"/>
          <p:cNvCxnSpPr/>
          <p:nvPr/>
        </p:nvCxnSpPr>
        <p:spPr>
          <a:xfrm>
            <a:off x="1351976" y="1451794"/>
            <a:ext cx="26788" cy="30413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6" name="Connector 335"/>
          <p:cNvCxnSpPr/>
          <p:nvPr/>
        </p:nvCxnSpPr>
        <p:spPr>
          <a:xfrm>
            <a:off x="1378764" y="1482207"/>
            <a:ext cx="26788" cy="30271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7" name="Connector 336"/>
          <p:cNvCxnSpPr/>
          <p:nvPr/>
        </p:nvCxnSpPr>
        <p:spPr>
          <a:xfrm>
            <a:off x="1405552" y="1512478"/>
            <a:ext cx="26788" cy="29557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8" name="Connector 337"/>
          <p:cNvCxnSpPr/>
          <p:nvPr/>
        </p:nvCxnSpPr>
        <p:spPr>
          <a:xfrm>
            <a:off x="1432340" y="1542035"/>
            <a:ext cx="28127" cy="30699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9" name="Connector 338"/>
          <p:cNvCxnSpPr/>
          <p:nvPr/>
        </p:nvCxnSpPr>
        <p:spPr>
          <a:xfrm>
            <a:off x="1460467" y="1572734"/>
            <a:ext cx="29467" cy="30894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Connector 339"/>
          <p:cNvCxnSpPr/>
          <p:nvPr/>
        </p:nvCxnSpPr>
        <p:spPr>
          <a:xfrm>
            <a:off x="1489934" y="1603628"/>
            <a:ext cx="29467" cy="29725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Connector 340"/>
          <p:cNvCxnSpPr/>
          <p:nvPr/>
        </p:nvCxnSpPr>
        <p:spPr>
          <a:xfrm>
            <a:off x="1519401" y="1633353"/>
            <a:ext cx="29467" cy="29985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2" name="Connector 341"/>
          <p:cNvCxnSpPr/>
          <p:nvPr/>
        </p:nvCxnSpPr>
        <p:spPr>
          <a:xfrm>
            <a:off x="1548868" y="1663338"/>
            <a:ext cx="29467" cy="28817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3" name="Connector 342"/>
          <p:cNvCxnSpPr/>
          <p:nvPr/>
        </p:nvCxnSpPr>
        <p:spPr>
          <a:xfrm>
            <a:off x="1578335" y="1692155"/>
            <a:ext cx="29466" cy="28038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4" name="Connector 343"/>
          <p:cNvCxnSpPr/>
          <p:nvPr/>
        </p:nvCxnSpPr>
        <p:spPr>
          <a:xfrm>
            <a:off x="1607801" y="1720193"/>
            <a:ext cx="29467" cy="28039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5" name="Connector 344"/>
          <p:cNvCxnSpPr/>
          <p:nvPr/>
        </p:nvCxnSpPr>
        <p:spPr>
          <a:xfrm>
            <a:off x="1637268" y="1748232"/>
            <a:ext cx="29467" cy="26999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6" name="Connector 345"/>
          <p:cNvCxnSpPr/>
          <p:nvPr/>
        </p:nvCxnSpPr>
        <p:spPr>
          <a:xfrm>
            <a:off x="1666735" y="1775231"/>
            <a:ext cx="29467" cy="26481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7" name="Connector 346"/>
          <p:cNvCxnSpPr/>
          <p:nvPr/>
        </p:nvCxnSpPr>
        <p:spPr>
          <a:xfrm>
            <a:off x="1696202" y="1801712"/>
            <a:ext cx="29467" cy="25831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8" name="Connector 347"/>
          <p:cNvCxnSpPr/>
          <p:nvPr/>
        </p:nvCxnSpPr>
        <p:spPr>
          <a:xfrm>
            <a:off x="1725669" y="1827543"/>
            <a:ext cx="29467" cy="25572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Connector 348"/>
          <p:cNvCxnSpPr/>
          <p:nvPr/>
        </p:nvCxnSpPr>
        <p:spPr>
          <a:xfrm>
            <a:off x="1755136" y="1853115"/>
            <a:ext cx="29467" cy="25182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0" name="Connector 349"/>
          <p:cNvCxnSpPr/>
          <p:nvPr/>
        </p:nvCxnSpPr>
        <p:spPr>
          <a:xfrm>
            <a:off x="1784603" y="1878297"/>
            <a:ext cx="29466" cy="23885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1" name="Connector 350"/>
          <p:cNvCxnSpPr/>
          <p:nvPr/>
        </p:nvCxnSpPr>
        <p:spPr>
          <a:xfrm>
            <a:off x="1814069" y="1902182"/>
            <a:ext cx="29467" cy="22547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2" name="Connector 351"/>
          <p:cNvCxnSpPr/>
          <p:nvPr/>
        </p:nvCxnSpPr>
        <p:spPr>
          <a:xfrm>
            <a:off x="1843536" y="1924729"/>
            <a:ext cx="29467" cy="22625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3" name="Connector 352"/>
          <p:cNvCxnSpPr/>
          <p:nvPr/>
        </p:nvCxnSpPr>
        <p:spPr>
          <a:xfrm>
            <a:off x="1873003" y="1947354"/>
            <a:ext cx="29467" cy="21288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4" name="Connector 353"/>
          <p:cNvCxnSpPr/>
          <p:nvPr/>
        </p:nvCxnSpPr>
        <p:spPr>
          <a:xfrm>
            <a:off x="1902470" y="1968642"/>
            <a:ext cx="29467" cy="21289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5" name="Connector 354"/>
          <p:cNvCxnSpPr/>
          <p:nvPr/>
        </p:nvCxnSpPr>
        <p:spPr>
          <a:xfrm>
            <a:off x="1931937" y="1989931"/>
            <a:ext cx="29467" cy="20509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6" name="Connector 355"/>
          <p:cNvCxnSpPr/>
          <p:nvPr/>
        </p:nvCxnSpPr>
        <p:spPr>
          <a:xfrm>
            <a:off x="1961404" y="2010440"/>
            <a:ext cx="29467" cy="18952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7" name="Connector 356"/>
          <p:cNvCxnSpPr/>
          <p:nvPr/>
        </p:nvCxnSpPr>
        <p:spPr>
          <a:xfrm>
            <a:off x="1990871" y="2029392"/>
            <a:ext cx="29466" cy="18043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8" name="Connector 357"/>
          <p:cNvCxnSpPr/>
          <p:nvPr/>
        </p:nvCxnSpPr>
        <p:spPr>
          <a:xfrm>
            <a:off x="2020337" y="2047435"/>
            <a:ext cx="29467" cy="17394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9" name="Connector 358"/>
          <p:cNvCxnSpPr/>
          <p:nvPr/>
        </p:nvCxnSpPr>
        <p:spPr>
          <a:xfrm>
            <a:off x="2049804" y="2064829"/>
            <a:ext cx="29467" cy="16485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0" name="Connector 359"/>
          <p:cNvCxnSpPr/>
          <p:nvPr/>
        </p:nvCxnSpPr>
        <p:spPr>
          <a:xfrm>
            <a:off x="2079271" y="2081314"/>
            <a:ext cx="29467" cy="15836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1" name="Connector 360"/>
          <p:cNvCxnSpPr/>
          <p:nvPr/>
        </p:nvCxnSpPr>
        <p:spPr>
          <a:xfrm>
            <a:off x="2108738" y="2097150"/>
            <a:ext cx="29467" cy="15317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2" name="Connector 361"/>
          <p:cNvCxnSpPr/>
          <p:nvPr/>
        </p:nvCxnSpPr>
        <p:spPr>
          <a:xfrm>
            <a:off x="2138205" y="2112467"/>
            <a:ext cx="29467" cy="14279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3" name="Connector 362"/>
          <p:cNvCxnSpPr/>
          <p:nvPr/>
        </p:nvCxnSpPr>
        <p:spPr>
          <a:xfrm>
            <a:off x="2167672" y="2126746"/>
            <a:ext cx="29467" cy="13760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4" name="Connector 363"/>
          <p:cNvCxnSpPr/>
          <p:nvPr/>
        </p:nvCxnSpPr>
        <p:spPr>
          <a:xfrm>
            <a:off x="2197139" y="2140506"/>
            <a:ext cx="29466" cy="12591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5" name="Connector 364"/>
          <p:cNvCxnSpPr/>
          <p:nvPr/>
        </p:nvCxnSpPr>
        <p:spPr>
          <a:xfrm>
            <a:off x="2226605" y="2153097"/>
            <a:ext cx="29467" cy="12591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6" name="Connector 365"/>
          <p:cNvCxnSpPr/>
          <p:nvPr/>
        </p:nvCxnSpPr>
        <p:spPr>
          <a:xfrm>
            <a:off x="2256072" y="2165688"/>
            <a:ext cx="29467" cy="7658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7" name="Connector 366"/>
          <p:cNvCxnSpPr/>
          <p:nvPr/>
        </p:nvCxnSpPr>
        <p:spPr>
          <a:xfrm>
            <a:off x="2285539" y="2173346"/>
            <a:ext cx="29467" cy="8438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8" name="Connector 367"/>
          <p:cNvCxnSpPr/>
          <p:nvPr/>
        </p:nvCxnSpPr>
        <p:spPr>
          <a:xfrm>
            <a:off x="2315006" y="2181784"/>
            <a:ext cx="29467" cy="8567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9" name="Connector 368"/>
          <p:cNvCxnSpPr/>
          <p:nvPr/>
        </p:nvCxnSpPr>
        <p:spPr>
          <a:xfrm>
            <a:off x="2344473" y="2190351"/>
            <a:ext cx="29467" cy="8567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0" name="Connector 369"/>
          <p:cNvCxnSpPr/>
          <p:nvPr/>
        </p:nvCxnSpPr>
        <p:spPr>
          <a:xfrm>
            <a:off x="2373940" y="2198918"/>
            <a:ext cx="29466" cy="8567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1" name="Connector 370"/>
          <p:cNvCxnSpPr/>
          <p:nvPr/>
        </p:nvCxnSpPr>
        <p:spPr>
          <a:xfrm>
            <a:off x="2403406" y="2207485"/>
            <a:ext cx="29467" cy="9165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2" name="Connector 371"/>
          <p:cNvCxnSpPr/>
          <p:nvPr/>
        </p:nvCxnSpPr>
        <p:spPr>
          <a:xfrm>
            <a:off x="2432873" y="2216650"/>
            <a:ext cx="29467" cy="6174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3" name="Connector 372"/>
          <p:cNvCxnSpPr/>
          <p:nvPr/>
        </p:nvCxnSpPr>
        <p:spPr>
          <a:xfrm>
            <a:off x="2462340" y="2222824"/>
            <a:ext cx="29467" cy="2964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4" name="Connector 373"/>
          <p:cNvCxnSpPr/>
          <p:nvPr/>
        </p:nvCxnSpPr>
        <p:spPr>
          <a:xfrm>
            <a:off x="2491807" y="2225788"/>
            <a:ext cx="25449" cy="1801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5" name="Rectangle 374"/>
          <p:cNvSpPr/>
          <p:nvPr/>
        </p:nvSpPr>
        <p:spPr>
          <a:xfrm>
            <a:off x="3302796" y="1230810"/>
            <a:ext cx="54864" cy="54864"/>
          </a:xfrm>
          <a:prstGeom prst="rect">
            <a:avLst/>
          </a:prstGeom>
          <a:noFill/>
          <a:ln w="3657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Rectangle 375"/>
          <p:cNvSpPr/>
          <p:nvPr/>
        </p:nvSpPr>
        <p:spPr>
          <a:xfrm>
            <a:off x="3302796" y="1855265"/>
            <a:ext cx="54864" cy="54864"/>
          </a:xfrm>
          <a:prstGeom prst="rect">
            <a:avLst/>
          </a:prstGeom>
          <a:noFill/>
          <a:ln w="3657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Rectangle 376"/>
          <p:cNvSpPr/>
          <p:nvPr/>
        </p:nvSpPr>
        <p:spPr>
          <a:xfrm>
            <a:off x="3655080" y="1062730"/>
            <a:ext cx="182882" cy="182882"/>
          </a:xfrm>
          <a:prstGeom prst="rect">
            <a:avLst/>
          </a:prstGeom>
          <a:noFill/>
          <a:ln w="3657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Rectangle 377"/>
          <p:cNvSpPr/>
          <p:nvPr/>
        </p:nvSpPr>
        <p:spPr>
          <a:xfrm>
            <a:off x="3655080" y="1270871"/>
            <a:ext cx="182882" cy="182882"/>
          </a:xfrm>
          <a:prstGeom prst="rect">
            <a:avLst/>
          </a:prstGeom>
          <a:noFill/>
          <a:ln w="3657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Rectangle 378"/>
          <p:cNvSpPr/>
          <p:nvPr/>
        </p:nvSpPr>
        <p:spPr>
          <a:xfrm>
            <a:off x="3655080" y="1687219"/>
            <a:ext cx="182882" cy="182882"/>
          </a:xfrm>
          <a:prstGeom prst="rect">
            <a:avLst/>
          </a:prstGeom>
          <a:noFill/>
          <a:ln w="3657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Rectangle 379"/>
          <p:cNvSpPr/>
          <p:nvPr/>
        </p:nvSpPr>
        <p:spPr>
          <a:xfrm>
            <a:off x="3655080" y="1895360"/>
            <a:ext cx="182882" cy="182882"/>
          </a:xfrm>
          <a:prstGeom prst="rect">
            <a:avLst/>
          </a:prstGeom>
          <a:noFill/>
          <a:ln w="3657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Freeform 380"/>
          <p:cNvSpPr/>
          <p:nvPr/>
        </p:nvSpPr>
        <p:spPr>
          <a:xfrm>
            <a:off x="4178300" y="1066800"/>
            <a:ext cx="177800" cy="177800"/>
          </a:xfrm>
          <a:custGeom>
            <a:avLst/>
            <a:gdLst/>
            <a:ahLst/>
            <a:cxnLst/>
            <a:rect l="l" t="t" r="r" b="b"/>
            <a:pathLst>
              <a:path w="14" h="14">
                <a:moveTo>
                  <a:pt x="14" y="7"/>
                </a:moveTo>
                <a:lnTo>
                  <a:pt x="14" y="5"/>
                </a:lnTo>
                <a:lnTo>
                  <a:pt x="14" y="4"/>
                </a:lnTo>
                <a:lnTo>
                  <a:pt x="13" y="3"/>
                </a:lnTo>
                <a:lnTo>
                  <a:pt x="12" y="2"/>
                </a:lnTo>
                <a:lnTo>
                  <a:pt x="11" y="1"/>
                </a:lnTo>
                <a:lnTo>
                  <a:pt x="10" y="0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4" y="0"/>
                </a:lnTo>
                <a:lnTo>
                  <a:pt x="3" y="1"/>
                </a:lnTo>
                <a:lnTo>
                  <a:pt x="2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7"/>
                </a:lnTo>
                <a:lnTo>
                  <a:pt x="0" y="8"/>
                </a:lnTo>
                <a:lnTo>
                  <a:pt x="0" y="10"/>
                </a:lnTo>
                <a:lnTo>
                  <a:pt x="1" y="11"/>
                </a:lnTo>
                <a:lnTo>
                  <a:pt x="2" y="12"/>
                </a:lnTo>
                <a:lnTo>
                  <a:pt x="3" y="13"/>
                </a:lnTo>
                <a:lnTo>
                  <a:pt x="4" y="14"/>
                </a:lnTo>
                <a:lnTo>
                  <a:pt x="6" y="14"/>
                </a:lnTo>
                <a:lnTo>
                  <a:pt x="7" y="14"/>
                </a:lnTo>
                <a:lnTo>
                  <a:pt x="8" y="14"/>
                </a:lnTo>
                <a:lnTo>
                  <a:pt x="10" y="14"/>
                </a:lnTo>
                <a:lnTo>
                  <a:pt x="11" y="13"/>
                </a:lnTo>
                <a:lnTo>
                  <a:pt x="12" y="12"/>
                </a:lnTo>
                <a:lnTo>
                  <a:pt x="13" y="11"/>
                </a:lnTo>
                <a:lnTo>
                  <a:pt x="14" y="10"/>
                </a:lnTo>
                <a:lnTo>
                  <a:pt x="14" y="8"/>
                </a:lnTo>
                <a:lnTo>
                  <a:pt x="14" y="7"/>
                </a:lnTo>
                <a:close/>
              </a:path>
            </a:pathLst>
          </a:custGeom>
          <a:solidFill>
            <a:srgbClr val="000000"/>
          </a:solidFill>
          <a:ln w="3657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Freeform 381"/>
          <p:cNvSpPr/>
          <p:nvPr/>
        </p:nvSpPr>
        <p:spPr>
          <a:xfrm>
            <a:off x="4178300" y="1473200"/>
            <a:ext cx="177800" cy="190500"/>
          </a:xfrm>
          <a:custGeom>
            <a:avLst/>
            <a:gdLst/>
            <a:ahLst/>
            <a:cxnLst/>
            <a:rect l="l" t="t" r="r" b="b"/>
            <a:pathLst>
              <a:path w="14" h="15">
                <a:moveTo>
                  <a:pt x="14" y="8"/>
                </a:moveTo>
                <a:lnTo>
                  <a:pt x="14" y="6"/>
                </a:lnTo>
                <a:lnTo>
                  <a:pt x="14" y="5"/>
                </a:lnTo>
                <a:lnTo>
                  <a:pt x="13" y="4"/>
                </a:lnTo>
                <a:lnTo>
                  <a:pt x="12" y="3"/>
                </a:lnTo>
                <a:lnTo>
                  <a:pt x="11" y="2"/>
                </a:lnTo>
                <a:lnTo>
                  <a:pt x="10" y="1"/>
                </a:lnTo>
                <a:lnTo>
                  <a:pt x="8" y="1"/>
                </a:lnTo>
                <a:lnTo>
                  <a:pt x="7" y="0"/>
                </a:lnTo>
                <a:lnTo>
                  <a:pt x="6" y="1"/>
                </a:lnTo>
                <a:lnTo>
                  <a:pt x="4" y="1"/>
                </a:lnTo>
                <a:lnTo>
                  <a:pt x="3" y="2"/>
                </a:lnTo>
                <a:lnTo>
                  <a:pt x="2" y="3"/>
                </a:lnTo>
                <a:lnTo>
                  <a:pt x="1" y="4"/>
                </a:lnTo>
                <a:lnTo>
                  <a:pt x="0" y="5"/>
                </a:lnTo>
                <a:lnTo>
                  <a:pt x="0" y="6"/>
                </a:lnTo>
                <a:lnTo>
                  <a:pt x="0" y="8"/>
                </a:lnTo>
                <a:lnTo>
                  <a:pt x="0" y="9"/>
                </a:lnTo>
                <a:lnTo>
                  <a:pt x="0" y="10"/>
                </a:lnTo>
                <a:lnTo>
                  <a:pt x="1" y="12"/>
                </a:lnTo>
                <a:lnTo>
                  <a:pt x="2" y="13"/>
                </a:lnTo>
                <a:lnTo>
                  <a:pt x="3" y="14"/>
                </a:lnTo>
                <a:lnTo>
                  <a:pt x="4" y="14"/>
                </a:lnTo>
                <a:lnTo>
                  <a:pt x="6" y="15"/>
                </a:lnTo>
                <a:lnTo>
                  <a:pt x="7" y="15"/>
                </a:lnTo>
                <a:lnTo>
                  <a:pt x="8" y="15"/>
                </a:lnTo>
                <a:lnTo>
                  <a:pt x="10" y="14"/>
                </a:lnTo>
                <a:lnTo>
                  <a:pt x="11" y="14"/>
                </a:lnTo>
                <a:lnTo>
                  <a:pt x="12" y="13"/>
                </a:lnTo>
                <a:lnTo>
                  <a:pt x="13" y="12"/>
                </a:lnTo>
                <a:lnTo>
                  <a:pt x="14" y="10"/>
                </a:lnTo>
                <a:lnTo>
                  <a:pt x="14" y="9"/>
                </a:lnTo>
                <a:lnTo>
                  <a:pt x="14" y="8"/>
                </a:lnTo>
                <a:close/>
              </a:path>
            </a:pathLst>
          </a:custGeom>
          <a:solidFill>
            <a:srgbClr val="000000"/>
          </a:solidFill>
          <a:ln w="3657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Freeform 382"/>
          <p:cNvSpPr/>
          <p:nvPr/>
        </p:nvSpPr>
        <p:spPr>
          <a:xfrm>
            <a:off x="4178300" y="1689100"/>
            <a:ext cx="177800" cy="177800"/>
          </a:xfrm>
          <a:custGeom>
            <a:avLst/>
            <a:gdLst/>
            <a:ahLst/>
            <a:cxnLst/>
            <a:rect l="l" t="t" r="r" b="b"/>
            <a:pathLst>
              <a:path w="14" h="14">
                <a:moveTo>
                  <a:pt x="14" y="7"/>
                </a:moveTo>
                <a:lnTo>
                  <a:pt x="14" y="6"/>
                </a:lnTo>
                <a:lnTo>
                  <a:pt x="14" y="4"/>
                </a:lnTo>
                <a:lnTo>
                  <a:pt x="13" y="3"/>
                </a:lnTo>
                <a:lnTo>
                  <a:pt x="12" y="2"/>
                </a:lnTo>
                <a:lnTo>
                  <a:pt x="11" y="1"/>
                </a:lnTo>
                <a:lnTo>
                  <a:pt x="10" y="0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4" y="0"/>
                </a:lnTo>
                <a:lnTo>
                  <a:pt x="3" y="1"/>
                </a:lnTo>
                <a:lnTo>
                  <a:pt x="2" y="2"/>
                </a:lnTo>
                <a:lnTo>
                  <a:pt x="1" y="3"/>
                </a:lnTo>
                <a:lnTo>
                  <a:pt x="0" y="4"/>
                </a:lnTo>
                <a:lnTo>
                  <a:pt x="0" y="6"/>
                </a:lnTo>
                <a:lnTo>
                  <a:pt x="0" y="7"/>
                </a:lnTo>
                <a:lnTo>
                  <a:pt x="0" y="9"/>
                </a:lnTo>
                <a:lnTo>
                  <a:pt x="0" y="10"/>
                </a:lnTo>
                <a:lnTo>
                  <a:pt x="1" y="11"/>
                </a:lnTo>
                <a:lnTo>
                  <a:pt x="2" y="12"/>
                </a:lnTo>
                <a:lnTo>
                  <a:pt x="3" y="13"/>
                </a:lnTo>
                <a:lnTo>
                  <a:pt x="4" y="14"/>
                </a:lnTo>
                <a:lnTo>
                  <a:pt x="6" y="14"/>
                </a:lnTo>
                <a:lnTo>
                  <a:pt x="7" y="14"/>
                </a:lnTo>
                <a:lnTo>
                  <a:pt x="8" y="14"/>
                </a:lnTo>
                <a:lnTo>
                  <a:pt x="10" y="14"/>
                </a:lnTo>
                <a:lnTo>
                  <a:pt x="11" y="13"/>
                </a:lnTo>
                <a:lnTo>
                  <a:pt x="12" y="12"/>
                </a:lnTo>
                <a:lnTo>
                  <a:pt x="13" y="11"/>
                </a:lnTo>
                <a:lnTo>
                  <a:pt x="14" y="10"/>
                </a:lnTo>
                <a:lnTo>
                  <a:pt x="14" y="9"/>
                </a:lnTo>
                <a:lnTo>
                  <a:pt x="14" y="7"/>
                </a:lnTo>
                <a:close/>
              </a:path>
            </a:pathLst>
          </a:custGeom>
          <a:solidFill>
            <a:srgbClr val="000000"/>
          </a:solidFill>
          <a:ln w="3657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Freeform 383"/>
          <p:cNvSpPr/>
          <p:nvPr/>
        </p:nvSpPr>
        <p:spPr>
          <a:xfrm>
            <a:off x="4178300" y="1892300"/>
            <a:ext cx="177800" cy="190500"/>
          </a:xfrm>
          <a:custGeom>
            <a:avLst/>
            <a:gdLst/>
            <a:ahLst/>
            <a:cxnLst/>
            <a:rect l="l" t="t" r="r" b="b"/>
            <a:pathLst>
              <a:path w="14" h="15">
                <a:moveTo>
                  <a:pt x="14" y="7"/>
                </a:moveTo>
                <a:lnTo>
                  <a:pt x="14" y="6"/>
                </a:lnTo>
                <a:lnTo>
                  <a:pt x="14" y="5"/>
                </a:lnTo>
                <a:lnTo>
                  <a:pt x="13" y="3"/>
                </a:lnTo>
                <a:lnTo>
                  <a:pt x="12" y="2"/>
                </a:lnTo>
                <a:lnTo>
                  <a:pt x="11" y="1"/>
                </a:lnTo>
                <a:lnTo>
                  <a:pt x="10" y="1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4" y="1"/>
                </a:lnTo>
                <a:lnTo>
                  <a:pt x="3" y="1"/>
                </a:lnTo>
                <a:lnTo>
                  <a:pt x="2" y="2"/>
                </a:lnTo>
                <a:lnTo>
                  <a:pt x="1" y="3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0" y="9"/>
                </a:lnTo>
                <a:lnTo>
                  <a:pt x="0" y="10"/>
                </a:lnTo>
                <a:lnTo>
                  <a:pt x="1" y="11"/>
                </a:lnTo>
                <a:lnTo>
                  <a:pt x="2" y="13"/>
                </a:lnTo>
                <a:lnTo>
                  <a:pt x="3" y="13"/>
                </a:lnTo>
                <a:lnTo>
                  <a:pt x="4" y="14"/>
                </a:lnTo>
                <a:lnTo>
                  <a:pt x="6" y="14"/>
                </a:lnTo>
                <a:lnTo>
                  <a:pt x="7" y="15"/>
                </a:lnTo>
                <a:lnTo>
                  <a:pt x="8" y="14"/>
                </a:lnTo>
                <a:lnTo>
                  <a:pt x="10" y="14"/>
                </a:lnTo>
                <a:lnTo>
                  <a:pt x="11" y="13"/>
                </a:lnTo>
                <a:lnTo>
                  <a:pt x="12" y="13"/>
                </a:lnTo>
                <a:lnTo>
                  <a:pt x="13" y="11"/>
                </a:lnTo>
                <a:lnTo>
                  <a:pt x="14" y="10"/>
                </a:lnTo>
                <a:lnTo>
                  <a:pt x="14" y="9"/>
                </a:lnTo>
                <a:lnTo>
                  <a:pt x="14" y="7"/>
                </a:lnTo>
                <a:close/>
              </a:path>
            </a:pathLst>
          </a:custGeom>
          <a:solidFill>
            <a:srgbClr val="000000"/>
          </a:solidFill>
          <a:ln w="3657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Rectangle 384"/>
          <p:cNvSpPr/>
          <p:nvPr/>
        </p:nvSpPr>
        <p:spPr>
          <a:xfrm>
            <a:off x="4695878" y="1337517"/>
            <a:ext cx="182882" cy="182882"/>
          </a:xfrm>
          <a:prstGeom prst="rect">
            <a:avLst/>
          </a:prstGeom>
          <a:noFill/>
          <a:ln w="3657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Rectangle 385"/>
          <p:cNvSpPr/>
          <p:nvPr/>
        </p:nvSpPr>
        <p:spPr>
          <a:xfrm>
            <a:off x="4695878" y="1612315"/>
            <a:ext cx="182882" cy="182882"/>
          </a:xfrm>
          <a:prstGeom prst="rect">
            <a:avLst/>
          </a:prstGeom>
          <a:noFill/>
          <a:ln w="3657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7" name="Connector 386"/>
          <p:cNvCxnSpPr/>
          <p:nvPr/>
        </p:nvCxnSpPr>
        <p:spPr>
          <a:xfrm>
            <a:off x="3174636" y="1258242"/>
            <a:ext cx="108053" cy="0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8" name="Freeform 387"/>
          <p:cNvSpPr/>
          <p:nvPr/>
        </p:nvSpPr>
        <p:spPr>
          <a:xfrm>
            <a:off x="3276600" y="1244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9" name="Connector 388"/>
          <p:cNvCxnSpPr/>
          <p:nvPr/>
        </p:nvCxnSpPr>
        <p:spPr>
          <a:xfrm>
            <a:off x="3181659" y="1882719"/>
            <a:ext cx="101030" cy="10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0" name="Freeform 389"/>
          <p:cNvSpPr/>
          <p:nvPr/>
        </p:nvSpPr>
        <p:spPr>
          <a:xfrm>
            <a:off x="3276600" y="1866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1" name="Connector 390"/>
          <p:cNvCxnSpPr/>
          <p:nvPr/>
        </p:nvCxnSpPr>
        <p:spPr>
          <a:xfrm flipV="1">
            <a:off x="3359502" y="1154166"/>
            <a:ext cx="293777" cy="104076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2" name="Connector 391"/>
          <p:cNvCxnSpPr/>
          <p:nvPr/>
        </p:nvCxnSpPr>
        <p:spPr>
          <a:xfrm>
            <a:off x="3359502" y="1258242"/>
            <a:ext cx="293777" cy="104076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3" name="Connector 392"/>
          <p:cNvCxnSpPr/>
          <p:nvPr/>
        </p:nvCxnSpPr>
        <p:spPr>
          <a:xfrm flipV="1">
            <a:off x="3359502" y="1778687"/>
            <a:ext cx="293777" cy="104043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4" name="Connector 393"/>
          <p:cNvCxnSpPr/>
          <p:nvPr/>
        </p:nvCxnSpPr>
        <p:spPr>
          <a:xfrm>
            <a:off x="3359502" y="1882730"/>
            <a:ext cx="293777" cy="104109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5" name="Connector 394"/>
          <p:cNvCxnSpPr/>
          <p:nvPr/>
        </p:nvCxnSpPr>
        <p:spPr>
          <a:xfrm flipV="1">
            <a:off x="3839829" y="1154161"/>
            <a:ext cx="333863" cy="5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6" name="Connector 395"/>
          <p:cNvCxnSpPr/>
          <p:nvPr/>
        </p:nvCxnSpPr>
        <p:spPr>
          <a:xfrm>
            <a:off x="3839829" y="1154166"/>
            <a:ext cx="333863" cy="208157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7" name="Connector 396"/>
          <p:cNvCxnSpPr/>
          <p:nvPr/>
        </p:nvCxnSpPr>
        <p:spPr>
          <a:xfrm>
            <a:off x="3839829" y="1154166"/>
            <a:ext cx="333863" cy="416353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8" name="Connector 397"/>
          <p:cNvCxnSpPr/>
          <p:nvPr/>
        </p:nvCxnSpPr>
        <p:spPr>
          <a:xfrm>
            <a:off x="3839829" y="1362318"/>
            <a:ext cx="333863" cy="416397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9" name="Connector 398"/>
          <p:cNvCxnSpPr/>
          <p:nvPr/>
        </p:nvCxnSpPr>
        <p:spPr>
          <a:xfrm>
            <a:off x="3839829" y="1362318"/>
            <a:ext cx="333863" cy="624559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Connector 399"/>
          <p:cNvCxnSpPr/>
          <p:nvPr/>
        </p:nvCxnSpPr>
        <p:spPr>
          <a:xfrm flipV="1">
            <a:off x="3839829" y="1154161"/>
            <a:ext cx="333863" cy="624526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1" name="Connector 400"/>
          <p:cNvCxnSpPr/>
          <p:nvPr/>
        </p:nvCxnSpPr>
        <p:spPr>
          <a:xfrm flipV="1">
            <a:off x="3839829" y="1362323"/>
            <a:ext cx="333863" cy="416364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2" name="Connector 401"/>
          <p:cNvCxnSpPr/>
          <p:nvPr/>
        </p:nvCxnSpPr>
        <p:spPr>
          <a:xfrm>
            <a:off x="3839829" y="1778687"/>
            <a:ext cx="333863" cy="28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3" name="Connector 402"/>
          <p:cNvCxnSpPr/>
          <p:nvPr/>
        </p:nvCxnSpPr>
        <p:spPr>
          <a:xfrm flipV="1">
            <a:off x="3839829" y="1570519"/>
            <a:ext cx="333863" cy="416320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4" name="Connector 403"/>
          <p:cNvCxnSpPr/>
          <p:nvPr/>
        </p:nvCxnSpPr>
        <p:spPr>
          <a:xfrm>
            <a:off x="3839829" y="1986839"/>
            <a:ext cx="333863" cy="38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5" name="Connector 404"/>
          <p:cNvCxnSpPr/>
          <p:nvPr/>
        </p:nvCxnSpPr>
        <p:spPr>
          <a:xfrm>
            <a:off x="4360242" y="1154161"/>
            <a:ext cx="333890" cy="549619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6" name="Connector 405"/>
          <p:cNvCxnSpPr/>
          <p:nvPr/>
        </p:nvCxnSpPr>
        <p:spPr>
          <a:xfrm>
            <a:off x="4360242" y="1362323"/>
            <a:ext cx="333890" cy="66644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7" name="Connector 406"/>
          <p:cNvCxnSpPr/>
          <p:nvPr/>
        </p:nvCxnSpPr>
        <p:spPr>
          <a:xfrm flipV="1">
            <a:off x="4360242" y="1428967"/>
            <a:ext cx="333890" cy="141552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8" name="Connector 407"/>
          <p:cNvCxnSpPr/>
          <p:nvPr/>
        </p:nvCxnSpPr>
        <p:spPr>
          <a:xfrm flipV="1">
            <a:off x="4360242" y="1428967"/>
            <a:ext cx="333890" cy="349748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9" name="Connector 408"/>
          <p:cNvCxnSpPr/>
          <p:nvPr/>
        </p:nvCxnSpPr>
        <p:spPr>
          <a:xfrm flipV="1">
            <a:off x="4360242" y="1703780"/>
            <a:ext cx="333890" cy="283097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0" name="Connector 409"/>
          <p:cNvCxnSpPr/>
          <p:nvPr/>
        </p:nvCxnSpPr>
        <p:spPr>
          <a:xfrm>
            <a:off x="4880681" y="1428967"/>
            <a:ext cx="237289" cy="100911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1" name="Connector 410"/>
          <p:cNvCxnSpPr/>
          <p:nvPr/>
        </p:nvCxnSpPr>
        <p:spPr>
          <a:xfrm flipV="1">
            <a:off x="4880681" y="1602901"/>
            <a:ext cx="237289" cy="100879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2" name="Connector 411"/>
          <p:cNvCxnSpPr/>
          <p:nvPr/>
        </p:nvCxnSpPr>
        <p:spPr>
          <a:xfrm>
            <a:off x="5297071" y="1566406"/>
            <a:ext cx="53882" cy="0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3" name="Freeform 412"/>
          <p:cNvSpPr/>
          <p:nvPr/>
        </p:nvSpPr>
        <p:spPr>
          <a:xfrm>
            <a:off x="5334000" y="1549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Rectangle 413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Rectangle 414"/>
          <p:cNvSpPr/>
          <p:nvPr/>
        </p:nvSpPr>
        <p:spPr>
          <a:xfrm>
            <a:off x="2880005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6" name="Picture 41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17" name="Picture 41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18" name="TextBox 41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419" name="TextBox 418"/>
          <p:cNvSpPr txBox="1"/>
          <p:nvPr/>
        </p:nvSpPr>
        <p:spPr>
          <a:xfrm>
            <a:off x="723293" y="2246484"/>
            <a:ext cx="5062102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420" name="TextBox 419"/>
          <p:cNvSpPr txBox="1"/>
          <p:nvPr/>
        </p:nvSpPr>
        <p:spPr>
          <a:xfrm>
            <a:off x="1076102" y="2246484"/>
            <a:ext cx="4709293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Cambria Math"/>
              </a:rPr>
              <a:t>10</a:t>
            </a:r>
          </a:p>
        </p:txBody>
      </p:sp>
      <p:sp>
        <p:nvSpPr>
          <p:cNvPr id="421" name="TextBox 420"/>
          <p:cNvSpPr txBox="1"/>
          <p:nvPr/>
        </p:nvSpPr>
        <p:spPr>
          <a:xfrm>
            <a:off x="1451141" y="2246484"/>
            <a:ext cx="4334254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Cambria Math"/>
              </a:rPr>
              <a:t>20</a:t>
            </a:r>
          </a:p>
        </p:txBody>
      </p:sp>
      <p:sp>
        <p:nvSpPr>
          <p:cNvPr id="422" name="TextBox 421"/>
          <p:cNvSpPr txBox="1"/>
          <p:nvPr/>
        </p:nvSpPr>
        <p:spPr>
          <a:xfrm>
            <a:off x="1826180" y="2246484"/>
            <a:ext cx="3959216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Cambria Math"/>
              </a:rPr>
              <a:t>30</a:t>
            </a:r>
          </a:p>
        </p:txBody>
      </p:sp>
      <p:sp>
        <p:nvSpPr>
          <p:cNvPr id="423" name="TextBox 422"/>
          <p:cNvSpPr txBox="1"/>
          <p:nvPr/>
        </p:nvSpPr>
        <p:spPr>
          <a:xfrm>
            <a:off x="2201218" y="2246484"/>
            <a:ext cx="3584177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Cambria Math"/>
              </a:rPr>
              <a:t>40</a:t>
            </a:r>
          </a:p>
        </p:txBody>
      </p:sp>
      <p:sp>
        <p:nvSpPr>
          <p:cNvPr id="424" name="TextBox 423"/>
          <p:cNvSpPr txBox="1"/>
          <p:nvPr/>
        </p:nvSpPr>
        <p:spPr>
          <a:xfrm>
            <a:off x="2576266" y="2246484"/>
            <a:ext cx="3209129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Cambria Math"/>
              </a:rPr>
              <a:t>50</a:t>
            </a:r>
          </a:p>
        </p:txBody>
      </p:sp>
      <p:sp>
        <p:nvSpPr>
          <p:cNvPr id="425" name="TextBox 424"/>
          <p:cNvSpPr txBox="1"/>
          <p:nvPr/>
        </p:nvSpPr>
        <p:spPr>
          <a:xfrm>
            <a:off x="670292" y="2187825"/>
            <a:ext cx="5115104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426" name="TextBox 425"/>
          <p:cNvSpPr txBox="1"/>
          <p:nvPr/>
        </p:nvSpPr>
        <p:spPr>
          <a:xfrm>
            <a:off x="601102" y="1879341"/>
            <a:ext cx="5184293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Cambria Math"/>
              </a:rPr>
              <a:t>0</a:t>
            </a:r>
            <a:r>
              <a:rPr sz="681" b="0">
                <a:solidFill>
                  <a:srgbClr val="000000"/>
                </a:solidFill>
                <a:latin typeface="Cambria Math"/>
              </a:rPr>
              <a:t>.</a:t>
            </a:r>
            <a:r>
              <a:rPr sz="681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427" name="TextBox 426"/>
          <p:cNvSpPr txBox="1"/>
          <p:nvPr/>
        </p:nvSpPr>
        <p:spPr>
          <a:xfrm>
            <a:off x="601102" y="1570856"/>
            <a:ext cx="5184293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Cambria Math"/>
              </a:rPr>
              <a:t>0</a:t>
            </a:r>
            <a:r>
              <a:rPr sz="681" b="0">
                <a:solidFill>
                  <a:srgbClr val="000000"/>
                </a:solidFill>
                <a:latin typeface="Cambria Math"/>
              </a:rPr>
              <a:t>.</a:t>
            </a:r>
            <a:r>
              <a:rPr sz="681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428" name="TextBox 427"/>
          <p:cNvSpPr txBox="1"/>
          <p:nvPr/>
        </p:nvSpPr>
        <p:spPr>
          <a:xfrm>
            <a:off x="601102" y="1262362"/>
            <a:ext cx="5184293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Cambria Math"/>
              </a:rPr>
              <a:t>0</a:t>
            </a:r>
            <a:r>
              <a:rPr sz="681" b="0">
                <a:solidFill>
                  <a:srgbClr val="000000"/>
                </a:solidFill>
                <a:latin typeface="Cambria Math"/>
              </a:rPr>
              <a:t>.</a:t>
            </a:r>
            <a:r>
              <a:rPr sz="681" b="0">
                <a:solidFill>
                  <a:srgbClr val="000000"/>
                </a:solidFill>
                <a:latin typeface="Cambria Math"/>
              </a:rPr>
              <a:t>6</a:t>
            </a:r>
          </a:p>
        </p:txBody>
      </p:sp>
      <p:sp>
        <p:nvSpPr>
          <p:cNvPr id="429" name="TextBox 428"/>
          <p:cNvSpPr txBox="1"/>
          <p:nvPr/>
        </p:nvSpPr>
        <p:spPr>
          <a:xfrm>
            <a:off x="601102" y="953878"/>
            <a:ext cx="5184293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Cambria Math"/>
              </a:rPr>
              <a:t>0</a:t>
            </a:r>
            <a:r>
              <a:rPr sz="681" b="0">
                <a:solidFill>
                  <a:srgbClr val="000000"/>
                </a:solidFill>
                <a:latin typeface="Cambria Math"/>
              </a:rPr>
              <a:t>.</a:t>
            </a:r>
            <a:r>
              <a:rPr sz="681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430" name="TextBox 429"/>
          <p:cNvSpPr txBox="1"/>
          <p:nvPr/>
        </p:nvSpPr>
        <p:spPr>
          <a:xfrm>
            <a:off x="670292" y="645393"/>
            <a:ext cx="5115104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431" name="TextBox 430"/>
          <p:cNvSpPr txBox="1"/>
          <p:nvPr/>
        </p:nvSpPr>
        <p:spPr>
          <a:xfrm>
            <a:off x="2374683" y="688373"/>
            <a:ext cx="3410712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Josefin Sans"/>
              </a:rPr>
              <a:t>w</a:t>
            </a:r>
            <a:r>
              <a:rPr sz="454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432" name="TextBox 431"/>
          <p:cNvSpPr txBox="1"/>
          <p:nvPr/>
        </p:nvSpPr>
        <p:spPr>
          <a:xfrm>
            <a:off x="2369152" y="2091993"/>
            <a:ext cx="3416243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Josefin Sans"/>
              </a:rPr>
              <a:t>w</a:t>
            </a:r>
            <a:r>
              <a:rPr sz="454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433" name="TextBox 432"/>
          <p:cNvSpPr txBox="1"/>
          <p:nvPr/>
        </p:nvSpPr>
        <p:spPr>
          <a:xfrm>
            <a:off x="2368776" y="1073711"/>
            <a:ext cx="3416619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Josefin Sans"/>
              </a:rPr>
              <a:t>w</a:t>
            </a:r>
            <a:r>
              <a:rPr sz="454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434" name="TextBox 433"/>
          <p:cNvSpPr txBox="1"/>
          <p:nvPr/>
        </p:nvSpPr>
        <p:spPr>
          <a:xfrm>
            <a:off x="2368834" y="1197379"/>
            <a:ext cx="3416561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Josefin Sans"/>
              </a:rPr>
              <a:t>w</a:t>
            </a:r>
            <a:r>
              <a:rPr sz="454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435" name="TextBox 434"/>
          <p:cNvSpPr txBox="1"/>
          <p:nvPr/>
        </p:nvSpPr>
        <p:spPr>
          <a:xfrm>
            <a:off x="2368573" y="965738"/>
            <a:ext cx="3416822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Josefin Sans"/>
              </a:rPr>
              <a:t>w</a:t>
            </a:r>
            <a:r>
              <a:rPr sz="454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436" name="TextBox 435"/>
          <p:cNvSpPr txBox="1"/>
          <p:nvPr/>
        </p:nvSpPr>
        <p:spPr>
          <a:xfrm>
            <a:off x="1567811" y="2398247"/>
            <a:ext cx="4217584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Josefin Sans"/>
              </a:rPr>
              <a:t>Epoch</a:t>
            </a:r>
          </a:p>
        </p:txBody>
      </p:sp>
      <p:sp>
        <p:nvSpPr>
          <p:cNvPr id="437" name="TextBox 436"/>
          <p:cNvSpPr txBox="1"/>
          <p:nvPr/>
        </p:nvSpPr>
        <p:spPr>
          <a:xfrm>
            <a:off x="364039" y="1318440"/>
            <a:ext cx="5421356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Josefin Sans"/>
              </a:rPr>
              <a:t>Weight</a:t>
            </a:r>
          </a:p>
        </p:txBody>
      </p:sp>
      <p:sp>
        <p:nvSpPr>
          <p:cNvPr id="438" name="TextBox 437"/>
          <p:cNvSpPr txBox="1"/>
          <p:nvPr/>
        </p:nvSpPr>
        <p:spPr>
          <a:xfrm>
            <a:off x="3095746" y="1223636"/>
            <a:ext cx="2689649" cy="11338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75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439" name="TextBox 438"/>
          <p:cNvSpPr txBox="1"/>
          <p:nvPr/>
        </p:nvSpPr>
        <p:spPr>
          <a:xfrm>
            <a:off x="3088725" y="1848053"/>
            <a:ext cx="2696671" cy="11338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75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440" name="TextBox 439"/>
          <p:cNvSpPr txBox="1"/>
          <p:nvPr/>
        </p:nvSpPr>
        <p:spPr>
          <a:xfrm>
            <a:off x="3725257" y="1121775"/>
            <a:ext cx="2060138" cy="11338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75" b="0">
                <a:solidFill>
                  <a:srgbClr val="000000"/>
                </a:solidFill>
                <a:latin typeface="Josefin Sans"/>
              </a:rPr>
              <a:t>S</a:t>
            </a:r>
          </a:p>
        </p:txBody>
      </p:sp>
      <p:sp>
        <p:nvSpPr>
          <p:cNvPr id="441" name="TextBox 440"/>
          <p:cNvSpPr txBox="1"/>
          <p:nvPr/>
        </p:nvSpPr>
        <p:spPr>
          <a:xfrm>
            <a:off x="3724450" y="1330269"/>
            <a:ext cx="2060945" cy="11338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75" b="0">
                <a:solidFill>
                  <a:srgbClr val="000000"/>
                </a:solidFill>
                <a:latin typeface="Josefin Sans"/>
              </a:rPr>
              <a:t>L</a:t>
            </a:r>
          </a:p>
        </p:txBody>
      </p:sp>
      <p:sp>
        <p:nvSpPr>
          <p:cNvPr id="442" name="TextBox 441"/>
          <p:cNvSpPr txBox="1"/>
          <p:nvPr/>
        </p:nvSpPr>
        <p:spPr>
          <a:xfrm>
            <a:off x="3725257" y="1746257"/>
            <a:ext cx="2060138" cy="11338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75" b="0">
                <a:solidFill>
                  <a:srgbClr val="000000"/>
                </a:solidFill>
                <a:latin typeface="Josefin Sans"/>
              </a:rPr>
              <a:t>S</a:t>
            </a:r>
          </a:p>
        </p:txBody>
      </p:sp>
      <p:sp>
        <p:nvSpPr>
          <p:cNvPr id="443" name="TextBox 442"/>
          <p:cNvSpPr txBox="1"/>
          <p:nvPr/>
        </p:nvSpPr>
        <p:spPr>
          <a:xfrm>
            <a:off x="3724450" y="1954741"/>
            <a:ext cx="2060945" cy="11338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75" b="0">
                <a:solidFill>
                  <a:srgbClr val="000000"/>
                </a:solidFill>
                <a:latin typeface="Josefin Sans"/>
              </a:rPr>
              <a:t>L</a:t>
            </a:r>
          </a:p>
        </p:txBody>
      </p:sp>
      <p:sp>
        <p:nvSpPr>
          <p:cNvPr id="444" name="TextBox 443"/>
          <p:cNvSpPr txBox="1"/>
          <p:nvPr/>
        </p:nvSpPr>
        <p:spPr>
          <a:xfrm>
            <a:off x="4255368" y="1119563"/>
            <a:ext cx="1530027" cy="11338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75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445" name="TextBox 444"/>
          <p:cNvSpPr txBox="1"/>
          <p:nvPr/>
        </p:nvSpPr>
        <p:spPr>
          <a:xfrm>
            <a:off x="4248346" y="1327708"/>
            <a:ext cx="1537049" cy="11338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75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446" name="TextBox 445"/>
          <p:cNvSpPr txBox="1"/>
          <p:nvPr/>
        </p:nvSpPr>
        <p:spPr>
          <a:xfrm>
            <a:off x="4247869" y="1535541"/>
            <a:ext cx="1537526" cy="11338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75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447" name="TextBox 446"/>
          <p:cNvSpPr txBox="1"/>
          <p:nvPr/>
        </p:nvSpPr>
        <p:spPr>
          <a:xfrm>
            <a:off x="4247943" y="1744072"/>
            <a:ext cx="1537453" cy="11338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75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448" name="TextBox 447"/>
          <p:cNvSpPr txBox="1"/>
          <p:nvPr/>
        </p:nvSpPr>
        <p:spPr>
          <a:xfrm>
            <a:off x="4247612" y="1951878"/>
            <a:ext cx="1537783" cy="11338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75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449" name="TextBox 448"/>
          <p:cNvSpPr txBox="1"/>
          <p:nvPr/>
        </p:nvSpPr>
        <p:spPr>
          <a:xfrm>
            <a:off x="4766048" y="1396564"/>
            <a:ext cx="1019347" cy="11338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75" b="0">
                <a:solidFill>
                  <a:srgbClr val="000000"/>
                </a:solidFill>
                <a:latin typeface="Josefin Sans"/>
              </a:rPr>
              <a:t>S</a:t>
            </a:r>
          </a:p>
        </p:txBody>
      </p:sp>
      <p:sp>
        <p:nvSpPr>
          <p:cNvPr id="450" name="TextBox 449"/>
          <p:cNvSpPr txBox="1"/>
          <p:nvPr/>
        </p:nvSpPr>
        <p:spPr>
          <a:xfrm>
            <a:off x="4765240" y="1671702"/>
            <a:ext cx="1020155" cy="11338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75" b="0">
                <a:solidFill>
                  <a:srgbClr val="000000"/>
                </a:solidFill>
                <a:latin typeface="Josefin Sans"/>
              </a:rPr>
              <a:t>L</a:t>
            </a:r>
          </a:p>
        </p:txBody>
      </p:sp>
      <p:sp>
        <p:nvSpPr>
          <p:cNvPr id="451" name="TextBox 450"/>
          <p:cNvSpPr txBox="1"/>
          <p:nvPr/>
        </p:nvSpPr>
        <p:spPr>
          <a:xfrm>
            <a:off x="5175601" y="1540968"/>
            <a:ext cx="609794" cy="11338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75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452" name="TextBox 451"/>
          <p:cNvSpPr txBox="1"/>
          <p:nvPr/>
        </p:nvSpPr>
        <p:spPr>
          <a:xfrm>
            <a:off x="5395302" y="1515010"/>
            <a:ext cx="390093" cy="11338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75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453" name="TextBox 452"/>
          <p:cNvSpPr txBox="1"/>
          <p:nvPr/>
        </p:nvSpPr>
        <p:spPr>
          <a:xfrm>
            <a:off x="4386434" y="1127948"/>
            <a:ext cx="1398961" cy="8503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32" b="0">
                <a:solidFill>
                  <a:srgbClr val="FFFFFF"/>
                </a:solidFill>
                <a:latin typeface="Josefin Sans"/>
              </a:rPr>
              <a:t>0.99</a:t>
            </a:r>
          </a:p>
        </p:txBody>
      </p:sp>
      <p:sp>
        <p:nvSpPr>
          <p:cNvPr id="454" name="TextBox 453"/>
          <p:cNvSpPr txBox="1"/>
          <p:nvPr/>
        </p:nvSpPr>
        <p:spPr>
          <a:xfrm>
            <a:off x="4386434" y="1127948"/>
            <a:ext cx="1398961" cy="8503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32" b="0">
                <a:solidFill>
                  <a:srgbClr val="000000"/>
                </a:solidFill>
                <a:latin typeface="Josefin Sans"/>
              </a:rPr>
              <a:t>0.99</a:t>
            </a:r>
          </a:p>
        </p:txBody>
      </p:sp>
      <p:sp>
        <p:nvSpPr>
          <p:cNvPr id="455" name="TextBox 454"/>
          <p:cNvSpPr txBox="1"/>
          <p:nvPr/>
        </p:nvSpPr>
        <p:spPr>
          <a:xfrm>
            <a:off x="4386434" y="1336240"/>
            <a:ext cx="1398961" cy="8503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32" b="0">
                <a:solidFill>
                  <a:srgbClr val="FFFFFF"/>
                </a:solidFill>
                <a:latin typeface="Josefin Sans"/>
              </a:rPr>
              <a:t>0</a:t>
            </a:r>
          </a:p>
        </p:txBody>
      </p:sp>
      <p:sp>
        <p:nvSpPr>
          <p:cNvPr id="456" name="TextBox 455"/>
          <p:cNvSpPr txBox="1"/>
          <p:nvPr/>
        </p:nvSpPr>
        <p:spPr>
          <a:xfrm>
            <a:off x="4386434" y="1544432"/>
            <a:ext cx="1398961" cy="8503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32" b="0">
                <a:solidFill>
                  <a:srgbClr val="FFFFFF"/>
                </a:solidFill>
                <a:latin typeface="Josefin Sans"/>
              </a:rPr>
              <a:t>0.72</a:t>
            </a:r>
          </a:p>
        </p:txBody>
      </p:sp>
      <p:sp>
        <p:nvSpPr>
          <p:cNvPr id="457" name="TextBox 456"/>
          <p:cNvSpPr txBox="1"/>
          <p:nvPr/>
        </p:nvSpPr>
        <p:spPr>
          <a:xfrm>
            <a:off x="4386434" y="1544432"/>
            <a:ext cx="1398961" cy="8503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32" b="0">
                <a:solidFill>
                  <a:srgbClr val="000000"/>
                </a:solidFill>
                <a:latin typeface="Josefin Sans"/>
              </a:rPr>
              <a:t>0.72</a:t>
            </a:r>
          </a:p>
        </p:txBody>
      </p:sp>
      <p:sp>
        <p:nvSpPr>
          <p:cNvPr id="458" name="TextBox 457"/>
          <p:cNvSpPr txBox="1"/>
          <p:nvPr/>
        </p:nvSpPr>
        <p:spPr>
          <a:xfrm>
            <a:off x="4386434" y="1752494"/>
            <a:ext cx="1398961" cy="8503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32" b="0">
                <a:solidFill>
                  <a:srgbClr val="FFFFFF"/>
                </a:solidFill>
                <a:latin typeface="Josefin Sans"/>
              </a:rPr>
              <a:t>0.61</a:t>
            </a:r>
          </a:p>
        </p:txBody>
      </p:sp>
      <p:sp>
        <p:nvSpPr>
          <p:cNvPr id="459" name="TextBox 458"/>
          <p:cNvSpPr txBox="1"/>
          <p:nvPr/>
        </p:nvSpPr>
        <p:spPr>
          <a:xfrm>
            <a:off x="4386434" y="1752494"/>
            <a:ext cx="1398961" cy="8503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32" b="0">
                <a:solidFill>
                  <a:srgbClr val="000000"/>
                </a:solidFill>
                <a:latin typeface="Josefin Sans"/>
              </a:rPr>
              <a:t>0.61</a:t>
            </a:r>
          </a:p>
        </p:txBody>
      </p:sp>
      <p:sp>
        <p:nvSpPr>
          <p:cNvPr id="460" name="TextBox 459"/>
          <p:cNvSpPr txBox="1"/>
          <p:nvPr/>
        </p:nvSpPr>
        <p:spPr>
          <a:xfrm>
            <a:off x="4386434" y="1960648"/>
            <a:ext cx="1398961" cy="8503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32" b="0">
                <a:solidFill>
                  <a:srgbClr val="FFFFFF"/>
                </a:solidFill>
                <a:latin typeface="Josefin Sans"/>
              </a:rPr>
              <a:t>0.79</a:t>
            </a:r>
          </a:p>
        </p:txBody>
      </p:sp>
      <p:sp>
        <p:nvSpPr>
          <p:cNvPr id="461" name="TextBox 460"/>
          <p:cNvSpPr txBox="1"/>
          <p:nvPr/>
        </p:nvSpPr>
        <p:spPr>
          <a:xfrm>
            <a:off x="4386434" y="1960648"/>
            <a:ext cx="1398961" cy="8503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32" b="0">
                <a:solidFill>
                  <a:srgbClr val="000000"/>
                </a:solidFill>
                <a:latin typeface="Josefin Sans"/>
              </a:rPr>
              <a:t>0.79</a:t>
            </a:r>
          </a:p>
        </p:txBody>
      </p:sp>
      <p:sp>
        <p:nvSpPr>
          <p:cNvPr id="462" name="TextBox 461"/>
          <p:cNvSpPr txBox="1"/>
          <p:nvPr/>
        </p:nvSpPr>
        <p:spPr>
          <a:xfrm>
            <a:off x="460056" y="2563518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2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found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false.</a:t>
            </a:r>
          </a:p>
        </p:txBody>
      </p:sp>
      <p:sp>
        <p:nvSpPr>
          <p:cNvPr id="463" name="TextBox 462"/>
          <p:cNvSpPr txBox="1"/>
          <p:nvPr/>
        </p:nvSpPr>
        <p:spPr>
          <a:xfrm>
            <a:off x="4901654" y="3150917"/>
            <a:ext cx="88374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64" name="TextBox 463"/>
          <p:cNvSpPr txBox="1"/>
          <p:nvPr/>
        </p:nvSpPr>
        <p:spPr>
          <a:xfrm>
            <a:off x="5623966" y="3150693"/>
            <a:ext cx="16142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2229272" y="2041133"/>
            <a:ext cx="37958" cy="37958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229272" y="2761183"/>
            <a:ext cx="37958" cy="37958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473000" y="1852846"/>
            <a:ext cx="126527" cy="126527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473000" y="2140851"/>
            <a:ext cx="126527" cy="126527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473000" y="2572934"/>
            <a:ext cx="126527" cy="126527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473000" y="2860938"/>
            <a:ext cx="126527" cy="126527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193172" y="2185531"/>
            <a:ext cx="126527" cy="126527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193268" y="2518230"/>
            <a:ext cx="126527" cy="126527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2140604" y="2060112"/>
            <a:ext cx="7475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Freeform 44"/>
          <p:cNvSpPr/>
          <p:nvPr/>
        </p:nvSpPr>
        <p:spPr>
          <a:xfrm>
            <a:off x="2209800" y="20447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2145464" y="2780187"/>
            <a:ext cx="69897" cy="1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2209800" y="27686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 flipV="1">
            <a:off x="2268504" y="1916102"/>
            <a:ext cx="203250" cy="14401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268504" y="2060112"/>
            <a:ext cx="203250" cy="14401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2268504" y="2636227"/>
            <a:ext cx="203250" cy="14397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268504" y="2780200"/>
            <a:ext cx="203250" cy="14404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2600818" y="1916095"/>
            <a:ext cx="230983" cy="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600818" y="1916102"/>
            <a:ext cx="231025" cy="14399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2600818" y="1916102"/>
            <a:ext cx="231067" cy="28800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2600818" y="1916102"/>
            <a:ext cx="231108" cy="43202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600818" y="2204122"/>
            <a:ext cx="231150" cy="28802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600818" y="2204122"/>
            <a:ext cx="231192" cy="43206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2600818" y="2204122"/>
            <a:ext cx="231233" cy="5761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2600818" y="2204122"/>
            <a:ext cx="231275" cy="72014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2600818" y="1916095"/>
            <a:ext cx="230983" cy="72013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2600818" y="2060097"/>
            <a:ext cx="231025" cy="57613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2600818" y="2492149"/>
            <a:ext cx="231150" cy="14407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600818" y="2636182"/>
            <a:ext cx="231192" cy="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2600818" y="2204107"/>
            <a:ext cx="231067" cy="72014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600818" y="2348124"/>
            <a:ext cx="231108" cy="57612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2600818" y="2780222"/>
            <a:ext cx="231233" cy="1440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2600818" y="2924247"/>
            <a:ext cx="231275" cy="2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2960866" y="1916095"/>
            <a:ext cx="231098" cy="33270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2960908" y="2060097"/>
            <a:ext cx="231152" cy="52142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2960949" y="2204107"/>
            <a:ext cx="231015" cy="4469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2960991" y="2348124"/>
            <a:ext cx="231069" cy="23339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2961032" y="2248804"/>
            <a:ext cx="230932" cy="2433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2961074" y="2581521"/>
            <a:ext cx="230986" cy="5466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2961116" y="2248804"/>
            <a:ext cx="230848" cy="53141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2961157" y="2581521"/>
            <a:ext cx="230903" cy="34274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3321029" y="2248804"/>
            <a:ext cx="171830" cy="12785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3321125" y="2453719"/>
            <a:ext cx="171742" cy="1278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3609156" y="2415200"/>
            <a:ext cx="37278" cy="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3644900" y="24003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2880003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2" name="Picture 8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83" name="Picture 8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60056" y="539813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Experts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might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provide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wrong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might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left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out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rules.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60056" y="797927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remove/reduce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dependency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experts,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generic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neuro-fuzzy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7094" y="1013769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learn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training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patterns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7094" y="1185842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automatically.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60056" y="1400187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two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inputs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output,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two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subsets,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neuro-fuzzy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37094" y="1616029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×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×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2 = 8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up.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086031" y="2036170"/>
            <a:ext cx="3699364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081173" y="2756171"/>
            <a:ext cx="3704222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521558" y="1893701"/>
            <a:ext cx="3263837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S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521000" y="2181941"/>
            <a:ext cx="3264395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521558" y="2613779"/>
            <a:ext cx="3263837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S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521000" y="2902018"/>
            <a:ext cx="3264395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L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888309" y="1892164"/>
            <a:ext cx="2897086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883496" y="2036157"/>
            <a:ext cx="2901899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883204" y="2179915"/>
            <a:ext cx="2902191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883299" y="2324161"/>
            <a:ext cx="2902096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883115" y="2467938"/>
            <a:ext cx="2902280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883102" y="2611962"/>
            <a:ext cx="2902293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884486" y="2756234"/>
            <a:ext cx="2900909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883566" y="2900030"/>
            <a:ext cx="2901830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241718" y="2226378"/>
            <a:ext cx="2543677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241255" y="2559314"/>
            <a:ext cx="2544140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L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525119" y="2397588"/>
            <a:ext cx="2260276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677119" y="2379635"/>
            <a:ext cx="2108276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978987" y="1897959"/>
            <a:ext cx="2806408" cy="588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8" b="0">
                <a:solidFill>
                  <a:srgbClr val="FFFFFF"/>
                </a:solidFill>
                <a:latin typeface="Josefin Sans"/>
              </a:rPr>
              <a:t>0.5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978987" y="1897959"/>
            <a:ext cx="2806408" cy="588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8" b="0">
                <a:solidFill>
                  <a:srgbClr val="000000"/>
                </a:solidFill>
                <a:latin typeface="Josefin Sans"/>
              </a:rPr>
              <a:t>0.5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979032" y="2041958"/>
            <a:ext cx="2806363" cy="588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8" b="0">
                <a:solidFill>
                  <a:srgbClr val="FFFFFF"/>
                </a:solidFill>
                <a:latin typeface="Josefin Sans"/>
              </a:rPr>
              <a:t>0.5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2979032" y="2041958"/>
            <a:ext cx="2806363" cy="588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8" b="0">
                <a:solidFill>
                  <a:srgbClr val="000000"/>
                </a:solidFill>
                <a:latin typeface="Josefin Sans"/>
              </a:rPr>
              <a:t>0.5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979070" y="2185970"/>
            <a:ext cx="2806325" cy="588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8" b="0">
                <a:solidFill>
                  <a:srgbClr val="FFFFFF"/>
                </a:solidFill>
                <a:latin typeface="Josefin Sans"/>
              </a:rPr>
              <a:t>0.5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979070" y="2185970"/>
            <a:ext cx="2806325" cy="588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8" b="0">
                <a:solidFill>
                  <a:srgbClr val="000000"/>
                </a:solidFill>
                <a:latin typeface="Josefin Sans"/>
              </a:rPr>
              <a:t>0.5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79114" y="2329982"/>
            <a:ext cx="2806281" cy="588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8" b="0">
                <a:solidFill>
                  <a:srgbClr val="FFFFFF"/>
                </a:solidFill>
                <a:latin typeface="Josefin Sans"/>
              </a:rPr>
              <a:t>0.5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2979114" y="2329982"/>
            <a:ext cx="2806281" cy="588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8" b="0">
                <a:solidFill>
                  <a:srgbClr val="000000"/>
                </a:solidFill>
                <a:latin typeface="Josefin Sans"/>
              </a:rPr>
              <a:t>0.5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979152" y="2474006"/>
            <a:ext cx="2806243" cy="588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8" b="0">
                <a:solidFill>
                  <a:srgbClr val="FFFFFF"/>
                </a:solidFill>
                <a:latin typeface="Josefin Sans"/>
              </a:rPr>
              <a:t>0.5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2979152" y="2474006"/>
            <a:ext cx="2806243" cy="588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8" b="0">
                <a:solidFill>
                  <a:srgbClr val="000000"/>
                </a:solidFill>
                <a:latin typeface="Josefin Sans"/>
              </a:rPr>
              <a:t>0.5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2979197" y="2618037"/>
            <a:ext cx="2806198" cy="588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8" b="0">
                <a:solidFill>
                  <a:srgbClr val="FFFFFF"/>
                </a:solidFill>
                <a:latin typeface="Josefin Sans"/>
              </a:rPr>
              <a:t>0.5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979197" y="2618037"/>
            <a:ext cx="2806198" cy="588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8" b="0">
                <a:solidFill>
                  <a:srgbClr val="000000"/>
                </a:solidFill>
                <a:latin typeface="Josefin Sans"/>
              </a:rPr>
              <a:t>0.5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979235" y="2762074"/>
            <a:ext cx="2806160" cy="588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8" b="0">
                <a:solidFill>
                  <a:srgbClr val="FFFFFF"/>
                </a:solidFill>
                <a:latin typeface="Josefin Sans"/>
              </a:rPr>
              <a:t>0.5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979235" y="2762074"/>
            <a:ext cx="2806160" cy="588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8" b="0">
                <a:solidFill>
                  <a:srgbClr val="000000"/>
                </a:solidFill>
                <a:latin typeface="Josefin Sans"/>
              </a:rPr>
              <a:t>0.5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79279" y="2906123"/>
            <a:ext cx="2806116" cy="588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8" b="0">
                <a:solidFill>
                  <a:srgbClr val="FFFFFF"/>
                </a:solidFill>
                <a:latin typeface="Josefin Sans"/>
              </a:rPr>
              <a:t>0.5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979279" y="2906123"/>
            <a:ext cx="2806116" cy="588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8" b="0">
                <a:solidFill>
                  <a:srgbClr val="000000"/>
                </a:solidFill>
                <a:latin typeface="Josefin Sans"/>
              </a:rPr>
              <a:t>0.5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901653" y="3150919"/>
            <a:ext cx="8837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16142" y="3150695"/>
            <a:ext cx="16925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745533" y="2185812"/>
            <a:ext cx="0" cy="4104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120579" y="2185812"/>
            <a:ext cx="0" cy="4104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495624" y="2185812"/>
            <a:ext cx="0" cy="4104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1870670" y="2185812"/>
            <a:ext cx="0" cy="4104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245716" y="2185812"/>
            <a:ext cx="0" cy="4104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620761" y="2185812"/>
            <a:ext cx="0" cy="4104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745533" y="668976"/>
            <a:ext cx="0" cy="4104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120579" y="668976"/>
            <a:ext cx="0" cy="4104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495624" y="668976"/>
            <a:ext cx="0" cy="4104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870670" y="668976"/>
            <a:ext cx="0" cy="4104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245716" y="668976"/>
            <a:ext cx="0" cy="4104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2620761" y="668976"/>
            <a:ext cx="0" cy="4104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745533" y="2226856"/>
            <a:ext cx="4104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745533" y="1915280"/>
            <a:ext cx="4104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745533" y="1603704"/>
            <a:ext cx="4104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745533" y="1292128"/>
            <a:ext cx="4104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745533" y="980552"/>
            <a:ext cx="4104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745533" y="668976"/>
            <a:ext cx="4104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2579718" y="2226856"/>
            <a:ext cx="4104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H="1">
            <a:off x="2579718" y="1915280"/>
            <a:ext cx="4104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H="1">
            <a:off x="2579718" y="1603704"/>
            <a:ext cx="4104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H="1">
            <a:off x="2579718" y="1292128"/>
            <a:ext cx="4104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H="1">
            <a:off x="2579718" y="980552"/>
            <a:ext cx="4104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H="1">
            <a:off x="2579718" y="668976"/>
            <a:ext cx="4104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778322" y="1409077"/>
            <a:ext cx="33855" cy="40314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812177" y="1384799"/>
            <a:ext cx="21417" cy="24278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833594" y="1359744"/>
            <a:ext cx="22754" cy="25055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856348" y="1331956"/>
            <a:ext cx="24095" cy="27788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880443" y="1302009"/>
            <a:ext cx="26444" cy="29947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906887" y="1277836"/>
            <a:ext cx="26522" cy="24173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933409" y="1253998"/>
            <a:ext cx="24648" cy="23838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958057" y="1231819"/>
            <a:ext cx="25285" cy="22179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983342" y="1210947"/>
            <a:ext cx="28220" cy="20872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1011562" y="1191152"/>
            <a:ext cx="29252" cy="19795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1040814" y="1171889"/>
            <a:ext cx="31131" cy="19263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1071945" y="1156517"/>
            <a:ext cx="28372" cy="15372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1100317" y="1143585"/>
            <a:ext cx="27981" cy="12932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1128298" y="1129527"/>
            <a:ext cx="30322" cy="14058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1158620" y="1119042"/>
            <a:ext cx="29399" cy="10485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1188019" y="1108576"/>
            <a:ext cx="29399" cy="10466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1217418" y="1100109"/>
            <a:ext cx="29395" cy="8467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1246813" y="1091894"/>
            <a:ext cx="29394" cy="8215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1276207" y="1085410"/>
            <a:ext cx="29391" cy="6484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1305598" y="1079417"/>
            <a:ext cx="29390" cy="5993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1334988" y="1072904"/>
            <a:ext cx="29391" cy="6513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1364379" y="1068159"/>
            <a:ext cx="29387" cy="4745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1393766" y="1064350"/>
            <a:ext cx="29385" cy="3809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1423151" y="1061373"/>
            <a:ext cx="29383" cy="2977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1452534" y="1059020"/>
            <a:ext cx="29382" cy="2353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1481916" y="1056562"/>
            <a:ext cx="29382" cy="2458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1511298" y="1054209"/>
            <a:ext cx="29381" cy="2353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1540679" y="1051543"/>
            <a:ext cx="29383" cy="2666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1570062" y="1048232"/>
            <a:ext cx="29384" cy="3311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1599446" y="1046346"/>
            <a:ext cx="29381" cy="1886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1628827" y="1044418"/>
            <a:ext cx="29381" cy="1928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1658208" y="1041438"/>
            <a:ext cx="29383" cy="298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1687591" y="1038633"/>
            <a:ext cx="29383" cy="2805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1716974" y="1034720"/>
            <a:ext cx="29385" cy="3913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1746359" y="1031846"/>
            <a:ext cx="29383" cy="2874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1775742" y="1028869"/>
            <a:ext cx="29384" cy="2977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1805126" y="1025996"/>
            <a:ext cx="29382" cy="2873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1834508" y="1023955"/>
            <a:ext cx="29382" cy="2041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1863890" y="1019023"/>
            <a:ext cx="29387" cy="4932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V="1">
            <a:off x="1893277" y="1018496"/>
            <a:ext cx="28488" cy="527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1921765" y="1015959"/>
            <a:ext cx="30272" cy="2537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V="1">
            <a:off x="1952037" y="1013709"/>
            <a:ext cx="29382" cy="225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1981419" y="1011460"/>
            <a:ext cx="29382" cy="2249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V="1">
            <a:off x="2010801" y="1009419"/>
            <a:ext cx="29381" cy="2041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V="1">
            <a:off x="2040182" y="1007793"/>
            <a:ext cx="29380" cy="1626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2069562" y="1005960"/>
            <a:ext cx="29381" cy="1833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2098943" y="1004438"/>
            <a:ext cx="29380" cy="1522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V="1">
            <a:off x="2128323" y="999191"/>
            <a:ext cx="30278" cy="5247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2158601" y="999191"/>
            <a:ext cx="28483" cy="1684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2187084" y="999042"/>
            <a:ext cx="29381" cy="1833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V="1">
            <a:off x="2216465" y="997000"/>
            <a:ext cx="29382" cy="2042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V="1">
            <a:off x="2245847" y="995271"/>
            <a:ext cx="29380" cy="1729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V="1">
            <a:off x="2275227" y="993334"/>
            <a:ext cx="29381" cy="1937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V="1">
            <a:off x="2304608" y="991500"/>
            <a:ext cx="29381" cy="1834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V="1">
            <a:off x="2333989" y="990083"/>
            <a:ext cx="29379" cy="1417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2363368" y="988353"/>
            <a:ext cx="29381" cy="173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 flipV="1">
            <a:off x="2392749" y="986728"/>
            <a:ext cx="29380" cy="1625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V="1">
            <a:off x="2422129" y="985414"/>
            <a:ext cx="29380" cy="1314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V="1">
            <a:off x="2451509" y="983685"/>
            <a:ext cx="29381" cy="1729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V="1">
            <a:off x="2480890" y="982163"/>
            <a:ext cx="29380" cy="1522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 flipV="1">
            <a:off x="2510270" y="980538"/>
            <a:ext cx="29380" cy="1625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 flipV="1">
            <a:off x="2539650" y="978912"/>
            <a:ext cx="29380" cy="1626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V="1">
            <a:off x="2569030" y="977495"/>
            <a:ext cx="29380" cy="1417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V="1">
            <a:off x="2598410" y="976068"/>
            <a:ext cx="22704" cy="1427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V="1">
            <a:off x="782177" y="1412219"/>
            <a:ext cx="27323" cy="35832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809500" y="1387798"/>
            <a:ext cx="21417" cy="24421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V="1">
            <a:off x="830917" y="1362536"/>
            <a:ext cx="22754" cy="25262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 flipV="1">
            <a:off x="853671" y="1335476"/>
            <a:ext cx="24094" cy="27060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V="1">
            <a:off x="877765" y="1305701"/>
            <a:ext cx="27914" cy="29775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V="1">
            <a:off x="905679" y="1283488"/>
            <a:ext cx="22939" cy="22213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928618" y="1260692"/>
            <a:ext cx="24084" cy="22796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V="1">
            <a:off x="952702" y="1238473"/>
            <a:ext cx="25285" cy="22219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V="1">
            <a:off x="977987" y="1217921"/>
            <a:ext cx="27583" cy="20552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V="1">
            <a:off x="1005570" y="1197946"/>
            <a:ext cx="29071" cy="19975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V="1">
            <a:off x="1034641" y="1181479"/>
            <a:ext cx="29271" cy="16467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V="1">
            <a:off x="1063912" y="1166075"/>
            <a:ext cx="29551" cy="15404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 flipV="1">
            <a:off x="1093463" y="1152794"/>
            <a:ext cx="28609" cy="13281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V="1">
            <a:off x="1122072" y="1140326"/>
            <a:ext cx="28513" cy="12468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 flipV="1">
            <a:off x="1150585" y="1129425"/>
            <a:ext cx="29400" cy="10901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 flipV="1">
            <a:off x="1179985" y="1121460"/>
            <a:ext cx="29394" cy="7965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 flipV="1">
            <a:off x="1209379" y="1112597"/>
            <a:ext cx="29396" cy="8863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 flipV="1">
            <a:off x="1238775" y="1105379"/>
            <a:ext cx="29392" cy="7218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 flipV="1">
            <a:off x="1268167" y="1097493"/>
            <a:ext cx="29394" cy="7886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V="1">
            <a:off x="1297561" y="1091876"/>
            <a:ext cx="29388" cy="5617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 flipV="1">
            <a:off x="1326949" y="1086611"/>
            <a:ext cx="29388" cy="5265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 flipV="1">
            <a:off x="1356337" y="1082942"/>
            <a:ext cx="29385" cy="3669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V="1">
            <a:off x="1385722" y="1079833"/>
            <a:ext cx="29384" cy="3109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 flipV="1">
            <a:off x="1415106" y="1077376"/>
            <a:ext cx="29382" cy="2457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 flipV="1">
            <a:off x="1444488" y="1075750"/>
            <a:ext cx="29380" cy="1626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 flipV="1">
            <a:off x="1473868" y="1073709"/>
            <a:ext cx="29381" cy="2041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 flipV="1">
            <a:off x="1503249" y="1071980"/>
            <a:ext cx="29381" cy="1729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 flipV="1">
            <a:off x="1532630" y="1070042"/>
            <a:ext cx="29381" cy="1938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 flipV="1">
            <a:off x="1562011" y="1067897"/>
            <a:ext cx="29381" cy="2145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 flipV="1">
            <a:off x="1591392" y="1065855"/>
            <a:ext cx="29381" cy="2042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 flipV="1">
            <a:off x="1620773" y="1063606"/>
            <a:ext cx="29382" cy="2249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 flipV="1">
            <a:off x="1650155" y="1061357"/>
            <a:ext cx="29382" cy="2249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 flipV="1">
            <a:off x="1679537" y="1058899"/>
            <a:ext cx="29382" cy="2458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 flipV="1">
            <a:off x="1708919" y="1056442"/>
            <a:ext cx="29382" cy="2457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 flipV="1">
            <a:off x="1738301" y="1054664"/>
            <a:ext cx="29381" cy="1778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 flipV="1">
            <a:off x="1767682" y="1051943"/>
            <a:ext cx="29382" cy="2721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 flipV="1">
            <a:off x="1797064" y="1049798"/>
            <a:ext cx="29382" cy="2145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 flipV="1">
            <a:off x="1826446" y="1047860"/>
            <a:ext cx="29381" cy="1938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 flipV="1">
            <a:off x="1855827" y="1044789"/>
            <a:ext cx="29383" cy="3071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 flipV="1">
            <a:off x="1885210" y="1044089"/>
            <a:ext cx="29378" cy="700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 flipV="1">
            <a:off x="1914588" y="1042256"/>
            <a:ext cx="29381" cy="1833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 flipV="1">
            <a:off x="1943969" y="1040734"/>
            <a:ext cx="29380" cy="1522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 flipV="1">
            <a:off x="1973349" y="1039421"/>
            <a:ext cx="29380" cy="1313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 flipV="1">
            <a:off x="2002729" y="1038211"/>
            <a:ext cx="29379" cy="1210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 flipV="1">
            <a:off x="2032108" y="1036794"/>
            <a:ext cx="29380" cy="1417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 flipV="1">
            <a:off x="2061488" y="1035792"/>
            <a:ext cx="29379" cy="1002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 flipV="1">
            <a:off x="2090867" y="1034375"/>
            <a:ext cx="29380" cy="1417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 flipV="1">
            <a:off x="2120247" y="1033373"/>
            <a:ext cx="29379" cy="1002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 flipV="1">
            <a:off x="2149626" y="1031956"/>
            <a:ext cx="29380" cy="1417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 flipV="1">
            <a:off x="2179006" y="1031058"/>
            <a:ext cx="29379" cy="898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 flipV="1">
            <a:off x="2208385" y="1029849"/>
            <a:ext cx="29379" cy="1209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 flipV="1">
            <a:off x="2237764" y="1028951"/>
            <a:ext cx="29379" cy="898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 flipV="1">
            <a:off x="2267143" y="1027637"/>
            <a:ext cx="29380" cy="1314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 flipV="1">
            <a:off x="2296523" y="1026844"/>
            <a:ext cx="29378" cy="793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 flipV="1">
            <a:off x="2325901" y="1025530"/>
            <a:ext cx="29380" cy="1314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 flipV="1">
            <a:off x="2355281" y="1024529"/>
            <a:ext cx="29379" cy="1001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 flipV="1">
            <a:off x="2384660" y="1023215"/>
            <a:ext cx="29380" cy="1314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 flipV="1">
            <a:off x="2414040" y="1022318"/>
            <a:ext cx="29379" cy="897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 flipV="1">
            <a:off x="2443419" y="1021004"/>
            <a:ext cx="29379" cy="1314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 flipV="1">
            <a:off x="2472798" y="1020314"/>
            <a:ext cx="29378" cy="690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 flipV="1">
            <a:off x="2502176" y="1019105"/>
            <a:ext cx="29380" cy="1209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 flipV="1">
            <a:off x="2531556" y="1018311"/>
            <a:ext cx="29379" cy="794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 flipV="1">
            <a:off x="2560935" y="1017310"/>
            <a:ext cx="29378" cy="1001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 flipV="1">
            <a:off x="2590313" y="1016095"/>
            <a:ext cx="25374" cy="1215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 flipV="1">
            <a:off x="784116" y="1409077"/>
            <a:ext cx="28061" cy="38247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 flipV="1">
            <a:off x="812177" y="1384799"/>
            <a:ext cx="21417" cy="24278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 flipV="1">
            <a:off x="833594" y="1358780"/>
            <a:ext cx="24091" cy="26019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 flipV="1">
            <a:off x="857685" y="1335878"/>
            <a:ext cx="28091" cy="22902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 flipV="1">
            <a:off x="885776" y="1308368"/>
            <a:ext cx="28082" cy="27510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 flipV="1">
            <a:off x="913858" y="1289327"/>
            <a:ext cx="21659" cy="19041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 flipV="1">
            <a:off x="935517" y="1267748"/>
            <a:ext cx="26650" cy="21579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 flipV="1">
            <a:off x="962167" y="1246878"/>
            <a:ext cx="26280" cy="20870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 flipV="1">
            <a:off x="988447" y="1222795"/>
            <a:ext cx="40448" cy="24083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 flipV="1">
            <a:off x="1028895" y="1205366"/>
            <a:ext cx="30750" cy="17429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7"/>
          <p:cNvCxnSpPr/>
          <p:nvPr/>
        </p:nvCxnSpPr>
        <p:spPr>
          <a:xfrm flipV="1">
            <a:off x="1059645" y="1189868"/>
            <a:ext cx="32080" cy="15498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 flipV="1">
            <a:off x="1091725" y="1175603"/>
            <a:ext cx="37419" cy="14265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199"/>
          <p:cNvCxnSpPr/>
          <p:nvPr/>
        </p:nvCxnSpPr>
        <p:spPr>
          <a:xfrm flipV="1">
            <a:off x="1129144" y="1165605"/>
            <a:ext cx="29399" cy="9998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Connector 200"/>
          <p:cNvCxnSpPr/>
          <p:nvPr/>
        </p:nvCxnSpPr>
        <p:spPr>
          <a:xfrm flipV="1">
            <a:off x="1158543" y="1156847"/>
            <a:ext cx="29395" cy="8758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Connector 201"/>
          <p:cNvCxnSpPr/>
          <p:nvPr/>
        </p:nvCxnSpPr>
        <p:spPr>
          <a:xfrm flipV="1">
            <a:off x="1187938" y="1149190"/>
            <a:ext cx="29393" cy="7657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 202"/>
          <p:cNvCxnSpPr/>
          <p:nvPr/>
        </p:nvCxnSpPr>
        <p:spPr>
          <a:xfrm flipV="1">
            <a:off x="1217331" y="1141177"/>
            <a:ext cx="29394" cy="8013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 203"/>
          <p:cNvCxnSpPr/>
          <p:nvPr/>
        </p:nvCxnSpPr>
        <p:spPr>
          <a:xfrm flipV="1">
            <a:off x="1246725" y="1136224"/>
            <a:ext cx="29388" cy="4953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 204"/>
          <p:cNvCxnSpPr/>
          <p:nvPr/>
        </p:nvCxnSpPr>
        <p:spPr>
          <a:xfrm flipV="1">
            <a:off x="1276113" y="1131040"/>
            <a:ext cx="29388" cy="5184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5"/>
          <p:cNvCxnSpPr/>
          <p:nvPr/>
        </p:nvCxnSpPr>
        <p:spPr>
          <a:xfrm flipV="1">
            <a:off x="1305501" y="1127959"/>
            <a:ext cx="29383" cy="3081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6"/>
          <p:cNvCxnSpPr/>
          <p:nvPr/>
        </p:nvCxnSpPr>
        <p:spPr>
          <a:xfrm flipV="1">
            <a:off x="1334884" y="1126373"/>
            <a:ext cx="29380" cy="1586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Connector 207"/>
          <p:cNvCxnSpPr/>
          <p:nvPr/>
        </p:nvCxnSpPr>
        <p:spPr>
          <a:xfrm flipV="1">
            <a:off x="1364264" y="1123455"/>
            <a:ext cx="29384" cy="2918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 flipV="1">
            <a:off x="1393648" y="1121644"/>
            <a:ext cx="29380" cy="1811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/>
          <p:nvPr/>
        </p:nvCxnSpPr>
        <p:spPr>
          <a:xfrm>
            <a:off x="1423028" y="1121644"/>
            <a:ext cx="29376" cy="351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/>
          <p:nvPr/>
        </p:nvCxnSpPr>
        <p:spPr>
          <a:xfrm>
            <a:off x="1452404" y="1121995"/>
            <a:ext cx="29377" cy="142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/>
          <p:nvPr/>
        </p:nvCxnSpPr>
        <p:spPr>
          <a:xfrm>
            <a:off x="1481781" y="1122137"/>
            <a:ext cx="29375" cy="558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/>
          <p:nvPr/>
        </p:nvCxnSpPr>
        <p:spPr>
          <a:xfrm>
            <a:off x="1511156" y="1122695"/>
            <a:ext cx="29375" cy="1078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/>
          <p:nvPr/>
        </p:nvCxnSpPr>
        <p:spPr>
          <a:xfrm>
            <a:off x="1540531" y="1123773"/>
            <a:ext cx="29375" cy="766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 214"/>
          <p:cNvCxnSpPr/>
          <p:nvPr/>
        </p:nvCxnSpPr>
        <p:spPr>
          <a:xfrm>
            <a:off x="1569906" y="1124539"/>
            <a:ext cx="29376" cy="662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215"/>
          <p:cNvCxnSpPr/>
          <p:nvPr/>
        </p:nvCxnSpPr>
        <p:spPr>
          <a:xfrm>
            <a:off x="1599282" y="1125201"/>
            <a:ext cx="29374" cy="1183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/>
          <p:nvPr/>
        </p:nvCxnSpPr>
        <p:spPr>
          <a:xfrm>
            <a:off x="1628656" y="1126384"/>
            <a:ext cx="29376" cy="662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/>
          <p:nvPr/>
        </p:nvCxnSpPr>
        <p:spPr>
          <a:xfrm>
            <a:off x="1658032" y="1127046"/>
            <a:ext cx="29374" cy="1182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/>
          <p:nvPr/>
        </p:nvCxnSpPr>
        <p:spPr>
          <a:xfrm>
            <a:off x="1687406" y="1128228"/>
            <a:ext cx="29375" cy="1078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/>
          <p:nvPr/>
        </p:nvCxnSpPr>
        <p:spPr>
          <a:xfrm>
            <a:off x="1716781" y="1129306"/>
            <a:ext cx="29375" cy="766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 220"/>
          <p:cNvCxnSpPr/>
          <p:nvPr/>
        </p:nvCxnSpPr>
        <p:spPr>
          <a:xfrm>
            <a:off x="1746156" y="1130072"/>
            <a:ext cx="29374" cy="1390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1"/>
          <p:cNvCxnSpPr/>
          <p:nvPr/>
        </p:nvCxnSpPr>
        <p:spPr>
          <a:xfrm>
            <a:off x="1775530" y="1131462"/>
            <a:ext cx="29374" cy="974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 222"/>
          <p:cNvCxnSpPr/>
          <p:nvPr/>
        </p:nvCxnSpPr>
        <p:spPr>
          <a:xfrm>
            <a:off x="1804904" y="1132436"/>
            <a:ext cx="29374" cy="1390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 223"/>
          <p:cNvCxnSpPr/>
          <p:nvPr/>
        </p:nvCxnSpPr>
        <p:spPr>
          <a:xfrm>
            <a:off x="1834278" y="1133826"/>
            <a:ext cx="29375" cy="974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Connector 224"/>
          <p:cNvCxnSpPr/>
          <p:nvPr/>
        </p:nvCxnSpPr>
        <p:spPr>
          <a:xfrm>
            <a:off x="1863653" y="1134800"/>
            <a:ext cx="29374" cy="1286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Connector 225"/>
          <p:cNvCxnSpPr/>
          <p:nvPr/>
        </p:nvCxnSpPr>
        <p:spPr>
          <a:xfrm>
            <a:off x="1893027" y="1136086"/>
            <a:ext cx="29376" cy="662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Connector 226"/>
          <p:cNvCxnSpPr/>
          <p:nvPr/>
        </p:nvCxnSpPr>
        <p:spPr>
          <a:xfrm>
            <a:off x="1922403" y="1136748"/>
            <a:ext cx="30371" cy="1409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Connector 227"/>
          <p:cNvCxnSpPr/>
          <p:nvPr/>
        </p:nvCxnSpPr>
        <p:spPr>
          <a:xfrm>
            <a:off x="1952774" y="1138157"/>
            <a:ext cx="28378" cy="643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 228"/>
          <p:cNvCxnSpPr/>
          <p:nvPr/>
        </p:nvCxnSpPr>
        <p:spPr>
          <a:xfrm>
            <a:off x="1981152" y="1138800"/>
            <a:ext cx="29377" cy="142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 229"/>
          <p:cNvCxnSpPr/>
          <p:nvPr/>
        </p:nvCxnSpPr>
        <p:spPr>
          <a:xfrm>
            <a:off x="2010529" y="1138942"/>
            <a:ext cx="29374" cy="1183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>
            <a:off x="2039903" y="1140125"/>
            <a:ext cx="29374" cy="1078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Connector 231"/>
          <p:cNvCxnSpPr/>
          <p:nvPr/>
        </p:nvCxnSpPr>
        <p:spPr>
          <a:xfrm>
            <a:off x="2069277" y="1141203"/>
            <a:ext cx="29376" cy="662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Connector 232"/>
          <p:cNvCxnSpPr/>
          <p:nvPr/>
        </p:nvCxnSpPr>
        <p:spPr>
          <a:xfrm>
            <a:off x="2098653" y="1141865"/>
            <a:ext cx="29374" cy="1078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Connector 233"/>
          <p:cNvCxnSpPr/>
          <p:nvPr/>
        </p:nvCxnSpPr>
        <p:spPr>
          <a:xfrm>
            <a:off x="2128027" y="1142943"/>
            <a:ext cx="29376" cy="662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>
            <a:off x="2157403" y="1143605"/>
            <a:ext cx="29375" cy="1078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Connector 235"/>
          <p:cNvCxnSpPr/>
          <p:nvPr/>
        </p:nvCxnSpPr>
        <p:spPr>
          <a:xfrm>
            <a:off x="2186778" y="1144683"/>
            <a:ext cx="29374" cy="1078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 236"/>
          <p:cNvCxnSpPr/>
          <p:nvPr/>
        </p:nvCxnSpPr>
        <p:spPr>
          <a:xfrm>
            <a:off x="2216152" y="1145761"/>
            <a:ext cx="29376" cy="454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 237"/>
          <p:cNvCxnSpPr/>
          <p:nvPr/>
        </p:nvCxnSpPr>
        <p:spPr>
          <a:xfrm>
            <a:off x="2245528" y="1146215"/>
            <a:ext cx="29375" cy="1078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Connector 238"/>
          <p:cNvCxnSpPr/>
          <p:nvPr/>
        </p:nvCxnSpPr>
        <p:spPr>
          <a:xfrm>
            <a:off x="2274903" y="1147293"/>
            <a:ext cx="29374" cy="1079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Connector 239"/>
          <p:cNvCxnSpPr/>
          <p:nvPr/>
        </p:nvCxnSpPr>
        <p:spPr>
          <a:xfrm>
            <a:off x="2304277" y="1148372"/>
            <a:ext cx="29375" cy="662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Connector 240"/>
          <p:cNvCxnSpPr/>
          <p:nvPr/>
        </p:nvCxnSpPr>
        <p:spPr>
          <a:xfrm>
            <a:off x="2333652" y="1149034"/>
            <a:ext cx="29376" cy="869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Connector 241"/>
          <p:cNvCxnSpPr/>
          <p:nvPr/>
        </p:nvCxnSpPr>
        <p:spPr>
          <a:xfrm>
            <a:off x="2363028" y="1149903"/>
            <a:ext cx="29375" cy="871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Connector 242"/>
          <p:cNvCxnSpPr/>
          <p:nvPr/>
        </p:nvCxnSpPr>
        <p:spPr>
          <a:xfrm>
            <a:off x="2392403" y="1150774"/>
            <a:ext cx="29375" cy="662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Connector 243"/>
          <p:cNvCxnSpPr/>
          <p:nvPr/>
        </p:nvCxnSpPr>
        <p:spPr>
          <a:xfrm>
            <a:off x="2421778" y="1151436"/>
            <a:ext cx="29374" cy="1182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5" name="Connector 244"/>
          <p:cNvCxnSpPr/>
          <p:nvPr/>
        </p:nvCxnSpPr>
        <p:spPr>
          <a:xfrm>
            <a:off x="2451152" y="1152618"/>
            <a:ext cx="29376" cy="766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Connector 245"/>
          <p:cNvCxnSpPr/>
          <p:nvPr/>
        </p:nvCxnSpPr>
        <p:spPr>
          <a:xfrm>
            <a:off x="2480528" y="1153384"/>
            <a:ext cx="29373" cy="1390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Connector 246"/>
          <p:cNvCxnSpPr/>
          <p:nvPr/>
        </p:nvCxnSpPr>
        <p:spPr>
          <a:xfrm>
            <a:off x="2509901" y="1154774"/>
            <a:ext cx="29375" cy="974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8" name="Connector 247"/>
          <p:cNvCxnSpPr/>
          <p:nvPr/>
        </p:nvCxnSpPr>
        <p:spPr>
          <a:xfrm>
            <a:off x="2539276" y="1155748"/>
            <a:ext cx="29374" cy="1598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Connector 248"/>
          <p:cNvCxnSpPr/>
          <p:nvPr/>
        </p:nvCxnSpPr>
        <p:spPr>
          <a:xfrm>
            <a:off x="2568650" y="1157346"/>
            <a:ext cx="29374" cy="1286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Connector 249"/>
          <p:cNvCxnSpPr/>
          <p:nvPr/>
        </p:nvCxnSpPr>
        <p:spPr>
          <a:xfrm>
            <a:off x="2598024" y="1158632"/>
            <a:ext cx="21361" cy="1588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Connector 250"/>
          <p:cNvCxnSpPr/>
          <p:nvPr/>
        </p:nvCxnSpPr>
        <p:spPr>
          <a:xfrm flipV="1">
            <a:off x="781538" y="1412219"/>
            <a:ext cx="27962" cy="35760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Connector 251"/>
          <p:cNvCxnSpPr/>
          <p:nvPr/>
        </p:nvCxnSpPr>
        <p:spPr>
          <a:xfrm flipV="1">
            <a:off x="809500" y="1387798"/>
            <a:ext cx="21417" cy="24421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Connector 252"/>
          <p:cNvCxnSpPr/>
          <p:nvPr/>
        </p:nvCxnSpPr>
        <p:spPr>
          <a:xfrm flipV="1">
            <a:off x="830917" y="1364245"/>
            <a:ext cx="22751" cy="23553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Connector 253"/>
          <p:cNvCxnSpPr/>
          <p:nvPr/>
        </p:nvCxnSpPr>
        <p:spPr>
          <a:xfrm flipV="1">
            <a:off x="853668" y="1340325"/>
            <a:ext cx="25422" cy="23920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Connector 254"/>
          <p:cNvCxnSpPr/>
          <p:nvPr/>
        </p:nvCxnSpPr>
        <p:spPr>
          <a:xfrm flipV="1">
            <a:off x="879090" y="1315868"/>
            <a:ext cx="29162" cy="24457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Connector 255"/>
          <p:cNvCxnSpPr/>
          <p:nvPr/>
        </p:nvCxnSpPr>
        <p:spPr>
          <a:xfrm flipV="1">
            <a:off x="908252" y="1297385"/>
            <a:ext cx="23006" cy="18483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Connector 256"/>
          <p:cNvCxnSpPr/>
          <p:nvPr/>
        </p:nvCxnSpPr>
        <p:spPr>
          <a:xfrm flipV="1">
            <a:off x="931258" y="1274912"/>
            <a:ext cx="28223" cy="22473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8" name="Connector 257"/>
          <p:cNvCxnSpPr/>
          <p:nvPr/>
        </p:nvCxnSpPr>
        <p:spPr>
          <a:xfrm flipV="1">
            <a:off x="959481" y="1255205"/>
            <a:ext cx="30621" cy="19707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Connector 258"/>
          <p:cNvCxnSpPr/>
          <p:nvPr/>
        </p:nvCxnSpPr>
        <p:spPr>
          <a:xfrm flipV="1">
            <a:off x="990102" y="1238116"/>
            <a:ext cx="29414" cy="17089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Connector 259"/>
          <p:cNvCxnSpPr/>
          <p:nvPr/>
        </p:nvCxnSpPr>
        <p:spPr>
          <a:xfrm flipV="1">
            <a:off x="1019516" y="1221616"/>
            <a:ext cx="29412" cy="16500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Connector 260"/>
          <p:cNvCxnSpPr/>
          <p:nvPr/>
        </p:nvCxnSpPr>
        <p:spPr>
          <a:xfrm flipV="1">
            <a:off x="1048928" y="1207042"/>
            <a:ext cx="29408" cy="14574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2" name="Connector 261"/>
          <p:cNvCxnSpPr/>
          <p:nvPr/>
        </p:nvCxnSpPr>
        <p:spPr>
          <a:xfrm flipV="1">
            <a:off x="1078336" y="1195587"/>
            <a:ext cx="29401" cy="11455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Connector 262"/>
          <p:cNvCxnSpPr/>
          <p:nvPr/>
        </p:nvCxnSpPr>
        <p:spPr>
          <a:xfrm flipV="1">
            <a:off x="1107737" y="1184702"/>
            <a:ext cx="29400" cy="10885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Connector 263"/>
          <p:cNvCxnSpPr/>
          <p:nvPr/>
        </p:nvCxnSpPr>
        <p:spPr>
          <a:xfrm flipV="1">
            <a:off x="1137137" y="1175797"/>
            <a:ext cx="29396" cy="8905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 264"/>
          <p:cNvCxnSpPr/>
          <p:nvPr/>
        </p:nvCxnSpPr>
        <p:spPr>
          <a:xfrm flipV="1">
            <a:off x="1166533" y="1167621"/>
            <a:ext cx="29394" cy="8176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Connector 265"/>
          <p:cNvCxnSpPr/>
          <p:nvPr/>
        </p:nvCxnSpPr>
        <p:spPr>
          <a:xfrm flipV="1">
            <a:off x="1195927" y="1160693"/>
            <a:ext cx="29392" cy="6928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Connector 266"/>
          <p:cNvCxnSpPr/>
          <p:nvPr/>
        </p:nvCxnSpPr>
        <p:spPr>
          <a:xfrm flipV="1">
            <a:off x="1225319" y="1155116"/>
            <a:ext cx="29388" cy="5577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Connector 267"/>
          <p:cNvCxnSpPr/>
          <p:nvPr/>
        </p:nvCxnSpPr>
        <p:spPr>
          <a:xfrm flipV="1">
            <a:off x="1254707" y="1150787"/>
            <a:ext cx="29387" cy="4329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Connector 268"/>
          <p:cNvCxnSpPr/>
          <p:nvPr/>
        </p:nvCxnSpPr>
        <p:spPr>
          <a:xfrm flipV="1">
            <a:off x="1284094" y="1147705"/>
            <a:ext cx="29383" cy="3082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Connector 269"/>
          <p:cNvCxnSpPr/>
          <p:nvPr/>
        </p:nvCxnSpPr>
        <p:spPr>
          <a:xfrm flipV="1">
            <a:off x="1313477" y="1145456"/>
            <a:ext cx="29382" cy="2249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 270"/>
          <p:cNvCxnSpPr/>
          <p:nvPr/>
        </p:nvCxnSpPr>
        <p:spPr>
          <a:xfrm flipV="1">
            <a:off x="1342859" y="1144871"/>
            <a:ext cx="29378" cy="585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Connector 271"/>
          <p:cNvCxnSpPr/>
          <p:nvPr/>
        </p:nvCxnSpPr>
        <p:spPr>
          <a:xfrm>
            <a:off x="1372237" y="1144871"/>
            <a:ext cx="29377" cy="38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Connector 272"/>
          <p:cNvCxnSpPr/>
          <p:nvPr/>
        </p:nvCxnSpPr>
        <p:spPr>
          <a:xfrm>
            <a:off x="1401614" y="1144909"/>
            <a:ext cx="29373" cy="1598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Connector 273"/>
          <p:cNvCxnSpPr/>
          <p:nvPr/>
        </p:nvCxnSpPr>
        <p:spPr>
          <a:xfrm>
            <a:off x="1430987" y="1146507"/>
            <a:ext cx="29372" cy="2222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Connector 274"/>
          <p:cNvCxnSpPr/>
          <p:nvPr/>
        </p:nvCxnSpPr>
        <p:spPr>
          <a:xfrm>
            <a:off x="1460359" y="1148729"/>
            <a:ext cx="29370" cy="3158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 275"/>
          <p:cNvCxnSpPr/>
          <p:nvPr/>
        </p:nvCxnSpPr>
        <p:spPr>
          <a:xfrm>
            <a:off x="1489729" y="1151887"/>
            <a:ext cx="29371" cy="3053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Connector 276"/>
          <p:cNvCxnSpPr/>
          <p:nvPr/>
        </p:nvCxnSpPr>
        <p:spPr>
          <a:xfrm>
            <a:off x="1519100" y="1154940"/>
            <a:ext cx="29370" cy="3054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Connector 277"/>
          <p:cNvCxnSpPr/>
          <p:nvPr/>
        </p:nvCxnSpPr>
        <p:spPr>
          <a:xfrm>
            <a:off x="1548470" y="1157994"/>
            <a:ext cx="29370" cy="3158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Connector 278"/>
          <p:cNvCxnSpPr/>
          <p:nvPr/>
        </p:nvCxnSpPr>
        <p:spPr>
          <a:xfrm>
            <a:off x="1577840" y="1161152"/>
            <a:ext cx="29370" cy="3157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Connector 279"/>
          <p:cNvCxnSpPr/>
          <p:nvPr/>
        </p:nvCxnSpPr>
        <p:spPr>
          <a:xfrm>
            <a:off x="1607210" y="1164309"/>
            <a:ext cx="29370" cy="3158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Connector 280"/>
          <p:cNvCxnSpPr/>
          <p:nvPr/>
        </p:nvCxnSpPr>
        <p:spPr>
          <a:xfrm>
            <a:off x="1636580" y="1167467"/>
            <a:ext cx="29370" cy="3262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2" name="Connector 281"/>
          <p:cNvCxnSpPr/>
          <p:nvPr/>
        </p:nvCxnSpPr>
        <p:spPr>
          <a:xfrm>
            <a:off x="1665950" y="1170729"/>
            <a:ext cx="29370" cy="3261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3" name="Connector 282"/>
          <p:cNvCxnSpPr/>
          <p:nvPr/>
        </p:nvCxnSpPr>
        <p:spPr>
          <a:xfrm>
            <a:off x="1695320" y="1173990"/>
            <a:ext cx="29370" cy="3262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Connector 283"/>
          <p:cNvCxnSpPr/>
          <p:nvPr/>
        </p:nvCxnSpPr>
        <p:spPr>
          <a:xfrm>
            <a:off x="1724690" y="1177252"/>
            <a:ext cx="29370" cy="3158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5" name="Connector 284"/>
          <p:cNvCxnSpPr/>
          <p:nvPr/>
        </p:nvCxnSpPr>
        <p:spPr>
          <a:xfrm>
            <a:off x="1754060" y="1180410"/>
            <a:ext cx="29371" cy="2950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6" name="Connector 285"/>
          <p:cNvCxnSpPr/>
          <p:nvPr/>
        </p:nvCxnSpPr>
        <p:spPr>
          <a:xfrm>
            <a:off x="1783431" y="1183360"/>
            <a:ext cx="29370" cy="3053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Connector 286"/>
          <p:cNvCxnSpPr/>
          <p:nvPr/>
        </p:nvCxnSpPr>
        <p:spPr>
          <a:xfrm>
            <a:off x="1812801" y="1186413"/>
            <a:ext cx="29370" cy="3262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8" name="Connector 287"/>
          <p:cNvCxnSpPr/>
          <p:nvPr/>
        </p:nvCxnSpPr>
        <p:spPr>
          <a:xfrm>
            <a:off x="1842171" y="1189675"/>
            <a:ext cx="29370" cy="3158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9" name="Connector 288"/>
          <p:cNvCxnSpPr/>
          <p:nvPr/>
        </p:nvCxnSpPr>
        <p:spPr>
          <a:xfrm>
            <a:off x="1871541" y="1192833"/>
            <a:ext cx="29368" cy="4017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Connector 289"/>
          <p:cNvCxnSpPr/>
          <p:nvPr/>
        </p:nvCxnSpPr>
        <p:spPr>
          <a:xfrm>
            <a:off x="1900909" y="1196850"/>
            <a:ext cx="29372" cy="2331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Connector 290"/>
          <p:cNvCxnSpPr/>
          <p:nvPr/>
        </p:nvCxnSpPr>
        <p:spPr>
          <a:xfrm>
            <a:off x="1930281" y="1199181"/>
            <a:ext cx="29370" cy="3541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Connector 291"/>
          <p:cNvCxnSpPr/>
          <p:nvPr/>
        </p:nvCxnSpPr>
        <p:spPr>
          <a:xfrm>
            <a:off x="1959651" y="1202722"/>
            <a:ext cx="29370" cy="3157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Connector 292"/>
          <p:cNvCxnSpPr/>
          <p:nvPr/>
        </p:nvCxnSpPr>
        <p:spPr>
          <a:xfrm>
            <a:off x="1989021" y="1205879"/>
            <a:ext cx="29370" cy="3054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nector 293"/>
          <p:cNvCxnSpPr/>
          <p:nvPr/>
        </p:nvCxnSpPr>
        <p:spPr>
          <a:xfrm>
            <a:off x="2018391" y="1208933"/>
            <a:ext cx="29370" cy="3158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nector 294"/>
          <p:cNvCxnSpPr/>
          <p:nvPr/>
        </p:nvCxnSpPr>
        <p:spPr>
          <a:xfrm>
            <a:off x="2047761" y="1212091"/>
            <a:ext cx="29371" cy="2846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Connector 295"/>
          <p:cNvCxnSpPr/>
          <p:nvPr/>
        </p:nvCxnSpPr>
        <p:spPr>
          <a:xfrm>
            <a:off x="2077132" y="1214937"/>
            <a:ext cx="29371" cy="2845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Connector 296"/>
          <p:cNvCxnSpPr/>
          <p:nvPr/>
        </p:nvCxnSpPr>
        <p:spPr>
          <a:xfrm>
            <a:off x="2106503" y="1217782"/>
            <a:ext cx="29371" cy="2742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Connector 297"/>
          <p:cNvCxnSpPr/>
          <p:nvPr/>
        </p:nvCxnSpPr>
        <p:spPr>
          <a:xfrm>
            <a:off x="2135874" y="1220524"/>
            <a:ext cx="29370" cy="2950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Connector 298"/>
          <p:cNvCxnSpPr/>
          <p:nvPr/>
        </p:nvCxnSpPr>
        <p:spPr>
          <a:xfrm>
            <a:off x="2165244" y="1223474"/>
            <a:ext cx="29372" cy="2430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Connector 299"/>
          <p:cNvCxnSpPr/>
          <p:nvPr/>
        </p:nvCxnSpPr>
        <p:spPr>
          <a:xfrm>
            <a:off x="2194616" y="1225904"/>
            <a:ext cx="29371" cy="2638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Connector 300"/>
          <p:cNvCxnSpPr/>
          <p:nvPr/>
        </p:nvCxnSpPr>
        <p:spPr>
          <a:xfrm>
            <a:off x="2223987" y="1228542"/>
            <a:ext cx="29372" cy="2430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301"/>
          <p:cNvCxnSpPr/>
          <p:nvPr/>
        </p:nvCxnSpPr>
        <p:spPr>
          <a:xfrm>
            <a:off x="2253359" y="1230972"/>
            <a:ext cx="30368" cy="2720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Connector 302"/>
          <p:cNvCxnSpPr/>
          <p:nvPr/>
        </p:nvCxnSpPr>
        <p:spPr>
          <a:xfrm>
            <a:off x="2283727" y="1233692"/>
            <a:ext cx="28375" cy="2098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Connector 303"/>
          <p:cNvCxnSpPr/>
          <p:nvPr/>
        </p:nvCxnSpPr>
        <p:spPr>
          <a:xfrm>
            <a:off x="2312102" y="1235790"/>
            <a:ext cx="29376" cy="703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nector 304"/>
          <p:cNvCxnSpPr/>
          <p:nvPr/>
        </p:nvCxnSpPr>
        <p:spPr>
          <a:xfrm>
            <a:off x="2341478" y="1236493"/>
            <a:ext cx="29372" cy="2014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Connector 305"/>
          <p:cNvCxnSpPr/>
          <p:nvPr/>
        </p:nvCxnSpPr>
        <p:spPr>
          <a:xfrm>
            <a:off x="2370850" y="1238507"/>
            <a:ext cx="29373" cy="2118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306"/>
          <p:cNvCxnSpPr/>
          <p:nvPr/>
        </p:nvCxnSpPr>
        <p:spPr>
          <a:xfrm>
            <a:off x="2400223" y="1240625"/>
            <a:ext cx="29371" cy="2326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307"/>
          <p:cNvCxnSpPr/>
          <p:nvPr/>
        </p:nvCxnSpPr>
        <p:spPr>
          <a:xfrm>
            <a:off x="2429594" y="1242951"/>
            <a:ext cx="29372" cy="2430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308"/>
          <p:cNvCxnSpPr/>
          <p:nvPr/>
        </p:nvCxnSpPr>
        <p:spPr>
          <a:xfrm>
            <a:off x="2458966" y="1245381"/>
            <a:ext cx="29372" cy="2430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309"/>
          <p:cNvCxnSpPr/>
          <p:nvPr/>
        </p:nvCxnSpPr>
        <p:spPr>
          <a:xfrm>
            <a:off x="2488338" y="1247811"/>
            <a:ext cx="29371" cy="2742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Connector 310"/>
          <p:cNvCxnSpPr/>
          <p:nvPr/>
        </p:nvCxnSpPr>
        <p:spPr>
          <a:xfrm>
            <a:off x="2517709" y="1250553"/>
            <a:ext cx="29370" cy="2845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2" name="Connector 311"/>
          <p:cNvCxnSpPr/>
          <p:nvPr/>
        </p:nvCxnSpPr>
        <p:spPr>
          <a:xfrm>
            <a:off x="2547079" y="1253398"/>
            <a:ext cx="29371" cy="2950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Connector 312"/>
          <p:cNvCxnSpPr/>
          <p:nvPr/>
        </p:nvCxnSpPr>
        <p:spPr>
          <a:xfrm>
            <a:off x="2576450" y="1256348"/>
            <a:ext cx="29370" cy="3158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Connector 313"/>
          <p:cNvCxnSpPr/>
          <p:nvPr/>
        </p:nvCxnSpPr>
        <p:spPr>
          <a:xfrm>
            <a:off x="2605820" y="1259506"/>
            <a:ext cx="20026" cy="1664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Connector 314"/>
          <p:cNvCxnSpPr/>
          <p:nvPr/>
        </p:nvCxnSpPr>
        <p:spPr>
          <a:xfrm>
            <a:off x="780027" y="1449645"/>
            <a:ext cx="16009" cy="22057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6" name="Connector 315"/>
          <p:cNvCxnSpPr/>
          <p:nvPr/>
        </p:nvCxnSpPr>
        <p:spPr>
          <a:xfrm>
            <a:off x="796036" y="1471702"/>
            <a:ext cx="20955" cy="26374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7" name="Connector 316"/>
          <p:cNvCxnSpPr/>
          <p:nvPr/>
        </p:nvCxnSpPr>
        <p:spPr>
          <a:xfrm>
            <a:off x="816991" y="1498076"/>
            <a:ext cx="20636" cy="24700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8" name="Connector 317"/>
          <p:cNvCxnSpPr/>
          <p:nvPr/>
        </p:nvCxnSpPr>
        <p:spPr>
          <a:xfrm>
            <a:off x="837627" y="1522776"/>
            <a:ext cx="20638" cy="24428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9" name="Connector 318"/>
          <p:cNvCxnSpPr/>
          <p:nvPr/>
        </p:nvCxnSpPr>
        <p:spPr>
          <a:xfrm>
            <a:off x="858265" y="1547204"/>
            <a:ext cx="22871" cy="25998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0" name="Connector 319"/>
          <p:cNvCxnSpPr/>
          <p:nvPr/>
        </p:nvCxnSpPr>
        <p:spPr>
          <a:xfrm>
            <a:off x="881136" y="1573202"/>
            <a:ext cx="16734" cy="20976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nector 320"/>
          <p:cNvCxnSpPr/>
          <p:nvPr/>
        </p:nvCxnSpPr>
        <p:spPr>
          <a:xfrm>
            <a:off x="897870" y="1594178"/>
            <a:ext cx="15660" cy="19599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2" name="Connector 321"/>
          <p:cNvCxnSpPr/>
          <p:nvPr/>
        </p:nvCxnSpPr>
        <p:spPr>
          <a:xfrm>
            <a:off x="913530" y="1613777"/>
            <a:ext cx="16434" cy="19889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Connector 322"/>
          <p:cNvCxnSpPr/>
          <p:nvPr/>
        </p:nvCxnSpPr>
        <p:spPr>
          <a:xfrm>
            <a:off x="929964" y="1633666"/>
            <a:ext cx="20559" cy="22082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4" name="Connector 323"/>
          <p:cNvCxnSpPr/>
          <p:nvPr/>
        </p:nvCxnSpPr>
        <p:spPr>
          <a:xfrm>
            <a:off x="950523" y="1655748"/>
            <a:ext cx="21312" cy="24906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5" name="Connector 324"/>
          <p:cNvCxnSpPr/>
          <p:nvPr/>
        </p:nvCxnSpPr>
        <p:spPr>
          <a:xfrm>
            <a:off x="971835" y="1680654"/>
            <a:ext cx="21313" cy="24620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Connector 325"/>
          <p:cNvCxnSpPr/>
          <p:nvPr/>
        </p:nvCxnSpPr>
        <p:spPr>
          <a:xfrm>
            <a:off x="993148" y="1705274"/>
            <a:ext cx="21313" cy="24333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7" name="Connector 326"/>
          <p:cNvCxnSpPr/>
          <p:nvPr/>
        </p:nvCxnSpPr>
        <p:spPr>
          <a:xfrm>
            <a:off x="1014461" y="1729607"/>
            <a:ext cx="30638" cy="34783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8" name="Connector 327"/>
          <p:cNvCxnSpPr/>
          <p:nvPr/>
        </p:nvCxnSpPr>
        <p:spPr>
          <a:xfrm>
            <a:off x="1045099" y="1764390"/>
            <a:ext cx="22646" cy="25336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9" name="Connector 328"/>
          <p:cNvCxnSpPr/>
          <p:nvPr/>
        </p:nvCxnSpPr>
        <p:spPr>
          <a:xfrm>
            <a:off x="1067745" y="1789726"/>
            <a:ext cx="22647" cy="24924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0" name="Connector 329"/>
          <p:cNvCxnSpPr/>
          <p:nvPr/>
        </p:nvCxnSpPr>
        <p:spPr>
          <a:xfrm>
            <a:off x="1090392" y="1814650"/>
            <a:ext cx="23980" cy="26084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1" name="Connector 330"/>
          <p:cNvCxnSpPr/>
          <p:nvPr/>
        </p:nvCxnSpPr>
        <p:spPr>
          <a:xfrm>
            <a:off x="1114372" y="1840734"/>
            <a:ext cx="23980" cy="25958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2" name="Connector 331"/>
          <p:cNvCxnSpPr/>
          <p:nvPr/>
        </p:nvCxnSpPr>
        <p:spPr>
          <a:xfrm>
            <a:off x="1138352" y="1866692"/>
            <a:ext cx="23981" cy="25703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3" name="Connector 332"/>
          <p:cNvCxnSpPr/>
          <p:nvPr/>
        </p:nvCxnSpPr>
        <p:spPr>
          <a:xfrm>
            <a:off x="1162333" y="1892395"/>
            <a:ext cx="23982" cy="24941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4" name="Connector 333"/>
          <p:cNvCxnSpPr/>
          <p:nvPr/>
        </p:nvCxnSpPr>
        <p:spPr>
          <a:xfrm>
            <a:off x="1186315" y="1917336"/>
            <a:ext cx="21670" cy="22958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5" name="Connector 334"/>
          <p:cNvCxnSpPr/>
          <p:nvPr/>
        </p:nvCxnSpPr>
        <p:spPr>
          <a:xfrm>
            <a:off x="1207985" y="1940294"/>
            <a:ext cx="27628" cy="27828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6" name="Connector 335"/>
          <p:cNvCxnSpPr/>
          <p:nvPr/>
        </p:nvCxnSpPr>
        <p:spPr>
          <a:xfrm>
            <a:off x="1235613" y="1968122"/>
            <a:ext cx="25318" cy="25057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7" name="Connector 336"/>
          <p:cNvCxnSpPr/>
          <p:nvPr/>
        </p:nvCxnSpPr>
        <p:spPr>
          <a:xfrm>
            <a:off x="1260931" y="1993179"/>
            <a:ext cx="25319" cy="24422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8" name="Connector 337"/>
          <p:cNvCxnSpPr/>
          <p:nvPr/>
        </p:nvCxnSpPr>
        <p:spPr>
          <a:xfrm>
            <a:off x="1286250" y="2017601"/>
            <a:ext cx="25992" cy="25158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9" name="Connector 338"/>
          <p:cNvCxnSpPr/>
          <p:nvPr/>
        </p:nvCxnSpPr>
        <p:spPr>
          <a:xfrm>
            <a:off x="1312242" y="2042759"/>
            <a:ext cx="25983" cy="22627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Connector 339"/>
          <p:cNvCxnSpPr/>
          <p:nvPr/>
        </p:nvCxnSpPr>
        <p:spPr>
          <a:xfrm>
            <a:off x="1338225" y="2065386"/>
            <a:ext cx="29322" cy="25410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Connector 340"/>
          <p:cNvCxnSpPr/>
          <p:nvPr/>
        </p:nvCxnSpPr>
        <p:spPr>
          <a:xfrm>
            <a:off x="1367547" y="2090796"/>
            <a:ext cx="29327" cy="23642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2" name="Connector 341"/>
          <p:cNvCxnSpPr/>
          <p:nvPr/>
        </p:nvCxnSpPr>
        <p:spPr>
          <a:xfrm>
            <a:off x="1396874" y="2114438"/>
            <a:ext cx="26328" cy="20753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3" name="Connector 342"/>
          <p:cNvCxnSpPr/>
          <p:nvPr/>
        </p:nvCxnSpPr>
        <p:spPr>
          <a:xfrm>
            <a:off x="1423202" y="2135191"/>
            <a:ext cx="32333" cy="22393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4" name="Connector 343"/>
          <p:cNvCxnSpPr/>
          <p:nvPr/>
        </p:nvCxnSpPr>
        <p:spPr>
          <a:xfrm>
            <a:off x="1455535" y="2157584"/>
            <a:ext cx="28336" cy="20605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5" name="Connector 344"/>
          <p:cNvCxnSpPr/>
          <p:nvPr/>
        </p:nvCxnSpPr>
        <p:spPr>
          <a:xfrm>
            <a:off x="1483871" y="2178189"/>
            <a:ext cx="27180" cy="17668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6" name="Connector 345"/>
          <p:cNvCxnSpPr/>
          <p:nvPr/>
        </p:nvCxnSpPr>
        <p:spPr>
          <a:xfrm>
            <a:off x="1511051" y="2195857"/>
            <a:ext cx="27160" cy="14906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7" name="Connector 346"/>
          <p:cNvCxnSpPr/>
          <p:nvPr/>
        </p:nvCxnSpPr>
        <p:spPr>
          <a:xfrm>
            <a:off x="1538211" y="2210763"/>
            <a:ext cx="32020" cy="12958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8" name="Connector 347"/>
          <p:cNvCxnSpPr/>
          <p:nvPr/>
        </p:nvCxnSpPr>
        <p:spPr>
          <a:xfrm>
            <a:off x="1570231" y="2223721"/>
            <a:ext cx="29370" cy="3387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Connector 348"/>
          <p:cNvCxnSpPr/>
          <p:nvPr/>
        </p:nvCxnSpPr>
        <p:spPr>
          <a:xfrm>
            <a:off x="1599601" y="2227108"/>
            <a:ext cx="29376" cy="246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0" name="Connector 349"/>
          <p:cNvCxnSpPr/>
          <p:nvPr/>
        </p:nvCxnSpPr>
        <p:spPr>
          <a:xfrm flipV="1">
            <a:off x="1628977" y="2227288"/>
            <a:ext cx="29377" cy="66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1" name="Connector 350"/>
          <p:cNvCxnSpPr/>
          <p:nvPr/>
        </p:nvCxnSpPr>
        <p:spPr>
          <a:xfrm flipV="1">
            <a:off x="1658354" y="2227224"/>
            <a:ext cx="28932" cy="64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2" name="Connector 351"/>
          <p:cNvCxnSpPr/>
          <p:nvPr/>
        </p:nvCxnSpPr>
        <p:spPr>
          <a:xfrm>
            <a:off x="1687286" y="2227224"/>
            <a:ext cx="29822" cy="141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3" name="Connector 352"/>
          <p:cNvCxnSpPr/>
          <p:nvPr/>
        </p:nvCxnSpPr>
        <p:spPr>
          <a:xfrm>
            <a:off x="1717108" y="2227365"/>
            <a:ext cx="29376" cy="38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4" name="Connector 353"/>
          <p:cNvCxnSpPr/>
          <p:nvPr/>
        </p:nvCxnSpPr>
        <p:spPr>
          <a:xfrm>
            <a:off x="1746484" y="2227403"/>
            <a:ext cx="29377" cy="38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5" name="Connector 354"/>
          <p:cNvCxnSpPr/>
          <p:nvPr/>
        </p:nvCxnSpPr>
        <p:spPr>
          <a:xfrm>
            <a:off x="1775861" y="2227441"/>
            <a:ext cx="29377" cy="38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6" name="Connector 355"/>
          <p:cNvCxnSpPr/>
          <p:nvPr/>
        </p:nvCxnSpPr>
        <p:spPr>
          <a:xfrm>
            <a:off x="1805238" y="2227479"/>
            <a:ext cx="29377" cy="38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7" name="Connector 356"/>
          <p:cNvCxnSpPr/>
          <p:nvPr/>
        </p:nvCxnSpPr>
        <p:spPr>
          <a:xfrm flipV="1">
            <a:off x="1834615" y="2226620"/>
            <a:ext cx="29378" cy="897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8" name="Connector 357"/>
          <p:cNvCxnSpPr/>
          <p:nvPr/>
        </p:nvCxnSpPr>
        <p:spPr>
          <a:xfrm>
            <a:off x="1863993" y="2226620"/>
            <a:ext cx="29375" cy="974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9" name="Connector 358"/>
          <p:cNvCxnSpPr/>
          <p:nvPr/>
        </p:nvCxnSpPr>
        <p:spPr>
          <a:xfrm>
            <a:off x="1893368" y="2227594"/>
            <a:ext cx="29377" cy="38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0" name="Connector 359"/>
          <p:cNvCxnSpPr/>
          <p:nvPr/>
        </p:nvCxnSpPr>
        <p:spPr>
          <a:xfrm>
            <a:off x="1922745" y="2227632"/>
            <a:ext cx="29377" cy="39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1" name="Connector 360"/>
          <p:cNvCxnSpPr/>
          <p:nvPr/>
        </p:nvCxnSpPr>
        <p:spPr>
          <a:xfrm>
            <a:off x="1952122" y="2227671"/>
            <a:ext cx="29377" cy="38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2" name="Connector 361"/>
          <p:cNvCxnSpPr/>
          <p:nvPr/>
        </p:nvCxnSpPr>
        <p:spPr>
          <a:xfrm>
            <a:off x="1981499" y="2227709"/>
            <a:ext cx="29376" cy="38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3" name="Connector 362"/>
          <p:cNvCxnSpPr/>
          <p:nvPr/>
        </p:nvCxnSpPr>
        <p:spPr>
          <a:xfrm>
            <a:off x="2010875" y="2227747"/>
            <a:ext cx="29377" cy="38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4" name="Connector 363"/>
          <p:cNvCxnSpPr/>
          <p:nvPr/>
        </p:nvCxnSpPr>
        <p:spPr>
          <a:xfrm>
            <a:off x="2040252" y="2227785"/>
            <a:ext cx="29376" cy="373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5" name="Connector 364"/>
          <p:cNvCxnSpPr/>
          <p:nvPr/>
        </p:nvCxnSpPr>
        <p:spPr>
          <a:xfrm flipV="1">
            <a:off x="2069628" y="2227862"/>
            <a:ext cx="29378" cy="296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6" name="Connector 365"/>
          <p:cNvCxnSpPr/>
          <p:nvPr/>
        </p:nvCxnSpPr>
        <p:spPr>
          <a:xfrm>
            <a:off x="2099006" y="2227862"/>
            <a:ext cx="29377" cy="38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7" name="Connector 366"/>
          <p:cNvCxnSpPr/>
          <p:nvPr/>
        </p:nvCxnSpPr>
        <p:spPr>
          <a:xfrm>
            <a:off x="2128383" y="2227900"/>
            <a:ext cx="29376" cy="39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8" name="Connector 367"/>
          <p:cNvCxnSpPr/>
          <p:nvPr/>
        </p:nvCxnSpPr>
        <p:spPr>
          <a:xfrm>
            <a:off x="2157759" y="2227939"/>
            <a:ext cx="29377" cy="37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9" name="Connector 368"/>
          <p:cNvCxnSpPr/>
          <p:nvPr/>
        </p:nvCxnSpPr>
        <p:spPr>
          <a:xfrm>
            <a:off x="2187136" y="2227976"/>
            <a:ext cx="29377" cy="39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0" name="Connector 369"/>
          <p:cNvCxnSpPr/>
          <p:nvPr/>
        </p:nvCxnSpPr>
        <p:spPr>
          <a:xfrm>
            <a:off x="2216513" y="2228015"/>
            <a:ext cx="28377" cy="1226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1" name="Connector 370"/>
          <p:cNvCxnSpPr/>
          <p:nvPr/>
        </p:nvCxnSpPr>
        <p:spPr>
          <a:xfrm flipV="1">
            <a:off x="2244890" y="2228091"/>
            <a:ext cx="30376" cy="1150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2" name="Connector 371"/>
          <p:cNvCxnSpPr/>
          <p:nvPr/>
        </p:nvCxnSpPr>
        <p:spPr>
          <a:xfrm>
            <a:off x="2275266" y="2228091"/>
            <a:ext cx="29377" cy="38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3" name="Connector 372"/>
          <p:cNvCxnSpPr/>
          <p:nvPr/>
        </p:nvCxnSpPr>
        <p:spPr>
          <a:xfrm>
            <a:off x="2304643" y="2228129"/>
            <a:ext cx="29377" cy="39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4" name="Connector 373"/>
          <p:cNvCxnSpPr/>
          <p:nvPr/>
        </p:nvCxnSpPr>
        <p:spPr>
          <a:xfrm>
            <a:off x="2334020" y="2228168"/>
            <a:ext cx="29377" cy="38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5" name="Connector 374"/>
          <p:cNvCxnSpPr/>
          <p:nvPr/>
        </p:nvCxnSpPr>
        <p:spPr>
          <a:xfrm>
            <a:off x="2363397" y="2228206"/>
            <a:ext cx="29376" cy="38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Connector 375"/>
          <p:cNvCxnSpPr/>
          <p:nvPr/>
        </p:nvCxnSpPr>
        <p:spPr>
          <a:xfrm flipV="1">
            <a:off x="2392773" y="2227971"/>
            <a:ext cx="29378" cy="273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7" name="Connector 376"/>
          <p:cNvCxnSpPr/>
          <p:nvPr/>
        </p:nvCxnSpPr>
        <p:spPr>
          <a:xfrm>
            <a:off x="2422151" y="2227971"/>
            <a:ext cx="29376" cy="350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8" name="Connector 377"/>
          <p:cNvCxnSpPr/>
          <p:nvPr/>
        </p:nvCxnSpPr>
        <p:spPr>
          <a:xfrm>
            <a:off x="2451527" y="2228321"/>
            <a:ext cx="29377" cy="38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9" name="Connector 378"/>
          <p:cNvCxnSpPr/>
          <p:nvPr/>
        </p:nvCxnSpPr>
        <p:spPr>
          <a:xfrm>
            <a:off x="2480904" y="2228359"/>
            <a:ext cx="29377" cy="38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0" name="Connector 379"/>
          <p:cNvCxnSpPr/>
          <p:nvPr/>
        </p:nvCxnSpPr>
        <p:spPr>
          <a:xfrm>
            <a:off x="2510281" y="2228397"/>
            <a:ext cx="29376" cy="38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1" name="Connector 380"/>
          <p:cNvCxnSpPr/>
          <p:nvPr/>
        </p:nvCxnSpPr>
        <p:spPr>
          <a:xfrm>
            <a:off x="2539657" y="2228435"/>
            <a:ext cx="29377" cy="39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2" name="Connector 381"/>
          <p:cNvCxnSpPr/>
          <p:nvPr/>
        </p:nvCxnSpPr>
        <p:spPr>
          <a:xfrm>
            <a:off x="2569034" y="2228474"/>
            <a:ext cx="29377" cy="38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3" name="Connector 382"/>
          <p:cNvCxnSpPr/>
          <p:nvPr/>
        </p:nvCxnSpPr>
        <p:spPr>
          <a:xfrm>
            <a:off x="2598411" y="2228512"/>
            <a:ext cx="18693" cy="392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4" name="Connector 383"/>
          <p:cNvCxnSpPr/>
          <p:nvPr/>
        </p:nvCxnSpPr>
        <p:spPr>
          <a:xfrm>
            <a:off x="781312" y="1449501"/>
            <a:ext cx="25359" cy="36919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5" name="Connector 384"/>
          <p:cNvCxnSpPr/>
          <p:nvPr/>
        </p:nvCxnSpPr>
        <p:spPr>
          <a:xfrm>
            <a:off x="806671" y="1486420"/>
            <a:ext cx="18977" cy="25883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6" name="Connector 385"/>
          <p:cNvCxnSpPr/>
          <p:nvPr/>
        </p:nvCxnSpPr>
        <p:spPr>
          <a:xfrm>
            <a:off x="825648" y="1512303"/>
            <a:ext cx="16647" cy="24386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7" name="Connector 386"/>
          <p:cNvCxnSpPr/>
          <p:nvPr/>
        </p:nvCxnSpPr>
        <p:spPr>
          <a:xfrm>
            <a:off x="842295" y="1536689"/>
            <a:ext cx="17981" cy="25453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8" name="Connector 387"/>
          <p:cNvCxnSpPr/>
          <p:nvPr/>
        </p:nvCxnSpPr>
        <p:spPr>
          <a:xfrm>
            <a:off x="860276" y="1562142"/>
            <a:ext cx="17628" cy="24425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9" name="Connector 388"/>
          <p:cNvCxnSpPr/>
          <p:nvPr/>
        </p:nvCxnSpPr>
        <p:spPr>
          <a:xfrm>
            <a:off x="877904" y="1586567"/>
            <a:ext cx="14661" cy="20634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0" name="Connector 389"/>
          <p:cNvCxnSpPr/>
          <p:nvPr/>
        </p:nvCxnSpPr>
        <p:spPr>
          <a:xfrm>
            <a:off x="892565" y="1607201"/>
            <a:ext cx="16443" cy="24011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1" name="Connector 390"/>
          <p:cNvCxnSpPr/>
          <p:nvPr/>
        </p:nvCxnSpPr>
        <p:spPr>
          <a:xfrm>
            <a:off x="909008" y="1631212"/>
            <a:ext cx="18375" cy="25493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2" name="Connector 391"/>
          <p:cNvCxnSpPr/>
          <p:nvPr/>
        </p:nvCxnSpPr>
        <p:spPr>
          <a:xfrm>
            <a:off x="927383" y="1656705"/>
            <a:ext cx="19072" cy="28144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3" name="Connector 392"/>
          <p:cNvCxnSpPr/>
          <p:nvPr/>
        </p:nvCxnSpPr>
        <p:spPr>
          <a:xfrm>
            <a:off x="946455" y="1684849"/>
            <a:ext cx="18640" cy="25515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4" name="Connector 393"/>
          <p:cNvCxnSpPr/>
          <p:nvPr/>
        </p:nvCxnSpPr>
        <p:spPr>
          <a:xfrm>
            <a:off x="965095" y="1710364"/>
            <a:ext cx="18641" cy="25024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5" name="Connector 394"/>
          <p:cNvCxnSpPr/>
          <p:nvPr/>
        </p:nvCxnSpPr>
        <p:spPr>
          <a:xfrm>
            <a:off x="983736" y="1735388"/>
            <a:ext cx="19641" cy="23845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6" name="Connector 395"/>
          <p:cNvCxnSpPr/>
          <p:nvPr/>
        </p:nvCxnSpPr>
        <p:spPr>
          <a:xfrm>
            <a:off x="1003377" y="1759233"/>
            <a:ext cx="18643" cy="23844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7" name="Connector 396"/>
          <p:cNvCxnSpPr/>
          <p:nvPr/>
        </p:nvCxnSpPr>
        <p:spPr>
          <a:xfrm>
            <a:off x="1022020" y="1783077"/>
            <a:ext cx="18642" cy="24898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8" name="Connector 397"/>
          <p:cNvCxnSpPr/>
          <p:nvPr/>
        </p:nvCxnSpPr>
        <p:spPr>
          <a:xfrm>
            <a:off x="1040662" y="1807975"/>
            <a:ext cx="20975" cy="24500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9" name="Connector 398"/>
          <p:cNvCxnSpPr/>
          <p:nvPr/>
        </p:nvCxnSpPr>
        <p:spPr>
          <a:xfrm>
            <a:off x="1061637" y="1832475"/>
            <a:ext cx="21972" cy="24683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Connector 399"/>
          <p:cNvCxnSpPr/>
          <p:nvPr/>
        </p:nvCxnSpPr>
        <p:spPr>
          <a:xfrm>
            <a:off x="1083609" y="1857158"/>
            <a:ext cx="23966" cy="24739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1" name="Connector 400"/>
          <p:cNvCxnSpPr/>
          <p:nvPr/>
        </p:nvCxnSpPr>
        <p:spPr>
          <a:xfrm>
            <a:off x="1107575" y="1881897"/>
            <a:ext cx="22963" cy="27727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2" name="Connector 401"/>
          <p:cNvCxnSpPr/>
          <p:nvPr/>
        </p:nvCxnSpPr>
        <p:spPr>
          <a:xfrm>
            <a:off x="1130538" y="1909624"/>
            <a:ext cx="21309" cy="26256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3" name="Connector 402"/>
          <p:cNvCxnSpPr/>
          <p:nvPr/>
        </p:nvCxnSpPr>
        <p:spPr>
          <a:xfrm>
            <a:off x="1151847" y="1935880"/>
            <a:ext cx="22312" cy="23642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4" name="Connector 403"/>
          <p:cNvCxnSpPr/>
          <p:nvPr/>
        </p:nvCxnSpPr>
        <p:spPr>
          <a:xfrm>
            <a:off x="1174159" y="1959522"/>
            <a:ext cx="22783" cy="24032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5" name="Connector 404"/>
          <p:cNvCxnSpPr/>
          <p:nvPr/>
        </p:nvCxnSpPr>
        <p:spPr>
          <a:xfrm>
            <a:off x="1196942" y="1983554"/>
            <a:ext cx="17389" cy="20113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6" name="Connector 405"/>
          <p:cNvCxnSpPr/>
          <p:nvPr/>
        </p:nvCxnSpPr>
        <p:spPr>
          <a:xfrm>
            <a:off x="1214331" y="2003667"/>
            <a:ext cx="19831" cy="18835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7" name="Connector 406"/>
          <p:cNvCxnSpPr/>
          <p:nvPr/>
        </p:nvCxnSpPr>
        <p:spPr>
          <a:xfrm>
            <a:off x="1234162" y="2022502"/>
            <a:ext cx="25319" cy="24460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8" name="Connector 407"/>
          <p:cNvCxnSpPr/>
          <p:nvPr/>
        </p:nvCxnSpPr>
        <p:spPr>
          <a:xfrm>
            <a:off x="1259481" y="2046962"/>
            <a:ext cx="29011" cy="28092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9" name="Connector 408"/>
          <p:cNvCxnSpPr/>
          <p:nvPr/>
        </p:nvCxnSpPr>
        <p:spPr>
          <a:xfrm>
            <a:off x="1288492" y="2075054"/>
            <a:ext cx="36294" cy="30556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0" name="Connector 409"/>
          <p:cNvCxnSpPr/>
          <p:nvPr/>
        </p:nvCxnSpPr>
        <p:spPr>
          <a:xfrm>
            <a:off x="1324786" y="2105610"/>
            <a:ext cx="34659" cy="27704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1" name="Connector 410"/>
          <p:cNvCxnSpPr/>
          <p:nvPr/>
        </p:nvCxnSpPr>
        <p:spPr>
          <a:xfrm>
            <a:off x="1359445" y="2133314"/>
            <a:ext cx="29331" cy="21563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2" name="Connector 411"/>
          <p:cNvCxnSpPr/>
          <p:nvPr/>
        </p:nvCxnSpPr>
        <p:spPr>
          <a:xfrm>
            <a:off x="1388776" y="2154877"/>
            <a:ext cx="29339" cy="17674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3" name="Connector 412"/>
          <p:cNvCxnSpPr/>
          <p:nvPr/>
        </p:nvCxnSpPr>
        <p:spPr>
          <a:xfrm>
            <a:off x="1418115" y="2172551"/>
            <a:ext cx="29335" cy="19732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4" name="Connector 413"/>
          <p:cNvCxnSpPr/>
          <p:nvPr/>
        </p:nvCxnSpPr>
        <p:spPr>
          <a:xfrm>
            <a:off x="1447450" y="2192283"/>
            <a:ext cx="27739" cy="16603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5" name="Connector 414"/>
          <p:cNvCxnSpPr/>
          <p:nvPr/>
        </p:nvCxnSpPr>
        <p:spPr>
          <a:xfrm>
            <a:off x="1475189" y="2208886"/>
            <a:ext cx="30061" cy="12732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6" name="Connector 415"/>
          <p:cNvCxnSpPr/>
          <p:nvPr/>
        </p:nvCxnSpPr>
        <p:spPr>
          <a:xfrm>
            <a:off x="1505250" y="2221618"/>
            <a:ext cx="30256" cy="5427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7" name="Connector 416"/>
          <p:cNvCxnSpPr/>
          <p:nvPr/>
        </p:nvCxnSpPr>
        <p:spPr>
          <a:xfrm>
            <a:off x="1535506" y="2227045"/>
            <a:ext cx="29376" cy="329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8" name="Connector 417"/>
          <p:cNvCxnSpPr/>
          <p:nvPr/>
        </p:nvCxnSpPr>
        <p:spPr>
          <a:xfrm flipV="1">
            <a:off x="1564882" y="2227205"/>
            <a:ext cx="29377" cy="169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9" name="Connector 418"/>
          <p:cNvCxnSpPr/>
          <p:nvPr/>
        </p:nvCxnSpPr>
        <p:spPr>
          <a:xfrm>
            <a:off x="1594259" y="2227205"/>
            <a:ext cx="29377" cy="38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0" name="Connector 419"/>
          <p:cNvCxnSpPr/>
          <p:nvPr/>
        </p:nvCxnSpPr>
        <p:spPr>
          <a:xfrm>
            <a:off x="1623636" y="2227243"/>
            <a:ext cx="29377" cy="38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1" name="Connector 420"/>
          <p:cNvCxnSpPr/>
          <p:nvPr/>
        </p:nvCxnSpPr>
        <p:spPr>
          <a:xfrm flipV="1">
            <a:off x="1653013" y="2226366"/>
            <a:ext cx="29379" cy="915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2" name="Connector 421"/>
          <p:cNvCxnSpPr/>
          <p:nvPr/>
        </p:nvCxnSpPr>
        <p:spPr>
          <a:xfrm>
            <a:off x="1682392" y="2226366"/>
            <a:ext cx="29374" cy="992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3" name="Connector 422"/>
          <p:cNvCxnSpPr/>
          <p:nvPr/>
        </p:nvCxnSpPr>
        <p:spPr>
          <a:xfrm>
            <a:off x="1711766" y="2227358"/>
            <a:ext cx="29377" cy="38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4" name="Connector 423"/>
          <p:cNvCxnSpPr/>
          <p:nvPr/>
        </p:nvCxnSpPr>
        <p:spPr>
          <a:xfrm>
            <a:off x="1741143" y="2227396"/>
            <a:ext cx="29377" cy="38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5" name="Connector 424"/>
          <p:cNvCxnSpPr/>
          <p:nvPr/>
        </p:nvCxnSpPr>
        <p:spPr>
          <a:xfrm>
            <a:off x="1770520" y="2227434"/>
            <a:ext cx="29377" cy="38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6" name="Connector 425"/>
          <p:cNvCxnSpPr/>
          <p:nvPr/>
        </p:nvCxnSpPr>
        <p:spPr>
          <a:xfrm>
            <a:off x="1799897" y="2227472"/>
            <a:ext cx="29377" cy="39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7" name="Connector 426"/>
          <p:cNvCxnSpPr/>
          <p:nvPr/>
        </p:nvCxnSpPr>
        <p:spPr>
          <a:xfrm flipV="1">
            <a:off x="1829274" y="2226925"/>
            <a:ext cx="29378" cy="586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8" name="Connector 427"/>
          <p:cNvCxnSpPr/>
          <p:nvPr/>
        </p:nvCxnSpPr>
        <p:spPr>
          <a:xfrm>
            <a:off x="1858652" y="2226925"/>
            <a:ext cx="29375" cy="662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9" name="Connector 428"/>
          <p:cNvCxnSpPr/>
          <p:nvPr/>
        </p:nvCxnSpPr>
        <p:spPr>
          <a:xfrm>
            <a:off x="1888027" y="2227587"/>
            <a:ext cx="29377" cy="38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0" name="Connector 429"/>
          <p:cNvCxnSpPr/>
          <p:nvPr/>
        </p:nvCxnSpPr>
        <p:spPr>
          <a:xfrm>
            <a:off x="1917404" y="2227625"/>
            <a:ext cx="29376" cy="39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1" name="Connector 430"/>
          <p:cNvCxnSpPr/>
          <p:nvPr/>
        </p:nvCxnSpPr>
        <p:spPr>
          <a:xfrm>
            <a:off x="1946780" y="2227664"/>
            <a:ext cx="29377" cy="38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2" name="Connector 431"/>
          <p:cNvCxnSpPr/>
          <p:nvPr/>
        </p:nvCxnSpPr>
        <p:spPr>
          <a:xfrm>
            <a:off x="1976157" y="2227702"/>
            <a:ext cx="29377" cy="38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3" name="Connector 432"/>
          <p:cNvCxnSpPr/>
          <p:nvPr/>
        </p:nvCxnSpPr>
        <p:spPr>
          <a:xfrm>
            <a:off x="2005534" y="2227740"/>
            <a:ext cx="29377" cy="38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4" name="Connector 433"/>
          <p:cNvCxnSpPr/>
          <p:nvPr/>
        </p:nvCxnSpPr>
        <p:spPr>
          <a:xfrm flipV="1">
            <a:off x="2034911" y="2227193"/>
            <a:ext cx="29378" cy="585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5" name="Connector 434"/>
          <p:cNvCxnSpPr/>
          <p:nvPr/>
        </p:nvCxnSpPr>
        <p:spPr>
          <a:xfrm>
            <a:off x="2064289" y="2227193"/>
            <a:ext cx="29376" cy="662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6" name="Connector 435"/>
          <p:cNvCxnSpPr/>
          <p:nvPr/>
        </p:nvCxnSpPr>
        <p:spPr>
          <a:xfrm>
            <a:off x="2093665" y="2227855"/>
            <a:ext cx="29376" cy="38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7" name="Connector 436"/>
          <p:cNvCxnSpPr/>
          <p:nvPr/>
        </p:nvCxnSpPr>
        <p:spPr>
          <a:xfrm>
            <a:off x="2123041" y="2227893"/>
            <a:ext cx="29377" cy="39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8" name="Connector 437"/>
          <p:cNvCxnSpPr/>
          <p:nvPr/>
        </p:nvCxnSpPr>
        <p:spPr>
          <a:xfrm>
            <a:off x="2152418" y="2227932"/>
            <a:ext cx="29377" cy="38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9" name="Connector 438"/>
          <p:cNvCxnSpPr/>
          <p:nvPr/>
        </p:nvCxnSpPr>
        <p:spPr>
          <a:xfrm>
            <a:off x="2181795" y="2227970"/>
            <a:ext cx="29377" cy="38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0" name="Connector 439"/>
          <p:cNvCxnSpPr/>
          <p:nvPr/>
        </p:nvCxnSpPr>
        <p:spPr>
          <a:xfrm flipV="1">
            <a:off x="2211172" y="2227526"/>
            <a:ext cx="29378" cy="482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1" name="Connector 440"/>
          <p:cNvCxnSpPr/>
          <p:nvPr/>
        </p:nvCxnSpPr>
        <p:spPr>
          <a:xfrm>
            <a:off x="2240550" y="2227526"/>
            <a:ext cx="29375" cy="558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2" name="Connector 441"/>
          <p:cNvCxnSpPr/>
          <p:nvPr/>
        </p:nvCxnSpPr>
        <p:spPr>
          <a:xfrm>
            <a:off x="2269925" y="2228084"/>
            <a:ext cx="29377" cy="39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3" name="Connector 442"/>
          <p:cNvCxnSpPr/>
          <p:nvPr/>
        </p:nvCxnSpPr>
        <p:spPr>
          <a:xfrm>
            <a:off x="2299302" y="2228123"/>
            <a:ext cx="29377" cy="38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4" name="Connector 443"/>
          <p:cNvCxnSpPr/>
          <p:nvPr/>
        </p:nvCxnSpPr>
        <p:spPr>
          <a:xfrm>
            <a:off x="2328679" y="2228161"/>
            <a:ext cx="29377" cy="38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5" name="Connector 444"/>
          <p:cNvCxnSpPr/>
          <p:nvPr/>
        </p:nvCxnSpPr>
        <p:spPr>
          <a:xfrm>
            <a:off x="2358056" y="2228199"/>
            <a:ext cx="29376" cy="38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6" name="Connector 445"/>
          <p:cNvCxnSpPr/>
          <p:nvPr/>
        </p:nvCxnSpPr>
        <p:spPr>
          <a:xfrm>
            <a:off x="2387432" y="2228237"/>
            <a:ext cx="29377" cy="39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7" name="Connector 446"/>
          <p:cNvCxnSpPr/>
          <p:nvPr/>
        </p:nvCxnSpPr>
        <p:spPr>
          <a:xfrm flipV="1">
            <a:off x="2416809" y="2228210"/>
            <a:ext cx="29377" cy="66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8" name="Connector 447"/>
          <p:cNvCxnSpPr/>
          <p:nvPr/>
        </p:nvCxnSpPr>
        <p:spPr>
          <a:xfrm>
            <a:off x="2446186" y="2228210"/>
            <a:ext cx="29377" cy="142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9" name="Connector 448"/>
          <p:cNvCxnSpPr/>
          <p:nvPr/>
        </p:nvCxnSpPr>
        <p:spPr>
          <a:xfrm>
            <a:off x="2475563" y="2228352"/>
            <a:ext cx="29376" cy="38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0" name="Connector 449"/>
          <p:cNvCxnSpPr/>
          <p:nvPr/>
        </p:nvCxnSpPr>
        <p:spPr>
          <a:xfrm>
            <a:off x="2504939" y="2228390"/>
            <a:ext cx="29377" cy="38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1" name="Connector 450"/>
          <p:cNvCxnSpPr/>
          <p:nvPr/>
        </p:nvCxnSpPr>
        <p:spPr>
          <a:xfrm>
            <a:off x="2534316" y="2228428"/>
            <a:ext cx="29377" cy="39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2" name="Connector 451"/>
          <p:cNvCxnSpPr/>
          <p:nvPr/>
        </p:nvCxnSpPr>
        <p:spPr>
          <a:xfrm>
            <a:off x="2563693" y="2228467"/>
            <a:ext cx="29377" cy="38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3" name="Connector 452"/>
          <p:cNvCxnSpPr/>
          <p:nvPr/>
        </p:nvCxnSpPr>
        <p:spPr>
          <a:xfrm flipV="1">
            <a:off x="2593070" y="2228075"/>
            <a:ext cx="21366" cy="430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4" name="Connector 453"/>
          <p:cNvCxnSpPr/>
          <p:nvPr/>
        </p:nvCxnSpPr>
        <p:spPr>
          <a:xfrm>
            <a:off x="780986" y="1449662"/>
            <a:ext cx="25685" cy="36758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5" name="Connector 454"/>
          <p:cNvCxnSpPr/>
          <p:nvPr/>
        </p:nvCxnSpPr>
        <p:spPr>
          <a:xfrm>
            <a:off x="806671" y="1486420"/>
            <a:ext cx="16982" cy="25880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6" name="Connector 455"/>
          <p:cNvCxnSpPr/>
          <p:nvPr/>
        </p:nvCxnSpPr>
        <p:spPr>
          <a:xfrm>
            <a:off x="823653" y="1512300"/>
            <a:ext cx="16648" cy="24387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7" name="Connector 456"/>
          <p:cNvCxnSpPr/>
          <p:nvPr/>
        </p:nvCxnSpPr>
        <p:spPr>
          <a:xfrm>
            <a:off x="840301" y="1536687"/>
            <a:ext cx="16646" cy="24872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8" name="Connector 457"/>
          <p:cNvCxnSpPr/>
          <p:nvPr/>
        </p:nvCxnSpPr>
        <p:spPr>
          <a:xfrm>
            <a:off x="856947" y="1561559"/>
            <a:ext cx="18947" cy="24653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9" name="Connector 458"/>
          <p:cNvCxnSpPr/>
          <p:nvPr/>
        </p:nvCxnSpPr>
        <p:spPr>
          <a:xfrm>
            <a:off x="875894" y="1586212"/>
            <a:ext cx="23040" cy="31497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0" name="Connector 459"/>
          <p:cNvCxnSpPr/>
          <p:nvPr/>
        </p:nvCxnSpPr>
        <p:spPr>
          <a:xfrm>
            <a:off x="898934" y="1617709"/>
            <a:ext cx="18230" cy="27068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1" name="Connector 460"/>
          <p:cNvCxnSpPr/>
          <p:nvPr/>
        </p:nvCxnSpPr>
        <p:spPr>
          <a:xfrm>
            <a:off x="917164" y="1644777"/>
            <a:ext cx="18640" cy="25678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2" name="Connector 461"/>
          <p:cNvCxnSpPr/>
          <p:nvPr/>
        </p:nvCxnSpPr>
        <p:spPr>
          <a:xfrm>
            <a:off x="935804" y="1670455"/>
            <a:ext cx="18640" cy="25352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3" name="Connector 462"/>
          <p:cNvCxnSpPr/>
          <p:nvPr/>
        </p:nvCxnSpPr>
        <p:spPr>
          <a:xfrm>
            <a:off x="954444" y="1695807"/>
            <a:ext cx="18303" cy="25005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4" name="Connector 463"/>
          <p:cNvCxnSpPr/>
          <p:nvPr/>
        </p:nvCxnSpPr>
        <p:spPr>
          <a:xfrm>
            <a:off x="972747" y="1720812"/>
            <a:ext cx="21960" cy="30114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5" name="Connector 464"/>
          <p:cNvCxnSpPr/>
          <p:nvPr/>
        </p:nvCxnSpPr>
        <p:spPr>
          <a:xfrm>
            <a:off x="994707" y="1750926"/>
            <a:ext cx="19314" cy="26387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6" name="Connector 465"/>
          <p:cNvCxnSpPr/>
          <p:nvPr/>
        </p:nvCxnSpPr>
        <p:spPr>
          <a:xfrm>
            <a:off x="1014021" y="1777313"/>
            <a:ext cx="18979" cy="25163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7" name="Connector 466"/>
          <p:cNvCxnSpPr/>
          <p:nvPr/>
        </p:nvCxnSpPr>
        <p:spPr>
          <a:xfrm>
            <a:off x="1033000" y="1802476"/>
            <a:ext cx="18976" cy="26230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8" name="Connector 467"/>
          <p:cNvCxnSpPr/>
          <p:nvPr/>
        </p:nvCxnSpPr>
        <p:spPr>
          <a:xfrm>
            <a:off x="1051976" y="1828706"/>
            <a:ext cx="20650" cy="25954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9" name="Connector 468"/>
          <p:cNvCxnSpPr/>
          <p:nvPr/>
        </p:nvCxnSpPr>
        <p:spPr>
          <a:xfrm>
            <a:off x="1072626" y="1854660"/>
            <a:ext cx="17980" cy="25294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0" name="Connector 469"/>
          <p:cNvCxnSpPr/>
          <p:nvPr/>
        </p:nvCxnSpPr>
        <p:spPr>
          <a:xfrm>
            <a:off x="1090606" y="1879954"/>
            <a:ext cx="23899" cy="30992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1" name="Connector 470"/>
          <p:cNvCxnSpPr/>
          <p:nvPr/>
        </p:nvCxnSpPr>
        <p:spPr>
          <a:xfrm>
            <a:off x="1114505" y="1910946"/>
            <a:ext cx="22259" cy="25881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2" name="Connector 471"/>
          <p:cNvCxnSpPr/>
          <p:nvPr/>
        </p:nvCxnSpPr>
        <p:spPr>
          <a:xfrm>
            <a:off x="1136764" y="1936827"/>
            <a:ext cx="21409" cy="27782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3" name="Connector 472"/>
          <p:cNvCxnSpPr/>
          <p:nvPr/>
        </p:nvCxnSpPr>
        <p:spPr>
          <a:xfrm>
            <a:off x="1158173" y="1964609"/>
            <a:ext cx="18869" cy="21800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4" name="Connector 473"/>
          <p:cNvCxnSpPr/>
          <p:nvPr/>
        </p:nvCxnSpPr>
        <p:spPr>
          <a:xfrm>
            <a:off x="1177042" y="1986409"/>
            <a:ext cx="23750" cy="30108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5" name="Connector 474"/>
          <p:cNvCxnSpPr/>
          <p:nvPr/>
        </p:nvCxnSpPr>
        <p:spPr>
          <a:xfrm>
            <a:off x="1200792" y="2016517"/>
            <a:ext cx="17883" cy="21642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6" name="Connector 475"/>
          <p:cNvCxnSpPr/>
          <p:nvPr/>
        </p:nvCxnSpPr>
        <p:spPr>
          <a:xfrm>
            <a:off x="1218675" y="2038159"/>
            <a:ext cx="26076" cy="28330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7" name="Connector 476"/>
          <p:cNvCxnSpPr/>
          <p:nvPr/>
        </p:nvCxnSpPr>
        <p:spPr>
          <a:xfrm>
            <a:off x="1244751" y="2066489"/>
            <a:ext cx="23980" cy="25661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8" name="Connector 477"/>
          <p:cNvCxnSpPr/>
          <p:nvPr/>
        </p:nvCxnSpPr>
        <p:spPr>
          <a:xfrm>
            <a:off x="1268731" y="2092150"/>
            <a:ext cx="25313" cy="27260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9" name="Connector 478"/>
          <p:cNvCxnSpPr/>
          <p:nvPr/>
        </p:nvCxnSpPr>
        <p:spPr>
          <a:xfrm>
            <a:off x="1294044" y="2119410"/>
            <a:ext cx="22652" cy="22465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0" name="Connector 479"/>
          <p:cNvCxnSpPr/>
          <p:nvPr/>
        </p:nvCxnSpPr>
        <p:spPr>
          <a:xfrm>
            <a:off x="1316696" y="2141875"/>
            <a:ext cx="30654" cy="27703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1" name="Connector 480"/>
          <p:cNvCxnSpPr/>
          <p:nvPr/>
        </p:nvCxnSpPr>
        <p:spPr>
          <a:xfrm>
            <a:off x="1347350" y="2169578"/>
            <a:ext cx="27994" cy="22092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2" name="Connector 481"/>
          <p:cNvCxnSpPr/>
          <p:nvPr/>
        </p:nvCxnSpPr>
        <p:spPr>
          <a:xfrm>
            <a:off x="1375344" y="2191670"/>
            <a:ext cx="28224" cy="18725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3" name="Connector 482"/>
          <p:cNvCxnSpPr/>
          <p:nvPr/>
        </p:nvCxnSpPr>
        <p:spPr>
          <a:xfrm>
            <a:off x="1403568" y="2210395"/>
            <a:ext cx="33129" cy="14837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4" name="Connector 483"/>
          <p:cNvCxnSpPr/>
          <p:nvPr/>
        </p:nvCxnSpPr>
        <p:spPr>
          <a:xfrm>
            <a:off x="1436697" y="2225232"/>
            <a:ext cx="29373" cy="1827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5" name="Connector 484"/>
          <p:cNvCxnSpPr/>
          <p:nvPr/>
        </p:nvCxnSpPr>
        <p:spPr>
          <a:xfrm>
            <a:off x="1466070" y="2227059"/>
            <a:ext cx="29376" cy="343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6" name="Connector 485"/>
          <p:cNvCxnSpPr/>
          <p:nvPr/>
        </p:nvCxnSpPr>
        <p:spPr>
          <a:xfrm flipV="1">
            <a:off x="1495446" y="2226386"/>
            <a:ext cx="29379" cy="1016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7" name="Connector 486"/>
          <p:cNvCxnSpPr/>
          <p:nvPr/>
        </p:nvCxnSpPr>
        <p:spPr>
          <a:xfrm>
            <a:off x="1524825" y="2226386"/>
            <a:ext cx="29375" cy="918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8" name="Connector 487"/>
          <p:cNvCxnSpPr/>
          <p:nvPr/>
        </p:nvCxnSpPr>
        <p:spPr>
          <a:xfrm flipV="1">
            <a:off x="1554200" y="2226797"/>
            <a:ext cx="29378" cy="507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9" name="Connector 488"/>
          <p:cNvCxnSpPr/>
          <p:nvPr/>
        </p:nvCxnSpPr>
        <p:spPr>
          <a:xfrm>
            <a:off x="1583578" y="2226797"/>
            <a:ext cx="29376" cy="432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0" name="Connector 489"/>
          <p:cNvCxnSpPr/>
          <p:nvPr/>
        </p:nvCxnSpPr>
        <p:spPr>
          <a:xfrm>
            <a:off x="1612954" y="2227229"/>
            <a:ext cx="29376" cy="38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1" name="Connector 490"/>
          <p:cNvCxnSpPr/>
          <p:nvPr/>
        </p:nvCxnSpPr>
        <p:spPr>
          <a:xfrm flipV="1">
            <a:off x="1642330" y="2226682"/>
            <a:ext cx="29379" cy="585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2" name="Connector 491"/>
          <p:cNvCxnSpPr/>
          <p:nvPr/>
        </p:nvCxnSpPr>
        <p:spPr>
          <a:xfrm>
            <a:off x="1671709" y="2226682"/>
            <a:ext cx="29375" cy="662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3" name="Connector 492"/>
          <p:cNvCxnSpPr/>
          <p:nvPr/>
        </p:nvCxnSpPr>
        <p:spPr>
          <a:xfrm>
            <a:off x="1701084" y="2227344"/>
            <a:ext cx="29377" cy="38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4" name="Connector 493"/>
          <p:cNvCxnSpPr/>
          <p:nvPr/>
        </p:nvCxnSpPr>
        <p:spPr>
          <a:xfrm>
            <a:off x="1730461" y="2227382"/>
            <a:ext cx="29377" cy="38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5" name="Connector 494"/>
          <p:cNvCxnSpPr/>
          <p:nvPr/>
        </p:nvCxnSpPr>
        <p:spPr>
          <a:xfrm>
            <a:off x="1759838" y="2227420"/>
            <a:ext cx="29376" cy="38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6" name="Connector 495"/>
          <p:cNvCxnSpPr/>
          <p:nvPr/>
        </p:nvCxnSpPr>
        <p:spPr>
          <a:xfrm>
            <a:off x="1789214" y="2227458"/>
            <a:ext cx="29377" cy="39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7" name="Connector 496"/>
          <p:cNvCxnSpPr/>
          <p:nvPr/>
        </p:nvCxnSpPr>
        <p:spPr>
          <a:xfrm>
            <a:off x="1818591" y="2227497"/>
            <a:ext cx="29377" cy="38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8" name="Connector 497"/>
          <p:cNvCxnSpPr/>
          <p:nvPr/>
        </p:nvCxnSpPr>
        <p:spPr>
          <a:xfrm flipV="1">
            <a:off x="1847968" y="2226949"/>
            <a:ext cx="29378" cy="586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9" name="Connector 498"/>
          <p:cNvCxnSpPr/>
          <p:nvPr/>
        </p:nvCxnSpPr>
        <p:spPr>
          <a:xfrm>
            <a:off x="1877346" y="2226949"/>
            <a:ext cx="29375" cy="662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0" name="Connector 499"/>
          <p:cNvCxnSpPr/>
          <p:nvPr/>
        </p:nvCxnSpPr>
        <p:spPr>
          <a:xfrm>
            <a:off x="1906721" y="2227611"/>
            <a:ext cx="29377" cy="39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1" name="Connector 500"/>
          <p:cNvCxnSpPr/>
          <p:nvPr/>
        </p:nvCxnSpPr>
        <p:spPr>
          <a:xfrm>
            <a:off x="1936098" y="2227650"/>
            <a:ext cx="29377" cy="38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2" name="Connector 501"/>
          <p:cNvCxnSpPr/>
          <p:nvPr/>
        </p:nvCxnSpPr>
        <p:spPr>
          <a:xfrm>
            <a:off x="1965475" y="2227688"/>
            <a:ext cx="29377" cy="38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3" name="Connector 502"/>
          <p:cNvCxnSpPr/>
          <p:nvPr/>
        </p:nvCxnSpPr>
        <p:spPr>
          <a:xfrm>
            <a:off x="1994852" y="2227726"/>
            <a:ext cx="29376" cy="38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4" name="Connector 503"/>
          <p:cNvCxnSpPr/>
          <p:nvPr/>
        </p:nvCxnSpPr>
        <p:spPr>
          <a:xfrm flipV="1">
            <a:off x="2024228" y="2227179"/>
            <a:ext cx="29379" cy="585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5" name="Connector 504"/>
          <p:cNvCxnSpPr/>
          <p:nvPr/>
        </p:nvCxnSpPr>
        <p:spPr>
          <a:xfrm>
            <a:off x="2053607" y="2227179"/>
            <a:ext cx="29375" cy="662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6" name="Connector 505"/>
          <p:cNvCxnSpPr/>
          <p:nvPr/>
        </p:nvCxnSpPr>
        <p:spPr>
          <a:xfrm>
            <a:off x="2082982" y="2227841"/>
            <a:ext cx="29377" cy="38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7" name="Connector 506"/>
          <p:cNvCxnSpPr/>
          <p:nvPr/>
        </p:nvCxnSpPr>
        <p:spPr>
          <a:xfrm>
            <a:off x="2112359" y="2227879"/>
            <a:ext cx="29377" cy="38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8" name="Connector 507"/>
          <p:cNvCxnSpPr/>
          <p:nvPr/>
        </p:nvCxnSpPr>
        <p:spPr>
          <a:xfrm>
            <a:off x="2141736" y="2227917"/>
            <a:ext cx="29376" cy="39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9" name="Connector 508"/>
          <p:cNvCxnSpPr/>
          <p:nvPr/>
        </p:nvCxnSpPr>
        <p:spPr>
          <a:xfrm>
            <a:off x="2171112" y="2227956"/>
            <a:ext cx="29377" cy="38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0" name="Connector 509"/>
          <p:cNvCxnSpPr/>
          <p:nvPr/>
        </p:nvCxnSpPr>
        <p:spPr>
          <a:xfrm flipV="1">
            <a:off x="2200489" y="2227408"/>
            <a:ext cx="29378" cy="586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1" name="Connector 510"/>
          <p:cNvCxnSpPr/>
          <p:nvPr/>
        </p:nvCxnSpPr>
        <p:spPr>
          <a:xfrm>
            <a:off x="2229867" y="2227408"/>
            <a:ext cx="29376" cy="662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2" name="Connector 511"/>
          <p:cNvCxnSpPr/>
          <p:nvPr/>
        </p:nvCxnSpPr>
        <p:spPr>
          <a:xfrm>
            <a:off x="2259243" y="2228070"/>
            <a:ext cx="29376" cy="39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3" name="Connector 512"/>
          <p:cNvCxnSpPr/>
          <p:nvPr/>
        </p:nvCxnSpPr>
        <p:spPr>
          <a:xfrm>
            <a:off x="2288619" y="2228109"/>
            <a:ext cx="29377" cy="38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4" name="Connector 513"/>
          <p:cNvCxnSpPr/>
          <p:nvPr/>
        </p:nvCxnSpPr>
        <p:spPr>
          <a:xfrm>
            <a:off x="2317996" y="2228147"/>
            <a:ext cx="29377" cy="38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5" name="Connector 514"/>
          <p:cNvCxnSpPr/>
          <p:nvPr/>
        </p:nvCxnSpPr>
        <p:spPr>
          <a:xfrm>
            <a:off x="2347373" y="2228185"/>
            <a:ext cx="29377" cy="38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6" name="Connector 515"/>
          <p:cNvCxnSpPr/>
          <p:nvPr/>
        </p:nvCxnSpPr>
        <p:spPr>
          <a:xfrm>
            <a:off x="2376750" y="2228223"/>
            <a:ext cx="29376" cy="39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7" name="Connector 516"/>
          <p:cNvCxnSpPr/>
          <p:nvPr/>
        </p:nvCxnSpPr>
        <p:spPr>
          <a:xfrm flipV="1">
            <a:off x="2406126" y="2227780"/>
            <a:ext cx="29379" cy="482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8" name="Connector 517"/>
          <p:cNvCxnSpPr/>
          <p:nvPr/>
        </p:nvCxnSpPr>
        <p:spPr>
          <a:xfrm>
            <a:off x="2435505" y="2227780"/>
            <a:ext cx="29375" cy="558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9" name="Connector 518"/>
          <p:cNvCxnSpPr/>
          <p:nvPr/>
        </p:nvCxnSpPr>
        <p:spPr>
          <a:xfrm>
            <a:off x="2464880" y="2228338"/>
            <a:ext cx="29377" cy="38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0" name="Connector 519"/>
          <p:cNvCxnSpPr/>
          <p:nvPr/>
        </p:nvCxnSpPr>
        <p:spPr>
          <a:xfrm>
            <a:off x="2494257" y="2228376"/>
            <a:ext cx="29377" cy="39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1" name="Connector 520"/>
          <p:cNvCxnSpPr/>
          <p:nvPr/>
        </p:nvCxnSpPr>
        <p:spPr>
          <a:xfrm>
            <a:off x="2523634" y="2228415"/>
            <a:ext cx="29377" cy="38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2" name="Connector 521"/>
          <p:cNvCxnSpPr/>
          <p:nvPr/>
        </p:nvCxnSpPr>
        <p:spPr>
          <a:xfrm>
            <a:off x="2553011" y="2228453"/>
            <a:ext cx="29376" cy="38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3" name="Connector 522"/>
          <p:cNvCxnSpPr/>
          <p:nvPr/>
        </p:nvCxnSpPr>
        <p:spPr>
          <a:xfrm flipV="1">
            <a:off x="2582387" y="2227255"/>
            <a:ext cx="26709" cy="1236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4" name="Connector 523"/>
          <p:cNvCxnSpPr/>
          <p:nvPr/>
        </p:nvCxnSpPr>
        <p:spPr>
          <a:xfrm flipV="1">
            <a:off x="1447618" y="2112304"/>
            <a:ext cx="75009" cy="80279"/>
          </a:xfrm>
          <a:prstGeom prst="line">
            <a:avLst/>
          </a:prstGeom>
          <a:ln w="384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5" name="Connector 524"/>
          <p:cNvCxnSpPr/>
          <p:nvPr/>
        </p:nvCxnSpPr>
        <p:spPr>
          <a:xfrm flipV="1">
            <a:off x="2061568" y="956358"/>
            <a:ext cx="75009" cy="80278"/>
          </a:xfrm>
          <a:prstGeom prst="line">
            <a:avLst/>
          </a:prstGeom>
          <a:ln w="384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6" name="Connector 525"/>
          <p:cNvCxnSpPr/>
          <p:nvPr/>
        </p:nvCxnSpPr>
        <p:spPr>
          <a:xfrm flipH="1">
            <a:off x="1612263" y="1128227"/>
            <a:ext cx="75009" cy="75509"/>
          </a:xfrm>
          <a:prstGeom prst="line">
            <a:avLst/>
          </a:prstGeom>
          <a:ln w="384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7" name="Connector 526"/>
          <p:cNvCxnSpPr/>
          <p:nvPr/>
        </p:nvCxnSpPr>
        <p:spPr>
          <a:xfrm flipV="1">
            <a:off x="1244719" y="1990790"/>
            <a:ext cx="75009" cy="80278"/>
          </a:xfrm>
          <a:prstGeom prst="line">
            <a:avLst/>
          </a:prstGeom>
          <a:ln w="384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8" name="Connector 527"/>
          <p:cNvCxnSpPr/>
          <p:nvPr/>
        </p:nvCxnSpPr>
        <p:spPr>
          <a:xfrm flipH="1">
            <a:off x="2178207" y="1229813"/>
            <a:ext cx="75009" cy="75509"/>
          </a:xfrm>
          <a:prstGeom prst="line">
            <a:avLst/>
          </a:prstGeom>
          <a:ln w="384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9" name="Connector 528"/>
          <p:cNvCxnSpPr/>
          <p:nvPr/>
        </p:nvCxnSpPr>
        <p:spPr>
          <a:xfrm flipV="1">
            <a:off x="1138206" y="1788265"/>
            <a:ext cx="75009" cy="80279"/>
          </a:xfrm>
          <a:prstGeom prst="line">
            <a:avLst/>
          </a:prstGeom>
          <a:ln w="384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0" name="Connector 529"/>
          <p:cNvCxnSpPr/>
          <p:nvPr/>
        </p:nvCxnSpPr>
        <p:spPr>
          <a:xfrm flipV="1">
            <a:off x="1511376" y="978168"/>
            <a:ext cx="75009" cy="80278"/>
          </a:xfrm>
          <a:prstGeom prst="line">
            <a:avLst/>
          </a:prstGeom>
          <a:ln w="384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1" name="Rectangle 530"/>
          <p:cNvSpPr/>
          <p:nvPr/>
        </p:nvSpPr>
        <p:spPr>
          <a:xfrm>
            <a:off x="3302754" y="1014285"/>
            <a:ext cx="54857" cy="54857"/>
          </a:xfrm>
          <a:prstGeom prst="rect">
            <a:avLst/>
          </a:prstGeom>
          <a:noFill/>
          <a:ln w="3657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2" name="Rectangle 531"/>
          <p:cNvSpPr/>
          <p:nvPr/>
        </p:nvSpPr>
        <p:spPr>
          <a:xfrm>
            <a:off x="3302754" y="2054915"/>
            <a:ext cx="54857" cy="54857"/>
          </a:xfrm>
          <a:prstGeom prst="rect">
            <a:avLst/>
          </a:prstGeom>
          <a:noFill/>
          <a:ln w="3657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3" name="Rectangle 532"/>
          <p:cNvSpPr/>
          <p:nvPr/>
        </p:nvSpPr>
        <p:spPr>
          <a:xfrm>
            <a:off x="3654994" y="742170"/>
            <a:ext cx="182859" cy="182859"/>
          </a:xfrm>
          <a:prstGeom prst="rect">
            <a:avLst/>
          </a:prstGeom>
          <a:noFill/>
          <a:ln w="3657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4" name="Rectangle 533"/>
          <p:cNvSpPr/>
          <p:nvPr/>
        </p:nvSpPr>
        <p:spPr>
          <a:xfrm>
            <a:off x="3654994" y="1158399"/>
            <a:ext cx="182859" cy="182859"/>
          </a:xfrm>
          <a:prstGeom prst="rect">
            <a:avLst/>
          </a:prstGeom>
          <a:noFill/>
          <a:ln w="3657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5" name="Rectangle 534"/>
          <p:cNvSpPr/>
          <p:nvPr/>
        </p:nvSpPr>
        <p:spPr>
          <a:xfrm>
            <a:off x="3654994" y="1782854"/>
            <a:ext cx="182859" cy="182859"/>
          </a:xfrm>
          <a:prstGeom prst="rect">
            <a:avLst/>
          </a:prstGeom>
          <a:noFill/>
          <a:ln w="3657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6" name="Rectangle 535"/>
          <p:cNvSpPr/>
          <p:nvPr/>
        </p:nvSpPr>
        <p:spPr>
          <a:xfrm>
            <a:off x="3654994" y="2199084"/>
            <a:ext cx="182859" cy="182859"/>
          </a:xfrm>
          <a:prstGeom prst="rect">
            <a:avLst/>
          </a:prstGeom>
          <a:noFill/>
          <a:ln w="3657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7" name="Freeform 536"/>
          <p:cNvSpPr/>
          <p:nvPr/>
        </p:nvSpPr>
        <p:spPr>
          <a:xfrm>
            <a:off x="4178300" y="952500"/>
            <a:ext cx="177800" cy="177800"/>
          </a:xfrm>
          <a:custGeom>
            <a:avLst/>
            <a:gdLst/>
            <a:ahLst/>
            <a:cxnLst/>
            <a:rect l="l" t="t" r="r" b="b"/>
            <a:pathLst>
              <a:path w="14" h="14">
                <a:moveTo>
                  <a:pt x="14" y="7"/>
                </a:moveTo>
                <a:lnTo>
                  <a:pt x="14" y="6"/>
                </a:lnTo>
                <a:lnTo>
                  <a:pt x="14" y="4"/>
                </a:lnTo>
                <a:lnTo>
                  <a:pt x="13" y="3"/>
                </a:lnTo>
                <a:lnTo>
                  <a:pt x="12" y="2"/>
                </a:lnTo>
                <a:lnTo>
                  <a:pt x="11" y="1"/>
                </a:lnTo>
                <a:lnTo>
                  <a:pt x="10" y="0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4" y="0"/>
                </a:lnTo>
                <a:lnTo>
                  <a:pt x="3" y="1"/>
                </a:lnTo>
                <a:lnTo>
                  <a:pt x="2" y="2"/>
                </a:lnTo>
                <a:lnTo>
                  <a:pt x="1" y="3"/>
                </a:lnTo>
                <a:lnTo>
                  <a:pt x="0" y="4"/>
                </a:lnTo>
                <a:lnTo>
                  <a:pt x="0" y="6"/>
                </a:lnTo>
                <a:lnTo>
                  <a:pt x="0" y="7"/>
                </a:lnTo>
                <a:lnTo>
                  <a:pt x="0" y="8"/>
                </a:lnTo>
                <a:lnTo>
                  <a:pt x="0" y="10"/>
                </a:lnTo>
                <a:lnTo>
                  <a:pt x="1" y="11"/>
                </a:lnTo>
                <a:lnTo>
                  <a:pt x="2" y="12"/>
                </a:lnTo>
                <a:lnTo>
                  <a:pt x="3" y="13"/>
                </a:lnTo>
                <a:lnTo>
                  <a:pt x="4" y="14"/>
                </a:lnTo>
                <a:lnTo>
                  <a:pt x="6" y="14"/>
                </a:lnTo>
                <a:lnTo>
                  <a:pt x="7" y="14"/>
                </a:lnTo>
                <a:lnTo>
                  <a:pt x="8" y="14"/>
                </a:lnTo>
                <a:lnTo>
                  <a:pt x="10" y="14"/>
                </a:lnTo>
                <a:lnTo>
                  <a:pt x="11" y="13"/>
                </a:lnTo>
                <a:lnTo>
                  <a:pt x="12" y="12"/>
                </a:lnTo>
                <a:lnTo>
                  <a:pt x="13" y="11"/>
                </a:lnTo>
                <a:lnTo>
                  <a:pt x="14" y="10"/>
                </a:lnTo>
                <a:lnTo>
                  <a:pt x="14" y="8"/>
                </a:lnTo>
                <a:lnTo>
                  <a:pt x="14" y="7"/>
                </a:lnTo>
                <a:close/>
              </a:path>
            </a:pathLst>
          </a:custGeom>
          <a:solidFill>
            <a:srgbClr val="000000"/>
          </a:solidFill>
          <a:ln w="3657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8" name="Freeform 537"/>
          <p:cNvSpPr/>
          <p:nvPr/>
        </p:nvSpPr>
        <p:spPr>
          <a:xfrm>
            <a:off x="4178300" y="1155700"/>
            <a:ext cx="177800" cy="190500"/>
          </a:xfrm>
          <a:custGeom>
            <a:avLst/>
            <a:gdLst/>
            <a:ahLst/>
            <a:cxnLst/>
            <a:rect l="l" t="t" r="r" b="b"/>
            <a:pathLst>
              <a:path w="14" h="15">
                <a:moveTo>
                  <a:pt x="14" y="7"/>
                </a:moveTo>
                <a:lnTo>
                  <a:pt x="14" y="6"/>
                </a:lnTo>
                <a:lnTo>
                  <a:pt x="14" y="5"/>
                </a:lnTo>
                <a:lnTo>
                  <a:pt x="13" y="3"/>
                </a:lnTo>
                <a:lnTo>
                  <a:pt x="12" y="2"/>
                </a:lnTo>
                <a:lnTo>
                  <a:pt x="11" y="1"/>
                </a:lnTo>
                <a:lnTo>
                  <a:pt x="10" y="1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4" y="1"/>
                </a:lnTo>
                <a:lnTo>
                  <a:pt x="3" y="1"/>
                </a:lnTo>
                <a:lnTo>
                  <a:pt x="2" y="2"/>
                </a:lnTo>
                <a:lnTo>
                  <a:pt x="1" y="3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0" y="9"/>
                </a:lnTo>
                <a:lnTo>
                  <a:pt x="0" y="10"/>
                </a:lnTo>
                <a:lnTo>
                  <a:pt x="1" y="11"/>
                </a:lnTo>
                <a:lnTo>
                  <a:pt x="2" y="13"/>
                </a:lnTo>
                <a:lnTo>
                  <a:pt x="3" y="13"/>
                </a:lnTo>
                <a:lnTo>
                  <a:pt x="4" y="14"/>
                </a:lnTo>
                <a:lnTo>
                  <a:pt x="6" y="14"/>
                </a:lnTo>
                <a:lnTo>
                  <a:pt x="7" y="15"/>
                </a:lnTo>
                <a:lnTo>
                  <a:pt x="8" y="14"/>
                </a:lnTo>
                <a:lnTo>
                  <a:pt x="10" y="14"/>
                </a:lnTo>
                <a:lnTo>
                  <a:pt x="11" y="13"/>
                </a:lnTo>
                <a:lnTo>
                  <a:pt x="12" y="13"/>
                </a:lnTo>
                <a:lnTo>
                  <a:pt x="13" y="11"/>
                </a:lnTo>
                <a:lnTo>
                  <a:pt x="14" y="10"/>
                </a:lnTo>
                <a:lnTo>
                  <a:pt x="14" y="9"/>
                </a:lnTo>
                <a:lnTo>
                  <a:pt x="14" y="7"/>
                </a:lnTo>
                <a:close/>
              </a:path>
            </a:pathLst>
          </a:custGeom>
          <a:solidFill>
            <a:srgbClr val="000000"/>
          </a:solidFill>
          <a:ln w="3657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Freeform 538"/>
          <p:cNvSpPr/>
          <p:nvPr/>
        </p:nvSpPr>
        <p:spPr>
          <a:xfrm>
            <a:off x="4178300" y="1574800"/>
            <a:ext cx="177800" cy="177800"/>
          </a:xfrm>
          <a:custGeom>
            <a:avLst/>
            <a:gdLst/>
            <a:ahLst/>
            <a:cxnLst/>
            <a:rect l="l" t="t" r="r" b="b"/>
            <a:pathLst>
              <a:path w="14" h="14">
                <a:moveTo>
                  <a:pt x="14" y="7"/>
                </a:moveTo>
                <a:lnTo>
                  <a:pt x="14" y="6"/>
                </a:lnTo>
                <a:lnTo>
                  <a:pt x="14" y="4"/>
                </a:lnTo>
                <a:lnTo>
                  <a:pt x="13" y="3"/>
                </a:lnTo>
                <a:lnTo>
                  <a:pt x="12" y="2"/>
                </a:lnTo>
                <a:lnTo>
                  <a:pt x="11" y="1"/>
                </a:lnTo>
                <a:lnTo>
                  <a:pt x="10" y="1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4" y="1"/>
                </a:lnTo>
                <a:lnTo>
                  <a:pt x="3" y="1"/>
                </a:lnTo>
                <a:lnTo>
                  <a:pt x="2" y="2"/>
                </a:lnTo>
                <a:lnTo>
                  <a:pt x="1" y="3"/>
                </a:lnTo>
                <a:lnTo>
                  <a:pt x="0" y="4"/>
                </a:lnTo>
                <a:lnTo>
                  <a:pt x="0" y="6"/>
                </a:lnTo>
                <a:lnTo>
                  <a:pt x="0" y="7"/>
                </a:lnTo>
                <a:lnTo>
                  <a:pt x="0" y="9"/>
                </a:lnTo>
                <a:lnTo>
                  <a:pt x="0" y="10"/>
                </a:lnTo>
                <a:lnTo>
                  <a:pt x="1" y="11"/>
                </a:lnTo>
                <a:lnTo>
                  <a:pt x="2" y="12"/>
                </a:lnTo>
                <a:lnTo>
                  <a:pt x="3" y="13"/>
                </a:lnTo>
                <a:lnTo>
                  <a:pt x="4" y="14"/>
                </a:lnTo>
                <a:lnTo>
                  <a:pt x="6" y="14"/>
                </a:lnTo>
                <a:lnTo>
                  <a:pt x="7" y="14"/>
                </a:lnTo>
                <a:lnTo>
                  <a:pt x="8" y="14"/>
                </a:lnTo>
                <a:lnTo>
                  <a:pt x="10" y="14"/>
                </a:lnTo>
                <a:lnTo>
                  <a:pt x="11" y="13"/>
                </a:lnTo>
                <a:lnTo>
                  <a:pt x="12" y="12"/>
                </a:lnTo>
                <a:lnTo>
                  <a:pt x="13" y="11"/>
                </a:lnTo>
                <a:lnTo>
                  <a:pt x="14" y="10"/>
                </a:lnTo>
                <a:lnTo>
                  <a:pt x="14" y="9"/>
                </a:lnTo>
                <a:lnTo>
                  <a:pt x="14" y="7"/>
                </a:lnTo>
                <a:close/>
              </a:path>
            </a:pathLst>
          </a:custGeom>
          <a:solidFill>
            <a:srgbClr val="000000"/>
          </a:solidFill>
          <a:ln w="3657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Freeform 539"/>
          <p:cNvSpPr/>
          <p:nvPr/>
        </p:nvSpPr>
        <p:spPr>
          <a:xfrm>
            <a:off x="4178300" y="2197100"/>
            <a:ext cx="177800" cy="190500"/>
          </a:xfrm>
          <a:custGeom>
            <a:avLst/>
            <a:gdLst/>
            <a:ahLst/>
            <a:cxnLst/>
            <a:rect l="l" t="t" r="r" b="b"/>
            <a:pathLst>
              <a:path w="14" h="15">
                <a:moveTo>
                  <a:pt x="14" y="7"/>
                </a:moveTo>
                <a:lnTo>
                  <a:pt x="14" y="6"/>
                </a:lnTo>
                <a:lnTo>
                  <a:pt x="14" y="5"/>
                </a:lnTo>
                <a:lnTo>
                  <a:pt x="13" y="3"/>
                </a:lnTo>
                <a:lnTo>
                  <a:pt x="12" y="2"/>
                </a:lnTo>
                <a:lnTo>
                  <a:pt x="11" y="1"/>
                </a:lnTo>
                <a:lnTo>
                  <a:pt x="10" y="1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4" y="1"/>
                </a:lnTo>
                <a:lnTo>
                  <a:pt x="3" y="1"/>
                </a:lnTo>
                <a:lnTo>
                  <a:pt x="2" y="2"/>
                </a:lnTo>
                <a:lnTo>
                  <a:pt x="1" y="3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0" y="9"/>
                </a:lnTo>
                <a:lnTo>
                  <a:pt x="0" y="10"/>
                </a:lnTo>
                <a:lnTo>
                  <a:pt x="1" y="11"/>
                </a:lnTo>
                <a:lnTo>
                  <a:pt x="2" y="12"/>
                </a:lnTo>
                <a:lnTo>
                  <a:pt x="3" y="13"/>
                </a:lnTo>
                <a:lnTo>
                  <a:pt x="4" y="14"/>
                </a:lnTo>
                <a:lnTo>
                  <a:pt x="6" y="14"/>
                </a:lnTo>
                <a:lnTo>
                  <a:pt x="7" y="15"/>
                </a:lnTo>
                <a:lnTo>
                  <a:pt x="8" y="14"/>
                </a:lnTo>
                <a:lnTo>
                  <a:pt x="10" y="14"/>
                </a:lnTo>
                <a:lnTo>
                  <a:pt x="11" y="13"/>
                </a:lnTo>
                <a:lnTo>
                  <a:pt x="12" y="12"/>
                </a:lnTo>
                <a:lnTo>
                  <a:pt x="13" y="11"/>
                </a:lnTo>
                <a:lnTo>
                  <a:pt x="14" y="10"/>
                </a:lnTo>
                <a:lnTo>
                  <a:pt x="14" y="9"/>
                </a:lnTo>
                <a:lnTo>
                  <a:pt x="14" y="7"/>
                </a:lnTo>
                <a:close/>
              </a:path>
            </a:pathLst>
          </a:custGeom>
          <a:solidFill>
            <a:srgbClr val="000000"/>
          </a:solidFill>
          <a:ln w="3657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Rectangle 540"/>
          <p:cNvSpPr/>
          <p:nvPr/>
        </p:nvSpPr>
        <p:spPr>
          <a:xfrm>
            <a:off x="4695801" y="1222972"/>
            <a:ext cx="182859" cy="182859"/>
          </a:xfrm>
          <a:prstGeom prst="rect">
            <a:avLst/>
          </a:prstGeom>
          <a:noFill/>
          <a:ln w="3657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Rectangle 541"/>
          <p:cNvSpPr/>
          <p:nvPr/>
        </p:nvSpPr>
        <p:spPr>
          <a:xfrm>
            <a:off x="4695940" y="1703796"/>
            <a:ext cx="182859" cy="182859"/>
          </a:xfrm>
          <a:prstGeom prst="rect">
            <a:avLst/>
          </a:prstGeom>
          <a:noFill/>
          <a:ln w="3657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3" name="Connector 542"/>
          <p:cNvCxnSpPr/>
          <p:nvPr/>
        </p:nvCxnSpPr>
        <p:spPr>
          <a:xfrm>
            <a:off x="3174609" y="1041714"/>
            <a:ext cx="108040" cy="0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4" name="Freeform 543"/>
          <p:cNvSpPr/>
          <p:nvPr/>
        </p:nvSpPr>
        <p:spPr>
          <a:xfrm>
            <a:off x="3276600" y="1028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5" name="Connector 544"/>
          <p:cNvCxnSpPr/>
          <p:nvPr/>
        </p:nvCxnSpPr>
        <p:spPr>
          <a:xfrm>
            <a:off x="3181631" y="2082381"/>
            <a:ext cx="101018" cy="15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6" name="Freeform 545"/>
          <p:cNvSpPr/>
          <p:nvPr/>
        </p:nvSpPr>
        <p:spPr>
          <a:xfrm>
            <a:off x="3276600" y="2070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7" name="Connector 546"/>
          <p:cNvCxnSpPr/>
          <p:nvPr/>
        </p:nvCxnSpPr>
        <p:spPr>
          <a:xfrm flipV="1">
            <a:off x="3359452" y="833589"/>
            <a:ext cx="293741" cy="208125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8" name="Connector 547"/>
          <p:cNvCxnSpPr/>
          <p:nvPr/>
        </p:nvCxnSpPr>
        <p:spPr>
          <a:xfrm>
            <a:off x="3359452" y="1041714"/>
            <a:ext cx="293741" cy="208126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9" name="Connector 548"/>
          <p:cNvCxnSpPr/>
          <p:nvPr/>
        </p:nvCxnSpPr>
        <p:spPr>
          <a:xfrm flipV="1">
            <a:off x="3359452" y="1874327"/>
            <a:ext cx="293741" cy="208072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0" name="Connector 549"/>
          <p:cNvCxnSpPr/>
          <p:nvPr/>
        </p:nvCxnSpPr>
        <p:spPr>
          <a:xfrm>
            <a:off x="3359452" y="2082399"/>
            <a:ext cx="293741" cy="208180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1" name="Connector 550"/>
          <p:cNvCxnSpPr/>
          <p:nvPr/>
        </p:nvCxnSpPr>
        <p:spPr>
          <a:xfrm flipV="1">
            <a:off x="3839719" y="833578"/>
            <a:ext cx="333822" cy="11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2" name="Connector 551"/>
          <p:cNvCxnSpPr/>
          <p:nvPr/>
        </p:nvCxnSpPr>
        <p:spPr>
          <a:xfrm>
            <a:off x="3839719" y="833589"/>
            <a:ext cx="333882" cy="208104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3" name="Connector 552"/>
          <p:cNvCxnSpPr/>
          <p:nvPr/>
        </p:nvCxnSpPr>
        <p:spPr>
          <a:xfrm>
            <a:off x="3839719" y="833589"/>
            <a:ext cx="333942" cy="416230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4" name="Connector 553"/>
          <p:cNvCxnSpPr/>
          <p:nvPr/>
        </p:nvCxnSpPr>
        <p:spPr>
          <a:xfrm>
            <a:off x="3839719" y="833589"/>
            <a:ext cx="334002" cy="624366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5" name="Connector 554"/>
          <p:cNvCxnSpPr/>
          <p:nvPr/>
        </p:nvCxnSpPr>
        <p:spPr>
          <a:xfrm>
            <a:off x="3839719" y="1249840"/>
            <a:ext cx="334062" cy="416263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6" name="Connector 555"/>
          <p:cNvCxnSpPr/>
          <p:nvPr/>
        </p:nvCxnSpPr>
        <p:spPr>
          <a:xfrm>
            <a:off x="3839719" y="1249840"/>
            <a:ext cx="334123" cy="624422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7" name="Connector 556"/>
          <p:cNvCxnSpPr/>
          <p:nvPr/>
        </p:nvCxnSpPr>
        <p:spPr>
          <a:xfrm>
            <a:off x="3839719" y="1249840"/>
            <a:ext cx="334183" cy="832592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8" name="Connector 557"/>
          <p:cNvCxnSpPr/>
          <p:nvPr/>
        </p:nvCxnSpPr>
        <p:spPr>
          <a:xfrm>
            <a:off x="3839719" y="1249840"/>
            <a:ext cx="334243" cy="1040772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9" name="Connector 558"/>
          <p:cNvCxnSpPr/>
          <p:nvPr/>
        </p:nvCxnSpPr>
        <p:spPr>
          <a:xfrm flipV="1">
            <a:off x="3839719" y="833578"/>
            <a:ext cx="333822" cy="1040749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0" name="Connector 559"/>
          <p:cNvCxnSpPr/>
          <p:nvPr/>
        </p:nvCxnSpPr>
        <p:spPr>
          <a:xfrm flipV="1">
            <a:off x="3839719" y="1041693"/>
            <a:ext cx="333882" cy="832634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1" name="Connector 560"/>
          <p:cNvCxnSpPr/>
          <p:nvPr/>
        </p:nvCxnSpPr>
        <p:spPr>
          <a:xfrm flipV="1">
            <a:off x="3839719" y="1666103"/>
            <a:ext cx="334062" cy="208224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2" name="Connector 561"/>
          <p:cNvCxnSpPr/>
          <p:nvPr/>
        </p:nvCxnSpPr>
        <p:spPr>
          <a:xfrm flipV="1">
            <a:off x="3839719" y="1874262"/>
            <a:ext cx="334123" cy="65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3" name="Connector 562"/>
          <p:cNvCxnSpPr/>
          <p:nvPr/>
        </p:nvCxnSpPr>
        <p:spPr>
          <a:xfrm flipV="1">
            <a:off x="3839719" y="1249819"/>
            <a:ext cx="333942" cy="1040760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4" name="Connector 563"/>
          <p:cNvCxnSpPr/>
          <p:nvPr/>
        </p:nvCxnSpPr>
        <p:spPr>
          <a:xfrm flipV="1">
            <a:off x="3839719" y="1457955"/>
            <a:ext cx="334002" cy="832624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5" name="Connector 564"/>
          <p:cNvCxnSpPr/>
          <p:nvPr/>
        </p:nvCxnSpPr>
        <p:spPr>
          <a:xfrm flipV="1">
            <a:off x="3839719" y="2082432"/>
            <a:ext cx="334183" cy="208147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6" name="Connector 565"/>
          <p:cNvCxnSpPr/>
          <p:nvPr/>
        </p:nvCxnSpPr>
        <p:spPr>
          <a:xfrm>
            <a:off x="3839719" y="2290579"/>
            <a:ext cx="334243" cy="33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7" name="Connector 566"/>
          <p:cNvCxnSpPr/>
          <p:nvPr/>
        </p:nvCxnSpPr>
        <p:spPr>
          <a:xfrm>
            <a:off x="4360067" y="833578"/>
            <a:ext cx="333988" cy="480838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8" name="Connector 567"/>
          <p:cNvCxnSpPr/>
          <p:nvPr/>
        </p:nvCxnSpPr>
        <p:spPr>
          <a:xfrm>
            <a:off x="4360128" y="1041693"/>
            <a:ext cx="334066" cy="753573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9" name="Connector 568"/>
          <p:cNvCxnSpPr/>
          <p:nvPr/>
        </p:nvCxnSpPr>
        <p:spPr>
          <a:xfrm>
            <a:off x="4360188" y="1249819"/>
            <a:ext cx="333867" cy="64597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0" name="Connector 569"/>
          <p:cNvCxnSpPr/>
          <p:nvPr/>
        </p:nvCxnSpPr>
        <p:spPr>
          <a:xfrm>
            <a:off x="4360248" y="1457955"/>
            <a:ext cx="333946" cy="337311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1" name="Connector 570"/>
          <p:cNvCxnSpPr/>
          <p:nvPr/>
        </p:nvCxnSpPr>
        <p:spPr>
          <a:xfrm flipV="1">
            <a:off x="4360308" y="1314416"/>
            <a:ext cx="333747" cy="351687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2" name="Connector 571"/>
          <p:cNvCxnSpPr/>
          <p:nvPr/>
        </p:nvCxnSpPr>
        <p:spPr>
          <a:xfrm flipV="1">
            <a:off x="4360368" y="1795266"/>
            <a:ext cx="333826" cy="78996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3" name="Connector 572"/>
          <p:cNvCxnSpPr/>
          <p:nvPr/>
        </p:nvCxnSpPr>
        <p:spPr>
          <a:xfrm flipV="1">
            <a:off x="4360428" y="1314416"/>
            <a:ext cx="333627" cy="768016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4" name="Connector 573"/>
          <p:cNvCxnSpPr/>
          <p:nvPr/>
        </p:nvCxnSpPr>
        <p:spPr>
          <a:xfrm flipV="1">
            <a:off x="4360488" y="1795266"/>
            <a:ext cx="333706" cy="495346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5" name="Connector 574"/>
          <p:cNvCxnSpPr/>
          <p:nvPr/>
        </p:nvCxnSpPr>
        <p:spPr>
          <a:xfrm>
            <a:off x="4880581" y="1314416"/>
            <a:ext cx="248333" cy="184772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6" name="Connector 575"/>
          <p:cNvCxnSpPr/>
          <p:nvPr/>
        </p:nvCxnSpPr>
        <p:spPr>
          <a:xfrm flipV="1">
            <a:off x="4880720" y="1610563"/>
            <a:ext cx="248206" cy="184703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7" name="Connector 576"/>
          <p:cNvCxnSpPr/>
          <p:nvPr/>
        </p:nvCxnSpPr>
        <p:spPr>
          <a:xfrm flipV="1">
            <a:off x="5296989" y="1554894"/>
            <a:ext cx="53875" cy="2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8" name="Freeform 577"/>
          <p:cNvSpPr/>
          <p:nvPr/>
        </p:nvSpPr>
        <p:spPr>
          <a:xfrm>
            <a:off x="5334000" y="1536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9" name="Rectangle 578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0" name="Rectangle 579"/>
          <p:cNvSpPr/>
          <p:nvPr/>
        </p:nvSpPr>
        <p:spPr>
          <a:xfrm>
            <a:off x="2879992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1" name="Picture 58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82" name="Picture 58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83" name="TextBox 58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584" name="TextBox 583"/>
          <p:cNvSpPr txBox="1"/>
          <p:nvPr/>
        </p:nvSpPr>
        <p:spPr>
          <a:xfrm>
            <a:off x="723293" y="2245761"/>
            <a:ext cx="5062102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585" name="TextBox 584"/>
          <p:cNvSpPr txBox="1"/>
          <p:nvPr/>
        </p:nvSpPr>
        <p:spPr>
          <a:xfrm>
            <a:off x="1076102" y="2245761"/>
            <a:ext cx="4709293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Cambria Math"/>
              </a:rPr>
              <a:t>10</a:t>
            </a:r>
          </a:p>
        </p:txBody>
      </p:sp>
      <p:sp>
        <p:nvSpPr>
          <p:cNvPr id="586" name="TextBox 585"/>
          <p:cNvSpPr txBox="1"/>
          <p:nvPr/>
        </p:nvSpPr>
        <p:spPr>
          <a:xfrm>
            <a:off x="1451141" y="2245761"/>
            <a:ext cx="4334254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Cambria Math"/>
              </a:rPr>
              <a:t>20</a:t>
            </a:r>
          </a:p>
        </p:txBody>
      </p:sp>
      <p:sp>
        <p:nvSpPr>
          <p:cNvPr id="587" name="TextBox 586"/>
          <p:cNvSpPr txBox="1"/>
          <p:nvPr/>
        </p:nvSpPr>
        <p:spPr>
          <a:xfrm>
            <a:off x="1826180" y="2245761"/>
            <a:ext cx="3959216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Cambria Math"/>
              </a:rPr>
              <a:t>30</a:t>
            </a:r>
          </a:p>
        </p:txBody>
      </p:sp>
      <p:sp>
        <p:nvSpPr>
          <p:cNvPr id="588" name="TextBox 587"/>
          <p:cNvSpPr txBox="1"/>
          <p:nvPr/>
        </p:nvSpPr>
        <p:spPr>
          <a:xfrm>
            <a:off x="2201218" y="2245761"/>
            <a:ext cx="3584177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Cambria Math"/>
              </a:rPr>
              <a:t>40</a:t>
            </a:r>
          </a:p>
        </p:txBody>
      </p:sp>
      <p:sp>
        <p:nvSpPr>
          <p:cNvPr id="589" name="TextBox 588"/>
          <p:cNvSpPr txBox="1"/>
          <p:nvPr/>
        </p:nvSpPr>
        <p:spPr>
          <a:xfrm>
            <a:off x="2576266" y="2245761"/>
            <a:ext cx="3209129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Cambria Math"/>
              </a:rPr>
              <a:t>50</a:t>
            </a:r>
          </a:p>
        </p:txBody>
      </p:sp>
      <p:sp>
        <p:nvSpPr>
          <p:cNvPr id="590" name="TextBox 589"/>
          <p:cNvSpPr txBox="1"/>
          <p:nvPr/>
        </p:nvSpPr>
        <p:spPr>
          <a:xfrm>
            <a:off x="670292" y="2187102"/>
            <a:ext cx="5115104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591" name="TextBox 590"/>
          <p:cNvSpPr txBox="1"/>
          <p:nvPr/>
        </p:nvSpPr>
        <p:spPr>
          <a:xfrm>
            <a:off x="601102" y="1875529"/>
            <a:ext cx="5184293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Cambria Math"/>
              </a:rPr>
              <a:t>0</a:t>
            </a:r>
            <a:r>
              <a:rPr sz="681" b="0">
                <a:solidFill>
                  <a:srgbClr val="000000"/>
                </a:solidFill>
                <a:latin typeface="Cambria Math"/>
              </a:rPr>
              <a:t>.</a:t>
            </a:r>
            <a:r>
              <a:rPr sz="681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592" name="TextBox 591"/>
          <p:cNvSpPr txBox="1"/>
          <p:nvPr/>
        </p:nvSpPr>
        <p:spPr>
          <a:xfrm>
            <a:off x="601102" y="1563956"/>
            <a:ext cx="5184293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Cambria Math"/>
              </a:rPr>
              <a:t>0</a:t>
            </a:r>
            <a:r>
              <a:rPr sz="681" b="0">
                <a:solidFill>
                  <a:srgbClr val="000000"/>
                </a:solidFill>
                <a:latin typeface="Cambria Math"/>
              </a:rPr>
              <a:t>.</a:t>
            </a:r>
            <a:r>
              <a:rPr sz="681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593" name="TextBox 592"/>
          <p:cNvSpPr txBox="1"/>
          <p:nvPr/>
        </p:nvSpPr>
        <p:spPr>
          <a:xfrm>
            <a:off x="601102" y="1252392"/>
            <a:ext cx="5184293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Cambria Math"/>
              </a:rPr>
              <a:t>0</a:t>
            </a:r>
            <a:r>
              <a:rPr sz="681" b="0">
                <a:solidFill>
                  <a:srgbClr val="000000"/>
                </a:solidFill>
                <a:latin typeface="Cambria Math"/>
              </a:rPr>
              <a:t>.</a:t>
            </a:r>
            <a:r>
              <a:rPr sz="681" b="0">
                <a:solidFill>
                  <a:srgbClr val="000000"/>
                </a:solidFill>
                <a:latin typeface="Cambria Math"/>
              </a:rPr>
              <a:t>6</a:t>
            </a:r>
          </a:p>
        </p:txBody>
      </p:sp>
      <p:sp>
        <p:nvSpPr>
          <p:cNvPr id="594" name="TextBox 593"/>
          <p:cNvSpPr txBox="1"/>
          <p:nvPr/>
        </p:nvSpPr>
        <p:spPr>
          <a:xfrm>
            <a:off x="601102" y="940819"/>
            <a:ext cx="5184293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Cambria Math"/>
              </a:rPr>
              <a:t>0</a:t>
            </a:r>
            <a:r>
              <a:rPr sz="681" b="0">
                <a:solidFill>
                  <a:srgbClr val="000000"/>
                </a:solidFill>
                <a:latin typeface="Cambria Math"/>
              </a:rPr>
              <a:t>.</a:t>
            </a:r>
            <a:r>
              <a:rPr sz="681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595" name="TextBox 594"/>
          <p:cNvSpPr txBox="1"/>
          <p:nvPr/>
        </p:nvSpPr>
        <p:spPr>
          <a:xfrm>
            <a:off x="670292" y="629245"/>
            <a:ext cx="5115104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596" name="TextBox 595"/>
          <p:cNvSpPr txBox="1"/>
          <p:nvPr/>
        </p:nvSpPr>
        <p:spPr>
          <a:xfrm>
            <a:off x="1524539" y="2029532"/>
            <a:ext cx="4260857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Josefin Sans"/>
              </a:rPr>
              <a:t>w</a:t>
            </a:r>
            <a:r>
              <a:rPr sz="454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597" name="TextBox 596"/>
          <p:cNvSpPr txBox="1"/>
          <p:nvPr/>
        </p:nvSpPr>
        <p:spPr>
          <a:xfrm>
            <a:off x="2138486" y="873596"/>
            <a:ext cx="3646909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Josefin Sans"/>
              </a:rPr>
              <a:t>w</a:t>
            </a:r>
            <a:r>
              <a:rPr sz="454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598" name="TextBox 597"/>
          <p:cNvSpPr txBox="1"/>
          <p:nvPr/>
        </p:nvSpPr>
        <p:spPr>
          <a:xfrm>
            <a:off x="1481440" y="1169600"/>
            <a:ext cx="4303955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Josefin Sans"/>
              </a:rPr>
              <a:t>w</a:t>
            </a:r>
            <a:r>
              <a:rPr sz="454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599" name="TextBox 598"/>
          <p:cNvSpPr txBox="1"/>
          <p:nvPr/>
        </p:nvSpPr>
        <p:spPr>
          <a:xfrm>
            <a:off x="1321643" y="1908017"/>
            <a:ext cx="4463752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Josefin Sans"/>
              </a:rPr>
              <a:t>w</a:t>
            </a:r>
            <a:r>
              <a:rPr sz="454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600" name="TextBox 599"/>
          <p:cNvSpPr txBox="1"/>
          <p:nvPr/>
        </p:nvSpPr>
        <p:spPr>
          <a:xfrm>
            <a:off x="2046971" y="1271183"/>
            <a:ext cx="3738424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Josefin Sans"/>
              </a:rPr>
              <a:t>w</a:t>
            </a:r>
            <a:r>
              <a:rPr sz="454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601" name="TextBox 600"/>
          <p:cNvSpPr txBox="1"/>
          <p:nvPr/>
        </p:nvSpPr>
        <p:spPr>
          <a:xfrm>
            <a:off x="1215127" y="1704947"/>
            <a:ext cx="4570268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Josefin Sans"/>
              </a:rPr>
              <a:t>w</a:t>
            </a:r>
            <a:r>
              <a:rPr sz="454" b="0">
                <a:solidFill>
                  <a:srgbClr val="000000"/>
                </a:solidFill>
                <a:latin typeface="Josefin Sans"/>
              </a:rPr>
              <a:t>R6</a:t>
            </a:r>
            <a:r>
              <a:rPr sz="681" b="0">
                <a:solidFill>
                  <a:srgbClr val="000000"/>
                </a:solidFill>
                <a:latin typeface="Josefin Sans"/>
              </a:rPr>
              <a:t> </a:t>
            </a:r>
            <a:r>
              <a:rPr sz="681" b="0">
                <a:solidFill>
                  <a:srgbClr val="000000"/>
                </a:solidFill>
                <a:latin typeface="Josefin Sans"/>
              </a:rPr>
              <a:t>&amp;</a:t>
            </a:r>
            <a:r>
              <a:rPr sz="681" b="0">
                <a:solidFill>
                  <a:srgbClr val="000000"/>
                </a:solidFill>
                <a:latin typeface="Josefin Sans"/>
              </a:rPr>
              <a:t> </a:t>
            </a:r>
            <a:r>
              <a:rPr sz="681" b="0">
                <a:solidFill>
                  <a:srgbClr val="000000"/>
                </a:solidFill>
                <a:latin typeface="Josefin Sans"/>
              </a:rPr>
              <a:t>w</a:t>
            </a:r>
            <a:r>
              <a:rPr sz="454" b="0">
                <a:solidFill>
                  <a:srgbClr val="000000"/>
                </a:solidFill>
                <a:latin typeface="Josefin Sans"/>
              </a:rPr>
              <a:t>R7</a:t>
            </a:r>
          </a:p>
        </p:txBody>
      </p:sp>
      <p:sp>
        <p:nvSpPr>
          <p:cNvPr id="602" name="TextBox 601"/>
          <p:cNvSpPr txBox="1"/>
          <p:nvPr/>
        </p:nvSpPr>
        <p:spPr>
          <a:xfrm>
            <a:off x="1588293" y="894860"/>
            <a:ext cx="4197102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Josefin Sans"/>
              </a:rPr>
              <a:t>w</a:t>
            </a:r>
            <a:r>
              <a:rPr sz="454" b="0">
                <a:solidFill>
                  <a:srgbClr val="000000"/>
                </a:solidFill>
                <a:latin typeface="Josefin Sans"/>
              </a:rPr>
              <a:t>R8</a:t>
            </a:r>
          </a:p>
        </p:txBody>
      </p:sp>
      <p:sp>
        <p:nvSpPr>
          <p:cNvPr id="603" name="TextBox 602"/>
          <p:cNvSpPr txBox="1"/>
          <p:nvPr/>
        </p:nvSpPr>
        <p:spPr>
          <a:xfrm>
            <a:off x="1567811" y="2397524"/>
            <a:ext cx="4217584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Josefin Sans"/>
              </a:rPr>
              <a:t>Epoch</a:t>
            </a:r>
          </a:p>
        </p:txBody>
      </p:sp>
      <p:sp>
        <p:nvSpPr>
          <p:cNvPr id="604" name="TextBox 603"/>
          <p:cNvSpPr txBox="1"/>
          <p:nvPr/>
        </p:nvSpPr>
        <p:spPr>
          <a:xfrm>
            <a:off x="364039" y="1317716"/>
            <a:ext cx="5421356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Josefin Sans"/>
              </a:rPr>
              <a:t>Weight</a:t>
            </a:r>
          </a:p>
        </p:txBody>
      </p:sp>
      <p:sp>
        <p:nvSpPr>
          <p:cNvPr id="605" name="TextBox 604"/>
          <p:cNvSpPr txBox="1"/>
          <p:nvPr/>
        </p:nvSpPr>
        <p:spPr>
          <a:xfrm>
            <a:off x="3095738" y="1007112"/>
            <a:ext cx="2689657" cy="1133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75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606" name="TextBox 605"/>
          <p:cNvSpPr txBox="1"/>
          <p:nvPr/>
        </p:nvSpPr>
        <p:spPr>
          <a:xfrm>
            <a:off x="3088718" y="2047672"/>
            <a:ext cx="2696677" cy="1133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75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607" name="TextBox 606"/>
          <p:cNvSpPr txBox="1"/>
          <p:nvPr/>
        </p:nvSpPr>
        <p:spPr>
          <a:xfrm>
            <a:off x="3725171" y="801214"/>
            <a:ext cx="2060224" cy="1133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75" b="0">
                <a:solidFill>
                  <a:srgbClr val="000000"/>
                </a:solidFill>
                <a:latin typeface="Josefin Sans"/>
              </a:rPr>
              <a:t>S</a:t>
            </a:r>
          </a:p>
        </p:txBody>
      </p:sp>
      <p:sp>
        <p:nvSpPr>
          <p:cNvPr id="608" name="TextBox 607"/>
          <p:cNvSpPr txBox="1"/>
          <p:nvPr/>
        </p:nvSpPr>
        <p:spPr>
          <a:xfrm>
            <a:off x="3724364" y="1217783"/>
            <a:ext cx="2061031" cy="1133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75" b="0">
                <a:solidFill>
                  <a:srgbClr val="000000"/>
                </a:solidFill>
                <a:latin typeface="Josefin Sans"/>
              </a:rPr>
              <a:t>L</a:t>
            </a:r>
          </a:p>
        </p:txBody>
      </p:sp>
      <p:sp>
        <p:nvSpPr>
          <p:cNvPr id="609" name="TextBox 608"/>
          <p:cNvSpPr txBox="1"/>
          <p:nvPr/>
        </p:nvSpPr>
        <p:spPr>
          <a:xfrm>
            <a:off x="3725171" y="1841884"/>
            <a:ext cx="2060224" cy="1133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75" b="0">
                <a:solidFill>
                  <a:srgbClr val="000000"/>
                </a:solidFill>
                <a:latin typeface="Josefin Sans"/>
              </a:rPr>
              <a:t>S</a:t>
            </a:r>
          </a:p>
        </p:txBody>
      </p:sp>
      <p:sp>
        <p:nvSpPr>
          <p:cNvPr id="610" name="TextBox 609"/>
          <p:cNvSpPr txBox="1"/>
          <p:nvPr/>
        </p:nvSpPr>
        <p:spPr>
          <a:xfrm>
            <a:off x="3724364" y="2258462"/>
            <a:ext cx="2061031" cy="1133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75" b="0">
                <a:solidFill>
                  <a:srgbClr val="000000"/>
                </a:solidFill>
                <a:latin typeface="Josefin Sans"/>
              </a:rPr>
              <a:t>L</a:t>
            </a:r>
          </a:p>
        </p:txBody>
      </p:sp>
      <p:sp>
        <p:nvSpPr>
          <p:cNvPr id="611" name="TextBox 610"/>
          <p:cNvSpPr txBox="1"/>
          <p:nvPr/>
        </p:nvSpPr>
        <p:spPr>
          <a:xfrm>
            <a:off x="4255216" y="798993"/>
            <a:ext cx="1530179" cy="1133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75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612" name="TextBox 611"/>
          <p:cNvSpPr txBox="1"/>
          <p:nvPr/>
        </p:nvSpPr>
        <p:spPr>
          <a:xfrm>
            <a:off x="4248250" y="1007094"/>
            <a:ext cx="1537145" cy="1133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75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613" name="TextBox 612"/>
          <p:cNvSpPr txBox="1"/>
          <p:nvPr/>
        </p:nvSpPr>
        <p:spPr>
          <a:xfrm>
            <a:off x="4247838" y="1214855"/>
            <a:ext cx="1537558" cy="1133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75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614" name="TextBox 613"/>
          <p:cNvSpPr txBox="1"/>
          <p:nvPr/>
        </p:nvSpPr>
        <p:spPr>
          <a:xfrm>
            <a:off x="4247966" y="1423332"/>
            <a:ext cx="1537429" cy="1133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75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615" name="TextBox 614"/>
          <p:cNvSpPr txBox="1"/>
          <p:nvPr/>
        </p:nvSpPr>
        <p:spPr>
          <a:xfrm>
            <a:off x="4247700" y="1631113"/>
            <a:ext cx="1537695" cy="1133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75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616" name="TextBox 615"/>
          <p:cNvSpPr txBox="1"/>
          <p:nvPr/>
        </p:nvSpPr>
        <p:spPr>
          <a:xfrm>
            <a:off x="4247691" y="1839259"/>
            <a:ext cx="1537704" cy="1133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75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617" name="TextBox 616"/>
          <p:cNvSpPr txBox="1"/>
          <p:nvPr/>
        </p:nvSpPr>
        <p:spPr>
          <a:xfrm>
            <a:off x="4249682" y="2047764"/>
            <a:ext cx="1535713" cy="1133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75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618" name="TextBox 617"/>
          <p:cNvSpPr txBox="1"/>
          <p:nvPr/>
        </p:nvSpPr>
        <p:spPr>
          <a:xfrm>
            <a:off x="4248351" y="2255580"/>
            <a:ext cx="1537044" cy="1133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75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619" name="TextBox 618"/>
          <p:cNvSpPr txBox="1"/>
          <p:nvPr/>
        </p:nvSpPr>
        <p:spPr>
          <a:xfrm>
            <a:off x="4765961" y="1282014"/>
            <a:ext cx="1019435" cy="1133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75" b="0">
                <a:solidFill>
                  <a:srgbClr val="000000"/>
                </a:solidFill>
                <a:latin typeface="Josefin Sans"/>
              </a:rPr>
              <a:t>S</a:t>
            </a:r>
          </a:p>
        </p:txBody>
      </p:sp>
      <p:sp>
        <p:nvSpPr>
          <p:cNvPr id="620" name="TextBox 619"/>
          <p:cNvSpPr txBox="1"/>
          <p:nvPr/>
        </p:nvSpPr>
        <p:spPr>
          <a:xfrm>
            <a:off x="4765300" y="1763181"/>
            <a:ext cx="1020095" cy="1133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75" b="0">
                <a:solidFill>
                  <a:srgbClr val="000000"/>
                </a:solidFill>
                <a:latin typeface="Josefin Sans"/>
              </a:rPr>
              <a:t>L</a:t>
            </a:r>
          </a:p>
        </p:txBody>
      </p:sp>
      <p:sp>
        <p:nvSpPr>
          <p:cNvPr id="621" name="TextBox 620"/>
          <p:cNvSpPr txBox="1"/>
          <p:nvPr/>
        </p:nvSpPr>
        <p:spPr>
          <a:xfrm>
            <a:off x="5175537" y="1529441"/>
            <a:ext cx="609858" cy="1133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75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622" name="TextBox 621"/>
          <p:cNvSpPr txBox="1"/>
          <p:nvPr/>
        </p:nvSpPr>
        <p:spPr>
          <a:xfrm>
            <a:off x="5395210" y="1503495"/>
            <a:ext cx="390185" cy="1133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75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623" name="TextBox 622"/>
          <p:cNvSpPr txBox="1"/>
          <p:nvPr/>
        </p:nvSpPr>
        <p:spPr>
          <a:xfrm>
            <a:off x="4386265" y="807506"/>
            <a:ext cx="1399130" cy="850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31" b="0">
                <a:solidFill>
                  <a:srgbClr val="FFFFFF"/>
                </a:solidFill>
                <a:latin typeface="Josefin Sans"/>
              </a:rPr>
              <a:t>0</a:t>
            </a:r>
          </a:p>
        </p:txBody>
      </p:sp>
      <p:sp>
        <p:nvSpPr>
          <p:cNvPr id="624" name="TextBox 623"/>
          <p:cNvSpPr txBox="1"/>
          <p:nvPr/>
        </p:nvSpPr>
        <p:spPr>
          <a:xfrm>
            <a:off x="4386321" y="1015478"/>
            <a:ext cx="1399075" cy="850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31" b="0">
                <a:solidFill>
                  <a:srgbClr val="FFFFFF"/>
                </a:solidFill>
                <a:latin typeface="Josefin Sans"/>
              </a:rPr>
              <a:t>0.78</a:t>
            </a:r>
          </a:p>
        </p:txBody>
      </p:sp>
      <p:sp>
        <p:nvSpPr>
          <p:cNvPr id="625" name="TextBox 624"/>
          <p:cNvSpPr txBox="1"/>
          <p:nvPr/>
        </p:nvSpPr>
        <p:spPr>
          <a:xfrm>
            <a:off x="4386321" y="1015478"/>
            <a:ext cx="1399075" cy="850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31" b="0">
                <a:solidFill>
                  <a:srgbClr val="000000"/>
                </a:solidFill>
                <a:latin typeface="Josefin Sans"/>
              </a:rPr>
              <a:t>0.78</a:t>
            </a:r>
          </a:p>
        </p:txBody>
      </p:sp>
      <p:sp>
        <p:nvSpPr>
          <p:cNvPr id="626" name="TextBox 625"/>
          <p:cNvSpPr txBox="1"/>
          <p:nvPr/>
        </p:nvSpPr>
        <p:spPr>
          <a:xfrm>
            <a:off x="4386385" y="1223606"/>
            <a:ext cx="1399010" cy="850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31" b="0">
                <a:solidFill>
                  <a:srgbClr val="FFFFFF"/>
                </a:solidFill>
                <a:latin typeface="Josefin Sans"/>
              </a:rPr>
              <a:t>0.69</a:t>
            </a:r>
          </a:p>
        </p:txBody>
      </p:sp>
      <p:sp>
        <p:nvSpPr>
          <p:cNvPr id="627" name="TextBox 626"/>
          <p:cNvSpPr txBox="1"/>
          <p:nvPr/>
        </p:nvSpPr>
        <p:spPr>
          <a:xfrm>
            <a:off x="4386385" y="1223606"/>
            <a:ext cx="1399010" cy="850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31" b="0">
                <a:solidFill>
                  <a:srgbClr val="000000"/>
                </a:solidFill>
                <a:latin typeface="Josefin Sans"/>
              </a:rPr>
              <a:t>0.69</a:t>
            </a:r>
          </a:p>
        </p:txBody>
      </p:sp>
      <p:sp>
        <p:nvSpPr>
          <p:cNvPr id="628" name="TextBox 627"/>
          <p:cNvSpPr txBox="1"/>
          <p:nvPr/>
        </p:nvSpPr>
        <p:spPr>
          <a:xfrm>
            <a:off x="4386440" y="1431873"/>
            <a:ext cx="1398955" cy="850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31" b="0">
                <a:solidFill>
                  <a:srgbClr val="FFFFFF"/>
                </a:solidFill>
                <a:latin typeface="Josefin Sans"/>
              </a:rPr>
              <a:t>0</a:t>
            </a:r>
          </a:p>
        </p:txBody>
      </p:sp>
      <p:sp>
        <p:nvSpPr>
          <p:cNvPr id="629" name="TextBox 628"/>
          <p:cNvSpPr txBox="1"/>
          <p:nvPr/>
        </p:nvSpPr>
        <p:spPr>
          <a:xfrm>
            <a:off x="4386504" y="1639882"/>
            <a:ext cx="1398891" cy="850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31" b="0">
                <a:solidFill>
                  <a:srgbClr val="FFFFFF"/>
                </a:solidFill>
                <a:latin typeface="Josefin Sans"/>
              </a:rPr>
              <a:t>0.62</a:t>
            </a:r>
          </a:p>
        </p:txBody>
      </p:sp>
      <p:sp>
        <p:nvSpPr>
          <p:cNvPr id="630" name="TextBox 629"/>
          <p:cNvSpPr txBox="1"/>
          <p:nvPr/>
        </p:nvSpPr>
        <p:spPr>
          <a:xfrm>
            <a:off x="4386504" y="1639882"/>
            <a:ext cx="1398891" cy="850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31" b="0">
                <a:solidFill>
                  <a:srgbClr val="000000"/>
                </a:solidFill>
                <a:latin typeface="Josefin Sans"/>
              </a:rPr>
              <a:t>0.62</a:t>
            </a:r>
          </a:p>
        </p:txBody>
      </p:sp>
      <p:sp>
        <p:nvSpPr>
          <p:cNvPr id="631" name="TextBox 630"/>
          <p:cNvSpPr txBox="1"/>
          <p:nvPr/>
        </p:nvSpPr>
        <p:spPr>
          <a:xfrm>
            <a:off x="4386559" y="1848176"/>
            <a:ext cx="1398836" cy="850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31" b="0">
                <a:solidFill>
                  <a:srgbClr val="FFFFFF"/>
                </a:solidFill>
                <a:latin typeface="Josefin Sans"/>
              </a:rPr>
              <a:t>0</a:t>
            </a:r>
          </a:p>
        </p:txBody>
      </p:sp>
      <p:sp>
        <p:nvSpPr>
          <p:cNvPr id="632" name="TextBox 631"/>
          <p:cNvSpPr txBox="1"/>
          <p:nvPr/>
        </p:nvSpPr>
        <p:spPr>
          <a:xfrm>
            <a:off x="4386624" y="2056341"/>
            <a:ext cx="1398771" cy="850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31" b="0">
                <a:solidFill>
                  <a:srgbClr val="FFFFFF"/>
                </a:solidFill>
                <a:latin typeface="Josefin Sans"/>
              </a:rPr>
              <a:t>0</a:t>
            </a:r>
          </a:p>
        </p:txBody>
      </p:sp>
      <p:sp>
        <p:nvSpPr>
          <p:cNvPr id="633" name="TextBox 632"/>
          <p:cNvSpPr txBox="1"/>
          <p:nvPr/>
        </p:nvSpPr>
        <p:spPr>
          <a:xfrm>
            <a:off x="4386679" y="2264387"/>
            <a:ext cx="1398716" cy="850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31" b="0">
                <a:solidFill>
                  <a:srgbClr val="FFFFFF"/>
                </a:solidFill>
                <a:latin typeface="Josefin Sans"/>
              </a:rPr>
              <a:t>0.80</a:t>
            </a:r>
          </a:p>
        </p:txBody>
      </p:sp>
      <p:sp>
        <p:nvSpPr>
          <p:cNvPr id="634" name="TextBox 633"/>
          <p:cNvSpPr txBox="1"/>
          <p:nvPr/>
        </p:nvSpPr>
        <p:spPr>
          <a:xfrm>
            <a:off x="4386679" y="2264387"/>
            <a:ext cx="1398716" cy="850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31" b="0">
                <a:solidFill>
                  <a:srgbClr val="000000"/>
                </a:solidFill>
                <a:latin typeface="Josefin Sans"/>
              </a:rPr>
              <a:t>0.80</a:t>
            </a:r>
          </a:p>
        </p:txBody>
      </p:sp>
      <p:sp>
        <p:nvSpPr>
          <p:cNvPr id="635" name="TextBox 634"/>
          <p:cNvSpPr txBox="1"/>
          <p:nvPr/>
        </p:nvSpPr>
        <p:spPr>
          <a:xfrm>
            <a:off x="460056" y="2562795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same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four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identified.</a:t>
            </a:r>
          </a:p>
        </p:txBody>
      </p:sp>
      <p:sp>
        <p:nvSpPr>
          <p:cNvPr id="636" name="TextBox 635"/>
          <p:cNvSpPr txBox="1"/>
          <p:nvPr/>
        </p:nvSpPr>
        <p:spPr>
          <a:xfrm>
            <a:off x="4901654" y="3150919"/>
            <a:ext cx="88374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637" name="TextBox 636"/>
          <p:cNvSpPr txBox="1"/>
          <p:nvPr/>
        </p:nvSpPr>
        <p:spPr>
          <a:xfrm>
            <a:off x="5639220" y="3150695"/>
            <a:ext cx="14617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359993" y="43859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CCD6E3"/>
                </a:solidFill>
                <a:latin typeface="Josefin Sans"/>
              </a:rPr>
              <a:t>Introduction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88952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CCD6E3"/>
                </a:solidFill>
                <a:latin typeface="Josefin Sans"/>
              </a:rPr>
              <a:t>Neuro-Fuzzy</a:t>
            </a:r>
            <a:r>
              <a:rPr sz="1090" b="0">
                <a:solidFill>
                  <a:srgbClr val="CCD6E3"/>
                </a:solidFill>
                <a:latin typeface="Josefin Sans"/>
              </a:rPr>
              <a:t> </a:t>
            </a:r>
            <a:r>
              <a:rPr sz="1090" b="0">
                <a:solidFill>
                  <a:srgbClr val="CCD6E3"/>
                </a:solidFill>
                <a:latin typeface="Josefin Sans"/>
              </a:rPr>
              <a:t>Systems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37217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ANFIS: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Adaptive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Neuro-Fuzzy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Inference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System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185185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CCD6E3"/>
                </a:solidFill>
                <a:latin typeface="Josefin Sans"/>
              </a:rPr>
              <a:t>Evolutionary</a:t>
            </a:r>
            <a:r>
              <a:rPr sz="1090" b="0">
                <a:solidFill>
                  <a:srgbClr val="CCD6E3"/>
                </a:solidFill>
                <a:latin typeface="Josefin Sans"/>
              </a:rPr>
              <a:t> </a:t>
            </a:r>
            <a:r>
              <a:rPr sz="1090" b="0">
                <a:solidFill>
                  <a:srgbClr val="CCD6E3"/>
                </a:solidFill>
                <a:latin typeface="Josefin Sans"/>
              </a:rPr>
              <a:t>Neural</a:t>
            </a:r>
            <a:r>
              <a:rPr sz="1090" b="0">
                <a:solidFill>
                  <a:srgbClr val="CCD6E3"/>
                </a:solidFill>
                <a:latin typeface="Josefin Sans"/>
              </a:rPr>
              <a:t> </a:t>
            </a:r>
            <a:r>
              <a:rPr sz="1090" b="0">
                <a:solidFill>
                  <a:srgbClr val="CCD6E3"/>
                </a:solidFill>
                <a:latin typeface="Josefin Sans"/>
              </a:rPr>
              <a:t>Networks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233153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CCD6E3"/>
                </a:solidFill>
                <a:latin typeface="Josefin Sans"/>
              </a:rPr>
              <a:t>Fuzzy</a:t>
            </a:r>
            <a:r>
              <a:rPr sz="1090" b="0">
                <a:solidFill>
                  <a:srgbClr val="CCD6E3"/>
                </a:solidFill>
                <a:latin typeface="Josefin Sans"/>
              </a:rPr>
              <a:t> </a:t>
            </a:r>
            <a:r>
              <a:rPr sz="1090" b="0">
                <a:solidFill>
                  <a:srgbClr val="CCD6E3"/>
                </a:solidFill>
                <a:latin typeface="Josefin Sans"/>
              </a:rPr>
              <a:t>Evolutionary</a:t>
            </a:r>
            <a:r>
              <a:rPr sz="1090" b="0">
                <a:solidFill>
                  <a:srgbClr val="CCD6E3"/>
                </a:solidFill>
                <a:latin typeface="Josefin Sans"/>
              </a:rPr>
              <a:t> </a:t>
            </a:r>
            <a:r>
              <a:rPr sz="1090" b="0">
                <a:solidFill>
                  <a:srgbClr val="CCD6E3"/>
                </a:solidFill>
                <a:latin typeface="Josefin Sans"/>
              </a:rPr>
              <a:t>Systems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01653" y="3150917"/>
            <a:ext cx="8837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5019" y="3150693"/>
            <a:ext cx="16037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359991" y="1782050"/>
            <a:ext cx="5039996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362531" y="1782051"/>
            <a:ext cx="0" cy="365671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5397472" y="1782051"/>
            <a:ext cx="0" cy="365671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59991" y="2147722"/>
            <a:ext cx="5039996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-2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880002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ANFIS: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Adaptive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neuro-fuzzy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inference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0056" y="1098802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neuro-fuzzy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discussed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previously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implements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Mamdani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7094" y="1314644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inference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model.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0056" y="1528989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ANFIS is the neuro-fuzzy system that implements a Sugeno fuzzy inference model.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78927" y="1894463"/>
            <a:ext cx="530646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Recall: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What is 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difference between Mamdani inference and Sugeno inference?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901651" y="3150916"/>
            <a:ext cx="88374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24256" y="3150692"/>
            <a:ext cx="16113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1008633" y="1350532"/>
            <a:ext cx="75916" cy="75916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08633" y="2070541"/>
            <a:ext cx="75916" cy="75916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640073" y="1081961"/>
            <a:ext cx="253054" cy="253054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640073" y="1441965"/>
            <a:ext cx="253054" cy="253054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640073" y="1801970"/>
            <a:ext cx="253054" cy="253054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640073" y="2161974"/>
            <a:ext cx="253054" cy="253054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890101" y="1081961"/>
            <a:ext cx="253054" cy="253054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890101" y="1441965"/>
            <a:ext cx="253054" cy="253054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890101" y="1801970"/>
            <a:ext cx="253054" cy="253054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890101" y="2161974"/>
            <a:ext cx="253054" cy="253054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759294" y="1388491"/>
            <a:ext cx="22150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965200" y="1371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769011" y="2108499"/>
            <a:ext cx="21178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965200" y="2082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1087079" y="1216353"/>
            <a:ext cx="526412" cy="17213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1587500" y="1206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0"/>
                </a:moveTo>
                <a:lnTo>
                  <a:pt x="0" y="0"/>
                </a:lnTo>
                <a:lnTo>
                  <a:pt x="2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1087079" y="1388491"/>
            <a:ext cx="526412" cy="17213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1587500" y="1536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3"/>
                </a:moveTo>
                <a:lnTo>
                  <a:pt x="1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1087079" y="1936362"/>
            <a:ext cx="526412" cy="17213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1587500" y="1917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0" y="0"/>
                </a:lnTo>
                <a:lnTo>
                  <a:pt x="2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1087079" y="2108499"/>
            <a:ext cx="526412" cy="17213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1587500" y="2260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2"/>
                </a:moveTo>
                <a:lnTo>
                  <a:pt x="1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1895657" y="1208488"/>
            <a:ext cx="43658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2311400" y="1193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0" y="0"/>
                </a:lnTo>
                <a:lnTo>
                  <a:pt x="2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1895657" y="1208488"/>
            <a:ext cx="451945" cy="105674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2324100" y="2247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3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1895657" y="1568493"/>
            <a:ext cx="43658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2311400" y="1549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2"/>
                </a:moveTo>
                <a:lnTo>
                  <a:pt x="0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1895657" y="1568493"/>
            <a:ext cx="441936" cy="34444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2311400" y="1892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3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 flipV="1">
            <a:off x="1895657" y="1229786"/>
            <a:ext cx="448232" cy="69871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2324100" y="12065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0"/>
                </a:moveTo>
                <a:lnTo>
                  <a:pt x="0" y="2"/>
                </a:lnTo>
                <a:lnTo>
                  <a:pt x="2" y="2"/>
                </a:lnTo>
                <a:lnTo>
                  <a:pt x="2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1895657" y="1928497"/>
            <a:ext cx="43658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2311400" y="1905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2"/>
                </a:moveTo>
                <a:lnTo>
                  <a:pt x="0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 flipV="1">
            <a:off x="1895657" y="1589790"/>
            <a:ext cx="448232" cy="69871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2324100" y="1574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0"/>
                </a:moveTo>
                <a:lnTo>
                  <a:pt x="0" y="1"/>
                </a:lnTo>
                <a:lnTo>
                  <a:pt x="2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1895657" y="2288501"/>
            <a:ext cx="43658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2311400" y="2273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0" y="0"/>
                </a:lnTo>
                <a:lnTo>
                  <a:pt x="2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>
            <a:off x="2615666" y="1208488"/>
            <a:ext cx="43658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3035300" y="1193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2615666" y="1208488"/>
            <a:ext cx="441936" cy="34444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reeform 76"/>
          <p:cNvSpPr/>
          <p:nvPr/>
        </p:nvSpPr>
        <p:spPr>
          <a:xfrm>
            <a:off x="3035300" y="15240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4"/>
                </a:moveTo>
                <a:lnTo>
                  <a:pt x="2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>
            <a:off x="2615666" y="1208488"/>
            <a:ext cx="448232" cy="69871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3035300" y="18796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4"/>
                </a:moveTo>
                <a:lnTo>
                  <a:pt x="3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>
            <a:off x="2615666" y="1208488"/>
            <a:ext cx="451945" cy="105674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3048000" y="2247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3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>
            <a:off x="3335675" y="1208488"/>
            <a:ext cx="52659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3848100" y="1193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>
            <a:off x="4145686" y="1208488"/>
            <a:ext cx="477007" cy="43588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4597400" y="16129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4"/>
                </a:moveTo>
                <a:lnTo>
                  <a:pt x="2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 flipV="1">
            <a:off x="2615666" y="1224044"/>
            <a:ext cx="441936" cy="34444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3035300" y="1206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0"/>
                </a:moveTo>
                <a:lnTo>
                  <a:pt x="0" y="1"/>
                </a:lnTo>
                <a:lnTo>
                  <a:pt x="2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2615666" y="1568493"/>
            <a:ext cx="43658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3035300" y="1549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>
            <a:off x="2615666" y="1568493"/>
            <a:ext cx="441936" cy="34444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3035300" y="1892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3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2615666" y="1568493"/>
            <a:ext cx="448232" cy="69871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3035300" y="2247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3"/>
                </a:moveTo>
                <a:lnTo>
                  <a:pt x="3" y="0"/>
                </a:lnTo>
                <a:lnTo>
                  <a:pt x="2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3335675" y="1568493"/>
            <a:ext cx="52659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3848100" y="1549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>
            <a:off x="4145686" y="1568493"/>
            <a:ext cx="443292" cy="13502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Freeform 96"/>
          <p:cNvSpPr/>
          <p:nvPr/>
        </p:nvSpPr>
        <p:spPr>
          <a:xfrm>
            <a:off x="4572000" y="1676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3"/>
                </a:moveTo>
                <a:lnTo>
                  <a:pt x="1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 flipV="1">
            <a:off x="2615666" y="1229786"/>
            <a:ext cx="448232" cy="69871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reeform 98"/>
          <p:cNvSpPr/>
          <p:nvPr/>
        </p:nvSpPr>
        <p:spPr>
          <a:xfrm>
            <a:off x="3035300" y="12065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0"/>
                </a:moveTo>
                <a:lnTo>
                  <a:pt x="0" y="2"/>
                </a:lnTo>
                <a:lnTo>
                  <a:pt x="2" y="2"/>
                </a:lnTo>
                <a:lnTo>
                  <a:pt x="3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2615666" y="1584048"/>
            <a:ext cx="441936" cy="34444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3035300" y="1574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0"/>
                </a:moveTo>
                <a:lnTo>
                  <a:pt x="0" y="0"/>
                </a:lnTo>
                <a:lnTo>
                  <a:pt x="2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2615666" y="1928497"/>
            <a:ext cx="43658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Freeform 102"/>
          <p:cNvSpPr/>
          <p:nvPr/>
        </p:nvSpPr>
        <p:spPr>
          <a:xfrm>
            <a:off x="3035300" y="1905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4" name="Connector 103"/>
          <p:cNvCxnSpPr/>
          <p:nvPr/>
        </p:nvCxnSpPr>
        <p:spPr>
          <a:xfrm>
            <a:off x="2615666" y="1928497"/>
            <a:ext cx="441936" cy="34444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Freeform 104"/>
          <p:cNvSpPr/>
          <p:nvPr/>
        </p:nvSpPr>
        <p:spPr>
          <a:xfrm>
            <a:off x="3035300" y="2247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3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6" name="Connector 105"/>
          <p:cNvCxnSpPr/>
          <p:nvPr/>
        </p:nvCxnSpPr>
        <p:spPr>
          <a:xfrm>
            <a:off x="3335675" y="1928497"/>
            <a:ext cx="52659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Freeform 106"/>
          <p:cNvSpPr/>
          <p:nvPr/>
        </p:nvSpPr>
        <p:spPr>
          <a:xfrm>
            <a:off x="3848100" y="1905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8" name="Connector 107"/>
          <p:cNvCxnSpPr/>
          <p:nvPr/>
        </p:nvCxnSpPr>
        <p:spPr>
          <a:xfrm flipV="1">
            <a:off x="4145686" y="1793471"/>
            <a:ext cx="443292" cy="13502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Freeform 108"/>
          <p:cNvSpPr/>
          <p:nvPr/>
        </p:nvSpPr>
        <p:spPr>
          <a:xfrm>
            <a:off x="4572000" y="1778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0" name="Connector 109"/>
          <p:cNvCxnSpPr/>
          <p:nvPr/>
        </p:nvCxnSpPr>
        <p:spPr>
          <a:xfrm flipV="1">
            <a:off x="2615666" y="1231754"/>
            <a:ext cx="451945" cy="105674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Freeform 110"/>
          <p:cNvSpPr/>
          <p:nvPr/>
        </p:nvSpPr>
        <p:spPr>
          <a:xfrm>
            <a:off x="3048000" y="12065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2" y="0"/>
                </a:moveTo>
                <a:lnTo>
                  <a:pt x="0" y="2"/>
                </a:lnTo>
                <a:lnTo>
                  <a:pt x="2" y="2"/>
                </a:lnTo>
                <a:lnTo>
                  <a:pt x="3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2" name="Connector 111"/>
          <p:cNvCxnSpPr/>
          <p:nvPr/>
        </p:nvCxnSpPr>
        <p:spPr>
          <a:xfrm flipV="1">
            <a:off x="2615666" y="1589790"/>
            <a:ext cx="448232" cy="69871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Freeform 112"/>
          <p:cNvSpPr/>
          <p:nvPr/>
        </p:nvSpPr>
        <p:spPr>
          <a:xfrm>
            <a:off x="3035300" y="1574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0"/>
                </a:moveTo>
                <a:lnTo>
                  <a:pt x="0" y="1"/>
                </a:lnTo>
                <a:lnTo>
                  <a:pt x="2" y="1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4" name="Connector 113"/>
          <p:cNvCxnSpPr/>
          <p:nvPr/>
        </p:nvCxnSpPr>
        <p:spPr>
          <a:xfrm flipV="1">
            <a:off x="2615666" y="1944053"/>
            <a:ext cx="441936" cy="34444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Freeform 114"/>
          <p:cNvSpPr/>
          <p:nvPr/>
        </p:nvSpPr>
        <p:spPr>
          <a:xfrm>
            <a:off x="3035300" y="1930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0"/>
                </a:moveTo>
                <a:lnTo>
                  <a:pt x="0" y="1"/>
                </a:lnTo>
                <a:lnTo>
                  <a:pt x="2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6" name="Connector 115"/>
          <p:cNvCxnSpPr/>
          <p:nvPr/>
        </p:nvCxnSpPr>
        <p:spPr>
          <a:xfrm>
            <a:off x="2615666" y="2288501"/>
            <a:ext cx="43658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Freeform 116"/>
          <p:cNvSpPr/>
          <p:nvPr/>
        </p:nvSpPr>
        <p:spPr>
          <a:xfrm>
            <a:off x="3035300" y="2273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8" name="Connector 117"/>
          <p:cNvCxnSpPr/>
          <p:nvPr/>
        </p:nvCxnSpPr>
        <p:spPr>
          <a:xfrm>
            <a:off x="3335675" y="2288501"/>
            <a:ext cx="52659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Freeform 118"/>
          <p:cNvSpPr/>
          <p:nvPr/>
        </p:nvSpPr>
        <p:spPr>
          <a:xfrm>
            <a:off x="3848100" y="2273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0" name="Connector 119"/>
          <p:cNvCxnSpPr/>
          <p:nvPr/>
        </p:nvCxnSpPr>
        <p:spPr>
          <a:xfrm flipV="1">
            <a:off x="4145686" y="1852617"/>
            <a:ext cx="477007" cy="43588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Freeform 120"/>
          <p:cNvSpPr/>
          <p:nvPr/>
        </p:nvSpPr>
        <p:spPr>
          <a:xfrm>
            <a:off x="4597400" y="1841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0"/>
                </a:moveTo>
                <a:lnTo>
                  <a:pt x="0" y="1"/>
                </a:lnTo>
                <a:lnTo>
                  <a:pt x="2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2" name="Connector 121"/>
          <p:cNvCxnSpPr/>
          <p:nvPr/>
        </p:nvCxnSpPr>
        <p:spPr>
          <a:xfrm>
            <a:off x="4865694" y="1748495"/>
            <a:ext cx="14639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Freeform 122"/>
          <p:cNvSpPr/>
          <p:nvPr/>
        </p:nvSpPr>
        <p:spPr>
          <a:xfrm>
            <a:off x="4991100" y="1727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2"/>
                </a:moveTo>
                <a:lnTo>
                  <a:pt x="0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4" name="Connector 123"/>
          <p:cNvCxnSpPr/>
          <p:nvPr/>
        </p:nvCxnSpPr>
        <p:spPr>
          <a:xfrm flipV="1">
            <a:off x="3566622" y="989673"/>
            <a:ext cx="0" cy="165883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3746625" y="989673"/>
            <a:ext cx="0" cy="165883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Freeform 125"/>
          <p:cNvSpPr/>
          <p:nvPr/>
        </p:nvSpPr>
        <p:spPr>
          <a:xfrm>
            <a:off x="3556000" y="1130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7" name="Connector 126"/>
          <p:cNvCxnSpPr/>
          <p:nvPr/>
        </p:nvCxnSpPr>
        <p:spPr>
          <a:xfrm>
            <a:off x="3566622" y="1136489"/>
            <a:ext cx="29564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Freeform 127"/>
          <p:cNvSpPr/>
          <p:nvPr/>
        </p:nvSpPr>
        <p:spPr>
          <a:xfrm>
            <a:off x="3848100" y="1117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Freeform 128"/>
          <p:cNvSpPr/>
          <p:nvPr/>
        </p:nvSpPr>
        <p:spPr>
          <a:xfrm>
            <a:off x="3733800" y="1270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000000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0" name="Connector 129"/>
          <p:cNvCxnSpPr/>
          <p:nvPr/>
        </p:nvCxnSpPr>
        <p:spPr>
          <a:xfrm>
            <a:off x="3746625" y="1280488"/>
            <a:ext cx="11564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Freeform 130"/>
          <p:cNvSpPr/>
          <p:nvPr/>
        </p:nvSpPr>
        <p:spPr>
          <a:xfrm>
            <a:off x="3848100" y="1257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Freeform 131"/>
          <p:cNvSpPr/>
          <p:nvPr/>
        </p:nvSpPr>
        <p:spPr>
          <a:xfrm>
            <a:off x="3556000" y="1485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000000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3" name="Connector 132"/>
          <p:cNvCxnSpPr/>
          <p:nvPr/>
        </p:nvCxnSpPr>
        <p:spPr>
          <a:xfrm>
            <a:off x="3566622" y="1496493"/>
            <a:ext cx="29564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Freeform 133"/>
          <p:cNvSpPr/>
          <p:nvPr/>
        </p:nvSpPr>
        <p:spPr>
          <a:xfrm>
            <a:off x="3848100" y="1473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Freeform 134"/>
          <p:cNvSpPr/>
          <p:nvPr/>
        </p:nvSpPr>
        <p:spPr>
          <a:xfrm>
            <a:off x="3733800" y="1625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000000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6" name="Connector 135"/>
          <p:cNvCxnSpPr/>
          <p:nvPr/>
        </p:nvCxnSpPr>
        <p:spPr>
          <a:xfrm>
            <a:off x="3746625" y="1640492"/>
            <a:ext cx="11564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Freeform 136"/>
          <p:cNvSpPr/>
          <p:nvPr/>
        </p:nvSpPr>
        <p:spPr>
          <a:xfrm>
            <a:off x="3848100" y="1625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Freeform 137"/>
          <p:cNvSpPr/>
          <p:nvPr/>
        </p:nvSpPr>
        <p:spPr>
          <a:xfrm>
            <a:off x="3556000" y="1841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000000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9" name="Connector 138"/>
          <p:cNvCxnSpPr/>
          <p:nvPr/>
        </p:nvCxnSpPr>
        <p:spPr>
          <a:xfrm>
            <a:off x="3566622" y="1856497"/>
            <a:ext cx="29564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Freeform 139"/>
          <p:cNvSpPr/>
          <p:nvPr/>
        </p:nvSpPr>
        <p:spPr>
          <a:xfrm>
            <a:off x="3848100" y="1841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Freeform 140"/>
          <p:cNvSpPr/>
          <p:nvPr/>
        </p:nvSpPr>
        <p:spPr>
          <a:xfrm>
            <a:off x="3733800" y="19939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000000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2" name="Connector 141"/>
          <p:cNvCxnSpPr/>
          <p:nvPr/>
        </p:nvCxnSpPr>
        <p:spPr>
          <a:xfrm>
            <a:off x="3746625" y="2000497"/>
            <a:ext cx="11564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Freeform 142"/>
          <p:cNvSpPr/>
          <p:nvPr/>
        </p:nvSpPr>
        <p:spPr>
          <a:xfrm>
            <a:off x="3848100" y="1981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Freeform 143"/>
          <p:cNvSpPr/>
          <p:nvPr/>
        </p:nvSpPr>
        <p:spPr>
          <a:xfrm>
            <a:off x="3556000" y="22098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000000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5" name="Connector 144"/>
          <p:cNvCxnSpPr/>
          <p:nvPr/>
        </p:nvCxnSpPr>
        <p:spPr>
          <a:xfrm>
            <a:off x="3566622" y="2216502"/>
            <a:ext cx="29564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Freeform 145"/>
          <p:cNvSpPr/>
          <p:nvPr/>
        </p:nvSpPr>
        <p:spPr>
          <a:xfrm>
            <a:off x="3848100" y="2197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reeform 146"/>
          <p:cNvSpPr/>
          <p:nvPr/>
        </p:nvSpPr>
        <p:spPr>
          <a:xfrm>
            <a:off x="3733800" y="2349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000000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8" name="Connector 147"/>
          <p:cNvCxnSpPr/>
          <p:nvPr/>
        </p:nvCxnSpPr>
        <p:spPr>
          <a:xfrm>
            <a:off x="3746625" y="2360502"/>
            <a:ext cx="11564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Freeform 148"/>
          <p:cNvSpPr/>
          <p:nvPr/>
        </p:nvSpPr>
        <p:spPr>
          <a:xfrm>
            <a:off x="3848100" y="2336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2" name="Picture 15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53" name="Picture 15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54" name="TextBox 15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Structure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ANFIS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50150" y="1340606"/>
            <a:ext cx="513524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640435" y="2060607"/>
            <a:ext cx="514496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714918" y="1165549"/>
            <a:ext cx="407047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705203" y="1525543"/>
            <a:ext cx="408019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720786" y="1884153"/>
            <a:ext cx="406461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711070" y="2244147"/>
            <a:ext cx="407432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2430385" y="1162298"/>
            <a:ext cx="335501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grmn0800"/>
              </a:rPr>
              <a:t>Π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2420657" y="1522292"/>
            <a:ext cx="336473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grmn0800"/>
              </a:rPr>
              <a:t>Π</a:t>
            </a:r>
            <a:r>
              <a:rPr sz="7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2420010" y="1881816"/>
            <a:ext cx="336538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grmn0800"/>
              </a:rPr>
              <a:t>Π</a:t>
            </a:r>
            <a:r>
              <a:rPr sz="7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2420111" y="2242293"/>
            <a:ext cx="336528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grmn0800"/>
              </a:rPr>
              <a:t>Π</a:t>
            </a:r>
            <a:r>
              <a:rPr sz="7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3149040" y="1163339"/>
            <a:ext cx="263635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N1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3139325" y="1523346"/>
            <a:ext cx="264607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N2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3138664" y="1883340"/>
            <a:ext cx="264673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N3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138766" y="2243347"/>
            <a:ext cx="264662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N4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3530155" y="2669800"/>
            <a:ext cx="225524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3700436" y="2669800"/>
            <a:ext cx="208495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000652" y="1160609"/>
            <a:ext cx="178474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3990923" y="1520603"/>
            <a:ext cx="179447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3990276" y="1880127"/>
            <a:ext cx="179511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3990377" y="2240604"/>
            <a:ext cx="179501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697767" y="1713354"/>
            <a:ext cx="108762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5073611" y="1677410"/>
            <a:ext cx="71178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881151" y="698297"/>
            <a:ext cx="490424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797" b="1">
                <a:solidFill>
                  <a:srgbClr val="000000"/>
                </a:solidFill>
                <a:latin typeface="Josefin Sans"/>
              </a:rPr>
              <a:t> </a:t>
            </a:r>
            <a:r>
              <a:rPr sz="797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818743" y="818191"/>
            <a:ext cx="496665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589963" y="698297"/>
            <a:ext cx="419543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797" b="1">
                <a:solidFill>
                  <a:srgbClr val="000000"/>
                </a:solidFill>
                <a:latin typeface="Josefin Sans"/>
              </a:rPr>
              <a:t> </a:t>
            </a:r>
            <a:r>
              <a:rPr sz="797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515312" y="818191"/>
            <a:ext cx="427008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fuzzification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662226" y="938397"/>
            <a:ext cx="412316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2311424" y="698297"/>
            <a:ext cx="347397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797" b="1">
                <a:solidFill>
                  <a:srgbClr val="000000"/>
                </a:solidFill>
                <a:latin typeface="Josefin Sans"/>
              </a:rPr>
              <a:t> </a:t>
            </a:r>
            <a:r>
              <a:rPr sz="797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2287587" y="818191"/>
            <a:ext cx="349780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3030663" y="698297"/>
            <a:ext cx="275473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797" b="1">
                <a:solidFill>
                  <a:srgbClr val="000000"/>
                </a:solidFill>
                <a:latin typeface="Josefin Sans"/>
              </a:rPr>
              <a:t> </a:t>
            </a:r>
            <a:r>
              <a:rPr sz="797" b="1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2919272" y="818191"/>
            <a:ext cx="286612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normalisation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3102228" y="938397"/>
            <a:ext cx="268316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3841533" y="698297"/>
            <a:ext cx="194386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797" b="1">
                <a:solidFill>
                  <a:srgbClr val="000000"/>
                </a:solidFill>
                <a:latin typeface="Josefin Sans"/>
              </a:rPr>
              <a:t> </a:t>
            </a:r>
            <a:r>
              <a:rPr sz="797" b="1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3712222" y="818191"/>
            <a:ext cx="207317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3912234" y="938397"/>
            <a:ext cx="187316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4560213" y="698297"/>
            <a:ext cx="122518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797" b="1">
                <a:solidFill>
                  <a:srgbClr val="000000"/>
                </a:solidFill>
                <a:latin typeface="Josefin Sans"/>
              </a:rPr>
              <a:t> </a:t>
            </a:r>
            <a:r>
              <a:rPr sz="797" b="1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04232" y="818191"/>
            <a:ext cx="128116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summation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4901653" y="3150917"/>
            <a:ext cx="8837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623813" y="3150693"/>
            <a:ext cx="1615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493919" y="1628153"/>
            <a:ext cx="37870" cy="37870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93919" y="1987322"/>
            <a:ext cx="37870" cy="37869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08906" y="1494179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8906" y="1673763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08906" y="1853348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8906" y="2032932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931310" y="1494179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931310" y="1673763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31310" y="1853348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931310" y="2032932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69538" y="1647088"/>
            <a:ext cx="110495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469900" y="1638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74386" y="2006257"/>
            <a:ext cx="10564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469900" y="1993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533051" y="1561219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787400" y="1549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533051" y="1647088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787400" y="17272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533051" y="1920388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787400" y="19177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533051" y="2006257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787400" y="20828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936402" y="1557296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1143000" y="15494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936402" y="1557296"/>
            <a:ext cx="225448" cy="52714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11557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936402" y="1736880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1143000" y="1727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936402" y="173688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1143000" y="1892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 flipV="1">
            <a:off x="936402" y="156792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1143000" y="15621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1"/>
                </a:lnTo>
                <a:lnTo>
                  <a:pt x="1" y="0"/>
                </a:lnTo>
                <a:lnTo>
                  <a:pt x="2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936402" y="1916465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11430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 flipV="1">
            <a:off x="936402" y="1747504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1143000" y="1739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936402" y="2096049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1143000" y="2082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>
            <a:off x="1295571" y="1557296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1511300" y="15494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1295571" y="1557296"/>
            <a:ext cx="220455" cy="17182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reeform 76"/>
          <p:cNvSpPr/>
          <p:nvPr/>
        </p:nvSpPr>
        <p:spPr>
          <a:xfrm>
            <a:off x="1498600" y="1714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>
            <a:off x="1295571" y="1557296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1511300" y="18923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>
            <a:off x="1295571" y="1557296"/>
            <a:ext cx="225448" cy="52714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15113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>
            <a:off x="1654741" y="1557296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1905000" y="15494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>
            <a:off x="2058806" y="1557296"/>
            <a:ext cx="237950" cy="2174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2286000" y="1765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 flipV="1">
            <a:off x="1295571" y="1565055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1498600" y="15621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1295571" y="1736880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1511300" y="17272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>
            <a:off x="1295571" y="173688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1498600" y="1892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1295571" y="173688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15113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1654741" y="1736880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1905000" y="1727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>
            <a:off x="2058806" y="1736880"/>
            <a:ext cx="221132" cy="6735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Freeform 96"/>
          <p:cNvSpPr/>
          <p:nvPr/>
        </p:nvSpPr>
        <p:spPr>
          <a:xfrm>
            <a:off x="2273300" y="17907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 flipV="1">
            <a:off x="1295571" y="156792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reeform 98"/>
          <p:cNvSpPr/>
          <p:nvPr/>
        </p:nvSpPr>
        <p:spPr>
          <a:xfrm>
            <a:off x="1511300" y="1562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1295571" y="174464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1498600" y="17399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1295571" y="1916465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Freeform 102"/>
          <p:cNvSpPr/>
          <p:nvPr/>
        </p:nvSpPr>
        <p:spPr>
          <a:xfrm>
            <a:off x="1511300" y="19050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4" name="Connector 103"/>
          <p:cNvCxnSpPr/>
          <p:nvPr/>
        </p:nvCxnSpPr>
        <p:spPr>
          <a:xfrm>
            <a:off x="1295571" y="1916465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Freeform 104"/>
          <p:cNvSpPr/>
          <p:nvPr/>
        </p:nvSpPr>
        <p:spPr>
          <a:xfrm>
            <a:off x="1498600" y="2070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6" name="Connector 105"/>
          <p:cNvCxnSpPr/>
          <p:nvPr/>
        </p:nvCxnSpPr>
        <p:spPr>
          <a:xfrm>
            <a:off x="1654741" y="1916465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Freeform 106"/>
          <p:cNvSpPr/>
          <p:nvPr/>
        </p:nvSpPr>
        <p:spPr>
          <a:xfrm>
            <a:off x="19050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8" name="Connector 107"/>
          <p:cNvCxnSpPr/>
          <p:nvPr/>
        </p:nvCxnSpPr>
        <p:spPr>
          <a:xfrm flipV="1">
            <a:off x="2058806" y="1849108"/>
            <a:ext cx="221132" cy="6735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Freeform 108"/>
          <p:cNvSpPr/>
          <p:nvPr/>
        </p:nvSpPr>
        <p:spPr>
          <a:xfrm>
            <a:off x="2273300" y="18415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0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0" name="Connector 109"/>
          <p:cNvCxnSpPr/>
          <p:nvPr/>
        </p:nvCxnSpPr>
        <p:spPr>
          <a:xfrm flipV="1">
            <a:off x="1295571" y="1568901"/>
            <a:ext cx="225448" cy="52714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Freeform 110"/>
          <p:cNvSpPr/>
          <p:nvPr/>
        </p:nvSpPr>
        <p:spPr>
          <a:xfrm>
            <a:off x="1511300" y="1562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2" name="Connector 111"/>
          <p:cNvCxnSpPr/>
          <p:nvPr/>
        </p:nvCxnSpPr>
        <p:spPr>
          <a:xfrm flipV="1">
            <a:off x="1295571" y="1747504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Freeform 112"/>
          <p:cNvSpPr/>
          <p:nvPr/>
        </p:nvSpPr>
        <p:spPr>
          <a:xfrm>
            <a:off x="1511300" y="17399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4" name="Connector 113"/>
          <p:cNvCxnSpPr/>
          <p:nvPr/>
        </p:nvCxnSpPr>
        <p:spPr>
          <a:xfrm flipV="1">
            <a:off x="1295571" y="1924224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Freeform 114"/>
          <p:cNvSpPr/>
          <p:nvPr/>
        </p:nvSpPr>
        <p:spPr>
          <a:xfrm>
            <a:off x="1498600" y="1917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6" name="Connector 115"/>
          <p:cNvCxnSpPr/>
          <p:nvPr/>
        </p:nvCxnSpPr>
        <p:spPr>
          <a:xfrm>
            <a:off x="1295571" y="2096049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Freeform 116"/>
          <p:cNvSpPr/>
          <p:nvPr/>
        </p:nvSpPr>
        <p:spPr>
          <a:xfrm>
            <a:off x="1511300" y="20828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8" name="Connector 117"/>
          <p:cNvCxnSpPr/>
          <p:nvPr/>
        </p:nvCxnSpPr>
        <p:spPr>
          <a:xfrm>
            <a:off x="1654741" y="2096049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Freeform 118"/>
          <p:cNvSpPr/>
          <p:nvPr/>
        </p:nvSpPr>
        <p:spPr>
          <a:xfrm>
            <a:off x="1905000" y="2082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0" name="Connector 119"/>
          <p:cNvCxnSpPr/>
          <p:nvPr/>
        </p:nvCxnSpPr>
        <p:spPr>
          <a:xfrm flipV="1">
            <a:off x="2058806" y="1878613"/>
            <a:ext cx="237950" cy="2174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Freeform 120"/>
          <p:cNvSpPr/>
          <p:nvPr/>
        </p:nvSpPr>
        <p:spPr>
          <a:xfrm>
            <a:off x="2286000" y="1866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2" name="Connector 121"/>
          <p:cNvCxnSpPr/>
          <p:nvPr/>
        </p:nvCxnSpPr>
        <p:spPr>
          <a:xfrm>
            <a:off x="2417975" y="1826672"/>
            <a:ext cx="7302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Freeform 122"/>
          <p:cNvSpPr/>
          <p:nvPr/>
        </p:nvSpPr>
        <p:spPr>
          <a:xfrm>
            <a:off x="2489200" y="1816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4" name="Connector 123"/>
          <p:cNvCxnSpPr/>
          <p:nvPr/>
        </p:nvCxnSpPr>
        <p:spPr>
          <a:xfrm flipV="1">
            <a:off x="1769946" y="1448142"/>
            <a:ext cx="0" cy="82749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1859739" y="1448142"/>
            <a:ext cx="0" cy="82749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Freeform 125"/>
          <p:cNvSpPr/>
          <p:nvPr/>
        </p:nvSpPr>
        <p:spPr>
          <a:xfrm>
            <a:off x="1765300" y="15113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7" name="Connector 126"/>
          <p:cNvCxnSpPr/>
          <p:nvPr/>
        </p:nvCxnSpPr>
        <p:spPr>
          <a:xfrm>
            <a:off x="1769946" y="1521379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Freeform 127"/>
          <p:cNvSpPr/>
          <p:nvPr/>
        </p:nvSpPr>
        <p:spPr>
          <a:xfrm>
            <a:off x="1905000" y="1511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Freeform 128"/>
          <p:cNvSpPr/>
          <p:nvPr/>
        </p:nvSpPr>
        <p:spPr>
          <a:xfrm>
            <a:off x="1854200" y="15875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0" name="Connector 129"/>
          <p:cNvCxnSpPr/>
          <p:nvPr/>
        </p:nvCxnSpPr>
        <p:spPr>
          <a:xfrm>
            <a:off x="1859739" y="1593212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Freeform 130"/>
          <p:cNvSpPr/>
          <p:nvPr/>
        </p:nvSpPr>
        <p:spPr>
          <a:xfrm>
            <a:off x="1905000" y="15875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Freeform 131"/>
          <p:cNvSpPr/>
          <p:nvPr/>
        </p:nvSpPr>
        <p:spPr>
          <a:xfrm>
            <a:off x="1765300" y="1701800"/>
            <a:ext cx="12700" cy="0"/>
          </a:xfrm>
          <a:custGeom>
            <a:avLst/>
            <a:gdLst/>
            <a:ahLst/>
            <a:cxnLst/>
            <a:rect l="l" t="t" r="r" b="b"/>
            <a:pathLst>
              <a:path w="1" h="0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3" name="Connector 132"/>
          <p:cNvCxnSpPr/>
          <p:nvPr/>
        </p:nvCxnSpPr>
        <p:spPr>
          <a:xfrm>
            <a:off x="1769946" y="1700964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Freeform 133"/>
          <p:cNvSpPr/>
          <p:nvPr/>
        </p:nvSpPr>
        <p:spPr>
          <a:xfrm>
            <a:off x="1905000" y="1689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Freeform 134"/>
          <p:cNvSpPr/>
          <p:nvPr/>
        </p:nvSpPr>
        <p:spPr>
          <a:xfrm>
            <a:off x="1854200" y="17653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6" name="Connector 135"/>
          <p:cNvCxnSpPr/>
          <p:nvPr/>
        </p:nvCxnSpPr>
        <p:spPr>
          <a:xfrm>
            <a:off x="1859739" y="1772796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Freeform 136"/>
          <p:cNvSpPr/>
          <p:nvPr/>
        </p:nvSpPr>
        <p:spPr>
          <a:xfrm>
            <a:off x="1905000" y="1765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Freeform 137"/>
          <p:cNvSpPr/>
          <p:nvPr/>
        </p:nvSpPr>
        <p:spPr>
          <a:xfrm>
            <a:off x="1765300" y="1879600"/>
            <a:ext cx="12700" cy="0"/>
          </a:xfrm>
          <a:custGeom>
            <a:avLst/>
            <a:gdLst/>
            <a:ahLst/>
            <a:cxnLst/>
            <a:rect l="l" t="t" r="r" b="b"/>
            <a:pathLst>
              <a:path w="1" h="0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9" name="Connector 138"/>
          <p:cNvCxnSpPr/>
          <p:nvPr/>
        </p:nvCxnSpPr>
        <p:spPr>
          <a:xfrm>
            <a:off x="1769946" y="1880548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Freeform 139"/>
          <p:cNvSpPr/>
          <p:nvPr/>
        </p:nvSpPr>
        <p:spPr>
          <a:xfrm>
            <a:off x="1905000" y="1866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Freeform 140"/>
          <p:cNvSpPr/>
          <p:nvPr/>
        </p:nvSpPr>
        <p:spPr>
          <a:xfrm>
            <a:off x="1854200" y="1943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2" name="Connector 141"/>
          <p:cNvCxnSpPr/>
          <p:nvPr/>
        </p:nvCxnSpPr>
        <p:spPr>
          <a:xfrm>
            <a:off x="1859739" y="1952381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Freeform 142"/>
          <p:cNvSpPr/>
          <p:nvPr/>
        </p:nvSpPr>
        <p:spPr>
          <a:xfrm>
            <a:off x="1905000" y="1943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Freeform 143"/>
          <p:cNvSpPr/>
          <p:nvPr/>
        </p:nvSpPr>
        <p:spPr>
          <a:xfrm>
            <a:off x="1765300" y="20574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5" name="Connector 144"/>
          <p:cNvCxnSpPr/>
          <p:nvPr/>
        </p:nvCxnSpPr>
        <p:spPr>
          <a:xfrm>
            <a:off x="1769946" y="2060133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Freeform 145"/>
          <p:cNvSpPr/>
          <p:nvPr/>
        </p:nvSpPr>
        <p:spPr>
          <a:xfrm>
            <a:off x="1905000" y="2044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reeform 146"/>
          <p:cNvSpPr/>
          <p:nvPr/>
        </p:nvSpPr>
        <p:spPr>
          <a:xfrm>
            <a:off x="1854200" y="21209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8" name="Connector 147"/>
          <p:cNvCxnSpPr/>
          <p:nvPr/>
        </p:nvCxnSpPr>
        <p:spPr>
          <a:xfrm>
            <a:off x="1859739" y="2131966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Freeform 148"/>
          <p:cNvSpPr/>
          <p:nvPr/>
        </p:nvSpPr>
        <p:spPr>
          <a:xfrm>
            <a:off x="1905000" y="2120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13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2880017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2" name="Picture 15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53" name="Picture 15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54" name="TextBox 15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Structure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ANFIS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315093" y="1623201"/>
            <a:ext cx="54703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310247" y="1982366"/>
            <a:ext cx="547514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46242" y="1535876"/>
            <a:ext cx="493915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841396" y="1715455"/>
            <a:ext cx="494399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849169" y="1894344"/>
            <a:ext cx="493622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44323" y="2073923"/>
            <a:ext cx="494107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203146" y="1534254"/>
            <a:ext cx="458224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98293" y="1713833"/>
            <a:ext cx="45871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97970" y="1893178"/>
            <a:ext cx="458742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98021" y="2072999"/>
            <a:ext cx="458737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561640" y="1534773"/>
            <a:ext cx="422375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N1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556793" y="1714359"/>
            <a:ext cx="42286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556464" y="1893939"/>
            <a:ext cx="422893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556514" y="2073524"/>
            <a:ext cx="422888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751755" y="2286256"/>
            <a:ext cx="403364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836698" y="2286256"/>
            <a:ext cx="394869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986457" y="1533411"/>
            <a:ext cx="379893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981604" y="1712991"/>
            <a:ext cx="380379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981281" y="1892336"/>
            <a:ext cx="380411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981332" y="2072156"/>
            <a:ext cx="380406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2334206" y="1809143"/>
            <a:ext cx="345118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2521692" y="1791212"/>
            <a:ext cx="326370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430325" y="1302792"/>
            <a:ext cx="5355070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399194" y="1362600"/>
            <a:ext cx="538620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397" b="0">
                <a:solidFill>
                  <a:srgbClr val="000000"/>
                </a:solidFill>
                <a:latin typeface="Josefin Sans"/>
              </a:rPr>
              <a:t> </a:t>
            </a: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83909" y="1302792"/>
            <a:ext cx="500148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746671" y="1362600"/>
            <a:ext cx="503872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fuzzification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819957" y="1422563"/>
            <a:ext cx="496543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143803" y="1302792"/>
            <a:ext cx="464159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31912" y="1362600"/>
            <a:ext cx="465348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397" b="0">
                <a:solidFill>
                  <a:srgbClr val="000000"/>
                </a:solidFill>
                <a:latin typeface="Josefin Sans"/>
              </a:rPr>
              <a:t> </a:t>
            </a: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502588" y="1302792"/>
            <a:ext cx="428280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1447022" y="1362600"/>
            <a:ext cx="433837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normalisation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538288" y="1422563"/>
            <a:ext cx="424710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907083" y="1302792"/>
            <a:ext cx="387831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42577" y="1362600"/>
            <a:ext cx="394281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942351" y="1422563"/>
            <a:ext cx="384304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2265589" y="1302792"/>
            <a:ext cx="351980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2237663" y="1362600"/>
            <a:ext cx="354773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summation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3198609" y="1335852"/>
            <a:ext cx="258678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Example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system: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3317862" y="1486860"/>
            <a:ext cx="246753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two inputs, each represented by two fuzzy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3475697" y="1664820"/>
            <a:ext cx="230969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sets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3317862" y="1815827"/>
            <a:ext cx="246753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one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output,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represented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first-order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3475697" y="1993787"/>
            <a:ext cx="230969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polynomial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4901667" y="3150916"/>
            <a:ext cx="88372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5623141" y="3150692"/>
            <a:ext cx="16225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493919" y="1628153"/>
            <a:ext cx="37870" cy="37870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93919" y="1987322"/>
            <a:ext cx="37870" cy="37869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08906" y="1494179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8906" y="1673763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08906" y="1853348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8906" y="2032932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931310" y="1494179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931310" y="1673763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31310" y="1853348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931310" y="2032932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69538" y="1647088"/>
            <a:ext cx="110495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469900" y="1638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74386" y="2006257"/>
            <a:ext cx="10564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469900" y="1993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533051" y="1561219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787400" y="1549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533051" y="1647088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787400" y="17272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533051" y="1920388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787400" y="19177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533051" y="2006257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787400" y="20828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936402" y="1557296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1143000" y="15494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936402" y="1557296"/>
            <a:ext cx="225448" cy="52714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11557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936402" y="1736880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1143000" y="1727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936402" y="173688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1143000" y="1892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 flipV="1">
            <a:off x="936402" y="156792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1143000" y="15621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1"/>
                </a:lnTo>
                <a:lnTo>
                  <a:pt x="1" y="0"/>
                </a:lnTo>
                <a:lnTo>
                  <a:pt x="2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936402" y="1916465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11430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 flipV="1">
            <a:off x="936402" y="1747504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1143000" y="1739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936402" y="2096049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1143000" y="2082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>
            <a:off x="1295571" y="1557296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1511300" y="15494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1295571" y="1557296"/>
            <a:ext cx="220455" cy="17182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reeform 76"/>
          <p:cNvSpPr/>
          <p:nvPr/>
        </p:nvSpPr>
        <p:spPr>
          <a:xfrm>
            <a:off x="1498600" y="1714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>
            <a:off x="1295571" y="1557296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1511300" y="18923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>
            <a:off x="1295571" y="1557296"/>
            <a:ext cx="225448" cy="52714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15113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>
            <a:off x="1654741" y="1557296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1905000" y="15494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>
            <a:off x="2058806" y="1557296"/>
            <a:ext cx="237950" cy="2174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2286000" y="1765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 flipV="1">
            <a:off x="1295571" y="1565055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1498600" y="15621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1295571" y="1736880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1511300" y="17272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>
            <a:off x="1295571" y="173688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1498600" y="1892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1295571" y="173688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15113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1654741" y="1736880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1905000" y="1727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>
            <a:off x="2058806" y="1736880"/>
            <a:ext cx="221132" cy="6735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Freeform 96"/>
          <p:cNvSpPr/>
          <p:nvPr/>
        </p:nvSpPr>
        <p:spPr>
          <a:xfrm>
            <a:off x="2273300" y="17907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 flipV="1">
            <a:off x="1295571" y="156792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reeform 98"/>
          <p:cNvSpPr/>
          <p:nvPr/>
        </p:nvSpPr>
        <p:spPr>
          <a:xfrm>
            <a:off x="1511300" y="1562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1295571" y="174464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1498600" y="17399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1295571" y="1916465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Freeform 102"/>
          <p:cNvSpPr/>
          <p:nvPr/>
        </p:nvSpPr>
        <p:spPr>
          <a:xfrm>
            <a:off x="1511300" y="19050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4" name="Connector 103"/>
          <p:cNvCxnSpPr/>
          <p:nvPr/>
        </p:nvCxnSpPr>
        <p:spPr>
          <a:xfrm>
            <a:off x="1295571" y="1916465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Freeform 104"/>
          <p:cNvSpPr/>
          <p:nvPr/>
        </p:nvSpPr>
        <p:spPr>
          <a:xfrm>
            <a:off x="1498600" y="2070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6" name="Connector 105"/>
          <p:cNvCxnSpPr/>
          <p:nvPr/>
        </p:nvCxnSpPr>
        <p:spPr>
          <a:xfrm>
            <a:off x="1654741" y="1916465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Freeform 106"/>
          <p:cNvSpPr/>
          <p:nvPr/>
        </p:nvSpPr>
        <p:spPr>
          <a:xfrm>
            <a:off x="19050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8" name="Connector 107"/>
          <p:cNvCxnSpPr/>
          <p:nvPr/>
        </p:nvCxnSpPr>
        <p:spPr>
          <a:xfrm flipV="1">
            <a:off x="2058806" y="1849108"/>
            <a:ext cx="221132" cy="6735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Freeform 108"/>
          <p:cNvSpPr/>
          <p:nvPr/>
        </p:nvSpPr>
        <p:spPr>
          <a:xfrm>
            <a:off x="2273300" y="18415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0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0" name="Connector 109"/>
          <p:cNvCxnSpPr/>
          <p:nvPr/>
        </p:nvCxnSpPr>
        <p:spPr>
          <a:xfrm flipV="1">
            <a:off x="1295571" y="1568901"/>
            <a:ext cx="225448" cy="52714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Freeform 110"/>
          <p:cNvSpPr/>
          <p:nvPr/>
        </p:nvSpPr>
        <p:spPr>
          <a:xfrm>
            <a:off x="1511300" y="1562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2" name="Connector 111"/>
          <p:cNvCxnSpPr/>
          <p:nvPr/>
        </p:nvCxnSpPr>
        <p:spPr>
          <a:xfrm flipV="1">
            <a:off x="1295571" y="1747504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Freeform 112"/>
          <p:cNvSpPr/>
          <p:nvPr/>
        </p:nvSpPr>
        <p:spPr>
          <a:xfrm>
            <a:off x="1511300" y="17399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4" name="Connector 113"/>
          <p:cNvCxnSpPr/>
          <p:nvPr/>
        </p:nvCxnSpPr>
        <p:spPr>
          <a:xfrm flipV="1">
            <a:off x="1295571" y="1924224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Freeform 114"/>
          <p:cNvSpPr/>
          <p:nvPr/>
        </p:nvSpPr>
        <p:spPr>
          <a:xfrm>
            <a:off x="1498600" y="1917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6" name="Connector 115"/>
          <p:cNvCxnSpPr/>
          <p:nvPr/>
        </p:nvCxnSpPr>
        <p:spPr>
          <a:xfrm>
            <a:off x="1295571" y="2096049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Freeform 116"/>
          <p:cNvSpPr/>
          <p:nvPr/>
        </p:nvSpPr>
        <p:spPr>
          <a:xfrm>
            <a:off x="1511300" y="20828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8" name="Connector 117"/>
          <p:cNvCxnSpPr/>
          <p:nvPr/>
        </p:nvCxnSpPr>
        <p:spPr>
          <a:xfrm>
            <a:off x="1654741" y="2096049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Freeform 118"/>
          <p:cNvSpPr/>
          <p:nvPr/>
        </p:nvSpPr>
        <p:spPr>
          <a:xfrm>
            <a:off x="1905000" y="2082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0" name="Connector 119"/>
          <p:cNvCxnSpPr/>
          <p:nvPr/>
        </p:nvCxnSpPr>
        <p:spPr>
          <a:xfrm flipV="1">
            <a:off x="2058806" y="1878613"/>
            <a:ext cx="237950" cy="2174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Freeform 120"/>
          <p:cNvSpPr/>
          <p:nvPr/>
        </p:nvSpPr>
        <p:spPr>
          <a:xfrm>
            <a:off x="2286000" y="1866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2" name="Connector 121"/>
          <p:cNvCxnSpPr/>
          <p:nvPr/>
        </p:nvCxnSpPr>
        <p:spPr>
          <a:xfrm>
            <a:off x="2417975" y="1826672"/>
            <a:ext cx="7302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Freeform 122"/>
          <p:cNvSpPr/>
          <p:nvPr/>
        </p:nvSpPr>
        <p:spPr>
          <a:xfrm>
            <a:off x="2489200" y="1816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4" name="Connector 123"/>
          <p:cNvCxnSpPr/>
          <p:nvPr/>
        </p:nvCxnSpPr>
        <p:spPr>
          <a:xfrm flipV="1">
            <a:off x="1769946" y="1448142"/>
            <a:ext cx="0" cy="82749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1859739" y="1448142"/>
            <a:ext cx="0" cy="82749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Freeform 125"/>
          <p:cNvSpPr/>
          <p:nvPr/>
        </p:nvSpPr>
        <p:spPr>
          <a:xfrm>
            <a:off x="1765300" y="15113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7" name="Connector 126"/>
          <p:cNvCxnSpPr/>
          <p:nvPr/>
        </p:nvCxnSpPr>
        <p:spPr>
          <a:xfrm>
            <a:off x="1769946" y="1521379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Freeform 127"/>
          <p:cNvSpPr/>
          <p:nvPr/>
        </p:nvSpPr>
        <p:spPr>
          <a:xfrm>
            <a:off x="1905000" y="1511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Freeform 128"/>
          <p:cNvSpPr/>
          <p:nvPr/>
        </p:nvSpPr>
        <p:spPr>
          <a:xfrm>
            <a:off x="1854200" y="15875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0" name="Connector 129"/>
          <p:cNvCxnSpPr/>
          <p:nvPr/>
        </p:nvCxnSpPr>
        <p:spPr>
          <a:xfrm>
            <a:off x="1859739" y="1593212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Freeform 130"/>
          <p:cNvSpPr/>
          <p:nvPr/>
        </p:nvSpPr>
        <p:spPr>
          <a:xfrm>
            <a:off x="1905000" y="15875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Freeform 131"/>
          <p:cNvSpPr/>
          <p:nvPr/>
        </p:nvSpPr>
        <p:spPr>
          <a:xfrm>
            <a:off x="1765300" y="1701800"/>
            <a:ext cx="12700" cy="0"/>
          </a:xfrm>
          <a:custGeom>
            <a:avLst/>
            <a:gdLst/>
            <a:ahLst/>
            <a:cxnLst/>
            <a:rect l="l" t="t" r="r" b="b"/>
            <a:pathLst>
              <a:path w="1" h="0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3" name="Connector 132"/>
          <p:cNvCxnSpPr/>
          <p:nvPr/>
        </p:nvCxnSpPr>
        <p:spPr>
          <a:xfrm>
            <a:off x="1769946" y="1700964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Freeform 133"/>
          <p:cNvSpPr/>
          <p:nvPr/>
        </p:nvSpPr>
        <p:spPr>
          <a:xfrm>
            <a:off x="1905000" y="1689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Freeform 134"/>
          <p:cNvSpPr/>
          <p:nvPr/>
        </p:nvSpPr>
        <p:spPr>
          <a:xfrm>
            <a:off x="1854200" y="17653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6" name="Connector 135"/>
          <p:cNvCxnSpPr/>
          <p:nvPr/>
        </p:nvCxnSpPr>
        <p:spPr>
          <a:xfrm>
            <a:off x="1859739" y="1772796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Freeform 136"/>
          <p:cNvSpPr/>
          <p:nvPr/>
        </p:nvSpPr>
        <p:spPr>
          <a:xfrm>
            <a:off x="1905000" y="1765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Freeform 137"/>
          <p:cNvSpPr/>
          <p:nvPr/>
        </p:nvSpPr>
        <p:spPr>
          <a:xfrm>
            <a:off x="1765300" y="1879600"/>
            <a:ext cx="12700" cy="0"/>
          </a:xfrm>
          <a:custGeom>
            <a:avLst/>
            <a:gdLst/>
            <a:ahLst/>
            <a:cxnLst/>
            <a:rect l="l" t="t" r="r" b="b"/>
            <a:pathLst>
              <a:path w="1" h="0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9" name="Connector 138"/>
          <p:cNvCxnSpPr/>
          <p:nvPr/>
        </p:nvCxnSpPr>
        <p:spPr>
          <a:xfrm>
            <a:off x="1769946" y="1880548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Freeform 139"/>
          <p:cNvSpPr/>
          <p:nvPr/>
        </p:nvSpPr>
        <p:spPr>
          <a:xfrm>
            <a:off x="1905000" y="1866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Freeform 140"/>
          <p:cNvSpPr/>
          <p:nvPr/>
        </p:nvSpPr>
        <p:spPr>
          <a:xfrm>
            <a:off x="1854200" y="1943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2" name="Connector 141"/>
          <p:cNvCxnSpPr/>
          <p:nvPr/>
        </p:nvCxnSpPr>
        <p:spPr>
          <a:xfrm>
            <a:off x="1859739" y="1952381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Freeform 142"/>
          <p:cNvSpPr/>
          <p:nvPr/>
        </p:nvSpPr>
        <p:spPr>
          <a:xfrm>
            <a:off x="1905000" y="1943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Freeform 143"/>
          <p:cNvSpPr/>
          <p:nvPr/>
        </p:nvSpPr>
        <p:spPr>
          <a:xfrm>
            <a:off x="1765300" y="20574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5" name="Connector 144"/>
          <p:cNvCxnSpPr/>
          <p:nvPr/>
        </p:nvCxnSpPr>
        <p:spPr>
          <a:xfrm>
            <a:off x="1769946" y="2060133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Freeform 145"/>
          <p:cNvSpPr/>
          <p:nvPr/>
        </p:nvSpPr>
        <p:spPr>
          <a:xfrm>
            <a:off x="1905000" y="2044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reeform 146"/>
          <p:cNvSpPr/>
          <p:nvPr/>
        </p:nvSpPr>
        <p:spPr>
          <a:xfrm>
            <a:off x="1854200" y="21209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8" name="Connector 147"/>
          <p:cNvCxnSpPr/>
          <p:nvPr/>
        </p:nvCxnSpPr>
        <p:spPr>
          <a:xfrm>
            <a:off x="1859739" y="2131966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Freeform 148"/>
          <p:cNvSpPr/>
          <p:nvPr/>
        </p:nvSpPr>
        <p:spPr>
          <a:xfrm>
            <a:off x="1905000" y="2120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13" y="3146744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2880017" y="3146744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2" name="Picture 15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53" name="Picture 15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54" name="TextBox 15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Structure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ANFIS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315093" y="1623201"/>
            <a:ext cx="54703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310247" y="1982366"/>
            <a:ext cx="547514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46242" y="1535876"/>
            <a:ext cx="493915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841396" y="1715455"/>
            <a:ext cx="494399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849169" y="1894344"/>
            <a:ext cx="493622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44323" y="2073923"/>
            <a:ext cx="494107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203146" y="1534254"/>
            <a:ext cx="458224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98293" y="1713833"/>
            <a:ext cx="45871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97970" y="1893178"/>
            <a:ext cx="458742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98021" y="2072999"/>
            <a:ext cx="458737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561640" y="1534773"/>
            <a:ext cx="422375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N1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556793" y="1714359"/>
            <a:ext cx="42286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556464" y="1893939"/>
            <a:ext cx="422893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556514" y="2073524"/>
            <a:ext cx="422888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751755" y="2286256"/>
            <a:ext cx="403364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836698" y="2286256"/>
            <a:ext cx="394869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986457" y="1533411"/>
            <a:ext cx="379893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981604" y="1712991"/>
            <a:ext cx="380379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981281" y="1892336"/>
            <a:ext cx="380411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981332" y="2072156"/>
            <a:ext cx="380406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2334206" y="1809143"/>
            <a:ext cx="345118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2521692" y="1791212"/>
            <a:ext cx="326370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430325" y="1302792"/>
            <a:ext cx="5355070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399194" y="1362600"/>
            <a:ext cx="538620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397" b="0">
                <a:solidFill>
                  <a:srgbClr val="000000"/>
                </a:solidFill>
                <a:latin typeface="Josefin Sans"/>
              </a:rPr>
              <a:t> </a:t>
            </a: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83909" y="1302792"/>
            <a:ext cx="500148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746671" y="1362600"/>
            <a:ext cx="503872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fuzzification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819957" y="1422563"/>
            <a:ext cx="496543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143803" y="1302792"/>
            <a:ext cx="464159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31912" y="1362600"/>
            <a:ext cx="465348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397" b="0">
                <a:solidFill>
                  <a:srgbClr val="000000"/>
                </a:solidFill>
                <a:latin typeface="Josefin Sans"/>
              </a:rPr>
              <a:t> </a:t>
            </a: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502588" y="1302792"/>
            <a:ext cx="428280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1447022" y="1362600"/>
            <a:ext cx="433837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normalisation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538288" y="1422563"/>
            <a:ext cx="424710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907083" y="1302792"/>
            <a:ext cx="387831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42577" y="1362600"/>
            <a:ext cx="394281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942351" y="1422563"/>
            <a:ext cx="384304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2265589" y="1302792"/>
            <a:ext cx="351980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2237663" y="1362600"/>
            <a:ext cx="354773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summation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3198609" y="637072"/>
            <a:ext cx="258678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Example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four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rules: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3274529" y="809488"/>
            <a:ext cx="2510866" cy="1470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7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747" b="1">
                <a:solidFill>
                  <a:srgbClr val="000000"/>
                </a:solidFill>
                <a:latin typeface="Josefin Sans"/>
              </a:rPr>
              <a:t> </a:t>
            </a:r>
            <a:r>
              <a:rPr sz="747" b="1">
                <a:solidFill>
                  <a:srgbClr val="000000"/>
                </a:solidFill>
                <a:latin typeface="Josefin Sans"/>
              </a:rPr>
              <a:t>1: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3274529" y="923076"/>
            <a:ext cx="2510866" cy="1470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7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3695293" y="919723"/>
            <a:ext cx="209010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747" b="0">
                <a:solidFill>
                  <a:srgbClr val="000000"/>
                </a:solidFill>
                <a:latin typeface="Josefin Sans"/>
              </a:rPr>
              <a:t> </a:t>
            </a:r>
            <a:r>
              <a:rPr sz="747" b="0">
                <a:solidFill>
                  <a:srgbClr val="000000"/>
                </a:solidFill>
                <a:latin typeface="Josefin Sans"/>
              </a:rPr>
              <a:t>is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3274529" y="1036945"/>
            <a:ext cx="2510866" cy="1470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7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3695293" y="1033591"/>
            <a:ext cx="209010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747" b="0">
                <a:solidFill>
                  <a:srgbClr val="000000"/>
                </a:solidFill>
                <a:latin typeface="Josefin Sans"/>
              </a:rPr>
              <a:t> </a:t>
            </a:r>
            <a:r>
              <a:rPr sz="747" b="0">
                <a:solidFill>
                  <a:srgbClr val="000000"/>
                </a:solidFill>
                <a:latin typeface="Josefin Sans"/>
              </a:rPr>
              <a:t>is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B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3274530" y="1150825"/>
            <a:ext cx="2510865" cy="1470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7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3695294" y="1147472"/>
            <a:ext cx="209010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y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f</a:t>
            </a:r>
            <a:r>
              <a:rPr sz="498" b="0">
                <a:solidFill>
                  <a:srgbClr val="000000"/>
                </a:solidFill>
                <a:latin typeface="Cambria Math"/>
              </a:rPr>
              <a:t>1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k</a:t>
            </a:r>
            <a:r>
              <a:rPr sz="498" b="0">
                <a:solidFill>
                  <a:srgbClr val="000000"/>
                </a:solidFill>
                <a:latin typeface="Cambria Math"/>
              </a:rPr>
              <a:t>10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+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k</a:t>
            </a:r>
            <a:r>
              <a:rPr sz="498" b="0">
                <a:solidFill>
                  <a:srgbClr val="000000"/>
                </a:solidFill>
                <a:latin typeface="Cambria Math"/>
              </a:rPr>
              <a:t>11</a:t>
            </a: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 +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k</a:t>
            </a:r>
            <a:r>
              <a:rPr sz="498" b="0">
                <a:solidFill>
                  <a:srgbClr val="000000"/>
                </a:solidFill>
                <a:latin typeface="Cambria Math"/>
              </a:rPr>
              <a:t>12</a:t>
            </a: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3274529" y="1325070"/>
            <a:ext cx="2510866" cy="1470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7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747" b="1">
                <a:solidFill>
                  <a:srgbClr val="000000"/>
                </a:solidFill>
                <a:latin typeface="Josefin Sans"/>
              </a:rPr>
              <a:t> </a:t>
            </a:r>
            <a:r>
              <a:rPr sz="747" b="1">
                <a:solidFill>
                  <a:srgbClr val="000000"/>
                </a:solidFill>
                <a:latin typeface="Josefin Sans"/>
              </a:rPr>
              <a:t>2: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3274529" y="1438671"/>
            <a:ext cx="2510866" cy="1470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7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3716261" y="1435318"/>
            <a:ext cx="206913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747" b="0">
                <a:solidFill>
                  <a:srgbClr val="000000"/>
                </a:solidFill>
                <a:latin typeface="Josefin Sans"/>
              </a:rPr>
              <a:t> </a:t>
            </a:r>
            <a:r>
              <a:rPr sz="747" b="0">
                <a:solidFill>
                  <a:srgbClr val="000000"/>
                </a:solidFill>
                <a:latin typeface="Josefin Sans"/>
              </a:rPr>
              <a:t>is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3274530" y="1552539"/>
            <a:ext cx="2510865" cy="1470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7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3716261" y="1549186"/>
            <a:ext cx="206913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747" b="0">
                <a:solidFill>
                  <a:srgbClr val="000000"/>
                </a:solidFill>
                <a:latin typeface="Josefin Sans"/>
              </a:rPr>
              <a:t> </a:t>
            </a:r>
            <a:r>
              <a:rPr sz="747" b="0">
                <a:solidFill>
                  <a:srgbClr val="000000"/>
                </a:solidFill>
                <a:latin typeface="Josefin Sans"/>
              </a:rPr>
              <a:t>is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B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3274530" y="1666407"/>
            <a:ext cx="2510865" cy="1470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7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3716261" y="1663054"/>
            <a:ext cx="206913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y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f</a:t>
            </a:r>
            <a:r>
              <a:rPr sz="498" b="0">
                <a:solidFill>
                  <a:srgbClr val="000000"/>
                </a:solidFill>
                <a:latin typeface="Cambria Math"/>
              </a:rPr>
              <a:t>2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k</a:t>
            </a:r>
            <a:r>
              <a:rPr sz="498" b="0">
                <a:solidFill>
                  <a:srgbClr val="000000"/>
                </a:solidFill>
                <a:latin typeface="Cambria Math"/>
              </a:rPr>
              <a:t>20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+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k</a:t>
            </a:r>
            <a:r>
              <a:rPr sz="498" b="0">
                <a:solidFill>
                  <a:srgbClr val="000000"/>
                </a:solidFill>
                <a:latin typeface="Cambria Math"/>
              </a:rPr>
              <a:t>21</a:t>
            </a: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 +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k</a:t>
            </a:r>
            <a:r>
              <a:rPr sz="498" b="0">
                <a:solidFill>
                  <a:srgbClr val="000000"/>
                </a:solidFill>
                <a:latin typeface="Cambria Math"/>
              </a:rPr>
              <a:t>22</a:t>
            </a: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3274529" y="1840666"/>
            <a:ext cx="2510866" cy="1470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7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747" b="1">
                <a:solidFill>
                  <a:srgbClr val="000000"/>
                </a:solidFill>
                <a:latin typeface="Josefin Sans"/>
              </a:rPr>
              <a:t> </a:t>
            </a:r>
            <a:r>
              <a:rPr sz="747" b="1">
                <a:solidFill>
                  <a:srgbClr val="000000"/>
                </a:solidFill>
                <a:latin typeface="Josefin Sans"/>
              </a:rPr>
              <a:t>3: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3274529" y="1954254"/>
            <a:ext cx="2510866" cy="1470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7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3713505" y="1950901"/>
            <a:ext cx="207189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747" b="0">
                <a:solidFill>
                  <a:srgbClr val="000000"/>
                </a:solidFill>
                <a:latin typeface="Josefin Sans"/>
              </a:rPr>
              <a:t> </a:t>
            </a:r>
            <a:r>
              <a:rPr sz="747" b="0">
                <a:solidFill>
                  <a:srgbClr val="000000"/>
                </a:solidFill>
                <a:latin typeface="Josefin Sans"/>
              </a:rPr>
              <a:t>is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3274529" y="2068135"/>
            <a:ext cx="2510866" cy="1470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7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3713505" y="2064782"/>
            <a:ext cx="207189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747" b="0">
                <a:solidFill>
                  <a:srgbClr val="000000"/>
                </a:solidFill>
                <a:latin typeface="Josefin Sans"/>
              </a:rPr>
              <a:t> </a:t>
            </a:r>
            <a:r>
              <a:rPr sz="747" b="0">
                <a:solidFill>
                  <a:srgbClr val="000000"/>
                </a:solidFill>
                <a:latin typeface="Josefin Sans"/>
              </a:rPr>
              <a:t>is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B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3274529" y="2182003"/>
            <a:ext cx="2510866" cy="1470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7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3713505" y="2178650"/>
            <a:ext cx="207189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y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f</a:t>
            </a:r>
            <a:r>
              <a:rPr sz="498" b="0">
                <a:solidFill>
                  <a:srgbClr val="000000"/>
                </a:solidFill>
                <a:latin typeface="Cambria Math"/>
              </a:rPr>
              <a:t>3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k</a:t>
            </a:r>
            <a:r>
              <a:rPr sz="498" b="0">
                <a:solidFill>
                  <a:srgbClr val="000000"/>
                </a:solidFill>
                <a:latin typeface="Cambria Math"/>
              </a:rPr>
              <a:t>30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+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k</a:t>
            </a:r>
            <a:r>
              <a:rPr sz="498" b="0">
                <a:solidFill>
                  <a:srgbClr val="000000"/>
                </a:solidFill>
                <a:latin typeface="Cambria Math"/>
              </a:rPr>
              <a:t>31</a:t>
            </a: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 +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k</a:t>
            </a:r>
            <a:r>
              <a:rPr sz="498" b="0">
                <a:solidFill>
                  <a:srgbClr val="000000"/>
                </a:solidFill>
                <a:latin typeface="Cambria Math"/>
              </a:rPr>
              <a:t>32</a:t>
            </a: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3274529" y="2356261"/>
            <a:ext cx="2510866" cy="1470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7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747" b="1">
                <a:solidFill>
                  <a:srgbClr val="000000"/>
                </a:solidFill>
                <a:latin typeface="Josefin Sans"/>
              </a:rPr>
              <a:t> </a:t>
            </a:r>
            <a:r>
              <a:rPr sz="747" b="1">
                <a:solidFill>
                  <a:srgbClr val="000000"/>
                </a:solidFill>
                <a:latin typeface="Josefin Sans"/>
              </a:rPr>
              <a:t>4: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3274529" y="2469849"/>
            <a:ext cx="2510866" cy="1470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7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3714927" y="2466495"/>
            <a:ext cx="207046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747" b="0">
                <a:solidFill>
                  <a:srgbClr val="000000"/>
                </a:solidFill>
                <a:latin typeface="Josefin Sans"/>
              </a:rPr>
              <a:t> </a:t>
            </a:r>
            <a:r>
              <a:rPr sz="747" b="0">
                <a:solidFill>
                  <a:srgbClr val="000000"/>
                </a:solidFill>
                <a:latin typeface="Josefin Sans"/>
              </a:rPr>
              <a:t>is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3274529" y="2583717"/>
            <a:ext cx="2510866" cy="1470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7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3714927" y="2580364"/>
            <a:ext cx="207046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747" b="0">
                <a:solidFill>
                  <a:srgbClr val="000000"/>
                </a:solidFill>
                <a:latin typeface="Josefin Sans"/>
              </a:rPr>
              <a:t> </a:t>
            </a:r>
            <a:r>
              <a:rPr sz="747" b="0">
                <a:solidFill>
                  <a:srgbClr val="000000"/>
                </a:solidFill>
                <a:latin typeface="Josefin Sans"/>
              </a:rPr>
              <a:t>is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B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3274529" y="2697598"/>
            <a:ext cx="2510866" cy="1470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7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3714927" y="2694244"/>
            <a:ext cx="207046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y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f</a:t>
            </a:r>
            <a:r>
              <a:rPr sz="498" b="0">
                <a:solidFill>
                  <a:srgbClr val="000000"/>
                </a:solidFill>
                <a:latin typeface="Cambria Math"/>
              </a:rPr>
              <a:t>4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k</a:t>
            </a:r>
            <a:r>
              <a:rPr sz="498" b="0">
                <a:solidFill>
                  <a:srgbClr val="000000"/>
                </a:solidFill>
                <a:latin typeface="Cambria Math"/>
              </a:rPr>
              <a:t>40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+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k</a:t>
            </a:r>
            <a:r>
              <a:rPr sz="498" b="0">
                <a:solidFill>
                  <a:srgbClr val="000000"/>
                </a:solidFill>
                <a:latin typeface="Cambria Math"/>
              </a:rPr>
              <a:t>41</a:t>
            </a: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 +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k</a:t>
            </a:r>
            <a:r>
              <a:rPr sz="498" b="0">
                <a:solidFill>
                  <a:srgbClr val="000000"/>
                </a:solidFill>
                <a:latin typeface="Cambria Math"/>
              </a:rPr>
              <a:t>42</a:t>
            </a: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4901667" y="3150920"/>
            <a:ext cx="88372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5622989" y="3150696"/>
            <a:ext cx="16240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493919" y="1628153"/>
            <a:ext cx="37870" cy="37870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93919" y="1987322"/>
            <a:ext cx="37870" cy="37869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08906" y="1494179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8906" y="1673763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08906" y="1853348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8906" y="2032932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931310" y="1494179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931310" y="1673763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31310" y="1853348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931310" y="2032932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69538" y="1647088"/>
            <a:ext cx="110495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469900" y="1638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74386" y="2006257"/>
            <a:ext cx="10564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469900" y="1993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533051" y="1561219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787400" y="1549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533051" y="1647088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787400" y="17272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533051" y="1920388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787400" y="19177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533051" y="2006257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787400" y="20828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936402" y="1557296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1143000" y="15494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936402" y="1557296"/>
            <a:ext cx="225448" cy="52714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11557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936402" y="1736880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1143000" y="1727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936402" y="173688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1143000" y="1892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 flipV="1">
            <a:off x="936402" y="156792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1143000" y="15621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1"/>
                </a:lnTo>
                <a:lnTo>
                  <a:pt x="1" y="0"/>
                </a:lnTo>
                <a:lnTo>
                  <a:pt x="2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936402" y="1916465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11430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 flipV="1">
            <a:off x="936402" y="1747504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1143000" y="1739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936402" y="2096049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1143000" y="2082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>
            <a:off x="1295571" y="1557296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1511300" y="15494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1295571" y="1557296"/>
            <a:ext cx="220455" cy="17182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reeform 76"/>
          <p:cNvSpPr/>
          <p:nvPr/>
        </p:nvSpPr>
        <p:spPr>
          <a:xfrm>
            <a:off x="1498600" y="1714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>
            <a:off x="1295571" y="1557296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1511300" y="18923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>
            <a:off x="1295571" y="1557296"/>
            <a:ext cx="225448" cy="52714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15113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>
            <a:off x="1654741" y="1557296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1905000" y="15494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>
            <a:off x="2058806" y="1557296"/>
            <a:ext cx="237950" cy="2174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2286000" y="1765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 flipV="1">
            <a:off x="1295571" y="1565055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1498600" y="15621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1295571" y="1736880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1511300" y="17272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>
            <a:off x="1295571" y="173688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1498600" y="1892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1295571" y="173688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15113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1654741" y="1736880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1905000" y="1727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>
            <a:off x="2058806" y="1736880"/>
            <a:ext cx="221132" cy="6735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Freeform 96"/>
          <p:cNvSpPr/>
          <p:nvPr/>
        </p:nvSpPr>
        <p:spPr>
          <a:xfrm>
            <a:off x="2273300" y="17907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 flipV="1">
            <a:off x="1295571" y="156792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reeform 98"/>
          <p:cNvSpPr/>
          <p:nvPr/>
        </p:nvSpPr>
        <p:spPr>
          <a:xfrm>
            <a:off x="1511300" y="1562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1295571" y="174464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1498600" y="17399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1295571" y="1916465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Freeform 102"/>
          <p:cNvSpPr/>
          <p:nvPr/>
        </p:nvSpPr>
        <p:spPr>
          <a:xfrm>
            <a:off x="1511300" y="19050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4" name="Connector 103"/>
          <p:cNvCxnSpPr/>
          <p:nvPr/>
        </p:nvCxnSpPr>
        <p:spPr>
          <a:xfrm>
            <a:off x="1295571" y="1916465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Freeform 104"/>
          <p:cNvSpPr/>
          <p:nvPr/>
        </p:nvSpPr>
        <p:spPr>
          <a:xfrm>
            <a:off x="1498600" y="2070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6" name="Connector 105"/>
          <p:cNvCxnSpPr/>
          <p:nvPr/>
        </p:nvCxnSpPr>
        <p:spPr>
          <a:xfrm>
            <a:off x="1654741" y="1916465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Freeform 106"/>
          <p:cNvSpPr/>
          <p:nvPr/>
        </p:nvSpPr>
        <p:spPr>
          <a:xfrm>
            <a:off x="19050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8" name="Connector 107"/>
          <p:cNvCxnSpPr/>
          <p:nvPr/>
        </p:nvCxnSpPr>
        <p:spPr>
          <a:xfrm flipV="1">
            <a:off x="2058806" y="1849108"/>
            <a:ext cx="221132" cy="6735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Freeform 108"/>
          <p:cNvSpPr/>
          <p:nvPr/>
        </p:nvSpPr>
        <p:spPr>
          <a:xfrm>
            <a:off x="2273300" y="18415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0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0" name="Connector 109"/>
          <p:cNvCxnSpPr/>
          <p:nvPr/>
        </p:nvCxnSpPr>
        <p:spPr>
          <a:xfrm flipV="1">
            <a:off x="1295571" y="1568901"/>
            <a:ext cx="225448" cy="52714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Freeform 110"/>
          <p:cNvSpPr/>
          <p:nvPr/>
        </p:nvSpPr>
        <p:spPr>
          <a:xfrm>
            <a:off x="1511300" y="1562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2" name="Connector 111"/>
          <p:cNvCxnSpPr/>
          <p:nvPr/>
        </p:nvCxnSpPr>
        <p:spPr>
          <a:xfrm flipV="1">
            <a:off x="1295571" y="1747504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Freeform 112"/>
          <p:cNvSpPr/>
          <p:nvPr/>
        </p:nvSpPr>
        <p:spPr>
          <a:xfrm>
            <a:off x="1511300" y="17399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4" name="Connector 113"/>
          <p:cNvCxnSpPr/>
          <p:nvPr/>
        </p:nvCxnSpPr>
        <p:spPr>
          <a:xfrm flipV="1">
            <a:off x="1295571" y="1924224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Freeform 114"/>
          <p:cNvSpPr/>
          <p:nvPr/>
        </p:nvSpPr>
        <p:spPr>
          <a:xfrm>
            <a:off x="1498600" y="1917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6" name="Connector 115"/>
          <p:cNvCxnSpPr/>
          <p:nvPr/>
        </p:nvCxnSpPr>
        <p:spPr>
          <a:xfrm>
            <a:off x="1295571" y="2096049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Freeform 116"/>
          <p:cNvSpPr/>
          <p:nvPr/>
        </p:nvSpPr>
        <p:spPr>
          <a:xfrm>
            <a:off x="1511300" y="20828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8" name="Connector 117"/>
          <p:cNvCxnSpPr/>
          <p:nvPr/>
        </p:nvCxnSpPr>
        <p:spPr>
          <a:xfrm>
            <a:off x="1654741" y="2096049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Freeform 118"/>
          <p:cNvSpPr/>
          <p:nvPr/>
        </p:nvSpPr>
        <p:spPr>
          <a:xfrm>
            <a:off x="1905000" y="2082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0" name="Connector 119"/>
          <p:cNvCxnSpPr/>
          <p:nvPr/>
        </p:nvCxnSpPr>
        <p:spPr>
          <a:xfrm flipV="1">
            <a:off x="2058806" y="1878613"/>
            <a:ext cx="237950" cy="2174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Freeform 120"/>
          <p:cNvSpPr/>
          <p:nvPr/>
        </p:nvSpPr>
        <p:spPr>
          <a:xfrm>
            <a:off x="2286000" y="1866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2" name="Connector 121"/>
          <p:cNvCxnSpPr/>
          <p:nvPr/>
        </p:nvCxnSpPr>
        <p:spPr>
          <a:xfrm>
            <a:off x="2417975" y="1826672"/>
            <a:ext cx="7302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Freeform 122"/>
          <p:cNvSpPr/>
          <p:nvPr/>
        </p:nvSpPr>
        <p:spPr>
          <a:xfrm>
            <a:off x="2489200" y="1816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4" name="Connector 123"/>
          <p:cNvCxnSpPr/>
          <p:nvPr/>
        </p:nvCxnSpPr>
        <p:spPr>
          <a:xfrm flipV="1">
            <a:off x="1769946" y="1448142"/>
            <a:ext cx="0" cy="82749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1859739" y="1448142"/>
            <a:ext cx="0" cy="82749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Freeform 125"/>
          <p:cNvSpPr/>
          <p:nvPr/>
        </p:nvSpPr>
        <p:spPr>
          <a:xfrm>
            <a:off x="1765300" y="15113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7" name="Connector 126"/>
          <p:cNvCxnSpPr/>
          <p:nvPr/>
        </p:nvCxnSpPr>
        <p:spPr>
          <a:xfrm>
            <a:off x="1769946" y="1521379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Freeform 127"/>
          <p:cNvSpPr/>
          <p:nvPr/>
        </p:nvSpPr>
        <p:spPr>
          <a:xfrm>
            <a:off x="1905000" y="1511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Freeform 128"/>
          <p:cNvSpPr/>
          <p:nvPr/>
        </p:nvSpPr>
        <p:spPr>
          <a:xfrm>
            <a:off x="1854200" y="15875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0" name="Connector 129"/>
          <p:cNvCxnSpPr/>
          <p:nvPr/>
        </p:nvCxnSpPr>
        <p:spPr>
          <a:xfrm>
            <a:off x="1859739" y="1593212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Freeform 130"/>
          <p:cNvSpPr/>
          <p:nvPr/>
        </p:nvSpPr>
        <p:spPr>
          <a:xfrm>
            <a:off x="1905000" y="15875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Freeform 131"/>
          <p:cNvSpPr/>
          <p:nvPr/>
        </p:nvSpPr>
        <p:spPr>
          <a:xfrm>
            <a:off x="1765300" y="1701800"/>
            <a:ext cx="12700" cy="0"/>
          </a:xfrm>
          <a:custGeom>
            <a:avLst/>
            <a:gdLst/>
            <a:ahLst/>
            <a:cxnLst/>
            <a:rect l="l" t="t" r="r" b="b"/>
            <a:pathLst>
              <a:path w="1" h="0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3" name="Connector 132"/>
          <p:cNvCxnSpPr/>
          <p:nvPr/>
        </p:nvCxnSpPr>
        <p:spPr>
          <a:xfrm>
            <a:off x="1769946" y="1700964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Freeform 133"/>
          <p:cNvSpPr/>
          <p:nvPr/>
        </p:nvSpPr>
        <p:spPr>
          <a:xfrm>
            <a:off x="1905000" y="1689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Freeform 134"/>
          <p:cNvSpPr/>
          <p:nvPr/>
        </p:nvSpPr>
        <p:spPr>
          <a:xfrm>
            <a:off x="1854200" y="17653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6" name="Connector 135"/>
          <p:cNvCxnSpPr/>
          <p:nvPr/>
        </p:nvCxnSpPr>
        <p:spPr>
          <a:xfrm>
            <a:off x="1859739" y="1772796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Freeform 136"/>
          <p:cNvSpPr/>
          <p:nvPr/>
        </p:nvSpPr>
        <p:spPr>
          <a:xfrm>
            <a:off x="1905000" y="1765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Freeform 137"/>
          <p:cNvSpPr/>
          <p:nvPr/>
        </p:nvSpPr>
        <p:spPr>
          <a:xfrm>
            <a:off x="1765300" y="1879600"/>
            <a:ext cx="12700" cy="0"/>
          </a:xfrm>
          <a:custGeom>
            <a:avLst/>
            <a:gdLst/>
            <a:ahLst/>
            <a:cxnLst/>
            <a:rect l="l" t="t" r="r" b="b"/>
            <a:pathLst>
              <a:path w="1" h="0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9" name="Connector 138"/>
          <p:cNvCxnSpPr/>
          <p:nvPr/>
        </p:nvCxnSpPr>
        <p:spPr>
          <a:xfrm>
            <a:off x="1769946" y="1880548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Freeform 139"/>
          <p:cNvSpPr/>
          <p:nvPr/>
        </p:nvSpPr>
        <p:spPr>
          <a:xfrm>
            <a:off x="1905000" y="1866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Freeform 140"/>
          <p:cNvSpPr/>
          <p:nvPr/>
        </p:nvSpPr>
        <p:spPr>
          <a:xfrm>
            <a:off x="1854200" y="1943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2" name="Connector 141"/>
          <p:cNvCxnSpPr/>
          <p:nvPr/>
        </p:nvCxnSpPr>
        <p:spPr>
          <a:xfrm>
            <a:off x="1859739" y="1952381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Freeform 142"/>
          <p:cNvSpPr/>
          <p:nvPr/>
        </p:nvSpPr>
        <p:spPr>
          <a:xfrm>
            <a:off x="1905000" y="1943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Freeform 143"/>
          <p:cNvSpPr/>
          <p:nvPr/>
        </p:nvSpPr>
        <p:spPr>
          <a:xfrm>
            <a:off x="1765300" y="20574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5" name="Connector 144"/>
          <p:cNvCxnSpPr/>
          <p:nvPr/>
        </p:nvCxnSpPr>
        <p:spPr>
          <a:xfrm>
            <a:off x="1769946" y="2060133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Freeform 145"/>
          <p:cNvSpPr/>
          <p:nvPr/>
        </p:nvSpPr>
        <p:spPr>
          <a:xfrm>
            <a:off x="1905000" y="2044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reeform 146"/>
          <p:cNvSpPr/>
          <p:nvPr/>
        </p:nvSpPr>
        <p:spPr>
          <a:xfrm>
            <a:off x="1854200" y="21209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8" name="Connector 147"/>
          <p:cNvCxnSpPr/>
          <p:nvPr/>
        </p:nvCxnSpPr>
        <p:spPr>
          <a:xfrm>
            <a:off x="1859739" y="2131966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Freeform 148"/>
          <p:cNvSpPr/>
          <p:nvPr/>
        </p:nvSpPr>
        <p:spPr>
          <a:xfrm>
            <a:off x="1905000" y="2120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13" y="3146744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2880017" y="3146744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2" name="Picture 15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53" name="Picture 15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54" name="TextBox 15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Structure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ANFIS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315093" y="1623201"/>
            <a:ext cx="54703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310247" y="1982366"/>
            <a:ext cx="547514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46242" y="1535876"/>
            <a:ext cx="493915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841396" y="1715455"/>
            <a:ext cx="494399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849169" y="1894344"/>
            <a:ext cx="493622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44323" y="2073923"/>
            <a:ext cx="494107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203146" y="1534254"/>
            <a:ext cx="458224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98293" y="1713833"/>
            <a:ext cx="45871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97970" y="1893178"/>
            <a:ext cx="458742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98021" y="2072999"/>
            <a:ext cx="458737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561640" y="1534773"/>
            <a:ext cx="422375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N1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556793" y="1714359"/>
            <a:ext cx="42286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556464" y="1893939"/>
            <a:ext cx="422893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556514" y="2073524"/>
            <a:ext cx="422888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751755" y="2286256"/>
            <a:ext cx="403364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836698" y="2286256"/>
            <a:ext cx="394869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986457" y="1533411"/>
            <a:ext cx="379893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981604" y="1712991"/>
            <a:ext cx="380379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981281" y="1892336"/>
            <a:ext cx="380411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981332" y="2072156"/>
            <a:ext cx="380406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2334206" y="1809143"/>
            <a:ext cx="345118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2521692" y="1791212"/>
            <a:ext cx="326370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430325" y="1302792"/>
            <a:ext cx="5355070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399194" y="1362600"/>
            <a:ext cx="538620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397" b="0">
                <a:solidFill>
                  <a:srgbClr val="000000"/>
                </a:solidFill>
                <a:latin typeface="Josefin Sans"/>
              </a:rPr>
              <a:t> </a:t>
            </a: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83909" y="1302792"/>
            <a:ext cx="500148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746671" y="1362600"/>
            <a:ext cx="503872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fuzzification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819957" y="1422563"/>
            <a:ext cx="496543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143803" y="1302792"/>
            <a:ext cx="464159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31912" y="1362600"/>
            <a:ext cx="465348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397" b="0">
                <a:solidFill>
                  <a:srgbClr val="000000"/>
                </a:solidFill>
                <a:latin typeface="Josefin Sans"/>
              </a:rPr>
              <a:t> </a:t>
            </a: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502588" y="1302792"/>
            <a:ext cx="428280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1447022" y="1362600"/>
            <a:ext cx="433837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normalisation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538288" y="1422563"/>
            <a:ext cx="424710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907083" y="1302792"/>
            <a:ext cx="387831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42577" y="1362600"/>
            <a:ext cx="394281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942351" y="1422563"/>
            <a:ext cx="384304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2265589" y="1302792"/>
            <a:ext cx="351980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2237663" y="1362600"/>
            <a:ext cx="354773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summation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3198609" y="1572344"/>
            <a:ext cx="258678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1: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input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3317862" y="1723004"/>
            <a:ext cx="246753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pass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external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signals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layer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4901667" y="3150920"/>
            <a:ext cx="88372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5627015" y="3150696"/>
            <a:ext cx="1583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493919" y="1628153"/>
            <a:ext cx="37870" cy="37870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93919" y="1987322"/>
            <a:ext cx="37870" cy="37869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08906" y="1494179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8906" y="1673763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08906" y="1853348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8906" y="2032932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931310" y="1494179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931310" y="1673763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31310" y="1853348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931310" y="2032932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69538" y="1647088"/>
            <a:ext cx="110495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469900" y="1638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74386" y="2006257"/>
            <a:ext cx="10564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469900" y="1993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533051" y="1561219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787400" y="1549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533051" y="1647088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787400" y="17272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533051" y="1920388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787400" y="19177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533051" y="2006257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787400" y="20828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936402" y="1557296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1143000" y="15494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936402" y="1557296"/>
            <a:ext cx="225448" cy="52714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11557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936402" y="1736880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1143000" y="1727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936402" y="173688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1143000" y="1892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 flipV="1">
            <a:off x="936402" y="156792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1143000" y="15621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1"/>
                </a:lnTo>
                <a:lnTo>
                  <a:pt x="1" y="0"/>
                </a:lnTo>
                <a:lnTo>
                  <a:pt x="2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936402" y="1916465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11430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 flipV="1">
            <a:off x="936402" y="1747504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1143000" y="1739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936402" y="2096049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1143000" y="2082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>
            <a:off x="1295571" y="1557296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1511300" y="15494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1295571" y="1557296"/>
            <a:ext cx="220455" cy="17182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reeform 76"/>
          <p:cNvSpPr/>
          <p:nvPr/>
        </p:nvSpPr>
        <p:spPr>
          <a:xfrm>
            <a:off x="1498600" y="1714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>
            <a:off x="1295571" y="1557296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1511300" y="18923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>
            <a:off x="1295571" y="1557296"/>
            <a:ext cx="225448" cy="52714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15113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>
            <a:off x="1654741" y="1557296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1905000" y="15494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>
            <a:off x="2058806" y="1557296"/>
            <a:ext cx="237950" cy="2174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2286000" y="1765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 flipV="1">
            <a:off x="1295571" y="1565055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1498600" y="15621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1295571" y="1736880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1511300" y="17272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>
            <a:off x="1295571" y="173688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1498600" y="1892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1295571" y="173688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15113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1654741" y="1736880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1905000" y="1727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>
            <a:off x="2058806" y="1736880"/>
            <a:ext cx="221132" cy="6735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Freeform 96"/>
          <p:cNvSpPr/>
          <p:nvPr/>
        </p:nvSpPr>
        <p:spPr>
          <a:xfrm>
            <a:off x="2273300" y="17907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 flipV="1">
            <a:off x="1295571" y="156792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reeform 98"/>
          <p:cNvSpPr/>
          <p:nvPr/>
        </p:nvSpPr>
        <p:spPr>
          <a:xfrm>
            <a:off x="1511300" y="1562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1295571" y="174464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1498600" y="17399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1295571" y="1916465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Freeform 102"/>
          <p:cNvSpPr/>
          <p:nvPr/>
        </p:nvSpPr>
        <p:spPr>
          <a:xfrm>
            <a:off x="1511300" y="19050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4" name="Connector 103"/>
          <p:cNvCxnSpPr/>
          <p:nvPr/>
        </p:nvCxnSpPr>
        <p:spPr>
          <a:xfrm>
            <a:off x="1295571" y="1916465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Freeform 104"/>
          <p:cNvSpPr/>
          <p:nvPr/>
        </p:nvSpPr>
        <p:spPr>
          <a:xfrm>
            <a:off x="1498600" y="2070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6" name="Connector 105"/>
          <p:cNvCxnSpPr/>
          <p:nvPr/>
        </p:nvCxnSpPr>
        <p:spPr>
          <a:xfrm>
            <a:off x="1654741" y="1916465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Freeform 106"/>
          <p:cNvSpPr/>
          <p:nvPr/>
        </p:nvSpPr>
        <p:spPr>
          <a:xfrm>
            <a:off x="19050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8" name="Connector 107"/>
          <p:cNvCxnSpPr/>
          <p:nvPr/>
        </p:nvCxnSpPr>
        <p:spPr>
          <a:xfrm flipV="1">
            <a:off x="2058806" y="1849108"/>
            <a:ext cx="221132" cy="6735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Freeform 108"/>
          <p:cNvSpPr/>
          <p:nvPr/>
        </p:nvSpPr>
        <p:spPr>
          <a:xfrm>
            <a:off x="2273300" y="18415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0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0" name="Connector 109"/>
          <p:cNvCxnSpPr/>
          <p:nvPr/>
        </p:nvCxnSpPr>
        <p:spPr>
          <a:xfrm flipV="1">
            <a:off x="1295571" y="1568901"/>
            <a:ext cx="225448" cy="52714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Freeform 110"/>
          <p:cNvSpPr/>
          <p:nvPr/>
        </p:nvSpPr>
        <p:spPr>
          <a:xfrm>
            <a:off x="1511300" y="1562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2" name="Connector 111"/>
          <p:cNvCxnSpPr/>
          <p:nvPr/>
        </p:nvCxnSpPr>
        <p:spPr>
          <a:xfrm flipV="1">
            <a:off x="1295571" y="1747504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Freeform 112"/>
          <p:cNvSpPr/>
          <p:nvPr/>
        </p:nvSpPr>
        <p:spPr>
          <a:xfrm>
            <a:off x="1511300" y="17399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4" name="Connector 113"/>
          <p:cNvCxnSpPr/>
          <p:nvPr/>
        </p:nvCxnSpPr>
        <p:spPr>
          <a:xfrm flipV="1">
            <a:off x="1295571" y="1924224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Freeform 114"/>
          <p:cNvSpPr/>
          <p:nvPr/>
        </p:nvSpPr>
        <p:spPr>
          <a:xfrm>
            <a:off x="1498600" y="1917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6" name="Connector 115"/>
          <p:cNvCxnSpPr/>
          <p:nvPr/>
        </p:nvCxnSpPr>
        <p:spPr>
          <a:xfrm>
            <a:off x="1295571" y="2096049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Freeform 116"/>
          <p:cNvSpPr/>
          <p:nvPr/>
        </p:nvSpPr>
        <p:spPr>
          <a:xfrm>
            <a:off x="1511300" y="20828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8" name="Connector 117"/>
          <p:cNvCxnSpPr/>
          <p:nvPr/>
        </p:nvCxnSpPr>
        <p:spPr>
          <a:xfrm>
            <a:off x="1654741" y="2096049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Freeform 118"/>
          <p:cNvSpPr/>
          <p:nvPr/>
        </p:nvSpPr>
        <p:spPr>
          <a:xfrm>
            <a:off x="1905000" y="2082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0" name="Connector 119"/>
          <p:cNvCxnSpPr/>
          <p:nvPr/>
        </p:nvCxnSpPr>
        <p:spPr>
          <a:xfrm flipV="1">
            <a:off x="2058806" y="1878613"/>
            <a:ext cx="237950" cy="2174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Freeform 120"/>
          <p:cNvSpPr/>
          <p:nvPr/>
        </p:nvSpPr>
        <p:spPr>
          <a:xfrm>
            <a:off x="2286000" y="1866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2" name="Connector 121"/>
          <p:cNvCxnSpPr/>
          <p:nvPr/>
        </p:nvCxnSpPr>
        <p:spPr>
          <a:xfrm>
            <a:off x="2417975" y="1826672"/>
            <a:ext cx="7302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Freeform 122"/>
          <p:cNvSpPr/>
          <p:nvPr/>
        </p:nvSpPr>
        <p:spPr>
          <a:xfrm>
            <a:off x="2489200" y="1816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4" name="Connector 123"/>
          <p:cNvCxnSpPr/>
          <p:nvPr/>
        </p:nvCxnSpPr>
        <p:spPr>
          <a:xfrm flipV="1">
            <a:off x="1769946" y="1448142"/>
            <a:ext cx="0" cy="82749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1859739" y="1448142"/>
            <a:ext cx="0" cy="82749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Freeform 125"/>
          <p:cNvSpPr/>
          <p:nvPr/>
        </p:nvSpPr>
        <p:spPr>
          <a:xfrm>
            <a:off x="1765300" y="15113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7" name="Connector 126"/>
          <p:cNvCxnSpPr/>
          <p:nvPr/>
        </p:nvCxnSpPr>
        <p:spPr>
          <a:xfrm>
            <a:off x="1769946" y="1521379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Freeform 127"/>
          <p:cNvSpPr/>
          <p:nvPr/>
        </p:nvSpPr>
        <p:spPr>
          <a:xfrm>
            <a:off x="1905000" y="1511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Freeform 128"/>
          <p:cNvSpPr/>
          <p:nvPr/>
        </p:nvSpPr>
        <p:spPr>
          <a:xfrm>
            <a:off x="1854200" y="15875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0" name="Connector 129"/>
          <p:cNvCxnSpPr/>
          <p:nvPr/>
        </p:nvCxnSpPr>
        <p:spPr>
          <a:xfrm>
            <a:off x="1859739" y="1593212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Freeform 130"/>
          <p:cNvSpPr/>
          <p:nvPr/>
        </p:nvSpPr>
        <p:spPr>
          <a:xfrm>
            <a:off x="1905000" y="15875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Freeform 131"/>
          <p:cNvSpPr/>
          <p:nvPr/>
        </p:nvSpPr>
        <p:spPr>
          <a:xfrm>
            <a:off x="1765300" y="1701800"/>
            <a:ext cx="12700" cy="0"/>
          </a:xfrm>
          <a:custGeom>
            <a:avLst/>
            <a:gdLst/>
            <a:ahLst/>
            <a:cxnLst/>
            <a:rect l="l" t="t" r="r" b="b"/>
            <a:pathLst>
              <a:path w="1" h="0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3" name="Connector 132"/>
          <p:cNvCxnSpPr/>
          <p:nvPr/>
        </p:nvCxnSpPr>
        <p:spPr>
          <a:xfrm>
            <a:off x="1769946" y="1700964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Freeform 133"/>
          <p:cNvSpPr/>
          <p:nvPr/>
        </p:nvSpPr>
        <p:spPr>
          <a:xfrm>
            <a:off x="1905000" y="1689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Freeform 134"/>
          <p:cNvSpPr/>
          <p:nvPr/>
        </p:nvSpPr>
        <p:spPr>
          <a:xfrm>
            <a:off x="1854200" y="17653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6" name="Connector 135"/>
          <p:cNvCxnSpPr/>
          <p:nvPr/>
        </p:nvCxnSpPr>
        <p:spPr>
          <a:xfrm>
            <a:off x="1859739" y="1772796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Freeform 136"/>
          <p:cNvSpPr/>
          <p:nvPr/>
        </p:nvSpPr>
        <p:spPr>
          <a:xfrm>
            <a:off x="1905000" y="1765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Freeform 137"/>
          <p:cNvSpPr/>
          <p:nvPr/>
        </p:nvSpPr>
        <p:spPr>
          <a:xfrm>
            <a:off x="1765300" y="1879600"/>
            <a:ext cx="12700" cy="0"/>
          </a:xfrm>
          <a:custGeom>
            <a:avLst/>
            <a:gdLst/>
            <a:ahLst/>
            <a:cxnLst/>
            <a:rect l="l" t="t" r="r" b="b"/>
            <a:pathLst>
              <a:path w="1" h="0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9" name="Connector 138"/>
          <p:cNvCxnSpPr/>
          <p:nvPr/>
        </p:nvCxnSpPr>
        <p:spPr>
          <a:xfrm>
            <a:off x="1769946" y="1880548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Freeform 139"/>
          <p:cNvSpPr/>
          <p:nvPr/>
        </p:nvSpPr>
        <p:spPr>
          <a:xfrm>
            <a:off x="1905000" y="1866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Freeform 140"/>
          <p:cNvSpPr/>
          <p:nvPr/>
        </p:nvSpPr>
        <p:spPr>
          <a:xfrm>
            <a:off x="1854200" y="1943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2" name="Connector 141"/>
          <p:cNvCxnSpPr/>
          <p:nvPr/>
        </p:nvCxnSpPr>
        <p:spPr>
          <a:xfrm>
            <a:off x="1859739" y="1952381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Freeform 142"/>
          <p:cNvSpPr/>
          <p:nvPr/>
        </p:nvSpPr>
        <p:spPr>
          <a:xfrm>
            <a:off x="1905000" y="1943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Freeform 143"/>
          <p:cNvSpPr/>
          <p:nvPr/>
        </p:nvSpPr>
        <p:spPr>
          <a:xfrm>
            <a:off x="1765300" y="20574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5" name="Connector 144"/>
          <p:cNvCxnSpPr/>
          <p:nvPr/>
        </p:nvCxnSpPr>
        <p:spPr>
          <a:xfrm>
            <a:off x="1769946" y="2060133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Freeform 145"/>
          <p:cNvSpPr/>
          <p:nvPr/>
        </p:nvSpPr>
        <p:spPr>
          <a:xfrm>
            <a:off x="1905000" y="2044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reeform 146"/>
          <p:cNvSpPr/>
          <p:nvPr/>
        </p:nvSpPr>
        <p:spPr>
          <a:xfrm>
            <a:off x="1854200" y="21209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8" name="Connector 147"/>
          <p:cNvCxnSpPr/>
          <p:nvPr/>
        </p:nvCxnSpPr>
        <p:spPr>
          <a:xfrm>
            <a:off x="1859739" y="2131966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Freeform 148"/>
          <p:cNvSpPr/>
          <p:nvPr/>
        </p:nvSpPr>
        <p:spPr>
          <a:xfrm>
            <a:off x="1905000" y="2120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0" name="Connector 149"/>
          <p:cNvCxnSpPr/>
          <p:nvPr/>
        </p:nvCxnSpPr>
        <p:spPr>
          <a:xfrm>
            <a:off x="4205986" y="2236037"/>
            <a:ext cx="873925" cy="0"/>
          </a:xfrm>
          <a:prstGeom prst="line">
            <a:avLst/>
          </a:prstGeom>
          <a:ln w="48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4508881" y="2410955"/>
            <a:ext cx="335318" cy="0"/>
          </a:xfrm>
          <a:prstGeom prst="line">
            <a:avLst/>
          </a:prstGeom>
          <a:ln w="48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Rectangle 151"/>
          <p:cNvSpPr/>
          <p:nvPr/>
        </p:nvSpPr>
        <p:spPr>
          <a:xfrm>
            <a:off x="13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2880017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4" name="Picture 15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55" name="Picture 15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56" name="TextBox 15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Structure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ANFIS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315093" y="1623201"/>
            <a:ext cx="54703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310247" y="1982366"/>
            <a:ext cx="547514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846242" y="1535876"/>
            <a:ext cx="493915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41396" y="1715455"/>
            <a:ext cx="494399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49169" y="1894344"/>
            <a:ext cx="493622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844323" y="2073923"/>
            <a:ext cx="494107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203146" y="1534254"/>
            <a:ext cx="458224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98293" y="1713833"/>
            <a:ext cx="45871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97970" y="1893178"/>
            <a:ext cx="458742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198021" y="2072999"/>
            <a:ext cx="458737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561640" y="1534773"/>
            <a:ext cx="422375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556793" y="1714359"/>
            <a:ext cx="42286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N2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556464" y="1893939"/>
            <a:ext cx="422893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N3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556514" y="2073524"/>
            <a:ext cx="422888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N4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751755" y="2286256"/>
            <a:ext cx="403364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836698" y="2286256"/>
            <a:ext cx="394869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986457" y="1533411"/>
            <a:ext cx="379893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981604" y="1712991"/>
            <a:ext cx="380379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981281" y="1892336"/>
            <a:ext cx="380411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981332" y="2072156"/>
            <a:ext cx="380406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2334206" y="1809143"/>
            <a:ext cx="345118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2521692" y="1791212"/>
            <a:ext cx="326370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430325" y="1302792"/>
            <a:ext cx="5355070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399194" y="1362600"/>
            <a:ext cx="538620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397" b="0">
                <a:solidFill>
                  <a:srgbClr val="000000"/>
                </a:solidFill>
                <a:latin typeface="Josefin Sans"/>
              </a:rPr>
              <a:t> </a:t>
            </a: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783909" y="1302792"/>
            <a:ext cx="500148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46671" y="1362600"/>
            <a:ext cx="503872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fuzzification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819957" y="1422563"/>
            <a:ext cx="496543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43803" y="1302792"/>
            <a:ext cx="464159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1131912" y="1362600"/>
            <a:ext cx="465348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397" b="0">
                <a:solidFill>
                  <a:srgbClr val="000000"/>
                </a:solidFill>
                <a:latin typeface="Josefin Sans"/>
              </a:rPr>
              <a:t> </a:t>
            </a: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502588" y="1302792"/>
            <a:ext cx="428280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447022" y="1362600"/>
            <a:ext cx="433837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normalisation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538288" y="1422563"/>
            <a:ext cx="424710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907083" y="1302792"/>
            <a:ext cx="387831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842577" y="1362600"/>
            <a:ext cx="394281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942351" y="1422563"/>
            <a:ext cx="384304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2265589" y="1302792"/>
            <a:ext cx="351980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2237663" y="1362600"/>
            <a:ext cx="354773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summation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3198609" y="785135"/>
            <a:ext cx="258678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2: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fuzzification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3317862" y="935807"/>
            <a:ext cx="246753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Neurons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layer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perform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3475697" y="1113767"/>
            <a:ext cx="230969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fuzzification.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3317862" y="1264775"/>
            <a:ext cx="246753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activation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functions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are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input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3475697" y="1442735"/>
            <a:ext cx="230969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functions.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3317862" y="1593743"/>
            <a:ext cx="246753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original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model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implemented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by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3475697" y="1771703"/>
            <a:ext cx="230969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Jang,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fuzzification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neurons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have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bell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3475697" y="1910882"/>
            <a:ext cx="230969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activation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functions.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3847211" y="2146976"/>
            <a:ext cx="193818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y</a:t>
            </a:r>
            <a:r>
              <a:rPr sz="597" b="0">
                <a:solidFill>
                  <a:srgbClr val="000000"/>
                </a:solidFill>
                <a:latin typeface="Cambria Math"/>
              </a:rPr>
              <a:t>(2)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3904843" y="2235483"/>
            <a:ext cx="188055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4067264" y="2175515"/>
            <a:ext cx="171813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=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4613694" y="2101868"/>
            <a:ext cx="117170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4205986" y="2350432"/>
            <a:ext cx="157940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1 +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4407548" y="2271666"/>
            <a:ext cx="137784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_x0012_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4508881" y="2281579"/>
            <a:ext cx="127651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x</a:t>
            </a:r>
            <a:r>
              <a:rPr sz="498" b="0">
                <a:solidFill>
                  <a:srgbClr val="000000"/>
                </a:solidFill>
                <a:latin typeface="Cambria Math"/>
              </a:rPr>
              <a:t>(2)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4561865" y="2354299"/>
            <a:ext cx="1223530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Cambria Math"/>
              </a:rPr>
              <a:t>i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4679785" y="2312667"/>
            <a:ext cx="110561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−</a:t>
            </a: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  <a:r>
              <a:rPr sz="498" b="0">
                <a:solidFill>
                  <a:srgbClr val="000000"/>
                </a:solidFill>
                <a:latin typeface="Cambria Math"/>
              </a:rPr>
              <a:t>i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4635271" y="2418731"/>
            <a:ext cx="115012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c</a:t>
            </a:r>
            <a:r>
              <a:rPr sz="498" b="0">
                <a:solidFill>
                  <a:srgbClr val="000000"/>
                </a:solidFill>
                <a:latin typeface="Cambria Math"/>
              </a:rPr>
              <a:t>i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4859375" y="2246253"/>
            <a:ext cx="92602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_x0013_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  <a:r>
              <a:rPr sz="597" b="0">
                <a:solidFill>
                  <a:srgbClr val="000000"/>
                </a:solidFill>
                <a:latin typeface="Cambria Math"/>
              </a:rPr>
              <a:t>b</a:t>
            </a:r>
            <a:r>
              <a:rPr sz="498" b="0">
                <a:solidFill>
                  <a:srgbClr val="000000"/>
                </a:solidFill>
                <a:latin typeface="Cambria Math"/>
              </a:rPr>
              <a:t>i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4901667" y="3150916"/>
            <a:ext cx="88372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5624119" y="3150692"/>
            <a:ext cx="16127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493919" y="1628153"/>
            <a:ext cx="37870" cy="37870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93919" y="1987322"/>
            <a:ext cx="37870" cy="37869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08906" y="1494179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8906" y="1673763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08906" y="1853348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8906" y="2032932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931310" y="1494179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931310" y="1673763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31310" y="1853348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931310" y="2032932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69538" y="1647088"/>
            <a:ext cx="110495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469900" y="1638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74386" y="2006257"/>
            <a:ext cx="10564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469900" y="1993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533051" y="1561219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787400" y="1549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533051" y="1647088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787400" y="17272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533051" y="1920388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787400" y="19177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533051" y="2006257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787400" y="20828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936402" y="1557296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1143000" y="15494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936402" y="1557296"/>
            <a:ext cx="225448" cy="52714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11557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936402" y="1736880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1143000" y="1727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936402" y="173688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1143000" y="1892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 flipV="1">
            <a:off x="936402" y="156792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1143000" y="15621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1"/>
                </a:lnTo>
                <a:lnTo>
                  <a:pt x="1" y="0"/>
                </a:lnTo>
                <a:lnTo>
                  <a:pt x="2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936402" y="1916465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11430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 flipV="1">
            <a:off x="936402" y="1747504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1143000" y="1739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936402" y="2096049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1143000" y="2082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>
            <a:off x="1295571" y="1557296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1511300" y="15494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1295571" y="1557296"/>
            <a:ext cx="220455" cy="17182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reeform 76"/>
          <p:cNvSpPr/>
          <p:nvPr/>
        </p:nvSpPr>
        <p:spPr>
          <a:xfrm>
            <a:off x="1498600" y="1714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>
            <a:off x="1295571" y="1557296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1511300" y="18923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>
            <a:off x="1295571" y="1557296"/>
            <a:ext cx="225448" cy="52714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15113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>
            <a:off x="1654741" y="1557296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1905000" y="15494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>
            <a:off x="2058806" y="1557296"/>
            <a:ext cx="237950" cy="2174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2286000" y="1765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 flipV="1">
            <a:off x="1295571" y="1565055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1498600" y="15621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1295571" y="1736880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1511300" y="17272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>
            <a:off x="1295571" y="173688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1498600" y="1892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1295571" y="173688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15113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1654741" y="1736880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1905000" y="1727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>
            <a:off x="2058806" y="1736880"/>
            <a:ext cx="221132" cy="6735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Freeform 96"/>
          <p:cNvSpPr/>
          <p:nvPr/>
        </p:nvSpPr>
        <p:spPr>
          <a:xfrm>
            <a:off x="2273300" y="17907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 flipV="1">
            <a:off x="1295571" y="156792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reeform 98"/>
          <p:cNvSpPr/>
          <p:nvPr/>
        </p:nvSpPr>
        <p:spPr>
          <a:xfrm>
            <a:off x="1511300" y="1562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1295571" y="174464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1498600" y="17399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1295571" y="1916465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Freeform 102"/>
          <p:cNvSpPr/>
          <p:nvPr/>
        </p:nvSpPr>
        <p:spPr>
          <a:xfrm>
            <a:off x="1511300" y="19050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4" name="Connector 103"/>
          <p:cNvCxnSpPr/>
          <p:nvPr/>
        </p:nvCxnSpPr>
        <p:spPr>
          <a:xfrm>
            <a:off x="1295571" y="1916465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Freeform 104"/>
          <p:cNvSpPr/>
          <p:nvPr/>
        </p:nvSpPr>
        <p:spPr>
          <a:xfrm>
            <a:off x="1498600" y="2070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6" name="Connector 105"/>
          <p:cNvCxnSpPr/>
          <p:nvPr/>
        </p:nvCxnSpPr>
        <p:spPr>
          <a:xfrm>
            <a:off x="1654741" y="1916465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Freeform 106"/>
          <p:cNvSpPr/>
          <p:nvPr/>
        </p:nvSpPr>
        <p:spPr>
          <a:xfrm>
            <a:off x="19050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8" name="Connector 107"/>
          <p:cNvCxnSpPr/>
          <p:nvPr/>
        </p:nvCxnSpPr>
        <p:spPr>
          <a:xfrm flipV="1">
            <a:off x="2058806" y="1849108"/>
            <a:ext cx="221132" cy="6735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Freeform 108"/>
          <p:cNvSpPr/>
          <p:nvPr/>
        </p:nvSpPr>
        <p:spPr>
          <a:xfrm>
            <a:off x="2273300" y="18415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0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0" name="Connector 109"/>
          <p:cNvCxnSpPr/>
          <p:nvPr/>
        </p:nvCxnSpPr>
        <p:spPr>
          <a:xfrm flipV="1">
            <a:off x="1295571" y="1568901"/>
            <a:ext cx="225448" cy="52714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Freeform 110"/>
          <p:cNvSpPr/>
          <p:nvPr/>
        </p:nvSpPr>
        <p:spPr>
          <a:xfrm>
            <a:off x="1511300" y="1562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2" name="Connector 111"/>
          <p:cNvCxnSpPr/>
          <p:nvPr/>
        </p:nvCxnSpPr>
        <p:spPr>
          <a:xfrm flipV="1">
            <a:off x="1295571" y="1747504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Freeform 112"/>
          <p:cNvSpPr/>
          <p:nvPr/>
        </p:nvSpPr>
        <p:spPr>
          <a:xfrm>
            <a:off x="1511300" y="17399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4" name="Connector 113"/>
          <p:cNvCxnSpPr/>
          <p:nvPr/>
        </p:nvCxnSpPr>
        <p:spPr>
          <a:xfrm flipV="1">
            <a:off x="1295571" y="1924224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Freeform 114"/>
          <p:cNvSpPr/>
          <p:nvPr/>
        </p:nvSpPr>
        <p:spPr>
          <a:xfrm>
            <a:off x="1498600" y="1917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6" name="Connector 115"/>
          <p:cNvCxnSpPr/>
          <p:nvPr/>
        </p:nvCxnSpPr>
        <p:spPr>
          <a:xfrm>
            <a:off x="1295571" y="2096049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Freeform 116"/>
          <p:cNvSpPr/>
          <p:nvPr/>
        </p:nvSpPr>
        <p:spPr>
          <a:xfrm>
            <a:off x="1511300" y="20828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8" name="Connector 117"/>
          <p:cNvCxnSpPr/>
          <p:nvPr/>
        </p:nvCxnSpPr>
        <p:spPr>
          <a:xfrm>
            <a:off x="1654741" y="2096049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Freeform 118"/>
          <p:cNvSpPr/>
          <p:nvPr/>
        </p:nvSpPr>
        <p:spPr>
          <a:xfrm>
            <a:off x="1905000" y="2082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0" name="Connector 119"/>
          <p:cNvCxnSpPr/>
          <p:nvPr/>
        </p:nvCxnSpPr>
        <p:spPr>
          <a:xfrm flipV="1">
            <a:off x="2058806" y="1878613"/>
            <a:ext cx="237950" cy="2174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Freeform 120"/>
          <p:cNvSpPr/>
          <p:nvPr/>
        </p:nvSpPr>
        <p:spPr>
          <a:xfrm>
            <a:off x="2286000" y="1866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2" name="Connector 121"/>
          <p:cNvCxnSpPr/>
          <p:nvPr/>
        </p:nvCxnSpPr>
        <p:spPr>
          <a:xfrm>
            <a:off x="2417975" y="1826672"/>
            <a:ext cx="7302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Freeform 122"/>
          <p:cNvSpPr/>
          <p:nvPr/>
        </p:nvSpPr>
        <p:spPr>
          <a:xfrm>
            <a:off x="2489200" y="1816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4" name="Connector 123"/>
          <p:cNvCxnSpPr/>
          <p:nvPr/>
        </p:nvCxnSpPr>
        <p:spPr>
          <a:xfrm flipV="1">
            <a:off x="1769946" y="1448142"/>
            <a:ext cx="0" cy="82749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1859739" y="1448142"/>
            <a:ext cx="0" cy="82749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Freeform 125"/>
          <p:cNvSpPr/>
          <p:nvPr/>
        </p:nvSpPr>
        <p:spPr>
          <a:xfrm>
            <a:off x="1765300" y="15113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7" name="Connector 126"/>
          <p:cNvCxnSpPr/>
          <p:nvPr/>
        </p:nvCxnSpPr>
        <p:spPr>
          <a:xfrm>
            <a:off x="1769946" y="1521379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Freeform 127"/>
          <p:cNvSpPr/>
          <p:nvPr/>
        </p:nvSpPr>
        <p:spPr>
          <a:xfrm>
            <a:off x="1905000" y="1511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Freeform 128"/>
          <p:cNvSpPr/>
          <p:nvPr/>
        </p:nvSpPr>
        <p:spPr>
          <a:xfrm>
            <a:off x="1854200" y="15875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0" name="Connector 129"/>
          <p:cNvCxnSpPr/>
          <p:nvPr/>
        </p:nvCxnSpPr>
        <p:spPr>
          <a:xfrm>
            <a:off x="1859739" y="1593212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Freeform 130"/>
          <p:cNvSpPr/>
          <p:nvPr/>
        </p:nvSpPr>
        <p:spPr>
          <a:xfrm>
            <a:off x="1905000" y="15875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Freeform 131"/>
          <p:cNvSpPr/>
          <p:nvPr/>
        </p:nvSpPr>
        <p:spPr>
          <a:xfrm>
            <a:off x="1765300" y="1701800"/>
            <a:ext cx="12700" cy="0"/>
          </a:xfrm>
          <a:custGeom>
            <a:avLst/>
            <a:gdLst/>
            <a:ahLst/>
            <a:cxnLst/>
            <a:rect l="l" t="t" r="r" b="b"/>
            <a:pathLst>
              <a:path w="1" h="0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3" name="Connector 132"/>
          <p:cNvCxnSpPr/>
          <p:nvPr/>
        </p:nvCxnSpPr>
        <p:spPr>
          <a:xfrm>
            <a:off x="1769946" y="1700964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Freeform 133"/>
          <p:cNvSpPr/>
          <p:nvPr/>
        </p:nvSpPr>
        <p:spPr>
          <a:xfrm>
            <a:off x="1905000" y="1689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Freeform 134"/>
          <p:cNvSpPr/>
          <p:nvPr/>
        </p:nvSpPr>
        <p:spPr>
          <a:xfrm>
            <a:off x="1854200" y="17653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6" name="Connector 135"/>
          <p:cNvCxnSpPr/>
          <p:nvPr/>
        </p:nvCxnSpPr>
        <p:spPr>
          <a:xfrm>
            <a:off x="1859739" y="1772796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Freeform 136"/>
          <p:cNvSpPr/>
          <p:nvPr/>
        </p:nvSpPr>
        <p:spPr>
          <a:xfrm>
            <a:off x="1905000" y="1765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Freeform 137"/>
          <p:cNvSpPr/>
          <p:nvPr/>
        </p:nvSpPr>
        <p:spPr>
          <a:xfrm>
            <a:off x="1765300" y="1879600"/>
            <a:ext cx="12700" cy="0"/>
          </a:xfrm>
          <a:custGeom>
            <a:avLst/>
            <a:gdLst/>
            <a:ahLst/>
            <a:cxnLst/>
            <a:rect l="l" t="t" r="r" b="b"/>
            <a:pathLst>
              <a:path w="1" h="0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9" name="Connector 138"/>
          <p:cNvCxnSpPr/>
          <p:nvPr/>
        </p:nvCxnSpPr>
        <p:spPr>
          <a:xfrm>
            <a:off x="1769946" y="1880548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Freeform 139"/>
          <p:cNvSpPr/>
          <p:nvPr/>
        </p:nvSpPr>
        <p:spPr>
          <a:xfrm>
            <a:off x="1905000" y="1866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Freeform 140"/>
          <p:cNvSpPr/>
          <p:nvPr/>
        </p:nvSpPr>
        <p:spPr>
          <a:xfrm>
            <a:off x="1854200" y="1943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2" name="Connector 141"/>
          <p:cNvCxnSpPr/>
          <p:nvPr/>
        </p:nvCxnSpPr>
        <p:spPr>
          <a:xfrm>
            <a:off x="1859739" y="1952381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Freeform 142"/>
          <p:cNvSpPr/>
          <p:nvPr/>
        </p:nvSpPr>
        <p:spPr>
          <a:xfrm>
            <a:off x="1905000" y="1943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Freeform 143"/>
          <p:cNvSpPr/>
          <p:nvPr/>
        </p:nvSpPr>
        <p:spPr>
          <a:xfrm>
            <a:off x="1765300" y="20574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5" name="Connector 144"/>
          <p:cNvCxnSpPr/>
          <p:nvPr/>
        </p:nvCxnSpPr>
        <p:spPr>
          <a:xfrm>
            <a:off x="1769946" y="2060133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Freeform 145"/>
          <p:cNvSpPr/>
          <p:nvPr/>
        </p:nvSpPr>
        <p:spPr>
          <a:xfrm>
            <a:off x="1905000" y="2044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reeform 146"/>
          <p:cNvSpPr/>
          <p:nvPr/>
        </p:nvSpPr>
        <p:spPr>
          <a:xfrm>
            <a:off x="1854200" y="21209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8" name="Connector 147"/>
          <p:cNvCxnSpPr/>
          <p:nvPr/>
        </p:nvCxnSpPr>
        <p:spPr>
          <a:xfrm>
            <a:off x="1859739" y="2131966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Freeform 148"/>
          <p:cNvSpPr/>
          <p:nvPr/>
        </p:nvSpPr>
        <p:spPr>
          <a:xfrm>
            <a:off x="1905000" y="2120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10" y="3146744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2880014" y="3146744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2" name="Picture 15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53" name="Picture 15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54" name="TextBox 15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Structure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ANFIS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315093" y="1623201"/>
            <a:ext cx="54703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310247" y="1982366"/>
            <a:ext cx="547514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46242" y="1535876"/>
            <a:ext cx="493915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841396" y="1715455"/>
            <a:ext cx="494399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849169" y="1894344"/>
            <a:ext cx="493622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44323" y="2073923"/>
            <a:ext cx="494107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203146" y="1534254"/>
            <a:ext cx="458224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98293" y="1713833"/>
            <a:ext cx="45871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97970" y="1893178"/>
            <a:ext cx="458742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98021" y="2072999"/>
            <a:ext cx="458737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561640" y="1534773"/>
            <a:ext cx="422375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N1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556793" y="1714359"/>
            <a:ext cx="42286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556464" y="1893939"/>
            <a:ext cx="422893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556514" y="2073524"/>
            <a:ext cx="422888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751755" y="2286256"/>
            <a:ext cx="403364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836698" y="2286256"/>
            <a:ext cx="394869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986457" y="1533411"/>
            <a:ext cx="379893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981604" y="1712991"/>
            <a:ext cx="380379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981281" y="1892336"/>
            <a:ext cx="380411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981332" y="2072156"/>
            <a:ext cx="380406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2334206" y="1809143"/>
            <a:ext cx="345118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2521692" y="1791212"/>
            <a:ext cx="326370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430325" y="1302792"/>
            <a:ext cx="5355070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399194" y="1362600"/>
            <a:ext cx="538620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397" b="0">
                <a:solidFill>
                  <a:srgbClr val="000000"/>
                </a:solidFill>
                <a:latin typeface="Josefin Sans"/>
              </a:rPr>
              <a:t> </a:t>
            </a: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83909" y="1302792"/>
            <a:ext cx="500148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746671" y="1362600"/>
            <a:ext cx="503872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fuzzification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819957" y="1422563"/>
            <a:ext cx="496543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143803" y="1302792"/>
            <a:ext cx="464159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31912" y="1362600"/>
            <a:ext cx="465348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397" b="0">
                <a:solidFill>
                  <a:srgbClr val="000000"/>
                </a:solidFill>
                <a:latin typeface="Josefin Sans"/>
              </a:rPr>
              <a:t> </a:t>
            </a: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502588" y="1302792"/>
            <a:ext cx="428280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1447022" y="1362600"/>
            <a:ext cx="433837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normalisation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538288" y="1422563"/>
            <a:ext cx="424710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907083" y="1302792"/>
            <a:ext cx="387831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42577" y="1362600"/>
            <a:ext cx="394281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942351" y="1422563"/>
            <a:ext cx="384304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2265589" y="1302792"/>
            <a:ext cx="351980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2237663" y="1362600"/>
            <a:ext cx="354773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summation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3198609" y="834296"/>
            <a:ext cx="258678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3: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3317862" y="984956"/>
            <a:ext cx="246753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corresponds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single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3475697" y="1162916"/>
            <a:ext cx="230969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Sugeno-style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rule.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3317862" y="1313924"/>
            <a:ext cx="246753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antecedents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are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combined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with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3475697" y="1491884"/>
            <a:ext cx="230969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AND,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ANFIS,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product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3475697" y="1631063"/>
            <a:ext cx="230969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operator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used.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4113211" y="1947599"/>
            <a:ext cx="167218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y</a:t>
            </a:r>
            <a:r>
              <a:rPr sz="597" b="0">
                <a:solidFill>
                  <a:srgbClr val="000000"/>
                </a:solidFill>
                <a:latin typeface="Cambria Math"/>
              </a:rPr>
              <a:t>(3)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4170844" y="2036106"/>
            <a:ext cx="161455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4333264" y="1976138"/>
            <a:ext cx="145213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=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4511242" y="1863462"/>
            <a:ext cx="127415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k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4462347" y="1949506"/>
            <a:ext cx="132304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Y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4456797" y="2137706"/>
            <a:ext cx="13285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j</a:t>
            </a:r>
            <a:r>
              <a:rPr sz="597" b="0">
                <a:solidFill>
                  <a:srgbClr val="000000"/>
                </a:solidFill>
                <a:latin typeface="Cambria Math"/>
              </a:rPr>
              <a:t>=1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4636934" y="1947599"/>
            <a:ext cx="114846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(3)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4703266" y="2036106"/>
            <a:ext cx="10821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ji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3510658" y="2335940"/>
            <a:ext cx="227473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For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example,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y</a:t>
            </a:r>
            <a:r>
              <a:rPr sz="597" b="0">
                <a:solidFill>
                  <a:srgbClr val="000000"/>
                </a:solidFill>
                <a:latin typeface="Cambria Math"/>
              </a:rPr>
              <a:t>(3)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4216232" y="2362991"/>
            <a:ext cx="156916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grmn0600"/>
              </a:rPr>
              <a:t>Π</a:t>
            </a: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=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B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=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3475708" y="2513535"/>
            <a:ext cx="230968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7" b="0">
                <a:solidFill>
                  <a:srgbClr val="000000"/>
                </a:solidFill>
                <a:latin typeface="Josefin Sans"/>
              </a:rPr>
              <a:t>(</a:t>
            </a:r>
            <a:r>
              <a:rPr sz="797" b="0">
                <a:solidFill>
                  <a:srgbClr val="000000"/>
                </a:solidFill>
                <a:latin typeface="Cambria Math"/>
              </a:rPr>
              <a:t>µ</a:t>
            </a:r>
            <a:r>
              <a:rPr sz="498" b="0">
                <a:solidFill>
                  <a:srgbClr val="000000"/>
                </a:solidFill>
                <a:latin typeface="Cambria Math"/>
              </a:rPr>
              <a:t>1</a:t>
            </a:r>
            <a:r>
              <a:rPr sz="747" b="0">
                <a:solidFill>
                  <a:srgbClr val="000000"/>
                </a:solidFill>
                <a:latin typeface="Josefin Sans"/>
              </a:rPr>
              <a:t> </a:t>
            </a:r>
            <a:r>
              <a:rPr sz="747" b="0">
                <a:solidFill>
                  <a:srgbClr val="000000"/>
                </a:solidFill>
                <a:latin typeface="Josefin Sans"/>
              </a:rPr>
              <a:t>is</a:t>
            </a:r>
            <a:r>
              <a:rPr sz="747" b="0">
                <a:solidFill>
                  <a:srgbClr val="000000"/>
                </a:solidFill>
                <a:latin typeface="Josefin Sans"/>
              </a:rPr>
              <a:t> </a:t>
            </a:r>
            <a:r>
              <a:rPr sz="747" b="0">
                <a:solidFill>
                  <a:srgbClr val="000000"/>
                </a:solidFill>
                <a:latin typeface="Josefin Sans"/>
              </a:rPr>
              <a:t>the</a:t>
            </a:r>
            <a:r>
              <a:rPr sz="747" b="0">
                <a:solidFill>
                  <a:srgbClr val="000000"/>
                </a:solidFill>
                <a:latin typeface="Josefin Sans"/>
              </a:rPr>
              <a:t> </a:t>
            </a:r>
            <a:r>
              <a:rPr sz="747" b="0">
                <a:solidFill>
                  <a:srgbClr val="000000"/>
                </a:solidFill>
                <a:latin typeface="Josefin Sans"/>
              </a:rPr>
              <a:t>firing</a:t>
            </a:r>
            <a:r>
              <a:rPr sz="747" b="0">
                <a:solidFill>
                  <a:srgbClr val="000000"/>
                </a:solidFill>
                <a:latin typeface="Josefin Sans"/>
              </a:rPr>
              <a:t> </a:t>
            </a:r>
            <a:r>
              <a:rPr sz="747" b="0">
                <a:solidFill>
                  <a:srgbClr val="000000"/>
                </a:solidFill>
                <a:latin typeface="Josefin Sans"/>
              </a:rPr>
              <a:t>strength</a:t>
            </a:r>
            <a:r>
              <a:rPr sz="747" b="0">
                <a:solidFill>
                  <a:srgbClr val="000000"/>
                </a:solidFill>
                <a:latin typeface="Josefin Sans"/>
              </a:rPr>
              <a:t> </a:t>
            </a:r>
            <a:r>
              <a:rPr sz="747" b="0">
                <a:solidFill>
                  <a:srgbClr val="000000"/>
                </a:solidFill>
                <a:latin typeface="Josefin Sans"/>
              </a:rPr>
              <a:t>or</a:t>
            </a:r>
            <a:r>
              <a:rPr sz="747" b="0">
                <a:solidFill>
                  <a:srgbClr val="000000"/>
                </a:solidFill>
                <a:latin typeface="Josefin Sans"/>
              </a:rPr>
              <a:t> </a:t>
            </a:r>
            <a:r>
              <a:rPr sz="747" b="0">
                <a:solidFill>
                  <a:srgbClr val="000000"/>
                </a:solidFill>
                <a:latin typeface="Josefin Sans"/>
              </a:rPr>
              <a:t>truth</a:t>
            </a:r>
            <a:r>
              <a:rPr sz="747" b="0">
                <a:solidFill>
                  <a:srgbClr val="000000"/>
                </a:solidFill>
                <a:latin typeface="Josefin Sans"/>
              </a:rPr>
              <a:t> </a:t>
            </a:r>
            <a:r>
              <a:rPr sz="747" b="0">
                <a:solidFill>
                  <a:srgbClr val="000000"/>
                </a:solidFill>
                <a:latin typeface="Josefin Sans"/>
              </a:rPr>
              <a:t>value</a:t>
            </a:r>
            <a:r>
              <a:rPr sz="747" b="0">
                <a:solidFill>
                  <a:srgbClr val="000000"/>
                </a:solidFill>
                <a:latin typeface="Josefin Sans"/>
              </a:rPr>
              <a:t> </a:t>
            </a:r>
            <a:r>
              <a:rPr sz="747" b="0">
                <a:solidFill>
                  <a:srgbClr val="000000"/>
                </a:solidFill>
                <a:latin typeface="Josefin Sans"/>
              </a:rPr>
              <a:t>of</a:t>
            </a:r>
            <a:r>
              <a:rPr sz="747" b="0">
                <a:solidFill>
                  <a:srgbClr val="000000"/>
                </a:solidFill>
                <a:latin typeface="Josefin Sans"/>
              </a:rPr>
              <a:t> </a:t>
            </a:r>
            <a:r>
              <a:rPr sz="747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747" b="0">
                <a:solidFill>
                  <a:srgbClr val="000000"/>
                </a:solidFill>
                <a:latin typeface="Josefin Sans"/>
              </a:rPr>
              <a:t> </a:t>
            </a:r>
            <a:r>
              <a:rPr sz="747" b="0">
                <a:solidFill>
                  <a:srgbClr val="000000"/>
                </a:solidFill>
                <a:latin typeface="Josefin Sans"/>
              </a:rPr>
              <a:t>1.)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4901663" y="3150920"/>
            <a:ext cx="8837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5622986" y="3150696"/>
            <a:ext cx="16240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493919" y="1628153"/>
            <a:ext cx="37870" cy="37870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93919" y="1987322"/>
            <a:ext cx="37870" cy="37869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08906" y="1494179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8906" y="1673763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08906" y="1853348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8906" y="2032932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931310" y="1494179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931310" y="1673763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31310" y="1853348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931310" y="2032932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69538" y="1647088"/>
            <a:ext cx="110495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469900" y="1638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74386" y="2006257"/>
            <a:ext cx="10564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469900" y="1993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533051" y="1561219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787400" y="1549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533051" y="1647088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787400" y="17272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533051" y="1920388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787400" y="19177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533051" y="2006257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787400" y="20828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936402" y="1557296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1143000" y="15494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936402" y="1557296"/>
            <a:ext cx="225448" cy="52714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11557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936402" y="1736880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1143000" y="1727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936402" y="173688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1143000" y="1892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 flipV="1">
            <a:off x="936402" y="156792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1143000" y="15621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1"/>
                </a:lnTo>
                <a:lnTo>
                  <a:pt x="1" y="0"/>
                </a:lnTo>
                <a:lnTo>
                  <a:pt x="2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936402" y="1916465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11430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 flipV="1">
            <a:off x="936402" y="1747504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1143000" y="1739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936402" y="2096049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1143000" y="2082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>
            <a:off x="1295571" y="1557296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1511300" y="15494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1295571" y="1557296"/>
            <a:ext cx="220455" cy="17182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reeform 76"/>
          <p:cNvSpPr/>
          <p:nvPr/>
        </p:nvSpPr>
        <p:spPr>
          <a:xfrm>
            <a:off x="1498600" y="1714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>
            <a:off x="1295571" y="1557296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1511300" y="18923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>
            <a:off x="1295571" y="1557296"/>
            <a:ext cx="225448" cy="52714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15113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>
            <a:off x="1654741" y="1557296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1905000" y="15494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>
            <a:off x="2058806" y="1557296"/>
            <a:ext cx="237950" cy="2174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2286000" y="1765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 flipV="1">
            <a:off x="1295571" y="1565055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1498600" y="15621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1295571" y="1736880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1511300" y="17272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>
            <a:off x="1295571" y="173688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1498600" y="1892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1295571" y="173688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15113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1654741" y="1736880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1905000" y="1727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>
            <a:off x="2058806" y="1736880"/>
            <a:ext cx="221132" cy="6735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Freeform 96"/>
          <p:cNvSpPr/>
          <p:nvPr/>
        </p:nvSpPr>
        <p:spPr>
          <a:xfrm>
            <a:off x="2273300" y="17907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 flipV="1">
            <a:off x="1295571" y="156792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reeform 98"/>
          <p:cNvSpPr/>
          <p:nvPr/>
        </p:nvSpPr>
        <p:spPr>
          <a:xfrm>
            <a:off x="1511300" y="1562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1295571" y="174464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1498600" y="17399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1295571" y="1916465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Freeform 102"/>
          <p:cNvSpPr/>
          <p:nvPr/>
        </p:nvSpPr>
        <p:spPr>
          <a:xfrm>
            <a:off x="1511300" y="19050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4" name="Connector 103"/>
          <p:cNvCxnSpPr/>
          <p:nvPr/>
        </p:nvCxnSpPr>
        <p:spPr>
          <a:xfrm>
            <a:off x="1295571" y="1916465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Freeform 104"/>
          <p:cNvSpPr/>
          <p:nvPr/>
        </p:nvSpPr>
        <p:spPr>
          <a:xfrm>
            <a:off x="1498600" y="2070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6" name="Connector 105"/>
          <p:cNvCxnSpPr/>
          <p:nvPr/>
        </p:nvCxnSpPr>
        <p:spPr>
          <a:xfrm>
            <a:off x="1654741" y="1916465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Freeform 106"/>
          <p:cNvSpPr/>
          <p:nvPr/>
        </p:nvSpPr>
        <p:spPr>
          <a:xfrm>
            <a:off x="19050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8" name="Connector 107"/>
          <p:cNvCxnSpPr/>
          <p:nvPr/>
        </p:nvCxnSpPr>
        <p:spPr>
          <a:xfrm flipV="1">
            <a:off x="2058806" y="1849108"/>
            <a:ext cx="221132" cy="6735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Freeform 108"/>
          <p:cNvSpPr/>
          <p:nvPr/>
        </p:nvSpPr>
        <p:spPr>
          <a:xfrm>
            <a:off x="2273300" y="18415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0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0" name="Connector 109"/>
          <p:cNvCxnSpPr/>
          <p:nvPr/>
        </p:nvCxnSpPr>
        <p:spPr>
          <a:xfrm flipV="1">
            <a:off x="1295571" y="1568901"/>
            <a:ext cx="225448" cy="52714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Freeform 110"/>
          <p:cNvSpPr/>
          <p:nvPr/>
        </p:nvSpPr>
        <p:spPr>
          <a:xfrm>
            <a:off x="1511300" y="1562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2" name="Connector 111"/>
          <p:cNvCxnSpPr/>
          <p:nvPr/>
        </p:nvCxnSpPr>
        <p:spPr>
          <a:xfrm flipV="1">
            <a:off x="1295571" y="1747504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Freeform 112"/>
          <p:cNvSpPr/>
          <p:nvPr/>
        </p:nvSpPr>
        <p:spPr>
          <a:xfrm>
            <a:off x="1511300" y="17399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4" name="Connector 113"/>
          <p:cNvCxnSpPr/>
          <p:nvPr/>
        </p:nvCxnSpPr>
        <p:spPr>
          <a:xfrm flipV="1">
            <a:off x="1295571" y="1924224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Freeform 114"/>
          <p:cNvSpPr/>
          <p:nvPr/>
        </p:nvSpPr>
        <p:spPr>
          <a:xfrm>
            <a:off x="1498600" y="1917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6" name="Connector 115"/>
          <p:cNvCxnSpPr/>
          <p:nvPr/>
        </p:nvCxnSpPr>
        <p:spPr>
          <a:xfrm>
            <a:off x="1295571" y="2096049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Freeform 116"/>
          <p:cNvSpPr/>
          <p:nvPr/>
        </p:nvSpPr>
        <p:spPr>
          <a:xfrm>
            <a:off x="1511300" y="20828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8" name="Connector 117"/>
          <p:cNvCxnSpPr/>
          <p:nvPr/>
        </p:nvCxnSpPr>
        <p:spPr>
          <a:xfrm>
            <a:off x="1654741" y="2096049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Freeform 118"/>
          <p:cNvSpPr/>
          <p:nvPr/>
        </p:nvSpPr>
        <p:spPr>
          <a:xfrm>
            <a:off x="1905000" y="2082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0" name="Connector 119"/>
          <p:cNvCxnSpPr/>
          <p:nvPr/>
        </p:nvCxnSpPr>
        <p:spPr>
          <a:xfrm flipV="1">
            <a:off x="2058806" y="1878613"/>
            <a:ext cx="237950" cy="2174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Freeform 120"/>
          <p:cNvSpPr/>
          <p:nvPr/>
        </p:nvSpPr>
        <p:spPr>
          <a:xfrm>
            <a:off x="2286000" y="1866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2" name="Connector 121"/>
          <p:cNvCxnSpPr/>
          <p:nvPr/>
        </p:nvCxnSpPr>
        <p:spPr>
          <a:xfrm>
            <a:off x="2417975" y="1826672"/>
            <a:ext cx="7302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Freeform 122"/>
          <p:cNvSpPr/>
          <p:nvPr/>
        </p:nvSpPr>
        <p:spPr>
          <a:xfrm>
            <a:off x="2489200" y="1816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4" name="Connector 123"/>
          <p:cNvCxnSpPr/>
          <p:nvPr/>
        </p:nvCxnSpPr>
        <p:spPr>
          <a:xfrm flipV="1">
            <a:off x="1769946" y="1448142"/>
            <a:ext cx="0" cy="82749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1859739" y="1448142"/>
            <a:ext cx="0" cy="82749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Freeform 125"/>
          <p:cNvSpPr/>
          <p:nvPr/>
        </p:nvSpPr>
        <p:spPr>
          <a:xfrm>
            <a:off x="1765300" y="15113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7" name="Connector 126"/>
          <p:cNvCxnSpPr/>
          <p:nvPr/>
        </p:nvCxnSpPr>
        <p:spPr>
          <a:xfrm>
            <a:off x="1769946" y="1521379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Freeform 127"/>
          <p:cNvSpPr/>
          <p:nvPr/>
        </p:nvSpPr>
        <p:spPr>
          <a:xfrm>
            <a:off x="1905000" y="1511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Freeform 128"/>
          <p:cNvSpPr/>
          <p:nvPr/>
        </p:nvSpPr>
        <p:spPr>
          <a:xfrm>
            <a:off x="1854200" y="15875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0" name="Connector 129"/>
          <p:cNvCxnSpPr/>
          <p:nvPr/>
        </p:nvCxnSpPr>
        <p:spPr>
          <a:xfrm>
            <a:off x="1859739" y="1593212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Freeform 130"/>
          <p:cNvSpPr/>
          <p:nvPr/>
        </p:nvSpPr>
        <p:spPr>
          <a:xfrm>
            <a:off x="1905000" y="15875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Freeform 131"/>
          <p:cNvSpPr/>
          <p:nvPr/>
        </p:nvSpPr>
        <p:spPr>
          <a:xfrm>
            <a:off x="1765300" y="1701800"/>
            <a:ext cx="12700" cy="0"/>
          </a:xfrm>
          <a:custGeom>
            <a:avLst/>
            <a:gdLst/>
            <a:ahLst/>
            <a:cxnLst/>
            <a:rect l="l" t="t" r="r" b="b"/>
            <a:pathLst>
              <a:path w="1" h="0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3" name="Connector 132"/>
          <p:cNvCxnSpPr/>
          <p:nvPr/>
        </p:nvCxnSpPr>
        <p:spPr>
          <a:xfrm>
            <a:off x="1769946" y="1700964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Freeform 133"/>
          <p:cNvSpPr/>
          <p:nvPr/>
        </p:nvSpPr>
        <p:spPr>
          <a:xfrm>
            <a:off x="1905000" y="1689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Freeform 134"/>
          <p:cNvSpPr/>
          <p:nvPr/>
        </p:nvSpPr>
        <p:spPr>
          <a:xfrm>
            <a:off x="1854200" y="17653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6" name="Connector 135"/>
          <p:cNvCxnSpPr/>
          <p:nvPr/>
        </p:nvCxnSpPr>
        <p:spPr>
          <a:xfrm>
            <a:off x="1859739" y="1772796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Freeform 136"/>
          <p:cNvSpPr/>
          <p:nvPr/>
        </p:nvSpPr>
        <p:spPr>
          <a:xfrm>
            <a:off x="1905000" y="1765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Freeform 137"/>
          <p:cNvSpPr/>
          <p:nvPr/>
        </p:nvSpPr>
        <p:spPr>
          <a:xfrm>
            <a:off x="1765300" y="1879600"/>
            <a:ext cx="12700" cy="0"/>
          </a:xfrm>
          <a:custGeom>
            <a:avLst/>
            <a:gdLst/>
            <a:ahLst/>
            <a:cxnLst/>
            <a:rect l="l" t="t" r="r" b="b"/>
            <a:pathLst>
              <a:path w="1" h="0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9" name="Connector 138"/>
          <p:cNvCxnSpPr/>
          <p:nvPr/>
        </p:nvCxnSpPr>
        <p:spPr>
          <a:xfrm>
            <a:off x="1769946" y="1880548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Freeform 139"/>
          <p:cNvSpPr/>
          <p:nvPr/>
        </p:nvSpPr>
        <p:spPr>
          <a:xfrm>
            <a:off x="1905000" y="1866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Freeform 140"/>
          <p:cNvSpPr/>
          <p:nvPr/>
        </p:nvSpPr>
        <p:spPr>
          <a:xfrm>
            <a:off x="1854200" y="1943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2" name="Connector 141"/>
          <p:cNvCxnSpPr/>
          <p:nvPr/>
        </p:nvCxnSpPr>
        <p:spPr>
          <a:xfrm>
            <a:off x="1859739" y="1952381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Freeform 142"/>
          <p:cNvSpPr/>
          <p:nvPr/>
        </p:nvSpPr>
        <p:spPr>
          <a:xfrm>
            <a:off x="1905000" y="1943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Freeform 143"/>
          <p:cNvSpPr/>
          <p:nvPr/>
        </p:nvSpPr>
        <p:spPr>
          <a:xfrm>
            <a:off x="1765300" y="20574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5" name="Connector 144"/>
          <p:cNvCxnSpPr/>
          <p:nvPr/>
        </p:nvCxnSpPr>
        <p:spPr>
          <a:xfrm>
            <a:off x="1769946" y="2060133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Freeform 145"/>
          <p:cNvSpPr/>
          <p:nvPr/>
        </p:nvSpPr>
        <p:spPr>
          <a:xfrm>
            <a:off x="1905000" y="2044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reeform 146"/>
          <p:cNvSpPr/>
          <p:nvPr/>
        </p:nvSpPr>
        <p:spPr>
          <a:xfrm>
            <a:off x="1854200" y="21209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8" name="Connector 147"/>
          <p:cNvCxnSpPr/>
          <p:nvPr/>
        </p:nvCxnSpPr>
        <p:spPr>
          <a:xfrm>
            <a:off x="1859739" y="2131966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Freeform 148"/>
          <p:cNvSpPr/>
          <p:nvPr/>
        </p:nvSpPr>
        <p:spPr>
          <a:xfrm>
            <a:off x="1905000" y="2120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0" name="Connector 149"/>
          <p:cNvCxnSpPr/>
          <p:nvPr/>
        </p:nvCxnSpPr>
        <p:spPr>
          <a:xfrm>
            <a:off x="4080130" y="1957463"/>
            <a:ext cx="372288" cy="0"/>
          </a:xfrm>
          <a:prstGeom prst="line">
            <a:avLst/>
          </a:prstGeom>
          <a:ln w="48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4638841" y="1957463"/>
            <a:ext cx="300203" cy="0"/>
          </a:xfrm>
          <a:prstGeom prst="line">
            <a:avLst/>
          </a:prstGeom>
          <a:ln w="48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>
            <a:off x="4521798" y="2453513"/>
            <a:ext cx="638251" cy="0"/>
          </a:xfrm>
          <a:prstGeom prst="line">
            <a:avLst/>
          </a:prstGeom>
          <a:ln w="48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Rectangle 152"/>
          <p:cNvSpPr/>
          <p:nvPr/>
        </p:nvSpPr>
        <p:spPr>
          <a:xfrm>
            <a:off x="13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2880017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5" name="Picture 15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56" name="Picture 15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57" name="TextBox 156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Structure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ANFIS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315093" y="1623201"/>
            <a:ext cx="54703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310247" y="1982366"/>
            <a:ext cx="547514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46242" y="1535876"/>
            <a:ext cx="493915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41396" y="1715455"/>
            <a:ext cx="494399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849169" y="1894344"/>
            <a:ext cx="493622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844323" y="2073923"/>
            <a:ext cx="494107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203146" y="1534254"/>
            <a:ext cx="458224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98293" y="1713833"/>
            <a:ext cx="45871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197970" y="1893178"/>
            <a:ext cx="458742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198021" y="2072999"/>
            <a:ext cx="458737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561640" y="1534773"/>
            <a:ext cx="422375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556793" y="1714359"/>
            <a:ext cx="42286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N2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556464" y="1893939"/>
            <a:ext cx="422893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N3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556514" y="2073524"/>
            <a:ext cx="422888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N4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751755" y="2286256"/>
            <a:ext cx="403364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36698" y="2286256"/>
            <a:ext cx="394869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986457" y="1533411"/>
            <a:ext cx="379893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981604" y="1712991"/>
            <a:ext cx="380379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981281" y="1892336"/>
            <a:ext cx="380411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981332" y="2072156"/>
            <a:ext cx="380406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2334206" y="1809143"/>
            <a:ext cx="345118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2521692" y="1791212"/>
            <a:ext cx="326370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430325" y="1302792"/>
            <a:ext cx="5355070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399194" y="1362600"/>
            <a:ext cx="538620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397" b="0">
                <a:solidFill>
                  <a:srgbClr val="000000"/>
                </a:solidFill>
                <a:latin typeface="Josefin Sans"/>
              </a:rPr>
              <a:t> </a:t>
            </a: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83909" y="1302792"/>
            <a:ext cx="500148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46671" y="1362600"/>
            <a:ext cx="503872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fuzzification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19957" y="1422563"/>
            <a:ext cx="496543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1143803" y="1302792"/>
            <a:ext cx="464159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131912" y="1362600"/>
            <a:ext cx="465348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397" b="0">
                <a:solidFill>
                  <a:srgbClr val="000000"/>
                </a:solidFill>
                <a:latin typeface="Josefin Sans"/>
              </a:rPr>
              <a:t> </a:t>
            </a: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502588" y="1302792"/>
            <a:ext cx="428280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447022" y="1362600"/>
            <a:ext cx="433837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normalisation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538288" y="1422563"/>
            <a:ext cx="424710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907083" y="1302792"/>
            <a:ext cx="387831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842577" y="1362600"/>
            <a:ext cx="394281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942351" y="1422563"/>
            <a:ext cx="384304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2265589" y="1302792"/>
            <a:ext cx="351980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2237663" y="1362600"/>
            <a:ext cx="354773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summation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3198609" y="911232"/>
            <a:ext cx="258678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4: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normalisation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3317862" y="1061905"/>
            <a:ext cx="246753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receives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inputs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all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3475697" y="1239865"/>
            <a:ext cx="230969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neurons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layer.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3317862" y="1390873"/>
            <a:ext cx="246753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calculates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normalised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3475697" y="1568833"/>
            <a:ext cx="230969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firing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strength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given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rule.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3721355" y="1868402"/>
            <a:ext cx="206404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y</a:t>
            </a:r>
            <a:r>
              <a:rPr sz="597" b="0">
                <a:solidFill>
                  <a:srgbClr val="000000"/>
                </a:solidFill>
                <a:latin typeface="Cambria Math"/>
              </a:rPr>
              <a:t>(4)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3779001" y="1956908"/>
            <a:ext cx="200639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3941421" y="1896941"/>
            <a:ext cx="184397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=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4170199" y="1792799"/>
            <a:ext cx="161519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(4)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4236544" y="1881305"/>
            <a:ext cx="154885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ii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4098685" y="1960299"/>
            <a:ext cx="168671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n</a:t>
            </a:r>
            <a:r>
              <a:rPr sz="896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4080130" y="2166217"/>
            <a:ext cx="170526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j</a:t>
            </a:r>
            <a:r>
              <a:rPr sz="597" b="0">
                <a:solidFill>
                  <a:srgbClr val="000000"/>
                </a:solidFill>
                <a:latin typeface="Cambria Math"/>
              </a:rPr>
              <a:t>=1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4260267" y="2010274"/>
            <a:ext cx="152512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(4)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4326599" y="2098780"/>
            <a:ext cx="145879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ji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4500119" y="1896928"/>
            <a:ext cx="128527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=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4733609" y="1823293"/>
            <a:ext cx="105178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4657383" y="1960299"/>
            <a:ext cx="112801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n</a:t>
            </a:r>
            <a:r>
              <a:rPr sz="896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4638842" y="2166217"/>
            <a:ext cx="114655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j</a:t>
            </a:r>
            <a:r>
              <a:rPr sz="597" b="0">
                <a:solidFill>
                  <a:srgbClr val="000000"/>
                </a:solidFill>
                <a:latin typeface="Cambria Math"/>
              </a:rPr>
              <a:t>=1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4818965" y="2038812"/>
            <a:ext cx="96643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j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4986745" y="1896928"/>
            <a:ext cx="79865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=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¯</a:t>
            </a:r>
            <a:r>
              <a:rPr sz="896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3510662" y="2364439"/>
            <a:ext cx="227473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For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example,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y</a:t>
            </a:r>
            <a:r>
              <a:rPr sz="597" b="0">
                <a:solidFill>
                  <a:srgbClr val="000000"/>
                </a:solidFill>
                <a:latin typeface="Cambria Math"/>
              </a:rPr>
              <a:t>(4)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4216236" y="2392978"/>
            <a:ext cx="156915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N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=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4787761" y="2372199"/>
            <a:ext cx="99763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µ</a:t>
            </a:r>
            <a:r>
              <a:rPr sz="498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4521798" y="2392978"/>
            <a:ext cx="126359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µ</a:t>
            </a:r>
            <a:r>
              <a:rPr sz="498" b="0">
                <a:solidFill>
                  <a:srgbClr val="000000"/>
                </a:solidFill>
                <a:latin typeface="Cambria Math"/>
              </a:rPr>
              <a:t>1</a:t>
            </a:r>
            <a:r>
              <a:rPr sz="597" b="0">
                <a:solidFill>
                  <a:srgbClr val="000000"/>
                </a:solidFill>
                <a:latin typeface="Cambria Math"/>
              </a:rPr>
              <a:t>+</a:t>
            </a:r>
            <a:r>
              <a:rPr sz="597" b="0">
                <a:solidFill>
                  <a:srgbClr val="000000"/>
                </a:solidFill>
                <a:latin typeface="Cambria Math"/>
              </a:rPr>
              <a:t>µ</a:t>
            </a:r>
            <a:r>
              <a:rPr sz="498" b="0">
                <a:solidFill>
                  <a:srgbClr val="000000"/>
                </a:solidFill>
                <a:latin typeface="Cambria Math"/>
              </a:rPr>
              <a:t>2</a:t>
            </a:r>
            <a:r>
              <a:rPr sz="597" b="0">
                <a:solidFill>
                  <a:srgbClr val="000000"/>
                </a:solidFill>
                <a:latin typeface="Cambria Math"/>
              </a:rPr>
              <a:t>+</a:t>
            </a:r>
            <a:r>
              <a:rPr sz="597" b="0">
                <a:solidFill>
                  <a:srgbClr val="000000"/>
                </a:solidFill>
                <a:latin typeface="Cambria Math"/>
              </a:rPr>
              <a:t>µ</a:t>
            </a:r>
            <a:r>
              <a:rPr sz="498" b="0">
                <a:solidFill>
                  <a:srgbClr val="000000"/>
                </a:solidFill>
                <a:latin typeface="Cambria Math"/>
              </a:rPr>
              <a:t>3</a:t>
            </a:r>
            <a:r>
              <a:rPr sz="597" b="0">
                <a:solidFill>
                  <a:srgbClr val="000000"/>
                </a:solidFill>
                <a:latin typeface="Cambria Math"/>
              </a:rPr>
              <a:t>+</a:t>
            </a:r>
            <a:r>
              <a:rPr sz="597" b="0">
                <a:solidFill>
                  <a:srgbClr val="000000"/>
                </a:solidFill>
                <a:latin typeface="Cambria Math"/>
              </a:rPr>
              <a:t>µ</a:t>
            </a:r>
            <a:r>
              <a:rPr sz="498" b="0">
                <a:solidFill>
                  <a:srgbClr val="000000"/>
                </a:solidFill>
                <a:latin typeface="Cambria Math"/>
              </a:rPr>
              <a:t>4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=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¯</a:t>
            </a:r>
            <a:r>
              <a:rPr sz="896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4901667" y="3150918"/>
            <a:ext cx="88372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5616309" y="3150694"/>
            <a:ext cx="16908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493919" y="1628153"/>
            <a:ext cx="37870" cy="37870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93919" y="1987322"/>
            <a:ext cx="37870" cy="37869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08906" y="1494179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8906" y="1673763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08906" y="1853348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8906" y="2032932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931310" y="1494179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931310" y="1673763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31310" y="1853348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931310" y="2032932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69538" y="1647088"/>
            <a:ext cx="110495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469900" y="1638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74386" y="2006257"/>
            <a:ext cx="10564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469900" y="1993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533051" y="1561219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787400" y="1549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533051" y="1647088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787400" y="17272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533051" y="1920388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787400" y="19177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533051" y="2006257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787400" y="20828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936402" y="1557296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1143000" y="15494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936402" y="1557296"/>
            <a:ext cx="225448" cy="52714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11557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936402" y="1736880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1143000" y="1727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936402" y="173688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1143000" y="1892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 flipV="1">
            <a:off x="936402" y="156792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1143000" y="15621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1"/>
                </a:lnTo>
                <a:lnTo>
                  <a:pt x="1" y="0"/>
                </a:lnTo>
                <a:lnTo>
                  <a:pt x="2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936402" y="1916465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11430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 flipV="1">
            <a:off x="936402" y="1747504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1143000" y="1739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936402" y="2096049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1143000" y="2082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>
            <a:off x="1295571" y="1557296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1511300" y="15494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1295571" y="1557296"/>
            <a:ext cx="220455" cy="17182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reeform 76"/>
          <p:cNvSpPr/>
          <p:nvPr/>
        </p:nvSpPr>
        <p:spPr>
          <a:xfrm>
            <a:off x="1498600" y="1714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>
            <a:off x="1295571" y="1557296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1511300" y="18923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>
            <a:off x="1295571" y="1557296"/>
            <a:ext cx="225448" cy="52714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15113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>
            <a:off x="1654741" y="1557296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1905000" y="15494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>
            <a:off x="2058806" y="1557296"/>
            <a:ext cx="237950" cy="2174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2286000" y="1765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 flipV="1">
            <a:off x="1295571" y="1565055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1498600" y="15621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1295571" y="1736880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1511300" y="17272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>
            <a:off x="1295571" y="173688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1498600" y="1892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1295571" y="173688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15113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1654741" y="1736880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1905000" y="1727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>
            <a:off x="2058806" y="1736880"/>
            <a:ext cx="221132" cy="6735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Freeform 96"/>
          <p:cNvSpPr/>
          <p:nvPr/>
        </p:nvSpPr>
        <p:spPr>
          <a:xfrm>
            <a:off x="2273300" y="17907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 flipV="1">
            <a:off x="1295571" y="156792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reeform 98"/>
          <p:cNvSpPr/>
          <p:nvPr/>
        </p:nvSpPr>
        <p:spPr>
          <a:xfrm>
            <a:off x="1511300" y="1562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1295571" y="174464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1498600" y="17399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1295571" y="1916465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Freeform 102"/>
          <p:cNvSpPr/>
          <p:nvPr/>
        </p:nvSpPr>
        <p:spPr>
          <a:xfrm>
            <a:off x="1511300" y="19050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4" name="Connector 103"/>
          <p:cNvCxnSpPr/>
          <p:nvPr/>
        </p:nvCxnSpPr>
        <p:spPr>
          <a:xfrm>
            <a:off x="1295571" y="1916465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Freeform 104"/>
          <p:cNvSpPr/>
          <p:nvPr/>
        </p:nvSpPr>
        <p:spPr>
          <a:xfrm>
            <a:off x="1498600" y="2070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6" name="Connector 105"/>
          <p:cNvCxnSpPr/>
          <p:nvPr/>
        </p:nvCxnSpPr>
        <p:spPr>
          <a:xfrm>
            <a:off x="1654741" y="1916465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Freeform 106"/>
          <p:cNvSpPr/>
          <p:nvPr/>
        </p:nvSpPr>
        <p:spPr>
          <a:xfrm>
            <a:off x="19050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8" name="Connector 107"/>
          <p:cNvCxnSpPr/>
          <p:nvPr/>
        </p:nvCxnSpPr>
        <p:spPr>
          <a:xfrm flipV="1">
            <a:off x="2058806" y="1849108"/>
            <a:ext cx="221132" cy="6735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Freeform 108"/>
          <p:cNvSpPr/>
          <p:nvPr/>
        </p:nvSpPr>
        <p:spPr>
          <a:xfrm>
            <a:off x="2273300" y="18415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0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0" name="Connector 109"/>
          <p:cNvCxnSpPr/>
          <p:nvPr/>
        </p:nvCxnSpPr>
        <p:spPr>
          <a:xfrm flipV="1">
            <a:off x="1295571" y="1568901"/>
            <a:ext cx="225448" cy="52714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Freeform 110"/>
          <p:cNvSpPr/>
          <p:nvPr/>
        </p:nvSpPr>
        <p:spPr>
          <a:xfrm>
            <a:off x="1511300" y="1562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2" name="Connector 111"/>
          <p:cNvCxnSpPr/>
          <p:nvPr/>
        </p:nvCxnSpPr>
        <p:spPr>
          <a:xfrm flipV="1">
            <a:off x="1295571" y="1747504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Freeform 112"/>
          <p:cNvSpPr/>
          <p:nvPr/>
        </p:nvSpPr>
        <p:spPr>
          <a:xfrm>
            <a:off x="1511300" y="17399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4" name="Connector 113"/>
          <p:cNvCxnSpPr/>
          <p:nvPr/>
        </p:nvCxnSpPr>
        <p:spPr>
          <a:xfrm flipV="1">
            <a:off x="1295571" y="1924224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Freeform 114"/>
          <p:cNvSpPr/>
          <p:nvPr/>
        </p:nvSpPr>
        <p:spPr>
          <a:xfrm>
            <a:off x="1498600" y="1917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6" name="Connector 115"/>
          <p:cNvCxnSpPr/>
          <p:nvPr/>
        </p:nvCxnSpPr>
        <p:spPr>
          <a:xfrm>
            <a:off x="1295571" y="2096049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Freeform 116"/>
          <p:cNvSpPr/>
          <p:nvPr/>
        </p:nvSpPr>
        <p:spPr>
          <a:xfrm>
            <a:off x="1511300" y="20828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8" name="Connector 117"/>
          <p:cNvCxnSpPr/>
          <p:nvPr/>
        </p:nvCxnSpPr>
        <p:spPr>
          <a:xfrm>
            <a:off x="1654741" y="2096049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Freeform 118"/>
          <p:cNvSpPr/>
          <p:nvPr/>
        </p:nvSpPr>
        <p:spPr>
          <a:xfrm>
            <a:off x="1905000" y="2082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0" name="Connector 119"/>
          <p:cNvCxnSpPr/>
          <p:nvPr/>
        </p:nvCxnSpPr>
        <p:spPr>
          <a:xfrm flipV="1">
            <a:off x="2058806" y="1878613"/>
            <a:ext cx="237950" cy="2174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Freeform 120"/>
          <p:cNvSpPr/>
          <p:nvPr/>
        </p:nvSpPr>
        <p:spPr>
          <a:xfrm>
            <a:off x="2286000" y="1866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2" name="Connector 121"/>
          <p:cNvCxnSpPr/>
          <p:nvPr/>
        </p:nvCxnSpPr>
        <p:spPr>
          <a:xfrm>
            <a:off x="2417975" y="1826672"/>
            <a:ext cx="7302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Freeform 122"/>
          <p:cNvSpPr/>
          <p:nvPr/>
        </p:nvSpPr>
        <p:spPr>
          <a:xfrm>
            <a:off x="2489200" y="1816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4" name="Connector 123"/>
          <p:cNvCxnSpPr/>
          <p:nvPr/>
        </p:nvCxnSpPr>
        <p:spPr>
          <a:xfrm flipV="1">
            <a:off x="1769946" y="1448142"/>
            <a:ext cx="0" cy="82749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1859739" y="1448142"/>
            <a:ext cx="0" cy="82749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Freeform 125"/>
          <p:cNvSpPr/>
          <p:nvPr/>
        </p:nvSpPr>
        <p:spPr>
          <a:xfrm>
            <a:off x="1765300" y="15113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7" name="Connector 126"/>
          <p:cNvCxnSpPr/>
          <p:nvPr/>
        </p:nvCxnSpPr>
        <p:spPr>
          <a:xfrm>
            <a:off x="1769946" y="1521379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Freeform 127"/>
          <p:cNvSpPr/>
          <p:nvPr/>
        </p:nvSpPr>
        <p:spPr>
          <a:xfrm>
            <a:off x="1905000" y="1511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Freeform 128"/>
          <p:cNvSpPr/>
          <p:nvPr/>
        </p:nvSpPr>
        <p:spPr>
          <a:xfrm>
            <a:off x="1854200" y="15875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0" name="Connector 129"/>
          <p:cNvCxnSpPr/>
          <p:nvPr/>
        </p:nvCxnSpPr>
        <p:spPr>
          <a:xfrm>
            <a:off x="1859739" y="1593212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Freeform 130"/>
          <p:cNvSpPr/>
          <p:nvPr/>
        </p:nvSpPr>
        <p:spPr>
          <a:xfrm>
            <a:off x="1905000" y="15875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Freeform 131"/>
          <p:cNvSpPr/>
          <p:nvPr/>
        </p:nvSpPr>
        <p:spPr>
          <a:xfrm>
            <a:off x="1765300" y="1701800"/>
            <a:ext cx="12700" cy="0"/>
          </a:xfrm>
          <a:custGeom>
            <a:avLst/>
            <a:gdLst/>
            <a:ahLst/>
            <a:cxnLst/>
            <a:rect l="l" t="t" r="r" b="b"/>
            <a:pathLst>
              <a:path w="1" h="0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3" name="Connector 132"/>
          <p:cNvCxnSpPr/>
          <p:nvPr/>
        </p:nvCxnSpPr>
        <p:spPr>
          <a:xfrm>
            <a:off x="1769946" y="1700964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Freeform 133"/>
          <p:cNvSpPr/>
          <p:nvPr/>
        </p:nvSpPr>
        <p:spPr>
          <a:xfrm>
            <a:off x="1905000" y="1689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Freeform 134"/>
          <p:cNvSpPr/>
          <p:nvPr/>
        </p:nvSpPr>
        <p:spPr>
          <a:xfrm>
            <a:off x="1854200" y="17653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6" name="Connector 135"/>
          <p:cNvCxnSpPr/>
          <p:nvPr/>
        </p:nvCxnSpPr>
        <p:spPr>
          <a:xfrm>
            <a:off x="1859739" y="1772796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Freeform 136"/>
          <p:cNvSpPr/>
          <p:nvPr/>
        </p:nvSpPr>
        <p:spPr>
          <a:xfrm>
            <a:off x="1905000" y="1765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Freeform 137"/>
          <p:cNvSpPr/>
          <p:nvPr/>
        </p:nvSpPr>
        <p:spPr>
          <a:xfrm>
            <a:off x="1765300" y="1879600"/>
            <a:ext cx="12700" cy="0"/>
          </a:xfrm>
          <a:custGeom>
            <a:avLst/>
            <a:gdLst/>
            <a:ahLst/>
            <a:cxnLst/>
            <a:rect l="l" t="t" r="r" b="b"/>
            <a:pathLst>
              <a:path w="1" h="0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9" name="Connector 138"/>
          <p:cNvCxnSpPr/>
          <p:nvPr/>
        </p:nvCxnSpPr>
        <p:spPr>
          <a:xfrm>
            <a:off x="1769946" y="1880548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Freeform 139"/>
          <p:cNvSpPr/>
          <p:nvPr/>
        </p:nvSpPr>
        <p:spPr>
          <a:xfrm>
            <a:off x="1905000" y="1866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Freeform 140"/>
          <p:cNvSpPr/>
          <p:nvPr/>
        </p:nvSpPr>
        <p:spPr>
          <a:xfrm>
            <a:off x="1854200" y="1943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2" name="Connector 141"/>
          <p:cNvCxnSpPr/>
          <p:nvPr/>
        </p:nvCxnSpPr>
        <p:spPr>
          <a:xfrm>
            <a:off x="1859739" y="1952381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Freeform 142"/>
          <p:cNvSpPr/>
          <p:nvPr/>
        </p:nvSpPr>
        <p:spPr>
          <a:xfrm>
            <a:off x="1905000" y="1943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Freeform 143"/>
          <p:cNvSpPr/>
          <p:nvPr/>
        </p:nvSpPr>
        <p:spPr>
          <a:xfrm>
            <a:off x="1765300" y="20574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5" name="Connector 144"/>
          <p:cNvCxnSpPr/>
          <p:nvPr/>
        </p:nvCxnSpPr>
        <p:spPr>
          <a:xfrm>
            <a:off x="1769946" y="2060133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Freeform 145"/>
          <p:cNvSpPr/>
          <p:nvPr/>
        </p:nvSpPr>
        <p:spPr>
          <a:xfrm>
            <a:off x="1905000" y="2044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reeform 146"/>
          <p:cNvSpPr/>
          <p:nvPr/>
        </p:nvSpPr>
        <p:spPr>
          <a:xfrm>
            <a:off x="1854200" y="21209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8" name="Connector 147"/>
          <p:cNvCxnSpPr/>
          <p:nvPr/>
        </p:nvCxnSpPr>
        <p:spPr>
          <a:xfrm>
            <a:off x="1859739" y="2131966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Freeform 148"/>
          <p:cNvSpPr/>
          <p:nvPr/>
        </p:nvSpPr>
        <p:spPr>
          <a:xfrm>
            <a:off x="1905000" y="2120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13" y="3146744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2880017" y="3146744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2" name="Picture 15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53" name="Picture 15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54" name="TextBox 15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Structure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ANFIS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315093" y="1623201"/>
            <a:ext cx="54703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310247" y="1982366"/>
            <a:ext cx="547514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46242" y="1535876"/>
            <a:ext cx="493915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841396" y="1715455"/>
            <a:ext cx="494399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849169" y="1894344"/>
            <a:ext cx="493622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44323" y="2073923"/>
            <a:ext cx="494107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203146" y="1534254"/>
            <a:ext cx="458224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98293" y="1713833"/>
            <a:ext cx="45871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97970" y="1893178"/>
            <a:ext cx="458742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98021" y="2072999"/>
            <a:ext cx="458737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561640" y="1534773"/>
            <a:ext cx="422375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N1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556793" y="1714359"/>
            <a:ext cx="42286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556464" y="1893939"/>
            <a:ext cx="422893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556514" y="2073524"/>
            <a:ext cx="422888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751755" y="2286256"/>
            <a:ext cx="403364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836698" y="2286256"/>
            <a:ext cx="394869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986457" y="1533411"/>
            <a:ext cx="379893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981604" y="1712991"/>
            <a:ext cx="380379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981281" y="1892336"/>
            <a:ext cx="380411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981332" y="2072156"/>
            <a:ext cx="380406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2334206" y="1809143"/>
            <a:ext cx="345118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2521692" y="1791212"/>
            <a:ext cx="326370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430325" y="1302792"/>
            <a:ext cx="5355070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399194" y="1362600"/>
            <a:ext cx="538620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397" b="0">
                <a:solidFill>
                  <a:srgbClr val="000000"/>
                </a:solidFill>
                <a:latin typeface="Josefin Sans"/>
              </a:rPr>
              <a:t> </a:t>
            </a: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83909" y="1302792"/>
            <a:ext cx="500148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746671" y="1362600"/>
            <a:ext cx="503872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fuzzification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819957" y="1422563"/>
            <a:ext cx="496543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143803" y="1302792"/>
            <a:ext cx="464159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31912" y="1362600"/>
            <a:ext cx="465348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397" b="0">
                <a:solidFill>
                  <a:srgbClr val="000000"/>
                </a:solidFill>
                <a:latin typeface="Josefin Sans"/>
              </a:rPr>
              <a:t> </a:t>
            </a: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502588" y="1302792"/>
            <a:ext cx="428280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1447022" y="1362600"/>
            <a:ext cx="433837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normalisation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538288" y="1422563"/>
            <a:ext cx="424710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907083" y="1302792"/>
            <a:ext cx="387831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42577" y="1362600"/>
            <a:ext cx="394281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942351" y="1422563"/>
            <a:ext cx="384304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2265589" y="1302792"/>
            <a:ext cx="351980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2237663" y="1362600"/>
            <a:ext cx="354773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summation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3198609" y="811322"/>
            <a:ext cx="258678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5: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defuzzification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3317862" y="961995"/>
            <a:ext cx="246753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receives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inputs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from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3475697" y="1139955"/>
            <a:ext cx="230969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corresponding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3475697" y="1279134"/>
            <a:ext cx="230969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normalisation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layer,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also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receives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3475697" y="1418313"/>
            <a:ext cx="230969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initial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inputs,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x1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x2.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neurons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3475697" y="1557492"/>
            <a:ext cx="230969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layer.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3317862" y="1708487"/>
            <a:ext cx="246753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calculates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weighted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3475697" y="1886460"/>
            <a:ext cx="230969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consequent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value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given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as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3681640" y="2100228"/>
            <a:ext cx="210375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y</a:t>
            </a:r>
            <a:r>
              <a:rPr sz="597" b="0">
                <a:solidFill>
                  <a:srgbClr val="000000"/>
                </a:solidFill>
                <a:latin typeface="Cambria Math"/>
              </a:rPr>
              <a:t>(5)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3739285" y="2188734"/>
            <a:ext cx="204611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3901706" y="2100228"/>
            <a:ext cx="188369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=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(5)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4091570" y="2188734"/>
            <a:ext cx="16938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4217402" y="2128767"/>
            <a:ext cx="156799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[</a:t>
            </a:r>
            <a:r>
              <a:rPr sz="896" b="0">
                <a:solidFill>
                  <a:srgbClr val="000000"/>
                </a:solidFill>
                <a:latin typeface="Cambria Math"/>
              </a:rPr>
              <a:t>k</a:t>
            </a: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  <a:r>
              <a:rPr sz="597" b="0">
                <a:solidFill>
                  <a:srgbClr val="000000"/>
                </a:solidFill>
                <a:latin typeface="Cambria Math"/>
              </a:rPr>
              <a:t>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+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k</a:t>
            </a: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  <a:r>
              <a:rPr sz="896" b="0">
                <a:solidFill>
                  <a:srgbClr val="000000"/>
                </a:solidFill>
                <a:latin typeface="Cambria Math"/>
              </a:rPr>
              <a:t>x</a:t>
            </a:r>
            <a:r>
              <a:rPr sz="896" b="0">
                <a:solidFill>
                  <a:srgbClr val="000000"/>
                </a:solidFill>
                <a:latin typeface="Cambria Math"/>
              </a:rPr>
              <a:t>1 +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k</a:t>
            </a: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x</a:t>
            </a:r>
            <a:r>
              <a:rPr sz="896" b="0">
                <a:solidFill>
                  <a:srgbClr val="000000"/>
                </a:solidFill>
                <a:latin typeface="Cambria Math"/>
              </a:rPr>
              <a:t>2]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3901705" y="2305894"/>
            <a:ext cx="188369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=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¯</a:t>
            </a:r>
            <a:r>
              <a:rPr sz="896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  <a:r>
              <a:rPr sz="896" b="0">
                <a:solidFill>
                  <a:srgbClr val="000000"/>
                </a:solidFill>
                <a:latin typeface="Cambria Math"/>
              </a:rPr>
              <a:t>[</a:t>
            </a:r>
            <a:r>
              <a:rPr sz="896" b="0">
                <a:solidFill>
                  <a:srgbClr val="000000"/>
                </a:solidFill>
                <a:latin typeface="Cambria Math"/>
              </a:rPr>
              <a:t>k</a:t>
            </a: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  <a:r>
              <a:rPr sz="597" b="0">
                <a:solidFill>
                  <a:srgbClr val="000000"/>
                </a:solidFill>
                <a:latin typeface="Cambria Math"/>
              </a:rPr>
              <a:t>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+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k</a:t>
            </a: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  <a:r>
              <a:rPr sz="896" b="0">
                <a:solidFill>
                  <a:srgbClr val="000000"/>
                </a:solidFill>
                <a:latin typeface="Cambria Math"/>
              </a:rPr>
              <a:t>x</a:t>
            </a:r>
            <a:r>
              <a:rPr sz="896" b="0">
                <a:solidFill>
                  <a:srgbClr val="000000"/>
                </a:solidFill>
                <a:latin typeface="Cambria Math"/>
              </a:rPr>
              <a:t>1 +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k</a:t>
            </a: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x</a:t>
            </a:r>
            <a:r>
              <a:rPr sz="896" b="0">
                <a:solidFill>
                  <a:srgbClr val="000000"/>
                </a:solidFill>
                <a:latin typeface="Cambria Math"/>
              </a:rPr>
              <a:t>2]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4901667" y="3150920"/>
            <a:ext cx="88372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5639384" y="3150696"/>
            <a:ext cx="1460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493919" y="1628153"/>
            <a:ext cx="37870" cy="37870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93919" y="1987322"/>
            <a:ext cx="37870" cy="37869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08906" y="1494179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8906" y="1673763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08906" y="1853348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8906" y="2032932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931310" y="1494179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931310" y="1673763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31310" y="1853348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931310" y="2032932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69538" y="1647088"/>
            <a:ext cx="110495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469900" y="1638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74386" y="2006257"/>
            <a:ext cx="10564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469900" y="1993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533051" y="1561219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787400" y="1549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533051" y="1647088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787400" y="17272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533051" y="1920388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787400" y="19177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533051" y="2006257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787400" y="20828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936402" y="1557296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1143000" y="15494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936402" y="1557296"/>
            <a:ext cx="225448" cy="52714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11557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936402" y="1736880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1143000" y="1727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936402" y="173688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1143000" y="1892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 flipV="1">
            <a:off x="936402" y="156792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1143000" y="15621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1"/>
                </a:lnTo>
                <a:lnTo>
                  <a:pt x="1" y="0"/>
                </a:lnTo>
                <a:lnTo>
                  <a:pt x="2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936402" y="1916465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11430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 flipV="1">
            <a:off x="936402" y="1747504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1143000" y="1739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936402" y="2096049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1143000" y="2082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>
            <a:off x="1295571" y="1557296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1511300" y="15494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1295571" y="1557296"/>
            <a:ext cx="220455" cy="17182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reeform 76"/>
          <p:cNvSpPr/>
          <p:nvPr/>
        </p:nvSpPr>
        <p:spPr>
          <a:xfrm>
            <a:off x="1498600" y="1714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>
            <a:off x="1295571" y="1557296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1511300" y="18923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>
            <a:off x="1295571" y="1557296"/>
            <a:ext cx="225448" cy="52714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15113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>
            <a:off x="1654741" y="1557296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1905000" y="15494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>
            <a:off x="2058806" y="1557296"/>
            <a:ext cx="237950" cy="2174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2286000" y="1765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 flipV="1">
            <a:off x="1295571" y="1565055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1498600" y="15621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1295571" y="1736880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1511300" y="17272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>
            <a:off x="1295571" y="173688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1498600" y="1892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1295571" y="173688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15113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1654741" y="1736880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1905000" y="1727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>
            <a:off x="2058806" y="1736880"/>
            <a:ext cx="221132" cy="6735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Freeform 96"/>
          <p:cNvSpPr/>
          <p:nvPr/>
        </p:nvSpPr>
        <p:spPr>
          <a:xfrm>
            <a:off x="2273300" y="17907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 flipV="1">
            <a:off x="1295571" y="156792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reeform 98"/>
          <p:cNvSpPr/>
          <p:nvPr/>
        </p:nvSpPr>
        <p:spPr>
          <a:xfrm>
            <a:off x="1511300" y="1562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1295571" y="174464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1498600" y="17399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1295571" y="1916465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Freeform 102"/>
          <p:cNvSpPr/>
          <p:nvPr/>
        </p:nvSpPr>
        <p:spPr>
          <a:xfrm>
            <a:off x="1511300" y="19050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4" name="Connector 103"/>
          <p:cNvCxnSpPr/>
          <p:nvPr/>
        </p:nvCxnSpPr>
        <p:spPr>
          <a:xfrm>
            <a:off x="1295571" y="1916465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Freeform 104"/>
          <p:cNvSpPr/>
          <p:nvPr/>
        </p:nvSpPr>
        <p:spPr>
          <a:xfrm>
            <a:off x="1498600" y="2070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6" name="Connector 105"/>
          <p:cNvCxnSpPr/>
          <p:nvPr/>
        </p:nvCxnSpPr>
        <p:spPr>
          <a:xfrm>
            <a:off x="1654741" y="1916465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Freeform 106"/>
          <p:cNvSpPr/>
          <p:nvPr/>
        </p:nvSpPr>
        <p:spPr>
          <a:xfrm>
            <a:off x="19050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8" name="Connector 107"/>
          <p:cNvCxnSpPr/>
          <p:nvPr/>
        </p:nvCxnSpPr>
        <p:spPr>
          <a:xfrm flipV="1">
            <a:off x="2058806" y="1849108"/>
            <a:ext cx="221132" cy="6735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Freeform 108"/>
          <p:cNvSpPr/>
          <p:nvPr/>
        </p:nvSpPr>
        <p:spPr>
          <a:xfrm>
            <a:off x="2273300" y="18415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0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0" name="Connector 109"/>
          <p:cNvCxnSpPr/>
          <p:nvPr/>
        </p:nvCxnSpPr>
        <p:spPr>
          <a:xfrm flipV="1">
            <a:off x="1295571" y="1568901"/>
            <a:ext cx="225448" cy="52714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Freeform 110"/>
          <p:cNvSpPr/>
          <p:nvPr/>
        </p:nvSpPr>
        <p:spPr>
          <a:xfrm>
            <a:off x="1511300" y="1562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2" name="Connector 111"/>
          <p:cNvCxnSpPr/>
          <p:nvPr/>
        </p:nvCxnSpPr>
        <p:spPr>
          <a:xfrm flipV="1">
            <a:off x="1295571" y="1747504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Freeform 112"/>
          <p:cNvSpPr/>
          <p:nvPr/>
        </p:nvSpPr>
        <p:spPr>
          <a:xfrm>
            <a:off x="1511300" y="17399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4" name="Connector 113"/>
          <p:cNvCxnSpPr/>
          <p:nvPr/>
        </p:nvCxnSpPr>
        <p:spPr>
          <a:xfrm flipV="1">
            <a:off x="1295571" y="1924224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Freeform 114"/>
          <p:cNvSpPr/>
          <p:nvPr/>
        </p:nvSpPr>
        <p:spPr>
          <a:xfrm>
            <a:off x="1498600" y="1917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6" name="Connector 115"/>
          <p:cNvCxnSpPr/>
          <p:nvPr/>
        </p:nvCxnSpPr>
        <p:spPr>
          <a:xfrm>
            <a:off x="1295571" y="2096049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Freeform 116"/>
          <p:cNvSpPr/>
          <p:nvPr/>
        </p:nvSpPr>
        <p:spPr>
          <a:xfrm>
            <a:off x="1511300" y="20828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8" name="Connector 117"/>
          <p:cNvCxnSpPr/>
          <p:nvPr/>
        </p:nvCxnSpPr>
        <p:spPr>
          <a:xfrm>
            <a:off x="1654741" y="2096049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Freeform 118"/>
          <p:cNvSpPr/>
          <p:nvPr/>
        </p:nvSpPr>
        <p:spPr>
          <a:xfrm>
            <a:off x="1905000" y="2082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0" name="Connector 119"/>
          <p:cNvCxnSpPr/>
          <p:nvPr/>
        </p:nvCxnSpPr>
        <p:spPr>
          <a:xfrm flipV="1">
            <a:off x="2058806" y="1878613"/>
            <a:ext cx="237950" cy="2174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Freeform 120"/>
          <p:cNvSpPr/>
          <p:nvPr/>
        </p:nvSpPr>
        <p:spPr>
          <a:xfrm>
            <a:off x="2286000" y="1866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2" name="Connector 121"/>
          <p:cNvCxnSpPr/>
          <p:nvPr/>
        </p:nvCxnSpPr>
        <p:spPr>
          <a:xfrm>
            <a:off x="2417975" y="1826672"/>
            <a:ext cx="7302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Freeform 122"/>
          <p:cNvSpPr/>
          <p:nvPr/>
        </p:nvSpPr>
        <p:spPr>
          <a:xfrm>
            <a:off x="2489200" y="1816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4" name="Connector 123"/>
          <p:cNvCxnSpPr/>
          <p:nvPr/>
        </p:nvCxnSpPr>
        <p:spPr>
          <a:xfrm flipV="1">
            <a:off x="1769946" y="1448142"/>
            <a:ext cx="0" cy="82749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1859739" y="1448142"/>
            <a:ext cx="0" cy="82749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Freeform 125"/>
          <p:cNvSpPr/>
          <p:nvPr/>
        </p:nvSpPr>
        <p:spPr>
          <a:xfrm>
            <a:off x="1765300" y="15113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7" name="Connector 126"/>
          <p:cNvCxnSpPr/>
          <p:nvPr/>
        </p:nvCxnSpPr>
        <p:spPr>
          <a:xfrm>
            <a:off x="1769946" y="1521379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Freeform 127"/>
          <p:cNvSpPr/>
          <p:nvPr/>
        </p:nvSpPr>
        <p:spPr>
          <a:xfrm>
            <a:off x="1905000" y="1511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Freeform 128"/>
          <p:cNvSpPr/>
          <p:nvPr/>
        </p:nvSpPr>
        <p:spPr>
          <a:xfrm>
            <a:off x="1854200" y="15875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0" name="Connector 129"/>
          <p:cNvCxnSpPr/>
          <p:nvPr/>
        </p:nvCxnSpPr>
        <p:spPr>
          <a:xfrm>
            <a:off x="1859739" y="1593212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Freeform 130"/>
          <p:cNvSpPr/>
          <p:nvPr/>
        </p:nvSpPr>
        <p:spPr>
          <a:xfrm>
            <a:off x="1905000" y="15875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Freeform 131"/>
          <p:cNvSpPr/>
          <p:nvPr/>
        </p:nvSpPr>
        <p:spPr>
          <a:xfrm>
            <a:off x="1765300" y="1701800"/>
            <a:ext cx="12700" cy="0"/>
          </a:xfrm>
          <a:custGeom>
            <a:avLst/>
            <a:gdLst/>
            <a:ahLst/>
            <a:cxnLst/>
            <a:rect l="l" t="t" r="r" b="b"/>
            <a:pathLst>
              <a:path w="1" h="0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3" name="Connector 132"/>
          <p:cNvCxnSpPr/>
          <p:nvPr/>
        </p:nvCxnSpPr>
        <p:spPr>
          <a:xfrm>
            <a:off x="1769946" y="1700964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Freeform 133"/>
          <p:cNvSpPr/>
          <p:nvPr/>
        </p:nvSpPr>
        <p:spPr>
          <a:xfrm>
            <a:off x="1905000" y="1689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Freeform 134"/>
          <p:cNvSpPr/>
          <p:nvPr/>
        </p:nvSpPr>
        <p:spPr>
          <a:xfrm>
            <a:off x="1854200" y="17653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6" name="Connector 135"/>
          <p:cNvCxnSpPr/>
          <p:nvPr/>
        </p:nvCxnSpPr>
        <p:spPr>
          <a:xfrm>
            <a:off x="1859739" y="1772796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Freeform 136"/>
          <p:cNvSpPr/>
          <p:nvPr/>
        </p:nvSpPr>
        <p:spPr>
          <a:xfrm>
            <a:off x="1905000" y="1765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Freeform 137"/>
          <p:cNvSpPr/>
          <p:nvPr/>
        </p:nvSpPr>
        <p:spPr>
          <a:xfrm>
            <a:off x="1765300" y="1879600"/>
            <a:ext cx="12700" cy="0"/>
          </a:xfrm>
          <a:custGeom>
            <a:avLst/>
            <a:gdLst/>
            <a:ahLst/>
            <a:cxnLst/>
            <a:rect l="l" t="t" r="r" b="b"/>
            <a:pathLst>
              <a:path w="1" h="0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9" name="Connector 138"/>
          <p:cNvCxnSpPr/>
          <p:nvPr/>
        </p:nvCxnSpPr>
        <p:spPr>
          <a:xfrm>
            <a:off x="1769946" y="1880548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Freeform 139"/>
          <p:cNvSpPr/>
          <p:nvPr/>
        </p:nvSpPr>
        <p:spPr>
          <a:xfrm>
            <a:off x="1905000" y="1866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Freeform 140"/>
          <p:cNvSpPr/>
          <p:nvPr/>
        </p:nvSpPr>
        <p:spPr>
          <a:xfrm>
            <a:off x="1854200" y="1943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2" name="Connector 141"/>
          <p:cNvCxnSpPr/>
          <p:nvPr/>
        </p:nvCxnSpPr>
        <p:spPr>
          <a:xfrm>
            <a:off x="1859739" y="1952381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Freeform 142"/>
          <p:cNvSpPr/>
          <p:nvPr/>
        </p:nvSpPr>
        <p:spPr>
          <a:xfrm>
            <a:off x="1905000" y="1943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Freeform 143"/>
          <p:cNvSpPr/>
          <p:nvPr/>
        </p:nvSpPr>
        <p:spPr>
          <a:xfrm>
            <a:off x="1765300" y="20574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5" name="Connector 144"/>
          <p:cNvCxnSpPr/>
          <p:nvPr/>
        </p:nvCxnSpPr>
        <p:spPr>
          <a:xfrm>
            <a:off x="1769946" y="2060133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Freeform 145"/>
          <p:cNvSpPr/>
          <p:nvPr/>
        </p:nvSpPr>
        <p:spPr>
          <a:xfrm>
            <a:off x="1905000" y="2044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reeform 146"/>
          <p:cNvSpPr/>
          <p:nvPr/>
        </p:nvSpPr>
        <p:spPr>
          <a:xfrm>
            <a:off x="1854200" y="21209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8" name="Connector 147"/>
          <p:cNvCxnSpPr/>
          <p:nvPr/>
        </p:nvCxnSpPr>
        <p:spPr>
          <a:xfrm>
            <a:off x="1859739" y="2131966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Freeform 148"/>
          <p:cNvSpPr/>
          <p:nvPr/>
        </p:nvSpPr>
        <p:spPr>
          <a:xfrm>
            <a:off x="1905000" y="2120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10" y="3146744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2880014" y="3146744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2" name="Picture 15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53" name="Picture 15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54" name="TextBox 15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Structure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ANFIS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315093" y="1623201"/>
            <a:ext cx="54703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310247" y="1982366"/>
            <a:ext cx="547514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46242" y="1535876"/>
            <a:ext cx="493915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841396" y="1715455"/>
            <a:ext cx="494399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849169" y="1894344"/>
            <a:ext cx="493622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44323" y="2073923"/>
            <a:ext cx="494107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203146" y="1534254"/>
            <a:ext cx="458224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98293" y="1713833"/>
            <a:ext cx="45871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97970" y="1893178"/>
            <a:ext cx="458742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98021" y="2072999"/>
            <a:ext cx="458737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561640" y="1534773"/>
            <a:ext cx="422375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N1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556793" y="1714359"/>
            <a:ext cx="42286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556464" y="1893939"/>
            <a:ext cx="422893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556514" y="2073524"/>
            <a:ext cx="422888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751755" y="2286256"/>
            <a:ext cx="403364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836698" y="2286256"/>
            <a:ext cx="394869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986457" y="1533411"/>
            <a:ext cx="379893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981604" y="1712991"/>
            <a:ext cx="380379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981281" y="1892336"/>
            <a:ext cx="380411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981332" y="2072156"/>
            <a:ext cx="380406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2334206" y="1809143"/>
            <a:ext cx="345118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2521692" y="1791212"/>
            <a:ext cx="326370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430325" y="1302792"/>
            <a:ext cx="5355070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399194" y="1362600"/>
            <a:ext cx="538620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397" b="0">
                <a:solidFill>
                  <a:srgbClr val="000000"/>
                </a:solidFill>
                <a:latin typeface="Josefin Sans"/>
              </a:rPr>
              <a:t> </a:t>
            </a: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83909" y="1302792"/>
            <a:ext cx="500148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746671" y="1362600"/>
            <a:ext cx="503872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fuzzification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819957" y="1422563"/>
            <a:ext cx="496543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143803" y="1302792"/>
            <a:ext cx="464159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31912" y="1362600"/>
            <a:ext cx="465348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397" b="0">
                <a:solidFill>
                  <a:srgbClr val="000000"/>
                </a:solidFill>
                <a:latin typeface="Josefin Sans"/>
              </a:rPr>
              <a:t> </a:t>
            </a: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502588" y="1302792"/>
            <a:ext cx="428280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1447022" y="1362600"/>
            <a:ext cx="433837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normalisation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538288" y="1422563"/>
            <a:ext cx="424710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907083" y="1302792"/>
            <a:ext cx="387831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42577" y="1362600"/>
            <a:ext cx="394281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942351" y="1422563"/>
            <a:ext cx="384304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2265589" y="1302792"/>
            <a:ext cx="351980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2237663" y="1362600"/>
            <a:ext cx="354773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summation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3198609" y="794241"/>
            <a:ext cx="258678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6: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summation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neuron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3317862" y="944914"/>
            <a:ext cx="246753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layer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represented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single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3475697" y="1122874"/>
            <a:ext cx="230969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summation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neuron.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3317862" y="1273882"/>
            <a:ext cx="246753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calculates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sum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outputs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all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3475697" y="1451842"/>
            <a:ext cx="230969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defuzzification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neurons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produces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3475697" y="1591021"/>
            <a:ext cx="230969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overall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ANFIS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output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3691025" y="1916055"/>
            <a:ext cx="209437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y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=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3964100" y="1803379"/>
            <a:ext cx="182129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n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3908792" y="1889423"/>
            <a:ext cx="187660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X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3917707" y="2077635"/>
            <a:ext cx="186768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  <a:r>
              <a:rPr sz="597" b="0">
                <a:solidFill>
                  <a:srgbClr val="000000"/>
                </a:solidFill>
                <a:latin typeface="Cambria Math"/>
              </a:rPr>
              <a:t>=1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4097348" y="1887529"/>
            <a:ext cx="168804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(6)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4163693" y="1976035"/>
            <a:ext cx="162170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3785258" y="2298910"/>
            <a:ext cx="200013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=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3964100" y="2186233"/>
            <a:ext cx="182129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n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3908791" y="2272277"/>
            <a:ext cx="187660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X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3917706" y="2460477"/>
            <a:ext cx="18676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  <a:r>
              <a:rPr sz="597" b="0">
                <a:solidFill>
                  <a:srgbClr val="000000"/>
                </a:solidFill>
                <a:latin typeface="Cambria Math"/>
              </a:rPr>
              <a:t>=1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4097348" y="2298910"/>
            <a:ext cx="168804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¯</a:t>
            </a:r>
            <a:r>
              <a:rPr sz="896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  <a:r>
              <a:rPr sz="896" b="0">
                <a:solidFill>
                  <a:srgbClr val="000000"/>
                </a:solidFill>
                <a:latin typeface="Cambria Math"/>
              </a:rPr>
              <a:t>[</a:t>
            </a:r>
            <a:r>
              <a:rPr sz="896" b="0">
                <a:solidFill>
                  <a:srgbClr val="000000"/>
                </a:solidFill>
                <a:latin typeface="Cambria Math"/>
              </a:rPr>
              <a:t>k</a:t>
            </a: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  <a:r>
              <a:rPr sz="597" b="0">
                <a:solidFill>
                  <a:srgbClr val="000000"/>
                </a:solidFill>
                <a:latin typeface="Cambria Math"/>
              </a:rPr>
              <a:t>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+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k</a:t>
            </a: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  <a:r>
              <a:rPr sz="896" b="0">
                <a:solidFill>
                  <a:srgbClr val="000000"/>
                </a:solidFill>
                <a:latin typeface="Cambria Math"/>
              </a:rPr>
              <a:t>x</a:t>
            </a:r>
            <a:r>
              <a:rPr sz="896" b="0">
                <a:solidFill>
                  <a:srgbClr val="000000"/>
                </a:solidFill>
                <a:latin typeface="Cambria Math"/>
              </a:rPr>
              <a:t>1 +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k</a:t>
            </a: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x</a:t>
            </a:r>
            <a:r>
              <a:rPr sz="896" b="0">
                <a:solidFill>
                  <a:srgbClr val="000000"/>
                </a:solidFill>
                <a:latin typeface="Cambria Math"/>
              </a:rPr>
              <a:t>2]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4901663" y="3150920"/>
            <a:ext cx="8837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5624802" y="3150696"/>
            <a:ext cx="16059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ANFIS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49089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parameters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ANFIS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modified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during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training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phase?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01653" y="3150917"/>
            <a:ext cx="8837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23813" y="3150693"/>
            <a:ext cx="1615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359993" y="43859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CCD6E3"/>
                </a:solidFill>
                <a:latin typeface="Josefin Sans"/>
              </a:rPr>
              <a:t>Introduction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88952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CCD6E3"/>
                </a:solidFill>
                <a:latin typeface="Josefin Sans"/>
              </a:rPr>
              <a:t>Neuro-Fuzzy</a:t>
            </a:r>
            <a:r>
              <a:rPr sz="1090" b="0">
                <a:solidFill>
                  <a:srgbClr val="CCD6E3"/>
                </a:solidFill>
                <a:latin typeface="Josefin Sans"/>
              </a:rPr>
              <a:t> </a:t>
            </a:r>
            <a:r>
              <a:rPr sz="1090" b="0">
                <a:solidFill>
                  <a:srgbClr val="CCD6E3"/>
                </a:solidFill>
                <a:latin typeface="Josefin Sans"/>
              </a:rPr>
              <a:t>Systems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37217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CCD6E3"/>
                </a:solidFill>
                <a:latin typeface="Josefin Sans"/>
              </a:rPr>
              <a:t>ANFIS:</a:t>
            </a:r>
            <a:r>
              <a:rPr sz="1090" b="0">
                <a:solidFill>
                  <a:srgbClr val="CCD6E3"/>
                </a:solidFill>
                <a:latin typeface="Josefin Sans"/>
              </a:rPr>
              <a:t> </a:t>
            </a:r>
            <a:r>
              <a:rPr sz="1090" b="0">
                <a:solidFill>
                  <a:srgbClr val="CCD6E3"/>
                </a:solidFill>
                <a:latin typeface="Josefin Sans"/>
              </a:rPr>
              <a:t>Adaptive</a:t>
            </a:r>
            <a:r>
              <a:rPr sz="1090" b="0">
                <a:solidFill>
                  <a:srgbClr val="CCD6E3"/>
                </a:solidFill>
                <a:latin typeface="Josefin Sans"/>
              </a:rPr>
              <a:t> </a:t>
            </a:r>
            <a:r>
              <a:rPr sz="1090" b="0">
                <a:solidFill>
                  <a:srgbClr val="CCD6E3"/>
                </a:solidFill>
                <a:latin typeface="Josefin Sans"/>
              </a:rPr>
              <a:t>Neuro-Fuzzy</a:t>
            </a:r>
            <a:r>
              <a:rPr sz="1090" b="0">
                <a:solidFill>
                  <a:srgbClr val="CCD6E3"/>
                </a:solidFill>
                <a:latin typeface="Josefin Sans"/>
              </a:rPr>
              <a:t> </a:t>
            </a:r>
            <a:r>
              <a:rPr sz="1090" b="0">
                <a:solidFill>
                  <a:srgbClr val="CCD6E3"/>
                </a:solidFill>
                <a:latin typeface="Josefin Sans"/>
              </a:rPr>
              <a:t>Inference</a:t>
            </a:r>
            <a:r>
              <a:rPr sz="1090" b="0">
                <a:solidFill>
                  <a:srgbClr val="CCD6E3"/>
                </a:solidFill>
                <a:latin typeface="Josefin Sans"/>
              </a:rPr>
              <a:t> </a:t>
            </a:r>
            <a:r>
              <a:rPr sz="1090" b="0">
                <a:solidFill>
                  <a:srgbClr val="CCD6E3"/>
                </a:solidFill>
                <a:latin typeface="Josefin Sans"/>
              </a:rPr>
              <a:t>System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185185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Evolutionary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Neural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Networks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233153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CCD6E3"/>
                </a:solidFill>
                <a:latin typeface="Josefin Sans"/>
              </a:rPr>
              <a:t>Fuzzy</a:t>
            </a:r>
            <a:r>
              <a:rPr sz="1090" b="0">
                <a:solidFill>
                  <a:srgbClr val="CCD6E3"/>
                </a:solidFill>
                <a:latin typeface="Josefin Sans"/>
              </a:rPr>
              <a:t> </a:t>
            </a:r>
            <a:r>
              <a:rPr sz="1090" b="0">
                <a:solidFill>
                  <a:srgbClr val="CCD6E3"/>
                </a:solidFill>
                <a:latin typeface="Josefin Sans"/>
              </a:rPr>
              <a:t>Evolutionary</a:t>
            </a:r>
            <a:r>
              <a:rPr sz="1090" b="0">
                <a:solidFill>
                  <a:srgbClr val="CCD6E3"/>
                </a:solidFill>
                <a:latin typeface="Josefin Sans"/>
              </a:rPr>
              <a:t> </a:t>
            </a:r>
            <a:r>
              <a:rPr sz="1090" b="0">
                <a:solidFill>
                  <a:srgbClr val="CCD6E3"/>
                </a:solidFill>
                <a:latin typeface="Josefin Sans"/>
              </a:rPr>
              <a:t>Systems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01653" y="3150917"/>
            <a:ext cx="8837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3965" y="3150693"/>
            <a:ext cx="1614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2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2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networks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92530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networks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commonly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trained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back-propagation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learning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algorithm.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1" y="1288561"/>
            <a:ext cx="542540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Issues: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5" y="1502496"/>
            <a:ext cx="53253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Back-propagation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learning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algorithm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cannot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guarantee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optimal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solution.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0055" y="1760611"/>
            <a:ext cx="53253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optimal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topology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network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difficult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identify,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often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chosen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7093" y="1976453"/>
            <a:ext cx="51483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by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means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heuristics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(trial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error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+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experience).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9991" y="2339306"/>
            <a:ext cx="542540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Result: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Sub-optimal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weights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topology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01651" y="3150930"/>
            <a:ext cx="88374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23278" y="3150706"/>
            <a:ext cx="16211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networks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94026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evolutionary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network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uses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genetic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algorithm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optimal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weights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11233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topology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network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6" y="1326692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Multiple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networks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different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weights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topology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generated.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0056" y="1584794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 parameters (weights and topology) of each neural network are encoded as 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7094" y="1800636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chromosome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GA.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0056" y="2014982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optimises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chromosomes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means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crossover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mutation.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0056" y="2273096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result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‘evolved’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network.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901653" y="3150918"/>
            <a:ext cx="8837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23127" y="3150694"/>
            <a:ext cx="16226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3617498" y="1170426"/>
            <a:ext cx="126527" cy="126527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617498" y="2250439"/>
            <a:ext cx="126527" cy="126527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3393464" y="1233689"/>
            <a:ext cx="19619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Freeform 38"/>
          <p:cNvSpPr/>
          <p:nvPr/>
        </p:nvSpPr>
        <p:spPr>
          <a:xfrm>
            <a:off x="3568700" y="1219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0" y="0"/>
                </a:lnTo>
                <a:lnTo>
                  <a:pt x="2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3746555" y="1233689"/>
            <a:ext cx="38622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eform 40"/>
          <p:cNvSpPr/>
          <p:nvPr/>
        </p:nvSpPr>
        <p:spPr>
          <a:xfrm>
            <a:off x="4114800" y="1219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4270913" y="1271299"/>
            <a:ext cx="599228" cy="44942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Freeform 42"/>
          <p:cNvSpPr/>
          <p:nvPr/>
        </p:nvSpPr>
        <p:spPr>
          <a:xfrm>
            <a:off x="4851400" y="16891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4"/>
                </a:moveTo>
                <a:lnTo>
                  <a:pt x="1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3746551" y="1299483"/>
            <a:ext cx="412227" cy="41222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Freeform 44"/>
          <p:cNvSpPr/>
          <p:nvPr/>
        </p:nvSpPr>
        <p:spPr>
          <a:xfrm>
            <a:off x="4127500" y="1689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3"/>
                </a:moveTo>
                <a:lnTo>
                  <a:pt x="3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4283130" y="1773696"/>
            <a:ext cx="56934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4838700" y="1752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713657" y="1299483"/>
            <a:ext cx="467627" cy="93525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4152900" y="2209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4"/>
                </a:moveTo>
                <a:lnTo>
                  <a:pt x="3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4271160" y="1826673"/>
            <a:ext cx="598981" cy="44923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4851400" y="1816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0"/>
                </a:moveTo>
                <a:lnTo>
                  <a:pt x="0" y="0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3403181" y="2313703"/>
            <a:ext cx="18648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3568700" y="2298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0" y="0"/>
                </a:lnTo>
                <a:lnTo>
                  <a:pt x="2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3713625" y="1312383"/>
            <a:ext cx="467796" cy="93552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4152900" y="1295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0"/>
                </a:moveTo>
                <a:lnTo>
                  <a:pt x="0" y="2"/>
                </a:lnTo>
                <a:lnTo>
                  <a:pt x="2" y="1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4270913" y="1271299"/>
            <a:ext cx="599228" cy="44942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4851400" y="16891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4"/>
                </a:moveTo>
                <a:lnTo>
                  <a:pt x="1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 flipV="1">
            <a:off x="3746551" y="1835686"/>
            <a:ext cx="412227" cy="41222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4127500" y="18161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0"/>
                </a:moveTo>
                <a:lnTo>
                  <a:pt x="0" y="1"/>
                </a:lnTo>
                <a:lnTo>
                  <a:pt x="2" y="2"/>
                </a:lnTo>
                <a:lnTo>
                  <a:pt x="3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4283130" y="1773696"/>
            <a:ext cx="56934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4838700" y="1752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3746555" y="2313703"/>
            <a:ext cx="38591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4114800" y="2298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 flipV="1">
            <a:off x="4271160" y="1826673"/>
            <a:ext cx="598981" cy="44923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4851400" y="1816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0"/>
                </a:moveTo>
                <a:lnTo>
                  <a:pt x="0" y="0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5003769" y="1773696"/>
            <a:ext cx="21246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5207000" y="1752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880005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1" name="Picture 7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networks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59993" y="72975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example,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61579" y="1170954"/>
            <a:ext cx="482381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220647" y="1170954"/>
            <a:ext cx="456474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489912" y="1170408"/>
            <a:ext cx="429548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760028" y="1170954"/>
            <a:ext cx="402536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029510" y="1170408"/>
            <a:ext cx="375588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299397" y="1170408"/>
            <a:ext cx="348599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91577" y="1350951"/>
            <a:ext cx="509381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80643" y="1530948"/>
            <a:ext cx="510475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79906" y="1710412"/>
            <a:ext cx="510548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80020" y="1890955"/>
            <a:ext cx="510537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79512" y="2070419"/>
            <a:ext cx="510588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79398" y="2250416"/>
            <a:ext cx="510599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4269" y="1350697"/>
            <a:ext cx="484112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214271" y="1350697"/>
            <a:ext cx="457112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484273" y="1350697"/>
            <a:ext cx="430112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754275" y="1350697"/>
            <a:ext cx="403112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024277" y="1350697"/>
            <a:ext cx="376111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294266" y="1350697"/>
            <a:ext cx="349112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4269" y="1530694"/>
            <a:ext cx="484112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214271" y="1530694"/>
            <a:ext cx="457112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484273" y="1530694"/>
            <a:ext cx="430112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754275" y="1530694"/>
            <a:ext cx="403112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024277" y="1530694"/>
            <a:ext cx="376111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294266" y="1530694"/>
            <a:ext cx="349112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16939" y="1710704"/>
            <a:ext cx="486845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160576" y="1710704"/>
            <a:ext cx="462482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-0.7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484273" y="1710704"/>
            <a:ext cx="430112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754275" y="1710704"/>
            <a:ext cx="403112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024277" y="1710704"/>
            <a:ext cx="376111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294266" y="1710704"/>
            <a:ext cx="349112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88821" y="1890701"/>
            <a:ext cx="489657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174762" y="1890409"/>
            <a:ext cx="461063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0.9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484273" y="1890701"/>
            <a:ext cx="430112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754275" y="1890701"/>
            <a:ext cx="403112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024277" y="1890701"/>
            <a:ext cx="376111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294266" y="1890701"/>
            <a:ext cx="349112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907490" y="2070698"/>
            <a:ext cx="487790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158074" y="2070419"/>
            <a:ext cx="462732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-0.3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484273" y="2070698"/>
            <a:ext cx="430112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754275" y="2070698"/>
            <a:ext cx="403112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024277" y="2070698"/>
            <a:ext cx="376111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294266" y="2070698"/>
            <a:ext cx="349112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44269" y="2250695"/>
            <a:ext cx="484112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214271" y="2250695"/>
            <a:ext cx="457112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427568" y="2250416"/>
            <a:ext cx="435782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-0.6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714867" y="2250416"/>
            <a:ext cx="407052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0.5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968423" y="2250416"/>
            <a:ext cx="381697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-0.8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294266" y="2250695"/>
            <a:ext cx="349112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350479" y="994398"/>
            <a:ext cx="443491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neuron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389091" y="1618303"/>
            <a:ext cx="539630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neuron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284308" y="1185817"/>
            <a:ext cx="250108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274592" y="2265813"/>
            <a:ext cx="251080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64813" y="1185817"/>
            <a:ext cx="212058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655097" y="2265813"/>
            <a:ext cx="213029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194441" y="1185335"/>
            <a:ext cx="159095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194542" y="1725808"/>
            <a:ext cx="159085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194085" y="2265330"/>
            <a:ext cx="159131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913984" y="1725326"/>
            <a:ext cx="87141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277776" y="1702605"/>
            <a:ext cx="50761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801045" y="1197610"/>
            <a:ext cx="198435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0.1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801045" y="1197610"/>
            <a:ext cx="198435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836288" y="1413612"/>
            <a:ext cx="194910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-0.2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3836288" y="1413612"/>
            <a:ext cx="194910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794734" y="1521613"/>
            <a:ext cx="199066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0.4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794734" y="1521613"/>
            <a:ext cx="199066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3783469" y="1953603"/>
            <a:ext cx="20019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-0.7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3783469" y="1953603"/>
            <a:ext cx="20019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792918" y="2115414"/>
            <a:ext cx="19924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0.9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3792918" y="2115414"/>
            <a:ext cx="19924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3781792" y="2277415"/>
            <a:ext cx="200360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-0.3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781792" y="2277415"/>
            <a:ext cx="200360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4375454" y="1359421"/>
            <a:ext cx="140994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-0.6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375454" y="1359421"/>
            <a:ext cx="140994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4386998" y="1737424"/>
            <a:ext cx="139839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0.5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386998" y="1737424"/>
            <a:ext cx="139839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4376025" y="2115414"/>
            <a:ext cx="140937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-0.8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376025" y="2115414"/>
            <a:ext cx="140937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-0.8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360007" y="2632600"/>
            <a:ext cx="542538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Initial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weights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randomly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chosen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small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interval,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say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[-1,1].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901654" y="3150917"/>
            <a:ext cx="88374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627154" y="3150693"/>
            <a:ext cx="15824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3662302" y="481364"/>
            <a:ext cx="126527" cy="126527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662302" y="1345423"/>
            <a:ext cx="126527" cy="126527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3510271" y="544627"/>
            <a:ext cx="12420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Freeform 38"/>
          <p:cNvSpPr/>
          <p:nvPr/>
        </p:nvSpPr>
        <p:spPr>
          <a:xfrm>
            <a:off x="3619500" y="520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3791377" y="544627"/>
            <a:ext cx="27825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eform 40"/>
          <p:cNvSpPr/>
          <p:nvPr/>
        </p:nvSpPr>
        <p:spPr>
          <a:xfrm>
            <a:off x="4051300" y="520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4207772" y="582238"/>
            <a:ext cx="455258" cy="34148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Freeform 42"/>
          <p:cNvSpPr/>
          <p:nvPr/>
        </p:nvSpPr>
        <p:spPr>
          <a:xfrm>
            <a:off x="4635500" y="901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3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3791367" y="610425"/>
            <a:ext cx="304269" cy="30428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Freeform 44"/>
          <p:cNvSpPr/>
          <p:nvPr/>
        </p:nvSpPr>
        <p:spPr>
          <a:xfrm>
            <a:off x="4076700" y="889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3"/>
                </a:moveTo>
                <a:lnTo>
                  <a:pt x="2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4219990" y="976705"/>
            <a:ext cx="42537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4635500" y="952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758462" y="610425"/>
            <a:ext cx="359679" cy="71937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4089400" y="1308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3"/>
                </a:moveTo>
                <a:lnTo>
                  <a:pt x="3" y="0"/>
                </a:lnTo>
                <a:lnTo>
                  <a:pt x="2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4208021" y="1029688"/>
            <a:ext cx="455011" cy="34129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4635500" y="1016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0"/>
                </a:moveTo>
                <a:lnTo>
                  <a:pt x="0" y="1"/>
                </a:lnTo>
                <a:lnTo>
                  <a:pt x="2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3519989" y="1408719"/>
            <a:ext cx="114489" cy="1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3619500" y="13843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3758472" y="623325"/>
            <a:ext cx="359807" cy="71960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4089400" y="5969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0"/>
                </a:moveTo>
                <a:lnTo>
                  <a:pt x="0" y="2"/>
                </a:lnTo>
                <a:lnTo>
                  <a:pt x="2" y="2"/>
                </a:lnTo>
                <a:lnTo>
                  <a:pt x="3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4207772" y="582238"/>
            <a:ext cx="455258" cy="34148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4635500" y="901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3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 flipV="1">
            <a:off x="3791377" y="1038696"/>
            <a:ext cx="304259" cy="3042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4076700" y="10160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0"/>
                </a:moveTo>
                <a:lnTo>
                  <a:pt x="0" y="2"/>
                </a:lnTo>
                <a:lnTo>
                  <a:pt x="1" y="2"/>
                </a:lnTo>
                <a:lnTo>
                  <a:pt x="2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4219990" y="976705"/>
            <a:ext cx="42537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4635500" y="952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3791377" y="1408748"/>
            <a:ext cx="277947" cy="2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4051300" y="13843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 flipV="1">
            <a:off x="4208021" y="1029688"/>
            <a:ext cx="455011" cy="34129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4635500" y="1016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0"/>
                </a:moveTo>
                <a:lnTo>
                  <a:pt x="0" y="1"/>
                </a:lnTo>
                <a:lnTo>
                  <a:pt x="2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4796659" y="976713"/>
            <a:ext cx="140541" cy="1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4927600" y="9525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1665021" y="1714269"/>
            <a:ext cx="2430030" cy="0"/>
          </a:xfrm>
          <a:prstGeom prst="line">
            <a:avLst/>
          </a:prstGeom>
          <a:ln w="1012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1665021" y="1858268"/>
            <a:ext cx="2430030" cy="0"/>
          </a:xfrm>
          <a:prstGeom prst="line">
            <a:avLst/>
          </a:prstGeom>
          <a:ln w="1012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1665021" y="1714269"/>
            <a:ext cx="0" cy="143999"/>
          </a:xfrm>
          <a:prstGeom prst="line">
            <a:avLst/>
          </a:prstGeom>
          <a:ln w="1012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1935025" y="1714269"/>
            <a:ext cx="0" cy="14399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2205028" y="1714269"/>
            <a:ext cx="0" cy="143999"/>
          </a:xfrm>
          <a:prstGeom prst="line">
            <a:avLst/>
          </a:prstGeom>
          <a:ln w="1012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2475032" y="1714269"/>
            <a:ext cx="0" cy="14399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2745035" y="1714269"/>
            <a:ext cx="0" cy="143999"/>
          </a:xfrm>
          <a:prstGeom prst="line">
            <a:avLst/>
          </a:prstGeom>
          <a:ln w="1012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3015038" y="1714269"/>
            <a:ext cx="0" cy="14399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3285042" y="1714269"/>
            <a:ext cx="0" cy="143999"/>
          </a:xfrm>
          <a:prstGeom prst="line">
            <a:avLst/>
          </a:prstGeom>
          <a:ln w="1012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3555045" y="1714269"/>
            <a:ext cx="0" cy="14399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3825048" y="1714269"/>
            <a:ext cx="0" cy="14399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4095051" y="1714269"/>
            <a:ext cx="0" cy="143999"/>
          </a:xfrm>
          <a:prstGeom prst="line">
            <a:avLst/>
          </a:prstGeom>
          <a:ln w="1012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Rectangle 79"/>
          <p:cNvSpPr/>
          <p:nvPr/>
        </p:nvSpPr>
        <p:spPr>
          <a:xfrm>
            <a:off x="14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2880018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2" name="Picture 8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83" name="Picture 8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networks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203223" y="564746"/>
            <a:ext cx="458217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408290" y="564746"/>
            <a:ext cx="437710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623555" y="564213"/>
            <a:ext cx="416184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839671" y="564746"/>
            <a:ext cx="394572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055164" y="564213"/>
            <a:ext cx="373023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271052" y="564213"/>
            <a:ext cx="351434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87221" y="708752"/>
            <a:ext cx="479817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76299" y="852744"/>
            <a:ext cx="480909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75550" y="996204"/>
            <a:ext cx="480984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75664" y="1140755"/>
            <a:ext cx="480973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5156" y="1284214"/>
            <a:ext cx="481023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75042" y="1428207"/>
            <a:ext cx="481035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185913" y="708498"/>
            <a:ext cx="459948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401914" y="708498"/>
            <a:ext cx="438348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617916" y="708498"/>
            <a:ext cx="416747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833918" y="708498"/>
            <a:ext cx="395147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049919" y="708498"/>
            <a:ext cx="373547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265921" y="708498"/>
            <a:ext cx="351947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185913" y="852490"/>
            <a:ext cx="459948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401927" y="852490"/>
            <a:ext cx="438346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617929" y="852490"/>
            <a:ext cx="416746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833930" y="852490"/>
            <a:ext cx="395146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049932" y="852490"/>
            <a:ext cx="373546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265934" y="852490"/>
            <a:ext cx="351946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58595" y="996496"/>
            <a:ext cx="462680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0.1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-0.7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617929" y="996496"/>
            <a:ext cx="416746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833930" y="996496"/>
            <a:ext cx="395146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2049932" y="996496"/>
            <a:ext cx="373546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265934" y="996496"/>
            <a:ext cx="351946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30477" y="1140209"/>
            <a:ext cx="465491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-0.2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0.9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617929" y="1140501"/>
            <a:ext cx="416746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833930" y="1140501"/>
            <a:ext cx="395146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049932" y="1140501"/>
            <a:ext cx="373546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2265934" y="1140501"/>
            <a:ext cx="351946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149146" y="1284214"/>
            <a:ext cx="463624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0.4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-0.3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33930" y="1284494"/>
            <a:ext cx="395146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049932" y="1284494"/>
            <a:ext cx="373546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265934" y="1284494"/>
            <a:ext cx="351946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85926" y="1428499"/>
            <a:ext cx="459947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401927" y="1428207"/>
            <a:ext cx="438346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-0.6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0.5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-0.8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457134" y="424195"/>
            <a:ext cx="432826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neuron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738748" y="886099"/>
            <a:ext cx="504664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neuron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401112" y="496742"/>
            <a:ext cx="238428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3391396" y="1360749"/>
            <a:ext cx="239399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3709620" y="496742"/>
            <a:ext cx="207577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699892" y="1360787"/>
            <a:ext cx="208550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131260" y="496260"/>
            <a:ext cx="165413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131362" y="928784"/>
            <a:ext cx="165403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130904" y="1360355"/>
            <a:ext cx="165449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706799" y="928314"/>
            <a:ext cx="107859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4998670" y="905606"/>
            <a:ext cx="78672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3813468" y="508535"/>
            <a:ext cx="19719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0.1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813468" y="508535"/>
            <a:ext cx="19719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837915" y="681370"/>
            <a:ext cx="194748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-0.2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3837915" y="681370"/>
            <a:ext cx="194748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3807169" y="767780"/>
            <a:ext cx="19782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0.4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807169" y="767780"/>
            <a:ext cx="19782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3795891" y="1113398"/>
            <a:ext cx="198950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-0.7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3795891" y="1113398"/>
            <a:ext cx="198950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805352" y="1242837"/>
            <a:ext cx="19800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0.9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805352" y="1242837"/>
            <a:ext cx="19800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794228" y="1372453"/>
            <a:ext cx="199116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-0.3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3794228" y="1372453"/>
            <a:ext cx="199116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269118" y="637974"/>
            <a:ext cx="15162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-0.6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4269118" y="637974"/>
            <a:ext cx="15162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280663" y="940424"/>
            <a:ext cx="15047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0.5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80663" y="940424"/>
            <a:ext cx="15047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269690" y="1242862"/>
            <a:ext cx="151570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-0.8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4269690" y="1242862"/>
            <a:ext cx="151570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744396" y="1738155"/>
            <a:ext cx="404099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990966" y="1738155"/>
            <a:ext cx="379442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-0.7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2259394" y="1738155"/>
            <a:ext cx="352600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2543569" y="1737901"/>
            <a:ext cx="324182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0.9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2815997" y="1738155"/>
            <a:ext cx="296939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3068739" y="1737901"/>
            <a:ext cx="271665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-0.3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3338284" y="1737901"/>
            <a:ext cx="244711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-0.6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3623666" y="1737901"/>
            <a:ext cx="216172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0.5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3879037" y="1737901"/>
            <a:ext cx="190635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-0.8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360019" y="2010847"/>
            <a:ext cx="542537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row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460072" y="2225191"/>
            <a:ext cx="532532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represents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group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incoming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weighted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links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single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neuron.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460072" y="2483306"/>
            <a:ext cx="532532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thought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building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block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network.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60072" y="2741421"/>
            <a:ext cx="532532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should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stay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together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material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passing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generation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37109" y="2957251"/>
            <a:ext cx="514828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next.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4901668" y="3150919"/>
            <a:ext cx="8837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5624286" y="3150695"/>
            <a:ext cx="16110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2" y="3146744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2" y="3146744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networks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85306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evaluate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chromosome’s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performance?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5" y="1047164"/>
            <a:ext cx="53253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estimate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performance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given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network.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84171" y="1338401"/>
            <a:ext cx="500122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1.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assign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weights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chromosome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neural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network,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59876" y="1576260"/>
            <a:ext cx="502551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2.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present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training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data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neural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network,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58238" y="1814131"/>
            <a:ext cx="5027157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3.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sum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squared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errors,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58492" y="2052002"/>
            <a:ext cx="502690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4.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use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reciprocal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sum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squared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errors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function.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0055" y="2256752"/>
            <a:ext cx="53253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aims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weights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minimises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sum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squared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7093" y="2472594"/>
            <a:ext cx="51483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errors.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901651" y="3150932"/>
            <a:ext cx="88374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23126" y="3150708"/>
            <a:ext cx="16226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networks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94027" y="1490895"/>
            <a:ext cx="419136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How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crossover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take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place?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01653" y="3150917"/>
            <a:ext cx="8837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15609" y="3150693"/>
            <a:ext cx="16978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1568316" y="891197"/>
            <a:ext cx="84967" cy="84967"/>
          </a:xfrm>
          <a:prstGeom prst="rect">
            <a:avLst/>
          </a:prstGeom>
          <a:noFill/>
          <a:ln w="3398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568316" y="1616463"/>
            <a:ext cx="84967" cy="84967"/>
          </a:xfrm>
          <a:prstGeom prst="rect">
            <a:avLst/>
          </a:prstGeom>
          <a:noFill/>
          <a:ln w="3398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1417869" y="933680"/>
            <a:ext cx="131754" cy="0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Freeform 38"/>
          <p:cNvSpPr/>
          <p:nvPr/>
        </p:nvSpPr>
        <p:spPr>
          <a:xfrm>
            <a:off x="1536700" y="9144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1654983" y="933680"/>
            <a:ext cx="259362" cy="0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eform 40"/>
          <p:cNvSpPr/>
          <p:nvPr/>
        </p:nvSpPr>
        <p:spPr>
          <a:xfrm>
            <a:off x="1905000" y="9144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2007107" y="958936"/>
            <a:ext cx="402403" cy="301801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Freeform 42"/>
          <p:cNvSpPr/>
          <p:nvPr/>
        </p:nvSpPr>
        <p:spPr>
          <a:xfrm>
            <a:off x="2387600" y="1244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2" y="0"/>
                </a:lnTo>
                <a:lnTo>
                  <a:pt x="2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1654980" y="977863"/>
            <a:ext cx="276824" cy="276822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Freeform 44"/>
          <p:cNvSpPr/>
          <p:nvPr/>
        </p:nvSpPr>
        <p:spPr>
          <a:xfrm>
            <a:off x="1917700" y="12319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1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2015311" y="1296313"/>
            <a:ext cx="382338" cy="0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2387600" y="1282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1632890" y="977863"/>
            <a:ext cx="314028" cy="628053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1930400" y="15875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2007273" y="1331890"/>
            <a:ext cx="402237" cy="301676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2387600" y="1320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1424395" y="1658947"/>
            <a:ext cx="125228" cy="0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1536700" y="1651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1632869" y="986526"/>
            <a:ext cx="314141" cy="628238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1930400" y="965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2007107" y="958936"/>
            <a:ext cx="402403" cy="301801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2387600" y="1244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2" y="0"/>
                </a:lnTo>
                <a:lnTo>
                  <a:pt x="2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 flipV="1">
            <a:off x="1654980" y="1337941"/>
            <a:ext cx="276824" cy="276823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1917700" y="13208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2015311" y="1296313"/>
            <a:ext cx="382338" cy="0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2387600" y="1282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1654983" y="1658947"/>
            <a:ext cx="259155" cy="0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1905000" y="1651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 flipV="1">
            <a:off x="2007273" y="1331890"/>
            <a:ext cx="402237" cy="301676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2387600" y="1320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2499245" y="1296313"/>
            <a:ext cx="142676" cy="0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2628900" y="1282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1217947" y="1731474"/>
            <a:ext cx="1631849" cy="0"/>
          </a:xfrm>
          <a:prstGeom prst="line">
            <a:avLst/>
          </a:prstGeom>
          <a:ln w="679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1217947" y="1828175"/>
            <a:ext cx="1631849" cy="0"/>
          </a:xfrm>
          <a:prstGeom prst="line">
            <a:avLst/>
          </a:prstGeom>
          <a:ln w="679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1217947" y="1731474"/>
            <a:ext cx="0" cy="96701"/>
          </a:xfrm>
          <a:prstGeom prst="line">
            <a:avLst/>
          </a:prstGeom>
          <a:ln w="679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1399263" y="1731474"/>
            <a:ext cx="0" cy="96701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1580580" y="1731474"/>
            <a:ext cx="0" cy="96701"/>
          </a:xfrm>
          <a:prstGeom prst="line">
            <a:avLst/>
          </a:prstGeom>
          <a:ln w="679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1761897" y="1731474"/>
            <a:ext cx="0" cy="96701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1943213" y="1731474"/>
            <a:ext cx="0" cy="96701"/>
          </a:xfrm>
          <a:prstGeom prst="line">
            <a:avLst/>
          </a:prstGeom>
          <a:ln w="679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2124530" y="1731474"/>
            <a:ext cx="0" cy="96701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2305847" y="1731474"/>
            <a:ext cx="0" cy="96701"/>
          </a:xfrm>
          <a:prstGeom prst="line">
            <a:avLst/>
          </a:prstGeom>
          <a:ln w="679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2487163" y="1731474"/>
            <a:ext cx="0" cy="96701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2668480" y="1731474"/>
            <a:ext cx="0" cy="96701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2849796" y="1731474"/>
            <a:ext cx="0" cy="96701"/>
          </a:xfrm>
          <a:prstGeom prst="line">
            <a:avLst/>
          </a:prstGeom>
          <a:ln w="679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Rectangle 79"/>
          <p:cNvSpPr/>
          <p:nvPr/>
        </p:nvSpPr>
        <p:spPr>
          <a:xfrm>
            <a:off x="3260604" y="891197"/>
            <a:ext cx="84967" cy="84967"/>
          </a:xfrm>
          <a:prstGeom prst="rect">
            <a:avLst/>
          </a:prstGeom>
          <a:noFill/>
          <a:ln w="3398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3260604" y="1616463"/>
            <a:ext cx="84967" cy="84967"/>
          </a:xfrm>
          <a:prstGeom prst="rect">
            <a:avLst/>
          </a:prstGeom>
          <a:noFill/>
          <a:ln w="3398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>
            <a:off x="3110158" y="933680"/>
            <a:ext cx="131754" cy="0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3225800" y="914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>
            <a:off x="3347271" y="933680"/>
            <a:ext cx="259363" cy="0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3594100" y="9144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>
            <a:off x="3699395" y="958936"/>
            <a:ext cx="402403" cy="301801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4089400" y="1244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3347268" y="977863"/>
            <a:ext cx="276825" cy="276822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3606800" y="12319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>
            <a:off x="3707600" y="1296313"/>
            <a:ext cx="382337" cy="0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4076700" y="1282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3325178" y="977863"/>
            <a:ext cx="314028" cy="628053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3619500" y="15875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 flipV="1">
            <a:off x="3699562" y="1331890"/>
            <a:ext cx="402236" cy="301676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4089400" y="1320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>
            <a:off x="3116684" y="1658947"/>
            <a:ext cx="125228" cy="0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Freeform 96"/>
          <p:cNvSpPr/>
          <p:nvPr/>
        </p:nvSpPr>
        <p:spPr>
          <a:xfrm>
            <a:off x="3225800" y="1651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 flipV="1">
            <a:off x="3325157" y="986526"/>
            <a:ext cx="314142" cy="628238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reeform 98"/>
          <p:cNvSpPr/>
          <p:nvPr/>
        </p:nvSpPr>
        <p:spPr>
          <a:xfrm>
            <a:off x="3619500" y="965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2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>
            <a:off x="3699395" y="958936"/>
            <a:ext cx="402403" cy="301801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4089400" y="1244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 flipV="1">
            <a:off x="3347268" y="1337941"/>
            <a:ext cx="276825" cy="276823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Freeform 102"/>
          <p:cNvSpPr/>
          <p:nvPr/>
        </p:nvSpPr>
        <p:spPr>
          <a:xfrm>
            <a:off x="3606800" y="13208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4" name="Connector 103"/>
          <p:cNvCxnSpPr/>
          <p:nvPr/>
        </p:nvCxnSpPr>
        <p:spPr>
          <a:xfrm>
            <a:off x="3707600" y="1296313"/>
            <a:ext cx="382337" cy="0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Freeform 104"/>
          <p:cNvSpPr/>
          <p:nvPr/>
        </p:nvSpPr>
        <p:spPr>
          <a:xfrm>
            <a:off x="4076700" y="1282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6" name="Connector 105"/>
          <p:cNvCxnSpPr/>
          <p:nvPr/>
        </p:nvCxnSpPr>
        <p:spPr>
          <a:xfrm>
            <a:off x="3347271" y="1658947"/>
            <a:ext cx="259156" cy="0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Freeform 106"/>
          <p:cNvSpPr/>
          <p:nvPr/>
        </p:nvSpPr>
        <p:spPr>
          <a:xfrm>
            <a:off x="3594100" y="1651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8" name="Connector 107"/>
          <p:cNvCxnSpPr/>
          <p:nvPr/>
        </p:nvCxnSpPr>
        <p:spPr>
          <a:xfrm flipV="1">
            <a:off x="3699562" y="1331890"/>
            <a:ext cx="402236" cy="301676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Freeform 108"/>
          <p:cNvSpPr/>
          <p:nvPr/>
        </p:nvSpPr>
        <p:spPr>
          <a:xfrm>
            <a:off x="4089400" y="1320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0" name="Connector 109"/>
          <p:cNvCxnSpPr/>
          <p:nvPr/>
        </p:nvCxnSpPr>
        <p:spPr>
          <a:xfrm>
            <a:off x="4191534" y="1296313"/>
            <a:ext cx="142676" cy="0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Freeform 110"/>
          <p:cNvSpPr/>
          <p:nvPr/>
        </p:nvSpPr>
        <p:spPr>
          <a:xfrm>
            <a:off x="4318000" y="1282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2" name="Connector 111"/>
          <p:cNvCxnSpPr/>
          <p:nvPr/>
        </p:nvCxnSpPr>
        <p:spPr>
          <a:xfrm>
            <a:off x="2910235" y="1731474"/>
            <a:ext cx="1631850" cy="0"/>
          </a:xfrm>
          <a:prstGeom prst="line">
            <a:avLst/>
          </a:prstGeom>
          <a:ln w="679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2910235" y="1828175"/>
            <a:ext cx="1631850" cy="0"/>
          </a:xfrm>
          <a:prstGeom prst="line">
            <a:avLst/>
          </a:prstGeom>
          <a:ln w="679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V="1">
            <a:off x="2910235" y="1731474"/>
            <a:ext cx="0" cy="96701"/>
          </a:xfrm>
          <a:prstGeom prst="line">
            <a:avLst/>
          </a:prstGeom>
          <a:ln w="679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3091552" y="1731474"/>
            <a:ext cx="0" cy="96701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 flipV="1">
            <a:off x="3272869" y="1731474"/>
            <a:ext cx="0" cy="96701"/>
          </a:xfrm>
          <a:prstGeom prst="line">
            <a:avLst/>
          </a:prstGeom>
          <a:ln w="679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V="1">
            <a:off x="3454185" y="1731474"/>
            <a:ext cx="0" cy="96701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V="1">
            <a:off x="3635502" y="1731474"/>
            <a:ext cx="0" cy="96701"/>
          </a:xfrm>
          <a:prstGeom prst="line">
            <a:avLst/>
          </a:prstGeom>
          <a:ln w="679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V="1">
            <a:off x="3816818" y="1731474"/>
            <a:ext cx="0" cy="96701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 flipV="1">
            <a:off x="3998135" y="1731474"/>
            <a:ext cx="0" cy="96701"/>
          </a:xfrm>
          <a:prstGeom prst="line">
            <a:avLst/>
          </a:prstGeom>
          <a:ln w="679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 flipV="1">
            <a:off x="4179452" y="1731474"/>
            <a:ext cx="0" cy="96701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V="1">
            <a:off x="4360768" y="1731474"/>
            <a:ext cx="0" cy="96701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V="1">
            <a:off x="4542085" y="1731474"/>
            <a:ext cx="0" cy="96701"/>
          </a:xfrm>
          <a:prstGeom prst="line">
            <a:avLst/>
          </a:prstGeom>
          <a:ln w="679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2184969" y="1973230"/>
            <a:ext cx="1631849" cy="0"/>
          </a:xfrm>
          <a:prstGeom prst="line">
            <a:avLst/>
          </a:prstGeom>
          <a:ln w="679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>
            <a:off x="2184969" y="2069930"/>
            <a:ext cx="1631849" cy="0"/>
          </a:xfrm>
          <a:prstGeom prst="line">
            <a:avLst/>
          </a:prstGeom>
          <a:ln w="679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V="1">
            <a:off x="2184969" y="1973230"/>
            <a:ext cx="0" cy="96700"/>
          </a:xfrm>
          <a:prstGeom prst="line">
            <a:avLst/>
          </a:prstGeom>
          <a:ln w="679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 flipV="1">
            <a:off x="2366285" y="1973230"/>
            <a:ext cx="0" cy="96700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V="1">
            <a:off x="2547602" y="1973230"/>
            <a:ext cx="0" cy="96700"/>
          </a:xfrm>
          <a:prstGeom prst="line">
            <a:avLst/>
          </a:prstGeom>
          <a:ln w="679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V="1">
            <a:off x="2728919" y="1973230"/>
            <a:ext cx="0" cy="96700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2910235" y="1973230"/>
            <a:ext cx="0" cy="96700"/>
          </a:xfrm>
          <a:prstGeom prst="line">
            <a:avLst/>
          </a:prstGeom>
          <a:ln w="679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V="1">
            <a:off x="3091552" y="1973230"/>
            <a:ext cx="0" cy="96700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V="1">
            <a:off x="3272869" y="1973230"/>
            <a:ext cx="0" cy="96700"/>
          </a:xfrm>
          <a:prstGeom prst="line">
            <a:avLst/>
          </a:prstGeom>
          <a:ln w="679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V="1">
            <a:off x="3454185" y="1973230"/>
            <a:ext cx="0" cy="96700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V="1">
            <a:off x="3635502" y="1973230"/>
            <a:ext cx="0" cy="96700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V="1">
            <a:off x="3816818" y="1973230"/>
            <a:ext cx="0" cy="96700"/>
          </a:xfrm>
          <a:prstGeom prst="line">
            <a:avLst/>
          </a:prstGeom>
          <a:ln w="679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Rectangle 135"/>
          <p:cNvSpPr/>
          <p:nvPr/>
        </p:nvSpPr>
        <p:spPr>
          <a:xfrm>
            <a:off x="2535338" y="2220852"/>
            <a:ext cx="84967" cy="84967"/>
          </a:xfrm>
          <a:prstGeom prst="rect">
            <a:avLst/>
          </a:prstGeom>
          <a:noFill/>
          <a:ln w="3398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2535338" y="2946118"/>
            <a:ext cx="84967" cy="84967"/>
          </a:xfrm>
          <a:prstGeom prst="rect">
            <a:avLst/>
          </a:prstGeom>
          <a:noFill/>
          <a:ln w="3398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8" name="Connector 137"/>
          <p:cNvCxnSpPr/>
          <p:nvPr/>
        </p:nvCxnSpPr>
        <p:spPr>
          <a:xfrm>
            <a:off x="2384892" y="2263335"/>
            <a:ext cx="131753" cy="0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Freeform 138"/>
          <p:cNvSpPr/>
          <p:nvPr/>
        </p:nvSpPr>
        <p:spPr>
          <a:xfrm>
            <a:off x="2501900" y="2247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0" name="Connector 139"/>
          <p:cNvCxnSpPr/>
          <p:nvPr/>
        </p:nvCxnSpPr>
        <p:spPr>
          <a:xfrm>
            <a:off x="2622005" y="2263335"/>
            <a:ext cx="259362" cy="0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Freeform 140"/>
          <p:cNvSpPr/>
          <p:nvPr/>
        </p:nvSpPr>
        <p:spPr>
          <a:xfrm>
            <a:off x="2870200" y="2247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2" name="Connector 141"/>
          <p:cNvCxnSpPr/>
          <p:nvPr/>
        </p:nvCxnSpPr>
        <p:spPr>
          <a:xfrm>
            <a:off x="2974129" y="2288592"/>
            <a:ext cx="402403" cy="301801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Freeform 142"/>
          <p:cNvSpPr/>
          <p:nvPr/>
        </p:nvSpPr>
        <p:spPr>
          <a:xfrm>
            <a:off x="3365500" y="2578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4" name="Connector 143"/>
          <p:cNvCxnSpPr/>
          <p:nvPr/>
        </p:nvCxnSpPr>
        <p:spPr>
          <a:xfrm>
            <a:off x="2622002" y="2307518"/>
            <a:ext cx="276824" cy="276823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Freeform 144"/>
          <p:cNvSpPr/>
          <p:nvPr/>
        </p:nvSpPr>
        <p:spPr>
          <a:xfrm>
            <a:off x="2882900" y="2565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6" name="Connector 145"/>
          <p:cNvCxnSpPr/>
          <p:nvPr/>
        </p:nvCxnSpPr>
        <p:spPr>
          <a:xfrm>
            <a:off x="2982333" y="2625969"/>
            <a:ext cx="382338" cy="0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Freeform 146"/>
          <p:cNvSpPr/>
          <p:nvPr/>
        </p:nvSpPr>
        <p:spPr>
          <a:xfrm>
            <a:off x="3352800" y="2616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8" name="Connector 147"/>
          <p:cNvCxnSpPr/>
          <p:nvPr/>
        </p:nvCxnSpPr>
        <p:spPr>
          <a:xfrm>
            <a:off x="2599912" y="2307518"/>
            <a:ext cx="314028" cy="628053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Freeform 148"/>
          <p:cNvSpPr/>
          <p:nvPr/>
        </p:nvSpPr>
        <p:spPr>
          <a:xfrm>
            <a:off x="2895600" y="2921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0" name="Connector 149"/>
          <p:cNvCxnSpPr/>
          <p:nvPr/>
        </p:nvCxnSpPr>
        <p:spPr>
          <a:xfrm flipV="1">
            <a:off x="2974295" y="2661545"/>
            <a:ext cx="402237" cy="301676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Freeform 150"/>
          <p:cNvSpPr/>
          <p:nvPr/>
        </p:nvSpPr>
        <p:spPr>
          <a:xfrm>
            <a:off x="3365500" y="2654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2" name="Connector 151"/>
          <p:cNvCxnSpPr/>
          <p:nvPr/>
        </p:nvCxnSpPr>
        <p:spPr>
          <a:xfrm>
            <a:off x="2391417" y="2988602"/>
            <a:ext cx="125228" cy="0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Freeform 152"/>
          <p:cNvSpPr/>
          <p:nvPr/>
        </p:nvSpPr>
        <p:spPr>
          <a:xfrm>
            <a:off x="2501900" y="2971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4" name="Connector 153"/>
          <p:cNvCxnSpPr/>
          <p:nvPr/>
        </p:nvCxnSpPr>
        <p:spPr>
          <a:xfrm flipV="1">
            <a:off x="2599891" y="2316181"/>
            <a:ext cx="314141" cy="628238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Freeform 154"/>
          <p:cNvSpPr/>
          <p:nvPr/>
        </p:nvSpPr>
        <p:spPr>
          <a:xfrm>
            <a:off x="2895600" y="2298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6" name="Connector 155"/>
          <p:cNvCxnSpPr/>
          <p:nvPr/>
        </p:nvCxnSpPr>
        <p:spPr>
          <a:xfrm>
            <a:off x="2974129" y="2288592"/>
            <a:ext cx="402403" cy="301801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Freeform 156"/>
          <p:cNvSpPr/>
          <p:nvPr/>
        </p:nvSpPr>
        <p:spPr>
          <a:xfrm>
            <a:off x="3365500" y="2578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8" name="Connector 157"/>
          <p:cNvCxnSpPr/>
          <p:nvPr/>
        </p:nvCxnSpPr>
        <p:spPr>
          <a:xfrm flipV="1">
            <a:off x="2622002" y="2667597"/>
            <a:ext cx="276824" cy="276822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Freeform 158"/>
          <p:cNvSpPr/>
          <p:nvPr/>
        </p:nvSpPr>
        <p:spPr>
          <a:xfrm>
            <a:off x="2882900" y="2654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0" name="Connector 159"/>
          <p:cNvCxnSpPr/>
          <p:nvPr/>
        </p:nvCxnSpPr>
        <p:spPr>
          <a:xfrm>
            <a:off x="2982333" y="2625969"/>
            <a:ext cx="382338" cy="0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Freeform 160"/>
          <p:cNvSpPr/>
          <p:nvPr/>
        </p:nvSpPr>
        <p:spPr>
          <a:xfrm>
            <a:off x="3352800" y="2616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2" name="Connector 161"/>
          <p:cNvCxnSpPr/>
          <p:nvPr/>
        </p:nvCxnSpPr>
        <p:spPr>
          <a:xfrm>
            <a:off x="2622005" y="2988602"/>
            <a:ext cx="259155" cy="0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3" name="Freeform 162"/>
          <p:cNvSpPr/>
          <p:nvPr/>
        </p:nvSpPr>
        <p:spPr>
          <a:xfrm>
            <a:off x="2870200" y="2971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4" name="Connector 163"/>
          <p:cNvCxnSpPr/>
          <p:nvPr/>
        </p:nvCxnSpPr>
        <p:spPr>
          <a:xfrm flipV="1">
            <a:off x="2974295" y="2661545"/>
            <a:ext cx="402237" cy="301676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5" name="Freeform 164"/>
          <p:cNvSpPr/>
          <p:nvPr/>
        </p:nvSpPr>
        <p:spPr>
          <a:xfrm>
            <a:off x="3365500" y="2654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6" name="Connector 165"/>
          <p:cNvCxnSpPr/>
          <p:nvPr/>
        </p:nvCxnSpPr>
        <p:spPr>
          <a:xfrm>
            <a:off x="3466267" y="2625969"/>
            <a:ext cx="142676" cy="0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7" name="Freeform 166"/>
          <p:cNvSpPr/>
          <p:nvPr/>
        </p:nvSpPr>
        <p:spPr>
          <a:xfrm>
            <a:off x="3594100" y="2616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8" name="Connector 167"/>
          <p:cNvCxnSpPr/>
          <p:nvPr/>
        </p:nvCxnSpPr>
        <p:spPr>
          <a:xfrm>
            <a:off x="1399263" y="1845168"/>
            <a:ext cx="0" cy="55534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>
            <a:off x="1399263" y="1900702"/>
            <a:ext cx="483512" cy="0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>
            <a:off x="1882775" y="1900702"/>
            <a:ext cx="483510" cy="0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>
            <a:off x="2366285" y="1900702"/>
            <a:ext cx="0" cy="55534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2" name="Freeform 171"/>
          <p:cNvSpPr/>
          <p:nvPr/>
        </p:nvSpPr>
        <p:spPr>
          <a:xfrm>
            <a:off x="1384300" y="1828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1" y="0"/>
                </a:moveTo>
                <a:lnTo>
                  <a:pt x="0" y="2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Freeform 172"/>
          <p:cNvSpPr/>
          <p:nvPr/>
        </p:nvSpPr>
        <p:spPr>
          <a:xfrm>
            <a:off x="2349500" y="1943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1" y="2"/>
                </a:moveTo>
                <a:lnTo>
                  <a:pt x="2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4" name="Connector 173"/>
          <p:cNvCxnSpPr/>
          <p:nvPr/>
        </p:nvCxnSpPr>
        <p:spPr>
          <a:xfrm>
            <a:off x="3454185" y="1845168"/>
            <a:ext cx="0" cy="31357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 flipH="1">
            <a:off x="3164083" y="1876525"/>
            <a:ext cx="290102" cy="0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 flipH="1">
            <a:off x="2728919" y="1876525"/>
            <a:ext cx="435164" cy="0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>
            <a:off x="2728919" y="1876525"/>
            <a:ext cx="0" cy="79711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8" name="Freeform 177"/>
          <p:cNvSpPr/>
          <p:nvPr/>
        </p:nvSpPr>
        <p:spPr>
          <a:xfrm>
            <a:off x="3441700" y="1828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1" y="0"/>
                </a:moveTo>
                <a:lnTo>
                  <a:pt x="0" y="2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Freeform 178"/>
          <p:cNvSpPr/>
          <p:nvPr/>
        </p:nvSpPr>
        <p:spPr>
          <a:xfrm>
            <a:off x="2717800" y="1943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1" y="2"/>
                </a:moveTo>
                <a:lnTo>
                  <a:pt x="2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0" name="Connector 179"/>
          <p:cNvCxnSpPr/>
          <p:nvPr/>
        </p:nvCxnSpPr>
        <p:spPr>
          <a:xfrm>
            <a:off x="3816818" y="1845168"/>
            <a:ext cx="0" cy="79711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 flipH="1">
            <a:off x="3381654" y="1924879"/>
            <a:ext cx="435164" cy="0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 flipH="1">
            <a:off x="3091552" y="1924879"/>
            <a:ext cx="290102" cy="0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>
            <a:off x="3091552" y="1924879"/>
            <a:ext cx="0" cy="31357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Freeform 183"/>
          <p:cNvSpPr/>
          <p:nvPr/>
        </p:nvSpPr>
        <p:spPr>
          <a:xfrm>
            <a:off x="3797300" y="1828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2" y="0"/>
                </a:moveTo>
                <a:lnTo>
                  <a:pt x="0" y="2"/>
                </a:lnTo>
                <a:lnTo>
                  <a:pt x="2" y="1"/>
                </a:lnTo>
                <a:lnTo>
                  <a:pt x="3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Freeform 184"/>
          <p:cNvSpPr/>
          <p:nvPr/>
        </p:nvSpPr>
        <p:spPr>
          <a:xfrm>
            <a:off x="3073400" y="1943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1" y="2"/>
                </a:moveTo>
                <a:lnTo>
                  <a:pt x="2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6" name="Connector 185"/>
          <p:cNvCxnSpPr/>
          <p:nvPr/>
        </p:nvCxnSpPr>
        <p:spPr>
          <a:xfrm>
            <a:off x="2577822" y="1845168"/>
            <a:ext cx="0" cy="55534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>
            <a:off x="2577822" y="1900702"/>
            <a:ext cx="483511" cy="0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>
            <a:off x="3061333" y="1900702"/>
            <a:ext cx="483511" cy="0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>
            <a:off x="3544844" y="1900702"/>
            <a:ext cx="0" cy="55534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0" name="Freeform 189"/>
          <p:cNvSpPr/>
          <p:nvPr/>
        </p:nvSpPr>
        <p:spPr>
          <a:xfrm>
            <a:off x="2565400" y="1828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1" y="0"/>
                </a:moveTo>
                <a:lnTo>
                  <a:pt x="0" y="2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Freeform 190"/>
          <p:cNvSpPr/>
          <p:nvPr/>
        </p:nvSpPr>
        <p:spPr>
          <a:xfrm>
            <a:off x="3530600" y="1943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1" y="2"/>
                </a:moveTo>
                <a:lnTo>
                  <a:pt x="2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4" name="Picture 19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95" name="Picture 19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96" name="TextBox 19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networks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359993" y="55383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Crossover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242311" y="782713"/>
            <a:ext cx="4543084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535" b="0">
                <a:solidFill>
                  <a:srgbClr val="000000"/>
                </a:solidFill>
                <a:latin typeface="Josefin Sans"/>
              </a:rPr>
              <a:t> </a:t>
            </a:r>
            <a:r>
              <a:rPr sz="535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344576" y="901532"/>
            <a:ext cx="4440819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1338052" y="1626787"/>
            <a:ext cx="4447344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600098" y="901532"/>
            <a:ext cx="4185297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593565" y="1626787"/>
            <a:ext cx="4191830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955753" y="901208"/>
            <a:ext cx="3829642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1955821" y="1264155"/>
            <a:ext cx="3829574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1955514" y="1626463"/>
            <a:ext cx="3829881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2438952" y="1263840"/>
            <a:ext cx="3346443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2683259" y="1248574"/>
            <a:ext cx="3102136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691575" y="909452"/>
            <a:ext cx="4093821" cy="790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1" b="0">
                <a:solidFill>
                  <a:srgbClr val="FFFFFF"/>
                </a:solidFill>
                <a:latin typeface="Josefin Sans"/>
              </a:rPr>
              <a:t>0.1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691575" y="909452"/>
            <a:ext cx="4093821" cy="790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1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1715241" y="1054504"/>
            <a:ext cx="4070154" cy="790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1" b="0">
                <a:solidFill>
                  <a:srgbClr val="FFFFFF"/>
                </a:solidFill>
                <a:latin typeface="Josefin Sans"/>
              </a:rPr>
              <a:t>-0.2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1715241" y="1054504"/>
            <a:ext cx="4070154" cy="790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1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1687344" y="1127031"/>
            <a:ext cx="4098051" cy="790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1" b="0">
                <a:solidFill>
                  <a:srgbClr val="FFFFFF"/>
                </a:solidFill>
                <a:latin typeface="Josefin Sans"/>
              </a:rPr>
              <a:t>0.4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1687344" y="1127031"/>
            <a:ext cx="4098051" cy="790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1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679771" y="1417127"/>
            <a:ext cx="4105624" cy="790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1" b="0">
                <a:solidFill>
                  <a:srgbClr val="FFFFFF"/>
                </a:solidFill>
                <a:latin typeface="Josefin Sans"/>
              </a:rPr>
              <a:t>-0.7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679771" y="1417127"/>
            <a:ext cx="4105624" cy="790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1" b="0">
                <a:solidFill>
                  <a:srgbClr val="000000"/>
                </a:solidFill>
                <a:latin typeface="Josefin Sans"/>
              </a:rPr>
              <a:t>-0.7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686116" y="1525797"/>
            <a:ext cx="4099279" cy="790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1" b="0">
                <a:solidFill>
                  <a:srgbClr val="FFFFFF"/>
                </a:solidFill>
                <a:latin typeface="Josefin Sans"/>
              </a:rPr>
              <a:t>0.9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1686116" y="1525797"/>
            <a:ext cx="4099279" cy="790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1" b="0">
                <a:solidFill>
                  <a:srgbClr val="000000"/>
                </a:solidFill>
                <a:latin typeface="Josefin Sans"/>
              </a:rPr>
              <a:t>0.9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1678654" y="1634587"/>
            <a:ext cx="4106741" cy="790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1" b="0">
                <a:solidFill>
                  <a:srgbClr val="FFFFFF"/>
                </a:solidFill>
                <a:latin typeface="Josefin Sans"/>
              </a:rPr>
              <a:t>-0.3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1678654" y="1634587"/>
            <a:ext cx="4106741" cy="790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1" b="0">
                <a:solidFill>
                  <a:srgbClr val="000000"/>
                </a:solidFill>
                <a:latin typeface="Josefin Sans"/>
              </a:rPr>
              <a:t>-0.3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2077318" y="1018114"/>
            <a:ext cx="3708077" cy="790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1" b="0">
                <a:solidFill>
                  <a:srgbClr val="FFFFFF"/>
                </a:solidFill>
                <a:latin typeface="Josefin Sans"/>
              </a:rPr>
              <a:t>-0.6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2077318" y="1018114"/>
            <a:ext cx="3708077" cy="790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1" b="0">
                <a:solidFill>
                  <a:srgbClr val="000000"/>
                </a:solidFill>
                <a:latin typeface="Josefin Sans"/>
              </a:rPr>
              <a:t>-0.6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2085062" y="1271955"/>
            <a:ext cx="3700333" cy="790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1" b="0">
                <a:solidFill>
                  <a:srgbClr val="FFFFFF"/>
                </a:solidFill>
                <a:latin typeface="Josefin Sans"/>
              </a:rPr>
              <a:t>0.5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2085062" y="1271955"/>
            <a:ext cx="3700333" cy="790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1" b="0">
                <a:solidFill>
                  <a:srgbClr val="000000"/>
                </a:solidFill>
                <a:latin typeface="Josefin Sans"/>
              </a:rPr>
              <a:t>0.5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2077694" y="1525797"/>
            <a:ext cx="3707701" cy="790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1" b="0">
                <a:solidFill>
                  <a:srgbClr val="FFFFFF"/>
                </a:solidFill>
                <a:latin typeface="Josefin Sans"/>
              </a:rPr>
              <a:t>-0.8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2077694" y="1525797"/>
            <a:ext cx="3707701" cy="790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1" b="0">
                <a:solidFill>
                  <a:srgbClr val="000000"/>
                </a:solidFill>
                <a:latin typeface="Josefin Sans"/>
              </a:rPr>
              <a:t>-0.8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1271256" y="1747508"/>
            <a:ext cx="4514139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436837" y="1747508"/>
            <a:ext cx="4348558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-0.7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617095" y="1747508"/>
            <a:ext cx="4168300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807929" y="1747337"/>
            <a:ext cx="3977466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0.9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1990874" y="1747508"/>
            <a:ext cx="3794522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2160599" y="1747337"/>
            <a:ext cx="3624796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-0.3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2341608" y="1747337"/>
            <a:ext cx="3443787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-0.6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2533251" y="1747337"/>
            <a:ext cx="3252144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0.5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2704742" y="1747337"/>
            <a:ext cx="3080653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-0.8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2934577" y="782713"/>
            <a:ext cx="2850819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535" b="0">
                <a:solidFill>
                  <a:srgbClr val="000000"/>
                </a:solidFill>
                <a:latin typeface="Josefin Sans"/>
              </a:rPr>
              <a:t> </a:t>
            </a:r>
            <a:r>
              <a:rPr sz="535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236" name="TextBox 235"/>
          <p:cNvSpPr txBox="1"/>
          <p:nvPr/>
        </p:nvSpPr>
        <p:spPr>
          <a:xfrm>
            <a:off x="3036842" y="901532"/>
            <a:ext cx="2748553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237" name="TextBox 236"/>
          <p:cNvSpPr txBox="1"/>
          <p:nvPr/>
        </p:nvSpPr>
        <p:spPr>
          <a:xfrm>
            <a:off x="3030317" y="1626787"/>
            <a:ext cx="2755078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3292364" y="901532"/>
            <a:ext cx="2493031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3285831" y="1626787"/>
            <a:ext cx="2499564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3648019" y="901208"/>
            <a:ext cx="2137376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3648087" y="1264155"/>
            <a:ext cx="2137308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3647780" y="1626463"/>
            <a:ext cx="2137615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4131218" y="1263831"/>
            <a:ext cx="1654177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4375525" y="1248574"/>
            <a:ext cx="1409870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3378613" y="909324"/>
            <a:ext cx="2406782" cy="790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1" b="0">
                <a:solidFill>
                  <a:srgbClr val="FFFFFF"/>
                </a:solidFill>
                <a:latin typeface="Josefin Sans"/>
              </a:rPr>
              <a:t>0.3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3378613" y="909324"/>
            <a:ext cx="2406782" cy="790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1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3414645" y="1054377"/>
            <a:ext cx="2370750" cy="790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1" b="0">
                <a:solidFill>
                  <a:srgbClr val="FFFFFF"/>
                </a:solidFill>
                <a:latin typeface="Josefin Sans"/>
              </a:rPr>
              <a:t>0.9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3414645" y="1054377"/>
            <a:ext cx="2370750" cy="790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1" b="0">
                <a:solidFill>
                  <a:srgbClr val="000000"/>
                </a:solidFill>
                <a:latin typeface="Josefin Sans"/>
              </a:rPr>
              <a:t>0.9</a:t>
            </a:r>
          </a:p>
        </p:txBody>
      </p:sp>
      <p:sp>
        <p:nvSpPr>
          <p:cNvPr id="249" name="TextBox 248"/>
          <p:cNvSpPr txBox="1"/>
          <p:nvPr/>
        </p:nvSpPr>
        <p:spPr>
          <a:xfrm>
            <a:off x="3371073" y="1126903"/>
            <a:ext cx="2414322" cy="790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1" b="0">
                <a:solidFill>
                  <a:srgbClr val="FFFFFF"/>
                </a:solidFill>
                <a:latin typeface="Josefin Sans"/>
              </a:rPr>
              <a:t>-0.8</a:t>
            </a:r>
          </a:p>
        </p:txBody>
      </p:sp>
      <p:sp>
        <p:nvSpPr>
          <p:cNvPr id="250" name="TextBox 249"/>
          <p:cNvSpPr txBox="1"/>
          <p:nvPr/>
        </p:nvSpPr>
        <p:spPr>
          <a:xfrm>
            <a:off x="3371073" y="1126903"/>
            <a:ext cx="2414322" cy="790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1" b="0">
                <a:solidFill>
                  <a:srgbClr val="000000"/>
                </a:solidFill>
                <a:latin typeface="Josefin Sans"/>
              </a:rPr>
              <a:t>-0.8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3378945" y="1417127"/>
            <a:ext cx="2406450" cy="790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1" b="0">
                <a:solidFill>
                  <a:srgbClr val="FFFFFF"/>
                </a:solidFill>
                <a:latin typeface="Josefin Sans"/>
              </a:rPr>
              <a:t>0.2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3378945" y="1417127"/>
            <a:ext cx="2406450" cy="790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1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3370741" y="1525789"/>
            <a:ext cx="2414654" cy="790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1" b="0">
                <a:solidFill>
                  <a:srgbClr val="FFFFFF"/>
                </a:solidFill>
                <a:latin typeface="Josefin Sans"/>
              </a:rPr>
              <a:t>-0.5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3370741" y="1525789"/>
            <a:ext cx="2414654" cy="790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1" b="0">
                <a:solidFill>
                  <a:srgbClr val="000000"/>
                </a:solidFill>
                <a:latin typeface="Josefin Sans"/>
              </a:rPr>
              <a:t>-0.5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3376148" y="1634706"/>
            <a:ext cx="2409247" cy="790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1" b="0">
                <a:solidFill>
                  <a:srgbClr val="FFFFFF"/>
                </a:solidFill>
                <a:latin typeface="Josefin Sans"/>
              </a:rPr>
              <a:t>-0.1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3376148" y="1634706"/>
            <a:ext cx="2409247" cy="790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1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3777507" y="1018114"/>
            <a:ext cx="2007888" cy="790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1" b="0">
                <a:solidFill>
                  <a:srgbClr val="FFFFFF"/>
                </a:solidFill>
                <a:latin typeface="Josefin Sans"/>
              </a:rPr>
              <a:t>0.3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3777507" y="1018114"/>
            <a:ext cx="2007888" cy="790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1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3769584" y="1271955"/>
            <a:ext cx="2015811" cy="790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1" b="0">
                <a:solidFill>
                  <a:srgbClr val="FFFFFF"/>
                </a:solidFill>
                <a:latin typeface="Josefin Sans"/>
              </a:rPr>
              <a:t>-0.9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3769584" y="1271955"/>
            <a:ext cx="2015811" cy="790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1" b="0">
                <a:solidFill>
                  <a:srgbClr val="000000"/>
                </a:solidFill>
                <a:latin typeface="Josefin Sans"/>
              </a:rPr>
              <a:t>-0.9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3777277" y="1525789"/>
            <a:ext cx="2008118" cy="790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1" b="0">
                <a:solidFill>
                  <a:srgbClr val="FFFFFF"/>
                </a:solidFill>
                <a:latin typeface="Josefin Sans"/>
              </a:rPr>
              <a:t>0.6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3777277" y="1525789"/>
            <a:ext cx="2008118" cy="790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1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2956555" y="1747337"/>
            <a:ext cx="2828841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264" name="TextBox 263"/>
          <p:cNvSpPr txBox="1"/>
          <p:nvPr/>
        </p:nvSpPr>
        <p:spPr>
          <a:xfrm>
            <a:off x="3138314" y="1747508"/>
            <a:ext cx="2647081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265" name="TextBox 264"/>
          <p:cNvSpPr txBox="1"/>
          <p:nvPr/>
        </p:nvSpPr>
        <p:spPr>
          <a:xfrm>
            <a:off x="3318879" y="1747337"/>
            <a:ext cx="2466516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0.9</a:t>
            </a:r>
          </a:p>
        </p:txBody>
      </p:sp>
      <p:sp>
        <p:nvSpPr>
          <p:cNvPr id="266" name="TextBox 265"/>
          <p:cNvSpPr txBox="1"/>
          <p:nvPr/>
        </p:nvSpPr>
        <p:spPr>
          <a:xfrm>
            <a:off x="3489995" y="1747337"/>
            <a:ext cx="2295400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-0.5</a:t>
            </a:r>
          </a:p>
        </p:txBody>
      </p:sp>
      <p:sp>
        <p:nvSpPr>
          <p:cNvPr id="267" name="TextBox 266"/>
          <p:cNvSpPr txBox="1"/>
          <p:nvPr/>
        </p:nvSpPr>
        <p:spPr>
          <a:xfrm>
            <a:off x="3671754" y="1747337"/>
            <a:ext cx="2113641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-0.8</a:t>
            </a:r>
          </a:p>
        </p:txBody>
      </p:sp>
      <p:sp>
        <p:nvSpPr>
          <p:cNvPr id="268" name="TextBox 267"/>
          <p:cNvSpPr txBox="1"/>
          <p:nvPr/>
        </p:nvSpPr>
        <p:spPr>
          <a:xfrm>
            <a:off x="3859833" y="1747508"/>
            <a:ext cx="1925563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269" name="TextBox 268"/>
          <p:cNvSpPr txBox="1"/>
          <p:nvPr/>
        </p:nvSpPr>
        <p:spPr>
          <a:xfrm>
            <a:off x="4044440" y="1747337"/>
            <a:ext cx="1740955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270" name="TextBox 269"/>
          <p:cNvSpPr txBox="1"/>
          <p:nvPr/>
        </p:nvSpPr>
        <p:spPr>
          <a:xfrm>
            <a:off x="4215189" y="1747337"/>
            <a:ext cx="1570206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-0.9</a:t>
            </a:r>
          </a:p>
        </p:txBody>
      </p:sp>
      <p:sp>
        <p:nvSpPr>
          <p:cNvPr id="271" name="TextBox 270"/>
          <p:cNvSpPr txBox="1"/>
          <p:nvPr/>
        </p:nvSpPr>
        <p:spPr>
          <a:xfrm>
            <a:off x="4406765" y="1747337"/>
            <a:ext cx="1378630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272" name="TextBox 271"/>
          <p:cNvSpPr txBox="1"/>
          <p:nvPr/>
        </p:nvSpPr>
        <p:spPr>
          <a:xfrm>
            <a:off x="2238268" y="1989265"/>
            <a:ext cx="3547127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2403849" y="1989265"/>
            <a:ext cx="3381547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-0.7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2593625" y="1989094"/>
            <a:ext cx="3191771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0.9</a:t>
            </a:r>
          </a:p>
        </p:txBody>
      </p:sp>
      <p:sp>
        <p:nvSpPr>
          <p:cNvPr id="275" name="TextBox 274"/>
          <p:cNvSpPr txBox="1"/>
          <p:nvPr/>
        </p:nvSpPr>
        <p:spPr>
          <a:xfrm>
            <a:off x="2764740" y="1989094"/>
            <a:ext cx="3020655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-0.5</a:t>
            </a:r>
          </a:p>
        </p:txBody>
      </p:sp>
      <p:sp>
        <p:nvSpPr>
          <p:cNvPr id="276" name="TextBox 275"/>
          <p:cNvSpPr txBox="1"/>
          <p:nvPr/>
        </p:nvSpPr>
        <p:spPr>
          <a:xfrm>
            <a:off x="2946499" y="1989094"/>
            <a:ext cx="2838896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-0.8</a:t>
            </a:r>
          </a:p>
        </p:txBody>
      </p:sp>
      <p:sp>
        <p:nvSpPr>
          <p:cNvPr id="277" name="TextBox 276"/>
          <p:cNvSpPr txBox="1"/>
          <p:nvPr/>
        </p:nvSpPr>
        <p:spPr>
          <a:xfrm>
            <a:off x="3134578" y="1989265"/>
            <a:ext cx="2650817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278" name="TextBox 277"/>
          <p:cNvSpPr txBox="1"/>
          <p:nvPr/>
        </p:nvSpPr>
        <p:spPr>
          <a:xfrm>
            <a:off x="3308619" y="1989094"/>
            <a:ext cx="2476776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-0.6</a:t>
            </a:r>
          </a:p>
        </p:txBody>
      </p:sp>
      <p:sp>
        <p:nvSpPr>
          <p:cNvPr id="279" name="TextBox 278"/>
          <p:cNvSpPr txBox="1"/>
          <p:nvPr/>
        </p:nvSpPr>
        <p:spPr>
          <a:xfrm>
            <a:off x="3500263" y="1989094"/>
            <a:ext cx="2285132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0.5</a:t>
            </a:r>
          </a:p>
        </p:txBody>
      </p:sp>
      <p:sp>
        <p:nvSpPr>
          <p:cNvPr id="280" name="TextBox 279"/>
          <p:cNvSpPr txBox="1"/>
          <p:nvPr/>
        </p:nvSpPr>
        <p:spPr>
          <a:xfrm>
            <a:off x="3671754" y="1989094"/>
            <a:ext cx="2113641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-0.8</a:t>
            </a:r>
          </a:p>
        </p:txBody>
      </p:sp>
      <p:sp>
        <p:nvSpPr>
          <p:cNvPr id="281" name="TextBox 280"/>
          <p:cNvSpPr txBox="1"/>
          <p:nvPr/>
        </p:nvSpPr>
        <p:spPr>
          <a:xfrm>
            <a:off x="2209314" y="2113277"/>
            <a:ext cx="3576081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Child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2311587" y="2231167"/>
            <a:ext cx="3473808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283" name="TextBox 282"/>
          <p:cNvSpPr txBox="1"/>
          <p:nvPr/>
        </p:nvSpPr>
        <p:spPr>
          <a:xfrm>
            <a:off x="2305063" y="2956421"/>
            <a:ext cx="3480332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284" name="TextBox 283"/>
          <p:cNvSpPr txBox="1"/>
          <p:nvPr/>
        </p:nvSpPr>
        <p:spPr>
          <a:xfrm>
            <a:off x="2567101" y="2231167"/>
            <a:ext cx="3218294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85" name="TextBox 284"/>
          <p:cNvSpPr txBox="1"/>
          <p:nvPr/>
        </p:nvSpPr>
        <p:spPr>
          <a:xfrm>
            <a:off x="2560577" y="2956421"/>
            <a:ext cx="3224818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2922765" y="2230843"/>
            <a:ext cx="2862631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287" name="TextBox 286"/>
          <p:cNvSpPr txBox="1"/>
          <p:nvPr/>
        </p:nvSpPr>
        <p:spPr>
          <a:xfrm>
            <a:off x="2922833" y="2593798"/>
            <a:ext cx="2862562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288" name="TextBox 287"/>
          <p:cNvSpPr txBox="1"/>
          <p:nvPr/>
        </p:nvSpPr>
        <p:spPr>
          <a:xfrm>
            <a:off x="2922526" y="2956097"/>
            <a:ext cx="2862869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3405963" y="2593474"/>
            <a:ext cx="2379432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290" name="TextBox 289"/>
          <p:cNvSpPr txBox="1"/>
          <p:nvPr/>
        </p:nvSpPr>
        <p:spPr>
          <a:xfrm>
            <a:off x="3650262" y="2578208"/>
            <a:ext cx="2135133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291" name="TextBox 290"/>
          <p:cNvSpPr txBox="1"/>
          <p:nvPr/>
        </p:nvSpPr>
        <p:spPr>
          <a:xfrm>
            <a:off x="2658586" y="2239086"/>
            <a:ext cx="3126809" cy="790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1" b="0">
                <a:solidFill>
                  <a:srgbClr val="FFFFFF"/>
                </a:solidFill>
                <a:latin typeface="Josefin Sans"/>
              </a:rPr>
              <a:t>0.1</a:t>
            </a:r>
          </a:p>
        </p:txBody>
      </p:sp>
      <p:sp>
        <p:nvSpPr>
          <p:cNvPr id="292" name="TextBox 291"/>
          <p:cNvSpPr txBox="1"/>
          <p:nvPr/>
        </p:nvSpPr>
        <p:spPr>
          <a:xfrm>
            <a:off x="2658586" y="2239086"/>
            <a:ext cx="3126809" cy="790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1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93" name="TextBox 292"/>
          <p:cNvSpPr txBox="1"/>
          <p:nvPr/>
        </p:nvSpPr>
        <p:spPr>
          <a:xfrm>
            <a:off x="2689391" y="2384011"/>
            <a:ext cx="3096004" cy="790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1" b="0">
                <a:solidFill>
                  <a:srgbClr val="FFFFFF"/>
                </a:solidFill>
                <a:latin typeface="Josefin Sans"/>
              </a:rPr>
              <a:t>0.9</a:t>
            </a:r>
          </a:p>
        </p:txBody>
      </p:sp>
      <p:sp>
        <p:nvSpPr>
          <p:cNvPr id="294" name="TextBox 293"/>
          <p:cNvSpPr txBox="1"/>
          <p:nvPr/>
        </p:nvSpPr>
        <p:spPr>
          <a:xfrm>
            <a:off x="2689391" y="2384011"/>
            <a:ext cx="3096004" cy="790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1" b="0">
                <a:solidFill>
                  <a:srgbClr val="000000"/>
                </a:solidFill>
                <a:latin typeface="Josefin Sans"/>
              </a:rPr>
              <a:t>0.9</a:t>
            </a:r>
          </a:p>
        </p:txBody>
      </p:sp>
      <p:sp>
        <p:nvSpPr>
          <p:cNvPr id="295" name="TextBox 294"/>
          <p:cNvSpPr txBox="1"/>
          <p:nvPr/>
        </p:nvSpPr>
        <p:spPr>
          <a:xfrm>
            <a:off x="2645819" y="2456546"/>
            <a:ext cx="3139576" cy="790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1" b="0">
                <a:solidFill>
                  <a:srgbClr val="FFFFFF"/>
                </a:solidFill>
                <a:latin typeface="Josefin Sans"/>
              </a:rPr>
              <a:t>-0.8</a:t>
            </a:r>
          </a:p>
        </p:txBody>
      </p:sp>
      <p:sp>
        <p:nvSpPr>
          <p:cNvPr id="296" name="TextBox 295"/>
          <p:cNvSpPr txBox="1"/>
          <p:nvPr/>
        </p:nvSpPr>
        <p:spPr>
          <a:xfrm>
            <a:off x="2645819" y="2456546"/>
            <a:ext cx="3139576" cy="790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1" b="0">
                <a:solidFill>
                  <a:srgbClr val="000000"/>
                </a:solidFill>
                <a:latin typeface="Josefin Sans"/>
              </a:rPr>
              <a:t>-0.8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2646783" y="2746770"/>
            <a:ext cx="3138612" cy="790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1" b="0">
                <a:solidFill>
                  <a:srgbClr val="FFFFFF"/>
                </a:solidFill>
                <a:latin typeface="Josefin Sans"/>
              </a:rPr>
              <a:t>-0.7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2646783" y="2746770"/>
            <a:ext cx="3138612" cy="790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1" b="0">
                <a:solidFill>
                  <a:srgbClr val="000000"/>
                </a:solidFill>
                <a:latin typeface="Josefin Sans"/>
              </a:rPr>
              <a:t>-0.7</a:t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2645486" y="2855432"/>
            <a:ext cx="3139909" cy="790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1" b="0">
                <a:solidFill>
                  <a:srgbClr val="FFFFFF"/>
                </a:solidFill>
                <a:latin typeface="Josefin Sans"/>
              </a:rPr>
              <a:t>-0.5</a:t>
            </a:r>
          </a:p>
        </p:txBody>
      </p:sp>
      <p:sp>
        <p:nvSpPr>
          <p:cNvPr id="300" name="TextBox 299"/>
          <p:cNvSpPr txBox="1"/>
          <p:nvPr/>
        </p:nvSpPr>
        <p:spPr>
          <a:xfrm>
            <a:off x="2645486" y="2855432"/>
            <a:ext cx="3139909" cy="790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1" b="0">
                <a:solidFill>
                  <a:srgbClr val="000000"/>
                </a:solidFill>
                <a:latin typeface="Josefin Sans"/>
              </a:rPr>
              <a:t>-0.5</a:t>
            </a:r>
          </a:p>
        </p:txBody>
      </p:sp>
      <p:sp>
        <p:nvSpPr>
          <p:cNvPr id="301" name="TextBox 300"/>
          <p:cNvSpPr txBox="1"/>
          <p:nvPr/>
        </p:nvSpPr>
        <p:spPr>
          <a:xfrm>
            <a:off x="2650885" y="2964349"/>
            <a:ext cx="3134510" cy="790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1" b="0">
                <a:solidFill>
                  <a:srgbClr val="FFFFFF"/>
                </a:solidFill>
                <a:latin typeface="Josefin Sans"/>
              </a:rPr>
              <a:t>-0.1</a:t>
            </a:r>
          </a:p>
        </p:txBody>
      </p:sp>
      <p:sp>
        <p:nvSpPr>
          <p:cNvPr id="302" name="TextBox 301"/>
          <p:cNvSpPr txBox="1"/>
          <p:nvPr/>
        </p:nvSpPr>
        <p:spPr>
          <a:xfrm>
            <a:off x="2650885" y="2964349"/>
            <a:ext cx="3134510" cy="790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1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3044321" y="2347756"/>
            <a:ext cx="2741074" cy="790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1" b="0">
                <a:solidFill>
                  <a:srgbClr val="FFFFFF"/>
                </a:solidFill>
                <a:latin typeface="Josefin Sans"/>
              </a:rPr>
              <a:t>-0.6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3044321" y="2347756"/>
            <a:ext cx="2741074" cy="790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1" b="0">
                <a:solidFill>
                  <a:srgbClr val="000000"/>
                </a:solidFill>
                <a:latin typeface="Josefin Sans"/>
              </a:rPr>
              <a:t>-0.6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3052074" y="2601590"/>
            <a:ext cx="2733321" cy="790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1" b="0">
                <a:solidFill>
                  <a:srgbClr val="FFFFFF"/>
                </a:solidFill>
                <a:latin typeface="Josefin Sans"/>
              </a:rPr>
              <a:t>0.5</a:t>
            </a:r>
          </a:p>
        </p:txBody>
      </p:sp>
      <p:sp>
        <p:nvSpPr>
          <p:cNvPr id="306" name="TextBox 305"/>
          <p:cNvSpPr txBox="1"/>
          <p:nvPr/>
        </p:nvSpPr>
        <p:spPr>
          <a:xfrm>
            <a:off x="3052074" y="2601590"/>
            <a:ext cx="2733321" cy="790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1" b="0">
                <a:solidFill>
                  <a:srgbClr val="000000"/>
                </a:solidFill>
                <a:latin typeface="Josefin Sans"/>
              </a:rPr>
              <a:t>0.5</a:t>
            </a:r>
          </a:p>
        </p:txBody>
      </p:sp>
      <p:sp>
        <p:nvSpPr>
          <p:cNvPr id="307" name="TextBox 306"/>
          <p:cNvSpPr txBox="1"/>
          <p:nvPr/>
        </p:nvSpPr>
        <p:spPr>
          <a:xfrm>
            <a:off x="3044705" y="2855432"/>
            <a:ext cx="2740690" cy="790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1" b="0">
                <a:solidFill>
                  <a:srgbClr val="FFFFFF"/>
                </a:solidFill>
                <a:latin typeface="Josefin Sans"/>
              </a:rPr>
              <a:t>-0.8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3044705" y="2855432"/>
            <a:ext cx="2740690" cy="790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1" b="0">
                <a:solidFill>
                  <a:srgbClr val="000000"/>
                </a:solidFill>
                <a:latin typeface="Josefin Sans"/>
              </a:rPr>
              <a:t>-0.8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4901653" y="3150917"/>
            <a:ext cx="8837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310" name="TextBox 309"/>
          <p:cNvSpPr txBox="1"/>
          <p:nvPr/>
        </p:nvSpPr>
        <p:spPr>
          <a:xfrm>
            <a:off x="5638685" y="3150693"/>
            <a:ext cx="14671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897674" y="1097749"/>
            <a:ext cx="117607" cy="117607"/>
          </a:xfrm>
          <a:prstGeom prst="rect">
            <a:avLst/>
          </a:prstGeom>
          <a:noFill/>
          <a:ln w="4704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97674" y="2101621"/>
            <a:ext cx="117607" cy="117606"/>
          </a:xfrm>
          <a:prstGeom prst="rect">
            <a:avLst/>
          </a:prstGeom>
          <a:noFill/>
          <a:ln w="4704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689435" y="1156552"/>
            <a:ext cx="182366" cy="0"/>
          </a:xfrm>
          <a:prstGeom prst="line">
            <a:avLst/>
          </a:prstGeom>
          <a:ln w="470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Freeform 38"/>
          <p:cNvSpPr/>
          <p:nvPr/>
        </p:nvSpPr>
        <p:spPr>
          <a:xfrm>
            <a:off x="863600" y="1143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1017633" y="1156552"/>
            <a:ext cx="358995" cy="0"/>
          </a:xfrm>
          <a:prstGeom prst="line">
            <a:avLst/>
          </a:prstGeom>
          <a:ln w="470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eform 40"/>
          <p:cNvSpPr/>
          <p:nvPr/>
        </p:nvSpPr>
        <p:spPr>
          <a:xfrm>
            <a:off x="1358900" y="1143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1505024" y="1191510"/>
            <a:ext cx="556983" cy="417736"/>
          </a:xfrm>
          <a:prstGeom prst="line">
            <a:avLst/>
          </a:prstGeom>
          <a:ln w="470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Freeform 42"/>
          <p:cNvSpPr/>
          <p:nvPr/>
        </p:nvSpPr>
        <p:spPr>
          <a:xfrm>
            <a:off x="2044700" y="1587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3"/>
                </a:moveTo>
                <a:lnTo>
                  <a:pt x="1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1017629" y="1217708"/>
            <a:ext cx="383165" cy="383161"/>
          </a:xfrm>
          <a:prstGeom prst="line">
            <a:avLst/>
          </a:prstGeom>
          <a:ln w="470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Freeform 44"/>
          <p:cNvSpPr/>
          <p:nvPr/>
        </p:nvSpPr>
        <p:spPr>
          <a:xfrm>
            <a:off x="1371600" y="1574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3"/>
                </a:moveTo>
                <a:lnTo>
                  <a:pt x="3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1516379" y="1658488"/>
            <a:ext cx="529211" cy="0"/>
          </a:xfrm>
          <a:prstGeom prst="line">
            <a:avLst/>
          </a:prstGeom>
          <a:ln w="470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2032000" y="1638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987054" y="1217708"/>
            <a:ext cx="434659" cy="869314"/>
          </a:xfrm>
          <a:prstGeom prst="line">
            <a:avLst/>
          </a:prstGeom>
          <a:ln w="470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1397000" y="2070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3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1505253" y="1707731"/>
            <a:ext cx="556754" cy="417564"/>
          </a:xfrm>
          <a:prstGeom prst="line">
            <a:avLst/>
          </a:prstGeom>
          <a:ln w="470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2044700" y="1689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0"/>
                </a:moveTo>
                <a:lnTo>
                  <a:pt x="0" y="1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698467" y="2160425"/>
            <a:ext cx="173334" cy="0"/>
          </a:xfrm>
          <a:prstGeom prst="line">
            <a:avLst/>
          </a:prstGeom>
          <a:ln w="470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863600" y="21463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987025" y="1229698"/>
            <a:ext cx="434816" cy="869571"/>
          </a:xfrm>
          <a:prstGeom prst="line">
            <a:avLst/>
          </a:prstGeom>
          <a:ln w="470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1397000" y="1206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0"/>
                </a:moveTo>
                <a:lnTo>
                  <a:pt x="0" y="2"/>
                </a:lnTo>
                <a:lnTo>
                  <a:pt x="2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1505024" y="1191510"/>
            <a:ext cx="556983" cy="417736"/>
          </a:xfrm>
          <a:prstGeom prst="line">
            <a:avLst/>
          </a:prstGeom>
          <a:ln w="470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2044700" y="1587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3"/>
                </a:moveTo>
                <a:lnTo>
                  <a:pt x="1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 flipV="1">
            <a:off x="1017629" y="1716108"/>
            <a:ext cx="383165" cy="383161"/>
          </a:xfrm>
          <a:prstGeom prst="line">
            <a:avLst/>
          </a:prstGeom>
          <a:ln w="470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1371600" y="1701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0"/>
                </a:moveTo>
                <a:lnTo>
                  <a:pt x="0" y="1"/>
                </a:lnTo>
                <a:lnTo>
                  <a:pt x="2" y="1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1516379" y="1658488"/>
            <a:ext cx="529211" cy="0"/>
          </a:xfrm>
          <a:prstGeom prst="line">
            <a:avLst/>
          </a:prstGeom>
          <a:ln w="470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2032000" y="1638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1017633" y="2160425"/>
            <a:ext cx="358708" cy="0"/>
          </a:xfrm>
          <a:prstGeom prst="line">
            <a:avLst/>
          </a:prstGeom>
          <a:ln w="470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1358900" y="2146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 flipV="1">
            <a:off x="1505253" y="1707731"/>
            <a:ext cx="556754" cy="417564"/>
          </a:xfrm>
          <a:prstGeom prst="line">
            <a:avLst/>
          </a:prstGeom>
          <a:ln w="470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2044700" y="1689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0"/>
                </a:moveTo>
                <a:lnTo>
                  <a:pt x="0" y="1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2186213" y="1658488"/>
            <a:ext cx="197484" cy="0"/>
          </a:xfrm>
          <a:prstGeom prst="line">
            <a:avLst/>
          </a:prstGeom>
          <a:ln w="470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2374900" y="1638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412714" y="2260813"/>
            <a:ext cx="2258712" cy="0"/>
          </a:xfrm>
          <a:prstGeom prst="line">
            <a:avLst/>
          </a:prstGeom>
          <a:ln w="940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412714" y="2394661"/>
            <a:ext cx="2258712" cy="0"/>
          </a:xfrm>
          <a:prstGeom prst="line">
            <a:avLst/>
          </a:prstGeom>
          <a:ln w="940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412714" y="2260813"/>
            <a:ext cx="0" cy="133848"/>
          </a:xfrm>
          <a:prstGeom prst="line">
            <a:avLst/>
          </a:prstGeom>
          <a:ln w="940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663681" y="2260813"/>
            <a:ext cx="0" cy="133848"/>
          </a:xfrm>
          <a:prstGeom prst="line">
            <a:avLst/>
          </a:prstGeom>
          <a:ln w="470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914650" y="2260813"/>
            <a:ext cx="0" cy="133848"/>
          </a:xfrm>
          <a:prstGeom prst="line">
            <a:avLst/>
          </a:prstGeom>
          <a:ln w="940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1165618" y="2260813"/>
            <a:ext cx="0" cy="133848"/>
          </a:xfrm>
          <a:prstGeom prst="line">
            <a:avLst/>
          </a:prstGeom>
          <a:ln w="470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1416586" y="2260813"/>
            <a:ext cx="0" cy="133848"/>
          </a:xfrm>
          <a:prstGeom prst="line">
            <a:avLst/>
          </a:prstGeom>
          <a:ln w="940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1667554" y="2260813"/>
            <a:ext cx="0" cy="133848"/>
          </a:xfrm>
          <a:prstGeom prst="line">
            <a:avLst/>
          </a:prstGeom>
          <a:ln w="470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1918522" y="2260813"/>
            <a:ext cx="0" cy="133848"/>
          </a:xfrm>
          <a:prstGeom prst="line">
            <a:avLst/>
          </a:prstGeom>
          <a:ln w="940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2169490" y="2260813"/>
            <a:ext cx="0" cy="133848"/>
          </a:xfrm>
          <a:prstGeom prst="line">
            <a:avLst/>
          </a:prstGeom>
          <a:ln w="470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2420458" y="2260813"/>
            <a:ext cx="0" cy="133848"/>
          </a:xfrm>
          <a:prstGeom prst="line">
            <a:avLst/>
          </a:prstGeom>
          <a:ln w="470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2671426" y="2260813"/>
            <a:ext cx="0" cy="133848"/>
          </a:xfrm>
          <a:prstGeom prst="line">
            <a:avLst/>
          </a:prstGeom>
          <a:ln w="940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Rectangle 79"/>
          <p:cNvSpPr/>
          <p:nvPr/>
        </p:nvSpPr>
        <p:spPr>
          <a:xfrm>
            <a:off x="1416586" y="2260813"/>
            <a:ext cx="501936" cy="133847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3573665" y="1093851"/>
            <a:ext cx="117606" cy="117607"/>
          </a:xfrm>
          <a:prstGeom prst="rect">
            <a:avLst/>
          </a:prstGeom>
          <a:noFill/>
          <a:ln w="4704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3573665" y="2097723"/>
            <a:ext cx="117606" cy="117607"/>
          </a:xfrm>
          <a:prstGeom prst="rect">
            <a:avLst/>
          </a:prstGeom>
          <a:noFill/>
          <a:ln w="4704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3" name="Connector 82"/>
          <p:cNvCxnSpPr/>
          <p:nvPr/>
        </p:nvCxnSpPr>
        <p:spPr>
          <a:xfrm>
            <a:off x="3365425" y="1152654"/>
            <a:ext cx="182366" cy="0"/>
          </a:xfrm>
          <a:prstGeom prst="line">
            <a:avLst/>
          </a:prstGeom>
          <a:ln w="470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Freeform 83"/>
          <p:cNvSpPr/>
          <p:nvPr/>
        </p:nvSpPr>
        <p:spPr>
          <a:xfrm>
            <a:off x="3530600" y="1130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5" name="Connector 84"/>
          <p:cNvCxnSpPr/>
          <p:nvPr/>
        </p:nvCxnSpPr>
        <p:spPr>
          <a:xfrm>
            <a:off x="3693624" y="1152654"/>
            <a:ext cx="358995" cy="0"/>
          </a:xfrm>
          <a:prstGeom prst="line">
            <a:avLst/>
          </a:prstGeom>
          <a:ln w="470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Freeform 85"/>
          <p:cNvSpPr/>
          <p:nvPr/>
        </p:nvSpPr>
        <p:spPr>
          <a:xfrm>
            <a:off x="4038600" y="1130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7" name="Connector 86"/>
          <p:cNvCxnSpPr/>
          <p:nvPr/>
        </p:nvCxnSpPr>
        <p:spPr>
          <a:xfrm>
            <a:off x="4181014" y="1187612"/>
            <a:ext cx="556983" cy="417736"/>
          </a:xfrm>
          <a:prstGeom prst="line">
            <a:avLst/>
          </a:prstGeom>
          <a:ln w="470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Freeform 87"/>
          <p:cNvSpPr/>
          <p:nvPr/>
        </p:nvSpPr>
        <p:spPr>
          <a:xfrm>
            <a:off x="4711700" y="1587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3"/>
                </a:moveTo>
                <a:lnTo>
                  <a:pt x="2" y="0"/>
                </a:lnTo>
                <a:lnTo>
                  <a:pt x="2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9" name="Connector 88"/>
          <p:cNvCxnSpPr/>
          <p:nvPr/>
        </p:nvCxnSpPr>
        <p:spPr>
          <a:xfrm>
            <a:off x="3693620" y="1213810"/>
            <a:ext cx="383164" cy="383161"/>
          </a:xfrm>
          <a:prstGeom prst="line">
            <a:avLst/>
          </a:prstGeom>
          <a:ln w="470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Freeform 89"/>
          <p:cNvSpPr/>
          <p:nvPr/>
        </p:nvSpPr>
        <p:spPr>
          <a:xfrm>
            <a:off x="4051300" y="1574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3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1" name="Connector 90"/>
          <p:cNvCxnSpPr/>
          <p:nvPr/>
        </p:nvCxnSpPr>
        <p:spPr>
          <a:xfrm>
            <a:off x="4192370" y="1654590"/>
            <a:ext cx="529210" cy="0"/>
          </a:xfrm>
          <a:prstGeom prst="line">
            <a:avLst/>
          </a:prstGeom>
          <a:ln w="470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Freeform 91"/>
          <p:cNvSpPr/>
          <p:nvPr/>
        </p:nvSpPr>
        <p:spPr>
          <a:xfrm>
            <a:off x="4711700" y="1638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3" name="Connector 92"/>
          <p:cNvCxnSpPr/>
          <p:nvPr/>
        </p:nvCxnSpPr>
        <p:spPr>
          <a:xfrm>
            <a:off x="3663044" y="1213810"/>
            <a:ext cx="434660" cy="869314"/>
          </a:xfrm>
          <a:prstGeom prst="line">
            <a:avLst/>
          </a:prstGeom>
          <a:ln w="470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Freeform 93"/>
          <p:cNvSpPr/>
          <p:nvPr/>
        </p:nvSpPr>
        <p:spPr>
          <a:xfrm>
            <a:off x="4076700" y="2057400"/>
            <a:ext cx="25400" cy="50800"/>
          </a:xfrm>
          <a:custGeom>
            <a:avLst/>
            <a:gdLst/>
            <a:ahLst/>
            <a:cxnLst/>
            <a:rect l="l" t="t" r="r" b="b"/>
            <a:pathLst>
              <a:path w="2" h="4">
                <a:moveTo>
                  <a:pt x="2" y="4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5" name="Connector 94"/>
          <p:cNvCxnSpPr/>
          <p:nvPr/>
        </p:nvCxnSpPr>
        <p:spPr>
          <a:xfrm flipV="1">
            <a:off x="4181244" y="1703833"/>
            <a:ext cx="556753" cy="417563"/>
          </a:xfrm>
          <a:prstGeom prst="line">
            <a:avLst/>
          </a:prstGeom>
          <a:ln w="470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Freeform 95"/>
          <p:cNvSpPr/>
          <p:nvPr/>
        </p:nvSpPr>
        <p:spPr>
          <a:xfrm>
            <a:off x="4711700" y="1689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0"/>
                </a:moveTo>
                <a:lnTo>
                  <a:pt x="0" y="1"/>
                </a:lnTo>
                <a:lnTo>
                  <a:pt x="2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7" name="Connector 96"/>
          <p:cNvCxnSpPr/>
          <p:nvPr/>
        </p:nvCxnSpPr>
        <p:spPr>
          <a:xfrm>
            <a:off x="3374457" y="2156527"/>
            <a:ext cx="173334" cy="0"/>
          </a:xfrm>
          <a:prstGeom prst="line">
            <a:avLst/>
          </a:prstGeom>
          <a:ln w="470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Freeform 97"/>
          <p:cNvSpPr/>
          <p:nvPr/>
        </p:nvSpPr>
        <p:spPr>
          <a:xfrm>
            <a:off x="3530600" y="2133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9" name="Connector 98"/>
          <p:cNvCxnSpPr/>
          <p:nvPr/>
        </p:nvCxnSpPr>
        <p:spPr>
          <a:xfrm flipV="1">
            <a:off x="3663015" y="1225800"/>
            <a:ext cx="434816" cy="869571"/>
          </a:xfrm>
          <a:prstGeom prst="line">
            <a:avLst/>
          </a:prstGeom>
          <a:ln w="470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Freeform 99"/>
          <p:cNvSpPr/>
          <p:nvPr/>
        </p:nvSpPr>
        <p:spPr>
          <a:xfrm>
            <a:off x="4076700" y="12065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2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1" name="Connector 100"/>
          <p:cNvCxnSpPr/>
          <p:nvPr/>
        </p:nvCxnSpPr>
        <p:spPr>
          <a:xfrm>
            <a:off x="4181014" y="1187612"/>
            <a:ext cx="556983" cy="417736"/>
          </a:xfrm>
          <a:prstGeom prst="line">
            <a:avLst/>
          </a:prstGeom>
          <a:ln w="470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Freeform 101"/>
          <p:cNvSpPr/>
          <p:nvPr/>
        </p:nvSpPr>
        <p:spPr>
          <a:xfrm>
            <a:off x="4711700" y="1587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3"/>
                </a:moveTo>
                <a:lnTo>
                  <a:pt x="2" y="0"/>
                </a:lnTo>
                <a:lnTo>
                  <a:pt x="2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3" name="Connector 102"/>
          <p:cNvCxnSpPr/>
          <p:nvPr/>
        </p:nvCxnSpPr>
        <p:spPr>
          <a:xfrm flipV="1">
            <a:off x="3693620" y="1712210"/>
            <a:ext cx="383164" cy="383161"/>
          </a:xfrm>
          <a:prstGeom prst="line">
            <a:avLst/>
          </a:prstGeom>
          <a:ln w="470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Freeform 103"/>
          <p:cNvSpPr/>
          <p:nvPr/>
        </p:nvSpPr>
        <p:spPr>
          <a:xfrm>
            <a:off x="4051300" y="1701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0"/>
                </a:moveTo>
                <a:lnTo>
                  <a:pt x="0" y="1"/>
                </a:lnTo>
                <a:lnTo>
                  <a:pt x="2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5" name="Connector 104"/>
          <p:cNvCxnSpPr/>
          <p:nvPr/>
        </p:nvCxnSpPr>
        <p:spPr>
          <a:xfrm>
            <a:off x="4192370" y="1654590"/>
            <a:ext cx="529210" cy="0"/>
          </a:xfrm>
          <a:prstGeom prst="line">
            <a:avLst/>
          </a:prstGeom>
          <a:ln w="470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Freeform 105"/>
          <p:cNvSpPr/>
          <p:nvPr/>
        </p:nvSpPr>
        <p:spPr>
          <a:xfrm>
            <a:off x="4711700" y="1638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7" name="Connector 106"/>
          <p:cNvCxnSpPr/>
          <p:nvPr/>
        </p:nvCxnSpPr>
        <p:spPr>
          <a:xfrm>
            <a:off x="3693624" y="2156527"/>
            <a:ext cx="358708" cy="0"/>
          </a:xfrm>
          <a:prstGeom prst="line">
            <a:avLst/>
          </a:prstGeom>
          <a:ln w="470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Freeform 107"/>
          <p:cNvSpPr/>
          <p:nvPr/>
        </p:nvSpPr>
        <p:spPr>
          <a:xfrm>
            <a:off x="4038600" y="2133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9" name="Connector 108"/>
          <p:cNvCxnSpPr/>
          <p:nvPr/>
        </p:nvCxnSpPr>
        <p:spPr>
          <a:xfrm flipV="1">
            <a:off x="4181244" y="1703833"/>
            <a:ext cx="556753" cy="417563"/>
          </a:xfrm>
          <a:prstGeom prst="line">
            <a:avLst/>
          </a:prstGeom>
          <a:ln w="470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Freeform 109"/>
          <p:cNvSpPr/>
          <p:nvPr/>
        </p:nvSpPr>
        <p:spPr>
          <a:xfrm>
            <a:off x="4711700" y="1689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0"/>
                </a:moveTo>
                <a:lnTo>
                  <a:pt x="0" y="1"/>
                </a:lnTo>
                <a:lnTo>
                  <a:pt x="2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1" name="Connector 110"/>
          <p:cNvCxnSpPr/>
          <p:nvPr/>
        </p:nvCxnSpPr>
        <p:spPr>
          <a:xfrm>
            <a:off x="4862204" y="1654590"/>
            <a:ext cx="197484" cy="0"/>
          </a:xfrm>
          <a:prstGeom prst="line">
            <a:avLst/>
          </a:prstGeom>
          <a:ln w="470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Freeform 111"/>
          <p:cNvSpPr/>
          <p:nvPr/>
        </p:nvSpPr>
        <p:spPr>
          <a:xfrm>
            <a:off x="5041900" y="1638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3" name="Connector 112"/>
          <p:cNvCxnSpPr/>
          <p:nvPr/>
        </p:nvCxnSpPr>
        <p:spPr>
          <a:xfrm>
            <a:off x="3088704" y="2256915"/>
            <a:ext cx="2258713" cy="0"/>
          </a:xfrm>
          <a:prstGeom prst="line">
            <a:avLst/>
          </a:prstGeom>
          <a:ln w="940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3088704" y="2390762"/>
            <a:ext cx="2258713" cy="0"/>
          </a:xfrm>
          <a:prstGeom prst="line">
            <a:avLst/>
          </a:prstGeom>
          <a:ln w="940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3088704" y="2256915"/>
            <a:ext cx="0" cy="133847"/>
          </a:xfrm>
          <a:prstGeom prst="line">
            <a:avLst/>
          </a:prstGeom>
          <a:ln w="940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 flipV="1">
            <a:off x="3339672" y="2256915"/>
            <a:ext cx="0" cy="133847"/>
          </a:xfrm>
          <a:prstGeom prst="line">
            <a:avLst/>
          </a:prstGeom>
          <a:ln w="470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V="1">
            <a:off x="3590640" y="2256915"/>
            <a:ext cx="0" cy="133847"/>
          </a:xfrm>
          <a:prstGeom prst="line">
            <a:avLst/>
          </a:prstGeom>
          <a:ln w="940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V="1">
            <a:off x="3841608" y="2256915"/>
            <a:ext cx="0" cy="133847"/>
          </a:xfrm>
          <a:prstGeom prst="line">
            <a:avLst/>
          </a:prstGeom>
          <a:ln w="470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V="1">
            <a:off x="4092576" y="2256915"/>
            <a:ext cx="0" cy="133847"/>
          </a:xfrm>
          <a:prstGeom prst="line">
            <a:avLst/>
          </a:prstGeom>
          <a:ln w="940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 flipV="1">
            <a:off x="4343544" y="2256915"/>
            <a:ext cx="0" cy="133847"/>
          </a:xfrm>
          <a:prstGeom prst="line">
            <a:avLst/>
          </a:prstGeom>
          <a:ln w="470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 flipV="1">
            <a:off x="4594512" y="2256915"/>
            <a:ext cx="0" cy="133847"/>
          </a:xfrm>
          <a:prstGeom prst="line">
            <a:avLst/>
          </a:prstGeom>
          <a:ln w="940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V="1">
            <a:off x="4845480" y="2256915"/>
            <a:ext cx="0" cy="133847"/>
          </a:xfrm>
          <a:prstGeom prst="line">
            <a:avLst/>
          </a:prstGeom>
          <a:ln w="470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V="1">
            <a:off x="5096449" y="2256915"/>
            <a:ext cx="0" cy="133847"/>
          </a:xfrm>
          <a:prstGeom prst="line">
            <a:avLst/>
          </a:prstGeom>
          <a:ln w="470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V="1">
            <a:off x="5347417" y="2256915"/>
            <a:ext cx="0" cy="133847"/>
          </a:xfrm>
          <a:prstGeom prst="line">
            <a:avLst/>
          </a:prstGeom>
          <a:ln w="940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Rectangle 124"/>
          <p:cNvSpPr/>
          <p:nvPr/>
        </p:nvSpPr>
        <p:spPr>
          <a:xfrm>
            <a:off x="4092576" y="2256915"/>
            <a:ext cx="501936" cy="133847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-2" y="314675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2880002" y="314675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8" name="Picture 12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29" name="Picture 12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30" name="TextBox 12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networks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59993" y="78920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Mutation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46425" y="940404"/>
            <a:ext cx="5338970" cy="1458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000000"/>
                </a:solidFill>
                <a:latin typeface="Josefin Sans"/>
              </a:rPr>
              <a:t>Original</a:t>
            </a:r>
            <a:r>
              <a:rPr sz="740" b="0">
                <a:solidFill>
                  <a:srgbClr val="000000"/>
                </a:solidFill>
                <a:latin typeface="Josefin Sans"/>
              </a:rPr>
              <a:t> </a:t>
            </a:r>
            <a:r>
              <a:rPr sz="740" b="0">
                <a:solidFill>
                  <a:srgbClr val="000000"/>
                </a:solidFill>
                <a:latin typeface="Josefin Sans"/>
              </a:rPr>
              <a:t>network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87986" y="1112043"/>
            <a:ext cx="5197409" cy="1458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578955" y="2115899"/>
            <a:ext cx="5206440" cy="1458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941653" y="1112043"/>
            <a:ext cx="4843742" cy="1458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32623" y="2115899"/>
            <a:ext cx="4852772" cy="1458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433943" y="1111595"/>
            <a:ext cx="4351452" cy="1458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434037" y="1613977"/>
            <a:ext cx="4351358" cy="1458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433612" y="2115462"/>
            <a:ext cx="4351783" cy="1458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2102759" y="1613528"/>
            <a:ext cx="3682636" cy="1458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2440903" y="1592410"/>
            <a:ext cx="3344492" cy="1458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68282" y="1123017"/>
            <a:ext cx="4717113" cy="10937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5" b="0">
                <a:solidFill>
                  <a:srgbClr val="FFFFFF"/>
                </a:solidFill>
                <a:latin typeface="Josefin Sans"/>
              </a:rPr>
              <a:t>0.1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68282" y="1123017"/>
            <a:ext cx="4717113" cy="10937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5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101040" y="1323779"/>
            <a:ext cx="4684355" cy="10937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5" b="0">
                <a:solidFill>
                  <a:srgbClr val="FFFFFF"/>
                </a:solidFill>
                <a:latin typeface="Josefin Sans"/>
              </a:rPr>
              <a:t>-0.2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101040" y="1323779"/>
            <a:ext cx="4684355" cy="10937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5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62427" y="1424177"/>
            <a:ext cx="4722968" cy="10937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5" b="0">
                <a:solidFill>
                  <a:srgbClr val="FFFFFF"/>
                </a:solidFill>
                <a:latin typeface="Josefin Sans"/>
              </a:rPr>
              <a:t>0.4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062427" y="1424177"/>
            <a:ext cx="4722968" cy="10937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5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51944" y="1825712"/>
            <a:ext cx="4733451" cy="10937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5" b="0">
                <a:solidFill>
                  <a:srgbClr val="FFFFFF"/>
                </a:solidFill>
                <a:latin typeface="Josefin Sans"/>
              </a:rPr>
              <a:t>-0.7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51944" y="1825712"/>
            <a:ext cx="4733451" cy="10937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5" b="0">
                <a:solidFill>
                  <a:srgbClr val="000000"/>
                </a:solidFill>
                <a:latin typeface="Josefin Sans"/>
              </a:rPr>
              <a:t>-0.7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60727" y="1976115"/>
            <a:ext cx="4724668" cy="10937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5" b="0">
                <a:solidFill>
                  <a:srgbClr val="FFFFFF"/>
                </a:solidFill>
                <a:latin typeface="Josefin Sans"/>
              </a:rPr>
              <a:t>0.9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60727" y="1976115"/>
            <a:ext cx="4724668" cy="10937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5" b="0">
                <a:solidFill>
                  <a:srgbClr val="000000"/>
                </a:solidFill>
                <a:latin typeface="Josefin Sans"/>
              </a:rPr>
              <a:t>0.9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50386" y="2126695"/>
            <a:ext cx="4735009" cy="10937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5" b="0">
                <a:solidFill>
                  <a:srgbClr val="FFFFFF"/>
                </a:solidFill>
                <a:latin typeface="Josefin Sans"/>
              </a:rPr>
              <a:t>-0.3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50386" y="2126695"/>
            <a:ext cx="4735009" cy="10937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5" b="0">
                <a:solidFill>
                  <a:srgbClr val="000000"/>
                </a:solidFill>
                <a:latin typeface="Josefin Sans"/>
              </a:rPr>
              <a:t>-0.3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602194" y="1273420"/>
            <a:ext cx="4183201" cy="10937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5" b="0">
                <a:solidFill>
                  <a:srgbClr val="FFFFFF"/>
                </a:solidFill>
                <a:latin typeface="Josefin Sans"/>
              </a:rPr>
              <a:t>-0.6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602194" y="1273420"/>
            <a:ext cx="4183201" cy="10937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5" b="0">
                <a:solidFill>
                  <a:srgbClr val="000000"/>
                </a:solidFill>
                <a:latin typeface="Josefin Sans"/>
              </a:rPr>
              <a:t>-0.6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612925" y="1624762"/>
            <a:ext cx="4172470" cy="10937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5" b="0">
                <a:solidFill>
                  <a:srgbClr val="FFFFFF"/>
                </a:solidFill>
                <a:latin typeface="Josefin Sans"/>
              </a:rPr>
              <a:t>0.5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612925" y="1624762"/>
            <a:ext cx="4172470" cy="10937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5" b="0">
                <a:solidFill>
                  <a:srgbClr val="000000"/>
                </a:solidFill>
                <a:latin typeface="Josefin Sans"/>
              </a:rPr>
              <a:t>0.5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602726" y="1976115"/>
            <a:ext cx="4182669" cy="10937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5" b="0">
                <a:solidFill>
                  <a:srgbClr val="FFFFFF"/>
                </a:solidFill>
                <a:latin typeface="Josefin Sans"/>
              </a:rPr>
              <a:t>-0.8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602726" y="1976115"/>
            <a:ext cx="4182669" cy="10937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5" b="0">
                <a:solidFill>
                  <a:srgbClr val="000000"/>
                </a:solidFill>
                <a:latin typeface="Josefin Sans"/>
              </a:rPr>
              <a:t>-0.8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486501" y="2283005"/>
            <a:ext cx="5298894" cy="1458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715689" y="2283005"/>
            <a:ext cx="5069706" cy="1458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000000"/>
                </a:solidFill>
                <a:latin typeface="Josefin Sans"/>
              </a:rPr>
              <a:t>-0.7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5192" y="2283005"/>
            <a:ext cx="4820203" cy="1458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229333" y="2282769"/>
            <a:ext cx="4556062" cy="1458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000000"/>
                </a:solidFill>
                <a:latin typeface="Josefin Sans"/>
              </a:rPr>
              <a:t>0.9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482554" y="2283005"/>
            <a:ext cx="4302841" cy="1458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717479" y="2282769"/>
            <a:ext cx="4067917" cy="1458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000000"/>
                </a:solidFill>
                <a:latin typeface="Josefin Sans"/>
              </a:rPr>
              <a:t>-0.3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968020" y="2282769"/>
            <a:ext cx="3817375" cy="1458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000000"/>
                </a:solidFill>
                <a:latin typeface="Josefin Sans"/>
              </a:rPr>
              <a:t>-0.6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233283" y="2282769"/>
            <a:ext cx="3552113" cy="1458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000000"/>
                </a:solidFill>
                <a:latin typeface="Josefin Sans"/>
              </a:rPr>
              <a:t>0.5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2470651" y="2282769"/>
            <a:ext cx="3314744" cy="1458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000000"/>
                </a:solidFill>
                <a:latin typeface="Josefin Sans"/>
              </a:rPr>
              <a:t>-0.8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3122415" y="944297"/>
            <a:ext cx="2662980" cy="1458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000000"/>
                </a:solidFill>
                <a:latin typeface="Josefin Sans"/>
              </a:rPr>
              <a:t>Mutated</a:t>
            </a:r>
            <a:r>
              <a:rPr sz="740" b="0">
                <a:solidFill>
                  <a:srgbClr val="000000"/>
                </a:solidFill>
                <a:latin typeface="Josefin Sans"/>
              </a:rPr>
              <a:t> </a:t>
            </a:r>
            <a:r>
              <a:rPr sz="740" b="0">
                <a:solidFill>
                  <a:srgbClr val="000000"/>
                </a:solidFill>
                <a:latin typeface="Josefin Sans"/>
              </a:rPr>
              <a:t>network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3263976" y="1108157"/>
            <a:ext cx="2521419" cy="1458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3254946" y="2112013"/>
            <a:ext cx="2530449" cy="1458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3617644" y="1108157"/>
            <a:ext cx="2167751" cy="1458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3608613" y="2112013"/>
            <a:ext cx="2176782" cy="1458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109933" y="1107709"/>
            <a:ext cx="1675462" cy="1458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110027" y="1610079"/>
            <a:ext cx="1675368" cy="1458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4109603" y="2111564"/>
            <a:ext cx="1675793" cy="1458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4778749" y="1609630"/>
            <a:ext cx="1006646" cy="1458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116893" y="1588512"/>
            <a:ext cx="668502" cy="1458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3744272" y="1119119"/>
            <a:ext cx="2041123" cy="10937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5" b="0">
                <a:solidFill>
                  <a:srgbClr val="FFFFFF"/>
                </a:solidFill>
                <a:latin typeface="Josefin Sans"/>
              </a:rPr>
              <a:t>0.1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3744272" y="1119119"/>
            <a:ext cx="2041123" cy="10937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5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3777030" y="1319892"/>
            <a:ext cx="2008365" cy="10937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5" b="0">
                <a:solidFill>
                  <a:srgbClr val="FFFFFF"/>
                </a:solidFill>
                <a:latin typeface="Josefin Sans"/>
              </a:rPr>
              <a:t>-0.2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3777030" y="1319892"/>
            <a:ext cx="2008365" cy="10937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5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3733613" y="1420279"/>
            <a:ext cx="2051782" cy="10937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5" b="0">
                <a:solidFill>
                  <a:srgbClr val="FFFFFF"/>
                </a:solidFill>
                <a:latin typeface="Josefin Sans"/>
              </a:rPr>
              <a:t>-0.1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3733613" y="1420279"/>
            <a:ext cx="2051782" cy="10937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5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3727935" y="1821814"/>
            <a:ext cx="2057460" cy="10937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5" b="0">
                <a:solidFill>
                  <a:srgbClr val="FFFFFF"/>
                </a:solidFill>
                <a:latin typeface="Josefin Sans"/>
              </a:rPr>
              <a:t>-0.7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3727935" y="1821814"/>
            <a:ext cx="2057460" cy="10937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5" b="0">
                <a:solidFill>
                  <a:srgbClr val="000000"/>
                </a:solidFill>
                <a:latin typeface="Josefin Sans"/>
              </a:rPr>
              <a:t>-0.7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3736717" y="1972217"/>
            <a:ext cx="2048678" cy="10937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5" b="0">
                <a:solidFill>
                  <a:srgbClr val="FFFFFF"/>
                </a:solidFill>
                <a:latin typeface="Josefin Sans"/>
              </a:rPr>
              <a:t>0.9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3736717" y="1972217"/>
            <a:ext cx="2048678" cy="10937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5" b="0">
                <a:solidFill>
                  <a:srgbClr val="000000"/>
                </a:solidFill>
                <a:latin typeface="Josefin Sans"/>
              </a:rPr>
              <a:t>0.9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3737496" y="2122975"/>
            <a:ext cx="2047899" cy="10937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5" b="0">
                <a:solidFill>
                  <a:srgbClr val="FFFFFF"/>
                </a:solidFill>
                <a:latin typeface="Josefin Sans"/>
              </a:rPr>
              <a:t>0.2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3737496" y="2122975"/>
            <a:ext cx="2047899" cy="10937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5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278185" y="1269522"/>
            <a:ext cx="1507210" cy="10937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5" b="0">
                <a:solidFill>
                  <a:srgbClr val="FFFFFF"/>
                </a:solidFill>
                <a:latin typeface="Josefin Sans"/>
              </a:rPr>
              <a:t>-0.6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4278185" y="1269522"/>
            <a:ext cx="1507210" cy="10937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5" b="0">
                <a:solidFill>
                  <a:srgbClr val="000000"/>
                </a:solidFill>
                <a:latin typeface="Josefin Sans"/>
              </a:rPr>
              <a:t>-0.6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288915" y="1620875"/>
            <a:ext cx="1496480" cy="10937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5" b="0">
                <a:solidFill>
                  <a:srgbClr val="FFFFFF"/>
                </a:solidFill>
                <a:latin typeface="Josefin Sans"/>
              </a:rPr>
              <a:t>0.5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4288915" y="1620875"/>
            <a:ext cx="1496480" cy="10937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5" b="0">
                <a:solidFill>
                  <a:srgbClr val="000000"/>
                </a:solidFill>
                <a:latin typeface="Josefin Sans"/>
              </a:rPr>
              <a:t>0.5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278716" y="1972217"/>
            <a:ext cx="1506679" cy="10937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5" b="0">
                <a:solidFill>
                  <a:srgbClr val="FFFFFF"/>
                </a:solidFill>
                <a:latin typeface="Josefin Sans"/>
              </a:rPr>
              <a:t>-0.8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278716" y="1972217"/>
            <a:ext cx="1506679" cy="10937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5" b="0">
                <a:solidFill>
                  <a:srgbClr val="000000"/>
                </a:solidFill>
                <a:latin typeface="Josefin Sans"/>
              </a:rPr>
              <a:t>-0.8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3162492" y="2279108"/>
            <a:ext cx="2622903" cy="1458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3391679" y="2279108"/>
            <a:ext cx="2393716" cy="1458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000000"/>
                </a:solidFill>
                <a:latin typeface="Josefin Sans"/>
              </a:rPr>
              <a:t>-0.7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3641182" y="2279108"/>
            <a:ext cx="2144213" cy="1458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3905323" y="2278871"/>
            <a:ext cx="1880072" cy="1458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000000"/>
                </a:solidFill>
                <a:latin typeface="Josefin Sans"/>
              </a:rPr>
              <a:t>0.9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4152146" y="2279108"/>
            <a:ext cx="1633249" cy="1458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4408284" y="2279108"/>
            <a:ext cx="1377111" cy="1458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4644011" y="2278871"/>
            <a:ext cx="1141384" cy="1458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000000"/>
                </a:solidFill>
                <a:latin typeface="Josefin Sans"/>
              </a:rPr>
              <a:t>-0.6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4909273" y="2278871"/>
            <a:ext cx="876122" cy="1458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000000"/>
                </a:solidFill>
                <a:latin typeface="Josefin Sans"/>
              </a:rPr>
              <a:t>0.5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5146641" y="2278871"/>
            <a:ext cx="638754" cy="1458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000000"/>
                </a:solidFill>
                <a:latin typeface="Josefin Sans"/>
              </a:rPr>
              <a:t>-0.8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384934" y="2543444"/>
            <a:ext cx="540046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mutated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adding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small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between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-1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1.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4901651" y="3150929"/>
            <a:ext cx="88374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5624103" y="3150705"/>
            <a:ext cx="16129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networks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20810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stage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optimise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weights,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structure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network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38017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assumed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fixed.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174302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How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formulate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(encode)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chromosome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allow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assist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identifying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191510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optimal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network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architecture?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01653" y="3150918"/>
            <a:ext cx="8837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3127" y="3150694"/>
            <a:ext cx="16226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3565893" y="929167"/>
            <a:ext cx="105454" cy="105454"/>
          </a:xfrm>
          <a:prstGeom prst="rect">
            <a:avLst/>
          </a:prstGeom>
          <a:noFill/>
          <a:ln w="4218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565893" y="1829304"/>
            <a:ext cx="105454" cy="105454"/>
          </a:xfrm>
          <a:prstGeom prst="rect">
            <a:avLst/>
          </a:prstGeom>
          <a:noFill/>
          <a:ln w="4218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3379172" y="981894"/>
            <a:ext cx="163522" cy="0"/>
          </a:xfrm>
          <a:prstGeom prst="line">
            <a:avLst/>
          </a:prstGeom>
          <a:ln w="421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Freeform 38"/>
          <p:cNvSpPr/>
          <p:nvPr/>
        </p:nvSpPr>
        <p:spPr>
          <a:xfrm>
            <a:off x="3530600" y="965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3387271" y="1882031"/>
            <a:ext cx="155423" cy="0"/>
          </a:xfrm>
          <a:prstGeom prst="line">
            <a:avLst/>
          </a:prstGeom>
          <a:ln w="421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eform 40"/>
          <p:cNvSpPr/>
          <p:nvPr/>
        </p:nvSpPr>
        <p:spPr>
          <a:xfrm>
            <a:off x="3530600" y="1866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3673456" y="981894"/>
            <a:ext cx="321899" cy="0"/>
          </a:xfrm>
          <a:prstGeom prst="line">
            <a:avLst/>
          </a:prstGeom>
          <a:ln w="421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Freeform 42"/>
          <p:cNvSpPr/>
          <p:nvPr/>
        </p:nvSpPr>
        <p:spPr>
          <a:xfrm>
            <a:off x="3987800" y="965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3673453" y="1036730"/>
            <a:ext cx="343570" cy="343567"/>
          </a:xfrm>
          <a:prstGeom prst="line">
            <a:avLst/>
          </a:prstGeom>
          <a:ln w="421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Freeform 44"/>
          <p:cNvSpPr/>
          <p:nvPr/>
        </p:nvSpPr>
        <p:spPr>
          <a:xfrm>
            <a:off x="4000500" y="13589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 flipV="1">
            <a:off x="3646010" y="1047481"/>
            <a:ext cx="389885" cy="779714"/>
          </a:xfrm>
          <a:prstGeom prst="line">
            <a:avLst/>
          </a:prstGeom>
          <a:ln w="421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4013200" y="1028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0"/>
                </a:moveTo>
                <a:lnTo>
                  <a:pt x="0" y="2"/>
                </a:lnTo>
                <a:lnTo>
                  <a:pt x="2" y="1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673456" y="1882031"/>
            <a:ext cx="321641" cy="0"/>
          </a:xfrm>
          <a:prstGeom prst="line">
            <a:avLst/>
          </a:prstGeom>
          <a:ln w="421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3987800" y="18669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3673456" y="1460950"/>
            <a:ext cx="927686" cy="397607"/>
          </a:xfrm>
          <a:prstGeom prst="line">
            <a:avLst/>
          </a:prstGeom>
          <a:ln w="421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4584700" y="1447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0"/>
                </a:moveTo>
                <a:lnTo>
                  <a:pt x="0" y="0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4110482" y="1013239"/>
            <a:ext cx="499427" cy="374569"/>
          </a:xfrm>
          <a:prstGeom prst="line">
            <a:avLst/>
          </a:prstGeom>
          <a:ln w="421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4584700" y="1371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2" y="0"/>
                </a:lnTo>
                <a:lnTo>
                  <a:pt x="2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4120664" y="1431962"/>
            <a:ext cx="474524" cy="0"/>
          </a:xfrm>
          <a:prstGeom prst="line">
            <a:avLst/>
          </a:prstGeom>
          <a:ln w="421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4584700" y="1409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V="1">
            <a:off x="4110688" y="1476117"/>
            <a:ext cx="499221" cy="374414"/>
          </a:xfrm>
          <a:prstGeom prst="line">
            <a:avLst/>
          </a:prstGeom>
          <a:ln w="421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4584700" y="1460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0"/>
                </a:moveTo>
                <a:lnTo>
                  <a:pt x="0" y="1"/>
                </a:lnTo>
                <a:lnTo>
                  <a:pt x="2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4721281" y="1431962"/>
            <a:ext cx="177077" cy="0"/>
          </a:xfrm>
          <a:prstGeom prst="line">
            <a:avLst/>
          </a:prstGeom>
          <a:ln w="421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4889500" y="1409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935981" y="2199104"/>
            <a:ext cx="3888088" cy="0"/>
          </a:xfrm>
          <a:prstGeom prst="line">
            <a:avLst/>
          </a:prstGeom>
          <a:ln w="1012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935981" y="2343104"/>
            <a:ext cx="3888088" cy="0"/>
          </a:xfrm>
          <a:prstGeom prst="line">
            <a:avLst/>
          </a:prstGeom>
          <a:ln w="1012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935981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1043984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1151986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1259988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1367991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1475993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1583996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1691998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1800001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1908003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2016005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2124008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2232010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2340013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2448015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2556018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2664020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2772023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2880025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2988028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3096030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3204032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3312035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3420037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3528040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3636042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3744045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3852047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3960049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4068052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4176054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4284057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4392059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4500061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4608064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4716067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4824069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Rectangle 98"/>
          <p:cNvSpPr/>
          <p:nvPr/>
        </p:nvSpPr>
        <p:spPr>
          <a:xfrm>
            <a:off x="2232010" y="2199104"/>
            <a:ext cx="108002" cy="143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2340013" y="2199104"/>
            <a:ext cx="108002" cy="143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2880025" y="2199104"/>
            <a:ext cx="108002" cy="143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3636042" y="2199104"/>
            <a:ext cx="108002" cy="143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4284057" y="2199104"/>
            <a:ext cx="108002" cy="143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4392059" y="2199104"/>
            <a:ext cx="108001" cy="143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4500061" y="2199104"/>
            <a:ext cx="108002" cy="143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4608064" y="2199104"/>
            <a:ext cx="108002" cy="143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2" y="3146745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2880006" y="3146745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9" name="Picture 10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10" name="Picture 10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11" name="TextBox 110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networks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59993" y="67141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simplest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method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direct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encoding.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263521" y="998518"/>
            <a:ext cx="4521874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487257" y="998518"/>
            <a:ext cx="4298139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719789" y="998057"/>
            <a:ext cx="4065607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953066" y="998518"/>
            <a:ext cx="3832329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185807" y="998057"/>
            <a:ext cx="3599588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2418876" y="998057"/>
            <a:ext cx="3366519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030342" y="1153978"/>
            <a:ext cx="4755053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0898" y="1309427"/>
            <a:ext cx="4764497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20262" y="1464415"/>
            <a:ext cx="4765133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0361" y="1620325"/>
            <a:ext cx="4765034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19911" y="1775313"/>
            <a:ext cx="4765484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19812" y="1930763"/>
            <a:ext cx="4765583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248572" y="1153759"/>
            <a:ext cx="4536824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481751" y="1153759"/>
            <a:ext cx="4303645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714919" y="1153759"/>
            <a:ext cx="4070476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948098" y="1153759"/>
            <a:ext cx="3837297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181277" y="1153759"/>
            <a:ext cx="3604118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14456" y="1153759"/>
            <a:ext cx="3370939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248572" y="1309208"/>
            <a:ext cx="4536824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481751" y="1309208"/>
            <a:ext cx="4303645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714919" y="1309208"/>
            <a:ext cx="4070476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948098" y="1309208"/>
            <a:ext cx="3837297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81277" y="1309208"/>
            <a:ext cx="3604118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414456" y="1309208"/>
            <a:ext cx="3370939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263521" y="1464876"/>
            <a:ext cx="4521874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496700" y="1464876"/>
            <a:ext cx="4288695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714919" y="1464657"/>
            <a:ext cx="4070476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948098" y="1464657"/>
            <a:ext cx="3837297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2181277" y="1464657"/>
            <a:ext cx="3604118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2414456" y="1464657"/>
            <a:ext cx="3370939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263521" y="1620325"/>
            <a:ext cx="4521874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481751" y="1620106"/>
            <a:ext cx="4303645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714919" y="1620106"/>
            <a:ext cx="4070476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948098" y="1620106"/>
            <a:ext cx="3837297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2181277" y="1620106"/>
            <a:ext cx="3604118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414456" y="1620106"/>
            <a:ext cx="3370939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248572" y="1775555"/>
            <a:ext cx="4536824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96700" y="1775774"/>
            <a:ext cx="4288695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714919" y="1775555"/>
            <a:ext cx="4070476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948098" y="1775555"/>
            <a:ext cx="3837297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2181277" y="1775555"/>
            <a:ext cx="3604118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2414456" y="1775555"/>
            <a:ext cx="3370939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248572" y="1931004"/>
            <a:ext cx="4536824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496700" y="1931234"/>
            <a:ext cx="4288695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729868" y="1931234"/>
            <a:ext cx="4055527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963047" y="1931234"/>
            <a:ext cx="3822348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2196226" y="1931234"/>
            <a:ext cx="3589169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2414456" y="1931015"/>
            <a:ext cx="3370939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599371" y="846041"/>
            <a:ext cx="4186024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774" b="0">
                <a:solidFill>
                  <a:srgbClr val="000000"/>
                </a:solidFill>
                <a:latin typeface="Josefin Sans"/>
              </a:rPr>
              <a:t> </a:t>
            </a:r>
            <a:r>
              <a:rPr sz="774" b="0">
                <a:solidFill>
                  <a:srgbClr val="000000"/>
                </a:solidFill>
                <a:latin typeface="Josefin Sans"/>
              </a:rPr>
              <a:t>neuron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769109" y="1384858"/>
            <a:ext cx="5016287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To</a:t>
            </a:r>
            <a:r>
              <a:rPr sz="774" b="0">
                <a:solidFill>
                  <a:srgbClr val="000000"/>
                </a:solidFill>
                <a:latin typeface="Josefin Sans"/>
              </a:rPr>
              <a:t> </a:t>
            </a:r>
            <a:r>
              <a:rPr sz="774" b="0">
                <a:solidFill>
                  <a:srgbClr val="000000"/>
                </a:solidFill>
                <a:latin typeface="Josefin Sans"/>
              </a:rPr>
              <a:t>neuron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3288207" y="941984"/>
            <a:ext cx="2497189" cy="13076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4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280109" y="1842106"/>
            <a:ext cx="2505286" cy="13076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4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3605327" y="941984"/>
            <a:ext cx="2180068" cy="13076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4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3597230" y="1842106"/>
            <a:ext cx="2188165" cy="13076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4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4046746" y="941582"/>
            <a:ext cx="1738649" cy="13076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4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4046831" y="1392051"/>
            <a:ext cx="1738564" cy="13076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4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046450" y="1841715"/>
            <a:ext cx="1738945" cy="13076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4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646450" y="1391648"/>
            <a:ext cx="1138945" cy="13076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4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949652" y="1372712"/>
            <a:ext cx="835743" cy="13076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4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58660" y="2222990"/>
            <a:ext cx="482673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359993" y="254804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direct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encoding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applied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feedforward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networks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fixed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number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359993" y="272011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neurons.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However,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demonstrates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how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connection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topology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evolved.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901656" y="3150920"/>
            <a:ext cx="88373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5623283" y="3150696"/>
            <a:ext cx="16211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networks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98384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Evolutionary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computation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optimise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5" y="1198192"/>
            <a:ext cx="53253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weights,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5" y="1456307"/>
            <a:ext cx="53253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topology,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0055" y="1714422"/>
            <a:ext cx="53253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transfer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0055" y="1972535"/>
            <a:ext cx="53253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suitable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variables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9993" y="227440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network.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01653" y="3150917"/>
            <a:ext cx="8837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22594" y="3150693"/>
            <a:ext cx="16280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359993" y="43859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CCD6E3"/>
                </a:solidFill>
                <a:latin typeface="Josefin Sans"/>
              </a:rPr>
              <a:t>Introduction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88952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CCD6E3"/>
                </a:solidFill>
                <a:latin typeface="Josefin Sans"/>
              </a:rPr>
              <a:t>Neuro-Fuzzy</a:t>
            </a:r>
            <a:r>
              <a:rPr sz="1090" b="0">
                <a:solidFill>
                  <a:srgbClr val="CCD6E3"/>
                </a:solidFill>
                <a:latin typeface="Josefin Sans"/>
              </a:rPr>
              <a:t> </a:t>
            </a:r>
            <a:r>
              <a:rPr sz="1090" b="0">
                <a:solidFill>
                  <a:srgbClr val="CCD6E3"/>
                </a:solidFill>
                <a:latin typeface="Josefin Sans"/>
              </a:rPr>
              <a:t>Systems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37217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CCD6E3"/>
                </a:solidFill>
                <a:latin typeface="Josefin Sans"/>
              </a:rPr>
              <a:t>ANFIS:</a:t>
            </a:r>
            <a:r>
              <a:rPr sz="1090" b="0">
                <a:solidFill>
                  <a:srgbClr val="CCD6E3"/>
                </a:solidFill>
                <a:latin typeface="Josefin Sans"/>
              </a:rPr>
              <a:t> </a:t>
            </a:r>
            <a:r>
              <a:rPr sz="1090" b="0">
                <a:solidFill>
                  <a:srgbClr val="CCD6E3"/>
                </a:solidFill>
                <a:latin typeface="Josefin Sans"/>
              </a:rPr>
              <a:t>Adaptive</a:t>
            </a:r>
            <a:r>
              <a:rPr sz="1090" b="0">
                <a:solidFill>
                  <a:srgbClr val="CCD6E3"/>
                </a:solidFill>
                <a:latin typeface="Josefin Sans"/>
              </a:rPr>
              <a:t> </a:t>
            </a:r>
            <a:r>
              <a:rPr sz="1090" b="0">
                <a:solidFill>
                  <a:srgbClr val="CCD6E3"/>
                </a:solidFill>
                <a:latin typeface="Josefin Sans"/>
              </a:rPr>
              <a:t>Neuro-Fuzzy</a:t>
            </a:r>
            <a:r>
              <a:rPr sz="1090" b="0">
                <a:solidFill>
                  <a:srgbClr val="CCD6E3"/>
                </a:solidFill>
                <a:latin typeface="Josefin Sans"/>
              </a:rPr>
              <a:t> </a:t>
            </a:r>
            <a:r>
              <a:rPr sz="1090" b="0">
                <a:solidFill>
                  <a:srgbClr val="CCD6E3"/>
                </a:solidFill>
                <a:latin typeface="Josefin Sans"/>
              </a:rPr>
              <a:t>Inference</a:t>
            </a:r>
            <a:r>
              <a:rPr sz="1090" b="0">
                <a:solidFill>
                  <a:srgbClr val="CCD6E3"/>
                </a:solidFill>
                <a:latin typeface="Josefin Sans"/>
              </a:rPr>
              <a:t> </a:t>
            </a:r>
            <a:r>
              <a:rPr sz="1090" b="0">
                <a:solidFill>
                  <a:srgbClr val="CCD6E3"/>
                </a:solidFill>
                <a:latin typeface="Josefin Sans"/>
              </a:rPr>
              <a:t>System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185185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CCD6E3"/>
                </a:solidFill>
                <a:latin typeface="Josefin Sans"/>
              </a:rPr>
              <a:t>Evolutionary</a:t>
            </a:r>
            <a:r>
              <a:rPr sz="1090" b="0">
                <a:solidFill>
                  <a:srgbClr val="CCD6E3"/>
                </a:solidFill>
                <a:latin typeface="Josefin Sans"/>
              </a:rPr>
              <a:t> </a:t>
            </a:r>
            <a:r>
              <a:rPr sz="1090" b="0">
                <a:solidFill>
                  <a:srgbClr val="CCD6E3"/>
                </a:solidFill>
                <a:latin typeface="Josefin Sans"/>
              </a:rPr>
              <a:t>Neural</a:t>
            </a:r>
            <a:r>
              <a:rPr sz="1090" b="0">
                <a:solidFill>
                  <a:srgbClr val="CCD6E3"/>
                </a:solidFill>
                <a:latin typeface="Josefin Sans"/>
              </a:rPr>
              <a:t> </a:t>
            </a:r>
            <a:r>
              <a:rPr sz="1090" b="0">
                <a:solidFill>
                  <a:srgbClr val="CCD6E3"/>
                </a:solidFill>
                <a:latin typeface="Josefin Sans"/>
              </a:rPr>
              <a:t>Networks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233153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Evolutionary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Systems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01653" y="3150917"/>
            <a:ext cx="8837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2441" y="3150693"/>
            <a:ext cx="16295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2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6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07043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evolutionary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inference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which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242509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optimally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algorithm.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5" y="1605360"/>
            <a:ext cx="54254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steps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evolutionary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1322" y="1863475"/>
            <a:ext cx="528407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1.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generating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4715" y="2121589"/>
            <a:ext cx="531068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2.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optimal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algorithm.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01656" y="3150917"/>
            <a:ext cx="88373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26470" y="3150693"/>
            <a:ext cx="1589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999495" y="2738651"/>
            <a:ext cx="0" cy="4320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3973315" y="2738651"/>
            <a:ext cx="0" cy="4320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999495" y="1142066"/>
            <a:ext cx="0" cy="432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973315" y="1142066"/>
            <a:ext cx="0" cy="432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999495" y="2781853"/>
            <a:ext cx="43207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999495" y="1142066"/>
            <a:ext cx="43207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3930108" y="2781853"/>
            <a:ext cx="43207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>
            <a:off x="3930108" y="1142066"/>
            <a:ext cx="43207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1802113" y="1326289"/>
            <a:ext cx="0" cy="143735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Freeform 44"/>
          <p:cNvSpPr/>
          <p:nvPr/>
        </p:nvSpPr>
        <p:spPr>
          <a:xfrm>
            <a:off x="1790700" y="1308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1" y="0"/>
                </a:moveTo>
                <a:lnTo>
                  <a:pt x="0" y="2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578551" y="2945832"/>
            <a:ext cx="177138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3746500" y="2933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2336800" y="2235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2"/>
                </a:moveTo>
                <a:lnTo>
                  <a:pt x="4" y="2"/>
                </a:lnTo>
                <a:lnTo>
                  <a:pt x="4" y="1"/>
                </a:ln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3" y="3"/>
                </a:lnTo>
                <a:lnTo>
                  <a:pt x="3" y="3"/>
                </a:lnTo>
                <a:lnTo>
                  <a:pt x="3" y="3"/>
                </a:lnTo>
                <a:lnTo>
                  <a:pt x="3" y="3"/>
                </a:lnTo>
                <a:lnTo>
                  <a:pt x="4" y="2"/>
                </a:lnTo>
                <a:lnTo>
                  <a:pt x="4" y="2"/>
                </a:lnTo>
                <a:lnTo>
                  <a:pt x="4" y="2"/>
                </a:lnTo>
                <a:close/>
              </a:path>
            </a:pathLst>
          </a:custGeom>
          <a:solidFill>
            <a:srgbClr val="1B9E77"/>
          </a:solidFill>
          <a:ln w="4048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2425700" y="1701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2"/>
                </a:moveTo>
                <a:lnTo>
                  <a:pt x="3" y="2"/>
                </a:ln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3" y="3"/>
                </a:lnTo>
                <a:lnTo>
                  <a:pt x="3" y="3"/>
                </a:lnTo>
                <a:lnTo>
                  <a:pt x="3" y="3"/>
                </a:lnTo>
                <a:lnTo>
                  <a:pt x="3" y="3"/>
                </a:lnTo>
                <a:lnTo>
                  <a:pt x="3" y="2"/>
                </a:lnTo>
                <a:lnTo>
                  <a:pt x="3" y="2"/>
                </a:lnTo>
                <a:lnTo>
                  <a:pt x="4" y="2"/>
                </a:lnTo>
                <a:close/>
              </a:path>
            </a:pathLst>
          </a:custGeom>
          <a:solidFill>
            <a:srgbClr val="1B9E77"/>
          </a:solidFill>
          <a:ln w="4048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2336800" y="1409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3" y="3"/>
                </a:lnTo>
                <a:lnTo>
                  <a:pt x="3" y="3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close/>
              </a:path>
            </a:pathLst>
          </a:custGeom>
          <a:solidFill>
            <a:srgbClr val="1B9E77"/>
          </a:solidFill>
          <a:ln w="4048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2501900" y="2603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4" y="1"/>
                </a:lnTo>
                <a:lnTo>
                  <a:pt x="4" y="1"/>
                </a:lnTo>
                <a:lnTo>
                  <a:pt x="3" y="0"/>
                </a:lnTo>
                <a:lnTo>
                  <a:pt x="3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3" y="3"/>
                </a:lnTo>
                <a:lnTo>
                  <a:pt x="3" y="3"/>
                </a:lnTo>
                <a:lnTo>
                  <a:pt x="3" y="2"/>
                </a:lnTo>
                <a:lnTo>
                  <a:pt x="3" y="2"/>
                </a:lnTo>
                <a:lnTo>
                  <a:pt x="4" y="2"/>
                </a:lnTo>
                <a:lnTo>
                  <a:pt x="4" y="2"/>
                </a:lnTo>
                <a:lnTo>
                  <a:pt x="4" y="1"/>
                </a:lnTo>
                <a:close/>
              </a:path>
            </a:pathLst>
          </a:custGeom>
          <a:solidFill>
            <a:srgbClr val="1B9E77"/>
          </a:solidFill>
          <a:ln w="4048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2654300" y="2108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3" y="1"/>
                </a:lnTo>
                <a:lnTo>
                  <a:pt x="3" y="1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lnTo>
                  <a:pt x="3" y="1"/>
                </a:lnTo>
                <a:lnTo>
                  <a:pt x="3" y="1"/>
                </a:lnTo>
                <a:close/>
              </a:path>
            </a:pathLst>
          </a:custGeom>
          <a:solidFill>
            <a:srgbClr val="1B9E77"/>
          </a:solidFill>
          <a:ln w="4048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2743200" y="1816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3" y="1"/>
                </a:lnTo>
                <a:lnTo>
                  <a:pt x="3" y="1"/>
                </a:lnTo>
                <a:lnTo>
                  <a:pt x="3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3" y="3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lnTo>
                  <a:pt x="3" y="1"/>
                </a:lnTo>
                <a:close/>
              </a:path>
            </a:pathLst>
          </a:custGeom>
          <a:solidFill>
            <a:srgbClr val="1B9E77"/>
          </a:solidFill>
          <a:ln w="4048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2806700" y="1574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3" y="1"/>
                </a:lnTo>
                <a:lnTo>
                  <a:pt x="3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3" y="2"/>
                </a:lnTo>
                <a:lnTo>
                  <a:pt x="3" y="2"/>
                </a:lnTo>
                <a:lnTo>
                  <a:pt x="3" y="1"/>
                </a:lnTo>
                <a:close/>
              </a:path>
            </a:pathLst>
          </a:custGeom>
          <a:solidFill>
            <a:srgbClr val="1B9E77"/>
          </a:solidFill>
          <a:ln w="4048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3175000" y="1244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3" y="3"/>
                </a:lnTo>
                <a:lnTo>
                  <a:pt x="3" y="3"/>
                </a:lnTo>
                <a:lnTo>
                  <a:pt x="3" y="3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close/>
              </a:path>
            </a:pathLst>
          </a:custGeom>
          <a:solidFill>
            <a:srgbClr val="1B9E77"/>
          </a:solidFill>
          <a:ln w="4048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3187700" y="2679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4" y="1"/>
                </a:lnTo>
                <a:lnTo>
                  <a:pt x="3" y="1"/>
                </a:lnTo>
                <a:lnTo>
                  <a:pt x="3" y="0"/>
                </a:lnTo>
                <a:lnTo>
                  <a:pt x="3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3" y="3"/>
                </a:lnTo>
                <a:lnTo>
                  <a:pt x="3" y="3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lnTo>
                  <a:pt x="4" y="2"/>
                </a:lnTo>
                <a:lnTo>
                  <a:pt x="4" y="1"/>
                </a:lnTo>
                <a:close/>
              </a:path>
            </a:pathLst>
          </a:custGeom>
          <a:solidFill>
            <a:srgbClr val="D95F02"/>
          </a:solidFill>
          <a:ln w="4048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2882900" y="2222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3" y="2"/>
                </a:ln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3" y="3"/>
                </a:lnTo>
                <a:lnTo>
                  <a:pt x="3" y="3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close/>
              </a:path>
            </a:pathLst>
          </a:custGeom>
          <a:solidFill>
            <a:srgbClr val="D95F02"/>
          </a:solidFill>
          <a:ln w="4048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3111500" y="2032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3" y="1"/>
                </a:lnTo>
                <a:lnTo>
                  <a:pt x="3" y="1"/>
                </a:lnTo>
                <a:lnTo>
                  <a:pt x="3" y="0"/>
                </a:lnTo>
                <a:lnTo>
                  <a:pt x="3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3" y="3"/>
                </a:lnTo>
                <a:lnTo>
                  <a:pt x="3" y="3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lnTo>
                  <a:pt x="3" y="1"/>
                </a:lnTo>
                <a:close/>
              </a:path>
            </a:pathLst>
          </a:custGeom>
          <a:solidFill>
            <a:srgbClr val="D95F02"/>
          </a:solidFill>
          <a:ln w="4048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2997200" y="1739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3" y="3"/>
                </a:lnTo>
                <a:lnTo>
                  <a:pt x="3" y="3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close/>
              </a:path>
            </a:pathLst>
          </a:custGeom>
          <a:solidFill>
            <a:srgbClr val="D95F02"/>
          </a:solidFill>
          <a:ln w="4048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3390900" y="1739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3" y="1"/>
                </a:lnTo>
                <a:lnTo>
                  <a:pt x="3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3" y="2"/>
                </a:lnTo>
                <a:lnTo>
                  <a:pt x="3" y="2"/>
                </a:lnTo>
                <a:lnTo>
                  <a:pt x="3" y="1"/>
                </a:lnTo>
                <a:close/>
              </a:path>
            </a:pathLst>
          </a:custGeom>
          <a:solidFill>
            <a:srgbClr val="D95F02"/>
          </a:solidFill>
          <a:ln w="4048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3035300" y="1460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3" y="1"/>
                </a:lnTo>
                <a:lnTo>
                  <a:pt x="3" y="1"/>
                </a:lnTo>
                <a:lnTo>
                  <a:pt x="3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3" y="3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lnTo>
                  <a:pt x="3" y="1"/>
                </a:lnTo>
                <a:close/>
              </a:path>
            </a:pathLst>
          </a:custGeom>
          <a:solidFill>
            <a:srgbClr val="D95F02"/>
          </a:solidFill>
          <a:ln w="4048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3822700" y="1993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3" y="2"/>
                </a:lnTo>
                <a:lnTo>
                  <a:pt x="3" y="1"/>
                </a:lnTo>
                <a:lnTo>
                  <a:pt x="3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3"/>
                </a:lnTo>
                <a:lnTo>
                  <a:pt x="0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3" y="3"/>
                </a:lnTo>
                <a:lnTo>
                  <a:pt x="3" y="3"/>
                </a:lnTo>
                <a:lnTo>
                  <a:pt x="3" y="2"/>
                </a:lnTo>
                <a:lnTo>
                  <a:pt x="3" y="2"/>
                </a:lnTo>
                <a:close/>
              </a:path>
            </a:pathLst>
          </a:custGeom>
          <a:solidFill>
            <a:srgbClr val="D95F02"/>
          </a:solidFill>
          <a:ln w="4048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3556000" y="1473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close/>
              </a:path>
            </a:pathLst>
          </a:custGeom>
          <a:solidFill>
            <a:srgbClr val="D95F02"/>
          </a:solidFill>
          <a:ln w="4048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7" name="Picture 6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59993" y="57663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Consider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training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patterns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classification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problem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two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inputs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59993" y="74870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output.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977986" y="2799766"/>
            <a:ext cx="380740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951779" y="2799766"/>
            <a:ext cx="183361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927460" y="2744659"/>
            <a:ext cx="385793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927460" y="1104885"/>
            <a:ext cx="385793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765195" y="1212403"/>
            <a:ext cx="402020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804927" y="2907517"/>
            <a:ext cx="198046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901653" y="3150930"/>
            <a:ext cx="8837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623585" y="3150706"/>
            <a:ext cx="1618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42207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Grid-type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partition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and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multiple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tables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can be used to generate 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59414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IF-THEN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numerical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data.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901653" y="3150917"/>
            <a:ext cx="8837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22442" y="3150693"/>
            <a:ext cx="16295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2400705" y="2087804"/>
            <a:ext cx="0" cy="2899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3725212" y="2087804"/>
            <a:ext cx="0" cy="2899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400705" y="1016436"/>
            <a:ext cx="0" cy="2899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725212" y="1016436"/>
            <a:ext cx="0" cy="2899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2400705" y="2116794"/>
            <a:ext cx="2899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400705" y="1016436"/>
            <a:ext cx="2899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3696219" y="2116794"/>
            <a:ext cx="2899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>
            <a:off x="3696219" y="1016436"/>
            <a:ext cx="2899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2003352" y="2116794"/>
            <a:ext cx="2649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2003352" y="1016436"/>
            <a:ext cx="0" cy="110035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003352" y="1016436"/>
            <a:ext cx="2649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H="1">
            <a:off x="2003352" y="1016436"/>
            <a:ext cx="264902" cy="55017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2003352" y="1566615"/>
            <a:ext cx="264902" cy="55017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2003352" y="1566615"/>
            <a:ext cx="264902" cy="55017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 flipV="1">
            <a:off x="2003352" y="1016436"/>
            <a:ext cx="264902" cy="55017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2006600" y="1841500"/>
            <a:ext cx="266700" cy="279400"/>
          </a:xfrm>
          <a:custGeom>
            <a:avLst/>
            <a:gdLst/>
            <a:ahLst/>
            <a:cxnLst/>
            <a:rect l="l" t="t" r="r" b="b"/>
            <a:pathLst>
              <a:path w="21" h="22">
                <a:moveTo>
                  <a:pt x="21" y="22"/>
                </a:moveTo>
                <a:lnTo>
                  <a:pt x="0" y="22"/>
                </a:lnTo>
                <a:lnTo>
                  <a:pt x="10" y="0"/>
                </a:lnTo>
                <a:lnTo>
                  <a:pt x="21" y="2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2006600" y="1016000"/>
            <a:ext cx="266700" cy="279400"/>
          </a:xfrm>
          <a:custGeom>
            <a:avLst/>
            <a:gdLst/>
            <a:ahLst/>
            <a:cxnLst/>
            <a:rect l="l" t="t" r="r" b="b"/>
            <a:pathLst>
              <a:path w="21" h="22">
                <a:moveTo>
                  <a:pt x="21" y="0"/>
                </a:moveTo>
                <a:lnTo>
                  <a:pt x="0" y="0"/>
                </a:lnTo>
                <a:lnTo>
                  <a:pt x="10" y="22"/>
                </a:lnTo>
                <a:lnTo>
                  <a:pt x="21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2006600" y="1016000"/>
            <a:ext cx="127000" cy="1104900"/>
          </a:xfrm>
          <a:custGeom>
            <a:avLst/>
            <a:gdLst/>
            <a:ahLst/>
            <a:cxnLst/>
            <a:rect l="l" t="t" r="r" b="b"/>
            <a:pathLst>
              <a:path w="10" h="87">
                <a:moveTo>
                  <a:pt x="0" y="87"/>
                </a:moveTo>
                <a:lnTo>
                  <a:pt x="10" y="65"/>
                </a:lnTo>
                <a:lnTo>
                  <a:pt x="0" y="43"/>
                </a:lnTo>
                <a:lnTo>
                  <a:pt x="10" y="22"/>
                </a:lnTo>
                <a:lnTo>
                  <a:pt x="0" y="0"/>
                </a:lnTo>
                <a:lnTo>
                  <a:pt x="0" y="87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2400705" y="2226830"/>
            <a:ext cx="0" cy="2200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2400705" y="2446902"/>
            <a:ext cx="13245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3725212" y="2226830"/>
            <a:ext cx="0" cy="2200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H="1">
            <a:off x="3062958" y="2226830"/>
            <a:ext cx="662254" cy="2200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H="1" flipV="1">
            <a:off x="2400705" y="2226830"/>
            <a:ext cx="662253" cy="2200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400705" y="2226830"/>
            <a:ext cx="662253" cy="2200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3062958" y="2226830"/>
            <a:ext cx="662254" cy="2200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2400300" y="2222500"/>
            <a:ext cx="330200" cy="228600"/>
          </a:xfrm>
          <a:custGeom>
            <a:avLst/>
            <a:gdLst/>
            <a:ahLst/>
            <a:cxnLst/>
            <a:rect l="l" t="t" r="r" b="b"/>
            <a:pathLst>
              <a:path w="26" h="18">
                <a:moveTo>
                  <a:pt x="0" y="0"/>
                </a:moveTo>
                <a:lnTo>
                  <a:pt x="0" y="18"/>
                </a:lnTo>
                <a:lnTo>
                  <a:pt x="26" y="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3390900" y="2222500"/>
            <a:ext cx="330200" cy="228600"/>
          </a:xfrm>
          <a:custGeom>
            <a:avLst/>
            <a:gdLst/>
            <a:ahLst/>
            <a:cxnLst/>
            <a:rect l="l" t="t" r="r" b="b"/>
            <a:pathLst>
              <a:path w="26" h="18">
                <a:moveTo>
                  <a:pt x="26" y="0"/>
                </a:moveTo>
                <a:lnTo>
                  <a:pt x="26" y="18"/>
                </a:lnTo>
                <a:lnTo>
                  <a:pt x="0" y="9"/>
                </a:lnTo>
                <a:lnTo>
                  <a:pt x="26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2400300" y="2336800"/>
            <a:ext cx="1320800" cy="114300"/>
          </a:xfrm>
          <a:custGeom>
            <a:avLst/>
            <a:gdLst/>
            <a:ahLst/>
            <a:cxnLst/>
            <a:rect l="l" t="t" r="r" b="b"/>
            <a:pathLst>
              <a:path w="104" h="9">
                <a:moveTo>
                  <a:pt x="0" y="9"/>
                </a:moveTo>
                <a:lnTo>
                  <a:pt x="26" y="0"/>
                </a:lnTo>
                <a:lnTo>
                  <a:pt x="52" y="9"/>
                </a:lnTo>
                <a:lnTo>
                  <a:pt x="78" y="0"/>
                </a:lnTo>
                <a:lnTo>
                  <a:pt x="104" y="9"/>
                </a:lnTo>
                <a:lnTo>
                  <a:pt x="0" y="9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2400705" y="1841705"/>
            <a:ext cx="13245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2400705" y="1291525"/>
            <a:ext cx="13245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2731832" y="2105791"/>
            <a:ext cx="0" cy="1100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3394085" y="2105791"/>
            <a:ext cx="0" cy="1100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1937127" y="1140056"/>
            <a:ext cx="0" cy="9645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1930400" y="11303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3460311" y="2501920"/>
            <a:ext cx="11886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3568700" y="2489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2003352" y="961418"/>
            <a:ext cx="11886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2108200" y="952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 flipV="1">
            <a:off x="3791438" y="2350450"/>
            <a:ext cx="0" cy="9645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3784600" y="23368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0"/>
                </a:moveTo>
                <a:lnTo>
                  <a:pt x="0" y="2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2628900" y="1752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Freeform 76"/>
          <p:cNvSpPr/>
          <p:nvPr/>
        </p:nvSpPr>
        <p:spPr>
          <a:xfrm>
            <a:off x="2692400" y="1397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Freeform 77"/>
          <p:cNvSpPr/>
          <p:nvPr/>
        </p:nvSpPr>
        <p:spPr>
          <a:xfrm>
            <a:off x="2628900" y="1193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Freeform 78"/>
          <p:cNvSpPr/>
          <p:nvPr/>
        </p:nvSpPr>
        <p:spPr>
          <a:xfrm>
            <a:off x="2743200" y="1993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Freeform 79"/>
          <p:cNvSpPr/>
          <p:nvPr/>
        </p:nvSpPr>
        <p:spPr>
          <a:xfrm>
            <a:off x="2844800" y="1663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Freeform 80"/>
          <p:cNvSpPr/>
          <p:nvPr/>
        </p:nvSpPr>
        <p:spPr>
          <a:xfrm>
            <a:off x="2895600" y="14605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2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Freeform 81"/>
          <p:cNvSpPr/>
          <p:nvPr/>
        </p:nvSpPr>
        <p:spPr>
          <a:xfrm>
            <a:off x="2933700" y="1308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3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3" y="1"/>
                </a:lnTo>
                <a:lnTo>
                  <a:pt x="3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3187700" y="1092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Freeform 83"/>
          <p:cNvSpPr/>
          <p:nvPr/>
        </p:nvSpPr>
        <p:spPr>
          <a:xfrm>
            <a:off x="3200400" y="2044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Freeform 84"/>
          <p:cNvSpPr/>
          <p:nvPr/>
        </p:nvSpPr>
        <p:spPr>
          <a:xfrm>
            <a:off x="2997200" y="1739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Freeform 85"/>
          <p:cNvSpPr/>
          <p:nvPr/>
        </p:nvSpPr>
        <p:spPr>
          <a:xfrm>
            <a:off x="3149600" y="1612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Freeform 86"/>
          <p:cNvSpPr/>
          <p:nvPr/>
        </p:nvSpPr>
        <p:spPr>
          <a:xfrm>
            <a:off x="3073400" y="1422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Freeform 87"/>
          <p:cNvSpPr/>
          <p:nvPr/>
        </p:nvSpPr>
        <p:spPr>
          <a:xfrm>
            <a:off x="3327400" y="1409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2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Freeform 88"/>
          <p:cNvSpPr/>
          <p:nvPr/>
        </p:nvSpPr>
        <p:spPr>
          <a:xfrm>
            <a:off x="3098800" y="1231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3619500" y="1587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3441700" y="12319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2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2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2880006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4" name="Picture 9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95" name="Picture 9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Grid-type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fuzzy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partition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59993" y="706541"/>
            <a:ext cx="542540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First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consider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both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inputs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(x1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x2)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have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three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values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each.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386271" y="2128815"/>
            <a:ext cx="3399124" cy="8422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710761" y="2128815"/>
            <a:ext cx="2074634" cy="8422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352367" y="2091842"/>
            <a:ext cx="3433028" cy="8422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352367" y="991493"/>
            <a:ext cx="3433028" cy="8422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912357" y="1063641"/>
            <a:ext cx="3873038" cy="8422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612217" y="2476215"/>
            <a:ext cx="2173178" cy="8422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155280" y="933009"/>
            <a:ext cx="3630116" cy="8422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7" b="0">
                <a:solidFill>
                  <a:srgbClr val="000000"/>
                </a:solidFill>
                <a:latin typeface="SFSS0800"/>
              </a:rPr>
              <a:t>µ</a:t>
            </a:r>
            <a:r>
              <a:rPr sz="427" b="0">
                <a:solidFill>
                  <a:srgbClr val="000000"/>
                </a:solidFill>
                <a:latin typeface="Josefin Sans"/>
              </a:rPr>
              <a:t>(x2)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735223" y="2263362"/>
            <a:ext cx="2050172" cy="8422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7" b="0">
                <a:solidFill>
                  <a:srgbClr val="000000"/>
                </a:solidFill>
                <a:latin typeface="SFSS0800"/>
              </a:rPr>
              <a:t>µ</a:t>
            </a:r>
            <a:r>
              <a:rPr sz="427" b="0">
                <a:solidFill>
                  <a:srgbClr val="000000"/>
                </a:solidFill>
                <a:latin typeface="Josefin Sans"/>
              </a:rPr>
              <a:t>(x1)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111660" y="1997767"/>
            <a:ext cx="3673735" cy="8422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7" b="0">
                <a:solidFill>
                  <a:srgbClr val="000000"/>
                </a:solidFill>
                <a:latin typeface="Josefin Sans"/>
              </a:rPr>
              <a:t>B</a:t>
            </a:r>
            <a:r>
              <a:rPr sz="32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107746" y="1538926"/>
            <a:ext cx="3677649" cy="8422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7" b="0">
                <a:solidFill>
                  <a:srgbClr val="000000"/>
                </a:solidFill>
                <a:latin typeface="Josefin Sans"/>
              </a:rPr>
              <a:t>B</a:t>
            </a:r>
            <a:r>
              <a:rPr sz="320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107481" y="1079888"/>
            <a:ext cx="3677915" cy="8422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7" b="0">
                <a:solidFill>
                  <a:srgbClr val="000000"/>
                </a:solidFill>
                <a:latin typeface="Josefin Sans"/>
              </a:rPr>
              <a:t>B</a:t>
            </a:r>
            <a:r>
              <a:rPr sz="320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483342" y="2309917"/>
            <a:ext cx="3302053" cy="8422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7" b="0">
                <a:solidFill>
                  <a:srgbClr val="000000"/>
                </a:solidFill>
                <a:latin typeface="Josefin Sans"/>
              </a:rPr>
              <a:t>A</a:t>
            </a:r>
            <a:r>
              <a:rPr sz="32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031741" y="2309917"/>
            <a:ext cx="2753654" cy="8422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7" b="0">
                <a:solidFill>
                  <a:srgbClr val="000000"/>
                </a:solidFill>
                <a:latin typeface="Josefin Sans"/>
              </a:rPr>
              <a:t>A</a:t>
            </a:r>
            <a:r>
              <a:rPr sz="320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583787" y="2309719"/>
            <a:ext cx="2201608" cy="8422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7" b="0">
                <a:solidFill>
                  <a:srgbClr val="000000"/>
                </a:solidFill>
                <a:latin typeface="Josefin Sans"/>
              </a:rPr>
              <a:t>A</a:t>
            </a:r>
            <a:r>
              <a:rPr sz="320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59995" y="2672018"/>
            <a:ext cx="542540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subspace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can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have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only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one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IF-THEN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rule.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901656" y="3150917"/>
            <a:ext cx="88373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5615459" y="3150693"/>
            <a:ext cx="16993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990648" y="2065338"/>
            <a:ext cx="0" cy="3335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514363" y="2065338"/>
            <a:ext cx="0" cy="3335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990648" y="832834"/>
            <a:ext cx="0" cy="3335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514363" y="832834"/>
            <a:ext cx="0" cy="3335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90648" y="2098688"/>
            <a:ext cx="3335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90648" y="832834"/>
            <a:ext cx="3335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2481009" y="2098688"/>
            <a:ext cx="3335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>
            <a:off x="2481009" y="832834"/>
            <a:ext cx="3335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533533" y="2098688"/>
            <a:ext cx="304743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533533" y="832834"/>
            <a:ext cx="0" cy="126585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533533" y="832834"/>
            <a:ext cx="304743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H="1">
            <a:off x="533533" y="832834"/>
            <a:ext cx="304743" cy="63292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533533" y="1465761"/>
            <a:ext cx="304743" cy="63292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533533" y="1465761"/>
            <a:ext cx="304743" cy="63292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 flipV="1">
            <a:off x="533533" y="832834"/>
            <a:ext cx="304743" cy="63292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533400" y="1778000"/>
            <a:ext cx="304800" cy="317500"/>
          </a:xfrm>
          <a:custGeom>
            <a:avLst/>
            <a:gdLst/>
            <a:ahLst/>
            <a:cxnLst/>
            <a:rect l="l" t="t" r="r" b="b"/>
            <a:pathLst>
              <a:path w="24" h="25">
                <a:moveTo>
                  <a:pt x="24" y="25"/>
                </a:moveTo>
                <a:lnTo>
                  <a:pt x="0" y="25"/>
                </a:lnTo>
                <a:lnTo>
                  <a:pt x="12" y="0"/>
                </a:lnTo>
                <a:lnTo>
                  <a:pt x="24" y="25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533400" y="8382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24" h="24">
                <a:moveTo>
                  <a:pt x="24" y="0"/>
                </a:moveTo>
                <a:lnTo>
                  <a:pt x="0" y="0"/>
                </a:lnTo>
                <a:lnTo>
                  <a:pt x="12" y="24"/>
                </a:lnTo>
                <a:lnTo>
                  <a:pt x="24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533400" y="838200"/>
            <a:ext cx="152400" cy="1257300"/>
          </a:xfrm>
          <a:custGeom>
            <a:avLst/>
            <a:gdLst/>
            <a:ahLst/>
            <a:cxnLst/>
            <a:rect l="l" t="t" r="r" b="b"/>
            <a:pathLst>
              <a:path w="12" h="99">
                <a:moveTo>
                  <a:pt x="0" y="99"/>
                </a:moveTo>
                <a:lnTo>
                  <a:pt x="12" y="74"/>
                </a:lnTo>
                <a:lnTo>
                  <a:pt x="0" y="49"/>
                </a:lnTo>
                <a:lnTo>
                  <a:pt x="12" y="24"/>
                </a:lnTo>
                <a:lnTo>
                  <a:pt x="0" y="0"/>
                </a:lnTo>
                <a:lnTo>
                  <a:pt x="0" y="99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990648" y="2225274"/>
            <a:ext cx="0" cy="25317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990648" y="2478444"/>
            <a:ext cx="1523715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2514363" y="2225274"/>
            <a:ext cx="0" cy="25317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H="1">
            <a:off x="1752506" y="2225274"/>
            <a:ext cx="761857" cy="25317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H="1" flipV="1">
            <a:off x="990648" y="2225274"/>
            <a:ext cx="761858" cy="25317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990648" y="2225274"/>
            <a:ext cx="761858" cy="25317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1752506" y="2225274"/>
            <a:ext cx="761857" cy="25317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990600" y="2222500"/>
            <a:ext cx="381000" cy="254000"/>
          </a:xfrm>
          <a:custGeom>
            <a:avLst/>
            <a:gdLst/>
            <a:ahLst/>
            <a:cxnLst/>
            <a:rect l="l" t="t" r="r" b="b"/>
            <a:pathLst>
              <a:path w="30" h="20">
                <a:moveTo>
                  <a:pt x="0" y="0"/>
                </a:moveTo>
                <a:lnTo>
                  <a:pt x="0" y="20"/>
                </a:lnTo>
                <a:lnTo>
                  <a:pt x="30" y="1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133600" y="2222500"/>
            <a:ext cx="381000" cy="254000"/>
          </a:xfrm>
          <a:custGeom>
            <a:avLst/>
            <a:gdLst/>
            <a:ahLst/>
            <a:cxnLst/>
            <a:rect l="l" t="t" r="r" b="b"/>
            <a:pathLst>
              <a:path w="30" h="20">
                <a:moveTo>
                  <a:pt x="30" y="0"/>
                </a:moveTo>
                <a:lnTo>
                  <a:pt x="30" y="20"/>
                </a:lnTo>
                <a:lnTo>
                  <a:pt x="0" y="10"/>
                </a:lnTo>
                <a:lnTo>
                  <a:pt x="3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990600" y="2349500"/>
            <a:ext cx="1524000" cy="127000"/>
          </a:xfrm>
          <a:custGeom>
            <a:avLst/>
            <a:gdLst/>
            <a:ahLst/>
            <a:cxnLst/>
            <a:rect l="l" t="t" r="r" b="b"/>
            <a:pathLst>
              <a:path w="120" h="10">
                <a:moveTo>
                  <a:pt x="0" y="10"/>
                </a:moveTo>
                <a:lnTo>
                  <a:pt x="30" y="0"/>
                </a:lnTo>
                <a:lnTo>
                  <a:pt x="60" y="10"/>
                </a:lnTo>
                <a:lnTo>
                  <a:pt x="90" y="0"/>
                </a:lnTo>
                <a:lnTo>
                  <a:pt x="120" y="10"/>
                </a:lnTo>
                <a:lnTo>
                  <a:pt x="0" y="1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990648" y="1782225"/>
            <a:ext cx="1523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990648" y="1149298"/>
            <a:ext cx="1523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1371577" y="2086030"/>
            <a:ext cx="0" cy="1265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2133434" y="2086030"/>
            <a:ext cx="0" cy="1265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457347" y="975047"/>
            <a:ext cx="0" cy="11095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444500" y="965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1" y="0"/>
                </a:moveTo>
                <a:lnTo>
                  <a:pt x="0" y="2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2209620" y="2541737"/>
            <a:ext cx="13674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2336800" y="2527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533533" y="769542"/>
            <a:ext cx="13674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660400" y="762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 flipV="1">
            <a:off x="2590549" y="2367487"/>
            <a:ext cx="0" cy="11095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2578100" y="2349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1" y="0"/>
                </a:moveTo>
                <a:lnTo>
                  <a:pt x="0" y="2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1257300" y="16764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Freeform 76"/>
          <p:cNvSpPr/>
          <p:nvPr/>
        </p:nvSpPr>
        <p:spPr>
          <a:xfrm>
            <a:off x="1320800" y="1270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3" y="1"/>
                </a:lnTo>
                <a:lnTo>
                  <a:pt x="3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Freeform 77"/>
          <p:cNvSpPr/>
          <p:nvPr/>
        </p:nvSpPr>
        <p:spPr>
          <a:xfrm>
            <a:off x="1244600" y="1041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3" y="2"/>
                </a:lnTo>
                <a:lnTo>
                  <a:pt x="3" y="2"/>
                </a:lnTo>
                <a:lnTo>
                  <a:pt x="3" y="1"/>
                </a:lnTo>
                <a:lnTo>
                  <a:pt x="3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Freeform 78"/>
          <p:cNvSpPr/>
          <p:nvPr/>
        </p:nvSpPr>
        <p:spPr>
          <a:xfrm>
            <a:off x="1384300" y="19558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Freeform 79"/>
          <p:cNvSpPr/>
          <p:nvPr/>
        </p:nvSpPr>
        <p:spPr>
          <a:xfrm>
            <a:off x="1498600" y="1574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Freeform 80"/>
          <p:cNvSpPr/>
          <p:nvPr/>
        </p:nvSpPr>
        <p:spPr>
          <a:xfrm>
            <a:off x="1562100" y="1346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3" y="1"/>
                </a:lnTo>
                <a:lnTo>
                  <a:pt x="3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Freeform 81"/>
          <p:cNvSpPr/>
          <p:nvPr/>
        </p:nvSpPr>
        <p:spPr>
          <a:xfrm>
            <a:off x="1612900" y="1168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1905000" y="914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Freeform 83"/>
          <p:cNvSpPr/>
          <p:nvPr/>
        </p:nvSpPr>
        <p:spPr>
          <a:xfrm>
            <a:off x="1917700" y="2019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Freeform 84"/>
          <p:cNvSpPr/>
          <p:nvPr/>
        </p:nvSpPr>
        <p:spPr>
          <a:xfrm>
            <a:off x="1676400" y="1663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2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Freeform 85"/>
          <p:cNvSpPr/>
          <p:nvPr/>
        </p:nvSpPr>
        <p:spPr>
          <a:xfrm>
            <a:off x="1854200" y="15113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2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Freeform 86"/>
          <p:cNvSpPr/>
          <p:nvPr/>
        </p:nvSpPr>
        <p:spPr>
          <a:xfrm>
            <a:off x="1765300" y="1295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Freeform 87"/>
          <p:cNvSpPr/>
          <p:nvPr/>
        </p:nvSpPr>
        <p:spPr>
          <a:xfrm>
            <a:off x="2057400" y="1295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3" y="1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Freeform 88"/>
          <p:cNvSpPr/>
          <p:nvPr/>
        </p:nvSpPr>
        <p:spPr>
          <a:xfrm>
            <a:off x="1790700" y="1079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2400300" y="1498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2184400" y="1092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3" y="1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3" y="2"/>
                </a:ln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-5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2879999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4" name="Picture 9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95" name="Picture 9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74036" y="2112517"/>
            <a:ext cx="4811359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497738" y="2112517"/>
            <a:ext cx="3287657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35040" y="2069975"/>
            <a:ext cx="4850355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35040" y="804140"/>
            <a:ext cx="4850355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8844" y="887139"/>
            <a:ext cx="5356551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384366" y="2512167"/>
            <a:ext cx="3401030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08303" y="736852"/>
            <a:ext cx="5077093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SFSS0800"/>
              </a:rPr>
              <a:t>µ</a:t>
            </a:r>
            <a:r>
              <a:rPr sz="492" b="0">
                <a:solidFill>
                  <a:srgbClr val="000000"/>
                </a:solidFill>
                <a:latin typeface="Josefin Sans"/>
              </a:rPr>
              <a:t>(x2)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525872" y="2267299"/>
            <a:ext cx="3259523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SFSS0800"/>
              </a:rPr>
              <a:t>µ</a:t>
            </a:r>
            <a:r>
              <a:rPr sz="492" b="0">
                <a:solidFill>
                  <a:srgbClr val="000000"/>
                </a:solidFill>
                <a:latin typeface="Josefin Sans"/>
              </a:rPr>
              <a:t>(x1)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58130" y="1961759"/>
            <a:ext cx="5127265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B</a:t>
            </a:r>
            <a:r>
              <a:rPr sz="369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53628" y="1433908"/>
            <a:ext cx="5131767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B</a:t>
            </a:r>
            <a:r>
              <a:rPr sz="369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53322" y="905829"/>
            <a:ext cx="5132073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B</a:t>
            </a:r>
            <a:r>
              <a:rPr sz="369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85707" y="2320850"/>
            <a:ext cx="4699689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A</a:t>
            </a:r>
            <a:r>
              <a:rPr sz="369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716585" y="2320850"/>
            <a:ext cx="4068810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A</a:t>
            </a:r>
            <a:r>
              <a:rPr sz="369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351668" y="2320630"/>
            <a:ext cx="3433728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A</a:t>
            </a:r>
            <a:r>
              <a:rPr sz="369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084002" y="1341389"/>
            <a:ext cx="270139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subspace,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antecedent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084002" y="1480569"/>
            <a:ext cx="270139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uses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operator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construct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rule.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084002" y="1705842"/>
            <a:ext cx="270139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How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consequent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084002" y="1845021"/>
            <a:ext cx="270139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subspace?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901648" y="3150918"/>
            <a:ext cx="88374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638527" y="3150694"/>
            <a:ext cx="14686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990648" y="2065338"/>
            <a:ext cx="0" cy="3335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514363" y="2065338"/>
            <a:ext cx="0" cy="3335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990648" y="832834"/>
            <a:ext cx="0" cy="3335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514363" y="832834"/>
            <a:ext cx="0" cy="3335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90648" y="2098688"/>
            <a:ext cx="3335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90648" y="832834"/>
            <a:ext cx="3335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2481009" y="2098688"/>
            <a:ext cx="3335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>
            <a:off x="2481009" y="832834"/>
            <a:ext cx="3335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533533" y="2098688"/>
            <a:ext cx="304743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533533" y="832834"/>
            <a:ext cx="0" cy="126585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533533" y="832834"/>
            <a:ext cx="304743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H="1">
            <a:off x="533533" y="832834"/>
            <a:ext cx="304743" cy="63292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533533" y="1465761"/>
            <a:ext cx="304743" cy="63292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533533" y="1465761"/>
            <a:ext cx="304743" cy="63292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 flipV="1">
            <a:off x="533533" y="832834"/>
            <a:ext cx="304743" cy="63292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533400" y="1778000"/>
            <a:ext cx="304800" cy="317500"/>
          </a:xfrm>
          <a:custGeom>
            <a:avLst/>
            <a:gdLst/>
            <a:ahLst/>
            <a:cxnLst/>
            <a:rect l="l" t="t" r="r" b="b"/>
            <a:pathLst>
              <a:path w="24" h="25">
                <a:moveTo>
                  <a:pt x="24" y="25"/>
                </a:moveTo>
                <a:lnTo>
                  <a:pt x="0" y="25"/>
                </a:lnTo>
                <a:lnTo>
                  <a:pt x="12" y="0"/>
                </a:lnTo>
                <a:lnTo>
                  <a:pt x="24" y="25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533400" y="8382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24" h="24">
                <a:moveTo>
                  <a:pt x="24" y="0"/>
                </a:moveTo>
                <a:lnTo>
                  <a:pt x="0" y="0"/>
                </a:lnTo>
                <a:lnTo>
                  <a:pt x="12" y="24"/>
                </a:lnTo>
                <a:lnTo>
                  <a:pt x="24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533400" y="838200"/>
            <a:ext cx="152400" cy="1257300"/>
          </a:xfrm>
          <a:custGeom>
            <a:avLst/>
            <a:gdLst/>
            <a:ahLst/>
            <a:cxnLst/>
            <a:rect l="l" t="t" r="r" b="b"/>
            <a:pathLst>
              <a:path w="12" h="99">
                <a:moveTo>
                  <a:pt x="0" y="99"/>
                </a:moveTo>
                <a:lnTo>
                  <a:pt x="12" y="74"/>
                </a:lnTo>
                <a:lnTo>
                  <a:pt x="0" y="49"/>
                </a:lnTo>
                <a:lnTo>
                  <a:pt x="12" y="24"/>
                </a:lnTo>
                <a:lnTo>
                  <a:pt x="0" y="0"/>
                </a:lnTo>
                <a:lnTo>
                  <a:pt x="0" y="99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990648" y="2225274"/>
            <a:ext cx="0" cy="25317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990648" y="2478444"/>
            <a:ext cx="1523715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2514363" y="2225274"/>
            <a:ext cx="0" cy="25317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H="1">
            <a:off x="1752506" y="2225274"/>
            <a:ext cx="761857" cy="25317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H="1" flipV="1">
            <a:off x="990648" y="2225274"/>
            <a:ext cx="761858" cy="25317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990648" y="2225274"/>
            <a:ext cx="761858" cy="25317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1752506" y="2225274"/>
            <a:ext cx="761857" cy="25317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990600" y="2222500"/>
            <a:ext cx="381000" cy="254000"/>
          </a:xfrm>
          <a:custGeom>
            <a:avLst/>
            <a:gdLst/>
            <a:ahLst/>
            <a:cxnLst/>
            <a:rect l="l" t="t" r="r" b="b"/>
            <a:pathLst>
              <a:path w="30" h="20">
                <a:moveTo>
                  <a:pt x="0" y="0"/>
                </a:moveTo>
                <a:lnTo>
                  <a:pt x="0" y="20"/>
                </a:lnTo>
                <a:lnTo>
                  <a:pt x="30" y="1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133600" y="2222500"/>
            <a:ext cx="381000" cy="254000"/>
          </a:xfrm>
          <a:custGeom>
            <a:avLst/>
            <a:gdLst/>
            <a:ahLst/>
            <a:cxnLst/>
            <a:rect l="l" t="t" r="r" b="b"/>
            <a:pathLst>
              <a:path w="30" h="20">
                <a:moveTo>
                  <a:pt x="30" y="0"/>
                </a:moveTo>
                <a:lnTo>
                  <a:pt x="30" y="20"/>
                </a:lnTo>
                <a:lnTo>
                  <a:pt x="0" y="10"/>
                </a:lnTo>
                <a:lnTo>
                  <a:pt x="3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990600" y="2349500"/>
            <a:ext cx="1524000" cy="127000"/>
          </a:xfrm>
          <a:custGeom>
            <a:avLst/>
            <a:gdLst/>
            <a:ahLst/>
            <a:cxnLst/>
            <a:rect l="l" t="t" r="r" b="b"/>
            <a:pathLst>
              <a:path w="120" h="10">
                <a:moveTo>
                  <a:pt x="0" y="10"/>
                </a:moveTo>
                <a:lnTo>
                  <a:pt x="30" y="0"/>
                </a:lnTo>
                <a:lnTo>
                  <a:pt x="60" y="10"/>
                </a:lnTo>
                <a:lnTo>
                  <a:pt x="90" y="0"/>
                </a:lnTo>
                <a:lnTo>
                  <a:pt x="120" y="10"/>
                </a:lnTo>
                <a:lnTo>
                  <a:pt x="0" y="1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990648" y="1782225"/>
            <a:ext cx="1523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990648" y="1149298"/>
            <a:ext cx="1523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1371577" y="2086030"/>
            <a:ext cx="0" cy="1265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2133434" y="2086030"/>
            <a:ext cx="0" cy="1265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457347" y="975047"/>
            <a:ext cx="0" cy="11095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444500" y="965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1" y="0"/>
                </a:moveTo>
                <a:lnTo>
                  <a:pt x="0" y="2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2209620" y="2541737"/>
            <a:ext cx="13674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2336800" y="2527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533533" y="769542"/>
            <a:ext cx="13674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660400" y="762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 flipV="1">
            <a:off x="2590549" y="2367487"/>
            <a:ext cx="0" cy="11095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2578100" y="2349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1" y="0"/>
                </a:moveTo>
                <a:lnTo>
                  <a:pt x="0" y="2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1257300" y="16764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Freeform 76"/>
          <p:cNvSpPr/>
          <p:nvPr/>
        </p:nvSpPr>
        <p:spPr>
          <a:xfrm>
            <a:off x="1320800" y="1270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3" y="1"/>
                </a:lnTo>
                <a:lnTo>
                  <a:pt x="3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Freeform 77"/>
          <p:cNvSpPr/>
          <p:nvPr/>
        </p:nvSpPr>
        <p:spPr>
          <a:xfrm>
            <a:off x="1244600" y="1041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3" y="2"/>
                </a:lnTo>
                <a:lnTo>
                  <a:pt x="3" y="2"/>
                </a:lnTo>
                <a:lnTo>
                  <a:pt x="3" y="1"/>
                </a:lnTo>
                <a:lnTo>
                  <a:pt x="3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Freeform 78"/>
          <p:cNvSpPr/>
          <p:nvPr/>
        </p:nvSpPr>
        <p:spPr>
          <a:xfrm>
            <a:off x="1384300" y="19558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Freeform 79"/>
          <p:cNvSpPr/>
          <p:nvPr/>
        </p:nvSpPr>
        <p:spPr>
          <a:xfrm>
            <a:off x="1498600" y="1574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Freeform 80"/>
          <p:cNvSpPr/>
          <p:nvPr/>
        </p:nvSpPr>
        <p:spPr>
          <a:xfrm>
            <a:off x="1562100" y="1346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3" y="1"/>
                </a:lnTo>
                <a:lnTo>
                  <a:pt x="3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Freeform 81"/>
          <p:cNvSpPr/>
          <p:nvPr/>
        </p:nvSpPr>
        <p:spPr>
          <a:xfrm>
            <a:off x="1612900" y="1168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1905000" y="914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Freeform 83"/>
          <p:cNvSpPr/>
          <p:nvPr/>
        </p:nvSpPr>
        <p:spPr>
          <a:xfrm>
            <a:off x="1917700" y="2019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Freeform 84"/>
          <p:cNvSpPr/>
          <p:nvPr/>
        </p:nvSpPr>
        <p:spPr>
          <a:xfrm>
            <a:off x="1676400" y="1663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2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Freeform 85"/>
          <p:cNvSpPr/>
          <p:nvPr/>
        </p:nvSpPr>
        <p:spPr>
          <a:xfrm>
            <a:off x="1854200" y="15113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2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Freeform 86"/>
          <p:cNvSpPr/>
          <p:nvPr/>
        </p:nvSpPr>
        <p:spPr>
          <a:xfrm>
            <a:off x="1765300" y="1295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Freeform 87"/>
          <p:cNvSpPr/>
          <p:nvPr/>
        </p:nvSpPr>
        <p:spPr>
          <a:xfrm>
            <a:off x="2057400" y="1295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3" y="1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Freeform 88"/>
          <p:cNvSpPr/>
          <p:nvPr/>
        </p:nvSpPr>
        <p:spPr>
          <a:xfrm>
            <a:off x="1790700" y="1079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2400300" y="1498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2184400" y="1092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3" y="1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3" y="2"/>
                </a:ln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-8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2879995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4" name="Picture 9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95" name="Picture 9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74036" y="2112517"/>
            <a:ext cx="4811359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497738" y="2112517"/>
            <a:ext cx="3287657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35040" y="2069975"/>
            <a:ext cx="4850355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35040" y="804140"/>
            <a:ext cx="4850355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8844" y="887139"/>
            <a:ext cx="5356551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384366" y="2512167"/>
            <a:ext cx="3401030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08303" y="736852"/>
            <a:ext cx="5077093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SFSS0800"/>
              </a:rPr>
              <a:t>µ</a:t>
            </a:r>
            <a:r>
              <a:rPr sz="492" b="0">
                <a:solidFill>
                  <a:srgbClr val="000000"/>
                </a:solidFill>
                <a:latin typeface="Josefin Sans"/>
              </a:rPr>
              <a:t>(x2)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525872" y="2267299"/>
            <a:ext cx="3259523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SFSS0800"/>
              </a:rPr>
              <a:t>µ</a:t>
            </a:r>
            <a:r>
              <a:rPr sz="492" b="0">
                <a:solidFill>
                  <a:srgbClr val="000000"/>
                </a:solidFill>
                <a:latin typeface="Josefin Sans"/>
              </a:rPr>
              <a:t>(x1)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58130" y="1961759"/>
            <a:ext cx="5127265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B</a:t>
            </a:r>
            <a:r>
              <a:rPr sz="369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53628" y="1433908"/>
            <a:ext cx="5131767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B</a:t>
            </a:r>
            <a:r>
              <a:rPr sz="369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53322" y="905829"/>
            <a:ext cx="5132073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B</a:t>
            </a:r>
            <a:r>
              <a:rPr sz="369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85707" y="2320850"/>
            <a:ext cx="4699689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A</a:t>
            </a:r>
            <a:r>
              <a:rPr sz="369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716585" y="2320850"/>
            <a:ext cx="4068810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A</a:t>
            </a:r>
            <a:r>
              <a:rPr sz="369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351668" y="2320630"/>
            <a:ext cx="3433728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A</a:t>
            </a:r>
            <a:r>
              <a:rPr sz="369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084002" y="995314"/>
            <a:ext cx="270139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determine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consequent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084002" y="1134494"/>
            <a:ext cx="270139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subspace,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first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calculate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strength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084002" y="1274009"/>
            <a:ext cx="270139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0000"/>
                </a:solidFill>
                <a:latin typeface="Josefin Sans"/>
              </a:rPr>
              <a:t>each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class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training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patterns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in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every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084002" y="1412852"/>
            <a:ext cx="270139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subspace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083999" y="1627964"/>
            <a:ext cx="2701396" cy="1470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7" b="0">
                <a:solidFill>
                  <a:srgbClr val="000000"/>
                </a:solidFill>
                <a:latin typeface="Josefin Sans"/>
              </a:rPr>
              <a:t>The</a:t>
            </a:r>
            <a:r>
              <a:rPr sz="747" b="0">
                <a:solidFill>
                  <a:srgbClr val="000000"/>
                </a:solidFill>
                <a:latin typeface="Josefin Sans"/>
              </a:rPr>
              <a:t> </a:t>
            </a:r>
            <a:r>
              <a:rPr sz="747" b="0">
                <a:solidFill>
                  <a:srgbClr val="000000"/>
                </a:solidFill>
                <a:latin typeface="Josefin Sans"/>
              </a:rPr>
              <a:t>strength</a:t>
            </a:r>
            <a:r>
              <a:rPr sz="747" b="0">
                <a:solidFill>
                  <a:srgbClr val="000000"/>
                </a:solidFill>
                <a:latin typeface="Josefin Sans"/>
              </a:rPr>
              <a:t> </a:t>
            </a:r>
            <a:r>
              <a:rPr sz="747" b="0">
                <a:solidFill>
                  <a:srgbClr val="000000"/>
                </a:solidFill>
                <a:latin typeface="Josefin Sans"/>
              </a:rPr>
              <a:t>of</a:t>
            </a:r>
            <a:r>
              <a:rPr sz="747" b="0">
                <a:solidFill>
                  <a:srgbClr val="000000"/>
                </a:solidFill>
                <a:latin typeface="Josefin Sans"/>
              </a:rPr>
              <a:t> </a:t>
            </a:r>
            <a:r>
              <a:rPr sz="747" b="0">
                <a:solidFill>
                  <a:srgbClr val="000000"/>
                </a:solidFill>
                <a:latin typeface="Josefin Sans"/>
              </a:rPr>
              <a:t>a</a:t>
            </a:r>
            <a:r>
              <a:rPr sz="747" b="0">
                <a:solidFill>
                  <a:srgbClr val="000000"/>
                </a:solidFill>
                <a:latin typeface="Josefin Sans"/>
              </a:rPr>
              <a:t> </a:t>
            </a:r>
            <a:r>
              <a:rPr sz="747" b="0">
                <a:solidFill>
                  <a:srgbClr val="000000"/>
                </a:solidFill>
                <a:latin typeface="Josefin Sans"/>
              </a:rPr>
              <a:t>class</a:t>
            </a:r>
            <a:r>
              <a:rPr sz="747" b="0">
                <a:solidFill>
                  <a:srgbClr val="000000"/>
                </a:solidFill>
                <a:latin typeface="Josefin Sans"/>
              </a:rPr>
              <a:t> </a:t>
            </a:r>
            <a:r>
              <a:rPr sz="747" b="0">
                <a:solidFill>
                  <a:srgbClr val="000000"/>
                </a:solidFill>
                <a:latin typeface="Josefin Sans"/>
              </a:rPr>
              <a:t>C</a:t>
            </a:r>
            <a:r>
              <a:rPr sz="523" b="0">
                <a:solidFill>
                  <a:srgbClr val="000000"/>
                </a:solidFill>
                <a:latin typeface="Josefin Sans"/>
              </a:rPr>
              <a:t>n</a:t>
            </a:r>
            <a:r>
              <a:rPr sz="747" b="0">
                <a:solidFill>
                  <a:srgbClr val="000000"/>
                </a:solidFill>
                <a:latin typeface="Josefin Sans"/>
              </a:rPr>
              <a:t> </a:t>
            </a:r>
            <a:r>
              <a:rPr sz="747" b="0">
                <a:solidFill>
                  <a:srgbClr val="000000"/>
                </a:solidFill>
                <a:latin typeface="Josefin Sans"/>
              </a:rPr>
              <a:t>is</a:t>
            </a:r>
            <a:r>
              <a:rPr sz="747" b="0">
                <a:solidFill>
                  <a:srgbClr val="000000"/>
                </a:solidFill>
                <a:latin typeface="Josefin Sans"/>
              </a:rPr>
              <a:t> </a:t>
            </a:r>
            <a:r>
              <a:rPr sz="747" b="0">
                <a:solidFill>
                  <a:srgbClr val="000000"/>
                </a:solidFill>
                <a:latin typeface="Josefin Sans"/>
              </a:rPr>
              <a:t>calculated</a:t>
            </a:r>
            <a:r>
              <a:rPr sz="747" b="0">
                <a:solidFill>
                  <a:srgbClr val="000000"/>
                </a:solidFill>
                <a:latin typeface="Josefin Sans"/>
              </a:rPr>
              <a:t> </a:t>
            </a:r>
            <a:r>
              <a:rPr sz="747" b="0">
                <a:solidFill>
                  <a:srgbClr val="000000"/>
                </a:solidFill>
                <a:latin typeface="Josefin Sans"/>
              </a:rPr>
              <a:t>by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774814" y="1836250"/>
            <a:ext cx="201058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β</a:t>
            </a:r>
            <a:r>
              <a:rPr sz="523" b="0">
                <a:solidFill>
                  <a:srgbClr val="000000"/>
                </a:solidFill>
                <a:latin typeface="Josefin Sans"/>
              </a:rPr>
              <a:t>C</a:t>
            </a:r>
            <a:r>
              <a:rPr sz="366" b="0">
                <a:solidFill>
                  <a:srgbClr val="000000"/>
                </a:solidFill>
                <a:latin typeface="Josefin Sans"/>
              </a:rPr>
              <a:t>n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835152" y="1857681"/>
            <a:ext cx="195024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3" b="0">
                <a:solidFill>
                  <a:srgbClr val="000000"/>
                </a:solidFill>
                <a:latin typeface="Josefin Sans"/>
              </a:rPr>
              <a:t>A</a:t>
            </a:r>
            <a:r>
              <a:rPr sz="366" b="0">
                <a:solidFill>
                  <a:srgbClr val="000000"/>
                </a:solidFill>
                <a:latin typeface="Josefin Sans"/>
              </a:rPr>
              <a:t>i</a:t>
            </a:r>
            <a:r>
              <a:rPr sz="523" b="0">
                <a:solidFill>
                  <a:srgbClr val="000000"/>
                </a:solidFill>
                <a:latin typeface="Josefin Sans"/>
              </a:rPr>
              <a:t>B</a:t>
            </a:r>
            <a:r>
              <a:rPr sz="366" b="0">
                <a:solidFill>
                  <a:srgbClr val="000000"/>
                </a:solidFill>
                <a:latin typeface="Josefin Sans"/>
              </a:rPr>
              <a:t>j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104493" y="1838435"/>
            <a:ext cx="1680902" cy="1470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7" b="0">
                <a:solidFill>
                  <a:srgbClr val="000000"/>
                </a:solidFill>
                <a:latin typeface="Cambria Math"/>
              </a:rPr>
              <a:t>X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268056" y="1856369"/>
            <a:ext cx="151733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µ</a:t>
            </a:r>
            <a:r>
              <a:rPr sz="523" b="0">
                <a:solidFill>
                  <a:srgbClr val="000000"/>
                </a:solidFill>
                <a:latin typeface="Josefin Sans"/>
              </a:rPr>
              <a:t>A</a:t>
            </a:r>
            <a:r>
              <a:rPr sz="366" b="0">
                <a:solidFill>
                  <a:srgbClr val="000000"/>
                </a:solidFill>
                <a:latin typeface="Josefin Sans"/>
              </a:rPr>
              <a:t>i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×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µ</a:t>
            </a:r>
            <a:r>
              <a:rPr sz="523" b="0">
                <a:solidFill>
                  <a:srgbClr val="000000"/>
                </a:solidFill>
                <a:latin typeface="Josefin Sans"/>
              </a:rPr>
              <a:t>B</a:t>
            </a:r>
            <a:r>
              <a:rPr sz="366" b="0">
                <a:solidFill>
                  <a:srgbClr val="000000"/>
                </a:solidFill>
                <a:latin typeface="Josefin Sans"/>
              </a:rPr>
              <a:t>j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083997" y="2101293"/>
            <a:ext cx="2701398" cy="1470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7" b="0">
                <a:solidFill>
                  <a:srgbClr val="000000"/>
                </a:solidFill>
                <a:latin typeface="Josefin Sans"/>
              </a:rPr>
              <a:t>for</a:t>
            </a:r>
            <a:r>
              <a:rPr sz="747" b="0">
                <a:solidFill>
                  <a:srgbClr val="000000"/>
                </a:solidFill>
                <a:latin typeface="Josefin Sans"/>
              </a:rPr>
              <a:t> </a:t>
            </a:r>
            <a:r>
              <a:rPr sz="747" b="0">
                <a:solidFill>
                  <a:srgbClr val="000000"/>
                </a:solidFill>
                <a:latin typeface="Josefin Sans"/>
              </a:rPr>
              <a:t>all</a:t>
            </a:r>
            <a:r>
              <a:rPr sz="747" b="0">
                <a:solidFill>
                  <a:srgbClr val="000000"/>
                </a:solidFill>
                <a:latin typeface="Josefin Sans"/>
              </a:rPr>
              <a:t> </a:t>
            </a:r>
            <a:r>
              <a:rPr sz="747" b="0">
                <a:solidFill>
                  <a:srgbClr val="000000"/>
                </a:solidFill>
                <a:latin typeface="Josefin Sans"/>
              </a:rPr>
              <a:t>points</a:t>
            </a:r>
            <a:r>
              <a:rPr sz="747" b="0">
                <a:solidFill>
                  <a:srgbClr val="000000"/>
                </a:solidFill>
                <a:latin typeface="Josefin Sans"/>
              </a:rPr>
              <a:t> </a:t>
            </a:r>
            <a:r>
              <a:rPr sz="747" b="0">
                <a:solidFill>
                  <a:srgbClr val="000000"/>
                </a:solidFill>
                <a:latin typeface="Josefin Sans"/>
              </a:rPr>
              <a:t>in</a:t>
            </a:r>
            <a:r>
              <a:rPr sz="747" b="0">
                <a:solidFill>
                  <a:srgbClr val="000000"/>
                </a:solidFill>
                <a:latin typeface="Josefin Sans"/>
              </a:rPr>
              <a:t> </a:t>
            </a:r>
            <a:r>
              <a:rPr sz="747" b="0">
                <a:solidFill>
                  <a:srgbClr val="000000"/>
                </a:solidFill>
                <a:latin typeface="Josefin Sans"/>
              </a:rPr>
              <a:t>the</a:t>
            </a:r>
            <a:r>
              <a:rPr sz="747" b="0">
                <a:solidFill>
                  <a:srgbClr val="000000"/>
                </a:solidFill>
                <a:latin typeface="Josefin Sans"/>
              </a:rPr>
              <a:t> </a:t>
            </a:r>
            <a:r>
              <a:rPr sz="747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747" b="0">
                <a:solidFill>
                  <a:srgbClr val="000000"/>
                </a:solidFill>
                <a:latin typeface="Josefin Sans"/>
              </a:rPr>
              <a:t> </a:t>
            </a:r>
            <a:r>
              <a:rPr sz="747" b="0">
                <a:solidFill>
                  <a:srgbClr val="000000"/>
                </a:solidFill>
                <a:latin typeface="Josefin Sans"/>
              </a:rPr>
              <a:t>subspace</a:t>
            </a:r>
            <a:r>
              <a:rPr sz="747" b="0">
                <a:solidFill>
                  <a:srgbClr val="000000"/>
                </a:solidFill>
                <a:latin typeface="Josefin Sans"/>
              </a:rPr>
              <a:t> </a:t>
            </a:r>
            <a:r>
              <a:rPr sz="747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747" b="0">
                <a:solidFill>
                  <a:srgbClr val="000000"/>
                </a:solidFill>
                <a:latin typeface="Josefin Sans"/>
              </a:rPr>
              <a:t> </a:t>
            </a:r>
            <a:r>
              <a:rPr sz="747" b="0">
                <a:solidFill>
                  <a:srgbClr val="000000"/>
                </a:solidFill>
                <a:latin typeface="Josefin Sans"/>
              </a:rPr>
              <a:t>belongs</a:t>
            </a:r>
            <a:r>
              <a:rPr sz="747" b="0">
                <a:solidFill>
                  <a:srgbClr val="000000"/>
                </a:solidFill>
                <a:latin typeface="Josefin Sans"/>
              </a:rPr>
              <a:t> </a:t>
            </a:r>
            <a:r>
              <a:rPr sz="747" b="0">
                <a:solidFill>
                  <a:srgbClr val="000000"/>
                </a:solidFill>
                <a:latin typeface="Josefin Sans"/>
              </a:rPr>
              <a:t>to</a:t>
            </a:r>
            <a:r>
              <a:rPr sz="747" b="0">
                <a:solidFill>
                  <a:srgbClr val="000000"/>
                </a:solidFill>
                <a:latin typeface="Josefin Sans"/>
              </a:rPr>
              <a:t> </a:t>
            </a:r>
            <a:r>
              <a:rPr sz="747" b="0">
                <a:solidFill>
                  <a:srgbClr val="000000"/>
                </a:solidFill>
                <a:latin typeface="Josefin Sans"/>
              </a:rPr>
              <a:t>class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3083997" y="2215174"/>
            <a:ext cx="2701398" cy="1470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7" b="0">
                <a:solidFill>
                  <a:srgbClr val="000000"/>
                </a:solidFill>
                <a:latin typeface="Josefin Sans"/>
              </a:rPr>
              <a:t>C</a:t>
            </a:r>
            <a:r>
              <a:rPr sz="523" b="0">
                <a:solidFill>
                  <a:srgbClr val="000000"/>
                </a:solidFill>
                <a:latin typeface="Josefin Sans"/>
              </a:rPr>
              <a:t>n</a:t>
            </a:r>
            <a:r>
              <a:rPr sz="747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4901645" y="3150918"/>
            <a:ext cx="88375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5623957" y="3150694"/>
            <a:ext cx="16143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906637" y="2267381"/>
            <a:ext cx="0" cy="3335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430353" y="2267381"/>
            <a:ext cx="0" cy="3335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906637" y="1034878"/>
            <a:ext cx="0" cy="3335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430353" y="1034878"/>
            <a:ext cx="0" cy="3335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06637" y="2300732"/>
            <a:ext cx="3335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06637" y="1034878"/>
            <a:ext cx="3335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2396998" y="2300732"/>
            <a:ext cx="33355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>
            <a:off x="2396998" y="1034878"/>
            <a:ext cx="33355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449523" y="2300732"/>
            <a:ext cx="304743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449523" y="1034878"/>
            <a:ext cx="0" cy="126585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449523" y="1034878"/>
            <a:ext cx="304743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H="1">
            <a:off x="449523" y="1034878"/>
            <a:ext cx="304743" cy="63292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449523" y="1667805"/>
            <a:ext cx="304743" cy="63292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449523" y="1667805"/>
            <a:ext cx="304743" cy="63292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 flipV="1">
            <a:off x="449523" y="1034878"/>
            <a:ext cx="304743" cy="63292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444500" y="1981200"/>
            <a:ext cx="304800" cy="317500"/>
          </a:xfrm>
          <a:custGeom>
            <a:avLst/>
            <a:gdLst/>
            <a:ahLst/>
            <a:cxnLst/>
            <a:rect l="l" t="t" r="r" b="b"/>
            <a:pathLst>
              <a:path w="24" h="25">
                <a:moveTo>
                  <a:pt x="24" y="25"/>
                </a:moveTo>
                <a:lnTo>
                  <a:pt x="0" y="25"/>
                </a:lnTo>
                <a:lnTo>
                  <a:pt x="12" y="0"/>
                </a:lnTo>
                <a:lnTo>
                  <a:pt x="24" y="25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444500" y="1028700"/>
            <a:ext cx="304800" cy="317500"/>
          </a:xfrm>
          <a:custGeom>
            <a:avLst/>
            <a:gdLst/>
            <a:ahLst/>
            <a:cxnLst/>
            <a:rect l="l" t="t" r="r" b="b"/>
            <a:pathLst>
              <a:path w="24" h="25">
                <a:moveTo>
                  <a:pt x="24" y="0"/>
                </a:moveTo>
                <a:lnTo>
                  <a:pt x="0" y="0"/>
                </a:lnTo>
                <a:lnTo>
                  <a:pt x="12" y="25"/>
                </a:lnTo>
                <a:lnTo>
                  <a:pt x="24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444500" y="1028700"/>
            <a:ext cx="152400" cy="1270000"/>
          </a:xfrm>
          <a:custGeom>
            <a:avLst/>
            <a:gdLst/>
            <a:ahLst/>
            <a:cxnLst/>
            <a:rect l="l" t="t" r="r" b="b"/>
            <a:pathLst>
              <a:path w="12" h="100">
                <a:moveTo>
                  <a:pt x="0" y="100"/>
                </a:moveTo>
                <a:lnTo>
                  <a:pt x="12" y="75"/>
                </a:lnTo>
                <a:lnTo>
                  <a:pt x="0" y="50"/>
                </a:lnTo>
                <a:lnTo>
                  <a:pt x="12" y="25"/>
                </a:lnTo>
                <a:lnTo>
                  <a:pt x="0" y="0"/>
                </a:lnTo>
                <a:lnTo>
                  <a:pt x="0" y="10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906637" y="2427317"/>
            <a:ext cx="0" cy="25317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906637" y="2680488"/>
            <a:ext cx="152371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2430353" y="2427317"/>
            <a:ext cx="0" cy="25317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H="1">
            <a:off x="1668495" y="2427317"/>
            <a:ext cx="761858" cy="25317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H="1" flipV="1">
            <a:off x="906637" y="2427317"/>
            <a:ext cx="761858" cy="25317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906637" y="2427317"/>
            <a:ext cx="761858" cy="25317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1668495" y="2427317"/>
            <a:ext cx="761858" cy="25317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901700" y="2425700"/>
            <a:ext cx="381000" cy="254000"/>
          </a:xfrm>
          <a:custGeom>
            <a:avLst/>
            <a:gdLst/>
            <a:ahLst/>
            <a:cxnLst/>
            <a:rect l="l" t="t" r="r" b="b"/>
            <a:pathLst>
              <a:path w="30" h="20">
                <a:moveTo>
                  <a:pt x="0" y="0"/>
                </a:moveTo>
                <a:lnTo>
                  <a:pt x="0" y="20"/>
                </a:lnTo>
                <a:lnTo>
                  <a:pt x="30" y="1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044700" y="2425700"/>
            <a:ext cx="381000" cy="254000"/>
          </a:xfrm>
          <a:custGeom>
            <a:avLst/>
            <a:gdLst/>
            <a:ahLst/>
            <a:cxnLst/>
            <a:rect l="l" t="t" r="r" b="b"/>
            <a:pathLst>
              <a:path w="30" h="20">
                <a:moveTo>
                  <a:pt x="30" y="0"/>
                </a:moveTo>
                <a:lnTo>
                  <a:pt x="30" y="20"/>
                </a:lnTo>
                <a:lnTo>
                  <a:pt x="0" y="10"/>
                </a:lnTo>
                <a:lnTo>
                  <a:pt x="3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901700" y="2552700"/>
            <a:ext cx="1524000" cy="127000"/>
          </a:xfrm>
          <a:custGeom>
            <a:avLst/>
            <a:gdLst/>
            <a:ahLst/>
            <a:cxnLst/>
            <a:rect l="l" t="t" r="r" b="b"/>
            <a:pathLst>
              <a:path w="120" h="10">
                <a:moveTo>
                  <a:pt x="0" y="10"/>
                </a:moveTo>
                <a:lnTo>
                  <a:pt x="30" y="0"/>
                </a:lnTo>
                <a:lnTo>
                  <a:pt x="60" y="10"/>
                </a:lnTo>
                <a:lnTo>
                  <a:pt x="90" y="0"/>
                </a:lnTo>
                <a:lnTo>
                  <a:pt x="120" y="10"/>
                </a:lnTo>
                <a:lnTo>
                  <a:pt x="0" y="1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906637" y="1984268"/>
            <a:ext cx="1523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906637" y="1351341"/>
            <a:ext cx="1523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1287566" y="2288073"/>
            <a:ext cx="0" cy="1265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2049424" y="2288073"/>
            <a:ext cx="0" cy="1265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373337" y="1177091"/>
            <a:ext cx="0" cy="11095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355600" y="1155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1" y="0"/>
                </a:moveTo>
                <a:lnTo>
                  <a:pt x="0" y="2"/>
                </a:lnTo>
                <a:lnTo>
                  <a:pt x="1" y="2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2125610" y="2743781"/>
            <a:ext cx="13674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2247900" y="2730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449523" y="971585"/>
            <a:ext cx="13674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571500" y="9652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 flipV="1">
            <a:off x="2506538" y="2569530"/>
            <a:ext cx="0" cy="11095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2489200" y="2552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1" y="0"/>
                </a:moveTo>
                <a:lnTo>
                  <a:pt x="0" y="2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449523" y="1667805"/>
            <a:ext cx="1980830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906637" y="1034878"/>
            <a:ext cx="0" cy="164561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2430353" y="1034878"/>
            <a:ext cx="0" cy="164561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901700" y="1663700"/>
            <a:ext cx="1524000" cy="635000"/>
          </a:xfrm>
          <a:custGeom>
            <a:avLst/>
            <a:gdLst/>
            <a:ahLst/>
            <a:cxnLst/>
            <a:rect l="l" t="t" r="r" b="b"/>
            <a:pathLst>
              <a:path w="120" h="50">
                <a:moveTo>
                  <a:pt x="0" y="50"/>
                </a:moveTo>
                <a:lnTo>
                  <a:pt x="0" y="0"/>
                </a:lnTo>
                <a:lnTo>
                  <a:pt x="120" y="0"/>
                </a:lnTo>
                <a:lnTo>
                  <a:pt x="120" y="50"/>
                </a:lnTo>
                <a:lnTo>
                  <a:pt x="0" y="5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Freeform 79"/>
          <p:cNvSpPr/>
          <p:nvPr/>
        </p:nvSpPr>
        <p:spPr>
          <a:xfrm>
            <a:off x="1168400" y="1879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lnTo>
                  <a:pt x="3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Freeform 80"/>
          <p:cNvSpPr/>
          <p:nvPr/>
        </p:nvSpPr>
        <p:spPr>
          <a:xfrm>
            <a:off x="1244600" y="1473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Freeform 81"/>
          <p:cNvSpPr/>
          <p:nvPr/>
        </p:nvSpPr>
        <p:spPr>
          <a:xfrm>
            <a:off x="1168400" y="1244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1295400" y="2159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lnTo>
                  <a:pt x="3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Freeform 83"/>
          <p:cNvSpPr/>
          <p:nvPr/>
        </p:nvSpPr>
        <p:spPr>
          <a:xfrm>
            <a:off x="1409700" y="1778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3" y="1"/>
                </a:lnTo>
                <a:lnTo>
                  <a:pt x="3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3" y="2"/>
                </a:lnTo>
                <a:lnTo>
                  <a:pt x="3" y="1"/>
                </a:lnTo>
                <a:lnTo>
                  <a:pt x="3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Freeform 84"/>
          <p:cNvSpPr/>
          <p:nvPr/>
        </p:nvSpPr>
        <p:spPr>
          <a:xfrm>
            <a:off x="1485900" y="15494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2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Freeform 85"/>
          <p:cNvSpPr/>
          <p:nvPr/>
        </p:nvSpPr>
        <p:spPr>
          <a:xfrm>
            <a:off x="1524000" y="1371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3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3" y="1"/>
                </a:lnTo>
                <a:lnTo>
                  <a:pt x="3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Freeform 86"/>
          <p:cNvSpPr/>
          <p:nvPr/>
        </p:nvSpPr>
        <p:spPr>
          <a:xfrm>
            <a:off x="1816100" y="1117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Freeform 87"/>
          <p:cNvSpPr/>
          <p:nvPr/>
        </p:nvSpPr>
        <p:spPr>
          <a:xfrm>
            <a:off x="1828800" y="2222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Freeform 88"/>
          <p:cNvSpPr/>
          <p:nvPr/>
        </p:nvSpPr>
        <p:spPr>
          <a:xfrm>
            <a:off x="1587500" y="1866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3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3" y="2"/>
                </a:lnTo>
                <a:lnTo>
                  <a:pt x="3" y="2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1765300" y="1714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3" y="1"/>
                </a:lnTo>
                <a:lnTo>
                  <a:pt x="3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1676400" y="1498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3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3" y="1"/>
                </a:lnTo>
                <a:lnTo>
                  <a:pt x="3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Freeform 91"/>
          <p:cNvSpPr/>
          <p:nvPr/>
        </p:nvSpPr>
        <p:spPr>
          <a:xfrm>
            <a:off x="1981200" y="1498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Freeform 92"/>
          <p:cNvSpPr/>
          <p:nvPr/>
        </p:nvSpPr>
        <p:spPr>
          <a:xfrm>
            <a:off x="1701800" y="1282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3" y="1"/>
                </a:lnTo>
                <a:lnTo>
                  <a:pt x="3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3" y="2"/>
                </a:lnTo>
                <a:lnTo>
                  <a:pt x="3" y="2"/>
                </a:ln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Freeform 93"/>
          <p:cNvSpPr/>
          <p:nvPr/>
        </p:nvSpPr>
        <p:spPr>
          <a:xfrm>
            <a:off x="2311400" y="16891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2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Freeform 94"/>
          <p:cNvSpPr/>
          <p:nvPr/>
        </p:nvSpPr>
        <p:spPr>
          <a:xfrm>
            <a:off x="2108200" y="1295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-5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2879999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8" name="Picture 9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99" name="Picture 9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00" name="TextBox 9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59993" y="719433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example,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consider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subspace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797" b="0">
                <a:solidFill>
                  <a:srgbClr val="000000"/>
                </a:solidFill>
                <a:latin typeface="Josefin Sans"/>
              </a:rPr>
              <a:t>2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90033" y="2314560"/>
            <a:ext cx="4895362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413728" y="2314560"/>
            <a:ext cx="3371667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51029" y="2272019"/>
            <a:ext cx="4934366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51029" y="1006183"/>
            <a:ext cx="4934366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44841" y="1089183"/>
            <a:ext cx="5440554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300363" y="2714203"/>
            <a:ext cx="3485032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24292" y="938896"/>
            <a:ext cx="5161103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SFSS0800"/>
              </a:rPr>
              <a:t>µ</a:t>
            </a:r>
            <a:r>
              <a:rPr sz="492" b="0">
                <a:solidFill>
                  <a:srgbClr val="000000"/>
                </a:solidFill>
                <a:latin typeface="Josefin Sans"/>
              </a:rPr>
              <a:t>(x2)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441869" y="2469343"/>
            <a:ext cx="3343526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SFSS0800"/>
              </a:rPr>
              <a:t>µ</a:t>
            </a:r>
            <a:r>
              <a:rPr sz="492" b="0">
                <a:solidFill>
                  <a:srgbClr val="000000"/>
                </a:solidFill>
                <a:latin typeface="Josefin Sans"/>
              </a:rPr>
              <a:t>(x1)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74120" y="2163803"/>
            <a:ext cx="5211275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B</a:t>
            </a:r>
            <a:r>
              <a:rPr sz="369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69618" y="1635951"/>
            <a:ext cx="5215778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B</a:t>
            </a:r>
            <a:r>
              <a:rPr sz="369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69312" y="1107873"/>
            <a:ext cx="5216083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B</a:t>
            </a:r>
            <a:r>
              <a:rPr sz="369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01696" y="2522893"/>
            <a:ext cx="4783699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A</a:t>
            </a:r>
            <a:r>
              <a:rPr sz="369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632582" y="2522893"/>
            <a:ext cx="4152813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A</a:t>
            </a:r>
            <a:r>
              <a:rPr sz="369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267657" y="2522673"/>
            <a:ext cx="3517738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A</a:t>
            </a:r>
            <a:r>
              <a:rPr sz="369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232002" y="1866092"/>
            <a:ext cx="4553393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881194" y="2207873"/>
            <a:ext cx="3904201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362731" y="2144281"/>
            <a:ext cx="4422664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652292" y="1853434"/>
            <a:ext cx="4133103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469171" y="1764532"/>
            <a:ext cx="4316224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834794" y="1701238"/>
            <a:ext cx="3950601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369744" y="1676218"/>
            <a:ext cx="3415651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15994" y="1654558"/>
            <a:ext cx="286940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Points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1,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3,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5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are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class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1,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points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2,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4,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6,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915994" y="1793737"/>
            <a:ext cx="286940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7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are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class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2.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915991" y="1932917"/>
            <a:ext cx="286940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We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denote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points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as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7</a:t>
            </a:r>
            <a:r>
              <a:rPr sz="896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901648" y="3150919"/>
            <a:ext cx="88374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622970" y="3150695"/>
            <a:ext cx="1624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906637" y="2267381"/>
            <a:ext cx="0" cy="3335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430353" y="2267381"/>
            <a:ext cx="0" cy="3335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906637" y="1034878"/>
            <a:ext cx="0" cy="3335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430353" y="1034878"/>
            <a:ext cx="0" cy="3335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06637" y="2300732"/>
            <a:ext cx="3335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06637" y="1034878"/>
            <a:ext cx="3335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2396998" y="2300732"/>
            <a:ext cx="33355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>
            <a:off x="2396998" y="1034878"/>
            <a:ext cx="33355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449523" y="2300732"/>
            <a:ext cx="304743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449523" y="1034878"/>
            <a:ext cx="0" cy="126585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449523" y="1034878"/>
            <a:ext cx="304743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H="1">
            <a:off x="449523" y="1034878"/>
            <a:ext cx="304743" cy="63292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449523" y="1667805"/>
            <a:ext cx="304743" cy="63292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449523" y="1667805"/>
            <a:ext cx="304743" cy="63292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 flipV="1">
            <a:off x="449523" y="1034878"/>
            <a:ext cx="304743" cy="63292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444500" y="1981200"/>
            <a:ext cx="304800" cy="317500"/>
          </a:xfrm>
          <a:custGeom>
            <a:avLst/>
            <a:gdLst/>
            <a:ahLst/>
            <a:cxnLst/>
            <a:rect l="l" t="t" r="r" b="b"/>
            <a:pathLst>
              <a:path w="24" h="25">
                <a:moveTo>
                  <a:pt x="24" y="25"/>
                </a:moveTo>
                <a:lnTo>
                  <a:pt x="0" y="25"/>
                </a:lnTo>
                <a:lnTo>
                  <a:pt x="12" y="0"/>
                </a:lnTo>
                <a:lnTo>
                  <a:pt x="24" y="25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444500" y="1028700"/>
            <a:ext cx="304800" cy="317500"/>
          </a:xfrm>
          <a:custGeom>
            <a:avLst/>
            <a:gdLst/>
            <a:ahLst/>
            <a:cxnLst/>
            <a:rect l="l" t="t" r="r" b="b"/>
            <a:pathLst>
              <a:path w="24" h="25">
                <a:moveTo>
                  <a:pt x="24" y="0"/>
                </a:moveTo>
                <a:lnTo>
                  <a:pt x="0" y="0"/>
                </a:lnTo>
                <a:lnTo>
                  <a:pt x="12" y="25"/>
                </a:lnTo>
                <a:lnTo>
                  <a:pt x="24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444500" y="1028700"/>
            <a:ext cx="152400" cy="1270000"/>
          </a:xfrm>
          <a:custGeom>
            <a:avLst/>
            <a:gdLst/>
            <a:ahLst/>
            <a:cxnLst/>
            <a:rect l="l" t="t" r="r" b="b"/>
            <a:pathLst>
              <a:path w="12" h="100">
                <a:moveTo>
                  <a:pt x="0" y="100"/>
                </a:moveTo>
                <a:lnTo>
                  <a:pt x="12" y="75"/>
                </a:lnTo>
                <a:lnTo>
                  <a:pt x="0" y="50"/>
                </a:lnTo>
                <a:lnTo>
                  <a:pt x="12" y="25"/>
                </a:lnTo>
                <a:lnTo>
                  <a:pt x="0" y="0"/>
                </a:lnTo>
                <a:lnTo>
                  <a:pt x="0" y="10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906637" y="2427317"/>
            <a:ext cx="0" cy="25317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906637" y="2680488"/>
            <a:ext cx="152371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2430353" y="2427317"/>
            <a:ext cx="0" cy="25317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H="1">
            <a:off x="1668495" y="2427317"/>
            <a:ext cx="761858" cy="25317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H="1" flipV="1">
            <a:off x="906637" y="2427317"/>
            <a:ext cx="761858" cy="25317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906637" y="2427317"/>
            <a:ext cx="761858" cy="25317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1668495" y="2427317"/>
            <a:ext cx="761858" cy="25317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901700" y="2425700"/>
            <a:ext cx="381000" cy="254000"/>
          </a:xfrm>
          <a:custGeom>
            <a:avLst/>
            <a:gdLst/>
            <a:ahLst/>
            <a:cxnLst/>
            <a:rect l="l" t="t" r="r" b="b"/>
            <a:pathLst>
              <a:path w="30" h="20">
                <a:moveTo>
                  <a:pt x="0" y="0"/>
                </a:moveTo>
                <a:lnTo>
                  <a:pt x="0" y="20"/>
                </a:lnTo>
                <a:lnTo>
                  <a:pt x="30" y="1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044700" y="2425700"/>
            <a:ext cx="381000" cy="254000"/>
          </a:xfrm>
          <a:custGeom>
            <a:avLst/>
            <a:gdLst/>
            <a:ahLst/>
            <a:cxnLst/>
            <a:rect l="l" t="t" r="r" b="b"/>
            <a:pathLst>
              <a:path w="30" h="20">
                <a:moveTo>
                  <a:pt x="30" y="0"/>
                </a:moveTo>
                <a:lnTo>
                  <a:pt x="30" y="20"/>
                </a:lnTo>
                <a:lnTo>
                  <a:pt x="0" y="10"/>
                </a:lnTo>
                <a:lnTo>
                  <a:pt x="3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901700" y="2552700"/>
            <a:ext cx="1524000" cy="127000"/>
          </a:xfrm>
          <a:custGeom>
            <a:avLst/>
            <a:gdLst/>
            <a:ahLst/>
            <a:cxnLst/>
            <a:rect l="l" t="t" r="r" b="b"/>
            <a:pathLst>
              <a:path w="120" h="10">
                <a:moveTo>
                  <a:pt x="0" y="10"/>
                </a:moveTo>
                <a:lnTo>
                  <a:pt x="30" y="0"/>
                </a:lnTo>
                <a:lnTo>
                  <a:pt x="60" y="10"/>
                </a:lnTo>
                <a:lnTo>
                  <a:pt x="90" y="0"/>
                </a:lnTo>
                <a:lnTo>
                  <a:pt x="120" y="10"/>
                </a:lnTo>
                <a:lnTo>
                  <a:pt x="0" y="1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906637" y="1984268"/>
            <a:ext cx="1523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906637" y="1351341"/>
            <a:ext cx="1523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1287566" y="2288073"/>
            <a:ext cx="0" cy="1265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2049424" y="2288073"/>
            <a:ext cx="0" cy="1265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373337" y="1177091"/>
            <a:ext cx="0" cy="11095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355600" y="1155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1" y="0"/>
                </a:moveTo>
                <a:lnTo>
                  <a:pt x="0" y="2"/>
                </a:lnTo>
                <a:lnTo>
                  <a:pt x="1" y="2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2125610" y="2743781"/>
            <a:ext cx="13674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2247900" y="2730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449523" y="971585"/>
            <a:ext cx="13674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571500" y="9652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 flipV="1">
            <a:off x="2506538" y="2569530"/>
            <a:ext cx="0" cy="11095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2489200" y="2552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1" y="0"/>
                </a:moveTo>
                <a:lnTo>
                  <a:pt x="0" y="2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449523" y="1667805"/>
            <a:ext cx="1980830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906637" y="1034878"/>
            <a:ext cx="0" cy="164561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2430353" y="1034878"/>
            <a:ext cx="0" cy="164561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901700" y="1663700"/>
            <a:ext cx="1524000" cy="635000"/>
          </a:xfrm>
          <a:custGeom>
            <a:avLst/>
            <a:gdLst/>
            <a:ahLst/>
            <a:cxnLst/>
            <a:rect l="l" t="t" r="r" b="b"/>
            <a:pathLst>
              <a:path w="120" h="50">
                <a:moveTo>
                  <a:pt x="0" y="50"/>
                </a:moveTo>
                <a:lnTo>
                  <a:pt x="0" y="0"/>
                </a:lnTo>
                <a:lnTo>
                  <a:pt x="120" y="0"/>
                </a:lnTo>
                <a:lnTo>
                  <a:pt x="120" y="50"/>
                </a:lnTo>
                <a:lnTo>
                  <a:pt x="0" y="5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Freeform 79"/>
          <p:cNvSpPr/>
          <p:nvPr/>
        </p:nvSpPr>
        <p:spPr>
          <a:xfrm>
            <a:off x="1168400" y="1879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lnTo>
                  <a:pt x="3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Freeform 80"/>
          <p:cNvSpPr/>
          <p:nvPr/>
        </p:nvSpPr>
        <p:spPr>
          <a:xfrm>
            <a:off x="1244600" y="1473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Freeform 81"/>
          <p:cNvSpPr/>
          <p:nvPr/>
        </p:nvSpPr>
        <p:spPr>
          <a:xfrm>
            <a:off x="1168400" y="1244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1295400" y="2159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lnTo>
                  <a:pt x="3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Freeform 83"/>
          <p:cNvSpPr/>
          <p:nvPr/>
        </p:nvSpPr>
        <p:spPr>
          <a:xfrm>
            <a:off x="1409700" y="1778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3" y="1"/>
                </a:lnTo>
                <a:lnTo>
                  <a:pt x="3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3" y="2"/>
                </a:lnTo>
                <a:lnTo>
                  <a:pt x="3" y="1"/>
                </a:lnTo>
                <a:lnTo>
                  <a:pt x="3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Freeform 84"/>
          <p:cNvSpPr/>
          <p:nvPr/>
        </p:nvSpPr>
        <p:spPr>
          <a:xfrm>
            <a:off x="1485900" y="15494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2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Freeform 85"/>
          <p:cNvSpPr/>
          <p:nvPr/>
        </p:nvSpPr>
        <p:spPr>
          <a:xfrm>
            <a:off x="1524000" y="1371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3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3" y="1"/>
                </a:lnTo>
                <a:lnTo>
                  <a:pt x="3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Freeform 86"/>
          <p:cNvSpPr/>
          <p:nvPr/>
        </p:nvSpPr>
        <p:spPr>
          <a:xfrm>
            <a:off x="1816100" y="1117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Freeform 87"/>
          <p:cNvSpPr/>
          <p:nvPr/>
        </p:nvSpPr>
        <p:spPr>
          <a:xfrm>
            <a:off x="1828800" y="2222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Freeform 88"/>
          <p:cNvSpPr/>
          <p:nvPr/>
        </p:nvSpPr>
        <p:spPr>
          <a:xfrm>
            <a:off x="1587500" y="1866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3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3" y="2"/>
                </a:lnTo>
                <a:lnTo>
                  <a:pt x="3" y="2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1765300" y="1714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3" y="1"/>
                </a:lnTo>
                <a:lnTo>
                  <a:pt x="3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1676400" y="1498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3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3" y="1"/>
                </a:lnTo>
                <a:lnTo>
                  <a:pt x="3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Freeform 91"/>
          <p:cNvSpPr/>
          <p:nvPr/>
        </p:nvSpPr>
        <p:spPr>
          <a:xfrm>
            <a:off x="1981200" y="1498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Freeform 92"/>
          <p:cNvSpPr/>
          <p:nvPr/>
        </p:nvSpPr>
        <p:spPr>
          <a:xfrm>
            <a:off x="1701800" y="1282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3" y="1"/>
                </a:lnTo>
                <a:lnTo>
                  <a:pt x="3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3" y="2"/>
                </a:lnTo>
                <a:lnTo>
                  <a:pt x="3" y="2"/>
                </a:ln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Freeform 93"/>
          <p:cNvSpPr/>
          <p:nvPr/>
        </p:nvSpPr>
        <p:spPr>
          <a:xfrm>
            <a:off x="2311400" y="16891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2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Freeform 94"/>
          <p:cNvSpPr/>
          <p:nvPr/>
        </p:nvSpPr>
        <p:spPr>
          <a:xfrm>
            <a:off x="2108200" y="1295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-2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2880002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8" name="Picture 9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99" name="Picture 9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00" name="TextBox 9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59993" y="719433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example,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consider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subspace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797" b="0">
                <a:solidFill>
                  <a:srgbClr val="000000"/>
                </a:solidFill>
                <a:latin typeface="Josefin Sans"/>
              </a:rPr>
              <a:t>2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90033" y="2314560"/>
            <a:ext cx="4895362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413728" y="2314560"/>
            <a:ext cx="3371667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51029" y="2272019"/>
            <a:ext cx="4934366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51029" y="1006183"/>
            <a:ext cx="4934366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44841" y="1089183"/>
            <a:ext cx="5440554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300363" y="2714203"/>
            <a:ext cx="3485032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24292" y="938896"/>
            <a:ext cx="5161103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SFSS0800"/>
              </a:rPr>
              <a:t>µ</a:t>
            </a:r>
            <a:r>
              <a:rPr sz="492" b="0">
                <a:solidFill>
                  <a:srgbClr val="000000"/>
                </a:solidFill>
                <a:latin typeface="Josefin Sans"/>
              </a:rPr>
              <a:t>(x2)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441869" y="2469343"/>
            <a:ext cx="3343526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SFSS0800"/>
              </a:rPr>
              <a:t>µ</a:t>
            </a:r>
            <a:r>
              <a:rPr sz="492" b="0">
                <a:solidFill>
                  <a:srgbClr val="000000"/>
                </a:solidFill>
                <a:latin typeface="Josefin Sans"/>
              </a:rPr>
              <a:t>(x1)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74120" y="2163803"/>
            <a:ext cx="5211275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B</a:t>
            </a:r>
            <a:r>
              <a:rPr sz="369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69618" y="1635951"/>
            <a:ext cx="5215778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B</a:t>
            </a:r>
            <a:r>
              <a:rPr sz="369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69312" y="1107873"/>
            <a:ext cx="5216083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B</a:t>
            </a:r>
            <a:r>
              <a:rPr sz="369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01696" y="2522893"/>
            <a:ext cx="4783699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A</a:t>
            </a:r>
            <a:r>
              <a:rPr sz="369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632582" y="2522893"/>
            <a:ext cx="4152813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A</a:t>
            </a:r>
            <a:r>
              <a:rPr sz="369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267657" y="2522673"/>
            <a:ext cx="3517738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A</a:t>
            </a:r>
            <a:r>
              <a:rPr sz="369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232002" y="1866092"/>
            <a:ext cx="4553393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881194" y="2207873"/>
            <a:ext cx="3904201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362731" y="2144281"/>
            <a:ext cx="4422664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652292" y="1853434"/>
            <a:ext cx="4133103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469171" y="1764532"/>
            <a:ext cx="4316224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834794" y="1701238"/>
            <a:ext cx="3950601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369744" y="1676218"/>
            <a:ext cx="3415651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15994" y="1238873"/>
            <a:ext cx="286940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Strength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class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1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subspace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  <a:r>
              <a:rPr sz="597" b="0">
                <a:solidFill>
                  <a:srgbClr val="000000"/>
                </a:solidFill>
                <a:latin typeface="Josefin Sans"/>
              </a:rPr>
              <a:t>2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</a:t>
            </a: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is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252721" y="1459319"/>
            <a:ext cx="253267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β</a:t>
            </a:r>
            <a:r>
              <a:rPr sz="597" b="0">
                <a:solidFill>
                  <a:srgbClr val="000000"/>
                </a:solidFill>
                <a:latin typeface="Josefin Sans"/>
              </a:rPr>
              <a:t>C</a:t>
            </a:r>
            <a:r>
              <a:rPr sz="498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318673" y="1484149"/>
            <a:ext cx="246672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A</a:t>
            </a:r>
            <a:r>
              <a:rPr sz="498" b="0">
                <a:solidFill>
                  <a:srgbClr val="000000"/>
                </a:solidFill>
                <a:latin typeface="Josefin Sans"/>
              </a:rPr>
              <a:t>2</a:t>
            </a:r>
            <a:r>
              <a:rPr sz="597" b="0">
                <a:solidFill>
                  <a:srgbClr val="000000"/>
                </a:solidFill>
                <a:latin typeface="Josefin Sans"/>
              </a:rPr>
              <a:t>B</a:t>
            </a:r>
            <a:r>
              <a:rPr sz="498" b="0">
                <a:solidFill>
                  <a:srgbClr val="000000"/>
                </a:solidFill>
                <a:latin typeface="Josefin Sans"/>
              </a:rPr>
              <a:t>1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=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µ</a:t>
            </a:r>
            <a:r>
              <a:rPr sz="597" b="0">
                <a:solidFill>
                  <a:srgbClr val="000000"/>
                </a:solidFill>
                <a:latin typeface="Josefin Sans"/>
              </a:rPr>
              <a:t>A</a:t>
            </a:r>
            <a:r>
              <a:rPr sz="498" b="0">
                <a:solidFill>
                  <a:srgbClr val="000000"/>
                </a:solidFill>
                <a:latin typeface="Josefin Sans"/>
              </a:rPr>
              <a:t>2</a:t>
            </a:r>
            <a:r>
              <a:rPr sz="597" b="0">
                <a:solidFill>
                  <a:srgbClr val="000000"/>
                </a:solidFill>
                <a:latin typeface="Cambria Math"/>
              </a:rPr>
              <a:t>p</a:t>
            </a:r>
            <a:r>
              <a:rPr sz="498" b="0">
                <a:solidFill>
                  <a:srgbClr val="000000"/>
                </a:solidFill>
                <a:latin typeface="Cambria Math"/>
              </a:rPr>
              <a:t>1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×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µ</a:t>
            </a:r>
            <a:r>
              <a:rPr sz="597" b="0">
                <a:solidFill>
                  <a:srgbClr val="000000"/>
                </a:solidFill>
                <a:latin typeface="Josefin Sans"/>
              </a:rPr>
              <a:t>B</a:t>
            </a:r>
            <a:r>
              <a:rPr sz="498" b="0">
                <a:solidFill>
                  <a:srgbClr val="000000"/>
                </a:solidFill>
                <a:latin typeface="Josefin Sans"/>
              </a:rPr>
              <a:t>1</a:t>
            </a:r>
            <a:r>
              <a:rPr sz="597" b="0">
                <a:solidFill>
                  <a:srgbClr val="000000"/>
                </a:solidFill>
                <a:latin typeface="Cambria Math"/>
              </a:rPr>
              <a:t>p</a:t>
            </a:r>
            <a:r>
              <a:rPr sz="498" b="0">
                <a:solidFill>
                  <a:srgbClr val="000000"/>
                </a:solidFill>
                <a:latin typeface="Cambria Math"/>
              </a:rPr>
              <a:t>1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+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µ</a:t>
            </a:r>
            <a:r>
              <a:rPr sz="597" b="0">
                <a:solidFill>
                  <a:srgbClr val="000000"/>
                </a:solidFill>
                <a:latin typeface="Josefin Sans"/>
              </a:rPr>
              <a:t>A</a:t>
            </a:r>
            <a:r>
              <a:rPr sz="498" b="0">
                <a:solidFill>
                  <a:srgbClr val="000000"/>
                </a:solidFill>
                <a:latin typeface="Josefin Sans"/>
              </a:rPr>
              <a:t>2</a:t>
            </a:r>
            <a:r>
              <a:rPr sz="597" b="0">
                <a:solidFill>
                  <a:srgbClr val="000000"/>
                </a:solidFill>
                <a:latin typeface="Cambria Math"/>
              </a:rPr>
              <a:t>p</a:t>
            </a:r>
            <a:r>
              <a:rPr sz="498" b="0">
                <a:solidFill>
                  <a:srgbClr val="000000"/>
                </a:solidFill>
                <a:latin typeface="Cambria Math"/>
              </a:rPr>
              <a:t>3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×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µ</a:t>
            </a:r>
            <a:r>
              <a:rPr sz="597" b="0">
                <a:solidFill>
                  <a:srgbClr val="000000"/>
                </a:solidFill>
                <a:latin typeface="Josefin Sans"/>
              </a:rPr>
              <a:t>B</a:t>
            </a:r>
            <a:r>
              <a:rPr sz="498" b="0">
                <a:solidFill>
                  <a:srgbClr val="000000"/>
                </a:solidFill>
                <a:latin typeface="Josefin Sans"/>
              </a:rPr>
              <a:t>1</a:t>
            </a:r>
            <a:r>
              <a:rPr sz="597" b="0">
                <a:solidFill>
                  <a:srgbClr val="000000"/>
                </a:solidFill>
                <a:latin typeface="Cambria Math"/>
              </a:rPr>
              <a:t>p</a:t>
            </a:r>
            <a:r>
              <a:rPr sz="498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70094" y="1661289"/>
            <a:ext cx="211530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+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µ</a:t>
            </a:r>
            <a:r>
              <a:rPr sz="597" b="0">
                <a:solidFill>
                  <a:srgbClr val="000000"/>
                </a:solidFill>
                <a:latin typeface="Josefin Sans"/>
              </a:rPr>
              <a:t>A</a:t>
            </a:r>
            <a:r>
              <a:rPr sz="498" b="0">
                <a:solidFill>
                  <a:srgbClr val="000000"/>
                </a:solidFill>
                <a:latin typeface="Josefin Sans"/>
              </a:rPr>
              <a:t>2</a:t>
            </a:r>
            <a:r>
              <a:rPr sz="597" b="0">
                <a:solidFill>
                  <a:srgbClr val="000000"/>
                </a:solidFill>
                <a:latin typeface="Cambria Math"/>
              </a:rPr>
              <a:t>p</a:t>
            </a:r>
            <a:r>
              <a:rPr sz="498" b="0">
                <a:solidFill>
                  <a:srgbClr val="000000"/>
                </a:solidFill>
                <a:latin typeface="Cambria Math"/>
              </a:rPr>
              <a:t>5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×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µ</a:t>
            </a:r>
            <a:r>
              <a:rPr sz="597" b="0">
                <a:solidFill>
                  <a:srgbClr val="000000"/>
                </a:solidFill>
                <a:latin typeface="Josefin Sans"/>
              </a:rPr>
              <a:t>B</a:t>
            </a:r>
            <a:r>
              <a:rPr sz="498" b="0">
                <a:solidFill>
                  <a:srgbClr val="000000"/>
                </a:solidFill>
                <a:latin typeface="Josefin Sans"/>
              </a:rPr>
              <a:t>1</a:t>
            </a:r>
            <a:r>
              <a:rPr sz="597" b="0">
                <a:solidFill>
                  <a:srgbClr val="000000"/>
                </a:solidFill>
                <a:latin typeface="Cambria Math"/>
              </a:rPr>
              <a:t>p</a:t>
            </a:r>
            <a:r>
              <a:rPr sz="498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520552" y="1851077"/>
            <a:ext cx="226484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.</a:t>
            </a:r>
            <a:r>
              <a:rPr sz="896" b="0">
                <a:solidFill>
                  <a:srgbClr val="000000"/>
                </a:solidFill>
                <a:latin typeface="Cambria Math"/>
              </a:rPr>
              <a:t>41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.</a:t>
            </a:r>
            <a:r>
              <a:rPr sz="896" b="0">
                <a:solidFill>
                  <a:srgbClr val="000000"/>
                </a:solidFill>
                <a:latin typeface="Cambria Math"/>
              </a:rPr>
              <a:t>38 + 0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.</a:t>
            </a:r>
            <a:r>
              <a:rPr sz="896" b="0">
                <a:solidFill>
                  <a:srgbClr val="000000"/>
                </a:solidFill>
                <a:latin typeface="Cambria Math"/>
              </a:rPr>
              <a:t>54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.</a:t>
            </a:r>
            <a:r>
              <a:rPr sz="896" b="0">
                <a:solidFill>
                  <a:srgbClr val="000000"/>
                </a:solidFill>
                <a:latin typeface="Cambria Math"/>
              </a:rPr>
              <a:t>81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3670094" y="2028217"/>
            <a:ext cx="211530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+ 0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.</a:t>
            </a:r>
            <a:r>
              <a:rPr sz="896" b="0">
                <a:solidFill>
                  <a:srgbClr val="000000"/>
                </a:solidFill>
                <a:latin typeface="Cambria Math"/>
              </a:rPr>
              <a:t>65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.</a:t>
            </a:r>
            <a:r>
              <a:rPr sz="896" b="0">
                <a:solidFill>
                  <a:srgbClr val="000000"/>
                </a:solidFill>
                <a:latin typeface="Cambria Math"/>
              </a:rPr>
              <a:t>21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3520551" y="2219482"/>
            <a:ext cx="226484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.</a:t>
            </a:r>
            <a:r>
              <a:rPr sz="896" b="0">
                <a:solidFill>
                  <a:srgbClr val="000000"/>
                </a:solidFill>
                <a:latin typeface="Cambria Math"/>
              </a:rPr>
              <a:t>73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901651" y="3150917"/>
            <a:ext cx="88374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623126" y="3150693"/>
            <a:ext cx="16226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906637" y="2267381"/>
            <a:ext cx="0" cy="3335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430353" y="2267381"/>
            <a:ext cx="0" cy="3335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906637" y="1034878"/>
            <a:ext cx="0" cy="3335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430353" y="1034878"/>
            <a:ext cx="0" cy="3335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06637" y="2300732"/>
            <a:ext cx="3335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06637" y="1034878"/>
            <a:ext cx="3335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2396998" y="2300732"/>
            <a:ext cx="33355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>
            <a:off x="2396998" y="1034878"/>
            <a:ext cx="33355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449523" y="2300732"/>
            <a:ext cx="304743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449523" y="1034878"/>
            <a:ext cx="0" cy="126585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449523" y="1034878"/>
            <a:ext cx="304743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H="1">
            <a:off x="449523" y="1034878"/>
            <a:ext cx="304743" cy="63292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449523" y="1667805"/>
            <a:ext cx="304743" cy="63292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449523" y="1667805"/>
            <a:ext cx="304743" cy="63292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 flipV="1">
            <a:off x="449523" y="1034878"/>
            <a:ext cx="304743" cy="63292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444500" y="1981200"/>
            <a:ext cx="304800" cy="317500"/>
          </a:xfrm>
          <a:custGeom>
            <a:avLst/>
            <a:gdLst/>
            <a:ahLst/>
            <a:cxnLst/>
            <a:rect l="l" t="t" r="r" b="b"/>
            <a:pathLst>
              <a:path w="24" h="25">
                <a:moveTo>
                  <a:pt x="24" y="25"/>
                </a:moveTo>
                <a:lnTo>
                  <a:pt x="0" y="25"/>
                </a:lnTo>
                <a:lnTo>
                  <a:pt x="12" y="0"/>
                </a:lnTo>
                <a:lnTo>
                  <a:pt x="24" y="25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444500" y="1028700"/>
            <a:ext cx="304800" cy="317500"/>
          </a:xfrm>
          <a:custGeom>
            <a:avLst/>
            <a:gdLst/>
            <a:ahLst/>
            <a:cxnLst/>
            <a:rect l="l" t="t" r="r" b="b"/>
            <a:pathLst>
              <a:path w="24" h="25">
                <a:moveTo>
                  <a:pt x="24" y="0"/>
                </a:moveTo>
                <a:lnTo>
                  <a:pt x="0" y="0"/>
                </a:lnTo>
                <a:lnTo>
                  <a:pt x="12" y="25"/>
                </a:lnTo>
                <a:lnTo>
                  <a:pt x="24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444500" y="1028700"/>
            <a:ext cx="152400" cy="1270000"/>
          </a:xfrm>
          <a:custGeom>
            <a:avLst/>
            <a:gdLst/>
            <a:ahLst/>
            <a:cxnLst/>
            <a:rect l="l" t="t" r="r" b="b"/>
            <a:pathLst>
              <a:path w="12" h="100">
                <a:moveTo>
                  <a:pt x="0" y="100"/>
                </a:moveTo>
                <a:lnTo>
                  <a:pt x="12" y="75"/>
                </a:lnTo>
                <a:lnTo>
                  <a:pt x="0" y="50"/>
                </a:lnTo>
                <a:lnTo>
                  <a:pt x="12" y="25"/>
                </a:lnTo>
                <a:lnTo>
                  <a:pt x="0" y="0"/>
                </a:lnTo>
                <a:lnTo>
                  <a:pt x="0" y="10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906637" y="2427317"/>
            <a:ext cx="0" cy="25317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906637" y="2680488"/>
            <a:ext cx="152371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2430353" y="2427317"/>
            <a:ext cx="0" cy="25317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H="1">
            <a:off x="1668495" y="2427317"/>
            <a:ext cx="761858" cy="25317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H="1" flipV="1">
            <a:off x="906637" y="2427317"/>
            <a:ext cx="761858" cy="25317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906637" y="2427317"/>
            <a:ext cx="761858" cy="25317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1668495" y="2427317"/>
            <a:ext cx="761858" cy="25317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901700" y="2425700"/>
            <a:ext cx="381000" cy="254000"/>
          </a:xfrm>
          <a:custGeom>
            <a:avLst/>
            <a:gdLst/>
            <a:ahLst/>
            <a:cxnLst/>
            <a:rect l="l" t="t" r="r" b="b"/>
            <a:pathLst>
              <a:path w="30" h="20">
                <a:moveTo>
                  <a:pt x="0" y="0"/>
                </a:moveTo>
                <a:lnTo>
                  <a:pt x="0" y="20"/>
                </a:lnTo>
                <a:lnTo>
                  <a:pt x="30" y="1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044700" y="2425700"/>
            <a:ext cx="381000" cy="254000"/>
          </a:xfrm>
          <a:custGeom>
            <a:avLst/>
            <a:gdLst/>
            <a:ahLst/>
            <a:cxnLst/>
            <a:rect l="l" t="t" r="r" b="b"/>
            <a:pathLst>
              <a:path w="30" h="20">
                <a:moveTo>
                  <a:pt x="30" y="0"/>
                </a:moveTo>
                <a:lnTo>
                  <a:pt x="30" y="20"/>
                </a:lnTo>
                <a:lnTo>
                  <a:pt x="0" y="10"/>
                </a:lnTo>
                <a:lnTo>
                  <a:pt x="3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901700" y="2552700"/>
            <a:ext cx="1524000" cy="127000"/>
          </a:xfrm>
          <a:custGeom>
            <a:avLst/>
            <a:gdLst/>
            <a:ahLst/>
            <a:cxnLst/>
            <a:rect l="l" t="t" r="r" b="b"/>
            <a:pathLst>
              <a:path w="120" h="10">
                <a:moveTo>
                  <a:pt x="0" y="10"/>
                </a:moveTo>
                <a:lnTo>
                  <a:pt x="30" y="0"/>
                </a:lnTo>
                <a:lnTo>
                  <a:pt x="60" y="10"/>
                </a:lnTo>
                <a:lnTo>
                  <a:pt x="90" y="0"/>
                </a:lnTo>
                <a:lnTo>
                  <a:pt x="120" y="10"/>
                </a:lnTo>
                <a:lnTo>
                  <a:pt x="0" y="1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906637" y="1984268"/>
            <a:ext cx="1523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906637" y="1351341"/>
            <a:ext cx="1523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1287566" y="2288073"/>
            <a:ext cx="0" cy="1265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2049424" y="2288073"/>
            <a:ext cx="0" cy="1265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373337" y="1177091"/>
            <a:ext cx="0" cy="11095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355600" y="1155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1" y="0"/>
                </a:moveTo>
                <a:lnTo>
                  <a:pt x="0" y="2"/>
                </a:lnTo>
                <a:lnTo>
                  <a:pt x="1" y="2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2125610" y="2743781"/>
            <a:ext cx="13674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2247900" y="2730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449523" y="971585"/>
            <a:ext cx="13674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571500" y="9652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 flipV="1">
            <a:off x="2506538" y="2569530"/>
            <a:ext cx="0" cy="11095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2489200" y="2552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1" y="0"/>
                </a:moveTo>
                <a:lnTo>
                  <a:pt x="0" y="2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449523" y="1667805"/>
            <a:ext cx="1980830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906637" y="1034878"/>
            <a:ext cx="0" cy="164561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2430353" y="1034878"/>
            <a:ext cx="0" cy="164561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901700" y="1663700"/>
            <a:ext cx="1524000" cy="635000"/>
          </a:xfrm>
          <a:custGeom>
            <a:avLst/>
            <a:gdLst/>
            <a:ahLst/>
            <a:cxnLst/>
            <a:rect l="l" t="t" r="r" b="b"/>
            <a:pathLst>
              <a:path w="120" h="50">
                <a:moveTo>
                  <a:pt x="0" y="50"/>
                </a:moveTo>
                <a:lnTo>
                  <a:pt x="0" y="0"/>
                </a:lnTo>
                <a:lnTo>
                  <a:pt x="120" y="0"/>
                </a:lnTo>
                <a:lnTo>
                  <a:pt x="120" y="50"/>
                </a:lnTo>
                <a:lnTo>
                  <a:pt x="0" y="5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Freeform 79"/>
          <p:cNvSpPr/>
          <p:nvPr/>
        </p:nvSpPr>
        <p:spPr>
          <a:xfrm>
            <a:off x="1168400" y="1879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lnTo>
                  <a:pt x="3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Freeform 80"/>
          <p:cNvSpPr/>
          <p:nvPr/>
        </p:nvSpPr>
        <p:spPr>
          <a:xfrm>
            <a:off x="1244600" y="1473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Freeform 81"/>
          <p:cNvSpPr/>
          <p:nvPr/>
        </p:nvSpPr>
        <p:spPr>
          <a:xfrm>
            <a:off x="1168400" y="1244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1295400" y="2159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lnTo>
                  <a:pt x="3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Freeform 83"/>
          <p:cNvSpPr/>
          <p:nvPr/>
        </p:nvSpPr>
        <p:spPr>
          <a:xfrm>
            <a:off x="1409700" y="1778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3" y="1"/>
                </a:lnTo>
                <a:lnTo>
                  <a:pt x="3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3" y="2"/>
                </a:lnTo>
                <a:lnTo>
                  <a:pt x="3" y="1"/>
                </a:lnTo>
                <a:lnTo>
                  <a:pt x="3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Freeform 84"/>
          <p:cNvSpPr/>
          <p:nvPr/>
        </p:nvSpPr>
        <p:spPr>
          <a:xfrm>
            <a:off x="1485900" y="15494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2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Freeform 85"/>
          <p:cNvSpPr/>
          <p:nvPr/>
        </p:nvSpPr>
        <p:spPr>
          <a:xfrm>
            <a:off x="1524000" y="1371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3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3" y="1"/>
                </a:lnTo>
                <a:lnTo>
                  <a:pt x="3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Freeform 86"/>
          <p:cNvSpPr/>
          <p:nvPr/>
        </p:nvSpPr>
        <p:spPr>
          <a:xfrm>
            <a:off x="1816100" y="1117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Freeform 87"/>
          <p:cNvSpPr/>
          <p:nvPr/>
        </p:nvSpPr>
        <p:spPr>
          <a:xfrm>
            <a:off x="1828800" y="2222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Freeform 88"/>
          <p:cNvSpPr/>
          <p:nvPr/>
        </p:nvSpPr>
        <p:spPr>
          <a:xfrm>
            <a:off x="1587500" y="1866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3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3" y="2"/>
                </a:lnTo>
                <a:lnTo>
                  <a:pt x="3" y="2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1765300" y="1714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3" y="1"/>
                </a:lnTo>
                <a:lnTo>
                  <a:pt x="3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1676400" y="1498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3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3" y="1"/>
                </a:lnTo>
                <a:lnTo>
                  <a:pt x="3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Freeform 91"/>
          <p:cNvSpPr/>
          <p:nvPr/>
        </p:nvSpPr>
        <p:spPr>
          <a:xfrm>
            <a:off x="1981200" y="1498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Freeform 92"/>
          <p:cNvSpPr/>
          <p:nvPr/>
        </p:nvSpPr>
        <p:spPr>
          <a:xfrm>
            <a:off x="1701800" y="1282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3" y="1"/>
                </a:lnTo>
                <a:lnTo>
                  <a:pt x="3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3" y="2"/>
                </a:lnTo>
                <a:lnTo>
                  <a:pt x="3" y="2"/>
                </a:ln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Freeform 93"/>
          <p:cNvSpPr/>
          <p:nvPr/>
        </p:nvSpPr>
        <p:spPr>
          <a:xfrm>
            <a:off x="2311400" y="16891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2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Freeform 94"/>
          <p:cNvSpPr/>
          <p:nvPr/>
        </p:nvSpPr>
        <p:spPr>
          <a:xfrm>
            <a:off x="2108200" y="1295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-2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2880002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8" name="Picture 9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99" name="Picture 9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00" name="TextBox 9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59993" y="719433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example,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consider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subspace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797" b="0">
                <a:solidFill>
                  <a:srgbClr val="000000"/>
                </a:solidFill>
                <a:latin typeface="Josefin Sans"/>
              </a:rPr>
              <a:t>2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90033" y="2314560"/>
            <a:ext cx="4895362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413728" y="2314560"/>
            <a:ext cx="3371667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51029" y="2272019"/>
            <a:ext cx="4934366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51029" y="1006183"/>
            <a:ext cx="4934366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44841" y="1089183"/>
            <a:ext cx="5440554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300363" y="2714203"/>
            <a:ext cx="3485032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24292" y="938896"/>
            <a:ext cx="5161103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SFSS0800"/>
              </a:rPr>
              <a:t>µ</a:t>
            </a:r>
            <a:r>
              <a:rPr sz="492" b="0">
                <a:solidFill>
                  <a:srgbClr val="000000"/>
                </a:solidFill>
                <a:latin typeface="Josefin Sans"/>
              </a:rPr>
              <a:t>(x2)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441869" y="2469343"/>
            <a:ext cx="3343526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SFSS0800"/>
              </a:rPr>
              <a:t>µ</a:t>
            </a:r>
            <a:r>
              <a:rPr sz="492" b="0">
                <a:solidFill>
                  <a:srgbClr val="000000"/>
                </a:solidFill>
                <a:latin typeface="Josefin Sans"/>
              </a:rPr>
              <a:t>(x1)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74120" y="2163803"/>
            <a:ext cx="5211275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B</a:t>
            </a:r>
            <a:r>
              <a:rPr sz="369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69618" y="1635951"/>
            <a:ext cx="5215778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B</a:t>
            </a:r>
            <a:r>
              <a:rPr sz="369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69312" y="1107873"/>
            <a:ext cx="5216083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B</a:t>
            </a:r>
            <a:r>
              <a:rPr sz="369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01696" y="2522893"/>
            <a:ext cx="4783699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A</a:t>
            </a:r>
            <a:r>
              <a:rPr sz="369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632582" y="2522893"/>
            <a:ext cx="4152813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A</a:t>
            </a:r>
            <a:r>
              <a:rPr sz="369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267657" y="2522673"/>
            <a:ext cx="3517738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A</a:t>
            </a:r>
            <a:r>
              <a:rPr sz="369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232002" y="1866092"/>
            <a:ext cx="4553393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881194" y="2207873"/>
            <a:ext cx="3904201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362731" y="2144281"/>
            <a:ext cx="4422664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652292" y="1853434"/>
            <a:ext cx="4133103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469171" y="1764532"/>
            <a:ext cx="4316224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834794" y="1701238"/>
            <a:ext cx="3950601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369744" y="1676218"/>
            <a:ext cx="3415651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15994" y="1238873"/>
            <a:ext cx="286940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Strength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class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2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subspace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  <a:r>
              <a:rPr sz="597" b="0">
                <a:solidFill>
                  <a:srgbClr val="000000"/>
                </a:solidFill>
                <a:latin typeface="Josefin Sans"/>
              </a:rPr>
              <a:t>2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</a:t>
            </a: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is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181195" y="1459319"/>
            <a:ext cx="260420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β</a:t>
            </a:r>
            <a:r>
              <a:rPr sz="597" b="0">
                <a:solidFill>
                  <a:srgbClr val="000000"/>
                </a:solidFill>
                <a:latin typeface="Josefin Sans"/>
              </a:rPr>
              <a:t>C</a:t>
            </a:r>
            <a:r>
              <a:rPr sz="498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247159" y="1484149"/>
            <a:ext cx="253823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A</a:t>
            </a:r>
            <a:r>
              <a:rPr sz="498" b="0">
                <a:solidFill>
                  <a:srgbClr val="000000"/>
                </a:solidFill>
                <a:latin typeface="Josefin Sans"/>
              </a:rPr>
              <a:t>2</a:t>
            </a:r>
            <a:r>
              <a:rPr sz="597" b="0">
                <a:solidFill>
                  <a:srgbClr val="000000"/>
                </a:solidFill>
                <a:latin typeface="Josefin Sans"/>
              </a:rPr>
              <a:t>B</a:t>
            </a:r>
            <a:r>
              <a:rPr sz="498" b="0">
                <a:solidFill>
                  <a:srgbClr val="000000"/>
                </a:solidFill>
                <a:latin typeface="Josefin Sans"/>
              </a:rPr>
              <a:t>1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=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µ</a:t>
            </a:r>
            <a:r>
              <a:rPr sz="597" b="0">
                <a:solidFill>
                  <a:srgbClr val="000000"/>
                </a:solidFill>
                <a:latin typeface="Josefin Sans"/>
              </a:rPr>
              <a:t>A</a:t>
            </a:r>
            <a:r>
              <a:rPr sz="498" b="0">
                <a:solidFill>
                  <a:srgbClr val="000000"/>
                </a:solidFill>
                <a:latin typeface="Josefin Sans"/>
              </a:rPr>
              <a:t>2</a:t>
            </a:r>
            <a:r>
              <a:rPr sz="597" b="0">
                <a:solidFill>
                  <a:srgbClr val="000000"/>
                </a:solidFill>
                <a:latin typeface="Cambria Math"/>
              </a:rPr>
              <a:t>p</a:t>
            </a:r>
            <a:r>
              <a:rPr sz="498" b="0">
                <a:solidFill>
                  <a:srgbClr val="000000"/>
                </a:solidFill>
                <a:latin typeface="Cambria Math"/>
              </a:rPr>
              <a:t>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×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µ</a:t>
            </a:r>
            <a:r>
              <a:rPr sz="597" b="0">
                <a:solidFill>
                  <a:srgbClr val="000000"/>
                </a:solidFill>
                <a:latin typeface="Josefin Sans"/>
              </a:rPr>
              <a:t>B</a:t>
            </a:r>
            <a:r>
              <a:rPr sz="498" b="0">
                <a:solidFill>
                  <a:srgbClr val="000000"/>
                </a:solidFill>
                <a:latin typeface="Josefin Sans"/>
              </a:rPr>
              <a:t>1</a:t>
            </a:r>
            <a:r>
              <a:rPr sz="597" b="0">
                <a:solidFill>
                  <a:srgbClr val="000000"/>
                </a:solidFill>
                <a:latin typeface="Cambria Math"/>
              </a:rPr>
              <a:t>p</a:t>
            </a:r>
            <a:r>
              <a:rPr sz="498" b="0">
                <a:solidFill>
                  <a:srgbClr val="000000"/>
                </a:solidFill>
                <a:latin typeface="Cambria Math"/>
              </a:rPr>
              <a:t>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+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µ</a:t>
            </a:r>
            <a:r>
              <a:rPr sz="597" b="0">
                <a:solidFill>
                  <a:srgbClr val="000000"/>
                </a:solidFill>
                <a:latin typeface="Josefin Sans"/>
              </a:rPr>
              <a:t>A</a:t>
            </a:r>
            <a:r>
              <a:rPr sz="498" b="0">
                <a:solidFill>
                  <a:srgbClr val="000000"/>
                </a:solidFill>
                <a:latin typeface="Josefin Sans"/>
              </a:rPr>
              <a:t>2</a:t>
            </a:r>
            <a:r>
              <a:rPr sz="597" b="0">
                <a:solidFill>
                  <a:srgbClr val="000000"/>
                </a:solidFill>
                <a:latin typeface="Cambria Math"/>
              </a:rPr>
              <a:t>p</a:t>
            </a:r>
            <a:r>
              <a:rPr sz="498" b="0">
                <a:solidFill>
                  <a:srgbClr val="000000"/>
                </a:solidFill>
                <a:latin typeface="Cambria Math"/>
              </a:rPr>
              <a:t>4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×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µ</a:t>
            </a:r>
            <a:r>
              <a:rPr sz="597" b="0">
                <a:solidFill>
                  <a:srgbClr val="000000"/>
                </a:solidFill>
                <a:latin typeface="Josefin Sans"/>
              </a:rPr>
              <a:t>B</a:t>
            </a:r>
            <a:r>
              <a:rPr sz="498" b="0">
                <a:solidFill>
                  <a:srgbClr val="000000"/>
                </a:solidFill>
                <a:latin typeface="Josefin Sans"/>
              </a:rPr>
              <a:t>1</a:t>
            </a:r>
            <a:r>
              <a:rPr sz="597" b="0">
                <a:solidFill>
                  <a:srgbClr val="000000"/>
                </a:solidFill>
                <a:latin typeface="Cambria Math"/>
              </a:rPr>
              <a:t>p</a:t>
            </a:r>
            <a:r>
              <a:rPr sz="498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598580" y="1661289"/>
            <a:ext cx="218681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+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µ</a:t>
            </a:r>
            <a:r>
              <a:rPr sz="597" b="0">
                <a:solidFill>
                  <a:srgbClr val="000000"/>
                </a:solidFill>
                <a:latin typeface="Josefin Sans"/>
              </a:rPr>
              <a:t>A</a:t>
            </a:r>
            <a:r>
              <a:rPr sz="498" b="0">
                <a:solidFill>
                  <a:srgbClr val="000000"/>
                </a:solidFill>
                <a:latin typeface="Josefin Sans"/>
              </a:rPr>
              <a:t>2</a:t>
            </a:r>
            <a:r>
              <a:rPr sz="597" b="0">
                <a:solidFill>
                  <a:srgbClr val="000000"/>
                </a:solidFill>
                <a:latin typeface="Cambria Math"/>
              </a:rPr>
              <a:t>p</a:t>
            </a:r>
            <a:r>
              <a:rPr sz="498" b="0">
                <a:solidFill>
                  <a:srgbClr val="000000"/>
                </a:solidFill>
                <a:latin typeface="Cambria Math"/>
              </a:rPr>
              <a:t>6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×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µ</a:t>
            </a:r>
            <a:r>
              <a:rPr sz="597" b="0">
                <a:solidFill>
                  <a:srgbClr val="000000"/>
                </a:solidFill>
                <a:latin typeface="Josefin Sans"/>
              </a:rPr>
              <a:t>B</a:t>
            </a:r>
            <a:r>
              <a:rPr sz="498" b="0">
                <a:solidFill>
                  <a:srgbClr val="000000"/>
                </a:solidFill>
                <a:latin typeface="Josefin Sans"/>
              </a:rPr>
              <a:t>1</a:t>
            </a:r>
            <a:r>
              <a:rPr sz="597" b="0">
                <a:solidFill>
                  <a:srgbClr val="000000"/>
                </a:solidFill>
                <a:latin typeface="Cambria Math"/>
              </a:rPr>
              <a:t>p</a:t>
            </a:r>
            <a:r>
              <a:rPr sz="498" b="0">
                <a:solidFill>
                  <a:srgbClr val="000000"/>
                </a:solidFill>
                <a:latin typeface="Cambria Math"/>
              </a:rPr>
              <a:t>6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+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µ</a:t>
            </a:r>
            <a:r>
              <a:rPr sz="597" b="0">
                <a:solidFill>
                  <a:srgbClr val="000000"/>
                </a:solidFill>
                <a:latin typeface="Josefin Sans"/>
              </a:rPr>
              <a:t>A</a:t>
            </a:r>
            <a:r>
              <a:rPr sz="498" b="0">
                <a:solidFill>
                  <a:srgbClr val="000000"/>
                </a:solidFill>
                <a:latin typeface="Josefin Sans"/>
              </a:rPr>
              <a:t>2</a:t>
            </a:r>
            <a:r>
              <a:rPr sz="597" b="0">
                <a:solidFill>
                  <a:srgbClr val="000000"/>
                </a:solidFill>
                <a:latin typeface="Cambria Math"/>
              </a:rPr>
              <a:t>p</a:t>
            </a:r>
            <a:r>
              <a:rPr sz="498" b="0">
                <a:solidFill>
                  <a:srgbClr val="000000"/>
                </a:solidFill>
                <a:latin typeface="Cambria Math"/>
              </a:rPr>
              <a:t>7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×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µ</a:t>
            </a:r>
            <a:r>
              <a:rPr sz="597" b="0">
                <a:solidFill>
                  <a:srgbClr val="000000"/>
                </a:solidFill>
                <a:latin typeface="Josefin Sans"/>
              </a:rPr>
              <a:t>B</a:t>
            </a:r>
            <a:r>
              <a:rPr sz="498" b="0">
                <a:solidFill>
                  <a:srgbClr val="000000"/>
                </a:solidFill>
                <a:latin typeface="Josefin Sans"/>
              </a:rPr>
              <a:t>1</a:t>
            </a:r>
            <a:r>
              <a:rPr sz="597" b="0">
                <a:solidFill>
                  <a:srgbClr val="000000"/>
                </a:solidFill>
                <a:latin typeface="Cambria Math"/>
              </a:rPr>
              <a:t>p</a:t>
            </a:r>
            <a:r>
              <a:rPr sz="498" b="0">
                <a:solidFill>
                  <a:srgbClr val="000000"/>
                </a:solidFill>
                <a:latin typeface="Cambria Math"/>
              </a:rPr>
              <a:t>7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449024" y="1851077"/>
            <a:ext cx="233637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.</a:t>
            </a:r>
            <a:r>
              <a:rPr sz="896" b="0">
                <a:solidFill>
                  <a:srgbClr val="000000"/>
                </a:solidFill>
                <a:latin typeface="Cambria Math"/>
              </a:rPr>
              <a:t>75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.</a:t>
            </a:r>
            <a:r>
              <a:rPr sz="896" b="0">
                <a:solidFill>
                  <a:srgbClr val="000000"/>
                </a:solidFill>
                <a:latin typeface="Cambria Math"/>
              </a:rPr>
              <a:t>89 + 0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.</a:t>
            </a:r>
            <a:r>
              <a:rPr sz="896" b="0">
                <a:solidFill>
                  <a:srgbClr val="000000"/>
                </a:solidFill>
                <a:latin typeface="Cambria Math"/>
              </a:rPr>
              <a:t>92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.</a:t>
            </a:r>
            <a:r>
              <a:rPr sz="896" b="0">
                <a:solidFill>
                  <a:srgbClr val="000000"/>
                </a:solidFill>
                <a:latin typeface="Cambria Math"/>
              </a:rPr>
              <a:t>34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3598578" y="2028217"/>
            <a:ext cx="218681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+ 0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.</a:t>
            </a:r>
            <a:r>
              <a:rPr sz="896" b="0">
                <a:solidFill>
                  <a:srgbClr val="000000"/>
                </a:solidFill>
                <a:latin typeface="Cambria Math"/>
              </a:rPr>
              <a:t>87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.</a:t>
            </a:r>
            <a:r>
              <a:rPr sz="896" b="0">
                <a:solidFill>
                  <a:srgbClr val="000000"/>
                </a:solidFill>
                <a:latin typeface="Cambria Math"/>
              </a:rPr>
              <a:t>12 + 0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.</a:t>
            </a:r>
            <a:r>
              <a:rPr sz="896" b="0">
                <a:solidFill>
                  <a:srgbClr val="000000"/>
                </a:solidFill>
                <a:latin typeface="Cambria Math"/>
              </a:rPr>
              <a:t>11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.</a:t>
            </a:r>
            <a:r>
              <a:rPr sz="896" b="0">
                <a:solidFill>
                  <a:srgbClr val="000000"/>
                </a:solidFill>
                <a:latin typeface="Cambria Math"/>
              </a:rPr>
              <a:t>09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3449023" y="2219482"/>
            <a:ext cx="233637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= 1</a:t>
            </a:r>
            <a:r>
              <a:rPr sz="896" b="0">
                <a:solidFill>
                  <a:srgbClr val="000000"/>
                </a:solidFill>
                <a:latin typeface="Cambria Math"/>
              </a:rPr>
              <a:t>.</a:t>
            </a:r>
            <a:r>
              <a:rPr sz="896" b="0">
                <a:solidFill>
                  <a:srgbClr val="000000"/>
                </a:solidFill>
                <a:latin typeface="Cambria Math"/>
              </a:rPr>
              <a:t>09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901651" y="3150917"/>
            <a:ext cx="88374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622440" y="3150693"/>
            <a:ext cx="16295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678266" y="1699920"/>
            <a:ext cx="694550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3886427" y="1699920"/>
            <a:ext cx="762293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561894" y="2718586"/>
            <a:ext cx="661936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880003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53308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strength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class,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consequent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determined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by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9993" y="70515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strongest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class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i.e.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highest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strength.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9993" y="101563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certainty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factor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calculated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using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6098" y="1593373"/>
            <a:ext cx="468929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CF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94116" y="1626275"/>
            <a:ext cx="449127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A</a:t>
            </a:r>
            <a:r>
              <a:rPr sz="597" b="0">
                <a:solidFill>
                  <a:srgbClr val="000000"/>
                </a:solidFill>
                <a:latin typeface="Josefin Sans"/>
              </a:rPr>
              <a:t>i</a:t>
            </a:r>
            <a:r>
              <a:rPr sz="797" b="0">
                <a:solidFill>
                  <a:srgbClr val="000000"/>
                </a:solidFill>
                <a:latin typeface="Josefin Sans"/>
              </a:rPr>
              <a:t>B</a:t>
            </a:r>
            <a:r>
              <a:rPr sz="597" b="0">
                <a:solidFill>
                  <a:srgbClr val="000000"/>
                </a:solidFill>
                <a:latin typeface="Josefin Sans"/>
              </a:rPr>
              <a:t>j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678278" y="1462144"/>
            <a:ext cx="410711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β</a:t>
            </a:r>
            <a:r>
              <a:rPr sz="797" b="0">
                <a:solidFill>
                  <a:srgbClr val="000000"/>
                </a:solidFill>
                <a:latin typeface="Josefin Sans"/>
              </a:rPr>
              <a:t>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756638" y="1493250"/>
            <a:ext cx="402875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A</a:t>
            </a:r>
            <a:r>
              <a:rPr sz="597" b="0">
                <a:solidFill>
                  <a:srgbClr val="000000"/>
                </a:solidFill>
                <a:latin typeface="Josefin Sans"/>
              </a:rPr>
              <a:t>i</a:t>
            </a:r>
            <a:r>
              <a:rPr sz="797" b="0">
                <a:solidFill>
                  <a:srgbClr val="000000"/>
                </a:solidFill>
                <a:latin typeface="Josefin Sans"/>
              </a:rPr>
              <a:t>B</a:t>
            </a:r>
            <a:r>
              <a:rPr sz="597" b="0">
                <a:solidFill>
                  <a:srgbClr val="000000"/>
                </a:solidFill>
                <a:latin typeface="Josefin Sans"/>
              </a:rPr>
              <a:t>j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β</a:t>
            </a:r>
            <a:r>
              <a:rPr sz="797" b="0">
                <a:solidFill>
                  <a:srgbClr val="000000"/>
                </a:solidFill>
                <a:latin typeface="Josefin Sans"/>
              </a:rPr>
              <a:t>A</a:t>
            </a:r>
            <a:r>
              <a:rPr sz="597" b="0">
                <a:solidFill>
                  <a:srgbClr val="000000"/>
                </a:solidFill>
                <a:latin typeface="Josefin Sans"/>
              </a:rPr>
              <a:t>i</a:t>
            </a:r>
            <a:r>
              <a:rPr sz="797" b="0">
                <a:solidFill>
                  <a:srgbClr val="000000"/>
                </a:solidFill>
                <a:latin typeface="Josefin Sans"/>
              </a:rPr>
              <a:t>B</a:t>
            </a:r>
            <a:r>
              <a:rPr sz="597" b="0">
                <a:solidFill>
                  <a:srgbClr val="000000"/>
                </a:solidFill>
                <a:latin typeface="Josefin Sans"/>
              </a:rPr>
              <a:t>j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705075" y="1709662"/>
            <a:ext cx="408032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851316" y="1711445"/>
            <a:ext cx="393407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n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β</a:t>
            </a:r>
            <a:r>
              <a:rPr sz="797" b="0">
                <a:solidFill>
                  <a:srgbClr val="000000"/>
                </a:solidFill>
                <a:latin typeface="Josefin Sans"/>
              </a:rPr>
              <a:t>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161780" y="1821973"/>
            <a:ext cx="362361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A</a:t>
            </a:r>
            <a:r>
              <a:rPr sz="597" b="0">
                <a:solidFill>
                  <a:srgbClr val="000000"/>
                </a:solidFill>
                <a:latin typeface="Josefin Sans"/>
              </a:rPr>
              <a:t>i</a:t>
            </a:r>
            <a:r>
              <a:rPr sz="797" b="0">
                <a:solidFill>
                  <a:srgbClr val="000000"/>
                </a:solidFill>
                <a:latin typeface="Josefin Sans"/>
              </a:rPr>
              <a:t>B</a:t>
            </a:r>
            <a:r>
              <a:rPr sz="597" b="0">
                <a:solidFill>
                  <a:srgbClr val="000000"/>
                </a:solidFill>
                <a:latin typeface="Josefin Sans"/>
              </a:rPr>
              <a:t>j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942195" y="1623953"/>
            <a:ext cx="284320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where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423918" y="1626275"/>
            <a:ext cx="236147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β</a:t>
            </a:r>
            <a:r>
              <a:rPr sz="797" b="0">
                <a:solidFill>
                  <a:srgbClr val="000000"/>
                </a:solidFill>
                <a:latin typeface="Josefin Sans"/>
              </a:rPr>
              <a:t>A</a:t>
            </a:r>
            <a:r>
              <a:rPr sz="597" b="0">
                <a:solidFill>
                  <a:srgbClr val="000000"/>
                </a:solidFill>
                <a:latin typeface="Josefin Sans"/>
              </a:rPr>
              <a:t>i</a:t>
            </a:r>
            <a:r>
              <a:rPr sz="797" b="0">
                <a:solidFill>
                  <a:srgbClr val="000000"/>
                </a:solidFill>
                <a:latin typeface="Josefin Sans"/>
              </a:rPr>
              <a:t>B</a:t>
            </a:r>
            <a:r>
              <a:rPr sz="597" b="0">
                <a:solidFill>
                  <a:srgbClr val="000000"/>
                </a:solidFill>
                <a:latin typeface="Josefin Sans"/>
              </a:rPr>
              <a:t>j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051603" y="1308241"/>
            <a:ext cx="173379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886440" y="1566568"/>
            <a:ext cx="189895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n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=1</a:t>
            </a:r>
            <a:r>
              <a:rPr sz="797" b="0">
                <a:solidFill>
                  <a:srgbClr val="000000"/>
                </a:solidFill>
                <a:latin typeface="Cambria Math"/>
              </a:rPr>
              <a:t>,n</a:t>
            </a:r>
            <a:r>
              <a:rPr sz="797" b="0">
                <a:solidFill>
                  <a:srgbClr val="000000"/>
                </a:solidFill>
                <a:latin typeface="Cambria Math"/>
              </a:rPr>
              <a:t≯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</a:t>
            </a:r>
            <a:r>
              <a:rPr sz="797" b="0">
                <a:solidFill>
                  <a:srgbClr val="000000"/>
                </a:solidFill>
                <a:latin typeface="Cambria Math"/>
              </a:rPr>
              <a:t>m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386109" y="1377791"/>
            <a:ext cx="139928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β</a:t>
            </a:r>
            <a:r>
              <a:rPr sz="797" b="0">
                <a:solidFill>
                  <a:srgbClr val="000000"/>
                </a:solidFill>
                <a:latin typeface="Josefin Sans"/>
              </a:rPr>
              <a:t>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464480" y="1488319"/>
            <a:ext cx="132091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A</a:t>
            </a:r>
            <a:r>
              <a:rPr sz="597" b="0">
                <a:solidFill>
                  <a:srgbClr val="000000"/>
                </a:solidFill>
                <a:latin typeface="Josefin Sans"/>
              </a:rPr>
              <a:t>i</a:t>
            </a:r>
            <a:r>
              <a:rPr sz="797" b="0">
                <a:solidFill>
                  <a:srgbClr val="000000"/>
                </a:solidFill>
                <a:latin typeface="Josefin Sans"/>
              </a:rPr>
              <a:t>B</a:t>
            </a:r>
            <a:r>
              <a:rPr sz="597" b="0">
                <a:solidFill>
                  <a:srgbClr val="000000"/>
                </a:solidFill>
                <a:latin typeface="Josefin Sans"/>
              </a:rPr>
              <a:t>j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085068" y="1719513"/>
            <a:ext cx="170032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59993" y="228152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certainty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factor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consequent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subspace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797" b="0">
                <a:solidFill>
                  <a:srgbClr val="000000"/>
                </a:solidFill>
                <a:latin typeface="Josefin Sans"/>
              </a:rPr>
              <a:t>2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951405" y="2610186"/>
            <a:ext cx="383399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CF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149423" y="2549420"/>
            <a:ext cx="363597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A</a:t>
            </a:r>
            <a:r>
              <a:rPr sz="597" b="0">
                <a:solidFill>
                  <a:srgbClr val="000000"/>
                </a:solidFill>
                <a:latin typeface="Josefin Sans"/>
              </a:rPr>
              <a:t>2</a:t>
            </a:r>
            <a:r>
              <a:rPr sz="797" b="0">
                <a:solidFill>
                  <a:srgbClr val="000000"/>
                </a:solidFill>
                <a:latin typeface="Josefin Sans"/>
              </a:rPr>
              <a:t>B</a:t>
            </a: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.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09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0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.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73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561894" y="2644941"/>
            <a:ext cx="32235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.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09 + 0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.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73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0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.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1978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901653" y="3150917"/>
            <a:ext cx="8837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622289" y="3150693"/>
            <a:ext cx="16310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3" y="3146744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8" y="3146744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What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is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a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certainty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factor?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96719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Certainty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factor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represents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how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certain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patterns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subspace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113927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should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classified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under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other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words,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how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certain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131134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corresponding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subspace.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9995" y="1621820"/>
            <a:ext cx="54254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training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patterns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subspace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belongs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same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9995" y="1793905"/>
            <a:ext cx="54254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certainty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factor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maximum.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59996" y="2104383"/>
            <a:ext cx="542539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training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patterns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subspace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belongs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different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these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59996" y="2276455"/>
            <a:ext cx="542539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classes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similar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strengths,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certainty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factor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minimum.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901657" y="3150919"/>
            <a:ext cx="88373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26320" y="3150695"/>
            <a:ext cx="15907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990648" y="2176180"/>
            <a:ext cx="0" cy="3335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514363" y="2176180"/>
            <a:ext cx="0" cy="3335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990648" y="943676"/>
            <a:ext cx="0" cy="3335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514363" y="943676"/>
            <a:ext cx="0" cy="3335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90648" y="2209530"/>
            <a:ext cx="3335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90648" y="943676"/>
            <a:ext cx="3335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2481009" y="2209530"/>
            <a:ext cx="3335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>
            <a:off x="2481009" y="943676"/>
            <a:ext cx="3335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533533" y="2209530"/>
            <a:ext cx="304743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533533" y="943676"/>
            <a:ext cx="0" cy="126585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533533" y="943676"/>
            <a:ext cx="304743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H="1">
            <a:off x="533533" y="943676"/>
            <a:ext cx="304743" cy="63292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533533" y="1576603"/>
            <a:ext cx="304743" cy="63292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533533" y="1576603"/>
            <a:ext cx="304743" cy="63292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 flipV="1">
            <a:off x="533533" y="943676"/>
            <a:ext cx="304743" cy="63292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533400" y="1892300"/>
            <a:ext cx="304800" cy="317500"/>
          </a:xfrm>
          <a:custGeom>
            <a:avLst/>
            <a:gdLst/>
            <a:ahLst/>
            <a:cxnLst/>
            <a:rect l="l" t="t" r="r" b="b"/>
            <a:pathLst>
              <a:path w="24" h="25">
                <a:moveTo>
                  <a:pt x="24" y="25"/>
                </a:moveTo>
                <a:lnTo>
                  <a:pt x="0" y="25"/>
                </a:lnTo>
                <a:lnTo>
                  <a:pt x="12" y="0"/>
                </a:lnTo>
                <a:lnTo>
                  <a:pt x="24" y="25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533400" y="939800"/>
            <a:ext cx="304800" cy="317500"/>
          </a:xfrm>
          <a:custGeom>
            <a:avLst/>
            <a:gdLst/>
            <a:ahLst/>
            <a:cxnLst/>
            <a:rect l="l" t="t" r="r" b="b"/>
            <a:pathLst>
              <a:path w="24" h="25">
                <a:moveTo>
                  <a:pt x="24" y="0"/>
                </a:moveTo>
                <a:lnTo>
                  <a:pt x="0" y="0"/>
                </a:lnTo>
                <a:lnTo>
                  <a:pt x="12" y="25"/>
                </a:lnTo>
                <a:lnTo>
                  <a:pt x="24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533400" y="939800"/>
            <a:ext cx="152400" cy="1270000"/>
          </a:xfrm>
          <a:custGeom>
            <a:avLst/>
            <a:gdLst/>
            <a:ahLst/>
            <a:cxnLst/>
            <a:rect l="l" t="t" r="r" b="b"/>
            <a:pathLst>
              <a:path w="12" h="100">
                <a:moveTo>
                  <a:pt x="0" y="100"/>
                </a:moveTo>
                <a:lnTo>
                  <a:pt x="12" y="75"/>
                </a:lnTo>
                <a:lnTo>
                  <a:pt x="0" y="50"/>
                </a:lnTo>
                <a:lnTo>
                  <a:pt x="12" y="25"/>
                </a:lnTo>
                <a:lnTo>
                  <a:pt x="0" y="0"/>
                </a:lnTo>
                <a:lnTo>
                  <a:pt x="0" y="10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990648" y="2336115"/>
            <a:ext cx="0" cy="25317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990648" y="2589286"/>
            <a:ext cx="1523715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2514363" y="2336115"/>
            <a:ext cx="0" cy="25317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H="1">
            <a:off x="1752506" y="2336115"/>
            <a:ext cx="761857" cy="25317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H="1" flipV="1">
            <a:off x="990648" y="2336115"/>
            <a:ext cx="761858" cy="25317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990648" y="2336115"/>
            <a:ext cx="761858" cy="25317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1752506" y="2336115"/>
            <a:ext cx="761857" cy="25317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990600" y="2336800"/>
            <a:ext cx="381000" cy="254000"/>
          </a:xfrm>
          <a:custGeom>
            <a:avLst/>
            <a:gdLst/>
            <a:ahLst/>
            <a:cxnLst/>
            <a:rect l="l" t="t" r="r" b="b"/>
            <a:pathLst>
              <a:path w="30" h="20">
                <a:moveTo>
                  <a:pt x="0" y="0"/>
                </a:moveTo>
                <a:lnTo>
                  <a:pt x="0" y="20"/>
                </a:lnTo>
                <a:lnTo>
                  <a:pt x="30" y="1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133600" y="2336800"/>
            <a:ext cx="381000" cy="254000"/>
          </a:xfrm>
          <a:custGeom>
            <a:avLst/>
            <a:gdLst/>
            <a:ahLst/>
            <a:cxnLst/>
            <a:rect l="l" t="t" r="r" b="b"/>
            <a:pathLst>
              <a:path w="30" h="20">
                <a:moveTo>
                  <a:pt x="30" y="0"/>
                </a:moveTo>
                <a:lnTo>
                  <a:pt x="30" y="20"/>
                </a:lnTo>
                <a:lnTo>
                  <a:pt x="0" y="10"/>
                </a:lnTo>
                <a:lnTo>
                  <a:pt x="3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990600" y="2463800"/>
            <a:ext cx="1524000" cy="127000"/>
          </a:xfrm>
          <a:custGeom>
            <a:avLst/>
            <a:gdLst/>
            <a:ahLst/>
            <a:cxnLst/>
            <a:rect l="l" t="t" r="r" b="b"/>
            <a:pathLst>
              <a:path w="120" h="10">
                <a:moveTo>
                  <a:pt x="0" y="10"/>
                </a:moveTo>
                <a:lnTo>
                  <a:pt x="30" y="0"/>
                </a:lnTo>
                <a:lnTo>
                  <a:pt x="60" y="10"/>
                </a:lnTo>
                <a:lnTo>
                  <a:pt x="90" y="0"/>
                </a:lnTo>
                <a:lnTo>
                  <a:pt x="120" y="10"/>
                </a:lnTo>
                <a:lnTo>
                  <a:pt x="0" y="1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990648" y="1893067"/>
            <a:ext cx="1523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990648" y="1260140"/>
            <a:ext cx="1523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1371577" y="2196872"/>
            <a:ext cx="0" cy="1265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2133434" y="2196872"/>
            <a:ext cx="0" cy="1265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457347" y="1085889"/>
            <a:ext cx="0" cy="11095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444500" y="1066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1" y="0"/>
                </a:moveTo>
                <a:lnTo>
                  <a:pt x="0" y="2"/>
                </a:lnTo>
                <a:lnTo>
                  <a:pt x="1" y="2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2209620" y="2652579"/>
            <a:ext cx="13674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2336800" y="2641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533533" y="880383"/>
            <a:ext cx="13674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660400" y="863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 flipV="1">
            <a:off x="2590549" y="2478328"/>
            <a:ext cx="0" cy="11095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2578100" y="2463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1" y="0"/>
                </a:moveTo>
                <a:lnTo>
                  <a:pt x="0" y="2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1257300" y="1790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Freeform 76"/>
          <p:cNvSpPr/>
          <p:nvPr/>
        </p:nvSpPr>
        <p:spPr>
          <a:xfrm>
            <a:off x="1320800" y="13843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Freeform 77"/>
          <p:cNvSpPr/>
          <p:nvPr/>
        </p:nvSpPr>
        <p:spPr>
          <a:xfrm>
            <a:off x="1244600" y="1155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3" y="1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3" y="2"/>
                </a:ln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Freeform 78"/>
          <p:cNvSpPr/>
          <p:nvPr/>
        </p:nvSpPr>
        <p:spPr>
          <a:xfrm>
            <a:off x="1384300" y="2070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Freeform 79"/>
          <p:cNvSpPr/>
          <p:nvPr/>
        </p:nvSpPr>
        <p:spPr>
          <a:xfrm>
            <a:off x="1498600" y="1689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Freeform 80"/>
          <p:cNvSpPr/>
          <p:nvPr/>
        </p:nvSpPr>
        <p:spPr>
          <a:xfrm>
            <a:off x="1562100" y="1460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3" y="1"/>
                </a:lnTo>
                <a:lnTo>
                  <a:pt x="3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3" y="2"/>
                </a:lnTo>
                <a:lnTo>
                  <a:pt x="3" y="2"/>
                </a:lnTo>
                <a:lnTo>
                  <a:pt x="3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Freeform 81"/>
          <p:cNvSpPr/>
          <p:nvPr/>
        </p:nvSpPr>
        <p:spPr>
          <a:xfrm>
            <a:off x="1612900" y="1270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2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1905000" y="1028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Freeform 83"/>
          <p:cNvSpPr/>
          <p:nvPr/>
        </p:nvSpPr>
        <p:spPr>
          <a:xfrm>
            <a:off x="1917700" y="2133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Freeform 84"/>
          <p:cNvSpPr/>
          <p:nvPr/>
        </p:nvSpPr>
        <p:spPr>
          <a:xfrm>
            <a:off x="1676400" y="1778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Freeform 85"/>
          <p:cNvSpPr/>
          <p:nvPr/>
        </p:nvSpPr>
        <p:spPr>
          <a:xfrm>
            <a:off x="1854200" y="16256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Freeform 86"/>
          <p:cNvSpPr/>
          <p:nvPr/>
        </p:nvSpPr>
        <p:spPr>
          <a:xfrm>
            <a:off x="1765300" y="1409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Freeform 87"/>
          <p:cNvSpPr/>
          <p:nvPr/>
        </p:nvSpPr>
        <p:spPr>
          <a:xfrm>
            <a:off x="2057400" y="1397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3" y="1"/>
                </a:lnTo>
                <a:lnTo>
                  <a:pt x="3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Freeform 88"/>
          <p:cNvSpPr/>
          <p:nvPr/>
        </p:nvSpPr>
        <p:spPr>
          <a:xfrm>
            <a:off x="1790700" y="11811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2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2400300" y="1600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2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2184400" y="1193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-5" y="3146745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2879999" y="3146745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4" name="Picture 9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95" name="Picture 9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74036" y="2223359"/>
            <a:ext cx="4811359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497738" y="2223359"/>
            <a:ext cx="3287657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35040" y="2180818"/>
            <a:ext cx="4850355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35040" y="914974"/>
            <a:ext cx="4850355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8844" y="997973"/>
            <a:ext cx="5356551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384366" y="2623001"/>
            <a:ext cx="3401030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08303" y="847694"/>
            <a:ext cx="5077093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SFSS0800"/>
              </a:rPr>
              <a:t>µ</a:t>
            </a:r>
            <a:r>
              <a:rPr sz="492" b="0">
                <a:solidFill>
                  <a:srgbClr val="000000"/>
                </a:solidFill>
                <a:latin typeface="Josefin Sans"/>
              </a:rPr>
              <a:t>(x2)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525872" y="2378133"/>
            <a:ext cx="3259523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SFSS0800"/>
              </a:rPr>
              <a:t>µ</a:t>
            </a:r>
            <a:r>
              <a:rPr sz="492" b="0">
                <a:solidFill>
                  <a:srgbClr val="000000"/>
                </a:solidFill>
                <a:latin typeface="Josefin Sans"/>
              </a:rPr>
              <a:t>(x1)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58130" y="2072601"/>
            <a:ext cx="5127265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B</a:t>
            </a:r>
            <a:r>
              <a:rPr sz="369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53628" y="1544742"/>
            <a:ext cx="5131767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B</a:t>
            </a:r>
            <a:r>
              <a:rPr sz="369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53322" y="1016664"/>
            <a:ext cx="5132073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B</a:t>
            </a:r>
            <a:r>
              <a:rPr sz="369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85707" y="2431691"/>
            <a:ext cx="4699689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A</a:t>
            </a:r>
            <a:r>
              <a:rPr sz="369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716585" y="2431691"/>
            <a:ext cx="4068810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A</a:t>
            </a:r>
            <a:r>
              <a:rPr sz="369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351668" y="2431464"/>
            <a:ext cx="3433728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A</a:t>
            </a:r>
            <a:r>
              <a:rPr sz="369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084002" y="1160123"/>
            <a:ext cx="270139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As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training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patterns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are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not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necessarily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084002" y="1299302"/>
            <a:ext cx="270139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distributed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evenly,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there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might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subspaces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084002" y="1438481"/>
            <a:ext cx="270139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mixed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training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patterns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(i.e.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low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certainty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084002" y="1577661"/>
            <a:ext cx="270139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factor),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small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amount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training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084002" y="1716840"/>
            <a:ext cx="270139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patterns.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083999" y="1942101"/>
            <a:ext cx="270139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overcome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this,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multiple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tables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083999" y="2081280"/>
            <a:ext cx="270139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are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used.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901648" y="3150920"/>
            <a:ext cx="88374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5623427" y="3150696"/>
            <a:ext cx="16196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065036" y="1517566"/>
            <a:ext cx="0" cy="2430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175311" y="1517566"/>
            <a:ext cx="0" cy="2430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065036" y="619487"/>
            <a:ext cx="0" cy="2430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175311" y="619487"/>
            <a:ext cx="0" cy="2430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065036" y="1541868"/>
            <a:ext cx="2430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065036" y="619487"/>
            <a:ext cx="2430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2151006" y="1541868"/>
            <a:ext cx="24305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>
            <a:off x="2151006" y="619487"/>
            <a:ext cx="24305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065036" y="1080678"/>
            <a:ext cx="1110275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1620173" y="619487"/>
            <a:ext cx="0" cy="92238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Freeform 45"/>
          <p:cNvSpPr/>
          <p:nvPr/>
        </p:nvSpPr>
        <p:spPr>
          <a:xfrm>
            <a:off x="1257300" y="1231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1308100" y="9398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1257300" y="7747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1346200" y="1435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1435100" y="1155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1485900" y="990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1511300" y="863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1727200" y="673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1739900" y="1485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1562100" y="1231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689100" y="1117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625600" y="952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1841500" y="952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1651000" y="800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082800" y="11049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1943100" y="80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 flipV="1">
            <a:off x="2339082" y="1517566"/>
            <a:ext cx="0" cy="2430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3449356" y="1517566"/>
            <a:ext cx="0" cy="2430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2339082" y="619487"/>
            <a:ext cx="0" cy="2430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3449356" y="619487"/>
            <a:ext cx="0" cy="2430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2339082" y="1541868"/>
            <a:ext cx="2430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2339082" y="619487"/>
            <a:ext cx="2430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H="1">
            <a:off x="3425052" y="1541868"/>
            <a:ext cx="2430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H="1">
            <a:off x="3425052" y="619487"/>
            <a:ext cx="2430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2339082" y="1311273"/>
            <a:ext cx="111027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2616650" y="619487"/>
            <a:ext cx="0" cy="92238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2339082" y="850082"/>
            <a:ext cx="111027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3171787" y="619487"/>
            <a:ext cx="0" cy="92238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Freeform 73"/>
          <p:cNvSpPr/>
          <p:nvPr/>
        </p:nvSpPr>
        <p:spPr>
          <a:xfrm>
            <a:off x="2527300" y="1231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Freeform 74"/>
          <p:cNvSpPr/>
          <p:nvPr/>
        </p:nvSpPr>
        <p:spPr>
          <a:xfrm>
            <a:off x="2578100" y="9398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2527300" y="774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1"/>
                </a:lnTo>
                <a:lnTo>
                  <a:pt x="1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Freeform 76"/>
          <p:cNvSpPr/>
          <p:nvPr/>
        </p:nvSpPr>
        <p:spPr>
          <a:xfrm>
            <a:off x="2628900" y="1435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Freeform 77"/>
          <p:cNvSpPr/>
          <p:nvPr/>
        </p:nvSpPr>
        <p:spPr>
          <a:xfrm>
            <a:off x="2705100" y="1155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Freeform 78"/>
          <p:cNvSpPr/>
          <p:nvPr/>
        </p:nvSpPr>
        <p:spPr>
          <a:xfrm>
            <a:off x="2755900" y="990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Freeform 79"/>
          <p:cNvSpPr/>
          <p:nvPr/>
        </p:nvSpPr>
        <p:spPr>
          <a:xfrm>
            <a:off x="2794000" y="8636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Freeform 80"/>
          <p:cNvSpPr/>
          <p:nvPr/>
        </p:nvSpPr>
        <p:spPr>
          <a:xfrm>
            <a:off x="2997200" y="673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Freeform 81"/>
          <p:cNvSpPr/>
          <p:nvPr/>
        </p:nvSpPr>
        <p:spPr>
          <a:xfrm>
            <a:off x="3009900" y="1485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1"/>
                </a:lnTo>
                <a:lnTo>
                  <a:pt x="1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2832100" y="1231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Freeform 83"/>
          <p:cNvSpPr/>
          <p:nvPr/>
        </p:nvSpPr>
        <p:spPr>
          <a:xfrm>
            <a:off x="2971800" y="11176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Freeform 84"/>
          <p:cNvSpPr/>
          <p:nvPr/>
        </p:nvSpPr>
        <p:spPr>
          <a:xfrm>
            <a:off x="2895600" y="952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Freeform 85"/>
          <p:cNvSpPr/>
          <p:nvPr/>
        </p:nvSpPr>
        <p:spPr>
          <a:xfrm>
            <a:off x="3124200" y="9525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Freeform 86"/>
          <p:cNvSpPr/>
          <p:nvPr/>
        </p:nvSpPr>
        <p:spPr>
          <a:xfrm>
            <a:off x="2921000" y="800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1"/>
                </a:lnTo>
                <a:lnTo>
                  <a:pt x="1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Freeform 87"/>
          <p:cNvSpPr/>
          <p:nvPr/>
        </p:nvSpPr>
        <p:spPr>
          <a:xfrm>
            <a:off x="3365500" y="11049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Freeform 88"/>
          <p:cNvSpPr/>
          <p:nvPr/>
        </p:nvSpPr>
        <p:spPr>
          <a:xfrm>
            <a:off x="3213100" y="800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 flipV="1">
            <a:off x="3613126" y="1517566"/>
            <a:ext cx="0" cy="2430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4723400" y="1517566"/>
            <a:ext cx="0" cy="2430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3613126" y="619487"/>
            <a:ext cx="0" cy="2430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4723400" y="619487"/>
            <a:ext cx="0" cy="2430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3613126" y="1541868"/>
            <a:ext cx="2430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3613126" y="619487"/>
            <a:ext cx="2430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H="1">
            <a:off x="4699096" y="1541868"/>
            <a:ext cx="2430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H="1">
            <a:off x="4699096" y="619487"/>
            <a:ext cx="2430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3613126" y="1385063"/>
            <a:ext cx="111027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V="1">
            <a:off x="3801873" y="619487"/>
            <a:ext cx="0" cy="92238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3613126" y="1080678"/>
            <a:ext cx="111027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V="1">
            <a:off x="4168263" y="619487"/>
            <a:ext cx="0" cy="92238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3613126" y="776292"/>
            <a:ext cx="111027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V="1">
            <a:off x="4534654" y="619487"/>
            <a:ext cx="0" cy="92238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Freeform 103"/>
          <p:cNvSpPr/>
          <p:nvPr/>
        </p:nvSpPr>
        <p:spPr>
          <a:xfrm>
            <a:off x="3810000" y="12319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Freeform 104"/>
          <p:cNvSpPr/>
          <p:nvPr/>
        </p:nvSpPr>
        <p:spPr>
          <a:xfrm>
            <a:off x="3860800" y="9398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Freeform 105"/>
          <p:cNvSpPr/>
          <p:nvPr/>
        </p:nvSpPr>
        <p:spPr>
          <a:xfrm>
            <a:off x="3797300" y="774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Freeform 106"/>
          <p:cNvSpPr/>
          <p:nvPr/>
        </p:nvSpPr>
        <p:spPr>
          <a:xfrm>
            <a:off x="3898900" y="1435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Freeform 107"/>
          <p:cNvSpPr/>
          <p:nvPr/>
        </p:nvSpPr>
        <p:spPr>
          <a:xfrm>
            <a:off x="3975100" y="1155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Freeform 108"/>
          <p:cNvSpPr/>
          <p:nvPr/>
        </p:nvSpPr>
        <p:spPr>
          <a:xfrm>
            <a:off x="4025900" y="990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Freeform 109"/>
          <p:cNvSpPr/>
          <p:nvPr/>
        </p:nvSpPr>
        <p:spPr>
          <a:xfrm>
            <a:off x="4064000" y="863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1"/>
                </a:lnTo>
                <a:lnTo>
                  <a:pt x="1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Freeform 110"/>
          <p:cNvSpPr/>
          <p:nvPr/>
        </p:nvSpPr>
        <p:spPr>
          <a:xfrm>
            <a:off x="4279900" y="673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Freeform 111"/>
          <p:cNvSpPr/>
          <p:nvPr/>
        </p:nvSpPr>
        <p:spPr>
          <a:xfrm>
            <a:off x="4279900" y="1485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Freeform 112"/>
          <p:cNvSpPr/>
          <p:nvPr/>
        </p:nvSpPr>
        <p:spPr>
          <a:xfrm>
            <a:off x="4114800" y="12319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Freeform 113"/>
          <p:cNvSpPr/>
          <p:nvPr/>
        </p:nvSpPr>
        <p:spPr>
          <a:xfrm>
            <a:off x="4241800" y="1117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Freeform 114"/>
          <p:cNvSpPr/>
          <p:nvPr/>
        </p:nvSpPr>
        <p:spPr>
          <a:xfrm>
            <a:off x="4178300" y="952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1"/>
                </a:lnTo>
                <a:lnTo>
                  <a:pt x="1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Freeform 115"/>
          <p:cNvSpPr/>
          <p:nvPr/>
        </p:nvSpPr>
        <p:spPr>
          <a:xfrm>
            <a:off x="4394200" y="952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Freeform 116"/>
          <p:cNvSpPr/>
          <p:nvPr/>
        </p:nvSpPr>
        <p:spPr>
          <a:xfrm>
            <a:off x="4191000" y="800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Freeform 117"/>
          <p:cNvSpPr/>
          <p:nvPr/>
        </p:nvSpPr>
        <p:spPr>
          <a:xfrm>
            <a:off x="4635500" y="11049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Freeform 118"/>
          <p:cNvSpPr/>
          <p:nvPr/>
        </p:nvSpPr>
        <p:spPr>
          <a:xfrm>
            <a:off x="4483100" y="800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0" name="Connector 119"/>
          <p:cNvCxnSpPr/>
          <p:nvPr/>
        </p:nvCxnSpPr>
        <p:spPr>
          <a:xfrm flipV="1">
            <a:off x="1702050" y="2556134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 flipV="1">
            <a:off x="2812324" y="2556134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1702050" y="1658055"/>
            <a:ext cx="0" cy="2430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2812324" y="1658055"/>
            <a:ext cx="0" cy="2430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1702050" y="2580435"/>
            <a:ext cx="2430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>
            <a:off x="1702050" y="1658055"/>
            <a:ext cx="2430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H="1">
            <a:off x="2788020" y="2580435"/>
            <a:ext cx="2430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 flipH="1">
            <a:off x="2788020" y="1658055"/>
            <a:ext cx="2430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>
            <a:off x="1702050" y="2465138"/>
            <a:ext cx="111027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>
            <a:off x="1702050" y="2465138"/>
            <a:ext cx="111027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1840834" y="1658055"/>
            <a:ext cx="0" cy="92238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>
            <a:off x="1702050" y="2234543"/>
            <a:ext cx="111027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V="1">
            <a:off x="2118403" y="1658055"/>
            <a:ext cx="0" cy="92238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>
            <a:off x="1702050" y="2003948"/>
            <a:ext cx="111027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V="1">
            <a:off x="2395971" y="1658055"/>
            <a:ext cx="0" cy="92238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>
            <a:off x="1702050" y="1773353"/>
            <a:ext cx="111027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 flipV="1">
            <a:off x="2673540" y="1658055"/>
            <a:ext cx="0" cy="92238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Freeform 136"/>
          <p:cNvSpPr/>
          <p:nvPr/>
        </p:nvSpPr>
        <p:spPr>
          <a:xfrm>
            <a:off x="1892300" y="2273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Freeform 137"/>
          <p:cNvSpPr/>
          <p:nvPr/>
        </p:nvSpPr>
        <p:spPr>
          <a:xfrm>
            <a:off x="1943100" y="1968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Freeform 138"/>
          <p:cNvSpPr/>
          <p:nvPr/>
        </p:nvSpPr>
        <p:spPr>
          <a:xfrm>
            <a:off x="1892300" y="18161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Freeform 139"/>
          <p:cNvSpPr/>
          <p:nvPr/>
        </p:nvSpPr>
        <p:spPr>
          <a:xfrm>
            <a:off x="1993900" y="24765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Freeform 140"/>
          <p:cNvSpPr/>
          <p:nvPr/>
        </p:nvSpPr>
        <p:spPr>
          <a:xfrm>
            <a:off x="20701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Freeform 141"/>
          <p:cNvSpPr/>
          <p:nvPr/>
        </p:nvSpPr>
        <p:spPr>
          <a:xfrm>
            <a:off x="2120900" y="2032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Freeform 142"/>
          <p:cNvSpPr/>
          <p:nvPr/>
        </p:nvSpPr>
        <p:spPr>
          <a:xfrm>
            <a:off x="2159000" y="19050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Freeform 143"/>
          <p:cNvSpPr/>
          <p:nvPr/>
        </p:nvSpPr>
        <p:spPr>
          <a:xfrm>
            <a:off x="2362200" y="1714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Freeform 144"/>
          <p:cNvSpPr/>
          <p:nvPr/>
        </p:nvSpPr>
        <p:spPr>
          <a:xfrm>
            <a:off x="2374900" y="2527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Freeform 145"/>
          <p:cNvSpPr/>
          <p:nvPr/>
        </p:nvSpPr>
        <p:spPr>
          <a:xfrm>
            <a:off x="2197100" y="2273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reeform 146"/>
          <p:cNvSpPr/>
          <p:nvPr/>
        </p:nvSpPr>
        <p:spPr>
          <a:xfrm>
            <a:off x="2324100" y="2159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Freeform 147"/>
          <p:cNvSpPr/>
          <p:nvPr/>
        </p:nvSpPr>
        <p:spPr>
          <a:xfrm>
            <a:off x="2260600" y="1993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Freeform 148"/>
          <p:cNvSpPr/>
          <p:nvPr/>
        </p:nvSpPr>
        <p:spPr>
          <a:xfrm>
            <a:off x="2476500" y="1993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Freeform 149"/>
          <p:cNvSpPr/>
          <p:nvPr/>
        </p:nvSpPr>
        <p:spPr>
          <a:xfrm>
            <a:off x="2286000" y="18415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Freeform 150"/>
          <p:cNvSpPr/>
          <p:nvPr/>
        </p:nvSpPr>
        <p:spPr>
          <a:xfrm>
            <a:off x="2730500" y="21336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Freeform 151"/>
          <p:cNvSpPr/>
          <p:nvPr/>
        </p:nvSpPr>
        <p:spPr>
          <a:xfrm>
            <a:off x="2578100" y="1841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3" name="Connector 152"/>
          <p:cNvCxnSpPr/>
          <p:nvPr/>
        </p:nvCxnSpPr>
        <p:spPr>
          <a:xfrm flipV="1">
            <a:off x="2976094" y="2556134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 flipV="1">
            <a:off x="4086369" y="2556134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>
            <a:off x="2976094" y="1658055"/>
            <a:ext cx="0" cy="2430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>
            <a:off x="4086369" y="1658055"/>
            <a:ext cx="0" cy="2430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>
            <a:off x="2976094" y="2580435"/>
            <a:ext cx="2430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>
            <a:off x="2976094" y="1658055"/>
            <a:ext cx="2430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 flipH="1">
            <a:off x="4062064" y="2580435"/>
            <a:ext cx="24305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 flipH="1">
            <a:off x="4062064" y="1658055"/>
            <a:ext cx="24305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>
            <a:off x="2976094" y="2488197"/>
            <a:ext cx="1110275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 flipV="1">
            <a:off x="3087122" y="1658055"/>
            <a:ext cx="0" cy="92238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>
            <a:off x="2976094" y="2303721"/>
            <a:ext cx="1110275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 flipV="1">
            <a:off x="3309177" y="1658055"/>
            <a:ext cx="0" cy="92238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2976094" y="2119245"/>
            <a:ext cx="1110275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 flipV="1">
            <a:off x="3531231" y="1658055"/>
            <a:ext cx="0" cy="92238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>
            <a:off x="2976094" y="1934769"/>
            <a:ext cx="1110275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 flipV="1">
            <a:off x="3753286" y="1658055"/>
            <a:ext cx="0" cy="92238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>
            <a:off x="2976094" y="1750293"/>
            <a:ext cx="1110275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 flipV="1">
            <a:off x="3975341" y="1658055"/>
            <a:ext cx="0" cy="92238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1" name="Freeform 170"/>
          <p:cNvSpPr/>
          <p:nvPr/>
        </p:nvSpPr>
        <p:spPr>
          <a:xfrm>
            <a:off x="3175000" y="22733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Freeform 171"/>
          <p:cNvSpPr/>
          <p:nvPr/>
        </p:nvSpPr>
        <p:spPr>
          <a:xfrm>
            <a:off x="3213100" y="1968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Freeform 172"/>
          <p:cNvSpPr/>
          <p:nvPr/>
        </p:nvSpPr>
        <p:spPr>
          <a:xfrm>
            <a:off x="3162300" y="18161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Freeform 173"/>
          <p:cNvSpPr/>
          <p:nvPr/>
        </p:nvSpPr>
        <p:spPr>
          <a:xfrm>
            <a:off x="3263900" y="2476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Freeform 174"/>
          <p:cNvSpPr/>
          <p:nvPr/>
        </p:nvSpPr>
        <p:spPr>
          <a:xfrm>
            <a:off x="33401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Freeform 175"/>
          <p:cNvSpPr/>
          <p:nvPr/>
        </p:nvSpPr>
        <p:spPr>
          <a:xfrm>
            <a:off x="3390900" y="2032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Freeform 176"/>
          <p:cNvSpPr/>
          <p:nvPr/>
        </p:nvSpPr>
        <p:spPr>
          <a:xfrm>
            <a:off x="3429000" y="19050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Freeform 177"/>
          <p:cNvSpPr/>
          <p:nvPr/>
        </p:nvSpPr>
        <p:spPr>
          <a:xfrm>
            <a:off x="3632200" y="1714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Freeform 178"/>
          <p:cNvSpPr/>
          <p:nvPr/>
        </p:nvSpPr>
        <p:spPr>
          <a:xfrm>
            <a:off x="3644900" y="2527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Freeform 179"/>
          <p:cNvSpPr/>
          <p:nvPr/>
        </p:nvSpPr>
        <p:spPr>
          <a:xfrm>
            <a:off x="3467100" y="2273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Freeform 180"/>
          <p:cNvSpPr/>
          <p:nvPr/>
        </p:nvSpPr>
        <p:spPr>
          <a:xfrm>
            <a:off x="3606800" y="2159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Freeform 181"/>
          <p:cNvSpPr/>
          <p:nvPr/>
        </p:nvSpPr>
        <p:spPr>
          <a:xfrm>
            <a:off x="3543300" y="19939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Freeform 182"/>
          <p:cNvSpPr/>
          <p:nvPr/>
        </p:nvSpPr>
        <p:spPr>
          <a:xfrm>
            <a:off x="3759200" y="19939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Freeform 183"/>
          <p:cNvSpPr/>
          <p:nvPr/>
        </p:nvSpPr>
        <p:spPr>
          <a:xfrm>
            <a:off x="3556000" y="18415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Freeform 184"/>
          <p:cNvSpPr/>
          <p:nvPr/>
        </p:nvSpPr>
        <p:spPr>
          <a:xfrm>
            <a:off x="4000500" y="2133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Freeform 185"/>
          <p:cNvSpPr/>
          <p:nvPr/>
        </p:nvSpPr>
        <p:spPr>
          <a:xfrm>
            <a:off x="3848100" y="1841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-12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2879991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9" name="Picture 18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90" name="Picture 18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91" name="TextBox 190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Multiple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fuzzy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rule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table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1052938" y="1551944"/>
            <a:ext cx="4732457" cy="7060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58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2163197" y="1551944"/>
            <a:ext cx="3622199" cy="7060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58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24517" y="1520946"/>
            <a:ext cx="4760878" cy="7060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58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024517" y="598579"/>
            <a:ext cx="4760878" cy="7060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58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1549337" y="572912"/>
            <a:ext cx="4236058" cy="882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8" b="0">
                <a:solidFill>
                  <a:srgbClr val="000000"/>
                </a:solidFill>
                <a:latin typeface="Josefin Sans"/>
              </a:rPr>
              <a:t>K</a:t>
            </a:r>
            <a:r>
              <a:rPr sz="448" b="0">
                <a:solidFill>
                  <a:srgbClr val="000000"/>
                </a:solidFill>
                <a:latin typeface="Josefin Sans"/>
              </a:rPr>
              <a:t> </a:t>
            </a:r>
            <a:r>
              <a:rPr sz="448" b="0">
                <a:solidFill>
                  <a:srgbClr val="000000"/>
                </a:solidFill>
                <a:latin typeface="Josefin Sans"/>
              </a:rPr>
              <a:t>=</a:t>
            </a:r>
            <a:r>
              <a:rPr sz="448" b="0">
                <a:solidFill>
                  <a:srgbClr val="000000"/>
                </a:solidFill>
                <a:latin typeface="Josefin Sans"/>
              </a:rPr>
              <a:t> </a:t>
            </a:r>
            <a:r>
              <a:rPr sz="448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2326983" y="1551944"/>
            <a:ext cx="3458412" cy="7060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58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3437242" y="1551944"/>
            <a:ext cx="2348153" cy="7060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58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2298562" y="1520946"/>
            <a:ext cx="3486833" cy="7060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58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2298562" y="598579"/>
            <a:ext cx="3486833" cy="7060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58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2823017" y="572369"/>
            <a:ext cx="2962378" cy="882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8" b="0">
                <a:solidFill>
                  <a:srgbClr val="000000"/>
                </a:solidFill>
                <a:latin typeface="Josefin Sans"/>
              </a:rPr>
              <a:t>K</a:t>
            </a:r>
            <a:r>
              <a:rPr sz="448" b="0">
                <a:solidFill>
                  <a:srgbClr val="000000"/>
                </a:solidFill>
                <a:latin typeface="Josefin Sans"/>
              </a:rPr>
              <a:t> </a:t>
            </a:r>
            <a:r>
              <a:rPr sz="448" b="0">
                <a:solidFill>
                  <a:srgbClr val="000000"/>
                </a:solidFill>
                <a:latin typeface="Josefin Sans"/>
              </a:rPr>
              <a:t>=</a:t>
            </a:r>
            <a:r>
              <a:rPr sz="448" b="0">
                <a:solidFill>
                  <a:srgbClr val="000000"/>
                </a:solidFill>
                <a:latin typeface="Josefin Sans"/>
              </a:rPr>
              <a:t> </a:t>
            </a:r>
            <a:r>
              <a:rPr sz="448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3601028" y="1551944"/>
            <a:ext cx="2184367" cy="7060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58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4711286" y="1551944"/>
            <a:ext cx="1074109" cy="7060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58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3572607" y="1520946"/>
            <a:ext cx="2212788" cy="7060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58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3572607" y="598579"/>
            <a:ext cx="2212788" cy="7060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58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4097112" y="572912"/>
            <a:ext cx="1688283" cy="882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8" b="0">
                <a:solidFill>
                  <a:srgbClr val="000000"/>
                </a:solidFill>
                <a:latin typeface="Josefin Sans"/>
              </a:rPr>
              <a:t>K</a:t>
            </a:r>
            <a:r>
              <a:rPr sz="448" b="0">
                <a:solidFill>
                  <a:srgbClr val="000000"/>
                </a:solidFill>
                <a:latin typeface="Josefin Sans"/>
              </a:rPr>
              <a:t> </a:t>
            </a:r>
            <a:r>
              <a:rPr sz="448" b="0">
                <a:solidFill>
                  <a:srgbClr val="000000"/>
                </a:solidFill>
                <a:latin typeface="Josefin Sans"/>
              </a:rPr>
              <a:t>=</a:t>
            </a:r>
            <a:r>
              <a:rPr sz="448" b="0">
                <a:solidFill>
                  <a:srgbClr val="000000"/>
                </a:solidFill>
                <a:latin typeface="Josefin Sans"/>
              </a:rPr>
              <a:t> </a:t>
            </a:r>
            <a:r>
              <a:rPr sz="448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689951" y="2590512"/>
            <a:ext cx="4095444" cy="7060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58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2800210" y="2590512"/>
            <a:ext cx="2985185" cy="7060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58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1661531" y="2559519"/>
            <a:ext cx="4123864" cy="7060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58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1661531" y="1637147"/>
            <a:ext cx="4123864" cy="7060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58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2185779" y="1610937"/>
            <a:ext cx="3599616" cy="882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8" b="0">
                <a:solidFill>
                  <a:srgbClr val="000000"/>
                </a:solidFill>
                <a:latin typeface="Josefin Sans"/>
              </a:rPr>
              <a:t>K</a:t>
            </a:r>
            <a:r>
              <a:rPr sz="448" b="0">
                <a:solidFill>
                  <a:srgbClr val="000000"/>
                </a:solidFill>
                <a:latin typeface="Josefin Sans"/>
              </a:rPr>
              <a:t> </a:t>
            </a:r>
            <a:r>
              <a:rPr sz="448" b="0">
                <a:solidFill>
                  <a:srgbClr val="000000"/>
                </a:solidFill>
                <a:latin typeface="Josefin Sans"/>
              </a:rPr>
              <a:t>=</a:t>
            </a:r>
            <a:r>
              <a:rPr sz="448" b="0">
                <a:solidFill>
                  <a:srgbClr val="000000"/>
                </a:solidFill>
                <a:latin typeface="Josefin Sans"/>
              </a:rPr>
              <a:t> </a:t>
            </a:r>
            <a:r>
              <a:rPr sz="448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2963990" y="2590512"/>
            <a:ext cx="2821405" cy="7060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58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4074255" y="2590512"/>
            <a:ext cx="1711140" cy="7060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58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2935575" y="2559519"/>
            <a:ext cx="2849820" cy="7060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58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2935575" y="1637147"/>
            <a:ext cx="2849820" cy="7060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58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3459766" y="1610937"/>
            <a:ext cx="2325629" cy="882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8" b="0">
                <a:solidFill>
                  <a:srgbClr val="000000"/>
                </a:solidFill>
                <a:latin typeface="Josefin Sans"/>
              </a:rPr>
              <a:t>K</a:t>
            </a:r>
            <a:r>
              <a:rPr sz="448" b="0">
                <a:solidFill>
                  <a:srgbClr val="000000"/>
                </a:solidFill>
                <a:latin typeface="Josefin Sans"/>
              </a:rPr>
              <a:t> </a:t>
            </a:r>
            <a:r>
              <a:rPr sz="448" b="0">
                <a:solidFill>
                  <a:srgbClr val="000000"/>
                </a:solidFill>
                <a:latin typeface="Josefin Sans"/>
              </a:rPr>
              <a:t>=</a:t>
            </a:r>
            <a:r>
              <a:rPr sz="448" b="0">
                <a:solidFill>
                  <a:srgbClr val="000000"/>
                </a:solidFill>
                <a:latin typeface="Josefin Sans"/>
              </a:rPr>
              <a:t> </a:t>
            </a:r>
            <a:r>
              <a:rPr sz="448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1375244" y="2788810"/>
            <a:ext cx="441015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K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intervals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axis/input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4901641" y="3150917"/>
            <a:ext cx="88375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5622276" y="3150693"/>
            <a:ext cx="16311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5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99412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As one fuzzy subspace generates one rule, using multiple fuzzy rule table with K = 2 to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118249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6,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2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+ 3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+ 4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+ 5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+ 6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90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5" y="1529058"/>
            <a:ext cx="54254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stage,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actually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new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pattern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based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5" y="1701131"/>
            <a:ext cx="54254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However,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evaluate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90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tedious.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9995" y="2063982"/>
            <a:ext cx="54254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GA is used to identify the optimal rules that are significant, and therefore dramatically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9995" y="2236055"/>
            <a:ext cx="54254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reducing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rules.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01654" y="3150918"/>
            <a:ext cx="88374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19484" y="3150694"/>
            <a:ext cx="1659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2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2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21558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optimal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encode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problem.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5" y="1429929"/>
            <a:ext cx="53253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chromosome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90-bit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string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represent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90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generated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7093" y="1645771"/>
            <a:ext cx="51483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multiple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tables.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0055" y="1860117"/>
            <a:ext cx="53253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string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be: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-1,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0.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01651" y="3150917"/>
            <a:ext cx="88374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42557" y="3150693"/>
            <a:ext cx="14283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797076" y="2011081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97076" y="2248953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97076" y="2486824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880005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0056" y="826551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 purpose of the GA is to select the significant rules and remove non-significant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7094" y="1042394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rules.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0056" y="1256738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chromosome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carries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information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whether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7094" y="1472580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removed.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0056" y="1666681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chromosome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corresponds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183" y="1957906"/>
            <a:ext cx="487121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bit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1,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selected.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4183" y="2195777"/>
            <a:ext cx="487121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bit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-1,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removed.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4183" y="2433648"/>
            <a:ext cx="487121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bit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0,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dummy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rule.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901654" y="3150916"/>
            <a:ext cx="88374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27980" y="3150692"/>
            <a:ext cx="15741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42207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dummy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generated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consequent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cannot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determined,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59414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normally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due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training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pattern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subspace.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901653" y="3150917"/>
            <a:ext cx="8837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27001" y="3150693"/>
            <a:ext cx="15839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788690" y="1857818"/>
            <a:ext cx="208801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3367963" y="1857818"/>
            <a:ext cx="231165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880003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56123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aims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1319" y="819345"/>
            <a:ext cx="528407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1.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maximise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accuracy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pattern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classification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4712" y="1077447"/>
            <a:ext cx="531068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2.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minimise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size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9993" y="144029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Therefore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145689" y="1784174"/>
            <a:ext cx="363970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f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S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 =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20592" y="1690448"/>
            <a:ext cx="296480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88690" y="1879208"/>
            <a:ext cx="299670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all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043465" y="1782378"/>
            <a:ext cx="274193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99852" y="1690448"/>
            <a:ext cx="238554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N</a:t>
            </a:r>
            <a:r>
              <a:rPr sz="797" b="0">
                <a:solidFill>
                  <a:srgbClr val="000000"/>
                </a:solidFill>
                <a:latin typeface="Cambria Math"/>
              </a:rPr>
              <a:t>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367963" y="1879208"/>
            <a:ext cx="241743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N</a:t>
            </a:r>
            <a:r>
              <a:rPr sz="797" b="0">
                <a:solidFill>
                  <a:srgbClr val="000000"/>
                </a:solidFill>
                <a:latin typeface="Cambria Math"/>
              </a:rPr>
              <a:t>all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8446" y="2171743"/>
            <a:ext cx="530694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where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3454" y="2171743"/>
            <a:ext cx="481194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weights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73454" y="2343816"/>
            <a:ext cx="481194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patterns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classified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correctly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73454" y="2515887"/>
            <a:ext cx="481194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all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total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patterns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73454" y="2687959"/>
            <a:ext cx="481194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N</a:t>
            </a:r>
            <a:r>
              <a:rPr sz="797" b="0">
                <a:solidFill>
                  <a:srgbClr val="000000"/>
                </a:solidFill>
                <a:latin typeface="Cambria Math"/>
              </a:rPr>
              <a:t>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73454" y="2860045"/>
            <a:ext cx="481194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N</a:t>
            </a:r>
            <a:r>
              <a:rPr sz="797" b="0">
                <a:solidFill>
                  <a:srgbClr val="000000"/>
                </a:solidFill>
                <a:latin typeface="Cambria Math"/>
              </a:rPr>
              <a:t>all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rules.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901653" y="3150918"/>
            <a:ext cx="8837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633757" y="3150694"/>
            <a:ext cx="15163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788690" y="1390484"/>
            <a:ext cx="208801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3367963" y="1390484"/>
            <a:ext cx="231165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-2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880002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45689" y="1316839"/>
            <a:ext cx="363970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f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S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 =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20592" y="1223113"/>
            <a:ext cx="296480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788690" y="1411873"/>
            <a:ext cx="299670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all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043465" y="1315043"/>
            <a:ext cx="274193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399852" y="1223113"/>
            <a:ext cx="238554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N</a:t>
            </a:r>
            <a:r>
              <a:rPr sz="797" b="0">
                <a:solidFill>
                  <a:srgbClr val="000000"/>
                </a:solidFill>
                <a:latin typeface="Cambria Math"/>
              </a:rPr>
              <a:t>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367963" y="1411873"/>
            <a:ext cx="241743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N</a:t>
            </a:r>
            <a:r>
              <a:rPr sz="797" b="0">
                <a:solidFill>
                  <a:srgbClr val="000000"/>
                </a:solidFill>
                <a:latin typeface="Cambria Math"/>
              </a:rPr>
              <a:t>all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02538" y="1630658"/>
            <a:ext cx="538285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Normally,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495422" y="1803256"/>
            <a:ext cx="328997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0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&lt; 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≤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2538" y="2057047"/>
            <a:ext cx="538285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since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classification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accuracy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more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important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size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901651" y="3150916"/>
            <a:ext cx="88374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26466" y="3150692"/>
            <a:ext cx="15892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3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0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27692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standard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procedure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algorithm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apply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evolutionary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1" y="1639777"/>
            <a:ext cx="542540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result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evolutionary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inference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model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consists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1" y="1811849"/>
            <a:ext cx="542540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optimal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amount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significant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01650" y="3150916"/>
            <a:ext cx="88374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7442" y="3150692"/>
            <a:ext cx="15795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Summary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07791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Hybrid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intelligent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7" y="1292274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neuro-fuzzy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7" y="1550376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adaptive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neuro-fuzzy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inference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(ANFIS)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0057" y="1808491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evolutionary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network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0057" y="2066606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evolutionary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01653" y="3150917"/>
            <a:ext cx="8837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30341" y="3150693"/>
            <a:ext cx="15505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60073" cy="324004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59988" cy="323999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22610" y="1461234"/>
            <a:ext cx="1662785" cy="4879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78" b="1">
                <a:solidFill>
                  <a:srgbClr val="FFFFFF"/>
                </a:solidFill>
                <a:latin typeface="Josefin Sans"/>
              </a:rPr>
              <a:t>Thank</a:t>
            </a:r>
            <a:r>
              <a:rPr sz="2478" b="1">
                <a:solidFill>
                  <a:srgbClr val="914300"/>
                </a:solidFill>
                <a:latin typeface="Josefin Sans"/>
              </a:rPr>
              <a:t> </a:t>
            </a:r>
            <a:r>
              <a:rPr sz="2478" b="1">
                <a:solidFill>
                  <a:srgbClr val="914300"/>
                </a:solidFill>
                <a:latin typeface="Josefin Sans"/>
              </a:rPr>
              <a:t>you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01653" y="3150918"/>
            <a:ext cx="8837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27446" y="3150694"/>
            <a:ext cx="15794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9284" y="479056"/>
            <a:ext cx="4181140" cy="14348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8" b="0">
                <a:solidFill>
                  <a:srgbClr val="0D3361"/>
                </a:solidFill>
                <a:latin typeface="Arial"/>
              </a:rPr>
              <a:t>CSC3034 Current Course Update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9284" y="722056"/>
            <a:ext cx="4181140" cy="23914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14" b="1">
                <a:solidFill>
                  <a:srgbClr val="0D3361"/>
                </a:solidFill>
                <a:latin typeface="Arial"/>
              </a:rPr>
              <a:t>09 Hybrid Intelligence Systems - handout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9284" y="1027928"/>
            <a:ext cx="4181140" cy="1195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1A1A1A"/>
                </a:solidFill>
                <a:latin typeface="Arial"/>
              </a:rPr>
              <a:t>Synchronized from the current CSC3034 course site on 14 August 2026.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998" y="1367356"/>
            <a:ext cx="4065426" cy="1195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1A1A1A"/>
                </a:solidFill>
                <a:latin typeface="Arial"/>
              </a:rPr>
              <a:t>•  Current labs connect core CI algorithms with physical-AI simulation examples.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998" y="1629642"/>
            <a:ext cx="4065426" cy="1195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1A1A1A"/>
                </a:solidFill>
                <a:latin typeface="Arial"/>
              </a:rPr>
              <a:t>•  Isaac Sim examples use its bundled Python 3.12 environment and current launchers.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998" y="1891927"/>
            <a:ext cx="4065426" cy="1195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1A1A1A"/>
                </a:solidFill>
                <a:latin typeface="Arial"/>
              </a:rPr>
              <a:t>•  Every simulator-dependent example includes a CPU/Matplotlib learning fallback.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9284" y="2670916"/>
            <a:ext cx="4181140" cy="1315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8" b="1">
                <a:solidFill>
                  <a:srgbClr val="0D3361"/>
                </a:solidFill>
                <a:latin typeface="Arial"/>
              </a:rPr>
              <a:t>Current materials author: Dr Tang Tiong Yew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9284" y="2856791"/>
            <a:ext cx="4181140" cy="10761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6" b="0">
                <a:solidFill>
                  <a:srgbClr val="0D3361"/>
                </a:solidFill>
                <a:latin typeface="Arial"/>
              </a:rPr>
              <a:t>See the synchronized lab notes and runnable examples for full instructions.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09 Hybrid Intelligence Systems - handout</dc:title>
  <dc:subject>Editable objects converted from 09 Hybrid Intelligence Systems - handout.pdf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