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862" y="1673960"/>
            <a:ext cx="1587500" cy="243587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862" y="1673831"/>
            <a:ext cx="1587500" cy="257304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862" y="1673833"/>
            <a:ext cx="1587500" cy="27089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862" y="1673834"/>
            <a:ext cx="1587500" cy="284479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72" y="63277"/>
            <a:ext cx="575962" cy="23150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158" y="88661"/>
            <a:ext cx="575974" cy="2061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225" y="911127"/>
            <a:ext cx="5324170" cy="40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003373"/>
                </a:solidFill>
                <a:latin typeface="Josefin Sans"/>
              </a:rPr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25" y="1247324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5A7D"/>
                </a:solidFill>
                <a:latin typeface="Josefin Sans"/>
              </a:rPr>
              <a:t>CSC3034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Computational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25" y="1732758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Dr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Richard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3579" y="3150917"/>
            <a:ext cx="8718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690" y="3150564"/>
            <a:ext cx="1067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62" y="1742922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62" y="1756511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62" y="1770100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62" y="1783689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77996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2070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Final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Exam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Format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60926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Final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Exam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20325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Logistics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246267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Sample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Questions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for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Final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4122" y="3150563"/>
            <a:ext cx="12127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27100" y="2374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0" y="3"/>
                </a:moveTo>
                <a:lnTo>
                  <a:pt x="6" y="5"/>
                </a:lnTo>
                <a:lnTo>
                  <a:pt x="4" y="3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78000" y="2425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5"/>
                </a:moveTo>
                <a:lnTo>
                  <a:pt x="5" y="0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784600" y="220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4" y="6"/>
                </a:moveTo>
                <a:lnTo>
                  <a:pt x="6" y="0"/>
                </a:lnTo>
                <a:lnTo>
                  <a:pt x="3" y="3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00500" y="1371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1"/>
                </a:moveTo>
                <a:lnTo>
                  <a:pt x="0" y="0"/>
                </a:lnTo>
                <a:lnTo>
                  <a:pt x="3" y="2"/>
                </a:lnTo>
                <a:lnTo>
                  <a:pt x="1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946400" y="825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6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93800" y="1130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5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7094" y="1751087"/>
            <a:ext cx="4448301" cy="3824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2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 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033" y="2366614"/>
            <a:ext cx="5350362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Errors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5591" y="2563727"/>
            <a:ext cx="4489804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Mann-Whitney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6459" y="2759044"/>
            <a:ext cx="417893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U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8085" y="2351817"/>
            <a:ext cx="2597310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52369" y="1200615"/>
            <a:ext cx="163302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6348" y="611053"/>
            <a:ext cx="3219047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curves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132" y="891542"/>
            <a:ext cx="5079263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3285" y="3150564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554581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792452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075" y="2268182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97231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compulsory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questions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×30%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+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×40%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21018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183" y="150118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Implementation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computation/neural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183" y="1739061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Hybrid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related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earlier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question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5" y="1923783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181" y="2214790"/>
            <a:ext cx="48712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related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3578" y="3150919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2598" y="3150565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319" y="699119"/>
            <a:ext cx="52840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957234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Genetic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712" y="1215348"/>
            <a:ext cx="53106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Artificial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47345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Perceptron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Feedforward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multilayer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909" y="1731566"/>
            <a:ext cx="53124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3.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Hybrid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Intelligent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198968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188" y="2247795"/>
            <a:ext cx="53122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4.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50591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Accuracy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Precision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Recall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Specificity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94" y="26779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3578" y="3150918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2446" y="3150564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Logistics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3415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2026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(Tuesday)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9:00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–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11:10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9227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Physical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Jeffrey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Cheah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55038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Pens,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80849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Sleep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enough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early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206660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arrival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permitted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9:30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3576" y="3150918"/>
            <a:ext cx="8718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6471" y="3150564"/>
            <a:ext cx="11892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914" y="859052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321" y="859052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 feedforward neural network with 1 hidden layer of 3 neurons was designed to learn the 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316" y="979245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making process for the prediction of marks obtained by a student based on the average number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316" y="1099450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of hours in a day the student spent studying and the interest level of the student.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All inputs 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316" y="1219643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outputs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scaled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Sketch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designed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4848" y="859052"/>
            <a:ext cx="8705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5914" y="1390458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321" y="1390458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(a)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initialised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such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all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317" y="1510651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all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thresholds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iteration,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point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317" y="1630856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average number of hours in a day the student spent studying is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Josefin Sans"/>
              </a:rPr>
              <a:t>, the interest level is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</a:t>
            </a:r>
            <a:r>
              <a:rPr sz="797" b="0">
                <a:solidFill>
                  <a:srgbClr val="000000"/>
                </a:solidFill>
                <a:latin typeface="Josefin Sans"/>
              </a:rPr>
              <a:t>, 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317" y="1751049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obtained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(i)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new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316" y="1871254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(ii)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new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threshold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316" y="1991447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after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iteration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rate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82971" y="1390458"/>
            <a:ext cx="90242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[15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5914" y="2162262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321" y="2162262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You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tasked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optimal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layers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obtain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317" y="2282455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 best performance for the neural network in (a).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What is the Computational Intelligence (CI)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317" y="2402661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approach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suitable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purpose?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Briefly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explain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mechanism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hybrid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73650" y="2162262"/>
            <a:ext cx="91174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[10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3589" y="3150564"/>
            <a:ext cx="12180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149788" y="1497863"/>
            <a:ext cx="4639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527613" y="1497863"/>
            <a:ext cx="17174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316" y="1189061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 client handed metal of volume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V</a:t>
            </a:r>
            <a:r>
              <a:rPr sz="5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over to a metalsmith to be melted and made into metal balls.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316" y="1309254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By using Equation (9) as the fitness function to be minimised, particle swarm optimisation (PSO)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316" y="1422454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optimal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radius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metal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ball.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function,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 =</a:t>
            </a:r>
            <a:r>
              <a:rPr sz="597" b="0">
                <a:solidFill>
                  <a:srgbClr val="000000"/>
                </a:solidFill>
                <a:latin typeface="Cambria Math"/>
              </a:rPr>
              <a:t> </a:t>
            </a:r>
            <a:r>
              <a:rPr sz="5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49788" y="1408329"/>
            <a:ext cx="163560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πr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+</a:t>
            </a:r>
            <a:r>
              <a:rPr sz="597" b="0">
                <a:solidFill>
                  <a:srgbClr val="000000"/>
                </a:solidFill>
                <a:latin typeface="Cambria Math"/>
              </a:rPr>
              <a:t> 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597" b="0">
                <a:solidFill>
                  <a:srgbClr val="000000"/>
                </a:solidFill>
                <a:latin typeface="Cambria Math"/>
              </a:rPr>
              <a:t>V</a:t>
            </a:r>
            <a:r>
              <a:rPr sz="498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0249" y="1503531"/>
            <a:ext cx="11951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914" y="1616632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321" y="1616632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three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appropriate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conditions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algorithm.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5518" y="1616632"/>
            <a:ext cx="8698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914" y="1787434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321" y="1787434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Describe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difference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local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aspect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317" y="1907640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mechanism.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Discuss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difference.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14645" y="1787435"/>
            <a:ext cx="87075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[6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2447" y="3150564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085453" y="1411465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508046" y="1411465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674541" y="1411465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85453" y="1568361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508046" y="1568361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674541" y="1568361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085453" y="1720189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508046" y="1720189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74541" y="1720189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085453" y="1872018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08046" y="1872018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674541" y="1872018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085453" y="2023859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508046" y="2023859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674541" y="2023859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085453" y="2175687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508046" y="2175687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674541" y="2175687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085453" y="2327516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508046" y="2327516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674541" y="2327516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085453" y="2479344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508046" y="2479344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74541" y="2479344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085453" y="2631173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508046" y="2631173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74541" y="2631173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085453" y="2783001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508046" y="2783001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674541" y="2783001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085453" y="2934830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508046" y="2934830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674541" y="2934830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82926" y="1408938"/>
            <a:ext cx="42766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505519" y="1408938"/>
            <a:ext cx="117156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82926" y="1565833"/>
            <a:ext cx="42766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505519" y="1565833"/>
            <a:ext cx="117156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82926" y="3089198"/>
            <a:ext cx="42766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05519" y="3089198"/>
            <a:ext cx="117156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9993" y="492669"/>
            <a:ext cx="54254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Continuation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last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slide,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914" y="713053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2263" y="713053"/>
            <a:ext cx="51131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Assuming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local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solve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optimisation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problem.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2261" y="833245"/>
            <a:ext cx="51131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defined by the particle indices.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Consider each neighbourhood consists of 3 particles.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At initialisa-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2261" y="953451"/>
            <a:ext cx="51131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tion,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particles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initialised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position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each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2261" y="1073644"/>
            <a:ext cx="51131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particle.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V</a:t>
            </a:r>
            <a:r>
              <a:rPr sz="5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14848" y="713053"/>
            <a:ext cx="8705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90215" y="1310291"/>
            <a:ext cx="3395180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A: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Initialised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particles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63901" y="1440149"/>
            <a:ext cx="3621494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Particle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86499" y="1438411"/>
            <a:ext cx="319889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Radius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of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metal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ball,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45981" y="1595307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36010" y="1597044"/>
            <a:ext cx="2749385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45981" y="1747135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36302" y="1748873"/>
            <a:ext cx="2749093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3.0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45981" y="1898964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42881" y="1900701"/>
            <a:ext cx="2742514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2.7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45981" y="2050792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36302" y="2052530"/>
            <a:ext cx="2749093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45981" y="2202621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48825" y="2204358"/>
            <a:ext cx="2736570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1.5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45981" y="2354449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44951" y="2356187"/>
            <a:ext cx="2740444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45981" y="2506278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40265" y="2508015"/>
            <a:ext cx="2745130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4.5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45981" y="2658119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039719" y="2659856"/>
            <a:ext cx="2745676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6.9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45981" y="2809948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36848" y="2811685"/>
            <a:ext cx="2748547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24455" y="2961776"/>
            <a:ext cx="356094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042589" y="2963513"/>
            <a:ext cx="2742806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8.7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31700" y="3150564"/>
            <a:ext cx="15369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482102" y="160825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06409" y="160825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077222" y="160825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77905" y="160825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82102" y="178412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806409" y="178412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077222" y="178412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77905" y="178412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482102" y="195492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806409" y="195492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077222" y="195492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77905" y="195492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482102" y="2125738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806409" y="2125738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77222" y="2125738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77905" y="2125738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482102" y="229655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806409" y="229655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077222" y="229655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277905" y="229655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482102" y="24673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806409" y="24673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77222" y="24673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277905" y="24673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479562" y="1605724"/>
            <a:ext cx="32937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803882" y="1605724"/>
            <a:ext cx="127588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74695" y="1605724"/>
            <a:ext cx="12057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479562" y="1781593"/>
            <a:ext cx="32937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803882" y="1781593"/>
            <a:ext cx="127588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074695" y="1781593"/>
            <a:ext cx="12057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479562" y="2640698"/>
            <a:ext cx="32937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803882" y="2640698"/>
            <a:ext cx="127588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074695" y="2640698"/>
            <a:ext cx="12057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9993" y="791666"/>
            <a:ext cx="54254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Continuation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last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slide,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5914" y="1012049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321" y="1012049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Global best PSO and local best PSO are used to solve the optimisation problem.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Each algorithm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316" y="1132241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executed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times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positions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recorded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Mann-Whitney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test,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316" y="1252447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one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other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algorithm.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04422" y="1012049"/>
            <a:ext cx="88097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[11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03717" y="1490381"/>
            <a:ext cx="408167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B: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Result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local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60537" y="1636723"/>
            <a:ext cx="42248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Run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84847" y="1636723"/>
            <a:ext cx="390054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Result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55668" y="1636723"/>
            <a:ext cx="26297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Result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local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77390" y="1814463"/>
            <a:ext cx="42080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65196" y="1812593"/>
            <a:ext cx="342019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02108" y="1812593"/>
            <a:ext cx="21832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77390" y="1985278"/>
            <a:ext cx="42080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74912" y="1983408"/>
            <a:ext cx="34104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1.15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01904" y="1983408"/>
            <a:ext cx="218349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1.22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77390" y="2156080"/>
            <a:ext cx="42080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59875" y="2154210"/>
            <a:ext cx="34255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1.30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11160" y="2154210"/>
            <a:ext cx="21742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77390" y="2326895"/>
            <a:ext cx="42080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65806" y="2325026"/>
            <a:ext cx="341958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10511" y="2325026"/>
            <a:ext cx="21748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77390" y="2497697"/>
            <a:ext cx="42080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65552" y="2495828"/>
            <a:ext cx="341984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1.23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96289" y="2495828"/>
            <a:ext cx="21891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54776" y="3150564"/>
            <a:ext cx="1306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755974" y="550249"/>
            <a:ext cx="852294" cy="17229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08269" y="550249"/>
            <a:ext cx="911916" cy="17229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55974" y="728294"/>
            <a:ext cx="1764211" cy="17229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55974" y="1767814"/>
            <a:ext cx="1764211" cy="17229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55974" y="2462745"/>
            <a:ext cx="1764211" cy="17229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755974" y="547381"/>
            <a:ext cx="852295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608269" y="547381"/>
            <a:ext cx="911916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55974" y="725412"/>
            <a:ext cx="852295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608269" y="725412"/>
            <a:ext cx="911916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755974" y="1764946"/>
            <a:ext cx="852295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608269" y="1764946"/>
            <a:ext cx="911916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755974" y="2459877"/>
            <a:ext cx="852295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08269" y="2459877"/>
            <a:ext cx="911916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755974" y="2982497"/>
            <a:ext cx="852295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08269" y="2982497"/>
            <a:ext cx="911916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912" y="889419"/>
            <a:ext cx="54694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5319" y="889419"/>
            <a:ext cx="52200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Mamdani-style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327" y="1009625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traffic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situation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day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5327" y="1129818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temperature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designed.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0186" y="889419"/>
            <a:ext cx="28152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[20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5327" y="1300633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Design and sketch the fit vectors for the linguistic vari-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327" y="1420838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ables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specified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respective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5327" y="1541031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(fuzzy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sets)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X.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5912" y="1711846"/>
            <a:ext cx="54694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5319" y="1711846"/>
            <a:ext cx="52200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Over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years,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Rachel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has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collected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5327" y="1832038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traffic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situation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corresponding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temperature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5327" y="1952244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and time of day.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 expert has provided 5 fuzzy rules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5327" y="2072437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to support the decision making.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Suggest a hybrid sys-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5327" y="2192642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tem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Rachel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validate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based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5327" y="2312835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collected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data.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Briefly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explain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how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system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5327" y="2433041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achieves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validation.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89618" y="1711846"/>
            <a:ext cx="27957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[10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68877" y="448395"/>
            <a:ext cx="1916518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X: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Specification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of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variables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2114" y="583231"/>
            <a:ext cx="1943281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1">
                <a:solidFill>
                  <a:srgbClr val="FFFFFF"/>
                </a:solidFill>
                <a:latin typeface="Josefin Sans"/>
              </a:rPr>
              <a:t>Linguistic</a:t>
            </a:r>
            <a:r>
              <a:rPr sz="753" b="1">
                <a:solidFill>
                  <a:srgbClr val="FFFFFF"/>
                </a:solidFill>
                <a:latin typeface="Josefin Sans"/>
              </a:rPr>
              <a:t> </a:t>
            </a:r>
            <a:r>
              <a:rPr sz="753" b="1">
                <a:solidFill>
                  <a:srgbClr val="FFFFFF"/>
                </a:solidFill>
                <a:latin typeface="Josefin Sans"/>
              </a:rPr>
              <a:t>value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96369" y="583231"/>
            <a:ext cx="1089026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1">
                <a:solidFill>
                  <a:srgbClr val="FFFFFF"/>
                </a:solidFill>
                <a:latin typeface="Josefin Sans"/>
              </a:rPr>
              <a:t>Numerical</a:t>
            </a:r>
            <a:r>
              <a:rPr sz="753" b="1">
                <a:solidFill>
                  <a:srgbClr val="FFFFFF"/>
                </a:solidFill>
                <a:latin typeface="Josefin Sans"/>
              </a:rPr>
              <a:t> </a:t>
            </a:r>
            <a:r>
              <a:rPr sz="753" b="1">
                <a:solidFill>
                  <a:srgbClr val="FFFFFF"/>
                </a:solidFill>
                <a:latin typeface="Josefin Sans"/>
              </a:rPr>
              <a:t>range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99661" y="760830"/>
            <a:ext cx="1585734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Variable: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of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day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10778" y="933125"/>
            <a:ext cx="1774617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Morning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86408" y="933125"/>
            <a:ext cx="998987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00:00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-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12:00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68598" y="1105420"/>
            <a:ext cx="1716797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Noon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14938" y="1105420"/>
            <a:ext cx="970457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11:00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-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13:00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79100" y="1277715"/>
            <a:ext cx="1806295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Afternoon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07856" y="1277715"/>
            <a:ext cx="977539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12:00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-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17:00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19973" y="1450024"/>
            <a:ext cx="1765422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Evening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9004" y="1450024"/>
            <a:ext cx="976391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16:00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-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19:30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64953" y="1622319"/>
            <a:ext cx="1720443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Night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04209" y="1622319"/>
            <a:ext cx="981186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19:00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-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23:59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87079" y="1800350"/>
            <a:ext cx="1598316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Variable: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Temperature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86541" y="1972645"/>
            <a:ext cx="1698854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Cold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74789" y="1948863"/>
            <a:ext cx="910606" cy="155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1" b="0">
                <a:solidFill>
                  <a:srgbClr val="000000"/>
                </a:solidFill>
                <a:latin typeface="Cambria Math"/>
              </a:rPr>
              <a:t>&lt;</a:t>
            </a:r>
            <a:r>
              <a:rPr sz="791" b="0">
                <a:solidFill>
                  <a:srgbClr val="000000"/>
                </a:solidFill>
                <a:latin typeface="Cambria Math"/>
              </a:rPr>
              <a:t> </a:t>
            </a:r>
            <a:r>
              <a:rPr sz="791" b="0">
                <a:solidFill>
                  <a:srgbClr val="000000"/>
                </a:solidFill>
                <a:latin typeface="Cambria Math"/>
              </a:rPr>
              <a:t>25</a:t>
            </a:r>
            <a:r>
              <a:rPr sz="565" b="0">
                <a:solidFill>
                  <a:srgbClr val="000000"/>
                </a:solidFill>
                <a:latin typeface="Cambria Math"/>
              </a:rPr>
              <a:t>◦</a:t>
            </a:r>
            <a:r>
              <a:rPr sz="791" b="0">
                <a:solidFill>
                  <a:srgbClr val="000000"/>
                </a:solidFill>
                <a:latin typeface="Cambria Math"/>
              </a:rPr>
              <a:t>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58451" y="2144955"/>
            <a:ext cx="1726944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Warm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7744" y="2121158"/>
            <a:ext cx="977651" cy="155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1" b="0">
                <a:solidFill>
                  <a:srgbClr val="000000"/>
                </a:solidFill>
                <a:latin typeface="Cambria Math"/>
              </a:rPr>
              <a:t>20</a:t>
            </a:r>
            <a:r>
              <a:rPr sz="791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1" b="0">
                <a:solidFill>
                  <a:srgbClr val="000000"/>
                </a:solidFill>
                <a:latin typeface="Cambria Math"/>
              </a:rPr>
              <a:t>35</a:t>
            </a:r>
            <a:r>
              <a:rPr sz="565" b="0">
                <a:solidFill>
                  <a:srgbClr val="000000"/>
                </a:solidFill>
                <a:latin typeface="Cambria Math"/>
              </a:rPr>
              <a:t>◦</a:t>
            </a:r>
            <a:r>
              <a:rPr sz="791" b="0">
                <a:solidFill>
                  <a:srgbClr val="000000"/>
                </a:solidFill>
                <a:latin typeface="Cambria Math"/>
              </a:rPr>
              <a:t>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05737" y="2317250"/>
            <a:ext cx="1679658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Hot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74788" y="2293453"/>
            <a:ext cx="910607" cy="155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1" b="0">
                <a:solidFill>
                  <a:srgbClr val="000000"/>
                </a:solidFill>
                <a:latin typeface="Cambria Math"/>
              </a:rPr>
              <a:t>&gt;</a:t>
            </a:r>
            <a:r>
              <a:rPr sz="791" b="0">
                <a:solidFill>
                  <a:srgbClr val="000000"/>
                </a:solidFill>
                <a:latin typeface="Cambria Math"/>
              </a:rPr>
              <a:t> </a:t>
            </a:r>
            <a:r>
              <a:rPr sz="791" b="0">
                <a:solidFill>
                  <a:srgbClr val="000000"/>
                </a:solidFill>
                <a:latin typeface="Cambria Math"/>
              </a:rPr>
              <a:t>33</a:t>
            </a:r>
            <a:r>
              <a:rPr sz="565" b="0">
                <a:solidFill>
                  <a:srgbClr val="000000"/>
                </a:solidFill>
                <a:latin typeface="Cambria Math"/>
              </a:rPr>
              <a:t>◦</a:t>
            </a:r>
            <a:r>
              <a:rPr sz="791" b="0">
                <a:solidFill>
                  <a:srgbClr val="000000"/>
                </a:solidFill>
                <a:latin typeface="Cambria Math"/>
              </a:rPr>
              <a:t>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13717" y="2495281"/>
            <a:ext cx="1471678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Variable: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Traffic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36210" y="2667590"/>
            <a:ext cx="1849185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Free-flowing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94409" y="2665618"/>
            <a:ext cx="1090986" cy="155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1" b="0">
                <a:solidFill>
                  <a:srgbClr val="000000"/>
                </a:solidFill>
                <a:latin typeface="Cambria Math"/>
              </a:rPr>
              <a:t>&lt;</a:t>
            </a:r>
            <a:r>
              <a:rPr sz="791" b="0">
                <a:solidFill>
                  <a:srgbClr val="000000"/>
                </a:solidFill>
                <a:latin typeface="Cambria Math"/>
              </a:rPr>
              <a:t> </a:t>
            </a:r>
            <a:r>
              <a:rPr sz="791" b="0">
                <a:solidFill>
                  <a:srgbClr val="000000"/>
                </a:solidFill>
                <a:latin typeface="Cambria Math"/>
              </a:rPr>
              <a:t>80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cars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per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km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66029" y="2839885"/>
            <a:ext cx="1819366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Congested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94409" y="2837913"/>
            <a:ext cx="1090986" cy="155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1" b="0">
                <a:solidFill>
                  <a:srgbClr val="000000"/>
                </a:solidFill>
                <a:latin typeface="Cambria Math"/>
              </a:rPr>
              <a:t>&gt;</a:t>
            </a:r>
            <a:r>
              <a:rPr sz="791" b="0">
                <a:solidFill>
                  <a:srgbClr val="000000"/>
                </a:solidFill>
                <a:latin typeface="Cambria Math"/>
              </a:rPr>
              <a:t> </a:t>
            </a:r>
            <a:r>
              <a:rPr sz="791" b="0">
                <a:solidFill>
                  <a:srgbClr val="000000"/>
                </a:solidFill>
                <a:latin typeface="Cambria Math"/>
              </a:rPr>
              <a:t>70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cars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per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km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13579" y="3150919"/>
            <a:ext cx="8718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40210" y="3150565"/>
            <a:ext cx="14518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914" y="826146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017" y="826146"/>
            <a:ext cx="510037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Kayden has trained an artificial neural network to predict a student’s overall performance as 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012" y="946352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three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classes,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Excellent,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Average,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Poor,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Quiz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012" y="1287969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trained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35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students.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012" y="1408162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students who are predicted to be Excellent, 4 obtained Excellent, 3 Average, and 3 Poor.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 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012" y="1528367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15 students predicted to be Average, 10 obtained Average and 5 obtained Excellent.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Among 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012" y="1648573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Poor,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9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obtained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Average.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012" y="1990190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Construct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4603" y="1990190"/>
            <a:ext cx="87079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[9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012" y="2160992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ii)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class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19967" y="2160992"/>
            <a:ext cx="8654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[7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012" y="2331807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iii)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Discuss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student’s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overall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012" y="2452000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student’s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Quiz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15763" y="2331807"/>
            <a:ext cx="8696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[4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39218" y="3150564"/>
            <a:ext cx="1461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449275" y="1616785"/>
            <a:ext cx="1221946" cy="16696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49275" y="1783748"/>
            <a:ext cx="610973" cy="16696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60249" y="1783748"/>
            <a:ext cx="610973" cy="16696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7984" y="1950699"/>
            <a:ext cx="223358" cy="50087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1329" y="1950699"/>
            <a:ext cx="517933" cy="16696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1330" y="2117662"/>
            <a:ext cx="517933" cy="16696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1330" y="2284613"/>
            <a:ext cx="517933" cy="16696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69228" y="1615861"/>
            <a:ext cx="1225359" cy="16742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69228" y="1783291"/>
            <a:ext cx="612679" cy="16742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81908" y="1783291"/>
            <a:ext cx="612679" cy="16742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25866" y="1950708"/>
            <a:ext cx="223982" cy="5022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49836" y="1950708"/>
            <a:ext cx="519379" cy="16742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49836" y="2118137"/>
            <a:ext cx="519379" cy="16742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49836" y="2285554"/>
            <a:ext cx="519379" cy="16742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993" y="593406"/>
            <a:ext cx="54254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Continuation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last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slide,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5914" y="813789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321" y="813789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lecturer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trained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(a)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316" y="933982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two different subjects.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 each subject, the number of students predicted to obtain each grade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316" y="1054187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actually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grade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specified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Z.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4219" y="813789"/>
            <a:ext cx="9311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[20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19425" y="1389044"/>
            <a:ext cx="4265971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Y: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316" y="1486739"/>
            <a:ext cx="5100079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of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grade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in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subject</a:t>
            </a:r>
            <a:r>
              <a:rPr sz="779" b="0">
                <a:solidFill>
                  <a:srgbClr val="000000"/>
                </a:solidFill>
                <a:latin typeface="MSBM10"/>
              </a:rPr>
              <a:t> </a:t>
            </a:r>
            <a:r>
              <a:rPr sz="779" b="0">
                <a:solidFill>
                  <a:srgbClr val="000000"/>
                </a:solidFill>
                <a:latin typeface="MSBM10"/>
              </a:rPr>
              <a:t>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43623" y="1644616"/>
            <a:ext cx="4141772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FFFFFF"/>
                </a:solidFill>
                <a:latin typeface="Josefin Sans"/>
              </a:rPr>
              <a:t>Number</a:t>
            </a:r>
            <a:r>
              <a:rPr sz="779" b="0">
                <a:solidFill>
                  <a:srgbClr val="FFFFFF"/>
                </a:solidFill>
                <a:latin typeface="Josefin Sans"/>
              </a:rPr>
              <a:t> </a:t>
            </a:r>
            <a:r>
              <a:rPr sz="779" b="0">
                <a:solidFill>
                  <a:srgbClr val="FFFFFF"/>
                </a:solidFill>
                <a:latin typeface="Josefin Sans"/>
              </a:rPr>
              <a:t>of</a:t>
            </a:r>
            <a:r>
              <a:rPr sz="779" b="0">
                <a:solidFill>
                  <a:srgbClr val="FFFFFF"/>
                </a:solidFill>
                <a:latin typeface="Josefin Sans"/>
              </a:rPr>
              <a:t> </a:t>
            </a:r>
            <a:r>
              <a:rPr sz="779" b="0">
                <a:solidFill>
                  <a:srgbClr val="FFFFFF"/>
                </a:solidFill>
                <a:latin typeface="Josefin Sans"/>
              </a:rPr>
              <a:t>students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8813" y="1811579"/>
            <a:ext cx="4226582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Predicted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9595" y="1811579"/>
            <a:ext cx="3555800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Actual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040" y="2050645"/>
            <a:ext cx="5008355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FFFFFF"/>
                </a:solidFill>
                <a:latin typeface="Josefin Sans"/>
              </a:rPr>
              <a:t>Grade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538" y="1978530"/>
            <a:ext cx="4779857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Excellent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08590" y="1978530"/>
            <a:ext cx="4076805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9615" y="1978530"/>
            <a:ext cx="3445780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091" y="2145493"/>
            <a:ext cx="4771304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99037" y="2145493"/>
            <a:ext cx="4086358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14925" y="2145493"/>
            <a:ext cx="3470470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4631" y="2312456"/>
            <a:ext cx="4690764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28723" y="2312456"/>
            <a:ext cx="4056672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42137" y="2312456"/>
            <a:ext cx="3443258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37494" y="1387484"/>
            <a:ext cx="2047901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Z: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05899" y="1485452"/>
            <a:ext cx="2879496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of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grade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in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subject</a:t>
            </a:r>
            <a:r>
              <a:rPr sz="781" b="0">
                <a:solidFill>
                  <a:srgbClr val="000000"/>
                </a:solidFill>
                <a:latin typeface="MSBM10"/>
              </a:rPr>
              <a:t> </a:t>
            </a:r>
            <a:r>
              <a:rPr sz="781" b="0">
                <a:solidFill>
                  <a:srgbClr val="000000"/>
                </a:solidFill>
                <a:latin typeface="MSBM10"/>
              </a:rPr>
              <a:t>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64118" y="1643770"/>
            <a:ext cx="1921277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FFFFFF"/>
                </a:solidFill>
                <a:latin typeface="Josefin Sans"/>
              </a:rPr>
              <a:t>Number</a:t>
            </a:r>
            <a:r>
              <a:rPr sz="781" b="0">
                <a:solidFill>
                  <a:srgbClr val="FFFFFF"/>
                </a:solidFill>
                <a:latin typeface="Josefin Sans"/>
              </a:rPr>
              <a:t> </a:t>
            </a:r>
            <a:r>
              <a:rPr sz="781" b="0">
                <a:solidFill>
                  <a:srgbClr val="FFFFFF"/>
                </a:solidFill>
                <a:latin typeface="Josefin Sans"/>
              </a:rPr>
              <a:t>of</a:t>
            </a:r>
            <a:r>
              <a:rPr sz="781" b="0">
                <a:solidFill>
                  <a:srgbClr val="FFFFFF"/>
                </a:solidFill>
                <a:latin typeface="Josefin Sans"/>
              </a:rPr>
              <a:t> </a:t>
            </a:r>
            <a:r>
              <a:rPr sz="781" b="0">
                <a:solidFill>
                  <a:srgbClr val="FFFFFF"/>
                </a:solidFill>
                <a:latin typeface="Josefin Sans"/>
              </a:rPr>
              <a:t>students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79071" y="1811199"/>
            <a:ext cx="2006324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Predicted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51727" y="1811199"/>
            <a:ext cx="1333668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Actual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95115" y="2050933"/>
            <a:ext cx="2790280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FFFFFF"/>
                </a:solidFill>
                <a:latin typeface="Josefin Sans"/>
              </a:rPr>
              <a:t>Grade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24251" y="1978616"/>
            <a:ext cx="2561144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Excellent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24306" y="1978616"/>
            <a:ext cx="1861089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31893" y="1978616"/>
            <a:ext cx="1253502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32828" y="2146045"/>
            <a:ext cx="2552567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9092" y="2146045"/>
            <a:ext cx="1866303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32434" y="2146045"/>
            <a:ext cx="1252961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13593" y="2313475"/>
            <a:ext cx="2471802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19196" y="2313475"/>
            <a:ext cx="1866200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36307" y="2313475"/>
            <a:ext cx="1249088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35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317" y="2642360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χ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test,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0.05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level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significance,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evaluate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317" y="2778034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predicting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grades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subject</a:t>
            </a:r>
            <a:r>
              <a:rPr sz="797" b="0">
                <a:solidFill>
                  <a:srgbClr val="000000"/>
                </a:solidFill>
                <a:latin typeface="MSBM10"/>
              </a:rPr>
              <a:t> </a:t>
            </a:r>
            <a:r>
              <a:rPr sz="797" b="0">
                <a:solidFill>
                  <a:srgbClr val="000000"/>
                </a:solidFill>
                <a:latin typeface="MSBM10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subject</a:t>
            </a:r>
            <a:r>
              <a:rPr sz="797" b="0">
                <a:solidFill>
                  <a:srgbClr val="000000"/>
                </a:solidFill>
                <a:latin typeface="MSBM10"/>
              </a:rPr>
              <a:t> </a:t>
            </a:r>
            <a:r>
              <a:rPr sz="797" b="0">
                <a:solidFill>
                  <a:srgbClr val="000000"/>
                </a:solidFill>
                <a:latin typeface="MSBM10"/>
              </a:rPr>
              <a:t>B</a:t>
            </a:r>
            <a:r>
              <a:rPr sz="797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39371" y="3150564"/>
            <a:ext cx="14602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9284" y="479056"/>
            <a:ext cx="4181140" cy="1434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8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284" y="722056"/>
            <a:ext cx="4181140" cy="2391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4" b="1">
                <a:solidFill>
                  <a:srgbClr val="0D3361"/>
                </a:solidFill>
                <a:latin typeface="Arial"/>
              </a:rPr>
              <a:t>Summary - handout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284" y="1027928"/>
            <a:ext cx="4181140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998" y="1367356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labs connect core CI algorithms with physical-AI simulation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98" y="1629642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Isaac Sim examples use its bundled Python 3.12 environment and current launchers.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998" y="1891927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Every simulator-dependent example includes a CPU/Matplotlib learning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284" y="2670916"/>
            <a:ext cx="4181140" cy="1315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8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284" y="2856791"/>
            <a:ext cx="4181140" cy="1076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6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- handout</dc:title>
  <dc:subject>Editable objects converted from Summary - handout.pdf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