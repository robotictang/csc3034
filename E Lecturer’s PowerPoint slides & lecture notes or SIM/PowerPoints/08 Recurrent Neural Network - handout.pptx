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5759996" cy="323999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60073" cy="32400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5862" y="1709649"/>
            <a:ext cx="1587500" cy="193292"/>
          </a:xfrm>
          <a:prstGeom prst="rect">
            <a:avLst/>
          </a:prstGeom>
          <a:solidFill>
            <a:srgbClr val="E8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5862" y="1709646"/>
            <a:ext cx="1587500" cy="206885"/>
          </a:xfrm>
          <a:prstGeom prst="rect">
            <a:avLst/>
          </a:prstGeom>
          <a:solidFill>
            <a:srgbClr val="E8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5862" y="1709646"/>
            <a:ext cx="1587500" cy="220474"/>
          </a:xfrm>
          <a:prstGeom prst="rect">
            <a:avLst/>
          </a:prstGeom>
          <a:solidFill>
            <a:srgbClr val="E8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5862" y="1709647"/>
            <a:ext cx="1587500" cy="234062"/>
          </a:xfrm>
          <a:prstGeom prst="rect">
            <a:avLst/>
          </a:prstGeom>
          <a:solidFill>
            <a:srgbClr val="E8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9988" cy="3239998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0872" y="63277"/>
            <a:ext cx="575962" cy="231502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5158" y="88661"/>
            <a:ext cx="575974" cy="20611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1225" y="918848"/>
            <a:ext cx="5324170" cy="40674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66" b="1">
                <a:solidFill>
                  <a:srgbClr val="003373"/>
                </a:solidFill>
                <a:latin typeface="Josefin Sans"/>
              </a:rPr>
              <a:t>Recurrent</a:t>
            </a:r>
            <a:r>
              <a:rPr sz="2066" b="1">
                <a:solidFill>
                  <a:srgbClr val="003373"/>
                </a:solidFill>
                <a:latin typeface="Josefin Sans"/>
              </a:rPr>
              <a:t> </a:t>
            </a:r>
            <a:r>
              <a:rPr sz="2066" b="1">
                <a:solidFill>
                  <a:srgbClr val="003373"/>
                </a:solidFill>
                <a:latin typeface="Josefin Sans"/>
              </a:rPr>
              <a:t>Neural</a:t>
            </a:r>
            <a:r>
              <a:rPr sz="2066" b="1">
                <a:solidFill>
                  <a:srgbClr val="003373"/>
                </a:solidFill>
                <a:latin typeface="Josefin Sans"/>
              </a:rPr>
              <a:t> </a:t>
            </a:r>
            <a:r>
              <a:rPr sz="2066" b="1">
                <a:solidFill>
                  <a:srgbClr val="003373"/>
                </a:solidFill>
                <a:latin typeface="Josefin Sans"/>
              </a:rPr>
              <a:t>Network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225" y="1255046"/>
            <a:ext cx="532417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5A7D"/>
                </a:solidFill>
                <a:latin typeface="Josefin Sans"/>
              </a:rPr>
              <a:t>CSC3034</a:t>
            </a:r>
            <a:r>
              <a:rPr sz="1090" b="1">
                <a:solidFill>
                  <a:srgbClr val="005A7D"/>
                </a:solidFill>
                <a:latin typeface="Josefin Sans"/>
              </a:rPr>
              <a:t> </a:t>
            </a:r>
            <a:r>
              <a:rPr sz="1090" b="1">
                <a:solidFill>
                  <a:srgbClr val="005A7D"/>
                </a:solidFill>
                <a:latin typeface="Josefin Sans"/>
              </a:rPr>
              <a:t>Computational</a:t>
            </a:r>
            <a:r>
              <a:rPr sz="1090" b="1">
                <a:solidFill>
                  <a:srgbClr val="005A7D"/>
                </a:solidFill>
                <a:latin typeface="Josefin Sans"/>
              </a:rPr>
              <a:t> </a:t>
            </a:r>
            <a:r>
              <a:rPr sz="1090" b="1">
                <a:solidFill>
                  <a:srgbClr val="005A7D"/>
                </a:solidFill>
                <a:latin typeface="Josefin Sans"/>
              </a:rPr>
              <a:t>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225" y="1740729"/>
            <a:ext cx="532417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Dr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Richard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Wong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8161" y="3150917"/>
            <a:ext cx="88723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78690" y="3150693"/>
            <a:ext cx="10670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262" y="1728317"/>
            <a:ext cx="5324133" cy="196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D3361"/>
                </a:solidFill>
                <a:latin typeface="Arial"/>
              </a:rPr>
              <a:t>Dr Tang Tiong Yew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262" y="1741906"/>
            <a:ext cx="5324133" cy="196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D3361"/>
                </a:solidFill>
                <a:latin typeface="Arial"/>
              </a:rPr>
              <a:t>Dr Tang Tiong Yew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262" y="1755495"/>
            <a:ext cx="5324133" cy="196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D3361"/>
                </a:solidFill>
                <a:latin typeface="Arial"/>
              </a:rPr>
              <a:t>Dr Tang Tiong Yew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262" y="1769084"/>
            <a:ext cx="5324133" cy="1968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D3361"/>
                </a:solidFill>
                <a:latin typeface="Arial"/>
              </a:rPr>
              <a:t>Dr Tang Tiong Yew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3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Lecture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outline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656555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ANN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with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Recurrent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Architecture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1070016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Recurrent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Neural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Networks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(RNN)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3" y="1502883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Long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Short-Term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Memory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(LSTM)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993" y="1939280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Gaterd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Recurrent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Units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(GRU)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9993" y="2368325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Comparisons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9993" y="2804722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Josefin Sans"/>
              </a:rPr>
              <a:t>Consideration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in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Neural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Network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 </a:t>
            </a:r>
            <a:r>
              <a:rPr sz="1090" b="0">
                <a:solidFill>
                  <a:srgbClr val="003373"/>
                </a:solidFill>
                <a:latin typeface="Josefin Sans"/>
              </a:rPr>
              <a:t>Design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98160" y="3150917"/>
            <a:ext cx="88723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4122" y="3150693"/>
            <a:ext cx="12127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3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ANN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with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Recurrent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Architecture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940261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Recurrent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Neural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Networks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(RNNs),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Long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Short-Term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Memory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(LSTM)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networks,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1112333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Gated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Recurrent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Units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(GRU)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among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most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prominent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architectures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3" y="1284406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particularly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tasks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involving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sequences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data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like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056" y="1498763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time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series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forecasting,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0056" y="1756878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natural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language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processing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(NLP),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0056" y="2014980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video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analysis.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9993" y="2316852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include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feedback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mechanisms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incorporate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sequential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information.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98160" y="3150917"/>
            <a:ext cx="88723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3132" y="3150693"/>
            <a:ext cx="12226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3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Recurrent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Neural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Networks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(RNN)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1249989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Recurrent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(RNNs)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class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designed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1422074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sequential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data.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3" y="1680176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RNNs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have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feedback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loops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allow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information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persist,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making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capable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993" y="1852261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remembering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previous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inputs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using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influence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future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predictions.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98160" y="3150916"/>
            <a:ext cx="88723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3284" y="3150692"/>
            <a:ext cx="12211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2797692" y="1804330"/>
            <a:ext cx="175872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747081" y="1854941"/>
            <a:ext cx="0" cy="314419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797692" y="2219971"/>
            <a:ext cx="175872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3024175" y="1854941"/>
            <a:ext cx="0" cy="314419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742386" y="2012150"/>
            <a:ext cx="334699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Freeform 40"/>
          <p:cNvSpPr/>
          <p:nvPr/>
        </p:nvSpPr>
        <p:spPr>
          <a:xfrm>
            <a:off x="2057400" y="19939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1"/>
                </a:moveTo>
                <a:lnTo>
                  <a:pt x="0" y="0"/>
                </a:lnTo>
                <a:lnTo>
                  <a:pt x="2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2384546" y="2012150"/>
            <a:ext cx="334699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Freeform 42"/>
          <p:cNvSpPr/>
          <p:nvPr/>
        </p:nvSpPr>
        <p:spPr>
          <a:xfrm>
            <a:off x="2705100" y="19939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3026705" y="2012150"/>
            <a:ext cx="33470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Freeform 44"/>
          <p:cNvSpPr/>
          <p:nvPr/>
        </p:nvSpPr>
        <p:spPr>
          <a:xfrm>
            <a:off x="3340100" y="19939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1"/>
                </a:moveTo>
                <a:lnTo>
                  <a:pt x="0" y="0"/>
                </a:lnTo>
                <a:lnTo>
                  <a:pt x="2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3668865" y="2012150"/>
            <a:ext cx="334700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Freeform 46"/>
          <p:cNvSpPr/>
          <p:nvPr/>
        </p:nvSpPr>
        <p:spPr>
          <a:xfrm>
            <a:off x="3987800" y="19939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3206708" y="2012150"/>
            <a:ext cx="0" cy="309394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2936239" y="2372155"/>
            <a:ext cx="219858" cy="0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2885628" y="2247806"/>
            <a:ext cx="0" cy="73738"/>
          </a:xfrm>
          <a:prstGeom prst="line">
            <a:avLst/>
          </a:prstGeom>
          <a:ln w="50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Freeform 50"/>
          <p:cNvSpPr/>
          <p:nvPr/>
        </p:nvSpPr>
        <p:spPr>
          <a:xfrm>
            <a:off x="2870200" y="22225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3121337" y="2023466"/>
            <a:ext cx="697377" cy="348689"/>
          </a:xfrm>
          <a:prstGeom prst="line">
            <a:avLst/>
          </a:prstGeom>
          <a:ln w="5060">
            <a:solidFill>
              <a:srgbClr val="26A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Freeform 52"/>
          <p:cNvSpPr/>
          <p:nvPr/>
        </p:nvSpPr>
        <p:spPr>
          <a:xfrm>
            <a:off x="3098800" y="20066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0" y="0"/>
                </a:moveTo>
                <a:lnTo>
                  <a:pt x="2" y="3"/>
                </a:lnTo>
                <a:lnTo>
                  <a:pt x="2" y="1"/>
                </a:lnTo>
                <a:lnTo>
                  <a:pt x="4" y="0"/>
                </a:lnTo>
                <a:close/>
              </a:path>
            </a:pathLst>
          </a:cu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-2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880001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Recurrent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Neural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Networks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(RNN)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Architecture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9993" y="853215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RNN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structure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repeating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loop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(recurrent)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passes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hidden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states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from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59993" y="1025287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one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time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step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next.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time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step,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RNN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takes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two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inputs: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60056" y="1239646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Current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: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current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time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step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0055" y="1497748"/>
            <a:ext cx="532534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Previous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hidden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state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h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797" b="0">
                <a:solidFill>
                  <a:srgbClr val="000000"/>
                </a:solidFill>
                <a:latin typeface="Cambria Math"/>
              </a:rPr>
              <a:t>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: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hidden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from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previous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time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step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569349" y="1923304"/>
            <a:ext cx="421604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77561" y="1920230"/>
            <a:ext cx="170783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y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464978" y="1832600"/>
            <a:ext cx="332041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FFFFFF"/>
                </a:solidFill>
                <a:latin typeface="Cambria Math"/>
              </a:rPr>
              <a:t>W</a:t>
            </a:r>
            <a:r>
              <a:rPr sz="797" b="0">
                <a:solidFill>
                  <a:srgbClr val="FFFFFF"/>
                </a:solidFill>
                <a:latin typeface="Cambria Math"/>
              </a:rPr>
              <a:t>h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464978" y="1832600"/>
            <a:ext cx="332041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W</a:t>
            </a:r>
            <a:r>
              <a:rPr sz="797" b="0">
                <a:solidFill>
                  <a:srgbClr val="000000"/>
                </a:solidFill>
                <a:latin typeface="Cambria Math"/>
              </a:rPr>
              <a:t>h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109719" y="1814706"/>
            <a:ext cx="267567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FFFFFF"/>
                </a:solidFill>
                <a:latin typeface="Cambria Math"/>
              </a:rPr>
              <a:t>W</a:t>
            </a:r>
            <a:r>
              <a:rPr sz="797" b="0">
                <a:solidFill>
                  <a:srgbClr val="FFFFFF"/>
                </a:solidFill>
                <a:latin typeface="Cambria Math"/>
              </a:rPr>
              <a:t>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109719" y="1814706"/>
            <a:ext cx="267567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W</a:t>
            </a:r>
            <a:r>
              <a:rPr sz="797" b="0">
                <a:solidFill>
                  <a:srgbClr val="000000"/>
                </a:solidFill>
                <a:latin typeface="Cambria Math"/>
              </a:rPr>
              <a:t>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964711" y="2407250"/>
            <a:ext cx="282068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FFFFFF"/>
                </a:solidFill>
                <a:latin typeface="Cambria Math"/>
              </a:rPr>
              <a:t>U</a:t>
            </a:r>
            <a:r>
              <a:rPr sz="797" b="0">
                <a:solidFill>
                  <a:srgbClr val="FFFFFF"/>
                </a:solidFill>
                <a:latin typeface="Cambria Math"/>
              </a:rPr>
              <a:t>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964711" y="2407250"/>
            <a:ext cx="282068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U</a:t>
            </a:r>
            <a:r>
              <a:rPr sz="797" b="0">
                <a:solidFill>
                  <a:srgbClr val="000000"/>
                </a:solidFill>
                <a:latin typeface="Cambria Math"/>
              </a:rPr>
              <a:t>h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867414" y="2301586"/>
            <a:ext cx="191798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FFFFFF"/>
                </a:solidFill>
                <a:latin typeface="Cambria Math"/>
              </a:rPr>
              <a:t>h</a:t>
            </a:r>
            <a:r>
              <a:rPr sz="797" b="0">
                <a:solidFill>
                  <a:srgbClr val="FFFFFF"/>
                </a:solidFill>
                <a:latin typeface="Cambria Math"/>
              </a:rPr>
              <a:t>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867414" y="2301586"/>
            <a:ext cx="191798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5A7D"/>
                </a:solidFill>
                <a:latin typeface="Cambria Math"/>
              </a:rPr>
              <a:t>h</a:t>
            </a:r>
            <a:r>
              <a:rPr sz="797" b="0">
                <a:solidFill>
                  <a:srgbClr val="005A7D"/>
                </a:solidFill>
                <a:latin typeface="Cambria Math"/>
              </a:rPr>
              <a:t>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98159" y="3150919"/>
            <a:ext cx="88723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62596" y="3150695"/>
            <a:ext cx="12279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451284" y="1301774"/>
            <a:ext cx="143223" cy="0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10068" y="1342990"/>
            <a:ext cx="0" cy="256050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51284" y="1640256"/>
            <a:ext cx="143223" cy="0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635723" y="1342990"/>
            <a:ext cx="0" cy="256050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522895" y="2039287"/>
            <a:ext cx="0" cy="125979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Freeform 40"/>
          <p:cNvSpPr/>
          <p:nvPr/>
        </p:nvSpPr>
        <p:spPr>
          <a:xfrm>
            <a:off x="508000" y="20193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2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V="1">
            <a:off x="522895" y="1662924"/>
            <a:ext cx="0" cy="125979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Freeform 42"/>
          <p:cNvSpPr/>
          <p:nvPr/>
        </p:nvSpPr>
        <p:spPr>
          <a:xfrm>
            <a:off x="508000" y="16383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2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 flipV="1">
            <a:off x="522895" y="1173734"/>
            <a:ext cx="0" cy="125979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Freeform 44"/>
          <p:cNvSpPr/>
          <p:nvPr/>
        </p:nvSpPr>
        <p:spPr>
          <a:xfrm>
            <a:off x="508000" y="11557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1" y="0"/>
                </a:moveTo>
                <a:lnTo>
                  <a:pt x="0" y="2"/>
                </a:lnTo>
                <a:lnTo>
                  <a:pt x="1" y="1"/>
                </a:lnTo>
                <a:lnTo>
                  <a:pt x="2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 flipV="1">
            <a:off x="522895" y="797372"/>
            <a:ext cx="0" cy="125979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Freeform 46"/>
          <p:cNvSpPr/>
          <p:nvPr/>
        </p:nvSpPr>
        <p:spPr>
          <a:xfrm>
            <a:off x="508000" y="774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2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637783" y="1471015"/>
            <a:ext cx="157678" cy="0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Freeform 48"/>
          <p:cNvSpPr/>
          <p:nvPr/>
        </p:nvSpPr>
        <p:spPr>
          <a:xfrm>
            <a:off x="787400" y="14605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2" y="1"/>
                </a:moveTo>
                <a:lnTo>
                  <a:pt x="0" y="0"/>
                </a:lnTo>
                <a:lnTo>
                  <a:pt x="1" y="1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 flipH="1">
            <a:off x="859345" y="1301774"/>
            <a:ext cx="143224" cy="0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818129" y="1342990"/>
            <a:ext cx="0" cy="256050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859345" y="1640256"/>
            <a:ext cx="143224" cy="0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1043784" y="1342990"/>
            <a:ext cx="0" cy="256050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930957" y="2039287"/>
            <a:ext cx="0" cy="125979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Freeform 54"/>
          <p:cNvSpPr/>
          <p:nvPr/>
        </p:nvSpPr>
        <p:spPr>
          <a:xfrm>
            <a:off x="914400" y="2019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 flipV="1">
            <a:off x="930957" y="1662924"/>
            <a:ext cx="0" cy="125979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Freeform 56"/>
          <p:cNvSpPr/>
          <p:nvPr/>
        </p:nvSpPr>
        <p:spPr>
          <a:xfrm>
            <a:off x="914400" y="1638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 flipV="1">
            <a:off x="930957" y="1173734"/>
            <a:ext cx="0" cy="125979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Freeform 58"/>
          <p:cNvSpPr/>
          <p:nvPr/>
        </p:nvSpPr>
        <p:spPr>
          <a:xfrm>
            <a:off x="914400" y="11557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0"/>
                </a:moveTo>
                <a:lnTo>
                  <a:pt x="0" y="2"/>
                </a:lnTo>
                <a:lnTo>
                  <a:pt x="1" y="1"/>
                </a:lnTo>
                <a:lnTo>
                  <a:pt x="3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 flipV="1">
            <a:off x="930957" y="797372"/>
            <a:ext cx="0" cy="125979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Freeform 60"/>
          <p:cNvSpPr/>
          <p:nvPr/>
        </p:nvSpPr>
        <p:spPr>
          <a:xfrm>
            <a:off x="914400" y="774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>
            <a:off x="1045845" y="1471015"/>
            <a:ext cx="157678" cy="0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Freeform 62"/>
          <p:cNvSpPr/>
          <p:nvPr/>
        </p:nvSpPr>
        <p:spPr>
          <a:xfrm>
            <a:off x="1193800" y="1460500"/>
            <a:ext cx="25400" cy="25400"/>
          </a:xfrm>
          <a:custGeom>
            <a:avLst/>
            <a:gdLst/>
            <a:ahLst/>
            <a:cxnLst/>
            <a:rect l="l" t="t" r="r" b="b"/>
            <a:pathLst>
              <a:path w="2" h="2">
                <a:moveTo>
                  <a:pt x="2" y="1"/>
                </a:moveTo>
                <a:lnTo>
                  <a:pt x="0" y="0"/>
                </a:lnTo>
                <a:lnTo>
                  <a:pt x="1" y="1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 flipH="1">
            <a:off x="1267406" y="1301774"/>
            <a:ext cx="143224" cy="0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226191" y="1342990"/>
            <a:ext cx="0" cy="256050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267406" y="1640256"/>
            <a:ext cx="143224" cy="0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1451845" y="1342990"/>
            <a:ext cx="0" cy="256050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1339018" y="2039287"/>
            <a:ext cx="0" cy="125979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Freeform 68"/>
          <p:cNvSpPr/>
          <p:nvPr/>
        </p:nvSpPr>
        <p:spPr>
          <a:xfrm>
            <a:off x="1320800" y="2019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 flipV="1">
            <a:off x="1339018" y="1662924"/>
            <a:ext cx="0" cy="125979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Freeform 70"/>
          <p:cNvSpPr/>
          <p:nvPr/>
        </p:nvSpPr>
        <p:spPr>
          <a:xfrm>
            <a:off x="1320800" y="1638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" name="Connector 71"/>
          <p:cNvCxnSpPr/>
          <p:nvPr/>
        </p:nvCxnSpPr>
        <p:spPr>
          <a:xfrm flipV="1">
            <a:off x="1339018" y="1173734"/>
            <a:ext cx="0" cy="125979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Freeform 72"/>
          <p:cNvSpPr/>
          <p:nvPr/>
        </p:nvSpPr>
        <p:spPr>
          <a:xfrm>
            <a:off x="1320800" y="11557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0"/>
                </a:moveTo>
                <a:lnTo>
                  <a:pt x="0" y="2"/>
                </a:lnTo>
                <a:lnTo>
                  <a:pt x="1" y="1"/>
                </a:lnTo>
                <a:lnTo>
                  <a:pt x="3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 flipV="1">
            <a:off x="1339018" y="797372"/>
            <a:ext cx="0" cy="125979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Freeform 74"/>
          <p:cNvSpPr/>
          <p:nvPr/>
        </p:nvSpPr>
        <p:spPr>
          <a:xfrm>
            <a:off x="1320800" y="774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>
            <a:off x="1453906" y="1471015"/>
            <a:ext cx="157678" cy="0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Freeform 76"/>
          <p:cNvSpPr/>
          <p:nvPr/>
        </p:nvSpPr>
        <p:spPr>
          <a:xfrm>
            <a:off x="1600200" y="14605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 flipH="1">
            <a:off x="1675467" y="1301774"/>
            <a:ext cx="143224" cy="0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1634252" y="1342990"/>
            <a:ext cx="0" cy="256050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675467" y="1640256"/>
            <a:ext cx="143224" cy="0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859907" y="1342990"/>
            <a:ext cx="0" cy="256050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747079" y="2039287"/>
            <a:ext cx="0" cy="125979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Freeform 82"/>
          <p:cNvSpPr/>
          <p:nvPr/>
        </p:nvSpPr>
        <p:spPr>
          <a:xfrm>
            <a:off x="1727200" y="2019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" name="Connector 83"/>
          <p:cNvCxnSpPr/>
          <p:nvPr/>
        </p:nvCxnSpPr>
        <p:spPr>
          <a:xfrm flipV="1">
            <a:off x="1747079" y="1662924"/>
            <a:ext cx="0" cy="125979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Freeform 84"/>
          <p:cNvSpPr/>
          <p:nvPr/>
        </p:nvSpPr>
        <p:spPr>
          <a:xfrm>
            <a:off x="1727200" y="1638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V="1">
            <a:off x="1747079" y="1173734"/>
            <a:ext cx="0" cy="125979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Freeform 86"/>
          <p:cNvSpPr/>
          <p:nvPr/>
        </p:nvSpPr>
        <p:spPr>
          <a:xfrm>
            <a:off x="1727200" y="11557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2" y="0"/>
                </a:moveTo>
                <a:lnTo>
                  <a:pt x="0" y="2"/>
                </a:lnTo>
                <a:lnTo>
                  <a:pt x="2" y="1"/>
                </a:lnTo>
                <a:lnTo>
                  <a:pt x="3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" name="Connector 87"/>
          <p:cNvCxnSpPr/>
          <p:nvPr/>
        </p:nvCxnSpPr>
        <p:spPr>
          <a:xfrm flipV="1">
            <a:off x="1747079" y="797372"/>
            <a:ext cx="0" cy="125979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Freeform 88"/>
          <p:cNvSpPr/>
          <p:nvPr/>
        </p:nvSpPr>
        <p:spPr>
          <a:xfrm>
            <a:off x="1727200" y="774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" name="Connector 89"/>
          <p:cNvCxnSpPr/>
          <p:nvPr/>
        </p:nvCxnSpPr>
        <p:spPr>
          <a:xfrm>
            <a:off x="1861967" y="1471015"/>
            <a:ext cx="157678" cy="0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Freeform 90"/>
          <p:cNvSpPr/>
          <p:nvPr/>
        </p:nvSpPr>
        <p:spPr>
          <a:xfrm>
            <a:off x="2006600" y="14605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" name="Connector 91"/>
          <p:cNvCxnSpPr/>
          <p:nvPr/>
        </p:nvCxnSpPr>
        <p:spPr>
          <a:xfrm flipH="1">
            <a:off x="2083529" y="1301774"/>
            <a:ext cx="143223" cy="0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2042313" y="1342990"/>
            <a:ext cx="0" cy="256050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2083529" y="1640256"/>
            <a:ext cx="143223" cy="0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2267968" y="1342990"/>
            <a:ext cx="0" cy="256050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2155141" y="2039287"/>
            <a:ext cx="0" cy="125979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Freeform 96"/>
          <p:cNvSpPr/>
          <p:nvPr/>
        </p:nvSpPr>
        <p:spPr>
          <a:xfrm>
            <a:off x="2133600" y="2019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8" name="Connector 97"/>
          <p:cNvCxnSpPr/>
          <p:nvPr/>
        </p:nvCxnSpPr>
        <p:spPr>
          <a:xfrm flipV="1">
            <a:off x="2155141" y="1662924"/>
            <a:ext cx="0" cy="125979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Freeform 98"/>
          <p:cNvSpPr/>
          <p:nvPr/>
        </p:nvSpPr>
        <p:spPr>
          <a:xfrm>
            <a:off x="2133600" y="1638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" name="Connector 99"/>
          <p:cNvCxnSpPr/>
          <p:nvPr/>
        </p:nvCxnSpPr>
        <p:spPr>
          <a:xfrm flipV="1">
            <a:off x="2155141" y="1173734"/>
            <a:ext cx="0" cy="125979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Freeform 100"/>
          <p:cNvSpPr/>
          <p:nvPr/>
        </p:nvSpPr>
        <p:spPr>
          <a:xfrm>
            <a:off x="2133600" y="11557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2" y="0"/>
                </a:moveTo>
                <a:lnTo>
                  <a:pt x="0" y="2"/>
                </a:lnTo>
                <a:lnTo>
                  <a:pt x="2" y="1"/>
                </a:lnTo>
                <a:lnTo>
                  <a:pt x="3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2" name="Connector 101"/>
          <p:cNvCxnSpPr/>
          <p:nvPr/>
        </p:nvCxnSpPr>
        <p:spPr>
          <a:xfrm flipV="1">
            <a:off x="2155141" y="797372"/>
            <a:ext cx="0" cy="125979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Freeform 102"/>
          <p:cNvSpPr/>
          <p:nvPr/>
        </p:nvSpPr>
        <p:spPr>
          <a:xfrm>
            <a:off x="2133600" y="774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4" name="Connector 103"/>
          <p:cNvCxnSpPr/>
          <p:nvPr/>
        </p:nvCxnSpPr>
        <p:spPr>
          <a:xfrm>
            <a:off x="2270029" y="1471015"/>
            <a:ext cx="157678" cy="0"/>
          </a:xfrm>
          <a:prstGeom prst="line">
            <a:avLst/>
          </a:prstGeom>
          <a:ln w="4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Freeform 104"/>
          <p:cNvSpPr/>
          <p:nvPr/>
        </p:nvSpPr>
        <p:spPr>
          <a:xfrm>
            <a:off x="2413000" y="14605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Freeform 105"/>
          <p:cNvSpPr/>
          <p:nvPr/>
        </p:nvSpPr>
        <p:spPr>
          <a:xfrm>
            <a:off x="3467100" y="952500"/>
            <a:ext cx="1600200" cy="1066800"/>
          </a:xfrm>
          <a:custGeom>
            <a:avLst/>
            <a:gdLst/>
            <a:ahLst/>
            <a:cxnLst/>
            <a:rect l="l" t="t" r="r" b="b"/>
            <a:pathLst>
              <a:path w="126" h="84">
                <a:moveTo>
                  <a:pt x="123" y="0"/>
                </a:moveTo>
                <a:lnTo>
                  <a:pt x="3" y="0"/>
                </a:lnTo>
                <a:lnTo>
                  <a:pt x="3" y="0"/>
                </a:lnTo>
                <a:lnTo>
                  <a:pt x="2" y="0"/>
                </a:lnTo>
                <a:lnTo>
                  <a:pt x="1" y="0"/>
                </a:lnTo>
                <a:lnTo>
                  <a:pt x="1" y="1"/>
                </a:lnTo>
                <a:lnTo>
                  <a:pt x="1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81"/>
                </a:lnTo>
                <a:lnTo>
                  <a:pt x="0" y="81"/>
                </a:lnTo>
                <a:lnTo>
                  <a:pt x="0" y="82"/>
                </a:lnTo>
                <a:lnTo>
                  <a:pt x="1" y="83"/>
                </a:lnTo>
                <a:lnTo>
                  <a:pt x="1" y="83"/>
                </a:lnTo>
                <a:lnTo>
                  <a:pt x="1" y="83"/>
                </a:lnTo>
                <a:lnTo>
                  <a:pt x="2" y="84"/>
                </a:lnTo>
                <a:lnTo>
                  <a:pt x="3" y="84"/>
                </a:lnTo>
                <a:lnTo>
                  <a:pt x="3" y="84"/>
                </a:lnTo>
                <a:lnTo>
                  <a:pt x="123" y="84"/>
                </a:lnTo>
                <a:lnTo>
                  <a:pt x="124" y="84"/>
                </a:lnTo>
                <a:lnTo>
                  <a:pt x="125" y="84"/>
                </a:lnTo>
                <a:lnTo>
                  <a:pt x="125" y="83"/>
                </a:lnTo>
                <a:lnTo>
                  <a:pt x="126" y="83"/>
                </a:lnTo>
                <a:lnTo>
                  <a:pt x="126" y="83"/>
                </a:lnTo>
                <a:lnTo>
                  <a:pt x="126" y="82"/>
                </a:lnTo>
                <a:lnTo>
                  <a:pt x="126" y="81"/>
                </a:lnTo>
                <a:lnTo>
                  <a:pt x="126" y="81"/>
                </a:lnTo>
                <a:lnTo>
                  <a:pt x="126" y="3"/>
                </a:lnTo>
                <a:lnTo>
                  <a:pt x="126" y="2"/>
                </a:lnTo>
                <a:lnTo>
                  <a:pt x="126" y="2"/>
                </a:lnTo>
                <a:lnTo>
                  <a:pt x="126" y="1"/>
                </a:lnTo>
                <a:lnTo>
                  <a:pt x="126" y="1"/>
                </a:lnTo>
                <a:lnTo>
                  <a:pt x="125" y="0"/>
                </a:lnTo>
                <a:lnTo>
                  <a:pt x="125" y="0"/>
                </a:lnTo>
                <a:lnTo>
                  <a:pt x="124" y="0"/>
                </a:lnTo>
                <a:lnTo>
                  <a:pt x="123" y="0"/>
                </a:lnTo>
                <a:close/>
              </a:path>
            </a:pathLst>
          </a:custGeom>
          <a:solidFill>
            <a:srgbClr val="93D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Freeform 106"/>
          <p:cNvSpPr/>
          <p:nvPr/>
        </p:nvSpPr>
        <p:spPr>
          <a:xfrm>
            <a:off x="4089400" y="1358900"/>
            <a:ext cx="368300" cy="241300"/>
          </a:xfrm>
          <a:custGeom>
            <a:avLst/>
            <a:gdLst/>
            <a:ahLst/>
            <a:cxnLst/>
            <a:rect l="l" t="t" r="r" b="b"/>
            <a:pathLst>
              <a:path w="29" h="19">
                <a:moveTo>
                  <a:pt x="26" y="0"/>
                </a:moveTo>
                <a:lnTo>
                  <a:pt x="3" y="0"/>
                </a:lnTo>
                <a:lnTo>
                  <a:pt x="2" y="1"/>
                </a:lnTo>
                <a:lnTo>
                  <a:pt x="1" y="1"/>
                </a:lnTo>
                <a:lnTo>
                  <a:pt x="1" y="1"/>
                </a:lnTo>
                <a:lnTo>
                  <a:pt x="0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0" y="16"/>
                </a:lnTo>
                <a:lnTo>
                  <a:pt x="0" y="17"/>
                </a:lnTo>
                <a:lnTo>
                  <a:pt x="0" y="17"/>
                </a:lnTo>
                <a:lnTo>
                  <a:pt x="0" y="18"/>
                </a:lnTo>
                <a:lnTo>
                  <a:pt x="0" y="18"/>
                </a:lnTo>
                <a:lnTo>
                  <a:pt x="1" y="18"/>
                </a:lnTo>
                <a:lnTo>
                  <a:pt x="1" y="19"/>
                </a:lnTo>
                <a:lnTo>
                  <a:pt x="2" y="19"/>
                </a:lnTo>
                <a:lnTo>
                  <a:pt x="3" y="19"/>
                </a:lnTo>
                <a:lnTo>
                  <a:pt x="26" y="19"/>
                </a:lnTo>
                <a:lnTo>
                  <a:pt x="27" y="19"/>
                </a:lnTo>
                <a:lnTo>
                  <a:pt x="27" y="19"/>
                </a:lnTo>
                <a:lnTo>
                  <a:pt x="28" y="18"/>
                </a:lnTo>
                <a:lnTo>
                  <a:pt x="28" y="18"/>
                </a:lnTo>
                <a:lnTo>
                  <a:pt x="29" y="18"/>
                </a:lnTo>
                <a:lnTo>
                  <a:pt x="29" y="17"/>
                </a:lnTo>
                <a:lnTo>
                  <a:pt x="29" y="17"/>
                </a:lnTo>
                <a:lnTo>
                  <a:pt x="29" y="16"/>
                </a:lnTo>
                <a:lnTo>
                  <a:pt x="29" y="4"/>
                </a:lnTo>
                <a:lnTo>
                  <a:pt x="29" y="3"/>
                </a:lnTo>
                <a:lnTo>
                  <a:pt x="29" y="2"/>
                </a:lnTo>
                <a:lnTo>
                  <a:pt x="29" y="2"/>
                </a:lnTo>
                <a:lnTo>
                  <a:pt x="28" y="1"/>
                </a:lnTo>
                <a:lnTo>
                  <a:pt x="28" y="1"/>
                </a:lnTo>
                <a:lnTo>
                  <a:pt x="27" y="1"/>
                </a:lnTo>
                <a:lnTo>
                  <a:pt x="27" y="1"/>
                </a:lnTo>
                <a:lnTo>
                  <a:pt x="26" y="0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Freeform 107"/>
          <p:cNvSpPr/>
          <p:nvPr/>
        </p:nvSpPr>
        <p:spPr>
          <a:xfrm>
            <a:off x="3683000" y="13716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17" h="17">
                <a:moveTo>
                  <a:pt x="17" y="9"/>
                </a:moveTo>
                <a:lnTo>
                  <a:pt x="17" y="7"/>
                </a:lnTo>
                <a:lnTo>
                  <a:pt x="16" y="5"/>
                </a:lnTo>
                <a:lnTo>
                  <a:pt x="15" y="4"/>
                </a:lnTo>
                <a:lnTo>
                  <a:pt x="14" y="3"/>
                </a:lnTo>
                <a:lnTo>
                  <a:pt x="13" y="2"/>
                </a:lnTo>
                <a:lnTo>
                  <a:pt x="12" y="1"/>
                </a:lnTo>
                <a:lnTo>
                  <a:pt x="10" y="0"/>
                </a:lnTo>
                <a:lnTo>
                  <a:pt x="8" y="0"/>
                </a:lnTo>
                <a:lnTo>
                  <a:pt x="7" y="0"/>
                </a:lnTo>
                <a:lnTo>
                  <a:pt x="5" y="1"/>
                </a:lnTo>
                <a:lnTo>
                  <a:pt x="4" y="2"/>
                </a:lnTo>
                <a:lnTo>
                  <a:pt x="2" y="3"/>
                </a:lnTo>
                <a:lnTo>
                  <a:pt x="1" y="4"/>
                </a:lnTo>
                <a:lnTo>
                  <a:pt x="1" y="5"/>
                </a:lnTo>
                <a:lnTo>
                  <a:pt x="0" y="7"/>
                </a:lnTo>
                <a:lnTo>
                  <a:pt x="0" y="9"/>
                </a:lnTo>
                <a:lnTo>
                  <a:pt x="0" y="10"/>
                </a:lnTo>
                <a:lnTo>
                  <a:pt x="1" y="12"/>
                </a:lnTo>
                <a:lnTo>
                  <a:pt x="1" y="13"/>
                </a:lnTo>
                <a:lnTo>
                  <a:pt x="2" y="15"/>
                </a:lnTo>
                <a:lnTo>
                  <a:pt x="4" y="16"/>
                </a:lnTo>
                <a:lnTo>
                  <a:pt x="5" y="17"/>
                </a:lnTo>
                <a:lnTo>
                  <a:pt x="7" y="17"/>
                </a:lnTo>
                <a:lnTo>
                  <a:pt x="8" y="17"/>
                </a:lnTo>
                <a:lnTo>
                  <a:pt x="10" y="17"/>
                </a:lnTo>
                <a:lnTo>
                  <a:pt x="12" y="17"/>
                </a:lnTo>
                <a:lnTo>
                  <a:pt x="13" y="16"/>
                </a:lnTo>
                <a:lnTo>
                  <a:pt x="14" y="15"/>
                </a:lnTo>
                <a:lnTo>
                  <a:pt x="15" y="13"/>
                </a:lnTo>
                <a:lnTo>
                  <a:pt x="16" y="12"/>
                </a:lnTo>
                <a:lnTo>
                  <a:pt x="17" y="10"/>
                </a:lnTo>
                <a:lnTo>
                  <a:pt x="17" y="9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9" name="Connector 108"/>
          <p:cNvCxnSpPr/>
          <p:nvPr/>
        </p:nvCxnSpPr>
        <p:spPr>
          <a:xfrm>
            <a:off x="3359863" y="1482621"/>
            <a:ext cx="310999" cy="0"/>
          </a:xfrm>
          <a:prstGeom prst="line">
            <a:avLst/>
          </a:prstGeom>
          <a:ln w="781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3788534" y="1600293"/>
            <a:ext cx="0" cy="526124"/>
          </a:xfrm>
          <a:prstGeom prst="line">
            <a:avLst/>
          </a:prstGeom>
          <a:ln w="781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3906205" y="1482621"/>
            <a:ext cx="141586" cy="0"/>
          </a:xfrm>
          <a:prstGeom prst="line">
            <a:avLst/>
          </a:prstGeom>
          <a:ln w="781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Freeform 111"/>
          <p:cNvSpPr/>
          <p:nvPr/>
        </p:nvSpPr>
        <p:spPr>
          <a:xfrm>
            <a:off x="4038600" y="14605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3" name="Connector 112"/>
          <p:cNvCxnSpPr/>
          <p:nvPr/>
        </p:nvCxnSpPr>
        <p:spPr>
          <a:xfrm>
            <a:off x="4468994" y="1482621"/>
            <a:ext cx="687929" cy="0"/>
          </a:xfrm>
          <a:prstGeom prst="line">
            <a:avLst/>
          </a:prstGeom>
          <a:ln w="781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Freeform 113"/>
          <p:cNvSpPr/>
          <p:nvPr/>
        </p:nvSpPr>
        <p:spPr>
          <a:xfrm>
            <a:off x="5143500" y="14605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5" name="Connector 114"/>
          <p:cNvCxnSpPr/>
          <p:nvPr/>
        </p:nvCxnSpPr>
        <p:spPr>
          <a:xfrm flipV="1">
            <a:off x="4753651" y="864225"/>
            <a:ext cx="0" cy="618396"/>
          </a:xfrm>
          <a:prstGeom prst="line">
            <a:avLst/>
          </a:prstGeom>
          <a:ln w="781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Freeform 115"/>
          <p:cNvSpPr/>
          <p:nvPr/>
        </p:nvSpPr>
        <p:spPr>
          <a:xfrm>
            <a:off x="4737100" y="838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-2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880002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9" name="Picture 1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120" name="Picture 1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121" name="TextBox 120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Recurrent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Neural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Networks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(RNN)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Architecture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66188" y="2165321"/>
            <a:ext cx="5319207" cy="174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8" b="0">
                <a:solidFill>
                  <a:srgbClr val="000000"/>
                </a:solidFill>
                <a:latin typeface="Cambria Math"/>
              </a:rPr>
              <a:t>x</a:t>
            </a:r>
            <a:r>
              <a:rPr sz="649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70770" y="626997"/>
            <a:ext cx="5314625" cy="174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8" b="0">
                <a:solidFill>
                  <a:srgbClr val="000000"/>
                </a:solidFill>
                <a:latin typeface="Cambria Math"/>
              </a:rPr>
              <a:t>y</a:t>
            </a:r>
            <a:r>
              <a:rPr sz="649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74236" y="2165321"/>
            <a:ext cx="4911159" cy="174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8" b="0">
                <a:solidFill>
                  <a:srgbClr val="000000"/>
                </a:solidFill>
                <a:latin typeface="Cambria Math"/>
              </a:rPr>
              <a:t>x</a:t>
            </a:r>
            <a:r>
              <a:rPr sz="649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78818" y="626997"/>
            <a:ext cx="4906577" cy="174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8" b="0">
                <a:solidFill>
                  <a:srgbClr val="000000"/>
                </a:solidFill>
                <a:latin typeface="Cambria Math"/>
              </a:rPr>
              <a:t>y</a:t>
            </a:r>
            <a:r>
              <a:rPr sz="649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282294" y="2165321"/>
            <a:ext cx="4503101" cy="174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8" b="0">
                <a:solidFill>
                  <a:srgbClr val="000000"/>
                </a:solidFill>
                <a:latin typeface="Cambria Math"/>
              </a:rPr>
              <a:t>x</a:t>
            </a:r>
            <a:r>
              <a:rPr sz="649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286876" y="626997"/>
            <a:ext cx="4498519" cy="174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8" b="0">
                <a:solidFill>
                  <a:srgbClr val="000000"/>
                </a:solidFill>
                <a:latin typeface="Cambria Math"/>
              </a:rPr>
              <a:t>y</a:t>
            </a:r>
            <a:r>
              <a:rPr sz="649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690353" y="2165321"/>
            <a:ext cx="4095042" cy="174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8" b="0">
                <a:solidFill>
                  <a:srgbClr val="000000"/>
                </a:solidFill>
                <a:latin typeface="Cambria Math"/>
              </a:rPr>
              <a:t>x</a:t>
            </a:r>
            <a:r>
              <a:rPr sz="649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694934" y="626997"/>
            <a:ext cx="4090461" cy="174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8" b="0">
                <a:solidFill>
                  <a:srgbClr val="000000"/>
                </a:solidFill>
                <a:latin typeface="Cambria Math"/>
              </a:rPr>
              <a:t>y</a:t>
            </a:r>
            <a:r>
              <a:rPr sz="649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098411" y="2165321"/>
            <a:ext cx="3686984" cy="174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8" b="0">
                <a:solidFill>
                  <a:srgbClr val="000000"/>
                </a:solidFill>
                <a:latin typeface="Cambria Math"/>
              </a:rPr>
              <a:t>x</a:t>
            </a:r>
            <a:r>
              <a:rPr sz="649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102993" y="626997"/>
            <a:ext cx="3682402" cy="174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8" b="0">
                <a:solidFill>
                  <a:srgbClr val="000000"/>
                </a:solidFill>
                <a:latin typeface="Cambria Math"/>
              </a:rPr>
              <a:t>y</a:t>
            </a:r>
            <a:r>
              <a:rPr sz="649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487957" y="1406456"/>
            <a:ext cx="3297439" cy="1748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8" b="0">
                <a:solidFill>
                  <a:srgbClr val="000000"/>
                </a:solidFill>
                <a:latin typeface="Cambria Math"/>
              </a:rPr>
              <a:t>· · ·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164121" y="1436163"/>
            <a:ext cx="1621274" cy="1658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2" b="0">
                <a:solidFill>
                  <a:srgbClr val="000000"/>
                </a:solidFill>
                <a:latin typeface="Cambria Math"/>
              </a:rPr>
              <a:t>tanh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119656" y="1424073"/>
            <a:ext cx="2665739" cy="1658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2" b="0">
                <a:solidFill>
                  <a:srgbClr val="000000"/>
                </a:solidFill>
                <a:latin typeface="Cambria Math"/>
              </a:rPr>
              <a:t>h</a:t>
            </a:r>
            <a:r>
              <a:rPr sz="615" b="0">
                <a:solidFill>
                  <a:srgbClr val="000000"/>
                </a:solidFill>
                <a:latin typeface="Cambria Math"/>
              </a:rPr>
              <a:t>t</a:t>
            </a:r>
            <a:r>
              <a:rPr sz="615" b="0">
                <a:solidFill>
                  <a:srgbClr val="000000"/>
                </a:solidFill>
                <a:latin typeface="Cambria Math"/>
              </a:rPr>
              <a:t>−</a:t>
            </a:r>
            <a:r>
              <a:rPr sz="615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740530" y="2126472"/>
            <a:ext cx="2044865" cy="1658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2" b="0">
                <a:solidFill>
                  <a:srgbClr val="000000"/>
                </a:solidFill>
                <a:latin typeface="Cambria Math"/>
              </a:rPr>
              <a:t>x</a:t>
            </a:r>
            <a:r>
              <a:rPr sz="615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219921" y="1428142"/>
            <a:ext cx="565474" cy="1658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2" b="0">
                <a:solidFill>
                  <a:srgbClr val="000000"/>
                </a:solidFill>
                <a:latin typeface="Cambria Math"/>
              </a:rPr>
              <a:t>h</a:t>
            </a:r>
            <a:r>
              <a:rPr sz="615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705391" y="701582"/>
            <a:ext cx="1080004" cy="1658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2" b="0">
                <a:solidFill>
                  <a:srgbClr val="000000"/>
                </a:solidFill>
                <a:latin typeface="Cambria Math"/>
              </a:rPr>
              <a:t>h</a:t>
            </a:r>
            <a:r>
              <a:rPr sz="615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746943" y="1411754"/>
            <a:ext cx="2038452" cy="16580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2" b="0">
                <a:solidFill>
                  <a:srgbClr val="FFFFFF"/>
                </a:solidFill>
                <a:latin typeface="MSAM10"/>
              </a:rPr>
              <a:t>⊞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59991" y="2399758"/>
            <a:ext cx="542540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hidden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updated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based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these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two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inputs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973590" y="2711536"/>
            <a:ext cx="381180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h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 tanh(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W</a:t>
            </a:r>
            <a:r>
              <a:rPr sz="797" b="0">
                <a:solidFill>
                  <a:srgbClr val="000000"/>
                </a:solidFill>
                <a:latin typeface="Cambria Math"/>
              </a:rPr>
              <a:t>h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·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+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U</a:t>
            </a:r>
            <a:r>
              <a:rPr sz="797" b="0">
                <a:solidFill>
                  <a:srgbClr val="000000"/>
                </a:solidFill>
                <a:latin typeface="Cambria Math"/>
              </a:rPr>
              <a:t>h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·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h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797" b="0">
                <a:solidFill>
                  <a:srgbClr val="000000"/>
                </a:solidFill>
                <a:latin typeface="Cambria Math"/>
              </a:rPr>
              <a:t>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898159" y="3150917"/>
            <a:ext cx="88723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5662445" y="3150693"/>
            <a:ext cx="12295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-2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2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Recurrent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Neural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Networks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(RNN)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Training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1249988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Backpropagation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Through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Time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(BPTT)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train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RNNs.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Similar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error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2" y="1422073"/>
            <a:ext cx="542540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backpropagation,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where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errors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propagated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backwards.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992" y="1680176"/>
            <a:ext cx="542540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unrolled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across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time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steps,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gradients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calculated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across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9992" y="1852261"/>
            <a:ext cx="542540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sequence.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98159" y="3150916"/>
            <a:ext cx="88723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6470" y="3150692"/>
            <a:ext cx="11892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Recurrent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Neural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Networks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(RNN)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Strengths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and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Limitations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1353649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Strength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3" y="1525312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RNNs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have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short-term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memory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ideal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handling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sequences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where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993" y="1697384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relationship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between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current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previous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steps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crucial.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98161" y="3150917"/>
            <a:ext cx="88723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3589" y="3150693"/>
            <a:ext cx="12180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1827635" y="2049453"/>
            <a:ext cx="138187" cy="0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787869" y="2089219"/>
            <a:ext cx="0" cy="247046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827635" y="2376031"/>
            <a:ext cx="138187" cy="0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2005588" y="2089219"/>
            <a:ext cx="0" cy="247046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896729" y="2761028"/>
            <a:ext cx="0" cy="121548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Freeform 40"/>
          <p:cNvSpPr/>
          <p:nvPr/>
        </p:nvSpPr>
        <p:spPr>
          <a:xfrm>
            <a:off x="1879600" y="27432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0"/>
                </a:moveTo>
                <a:lnTo>
                  <a:pt x="0" y="2"/>
                </a:lnTo>
                <a:lnTo>
                  <a:pt x="1" y="1"/>
                </a:lnTo>
                <a:lnTo>
                  <a:pt x="3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V="1">
            <a:off x="1896729" y="2397901"/>
            <a:ext cx="0" cy="121549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Freeform 42"/>
          <p:cNvSpPr/>
          <p:nvPr/>
        </p:nvSpPr>
        <p:spPr>
          <a:xfrm>
            <a:off x="1879600" y="23749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 flipV="1">
            <a:off x="1896729" y="1925916"/>
            <a:ext cx="0" cy="121549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Freeform 44"/>
          <p:cNvSpPr/>
          <p:nvPr/>
        </p:nvSpPr>
        <p:spPr>
          <a:xfrm>
            <a:off x="1879600" y="1905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 flipV="1">
            <a:off x="1896729" y="1562790"/>
            <a:ext cx="0" cy="121548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Freeform 46"/>
          <p:cNvSpPr/>
          <p:nvPr/>
        </p:nvSpPr>
        <p:spPr>
          <a:xfrm>
            <a:off x="1879600" y="1536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2007576" y="2212742"/>
            <a:ext cx="152133" cy="0"/>
          </a:xfrm>
          <a:prstGeom prst="line">
            <a:avLst/>
          </a:prstGeom>
          <a:ln w="3976">
            <a:solidFill>
              <a:srgbClr val="F794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Freeform 48"/>
          <p:cNvSpPr/>
          <p:nvPr/>
        </p:nvSpPr>
        <p:spPr>
          <a:xfrm>
            <a:off x="2146300" y="21971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2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 flipH="1">
            <a:off x="2221346" y="2049453"/>
            <a:ext cx="138186" cy="0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181580" y="2089219"/>
            <a:ext cx="0" cy="247046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2221346" y="2376031"/>
            <a:ext cx="138186" cy="0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2399298" y="2089219"/>
            <a:ext cx="0" cy="247046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2290439" y="2761028"/>
            <a:ext cx="0" cy="121548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Freeform 54"/>
          <p:cNvSpPr/>
          <p:nvPr/>
        </p:nvSpPr>
        <p:spPr>
          <a:xfrm>
            <a:off x="2273300" y="27432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0"/>
                </a:moveTo>
                <a:lnTo>
                  <a:pt x="0" y="2"/>
                </a:lnTo>
                <a:lnTo>
                  <a:pt x="1" y="1"/>
                </a:lnTo>
                <a:lnTo>
                  <a:pt x="3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 flipV="1">
            <a:off x="2290439" y="2397901"/>
            <a:ext cx="0" cy="121549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Freeform 56"/>
          <p:cNvSpPr/>
          <p:nvPr/>
        </p:nvSpPr>
        <p:spPr>
          <a:xfrm>
            <a:off x="2273300" y="23749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 flipV="1">
            <a:off x="2290439" y="1925916"/>
            <a:ext cx="0" cy="121549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Freeform 58"/>
          <p:cNvSpPr/>
          <p:nvPr/>
        </p:nvSpPr>
        <p:spPr>
          <a:xfrm>
            <a:off x="2273300" y="1905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 flipV="1">
            <a:off x="2290439" y="1562790"/>
            <a:ext cx="0" cy="121548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Freeform 60"/>
          <p:cNvSpPr/>
          <p:nvPr/>
        </p:nvSpPr>
        <p:spPr>
          <a:xfrm>
            <a:off x="2273300" y="1536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>
            <a:off x="2401287" y="2212742"/>
            <a:ext cx="152132" cy="0"/>
          </a:xfrm>
          <a:prstGeom prst="line">
            <a:avLst/>
          </a:prstGeom>
          <a:ln w="3976">
            <a:solidFill>
              <a:srgbClr val="F794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Freeform 62"/>
          <p:cNvSpPr/>
          <p:nvPr/>
        </p:nvSpPr>
        <p:spPr>
          <a:xfrm>
            <a:off x="2540000" y="21971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2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 flipH="1">
            <a:off x="2615056" y="2049453"/>
            <a:ext cx="138187" cy="0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575290" y="2089219"/>
            <a:ext cx="0" cy="247046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2615056" y="2376031"/>
            <a:ext cx="138187" cy="0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2793008" y="2089219"/>
            <a:ext cx="0" cy="247046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2684149" y="2761028"/>
            <a:ext cx="0" cy="121548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Freeform 68"/>
          <p:cNvSpPr/>
          <p:nvPr/>
        </p:nvSpPr>
        <p:spPr>
          <a:xfrm>
            <a:off x="2667000" y="27432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0"/>
                </a:moveTo>
                <a:lnTo>
                  <a:pt x="0" y="2"/>
                </a:lnTo>
                <a:lnTo>
                  <a:pt x="1" y="1"/>
                </a:lnTo>
                <a:lnTo>
                  <a:pt x="3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 flipV="1">
            <a:off x="2684149" y="2397901"/>
            <a:ext cx="0" cy="121549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Freeform 70"/>
          <p:cNvSpPr/>
          <p:nvPr/>
        </p:nvSpPr>
        <p:spPr>
          <a:xfrm>
            <a:off x="2667000" y="23749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" name="Connector 71"/>
          <p:cNvCxnSpPr/>
          <p:nvPr/>
        </p:nvCxnSpPr>
        <p:spPr>
          <a:xfrm flipV="1">
            <a:off x="2684149" y="1925916"/>
            <a:ext cx="0" cy="121549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Freeform 72"/>
          <p:cNvSpPr/>
          <p:nvPr/>
        </p:nvSpPr>
        <p:spPr>
          <a:xfrm>
            <a:off x="2667000" y="1905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 flipV="1">
            <a:off x="2684149" y="1562790"/>
            <a:ext cx="0" cy="121548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Freeform 74"/>
          <p:cNvSpPr/>
          <p:nvPr/>
        </p:nvSpPr>
        <p:spPr>
          <a:xfrm>
            <a:off x="2667000" y="1536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>
            <a:off x="2794997" y="2212742"/>
            <a:ext cx="152132" cy="0"/>
          </a:xfrm>
          <a:prstGeom prst="line">
            <a:avLst/>
          </a:prstGeom>
          <a:ln w="3976">
            <a:solidFill>
              <a:srgbClr val="F794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Freeform 76"/>
          <p:cNvSpPr/>
          <p:nvPr/>
        </p:nvSpPr>
        <p:spPr>
          <a:xfrm>
            <a:off x="2933700" y="21971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2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 flipH="1">
            <a:off x="3008766" y="2049453"/>
            <a:ext cx="138187" cy="0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969000" y="2089219"/>
            <a:ext cx="0" cy="247046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3008766" y="2376031"/>
            <a:ext cx="138187" cy="0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3186719" y="2089219"/>
            <a:ext cx="0" cy="247046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3077859" y="2761028"/>
            <a:ext cx="0" cy="121548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Freeform 82"/>
          <p:cNvSpPr/>
          <p:nvPr/>
        </p:nvSpPr>
        <p:spPr>
          <a:xfrm>
            <a:off x="3060700" y="27432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0"/>
                </a:moveTo>
                <a:lnTo>
                  <a:pt x="0" y="2"/>
                </a:lnTo>
                <a:lnTo>
                  <a:pt x="1" y="1"/>
                </a:lnTo>
                <a:lnTo>
                  <a:pt x="3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" name="Connector 83"/>
          <p:cNvCxnSpPr/>
          <p:nvPr/>
        </p:nvCxnSpPr>
        <p:spPr>
          <a:xfrm flipV="1">
            <a:off x="3077859" y="2397901"/>
            <a:ext cx="0" cy="121549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Freeform 84"/>
          <p:cNvSpPr/>
          <p:nvPr/>
        </p:nvSpPr>
        <p:spPr>
          <a:xfrm>
            <a:off x="3060700" y="23749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V="1">
            <a:off x="3077859" y="1925916"/>
            <a:ext cx="0" cy="121549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Freeform 86"/>
          <p:cNvSpPr/>
          <p:nvPr/>
        </p:nvSpPr>
        <p:spPr>
          <a:xfrm>
            <a:off x="3060700" y="1905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" name="Connector 87"/>
          <p:cNvCxnSpPr/>
          <p:nvPr/>
        </p:nvCxnSpPr>
        <p:spPr>
          <a:xfrm flipV="1">
            <a:off x="3077859" y="1562790"/>
            <a:ext cx="0" cy="121548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Freeform 88"/>
          <p:cNvSpPr/>
          <p:nvPr/>
        </p:nvSpPr>
        <p:spPr>
          <a:xfrm>
            <a:off x="3060700" y="1536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" name="Connector 89"/>
          <p:cNvCxnSpPr/>
          <p:nvPr/>
        </p:nvCxnSpPr>
        <p:spPr>
          <a:xfrm>
            <a:off x="3188707" y="2212742"/>
            <a:ext cx="152133" cy="0"/>
          </a:xfrm>
          <a:prstGeom prst="line">
            <a:avLst/>
          </a:prstGeom>
          <a:ln w="3976">
            <a:solidFill>
              <a:srgbClr val="F794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Freeform 90"/>
          <p:cNvSpPr/>
          <p:nvPr/>
        </p:nvSpPr>
        <p:spPr>
          <a:xfrm>
            <a:off x="3327400" y="21971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2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" name="Connector 91"/>
          <p:cNvCxnSpPr/>
          <p:nvPr/>
        </p:nvCxnSpPr>
        <p:spPr>
          <a:xfrm flipH="1">
            <a:off x="3402476" y="2049453"/>
            <a:ext cx="138187" cy="0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3362711" y="2089219"/>
            <a:ext cx="0" cy="247046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3402476" y="2376031"/>
            <a:ext cx="138187" cy="0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3580429" y="2089219"/>
            <a:ext cx="0" cy="247046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3471570" y="2761028"/>
            <a:ext cx="0" cy="121548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Freeform 96"/>
          <p:cNvSpPr/>
          <p:nvPr/>
        </p:nvSpPr>
        <p:spPr>
          <a:xfrm>
            <a:off x="3454400" y="27432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1" y="0"/>
                </a:moveTo>
                <a:lnTo>
                  <a:pt x="0" y="2"/>
                </a:lnTo>
                <a:lnTo>
                  <a:pt x="1" y="1"/>
                </a:lnTo>
                <a:lnTo>
                  <a:pt x="3" y="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8" name="Connector 97"/>
          <p:cNvCxnSpPr/>
          <p:nvPr/>
        </p:nvCxnSpPr>
        <p:spPr>
          <a:xfrm flipV="1">
            <a:off x="3471570" y="2397901"/>
            <a:ext cx="0" cy="121549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Freeform 98"/>
          <p:cNvSpPr/>
          <p:nvPr/>
        </p:nvSpPr>
        <p:spPr>
          <a:xfrm>
            <a:off x="3454400" y="23749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" name="Connector 99"/>
          <p:cNvCxnSpPr/>
          <p:nvPr/>
        </p:nvCxnSpPr>
        <p:spPr>
          <a:xfrm flipV="1">
            <a:off x="3471570" y="1925916"/>
            <a:ext cx="0" cy="121549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Freeform 100"/>
          <p:cNvSpPr/>
          <p:nvPr/>
        </p:nvSpPr>
        <p:spPr>
          <a:xfrm>
            <a:off x="3454400" y="1905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2" name="Connector 101"/>
          <p:cNvCxnSpPr/>
          <p:nvPr/>
        </p:nvCxnSpPr>
        <p:spPr>
          <a:xfrm flipV="1">
            <a:off x="3471570" y="1562790"/>
            <a:ext cx="0" cy="121548"/>
          </a:xfrm>
          <a:prstGeom prst="line">
            <a:avLst/>
          </a:prstGeom>
          <a:ln w="3976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Freeform 102"/>
          <p:cNvSpPr/>
          <p:nvPr/>
        </p:nvSpPr>
        <p:spPr>
          <a:xfrm>
            <a:off x="3454400" y="1536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4" name="Connector 103"/>
          <p:cNvCxnSpPr/>
          <p:nvPr/>
        </p:nvCxnSpPr>
        <p:spPr>
          <a:xfrm>
            <a:off x="3582417" y="2212742"/>
            <a:ext cx="152133" cy="0"/>
          </a:xfrm>
          <a:prstGeom prst="line">
            <a:avLst/>
          </a:prstGeom>
          <a:ln w="3976">
            <a:solidFill>
              <a:srgbClr val="F794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Freeform 104"/>
          <p:cNvSpPr/>
          <p:nvPr/>
        </p:nvSpPr>
        <p:spPr>
          <a:xfrm>
            <a:off x="3721100" y="2197100"/>
            <a:ext cx="38100" cy="25400"/>
          </a:xfrm>
          <a:custGeom>
            <a:avLst/>
            <a:gdLst/>
            <a:ahLst/>
            <a:cxnLst/>
            <a:rect l="l" t="t" r="r" b="b"/>
            <a:pathLst>
              <a:path w="3" h="2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2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8" name="Picture 10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109" name="Picture 10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110" name="TextBox 10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Recurrent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Neural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Networks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(RNN)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Strengths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and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Limitations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59993" y="562934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Vanishing/Exploding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Gradient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Problem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59993" y="820640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During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backpropagation,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gradients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either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shrink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(vanish)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grow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large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59993" y="992712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(explode)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passed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back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through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many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time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steps.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limits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network’s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59993" y="1164784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ability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learn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long-term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dependencies.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842016" y="2882630"/>
            <a:ext cx="3943379" cy="16872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7" b="0">
                <a:solidFill>
                  <a:srgbClr val="000000"/>
                </a:solidFill>
                <a:latin typeface="Cambria Math"/>
              </a:rPr>
              <a:t>x</a:t>
            </a:r>
            <a:r>
              <a:rPr sz="62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846436" y="1398407"/>
            <a:ext cx="3938959" cy="16872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7" b="0">
                <a:solidFill>
                  <a:srgbClr val="000000"/>
                </a:solidFill>
                <a:latin typeface="Cambria Math"/>
              </a:rPr>
              <a:t>y</a:t>
            </a:r>
            <a:r>
              <a:rPr sz="626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235723" y="2882630"/>
            <a:ext cx="3549672" cy="16872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7" b="0">
                <a:solidFill>
                  <a:srgbClr val="000000"/>
                </a:solidFill>
                <a:latin typeface="Cambria Math"/>
              </a:rPr>
              <a:t>x</a:t>
            </a:r>
            <a:r>
              <a:rPr sz="626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240144" y="1398407"/>
            <a:ext cx="3545251" cy="16872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7" b="0">
                <a:solidFill>
                  <a:srgbClr val="000000"/>
                </a:solidFill>
                <a:latin typeface="Cambria Math"/>
              </a:rPr>
              <a:t>y</a:t>
            </a:r>
            <a:r>
              <a:rPr sz="626" b="0">
                <a:solidFill>
                  <a:srgbClr val="000000"/>
                </a:solidFill>
                <a:latin typeface="Cambria Math"/>
              </a:rPr>
              <a:t>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629421" y="2882630"/>
            <a:ext cx="3155974" cy="16872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7" b="0">
                <a:solidFill>
                  <a:srgbClr val="000000"/>
                </a:solidFill>
                <a:latin typeface="Cambria Math"/>
              </a:rPr>
              <a:t>x</a:t>
            </a:r>
            <a:r>
              <a:rPr sz="626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633851" y="1398407"/>
            <a:ext cx="3151544" cy="16872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7" b="0">
                <a:solidFill>
                  <a:srgbClr val="000000"/>
                </a:solidFill>
                <a:latin typeface="Cambria Math"/>
              </a:rPr>
              <a:t>y</a:t>
            </a:r>
            <a:r>
              <a:rPr sz="626" b="0">
                <a:solidFill>
                  <a:srgbClr val="000000"/>
                </a:solidFill>
                <a:latin typeface="Cambria Math"/>
              </a:rPr>
              <a:t>3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023128" y="2882630"/>
            <a:ext cx="2762267" cy="16872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7" b="0">
                <a:solidFill>
                  <a:srgbClr val="000000"/>
                </a:solidFill>
                <a:latin typeface="Cambria Math"/>
              </a:rPr>
              <a:t>x</a:t>
            </a:r>
            <a:r>
              <a:rPr sz="626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027548" y="1398407"/>
            <a:ext cx="2757847" cy="16872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7" b="0">
                <a:solidFill>
                  <a:srgbClr val="000000"/>
                </a:solidFill>
                <a:latin typeface="Cambria Math"/>
              </a:rPr>
              <a:t>y</a:t>
            </a:r>
            <a:r>
              <a:rPr sz="626" b="0">
                <a:solidFill>
                  <a:srgbClr val="000000"/>
                </a:solidFill>
                <a:latin typeface="Cambria Math"/>
              </a:rPr>
              <a:t>4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416835" y="2882630"/>
            <a:ext cx="2368560" cy="16872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7" b="0">
                <a:solidFill>
                  <a:srgbClr val="000000"/>
                </a:solidFill>
                <a:latin typeface="Cambria Math"/>
              </a:rPr>
              <a:t>x</a:t>
            </a:r>
            <a:r>
              <a:rPr sz="626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421256" y="1398407"/>
            <a:ext cx="2364139" cy="16872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7" b="0">
                <a:solidFill>
                  <a:srgbClr val="000000"/>
                </a:solidFill>
                <a:latin typeface="Cambria Math"/>
              </a:rPr>
              <a:t>y</a:t>
            </a:r>
            <a:r>
              <a:rPr sz="626" b="0">
                <a:solidFill>
                  <a:srgbClr val="000000"/>
                </a:solidFill>
                <a:latin typeface="Cambria Math"/>
              </a:rPr>
              <a:t>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792681" y="2150443"/>
            <a:ext cx="1992714" cy="16872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7" b="0">
                <a:solidFill>
                  <a:srgbClr val="000000"/>
                </a:solidFill>
                <a:latin typeface="Cambria Math"/>
              </a:rPr>
              <a:t>· · ·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898161" y="3150917"/>
            <a:ext cx="88723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662447" y="3150693"/>
            <a:ext cx="12294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Long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Short-Term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Memory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(LSTM)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1353240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Long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Short-Term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Memory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(LSTM)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specialized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type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RNN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designed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1525312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solve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vanishing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gradient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problem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capture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long-term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dependencies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more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3" y="1697384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effectively.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98161" y="3150917"/>
            <a:ext cx="88723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31700" y="3150693"/>
            <a:ext cx="15369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0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4" y="3146740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Long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Short-Term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Memory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(LSTM)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Architecture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907711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LSTM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memory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cell,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which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retain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information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long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periods.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3" y="1079796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also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gates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control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flow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information: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056" y="1294140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Forget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Gate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7094" y="1529665"/>
            <a:ext cx="5148301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Decides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what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information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from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cell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state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should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be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discarded.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0056" y="1724327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Input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Gate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7094" y="1959853"/>
            <a:ext cx="5148301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Decides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which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information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should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be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updated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in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cell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state.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0056" y="2154514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Output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Gate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7094" y="2390039"/>
            <a:ext cx="5148301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Decides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what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information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from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current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cell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should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be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passed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next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hidden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state.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98161" y="3150916"/>
            <a:ext cx="88723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54776" y="3150692"/>
            <a:ext cx="13061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647700" y="1028700"/>
            <a:ext cx="2311400" cy="1536700"/>
          </a:xfrm>
          <a:custGeom>
            <a:avLst/>
            <a:gdLst/>
            <a:ahLst/>
            <a:cxnLst/>
            <a:rect l="l" t="t" r="r" b="b"/>
            <a:pathLst>
              <a:path w="182" h="121">
                <a:moveTo>
                  <a:pt x="179" y="0"/>
                </a:moveTo>
                <a:lnTo>
                  <a:pt x="3" y="0"/>
                </a:ln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1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lnTo>
                  <a:pt x="0" y="3"/>
                </a:lnTo>
                <a:lnTo>
                  <a:pt x="0" y="118"/>
                </a:lnTo>
                <a:lnTo>
                  <a:pt x="0" y="119"/>
                </a:lnTo>
                <a:lnTo>
                  <a:pt x="1" y="119"/>
                </a:lnTo>
                <a:lnTo>
                  <a:pt x="1" y="120"/>
                </a:lnTo>
                <a:lnTo>
                  <a:pt x="1" y="120"/>
                </a:lnTo>
                <a:lnTo>
                  <a:pt x="2" y="121"/>
                </a:lnTo>
                <a:lnTo>
                  <a:pt x="2" y="121"/>
                </a:lnTo>
                <a:lnTo>
                  <a:pt x="3" y="121"/>
                </a:lnTo>
                <a:lnTo>
                  <a:pt x="3" y="121"/>
                </a:lnTo>
                <a:lnTo>
                  <a:pt x="179" y="121"/>
                </a:lnTo>
                <a:lnTo>
                  <a:pt x="180" y="121"/>
                </a:lnTo>
                <a:lnTo>
                  <a:pt x="180" y="121"/>
                </a:lnTo>
                <a:lnTo>
                  <a:pt x="181" y="121"/>
                </a:lnTo>
                <a:lnTo>
                  <a:pt x="181" y="120"/>
                </a:lnTo>
                <a:lnTo>
                  <a:pt x="182" y="120"/>
                </a:lnTo>
                <a:lnTo>
                  <a:pt x="182" y="119"/>
                </a:lnTo>
                <a:lnTo>
                  <a:pt x="182" y="119"/>
                </a:lnTo>
                <a:lnTo>
                  <a:pt x="182" y="118"/>
                </a:lnTo>
                <a:lnTo>
                  <a:pt x="182" y="3"/>
                </a:lnTo>
                <a:lnTo>
                  <a:pt x="182" y="2"/>
                </a:lnTo>
                <a:lnTo>
                  <a:pt x="182" y="2"/>
                </a:lnTo>
                <a:lnTo>
                  <a:pt x="182" y="1"/>
                </a:lnTo>
                <a:lnTo>
                  <a:pt x="181" y="1"/>
                </a:lnTo>
                <a:lnTo>
                  <a:pt x="181" y="0"/>
                </a:lnTo>
                <a:lnTo>
                  <a:pt x="180" y="0"/>
                </a:lnTo>
                <a:lnTo>
                  <a:pt x="180" y="0"/>
                </a:lnTo>
                <a:lnTo>
                  <a:pt x="179" y="0"/>
                </a:lnTo>
                <a:close/>
              </a:path>
            </a:pathLst>
          </a:custGeom>
          <a:solidFill>
            <a:srgbClr val="93D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1612900" y="1828800"/>
            <a:ext cx="381000" cy="241300"/>
          </a:xfrm>
          <a:custGeom>
            <a:avLst/>
            <a:gdLst/>
            <a:ahLst/>
            <a:cxnLst/>
            <a:rect l="l" t="t" r="r" b="b"/>
            <a:pathLst>
              <a:path w="30" h="19">
                <a:moveTo>
                  <a:pt x="27" y="0"/>
                </a:moveTo>
                <a:lnTo>
                  <a:pt x="3" y="0"/>
                </a:lnTo>
                <a:lnTo>
                  <a:pt x="3" y="0"/>
                </a:lnTo>
                <a:lnTo>
                  <a:pt x="2" y="0"/>
                </a:lnTo>
                <a:lnTo>
                  <a:pt x="1" y="1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lnTo>
                  <a:pt x="0" y="3"/>
                </a:lnTo>
                <a:lnTo>
                  <a:pt x="0" y="3"/>
                </a:lnTo>
                <a:lnTo>
                  <a:pt x="0" y="16"/>
                </a:lnTo>
                <a:lnTo>
                  <a:pt x="0" y="17"/>
                </a:lnTo>
                <a:lnTo>
                  <a:pt x="0" y="17"/>
                </a:lnTo>
                <a:lnTo>
                  <a:pt x="1" y="18"/>
                </a:lnTo>
                <a:lnTo>
                  <a:pt x="1" y="18"/>
                </a:lnTo>
                <a:lnTo>
                  <a:pt x="1" y="19"/>
                </a:lnTo>
                <a:lnTo>
                  <a:pt x="2" y="19"/>
                </a:lnTo>
                <a:lnTo>
                  <a:pt x="3" y="19"/>
                </a:lnTo>
                <a:lnTo>
                  <a:pt x="3" y="19"/>
                </a:lnTo>
                <a:lnTo>
                  <a:pt x="27" y="19"/>
                </a:lnTo>
                <a:lnTo>
                  <a:pt x="28" y="19"/>
                </a:lnTo>
                <a:lnTo>
                  <a:pt x="28" y="19"/>
                </a:lnTo>
                <a:lnTo>
                  <a:pt x="29" y="19"/>
                </a:lnTo>
                <a:lnTo>
                  <a:pt x="29" y="18"/>
                </a:lnTo>
                <a:lnTo>
                  <a:pt x="30" y="18"/>
                </a:lnTo>
                <a:lnTo>
                  <a:pt x="30" y="17"/>
                </a:lnTo>
                <a:lnTo>
                  <a:pt x="30" y="17"/>
                </a:lnTo>
                <a:lnTo>
                  <a:pt x="30" y="16"/>
                </a:lnTo>
                <a:lnTo>
                  <a:pt x="30" y="3"/>
                </a:lnTo>
                <a:lnTo>
                  <a:pt x="30" y="3"/>
                </a:lnTo>
                <a:lnTo>
                  <a:pt x="30" y="2"/>
                </a:lnTo>
                <a:lnTo>
                  <a:pt x="30" y="2"/>
                </a:lnTo>
                <a:lnTo>
                  <a:pt x="29" y="1"/>
                </a:lnTo>
                <a:lnTo>
                  <a:pt x="29" y="1"/>
                </a:lnTo>
                <a:lnTo>
                  <a:pt x="28" y="0"/>
                </a:lnTo>
                <a:lnTo>
                  <a:pt x="28" y="0"/>
                </a:lnTo>
                <a:lnTo>
                  <a:pt x="27" y="0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1270000" y="1841500"/>
            <a:ext cx="241300" cy="215900"/>
          </a:xfrm>
          <a:custGeom>
            <a:avLst/>
            <a:gdLst/>
            <a:ahLst/>
            <a:cxnLst/>
            <a:rect l="l" t="t" r="r" b="b"/>
            <a:pathLst>
              <a:path w="19" h="17">
                <a:moveTo>
                  <a:pt x="15" y="0"/>
                </a:moveTo>
                <a:lnTo>
                  <a:pt x="4" y="0"/>
                </a:lnTo>
                <a:lnTo>
                  <a:pt x="3" y="0"/>
                </a:lnTo>
                <a:lnTo>
                  <a:pt x="2" y="1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1" y="2"/>
                </a:lnTo>
                <a:lnTo>
                  <a:pt x="0" y="3"/>
                </a:lnTo>
                <a:lnTo>
                  <a:pt x="0" y="3"/>
                </a:lnTo>
                <a:lnTo>
                  <a:pt x="0" y="14"/>
                </a:lnTo>
                <a:lnTo>
                  <a:pt x="0" y="15"/>
                </a:lnTo>
                <a:lnTo>
                  <a:pt x="1" y="15"/>
                </a:lnTo>
                <a:lnTo>
                  <a:pt x="1" y="16"/>
                </a:lnTo>
                <a:lnTo>
                  <a:pt x="1" y="16"/>
                </a:lnTo>
                <a:lnTo>
                  <a:pt x="2" y="17"/>
                </a:lnTo>
                <a:lnTo>
                  <a:pt x="2" y="17"/>
                </a:lnTo>
                <a:lnTo>
                  <a:pt x="3" y="17"/>
                </a:lnTo>
                <a:lnTo>
                  <a:pt x="4" y="17"/>
                </a:lnTo>
                <a:lnTo>
                  <a:pt x="15" y="17"/>
                </a:lnTo>
                <a:lnTo>
                  <a:pt x="16" y="17"/>
                </a:lnTo>
                <a:lnTo>
                  <a:pt x="17" y="17"/>
                </a:lnTo>
                <a:lnTo>
                  <a:pt x="17" y="17"/>
                </a:lnTo>
                <a:lnTo>
                  <a:pt x="18" y="16"/>
                </a:lnTo>
                <a:lnTo>
                  <a:pt x="18" y="16"/>
                </a:lnTo>
                <a:lnTo>
                  <a:pt x="18" y="15"/>
                </a:lnTo>
                <a:lnTo>
                  <a:pt x="19" y="15"/>
                </a:lnTo>
                <a:lnTo>
                  <a:pt x="19" y="14"/>
                </a:lnTo>
                <a:lnTo>
                  <a:pt x="19" y="3"/>
                </a:lnTo>
                <a:lnTo>
                  <a:pt x="19" y="3"/>
                </a:lnTo>
                <a:lnTo>
                  <a:pt x="18" y="2"/>
                </a:lnTo>
                <a:lnTo>
                  <a:pt x="18" y="2"/>
                </a:lnTo>
                <a:lnTo>
                  <a:pt x="18" y="1"/>
                </a:lnTo>
                <a:lnTo>
                  <a:pt x="17" y="1"/>
                </a:lnTo>
                <a:lnTo>
                  <a:pt x="17" y="1"/>
                </a:lnTo>
                <a:lnTo>
                  <a:pt x="16" y="0"/>
                </a:lnTo>
                <a:lnTo>
                  <a:pt x="15" y="0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939800" y="1841500"/>
            <a:ext cx="228600" cy="215900"/>
          </a:xfrm>
          <a:custGeom>
            <a:avLst/>
            <a:gdLst/>
            <a:ahLst/>
            <a:cxnLst/>
            <a:rect l="l" t="t" r="r" b="b"/>
            <a:pathLst>
              <a:path w="18" h="17">
                <a:moveTo>
                  <a:pt x="15" y="0"/>
                </a:moveTo>
                <a:lnTo>
                  <a:pt x="3" y="0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lnTo>
                  <a:pt x="1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3"/>
                </a:lnTo>
                <a:lnTo>
                  <a:pt x="0" y="14"/>
                </a:lnTo>
                <a:lnTo>
                  <a:pt x="0" y="15"/>
                </a:lnTo>
                <a:lnTo>
                  <a:pt x="0" y="15"/>
                </a:lnTo>
                <a:lnTo>
                  <a:pt x="0" y="16"/>
                </a:lnTo>
                <a:lnTo>
                  <a:pt x="1" y="16"/>
                </a:lnTo>
                <a:lnTo>
                  <a:pt x="1" y="17"/>
                </a:lnTo>
                <a:lnTo>
                  <a:pt x="2" y="17"/>
                </a:lnTo>
                <a:lnTo>
                  <a:pt x="2" y="17"/>
                </a:lnTo>
                <a:lnTo>
                  <a:pt x="3" y="17"/>
                </a:lnTo>
                <a:lnTo>
                  <a:pt x="15" y="17"/>
                </a:lnTo>
                <a:lnTo>
                  <a:pt x="15" y="17"/>
                </a:lnTo>
                <a:lnTo>
                  <a:pt x="16" y="17"/>
                </a:lnTo>
                <a:lnTo>
                  <a:pt x="16" y="17"/>
                </a:lnTo>
                <a:lnTo>
                  <a:pt x="17" y="16"/>
                </a:lnTo>
                <a:lnTo>
                  <a:pt x="17" y="16"/>
                </a:lnTo>
                <a:lnTo>
                  <a:pt x="18" y="15"/>
                </a:lnTo>
                <a:lnTo>
                  <a:pt x="18" y="15"/>
                </a:lnTo>
                <a:lnTo>
                  <a:pt x="18" y="14"/>
                </a:lnTo>
                <a:lnTo>
                  <a:pt x="18" y="3"/>
                </a:lnTo>
                <a:lnTo>
                  <a:pt x="18" y="3"/>
                </a:lnTo>
                <a:lnTo>
                  <a:pt x="18" y="2"/>
                </a:lnTo>
                <a:lnTo>
                  <a:pt x="17" y="2"/>
                </a:lnTo>
                <a:lnTo>
                  <a:pt x="17" y="1"/>
                </a:lnTo>
                <a:lnTo>
                  <a:pt x="16" y="1"/>
                </a:lnTo>
                <a:lnTo>
                  <a:pt x="16" y="1"/>
                </a:lnTo>
                <a:lnTo>
                  <a:pt x="15" y="0"/>
                </a:lnTo>
                <a:lnTo>
                  <a:pt x="15" y="0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2108200" y="1841500"/>
            <a:ext cx="228600" cy="215900"/>
          </a:xfrm>
          <a:custGeom>
            <a:avLst/>
            <a:gdLst/>
            <a:ahLst/>
            <a:cxnLst/>
            <a:rect l="l" t="t" r="r" b="b"/>
            <a:pathLst>
              <a:path w="18" h="17">
                <a:moveTo>
                  <a:pt x="15" y="0"/>
                </a:moveTo>
                <a:lnTo>
                  <a:pt x="3" y="0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lnTo>
                  <a:pt x="1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3"/>
                </a:lnTo>
                <a:lnTo>
                  <a:pt x="0" y="14"/>
                </a:lnTo>
                <a:lnTo>
                  <a:pt x="0" y="15"/>
                </a:lnTo>
                <a:lnTo>
                  <a:pt x="0" y="15"/>
                </a:lnTo>
                <a:lnTo>
                  <a:pt x="0" y="16"/>
                </a:lnTo>
                <a:lnTo>
                  <a:pt x="1" y="16"/>
                </a:lnTo>
                <a:lnTo>
                  <a:pt x="1" y="17"/>
                </a:lnTo>
                <a:lnTo>
                  <a:pt x="2" y="17"/>
                </a:lnTo>
                <a:lnTo>
                  <a:pt x="2" y="17"/>
                </a:lnTo>
                <a:lnTo>
                  <a:pt x="3" y="17"/>
                </a:lnTo>
                <a:lnTo>
                  <a:pt x="15" y="17"/>
                </a:lnTo>
                <a:lnTo>
                  <a:pt x="16" y="17"/>
                </a:lnTo>
                <a:lnTo>
                  <a:pt x="16" y="17"/>
                </a:lnTo>
                <a:lnTo>
                  <a:pt x="17" y="17"/>
                </a:lnTo>
                <a:lnTo>
                  <a:pt x="17" y="16"/>
                </a:lnTo>
                <a:lnTo>
                  <a:pt x="18" y="16"/>
                </a:lnTo>
                <a:lnTo>
                  <a:pt x="18" y="15"/>
                </a:lnTo>
                <a:lnTo>
                  <a:pt x="18" y="15"/>
                </a:lnTo>
                <a:lnTo>
                  <a:pt x="18" y="14"/>
                </a:lnTo>
                <a:lnTo>
                  <a:pt x="18" y="3"/>
                </a:lnTo>
                <a:lnTo>
                  <a:pt x="18" y="3"/>
                </a:lnTo>
                <a:lnTo>
                  <a:pt x="18" y="2"/>
                </a:lnTo>
                <a:lnTo>
                  <a:pt x="18" y="2"/>
                </a:lnTo>
                <a:lnTo>
                  <a:pt x="17" y="1"/>
                </a:lnTo>
                <a:lnTo>
                  <a:pt x="17" y="1"/>
                </a:lnTo>
                <a:lnTo>
                  <a:pt x="16" y="1"/>
                </a:lnTo>
                <a:lnTo>
                  <a:pt x="16" y="0"/>
                </a:lnTo>
                <a:lnTo>
                  <a:pt x="15" y="0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2413000" y="16383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17" h="17">
                <a:moveTo>
                  <a:pt x="17" y="9"/>
                </a:moveTo>
                <a:lnTo>
                  <a:pt x="17" y="7"/>
                </a:lnTo>
                <a:lnTo>
                  <a:pt x="17" y="5"/>
                </a:lnTo>
                <a:lnTo>
                  <a:pt x="16" y="4"/>
                </a:lnTo>
                <a:lnTo>
                  <a:pt x="15" y="3"/>
                </a:lnTo>
                <a:lnTo>
                  <a:pt x="13" y="2"/>
                </a:lnTo>
                <a:lnTo>
                  <a:pt x="12" y="1"/>
                </a:lnTo>
                <a:lnTo>
                  <a:pt x="10" y="0"/>
                </a:lnTo>
                <a:lnTo>
                  <a:pt x="9" y="0"/>
                </a:lnTo>
                <a:lnTo>
                  <a:pt x="7" y="0"/>
                </a:lnTo>
                <a:lnTo>
                  <a:pt x="5" y="1"/>
                </a:lnTo>
                <a:lnTo>
                  <a:pt x="4" y="2"/>
                </a:lnTo>
                <a:lnTo>
                  <a:pt x="2" y="3"/>
                </a:lnTo>
                <a:lnTo>
                  <a:pt x="1" y="4"/>
                </a:lnTo>
                <a:lnTo>
                  <a:pt x="1" y="5"/>
                </a:lnTo>
                <a:lnTo>
                  <a:pt x="0" y="7"/>
                </a:lnTo>
                <a:lnTo>
                  <a:pt x="0" y="9"/>
                </a:lnTo>
                <a:lnTo>
                  <a:pt x="0" y="10"/>
                </a:lnTo>
                <a:lnTo>
                  <a:pt x="1" y="12"/>
                </a:lnTo>
                <a:lnTo>
                  <a:pt x="1" y="14"/>
                </a:lnTo>
                <a:lnTo>
                  <a:pt x="2" y="15"/>
                </a:lnTo>
                <a:lnTo>
                  <a:pt x="4" y="16"/>
                </a:lnTo>
                <a:lnTo>
                  <a:pt x="5" y="17"/>
                </a:lnTo>
                <a:lnTo>
                  <a:pt x="7" y="17"/>
                </a:lnTo>
                <a:lnTo>
                  <a:pt x="9" y="17"/>
                </a:lnTo>
                <a:lnTo>
                  <a:pt x="10" y="17"/>
                </a:lnTo>
                <a:lnTo>
                  <a:pt x="12" y="17"/>
                </a:lnTo>
                <a:lnTo>
                  <a:pt x="13" y="16"/>
                </a:lnTo>
                <a:lnTo>
                  <a:pt x="15" y="15"/>
                </a:lnTo>
                <a:lnTo>
                  <a:pt x="16" y="14"/>
                </a:lnTo>
                <a:lnTo>
                  <a:pt x="17" y="12"/>
                </a:lnTo>
                <a:lnTo>
                  <a:pt x="17" y="10"/>
                </a:lnTo>
                <a:lnTo>
                  <a:pt x="17" y="9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2324100" y="1295400"/>
            <a:ext cx="393700" cy="241300"/>
          </a:xfrm>
          <a:custGeom>
            <a:avLst/>
            <a:gdLst/>
            <a:ahLst/>
            <a:cxnLst/>
            <a:rect l="l" t="t" r="r" b="b"/>
            <a:pathLst>
              <a:path w="31" h="19">
                <a:moveTo>
                  <a:pt x="28" y="0"/>
                </a:move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0"/>
                </a:lnTo>
                <a:lnTo>
                  <a:pt x="1" y="1"/>
                </a:lnTo>
                <a:lnTo>
                  <a:pt x="1" y="1"/>
                </a:lnTo>
                <a:lnTo>
                  <a:pt x="0" y="2"/>
                </a:lnTo>
                <a:lnTo>
                  <a:pt x="0" y="3"/>
                </a:lnTo>
                <a:lnTo>
                  <a:pt x="0" y="15"/>
                </a:lnTo>
                <a:lnTo>
                  <a:pt x="0" y="16"/>
                </a:lnTo>
                <a:lnTo>
                  <a:pt x="1" y="17"/>
                </a:lnTo>
                <a:lnTo>
                  <a:pt x="1" y="17"/>
                </a:lnTo>
                <a:lnTo>
                  <a:pt x="1" y="18"/>
                </a:lnTo>
                <a:lnTo>
                  <a:pt x="2" y="18"/>
                </a:lnTo>
                <a:lnTo>
                  <a:pt x="2" y="18"/>
                </a:lnTo>
                <a:lnTo>
                  <a:pt x="3" y="18"/>
                </a:lnTo>
                <a:lnTo>
                  <a:pt x="4" y="19"/>
                </a:lnTo>
                <a:lnTo>
                  <a:pt x="28" y="19"/>
                </a:lnTo>
                <a:lnTo>
                  <a:pt x="28" y="18"/>
                </a:lnTo>
                <a:lnTo>
                  <a:pt x="29" y="18"/>
                </a:lnTo>
                <a:lnTo>
                  <a:pt x="29" y="18"/>
                </a:lnTo>
                <a:lnTo>
                  <a:pt x="30" y="18"/>
                </a:lnTo>
                <a:lnTo>
                  <a:pt x="30" y="17"/>
                </a:lnTo>
                <a:lnTo>
                  <a:pt x="30" y="17"/>
                </a:lnTo>
                <a:lnTo>
                  <a:pt x="31" y="16"/>
                </a:lnTo>
                <a:lnTo>
                  <a:pt x="31" y="15"/>
                </a:lnTo>
                <a:lnTo>
                  <a:pt x="31" y="3"/>
                </a:lnTo>
                <a:lnTo>
                  <a:pt x="31" y="2"/>
                </a:lnTo>
                <a:lnTo>
                  <a:pt x="30" y="1"/>
                </a:lnTo>
                <a:lnTo>
                  <a:pt x="30" y="1"/>
                </a:lnTo>
                <a:lnTo>
                  <a:pt x="30" y="0"/>
                </a:lnTo>
                <a:lnTo>
                  <a:pt x="29" y="0"/>
                </a:lnTo>
                <a:lnTo>
                  <a:pt x="29" y="0"/>
                </a:lnTo>
                <a:lnTo>
                  <a:pt x="28" y="0"/>
                </a:lnTo>
                <a:lnTo>
                  <a:pt x="28" y="0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1701800" y="1498600"/>
            <a:ext cx="215900" cy="228600"/>
          </a:xfrm>
          <a:custGeom>
            <a:avLst/>
            <a:gdLst/>
            <a:ahLst/>
            <a:cxnLst/>
            <a:rect l="l" t="t" r="r" b="b"/>
            <a:pathLst>
              <a:path w="17" h="18">
                <a:moveTo>
                  <a:pt x="17" y="9"/>
                </a:moveTo>
                <a:lnTo>
                  <a:pt x="17" y="7"/>
                </a:lnTo>
                <a:lnTo>
                  <a:pt x="16" y="6"/>
                </a:lnTo>
                <a:lnTo>
                  <a:pt x="15" y="4"/>
                </a:lnTo>
                <a:lnTo>
                  <a:pt x="14" y="3"/>
                </a:lnTo>
                <a:lnTo>
                  <a:pt x="13" y="2"/>
                </a:lnTo>
                <a:lnTo>
                  <a:pt x="12" y="1"/>
                </a:lnTo>
                <a:lnTo>
                  <a:pt x="10" y="1"/>
                </a:lnTo>
                <a:lnTo>
                  <a:pt x="8" y="0"/>
                </a:lnTo>
                <a:lnTo>
                  <a:pt x="7" y="1"/>
                </a:lnTo>
                <a:lnTo>
                  <a:pt x="5" y="1"/>
                </a:lnTo>
                <a:lnTo>
                  <a:pt x="3" y="2"/>
                </a:lnTo>
                <a:lnTo>
                  <a:pt x="2" y="3"/>
                </a:lnTo>
                <a:lnTo>
                  <a:pt x="1" y="4"/>
                </a:lnTo>
                <a:lnTo>
                  <a:pt x="0" y="6"/>
                </a:lnTo>
                <a:lnTo>
                  <a:pt x="0" y="7"/>
                </a:lnTo>
                <a:lnTo>
                  <a:pt x="0" y="9"/>
                </a:lnTo>
                <a:lnTo>
                  <a:pt x="0" y="11"/>
                </a:lnTo>
                <a:lnTo>
                  <a:pt x="0" y="12"/>
                </a:lnTo>
                <a:lnTo>
                  <a:pt x="1" y="14"/>
                </a:lnTo>
                <a:lnTo>
                  <a:pt x="2" y="15"/>
                </a:lnTo>
                <a:lnTo>
                  <a:pt x="3" y="16"/>
                </a:lnTo>
                <a:lnTo>
                  <a:pt x="5" y="17"/>
                </a:lnTo>
                <a:lnTo>
                  <a:pt x="7" y="18"/>
                </a:lnTo>
                <a:lnTo>
                  <a:pt x="8" y="18"/>
                </a:lnTo>
                <a:lnTo>
                  <a:pt x="10" y="18"/>
                </a:lnTo>
                <a:lnTo>
                  <a:pt x="12" y="17"/>
                </a:lnTo>
                <a:lnTo>
                  <a:pt x="13" y="16"/>
                </a:lnTo>
                <a:lnTo>
                  <a:pt x="14" y="15"/>
                </a:lnTo>
                <a:lnTo>
                  <a:pt x="15" y="14"/>
                </a:lnTo>
                <a:lnTo>
                  <a:pt x="16" y="12"/>
                </a:lnTo>
                <a:lnTo>
                  <a:pt x="17" y="11"/>
                </a:lnTo>
                <a:lnTo>
                  <a:pt x="17" y="9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1701800" y="1066800"/>
            <a:ext cx="215900" cy="228600"/>
          </a:xfrm>
          <a:custGeom>
            <a:avLst/>
            <a:gdLst/>
            <a:ahLst/>
            <a:cxnLst/>
            <a:rect l="l" t="t" r="r" b="b"/>
            <a:pathLst>
              <a:path w="17" h="18">
                <a:moveTo>
                  <a:pt x="17" y="9"/>
                </a:moveTo>
                <a:lnTo>
                  <a:pt x="17" y="7"/>
                </a:lnTo>
                <a:lnTo>
                  <a:pt x="16" y="5"/>
                </a:lnTo>
                <a:lnTo>
                  <a:pt x="15" y="4"/>
                </a:lnTo>
                <a:lnTo>
                  <a:pt x="14" y="3"/>
                </a:lnTo>
                <a:lnTo>
                  <a:pt x="13" y="2"/>
                </a:lnTo>
                <a:lnTo>
                  <a:pt x="12" y="1"/>
                </a:lnTo>
                <a:lnTo>
                  <a:pt x="10" y="0"/>
                </a:lnTo>
                <a:lnTo>
                  <a:pt x="8" y="0"/>
                </a:lnTo>
                <a:lnTo>
                  <a:pt x="7" y="0"/>
                </a:lnTo>
                <a:lnTo>
                  <a:pt x="5" y="1"/>
                </a:lnTo>
                <a:lnTo>
                  <a:pt x="3" y="2"/>
                </a:lnTo>
                <a:lnTo>
                  <a:pt x="2" y="3"/>
                </a:lnTo>
                <a:lnTo>
                  <a:pt x="1" y="4"/>
                </a:lnTo>
                <a:lnTo>
                  <a:pt x="0" y="5"/>
                </a:lnTo>
                <a:lnTo>
                  <a:pt x="0" y="7"/>
                </a:lnTo>
                <a:lnTo>
                  <a:pt x="0" y="9"/>
                </a:lnTo>
                <a:lnTo>
                  <a:pt x="0" y="11"/>
                </a:lnTo>
                <a:lnTo>
                  <a:pt x="0" y="12"/>
                </a:lnTo>
                <a:lnTo>
                  <a:pt x="1" y="14"/>
                </a:lnTo>
                <a:lnTo>
                  <a:pt x="2" y="15"/>
                </a:lnTo>
                <a:lnTo>
                  <a:pt x="3" y="16"/>
                </a:lnTo>
                <a:lnTo>
                  <a:pt x="5" y="17"/>
                </a:lnTo>
                <a:lnTo>
                  <a:pt x="7" y="17"/>
                </a:lnTo>
                <a:lnTo>
                  <a:pt x="8" y="18"/>
                </a:lnTo>
                <a:lnTo>
                  <a:pt x="10" y="17"/>
                </a:lnTo>
                <a:lnTo>
                  <a:pt x="12" y="17"/>
                </a:lnTo>
                <a:lnTo>
                  <a:pt x="13" y="16"/>
                </a:lnTo>
                <a:lnTo>
                  <a:pt x="14" y="15"/>
                </a:lnTo>
                <a:lnTo>
                  <a:pt x="15" y="14"/>
                </a:lnTo>
                <a:lnTo>
                  <a:pt x="16" y="12"/>
                </a:lnTo>
                <a:lnTo>
                  <a:pt x="17" y="11"/>
                </a:lnTo>
                <a:lnTo>
                  <a:pt x="17" y="9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939800" y="1066800"/>
            <a:ext cx="215900" cy="228600"/>
          </a:xfrm>
          <a:custGeom>
            <a:avLst/>
            <a:gdLst/>
            <a:ahLst/>
            <a:cxnLst/>
            <a:rect l="l" t="t" r="r" b="b"/>
            <a:pathLst>
              <a:path w="17" h="18">
                <a:moveTo>
                  <a:pt x="17" y="9"/>
                </a:moveTo>
                <a:lnTo>
                  <a:pt x="17" y="7"/>
                </a:lnTo>
                <a:lnTo>
                  <a:pt x="17" y="5"/>
                </a:lnTo>
                <a:lnTo>
                  <a:pt x="16" y="4"/>
                </a:lnTo>
                <a:lnTo>
                  <a:pt x="15" y="3"/>
                </a:lnTo>
                <a:lnTo>
                  <a:pt x="14" y="2"/>
                </a:lnTo>
                <a:lnTo>
                  <a:pt x="12" y="1"/>
                </a:lnTo>
                <a:lnTo>
                  <a:pt x="10" y="0"/>
                </a:lnTo>
                <a:lnTo>
                  <a:pt x="9" y="0"/>
                </a:lnTo>
                <a:lnTo>
                  <a:pt x="7" y="0"/>
                </a:lnTo>
                <a:lnTo>
                  <a:pt x="5" y="1"/>
                </a:lnTo>
                <a:lnTo>
                  <a:pt x="4" y="2"/>
                </a:lnTo>
                <a:lnTo>
                  <a:pt x="3" y="3"/>
                </a:lnTo>
                <a:lnTo>
                  <a:pt x="2" y="4"/>
                </a:lnTo>
                <a:lnTo>
                  <a:pt x="1" y="5"/>
                </a:lnTo>
                <a:lnTo>
                  <a:pt x="0" y="7"/>
                </a:lnTo>
                <a:lnTo>
                  <a:pt x="0" y="9"/>
                </a:lnTo>
                <a:lnTo>
                  <a:pt x="0" y="11"/>
                </a:lnTo>
                <a:lnTo>
                  <a:pt x="1" y="12"/>
                </a:lnTo>
                <a:lnTo>
                  <a:pt x="2" y="14"/>
                </a:lnTo>
                <a:lnTo>
                  <a:pt x="3" y="15"/>
                </a:lnTo>
                <a:lnTo>
                  <a:pt x="4" y="16"/>
                </a:lnTo>
                <a:lnTo>
                  <a:pt x="5" y="17"/>
                </a:lnTo>
                <a:lnTo>
                  <a:pt x="7" y="17"/>
                </a:lnTo>
                <a:lnTo>
                  <a:pt x="9" y="18"/>
                </a:lnTo>
                <a:lnTo>
                  <a:pt x="10" y="17"/>
                </a:lnTo>
                <a:lnTo>
                  <a:pt x="12" y="17"/>
                </a:lnTo>
                <a:lnTo>
                  <a:pt x="14" y="16"/>
                </a:lnTo>
                <a:lnTo>
                  <a:pt x="15" y="15"/>
                </a:lnTo>
                <a:lnTo>
                  <a:pt x="16" y="14"/>
                </a:lnTo>
                <a:lnTo>
                  <a:pt x="17" y="12"/>
                </a:lnTo>
                <a:lnTo>
                  <a:pt x="17" y="11"/>
                </a:lnTo>
                <a:lnTo>
                  <a:pt x="17" y="9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774700" y="23114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17" h="17">
                <a:moveTo>
                  <a:pt x="17" y="8"/>
                </a:moveTo>
                <a:lnTo>
                  <a:pt x="17" y="6"/>
                </a:lnTo>
                <a:lnTo>
                  <a:pt x="16" y="5"/>
                </a:lnTo>
                <a:lnTo>
                  <a:pt x="16" y="3"/>
                </a:lnTo>
                <a:lnTo>
                  <a:pt x="14" y="2"/>
                </a:lnTo>
                <a:lnTo>
                  <a:pt x="13" y="1"/>
                </a:lnTo>
                <a:lnTo>
                  <a:pt x="12" y="0"/>
                </a:lnTo>
                <a:lnTo>
                  <a:pt x="10" y="0"/>
                </a:lnTo>
                <a:lnTo>
                  <a:pt x="8" y="0"/>
                </a:lnTo>
                <a:lnTo>
                  <a:pt x="7" y="0"/>
                </a:lnTo>
                <a:lnTo>
                  <a:pt x="5" y="0"/>
                </a:lnTo>
                <a:lnTo>
                  <a:pt x="3" y="1"/>
                </a:lnTo>
                <a:lnTo>
                  <a:pt x="2" y="2"/>
                </a:lnTo>
                <a:lnTo>
                  <a:pt x="1" y="3"/>
                </a:lnTo>
                <a:lnTo>
                  <a:pt x="0" y="5"/>
                </a:lnTo>
                <a:lnTo>
                  <a:pt x="0" y="6"/>
                </a:lnTo>
                <a:lnTo>
                  <a:pt x="0" y="8"/>
                </a:lnTo>
                <a:lnTo>
                  <a:pt x="0" y="10"/>
                </a:lnTo>
                <a:lnTo>
                  <a:pt x="0" y="12"/>
                </a:lnTo>
                <a:lnTo>
                  <a:pt x="1" y="13"/>
                </a:lnTo>
                <a:lnTo>
                  <a:pt x="2" y="14"/>
                </a:lnTo>
                <a:lnTo>
                  <a:pt x="3" y="15"/>
                </a:lnTo>
                <a:lnTo>
                  <a:pt x="5" y="16"/>
                </a:lnTo>
                <a:lnTo>
                  <a:pt x="7" y="17"/>
                </a:lnTo>
                <a:lnTo>
                  <a:pt x="8" y="17"/>
                </a:lnTo>
                <a:lnTo>
                  <a:pt x="10" y="17"/>
                </a:lnTo>
                <a:lnTo>
                  <a:pt x="12" y="16"/>
                </a:lnTo>
                <a:lnTo>
                  <a:pt x="13" y="15"/>
                </a:lnTo>
                <a:lnTo>
                  <a:pt x="14" y="14"/>
                </a:lnTo>
                <a:lnTo>
                  <a:pt x="16" y="13"/>
                </a:lnTo>
                <a:lnTo>
                  <a:pt x="16" y="12"/>
                </a:lnTo>
                <a:lnTo>
                  <a:pt x="17" y="10"/>
                </a:lnTo>
                <a:lnTo>
                  <a:pt x="17" y="8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 flipV="1">
            <a:off x="2848444" y="941015"/>
            <a:ext cx="0" cy="1474188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Freeform 47"/>
          <p:cNvSpPr/>
          <p:nvPr/>
        </p:nvSpPr>
        <p:spPr>
          <a:xfrm>
            <a:off x="2832100" y="914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539039" y="2415203"/>
            <a:ext cx="220520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880617" y="2536261"/>
            <a:ext cx="0" cy="143478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01675" y="2415203"/>
            <a:ext cx="48912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50587" y="2415203"/>
            <a:ext cx="339713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390300" y="2415203"/>
            <a:ext cx="416349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806649" y="2415203"/>
            <a:ext cx="416349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050587" y="2095163"/>
            <a:ext cx="0" cy="32004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Freeform 55"/>
          <p:cNvSpPr/>
          <p:nvPr/>
        </p:nvSpPr>
        <p:spPr>
          <a:xfrm>
            <a:off x="1028700" y="2070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 flipV="1">
            <a:off x="1390300" y="2095163"/>
            <a:ext cx="0" cy="32004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Freeform 57"/>
          <p:cNvSpPr/>
          <p:nvPr/>
        </p:nvSpPr>
        <p:spPr>
          <a:xfrm>
            <a:off x="1371600" y="2070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 flipV="1">
            <a:off x="1806649" y="2109684"/>
            <a:ext cx="0" cy="305519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Freeform 59"/>
          <p:cNvSpPr/>
          <p:nvPr/>
        </p:nvSpPr>
        <p:spPr>
          <a:xfrm>
            <a:off x="1790700" y="2082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 flipV="1">
            <a:off x="2222998" y="2095163"/>
            <a:ext cx="0" cy="32004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Freeform 61"/>
          <p:cNvSpPr/>
          <p:nvPr/>
        </p:nvSpPr>
        <p:spPr>
          <a:xfrm>
            <a:off x="2197100" y="2070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4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 flipV="1">
            <a:off x="1050587" y="1326610"/>
            <a:ext cx="0" cy="50795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Freeform 63"/>
          <p:cNvSpPr/>
          <p:nvPr/>
        </p:nvSpPr>
        <p:spPr>
          <a:xfrm>
            <a:off x="1028700" y="12954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2" y="0"/>
                </a:moveTo>
                <a:lnTo>
                  <a:pt x="0" y="4"/>
                </a:lnTo>
                <a:lnTo>
                  <a:pt x="2" y="2"/>
                </a:lnTo>
                <a:lnTo>
                  <a:pt x="3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 flipV="1">
            <a:off x="1390300" y="1613191"/>
            <a:ext cx="0" cy="221369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390300" y="1613191"/>
            <a:ext cx="269160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Freeform 66"/>
          <p:cNvSpPr/>
          <p:nvPr/>
        </p:nvSpPr>
        <p:spPr>
          <a:xfrm>
            <a:off x="1638300" y="15875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0" y="0"/>
                </a:lnTo>
                <a:lnTo>
                  <a:pt x="2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" name="Connector 67"/>
          <p:cNvCxnSpPr/>
          <p:nvPr/>
        </p:nvCxnSpPr>
        <p:spPr>
          <a:xfrm flipV="1">
            <a:off x="1806649" y="1760380"/>
            <a:ext cx="0" cy="59659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Freeform 68"/>
          <p:cNvSpPr/>
          <p:nvPr/>
        </p:nvSpPr>
        <p:spPr>
          <a:xfrm>
            <a:off x="1790700" y="17399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 flipV="1">
            <a:off x="2222998" y="1748959"/>
            <a:ext cx="0" cy="85601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222998" y="1748959"/>
            <a:ext cx="151163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Freeform 71"/>
          <p:cNvSpPr/>
          <p:nvPr/>
        </p:nvSpPr>
        <p:spPr>
          <a:xfrm>
            <a:off x="2362200" y="1727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>
            <a:off x="2521350" y="1870017"/>
            <a:ext cx="0" cy="545186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521350" y="2415203"/>
            <a:ext cx="526779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Freeform 74"/>
          <p:cNvSpPr/>
          <p:nvPr/>
        </p:nvSpPr>
        <p:spPr>
          <a:xfrm>
            <a:off x="3035300" y="2400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>
            <a:off x="539039" y="1179421"/>
            <a:ext cx="364359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Freeform 76"/>
          <p:cNvSpPr/>
          <p:nvPr/>
        </p:nvSpPr>
        <p:spPr>
          <a:xfrm>
            <a:off x="889000" y="11557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>
            <a:off x="1171645" y="1179421"/>
            <a:ext cx="487815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Freeform 78"/>
          <p:cNvSpPr/>
          <p:nvPr/>
        </p:nvSpPr>
        <p:spPr>
          <a:xfrm>
            <a:off x="1638300" y="11557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0" y="0"/>
                </a:lnTo>
                <a:lnTo>
                  <a:pt x="2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" name="Connector 79"/>
          <p:cNvCxnSpPr/>
          <p:nvPr/>
        </p:nvCxnSpPr>
        <p:spPr>
          <a:xfrm>
            <a:off x="1927707" y="1179421"/>
            <a:ext cx="1036500" cy="0"/>
          </a:xfrm>
          <a:prstGeom prst="line">
            <a:avLst/>
          </a:prstGeom>
          <a:ln w="30151">
            <a:solidFill>
              <a:srgbClr val="93D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927707" y="1179421"/>
            <a:ext cx="1120422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Freeform 81"/>
          <p:cNvSpPr/>
          <p:nvPr/>
        </p:nvSpPr>
        <p:spPr>
          <a:xfrm>
            <a:off x="3035300" y="11557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 flipV="1">
            <a:off x="1806649" y="1326610"/>
            <a:ext cx="0" cy="165523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Freeform 83"/>
          <p:cNvSpPr/>
          <p:nvPr/>
        </p:nvSpPr>
        <p:spPr>
          <a:xfrm>
            <a:off x="1790700" y="12954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0"/>
                </a:moveTo>
                <a:lnTo>
                  <a:pt x="0" y="4"/>
                </a:lnTo>
                <a:lnTo>
                  <a:pt x="1" y="2"/>
                </a:lnTo>
                <a:lnTo>
                  <a:pt x="3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" name="Connector 84"/>
          <p:cNvCxnSpPr/>
          <p:nvPr/>
        </p:nvCxnSpPr>
        <p:spPr>
          <a:xfrm>
            <a:off x="2521350" y="1179421"/>
            <a:ext cx="0" cy="73044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Freeform 85"/>
          <p:cNvSpPr/>
          <p:nvPr/>
        </p:nvSpPr>
        <p:spPr>
          <a:xfrm>
            <a:off x="2501900" y="12319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2" y="4"/>
                </a:moveTo>
                <a:lnTo>
                  <a:pt x="3" y="0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" name="Connector 86"/>
          <p:cNvCxnSpPr/>
          <p:nvPr/>
        </p:nvCxnSpPr>
        <p:spPr>
          <a:xfrm>
            <a:off x="2521350" y="1542111"/>
            <a:ext cx="0" cy="59659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Freeform 87"/>
          <p:cNvSpPr/>
          <p:nvPr/>
        </p:nvSpPr>
        <p:spPr>
          <a:xfrm>
            <a:off x="2501900" y="15875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3"/>
                </a:moveTo>
                <a:lnTo>
                  <a:pt x="3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-2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880002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92" name="Picture 9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Long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Short-Term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Memory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(LSTM)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Architecture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91927" y="2354958"/>
            <a:ext cx="5493468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h</a:t>
            </a:r>
            <a:r>
              <a:rPr sz="633" b="0">
                <a:solidFill>
                  <a:srgbClr val="000000"/>
                </a:solidFill>
                <a:latin typeface="Cambria Math"/>
              </a:rPr>
              <a:t>t</a:t>
            </a:r>
            <a:r>
              <a:rPr sz="633" b="0">
                <a:solidFill>
                  <a:srgbClr val="000000"/>
                </a:solidFill>
                <a:latin typeface="Cambria Math"/>
              </a:rPr>
              <a:t>−</a:t>
            </a:r>
            <a:r>
              <a:rPr sz="633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31241" y="2679801"/>
            <a:ext cx="4954154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x</a:t>
            </a:r>
            <a:r>
              <a:rPr sz="633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112933" y="2359154"/>
            <a:ext cx="2672462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h</a:t>
            </a:r>
            <a:r>
              <a:rPr sz="633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798793" y="773695"/>
            <a:ext cx="2986602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h</a:t>
            </a:r>
            <a:r>
              <a:rPr sz="633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76684" y="1118584"/>
            <a:ext cx="5508711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C</a:t>
            </a:r>
            <a:r>
              <a:rPr sz="633" b="0">
                <a:solidFill>
                  <a:srgbClr val="000000"/>
                </a:solidFill>
                <a:latin typeface="Cambria Math"/>
              </a:rPr>
              <a:t>t</a:t>
            </a:r>
            <a:r>
              <a:rPr sz="633" b="0">
                <a:solidFill>
                  <a:srgbClr val="000000"/>
                </a:solidFill>
                <a:latin typeface="Cambria Math"/>
              </a:rPr>
              <a:t>−</a:t>
            </a:r>
            <a:r>
              <a:rPr sz="633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112933" y="1122770"/>
            <a:ext cx="2672462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C</a:t>
            </a:r>
            <a:r>
              <a:rPr sz="633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696599" y="1904004"/>
            <a:ext cx="4088796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tanh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356896" y="1889478"/>
            <a:ext cx="4428499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σ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17183" y="1889478"/>
            <a:ext cx="4768212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σ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189579" y="1889478"/>
            <a:ext cx="3595816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σ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478549" y="1689046"/>
            <a:ext cx="3306846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×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411293" y="1362562"/>
            <a:ext cx="3374102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tanh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763856" y="1553271"/>
            <a:ext cx="4021539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×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763856" y="1120934"/>
            <a:ext cx="4021539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+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07801" y="1119508"/>
            <a:ext cx="4777594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×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37839" y="2342295"/>
            <a:ext cx="4947557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MSAM10"/>
              </a:rPr>
              <a:t>⊞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604093" y="1096529"/>
            <a:ext cx="21813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Forget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Gate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604093" y="1268602"/>
            <a:ext cx="21813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Gate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604093" y="1440674"/>
            <a:ext cx="21813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Gate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898159" y="3150918"/>
            <a:ext cx="88723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640207" y="3150694"/>
            <a:ext cx="14518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647700" y="1028700"/>
            <a:ext cx="2311400" cy="1536700"/>
          </a:xfrm>
          <a:custGeom>
            <a:avLst/>
            <a:gdLst/>
            <a:ahLst/>
            <a:cxnLst/>
            <a:rect l="l" t="t" r="r" b="b"/>
            <a:pathLst>
              <a:path w="182" h="121">
                <a:moveTo>
                  <a:pt x="179" y="0"/>
                </a:moveTo>
                <a:lnTo>
                  <a:pt x="3" y="0"/>
                </a:ln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1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lnTo>
                  <a:pt x="0" y="3"/>
                </a:lnTo>
                <a:lnTo>
                  <a:pt x="0" y="118"/>
                </a:lnTo>
                <a:lnTo>
                  <a:pt x="0" y="119"/>
                </a:lnTo>
                <a:lnTo>
                  <a:pt x="1" y="119"/>
                </a:lnTo>
                <a:lnTo>
                  <a:pt x="1" y="120"/>
                </a:lnTo>
                <a:lnTo>
                  <a:pt x="1" y="120"/>
                </a:lnTo>
                <a:lnTo>
                  <a:pt x="2" y="121"/>
                </a:lnTo>
                <a:lnTo>
                  <a:pt x="2" y="121"/>
                </a:lnTo>
                <a:lnTo>
                  <a:pt x="3" y="121"/>
                </a:lnTo>
                <a:lnTo>
                  <a:pt x="3" y="121"/>
                </a:lnTo>
                <a:lnTo>
                  <a:pt x="179" y="121"/>
                </a:lnTo>
                <a:lnTo>
                  <a:pt x="180" y="121"/>
                </a:lnTo>
                <a:lnTo>
                  <a:pt x="180" y="121"/>
                </a:lnTo>
                <a:lnTo>
                  <a:pt x="181" y="121"/>
                </a:lnTo>
                <a:lnTo>
                  <a:pt x="181" y="120"/>
                </a:lnTo>
                <a:lnTo>
                  <a:pt x="182" y="120"/>
                </a:lnTo>
                <a:lnTo>
                  <a:pt x="182" y="119"/>
                </a:lnTo>
                <a:lnTo>
                  <a:pt x="182" y="119"/>
                </a:lnTo>
                <a:lnTo>
                  <a:pt x="182" y="118"/>
                </a:lnTo>
                <a:lnTo>
                  <a:pt x="182" y="3"/>
                </a:lnTo>
                <a:lnTo>
                  <a:pt x="182" y="2"/>
                </a:lnTo>
                <a:lnTo>
                  <a:pt x="182" y="2"/>
                </a:lnTo>
                <a:lnTo>
                  <a:pt x="182" y="1"/>
                </a:lnTo>
                <a:lnTo>
                  <a:pt x="181" y="1"/>
                </a:lnTo>
                <a:lnTo>
                  <a:pt x="181" y="0"/>
                </a:lnTo>
                <a:lnTo>
                  <a:pt x="180" y="0"/>
                </a:lnTo>
                <a:lnTo>
                  <a:pt x="180" y="0"/>
                </a:lnTo>
                <a:lnTo>
                  <a:pt x="179" y="0"/>
                </a:lnTo>
                <a:close/>
              </a:path>
            </a:pathLst>
          </a:custGeom>
          <a:solidFill>
            <a:srgbClr val="93D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1612900" y="1828800"/>
            <a:ext cx="381000" cy="241300"/>
          </a:xfrm>
          <a:custGeom>
            <a:avLst/>
            <a:gdLst/>
            <a:ahLst/>
            <a:cxnLst/>
            <a:rect l="l" t="t" r="r" b="b"/>
            <a:pathLst>
              <a:path w="30" h="19">
                <a:moveTo>
                  <a:pt x="27" y="0"/>
                </a:moveTo>
                <a:lnTo>
                  <a:pt x="3" y="0"/>
                </a:lnTo>
                <a:lnTo>
                  <a:pt x="3" y="0"/>
                </a:lnTo>
                <a:lnTo>
                  <a:pt x="2" y="0"/>
                </a:lnTo>
                <a:lnTo>
                  <a:pt x="1" y="1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lnTo>
                  <a:pt x="0" y="3"/>
                </a:lnTo>
                <a:lnTo>
                  <a:pt x="0" y="3"/>
                </a:lnTo>
                <a:lnTo>
                  <a:pt x="0" y="16"/>
                </a:lnTo>
                <a:lnTo>
                  <a:pt x="0" y="17"/>
                </a:lnTo>
                <a:lnTo>
                  <a:pt x="0" y="17"/>
                </a:lnTo>
                <a:lnTo>
                  <a:pt x="1" y="18"/>
                </a:lnTo>
                <a:lnTo>
                  <a:pt x="1" y="18"/>
                </a:lnTo>
                <a:lnTo>
                  <a:pt x="1" y="19"/>
                </a:lnTo>
                <a:lnTo>
                  <a:pt x="2" y="19"/>
                </a:lnTo>
                <a:lnTo>
                  <a:pt x="3" y="19"/>
                </a:lnTo>
                <a:lnTo>
                  <a:pt x="3" y="19"/>
                </a:lnTo>
                <a:lnTo>
                  <a:pt x="27" y="19"/>
                </a:lnTo>
                <a:lnTo>
                  <a:pt x="28" y="19"/>
                </a:lnTo>
                <a:lnTo>
                  <a:pt x="28" y="19"/>
                </a:lnTo>
                <a:lnTo>
                  <a:pt x="29" y="19"/>
                </a:lnTo>
                <a:lnTo>
                  <a:pt x="29" y="18"/>
                </a:lnTo>
                <a:lnTo>
                  <a:pt x="30" y="18"/>
                </a:lnTo>
                <a:lnTo>
                  <a:pt x="30" y="17"/>
                </a:lnTo>
                <a:lnTo>
                  <a:pt x="30" y="17"/>
                </a:lnTo>
                <a:lnTo>
                  <a:pt x="30" y="16"/>
                </a:lnTo>
                <a:lnTo>
                  <a:pt x="30" y="3"/>
                </a:lnTo>
                <a:lnTo>
                  <a:pt x="30" y="3"/>
                </a:lnTo>
                <a:lnTo>
                  <a:pt x="30" y="2"/>
                </a:lnTo>
                <a:lnTo>
                  <a:pt x="30" y="2"/>
                </a:lnTo>
                <a:lnTo>
                  <a:pt x="29" y="1"/>
                </a:lnTo>
                <a:lnTo>
                  <a:pt x="29" y="1"/>
                </a:lnTo>
                <a:lnTo>
                  <a:pt x="28" y="0"/>
                </a:lnTo>
                <a:lnTo>
                  <a:pt x="28" y="0"/>
                </a:lnTo>
                <a:lnTo>
                  <a:pt x="2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1270000" y="1841500"/>
            <a:ext cx="241300" cy="215900"/>
          </a:xfrm>
          <a:custGeom>
            <a:avLst/>
            <a:gdLst/>
            <a:ahLst/>
            <a:cxnLst/>
            <a:rect l="l" t="t" r="r" b="b"/>
            <a:pathLst>
              <a:path w="19" h="17">
                <a:moveTo>
                  <a:pt x="15" y="0"/>
                </a:moveTo>
                <a:lnTo>
                  <a:pt x="4" y="0"/>
                </a:lnTo>
                <a:lnTo>
                  <a:pt x="3" y="0"/>
                </a:lnTo>
                <a:lnTo>
                  <a:pt x="2" y="1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1" y="2"/>
                </a:lnTo>
                <a:lnTo>
                  <a:pt x="0" y="3"/>
                </a:lnTo>
                <a:lnTo>
                  <a:pt x="0" y="3"/>
                </a:lnTo>
                <a:lnTo>
                  <a:pt x="0" y="14"/>
                </a:lnTo>
                <a:lnTo>
                  <a:pt x="0" y="15"/>
                </a:lnTo>
                <a:lnTo>
                  <a:pt x="1" y="15"/>
                </a:lnTo>
                <a:lnTo>
                  <a:pt x="1" y="16"/>
                </a:lnTo>
                <a:lnTo>
                  <a:pt x="1" y="16"/>
                </a:lnTo>
                <a:lnTo>
                  <a:pt x="2" y="17"/>
                </a:lnTo>
                <a:lnTo>
                  <a:pt x="2" y="17"/>
                </a:lnTo>
                <a:lnTo>
                  <a:pt x="3" y="17"/>
                </a:lnTo>
                <a:lnTo>
                  <a:pt x="4" y="17"/>
                </a:lnTo>
                <a:lnTo>
                  <a:pt x="15" y="17"/>
                </a:lnTo>
                <a:lnTo>
                  <a:pt x="16" y="17"/>
                </a:lnTo>
                <a:lnTo>
                  <a:pt x="17" y="17"/>
                </a:lnTo>
                <a:lnTo>
                  <a:pt x="17" y="17"/>
                </a:lnTo>
                <a:lnTo>
                  <a:pt x="18" y="16"/>
                </a:lnTo>
                <a:lnTo>
                  <a:pt x="18" y="16"/>
                </a:lnTo>
                <a:lnTo>
                  <a:pt x="18" y="15"/>
                </a:lnTo>
                <a:lnTo>
                  <a:pt x="19" y="15"/>
                </a:lnTo>
                <a:lnTo>
                  <a:pt x="19" y="14"/>
                </a:lnTo>
                <a:lnTo>
                  <a:pt x="19" y="3"/>
                </a:lnTo>
                <a:lnTo>
                  <a:pt x="19" y="3"/>
                </a:lnTo>
                <a:lnTo>
                  <a:pt x="18" y="2"/>
                </a:lnTo>
                <a:lnTo>
                  <a:pt x="18" y="2"/>
                </a:lnTo>
                <a:lnTo>
                  <a:pt x="18" y="1"/>
                </a:lnTo>
                <a:lnTo>
                  <a:pt x="17" y="1"/>
                </a:lnTo>
                <a:lnTo>
                  <a:pt x="17" y="1"/>
                </a:lnTo>
                <a:lnTo>
                  <a:pt x="16" y="0"/>
                </a:lnTo>
                <a:lnTo>
                  <a:pt x="1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939800" y="1841500"/>
            <a:ext cx="228600" cy="215900"/>
          </a:xfrm>
          <a:custGeom>
            <a:avLst/>
            <a:gdLst/>
            <a:ahLst/>
            <a:cxnLst/>
            <a:rect l="l" t="t" r="r" b="b"/>
            <a:pathLst>
              <a:path w="18" h="17">
                <a:moveTo>
                  <a:pt x="15" y="0"/>
                </a:moveTo>
                <a:lnTo>
                  <a:pt x="3" y="0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lnTo>
                  <a:pt x="1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3"/>
                </a:lnTo>
                <a:lnTo>
                  <a:pt x="0" y="14"/>
                </a:lnTo>
                <a:lnTo>
                  <a:pt x="0" y="15"/>
                </a:lnTo>
                <a:lnTo>
                  <a:pt x="0" y="15"/>
                </a:lnTo>
                <a:lnTo>
                  <a:pt x="0" y="16"/>
                </a:lnTo>
                <a:lnTo>
                  <a:pt x="1" y="16"/>
                </a:lnTo>
                <a:lnTo>
                  <a:pt x="1" y="17"/>
                </a:lnTo>
                <a:lnTo>
                  <a:pt x="2" y="17"/>
                </a:lnTo>
                <a:lnTo>
                  <a:pt x="2" y="17"/>
                </a:lnTo>
                <a:lnTo>
                  <a:pt x="3" y="17"/>
                </a:lnTo>
                <a:lnTo>
                  <a:pt x="15" y="17"/>
                </a:lnTo>
                <a:lnTo>
                  <a:pt x="15" y="17"/>
                </a:lnTo>
                <a:lnTo>
                  <a:pt x="16" y="17"/>
                </a:lnTo>
                <a:lnTo>
                  <a:pt x="16" y="17"/>
                </a:lnTo>
                <a:lnTo>
                  <a:pt x="17" y="16"/>
                </a:lnTo>
                <a:lnTo>
                  <a:pt x="17" y="16"/>
                </a:lnTo>
                <a:lnTo>
                  <a:pt x="18" y="15"/>
                </a:lnTo>
                <a:lnTo>
                  <a:pt x="18" y="15"/>
                </a:lnTo>
                <a:lnTo>
                  <a:pt x="18" y="14"/>
                </a:lnTo>
                <a:lnTo>
                  <a:pt x="18" y="3"/>
                </a:lnTo>
                <a:lnTo>
                  <a:pt x="18" y="3"/>
                </a:lnTo>
                <a:lnTo>
                  <a:pt x="18" y="2"/>
                </a:lnTo>
                <a:lnTo>
                  <a:pt x="17" y="2"/>
                </a:lnTo>
                <a:lnTo>
                  <a:pt x="17" y="1"/>
                </a:lnTo>
                <a:lnTo>
                  <a:pt x="16" y="1"/>
                </a:lnTo>
                <a:lnTo>
                  <a:pt x="16" y="1"/>
                </a:lnTo>
                <a:lnTo>
                  <a:pt x="15" y="0"/>
                </a:lnTo>
                <a:lnTo>
                  <a:pt x="15" y="0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2108200" y="1841500"/>
            <a:ext cx="228600" cy="215900"/>
          </a:xfrm>
          <a:custGeom>
            <a:avLst/>
            <a:gdLst/>
            <a:ahLst/>
            <a:cxnLst/>
            <a:rect l="l" t="t" r="r" b="b"/>
            <a:pathLst>
              <a:path w="18" h="17">
                <a:moveTo>
                  <a:pt x="15" y="0"/>
                </a:moveTo>
                <a:lnTo>
                  <a:pt x="3" y="0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lnTo>
                  <a:pt x="1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3"/>
                </a:lnTo>
                <a:lnTo>
                  <a:pt x="0" y="14"/>
                </a:lnTo>
                <a:lnTo>
                  <a:pt x="0" y="15"/>
                </a:lnTo>
                <a:lnTo>
                  <a:pt x="0" y="15"/>
                </a:lnTo>
                <a:lnTo>
                  <a:pt x="0" y="16"/>
                </a:lnTo>
                <a:lnTo>
                  <a:pt x="1" y="16"/>
                </a:lnTo>
                <a:lnTo>
                  <a:pt x="1" y="17"/>
                </a:lnTo>
                <a:lnTo>
                  <a:pt x="2" y="17"/>
                </a:lnTo>
                <a:lnTo>
                  <a:pt x="2" y="17"/>
                </a:lnTo>
                <a:lnTo>
                  <a:pt x="3" y="17"/>
                </a:lnTo>
                <a:lnTo>
                  <a:pt x="15" y="17"/>
                </a:lnTo>
                <a:lnTo>
                  <a:pt x="16" y="17"/>
                </a:lnTo>
                <a:lnTo>
                  <a:pt x="16" y="17"/>
                </a:lnTo>
                <a:lnTo>
                  <a:pt x="17" y="17"/>
                </a:lnTo>
                <a:lnTo>
                  <a:pt x="17" y="16"/>
                </a:lnTo>
                <a:lnTo>
                  <a:pt x="18" y="16"/>
                </a:lnTo>
                <a:lnTo>
                  <a:pt x="18" y="15"/>
                </a:lnTo>
                <a:lnTo>
                  <a:pt x="18" y="15"/>
                </a:lnTo>
                <a:lnTo>
                  <a:pt x="18" y="14"/>
                </a:lnTo>
                <a:lnTo>
                  <a:pt x="18" y="3"/>
                </a:lnTo>
                <a:lnTo>
                  <a:pt x="18" y="3"/>
                </a:lnTo>
                <a:lnTo>
                  <a:pt x="18" y="2"/>
                </a:lnTo>
                <a:lnTo>
                  <a:pt x="18" y="2"/>
                </a:lnTo>
                <a:lnTo>
                  <a:pt x="17" y="1"/>
                </a:lnTo>
                <a:lnTo>
                  <a:pt x="17" y="1"/>
                </a:lnTo>
                <a:lnTo>
                  <a:pt x="16" y="1"/>
                </a:lnTo>
                <a:lnTo>
                  <a:pt x="16" y="0"/>
                </a:lnTo>
                <a:lnTo>
                  <a:pt x="1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2413000" y="16383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17" h="17">
                <a:moveTo>
                  <a:pt x="17" y="9"/>
                </a:moveTo>
                <a:lnTo>
                  <a:pt x="17" y="7"/>
                </a:lnTo>
                <a:lnTo>
                  <a:pt x="17" y="5"/>
                </a:lnTo>
                <a:lnTo>
                  <a:pt x="16" y="4"/>
                </a:lnTo>
                <a:lnTo>
                  <a:pt x="15" y="3"/>
                </a:lnTo>
                <a:lnTo>
                  <a:pt x="13" y="2"/>
                </a:lnTo>
                <a:lnTo>
                  <a:pt x="12" y="1"/>
                </a:lnTo>
                <a:lnTo>
                  <a:pt x="10" y="0"/>
                </a:lnTo>
                <a:lnTo>
                  <a:pt x="9" y="0"/>
                </a:lnTo>
                <a:lnTo>
                  <a:pt x="7" y="0"/>
                </a:lnTo>
                <a:lnTo>
                  <a:pt x="5" y="1"/>
                </a:lnTo>
                <a:lnTo>
                  <a:pt x="4" y="2"/>
                </a:lnTo>
                <a:lnTo>
                  <a:pt x="2" y="3"/>
                </a:lnTo>
                <a:lnTo>
                  <a:pt x="1" y="4"/>
                </a:lnTo>
                <a:lnTo>
                  <a:pt x="1" y="5"/>
                </a:lnTo>
                <a:lnTo>
                  <a:pt x="0" y="7"/>
                </a:lnTo>
                <a:lnTo>
                  <a:pt x="0" y="9"/>
                </a:lnTo>
                <a:lnTo>
                  <a:pt x="0" y="10"/>
                </a:lnTo>
                <a:lnTo>
                  <a:pt x="1" y="12"/>
                </a:lnTo>
                <a:lnTo>
                  <a:pt x="1" y="14"/>
                </a:lnTo>
                <a:lnTo>
                  <a:pt x="2" y="15"/>
                </a:lnTo>
                <a:lnTo>
                  <a:pt x="4" y="16"/>
                </a:lnTo>
                <a:lnTo>
                  <a:pt x="5" y="17"/>
                </a:lnTo>
                <a:lnTo>
                  <a:pt x="7" y="17"/>
                </a:lnTo>
                <a:lnTo>
                  <a:pt x="9" y="17"/>
                </a:lnTo>
                <a:lnTo>
                  <a:pt x="10" y="17"/>
                </a:lnTo>
                <a:lnTo>
                  <a:pt x="12" y="17"/>
                </a:lnTo>
                <a:lnTo>
                  <a:pt x="13" y="16"/>
                </a:lnTo>
                <a:lnTo>
                  <a:pt x="15" y="15"/>
                </a:lnTo>
                <a:lnTo>
                  <a:pt x="16" y="14"/>
                </a:lnTo>
                <a:lnTo>
                  <a:pt x="17" y="12"/>
                </a:lnTo>
                <a:lnTo>
                  <a:pt x="17" y="10"/>
                </a:lnTo>
                <a:lnTo>
                  <a:pt x="17" y="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2324100" y="1295400"/>
            <a:ext cx="393700" cy="241300"/>
          </a:xfrm>
          <a:custGeom>
            <a:avLst/>
            <a:gdLst/>
            <a:ahLst/>
            <a:cxnLst/>
            <a:rect l="l" t="t" r="r" b="b"/>
            <a:pathLst>
              <a:path w="31" h="19">
                <a:moveTo>
                  <a:pt x="28" y="0"/>
                </a:move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0"/>
                </a:lnTo>
                <a:lnTo>
                  <a:pt x="1" y="1"/>
                </a:lnTo>
                <a:lnTo>
                  <a:pt x="1" y="1"/>
                </a:lnTo>
                <a:lnTo>
                  <a:pt x="0" y="2"/>
                </a:lnTo>
                <a:lnTo>
                  <a:pt x="0" y="3"/>
                </a:lnTo>
                <a:lnTo>
                  <a:pt x="0" y="15"/>
                </a:lnTo>
                <a:lnTo>
                  <a:pt x="0" y="16"/>
                </a:lnTo>
                <a:lnTo>
                  <a:pt x="1" y="17"/>
                </a:lnTo>
                <a:lnTo>
                  <a:pt x="1" y="17"/>
                </a:lnTo>
                <a:lnTo>
                  <a:pt x="1" y="18"/>
                </a:lnTo>
                <a:lnTo>
                  <a:pt x="2" y="18"/>
                </a:lnTo>
                <a:lnTo>
                  <a:pt x="2" y="18"/>
                </a:lnTo>
                <a:lnTo>
                  <a:pt x="3" y="18"/>
                </a:lnTo>
                <a:lnTo>
                  <a:pt x="4" y="19"/>
                </a:lnTo>
                <a:lnTo>
                  <a:pt x="28" y="19"/>
                </a:lnTo>
                <a:lnTo>
                  <a:pt x="28" y="18"/>
                </a:lnTo>
                <a:lnTo>
                  <a:pt x="29" y="18"/>
                </a:lnTo>
                <a:lnTo>
                  <a:pt x="29" y="18"/>
                </a:lnTo>
                <a:lnTo>
                  <a:pt x="30" y="18"/>
                </a:lnTo>
                <a:lnTo>
                  <a:pt x="30" y="17"/>
                </a:lnTo>
                <a:lnTo>
                  <a:pt x="30" y="17"/>
                </a:lnTo>
                <a:lnTo>
                  <a:pt x="31" y="16"/>
                </a:lnTo>
                <a:lnTo>
                  <a:pt x="31" y="15"/>
                </a:lnTo>
                <a:lnTo>
                  <a:pt x="31" y="3"/>
                </a:lnTo>
                <a:lnTo>
                  <a:pt x="31" y="2"/>
                </a:lnTo>
                <a:lnTo>
                  <a:pt x="30" y="1"/>
                </a:lnTo>
                <a:lnTo>
                  <a:pt x="30" y="1"/>
                </a:lnTo>
                <a:lnTo>
                  <a:pt x="30" y="0"/>
                </a:lnTo>
                <a:lnTo>
                  <a:pt x="29" y="0"/>
                </a:lnTo>
                <a:lnTo>
                  <a:pt x="29" y="0"/>
                </a:lnTo>
                <a:lnTo>
                  <a:pt x="28" y="0"/>
                </a:lnTo>
                <a:lnTo>
                  <a:pt x="2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1701800" y="1498600"/>
            <a:ext cx="215900" cy="228600"/>
          </a:xfrm>
          <a:custGeom>
            <a:avLst/>
            <a:gdLst/>
            <a:ahLst/>
            <a:cxnLst/>
            <a:rect l="l" t="t" r="r" b="b"/>
            <a:pathLst>
              <a:path w="17" h="18">
                <a:moveTo>
                  <a:pt x="17" y="9"/>
                </a:moveTo>
                <a:lnTo>
                  <a:pt x="17" y="7"/>
                </a:lnTo>
                <a:lnTo>
                  <a:pt x="16" y="6"/>
                </a:lnTo>
                <a:lnTo>
                  <a:pt x="15" y="4"/>
                </a:lnTo>
                <a:lnTo>
                  <a:pt x="14" y="3"/>
                </a:lnTo>
                <a:lnTo>
                  <a:pt x="13" y="2"/>
                </a:lnTo>
                <a:lnTo>
                  <a:pt x="12" y="1"/>
                </a:lnTo>
                <a:lnTo>
                  <a:pt x="10" y="1"/>
                </a:lnTo>
                <a:lnTo>
                  <a:pt x="8" y="0"/>
                </a:lnTo>
                <a:lnTo>
                  <a:pt x="7" y="1"/>
                </a:lnTo>
                <a:lnTo>
                  <a:pt x="5" y="1"/>
                </a:lnTo>
                <a:lnTo>
                  <a:pt x="3" y="2"/>
                </a:lnTo>
                <a:lnTo>
                  <a:pt x="2" y="3"/>
                </a:lnTo>
                <a:lnTo>
                  <a:pt x="1" y="4"/>
                </a:lnTo>
                <a:lnTo>
                  <a:pt x="0" y="6"/>
                </a:lnTo>
                <a:lnTo>
                  <a:pt x="0" y="7"/>
                </a:lnTo>
                <a:lnTo>
                  <a:pt x="0" y="9"/>
                </a:lnTo>
                <a:lnTo>
                  <a:pt x="0" y="11"/>
                </a:lnTo>
                <a:lnTo>
                  <a:pt x="0" y="12"/>
                </a:lnTo>
                <a:lnTo>
                  <a:pt x="1" y="14"/>
                </a:lnTo>
                <a:lnTo>
                  <a:pt x="2" y="15"/>
                </a:lnTo>
                <a:lnTo>
                  <a:pt x="3" y="16"/>
                </a:lnTo>
                <a:lnTo>
                  <a:pt x="5" y="17"/>
                </a:lnTo>
                <a:lnTo>
                  <a:pt x="7" y="18"/>
                </a:lnTo>
                <a:lnTo>
                  <a:pt x="8" y="18"/>
                </a:lnTo>
                <a:lnTo>
                  <a:pt x="10" y="18"/>
                </a:lnTo>
                <a:lnTo>
                  <a:pt x="12" y="17"/>
                </a:lnTo>
                <a:lnTo>
                  <a:pt x="13" y="16"/>
                </a:lnTo>
                <a:lnTo>
                  <a:pt x="14" y="15"/>
                </a:lnTo>
                <a:lnTo>
                  <a:pt x="15" y="14"/>
                </a:lnTo>
                <a:lnTo>
                  <a:pt x="16" y="12"/>
                </a:lnTo>
                <a:lnTo>
                  <a:pt x="17" y="11"/>
                </a:lnTo>
                <a:lnTo>
                  <a:pt x="17" y="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1701800" y="1066800"/>
            <a:ext cx="215900" cy="228600"/>
          </a:xfrm>
          <a:custGeom>
            <a:avLst/>
            <a:gdLst/>
            <a:ahLst/>
            <a:cxnLst/>
            <a:rect l="l" t="t" r="r" b="b"/>
            <a:pathLst>
              <a:path w="17" h="18">
                <a:moveTo>
                  <a:pt x="17" y="9"/>
                </a:moveTo>
                <a:lnTo>
                  <a:pt x="17" y="7"/>
                </a:lnTo>
                <a:lnTo>
                  <a:pt x="16" y="5"/>
                </a:lnTo>
                <a:lnTo>
                  <a:pt x="15" y="4"/>
                </a:lnTo>
                <a:lnTo>
                  <a:pt x="14" y="3"/>
                </a:lnTo>
                <a:lnTo>
                  <a:pt x="13" y="2"/>
                </a:lnTo>
                <a:lnTo>
                  <a:pt x="12" y="1"/>
                </a:lnTo>
                <a:lnTo>
                  <a:pt x="10" y="0"/>
                </a:lnTo>
                <a:lnTo>
                  <a:pt x="8" y="0"/>
                </a:lnTo>
                <a:lnTo>
                  <a:pt x="7" y="0"/>
                </a:lnTo>
                <a:lnTo>
                  <a:pt x="5" y="1"/>
                </a:lnTo>
                <a:lnTo>
                  <a:pt x="3" y="2"/>
                </a:lnTo>
                <a:lnTo>
                  <a:pt x="2" y="3"/>
                </a:lnTo>
                <a:lnTo>
                  <a:pt x="1" y="4"/>
                </a:lnTo>
                <a:lnTo>
                  <a:pt x="0" y="5"/>
                </a:lnTo>
                <a:lnTo>
                  <a:pt x="0" y="7"/>
                </a:lnTo>
                <a:lnTo>
                  <a:pt x="0" y="9"/>
                </a:lnTo>
                <a:lnTo>
                  <a:pt x="0" y="11"/>
                </a:lnTo>
                <a:lnTo>
                  <a:pt x="0" y="12"/>
                </a:lnTo>
                <a:lnTo>
                  <a:pt x="1" y="14"/>
                </a:lnTo>
                <a:lnTo>
                  <a:pt x="2" y="15"/>
                </a:lnTo>
                <a:lnTo>
                  <a:pt x="3" y="16"/>
                </a:lnTo>
                <a:lnTo>
                  <a:pt x="5" y="17"/>
                </a:lnTo>
                <a:lnTo>
                  <a:pt x="7" y="17"/>
                </a:lnTo>
                <a:lnTo>
                  <a:pt x="8" y="18"/>
                </a:lnTo>
                <a:lnTo>
                  <a:pt x="10" y="17"/>
                </a:lnTo>
                <a:lnTo>
                  <a:pt x="12" y="17"/>
                </a:lnTo>
                <a:lnTo>
                  <a:pt x="13" y="16"/>
                </a:lnTo>
                <a:lnTo>
                  <a:pt x="14" y="15"/>
                </a:lnTo>
                <a:lnTo>
                  <a:pt x="15" y="14"/>
                </a:lnTo>
                <a:lnTo>
                  <a:pt x="16" y="12"/>
                </a:lnTo>
                <a:lnTo>
                  <a:pt x="17" y="11"/>
                </a:lnTo>
                <a:lnTo>
                  <a:pt x="17" y="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939800" y="1066800"/>
            <a:ext cx="215900" cy="228600"/>
          </a:xfrm>
          <a:custGeom>
            <a:avLst/>
            <a:gdLst/>
            <a:ahLst/>
            <a:cxnLst/>
            <a:rect l="l" t="t" r="r" b="b"/>
            <a:pathLst>
              <a:path w="17" h="18">
                <a:moveTo>
                  <a:pt x="17" y="9"/>
                </a:moveTo>
                <a:lnTo>
                  <a:pt x="17" y="7"/>
                </a:lnTo>
                <a:lnTo>
                  <a:pt x="17" y="5"/>
                </a:lnTo>
                <a:lnTo>
                  <a:pt x="16" y="4"/>
                </a:lnTo>
                <a:lnTo>
                  <a:pt x="15" y="3"/>
                </a:lnTo>
                <a:lnTo>
                  <a:pt x="14" y="2"/>
                </a:lnTo>
                <a:lnTo>
                  <a:pt x="12" y="1"/>
                </a:lnTo>
                <a:lnTo>
                  <a:pt x="10" y="0"/>
                </a:lnTo>
                <a:lnTo>
                  <a:pt x="9" y="0"/>
                </a:lnTo>
                <a:lnTo>
                  <a:pt x="7" y="0"/>
                </a:lnTo>
                <a:lnTo>
                  <a:pt x="5" y="1"/>
                </a:lnTo>
                <a:lnTo>
                  <a:pt x="4" y="2"/>
                </a:lnTo>
                <a:lnTo>
                  <a:pt x="3" y="3"/>
                </a:lnTo>
                <a:lnTo>
                  <a:pt x="2" y="4"/>
                </a:lnTo>
                <a:lnTo>
                  <a:pt x="1" y="5"/>
                </a:lnTo>
                <a:lnTo>
                  <a:pt x="0" y="7"/>
                </a:lnTo>
                <a:lnTo>
                  <a:pt x="0" y="9"/>
                </a:lnTo>
                <a:lnTo>
                  <a:pt x="0" y="11"/>
                </a:lnTo>
                <a:lnTo>
                  <a:pt x="1" y="12"/>
                </a:lnTo>
                <a:lnTo>
                  <a:pt x="2" y="14"/>
                </a:lnTo>
                <a:lnTo>
                  <a:pt x="3" y="15"/>
                </a:lnTo>
                <a:lnTo>
                  <a:pt x="4" y="16"/>
                </a:lnTo>
                <a:lnTo>
                  <a:pt x="5" y="17"/>
                </a:lnTo>
                <a:lnTo>
                  <a:pt x="7" y="17"/>
                </a:lnTo>
                <a:lnTo>
                  <a:pt x="9" y="18"/>
                </a:lnTo>
                <a:lnTo>
                  <a:pt x="10" y="17"/>
                </a:lnTo>
                <a:lnTo>
                  <a:pt x="12" y="17"/>
                </a:lnTo>
                <a:lnTo>
                  <a:pt x="14" y="16"/>
                </a:lnTo>
                <a:lnTo>
                  <a:pt x="15" y="15"/>
                </a:lnTo>
                <a:lnTo>
                  <a:pt x="16" y="14"/>
                </a:lnTo>
                <a:lnTo>
                  <a:pt x="17" y="12"/>
                </a:lnTo>
                <a:lnTo>
                  <a:pt x="17" y="11"/>
                </a:lnTo>
                <a:lnTo>
                  <a:pt x="17" y="9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774700" y="23114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17" h="17">
                <a:moveTo>
                  <a:pt x="17" y="8"/>
                </a:moveTo>
                <a:lnTo>
                  <a:pt x="17" y="6"/>
                </a:lnTo>
                <a:lnTo>
                  <a:pt x="16" y="5"/>
                </a:lnTo>
                <a:lnTo>
                  <a:pt x="16" y="3"/>
                </a:lnTo>
                <a:lnTo>
                  <a:pt x="14" y="2"/>
                </a:lnTo>
                <a:lnTo>
                  <a:pt x="13" y="1"/>
                </a:lnTo>
                <a:lnTo>
                  <a:pt x="12" y="0"/>
                </a:lnTo>
                <a:lnTo>
                  <a:pt x="10" y="0"/>
                </a:lnTo>
                <a:lnTo>
                  <a:pt x="8" y="0"/>
                </a:lnTo>
                <a:lnTo>
                  <a:pt x="7" y="0"/>
                </a:lnTo>
                <a:lnTo>
                  <a:pt x="5" y="0"/>
                </a:lnTo>
                <a:lnTo>
                  <a:pt x="3" y="1"/>
                </a:lnTo>
                <a:lnTo>
                  <a:pt x="2" y="2"/>
                </a:lnTo>
                <a:lnTo>
                  <a:pt x="1" y="3"/>
                </a:lnTo>
                <a:lnTo>
                  <a:pt x="0" y="5"/>
                </a:lnTo>
                <a:lnTo>
                  <a:pt x="0" y="6"/>
                </a:lnTo>
                <a:lnTo>
                  <a:pt x="0" y="8"/>
                </a:lnTo>
                <a:lnTo>
                  <a:pt x="0" y="10"/>
                </a:lnTo>
                <a:lnTo>
                  <a:pt x="0" y="12"/>
                </a:lnTo>
                <a:lnTo>
                  <a:pt x="1" y="13"/>
                </a:lnTo>
                <a:lnTo>
                  <a:pt x="2" y="14"/>
                </a:lnTo>
                <a:lnTo>
                  <a:pt x="3" y="15"/>
                </a:lnTo>
                <a:lnTo>
                  <a:pt x="5" y="16"/>
                </a:lnTo>
                <a:lnTo>
                  <a:pt x="7" y="17"/>
                </a:lnTo>
                <a:lnTo>
                  <a:pt x="8" y="17"/>
                </a:lnTo>
                <a:lnTo>
                  <a:pt x="10" y="17"/>
                </a:lnTo>
                <a:lnTo>
                  <a:pt x="12" y="16"/>
                </a:lnTo>
                <a:lnTo>
                  <a:pt x="13" y="15"/>
                </a:lnTo>
                <a:lnTo>
                  <a:pt x="14" y="14"/>
                </a:lnTo>
                <a:lnTo>
                  <a:pt x="16" y="13"/>
                </a:lnTo>
                <a:lnTo>
                  <a:pt x="16" y="12"/>
                </a:lnTo>
                <a:lnTo>
                  <a:pt x="17" y="10"/>
                </a:lnTo>
                <a:lnTo>
                  <a:pt x="17" y="8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 flipV="1">
            <a:off x="2848444" y="941015"/>
            <a:ext cx="0" cy="1474188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Freeform 47"/>
          <p:cNvSpPr/>
          <p:nvPr/>
        </p:nvSpPr>
        <p:spPr>
          <a:xfrm>
            <a:off x="2832100" y="914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539039" y="2415203"/>
            <a:ext cx="220520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880617" y="2536261"/>
            <a:ext cx="0" cy="143478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01675" y="2415203"/>
            <a:ext cx="48912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50587" y="2415203"/>
            <a:ext cx="339713" cy="0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390300" y="2415203"/>
            <a:ext cx="416349" cy="0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806649" y="2415203"/>
            <a:ext cx="416349" cy="0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050587" y="2095163"/>
            <a:ext cx="0" cy="32004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Freeform 55"/>
          <p:cNvSpPr/>
          <p:nvPr/>
        </p:nvSpPr>
        <p:spPr>
          <a:xfrm>
            <a:off x="1028700" y="2070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 flipV="1">
            <a:off x="1390300" y="2095163"/>
            <a:ext cx="0" cy="320040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Freeform 57"/>
          <p:cNvSpPr/>
          <p:nvPr/>
        </p:nvSpPr>
        <p:spPr>
          <a:xfrm>
            <a:off x="1371600" y="2070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 flipV="1">
            <a:off x="1806649" y="2109684"/>
            <a:ext cx="0" cy="305519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Freeform 59"/>
          <p:cNvSpPr/>
          <p:nvPr/>
        </p:nvSpPr>
        <p:spPr>
          <a:xfrm>
            <a:off x="1790700" y="2082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 flipV="1">
            <a:off x="2222998" y="2095163"/>
            <a:ext cx="0" cy="320040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Freeform 61"/>
          <p:cNvSpPr/>
          <p:nvPr/>
        </p:nvSpPr>
        <p:spPr>
          <a:xfrm>
            <a:off x="2197100" y="2070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4" y="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 flipV="1">
            <a:off x="1050587" y="1326610"/>
            <a:ext cx="0" cy="50795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Freeform 63"/>
          <p:cNvSpPr/>
          <p:nvPr/>
        </p:nvSpPr>
        <p:spPr>
          <a:xfrm>
            <a:off x="1028700" y="12954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2" y="0"/>
                </a:moveTo>
                <a:lnTo>
                  <a:pt x="0" y="4"/>
                </a:lnTo>
                <a:lnTo>
                  <a:pt x="2" y="2"/>
                </a:lnTo>
                <a:lnTo>
                  <a:pt x="3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 flipV="1">
            <a:off x="1390300" y="1613191"/>
            <a:ext cx="0" cy="221369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390300" y="1613191"/>
            <a:ext cx="269160" cy="0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Freeform 66"/>
          <p:cNvSpPr/>
          <p:nvPr/>
        </p:nvSpPr>
        <p:spPr>
          <a:xfrm>
            <a:off x="1638300" y="15875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0" y="0"/>
                </a:lnTo>
                <a:lnTo>
                  <a:pt x="2" y="2"/>
                </a:lnTo>
                <a:lnTo>
                  <a:pt x="0" y="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" name="Connector 67"/>
          <p:cNvCxnSpPr/>
          <p:nvPr/>
        </p:nvCxnSpPr>
        <p:spPr>
          <a:xfrm flipV="1">
            <a:off x="1806649" y="1760380"/>
            <a:ext cx="0" cy="59659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Freeform 68"/>
          <p:cNvSpPr/>
          <p:nvPr/>
        </p:nvSpPr>
        <p:spPr>
          <a:xfrm>
            <a:off x="1790700" y="17399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 flipV="1">
            <a:off x="2222998" y="1748959"/>
            <a:ext cx="0" cy="85601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222998" y="1748959"/>
            <a:ext cx="151163" cy="0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Freeform 71"/>
          <p:cNvSpPr/>
          <p:nvPr/>
        </p:nvSpPr>
        <p:spPr>
          <a:xfrm>
            <a:off x="2362200" y="1727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>
            <a:off x="2521350" y="1870017"/>
            <a:ext cx="0" cy="545186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521350" y="2415203"/>
            <a:ext cx="526779" cy="0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Freeform 74"/>
          <p:cNvSpPr/>
          <p:nvPr/>
        </p:nvSpPr>
        <p:spPr>
          <a:xfrm>
            <a:off x="3035300" y="2400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>
            <a:off x="539039" y="1179421"/>
            <a:ext cx="364359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Freeform 76"/>
          <p:cNvSpPr/>
          <p:nvPr/>
        </p:nvSpPr>
        <p:spPr>
          <a:xfrm>
            <a:off x="889000" y="11557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>
            <a:off x="1171645" y="1179421"/>
            <a:ext cx="487815" cy="0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Freeform 78"/>
          <p:cNvSpPr/>
          <p:nvPr/>
        </p:nvSpPr>
        <p:spPr>
          <a:xfrm>
            <a:off x="1638300" y="11557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0" y="0"/>
                </a:lnTo>
                <a:lnTo>
                  <a:pt x="2" y="2"/>
                </a:lnTo>
                <a:lnTo>
                  <a:pt x="0" y="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" name="Connector 79"/>
          <p:cNvCxnSpPr/>
          <p:nvPr/>
        </p:nvCxnSpPr>
        <p:spPr>
          <a:xfrm>
            <a:off x="1927707" y="1179421"/>
            <a:ext cx="1036500" cy="0"/>
          </a:xfrm>
          <a:prstGeom prst="line">
            <a:avLst/>
          </a:prstGeom>
          <a:ln w="30151">
            <a:solidFill>
              <a:srgbClr val="93D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927707" y="1179421"/>
            <a:ext cx="1120422" cy="0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Freeform 81"/>
          <p:cNvSpPr/>
          <p:nvPr/>
        </p:nvSpPr>
        <p:spPr>
          <a:xfrm>
            <a:off x="3035300" y="11557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 flipV="1">
            <a:off x="1806649" y="1326610"/>
            <a:ext cx="0" cy="165523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Freeform 83"/>
          <p:cNvSpPr/>
          <p:nvPr/>
        </p:nvSpPr>
        <p:spPr>
          <a:xfrm>
            <a:off x="1790700" y="12954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0"/>
                </a:moveTo>
                <a:lnTo>
                  <a:pt x="0" y="4"/>
                </a:lnTo>
                <a:lnTo>
                  <a:pt x="1" y="2"/>
                </a:lnTo>
                <a:lnTo>
                  <a:pt x="3" y="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" name="Connector 84"/>
          <p:cNvCxnSpPr/>
          <p:nvPr/>
        </p:nvCxnSpPr>
        <p:spPr>
          <a:xfrm>
            <a:off x="2521350" y="1179421"/>
            <a:ext cx="0" cy="73044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Freeform 85"/>
          <p:cNvSpPr/>
          <p:nvPr/>
        </p:nvSpPr>
        <p:spPr>
          <a:xfrm>
            <a:off x="2501900" y="12319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2" y="4"/>
                </a:moveTo>
                <a:lnTo>
                  <a:pt x="3" y="0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" name="Connector 86"/>
          <p:cNvCxnSpPr/>
          <p:nvPr/>
        </p:nvCxnSpPr>
        <p:spPr>
          <a:xfrm>
            <a:off x="2521350" y="1542111"/>
            <a:ext cx="0" cy="59659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Freeform 87"/>
          <p:cNvSpPr/>
          <p:nvPr/>
        </p:nvSpPr>
        <p:spPr>
          <a:xfrm>
            <a:off x="2501900" y="15875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3"/>
                </a:moveTo>
                <a:lnTo>
                  <a:pt x="3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-2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880002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92" name="Picture 9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Long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Short-Term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Memory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(LSTM)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Architecture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91927" y="2354958"/>
            <a:ext cx="5493468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h</a:t>
            </a:r>
            <a:r>
              <a:rPr sz="633" b="0">
                <a:solidFill>
                  <a:srgbClr val="000000"/>
                </a:solidFill>
                <a:latin typeface="Cambria Math"/>
              </a:rPr>
              <a:t>t</a:t>
            </a:r>
            <a:r>
              <a:rPr sz="633" b="0">
                <a:solidFill>
                  <a:srgbClr val="000000"/>
                </a:solidFill>
                <a:latin typeface="Cambria Math"/>
              </a:rPr>
              <a:t>−</a:t>
            </a:r>
            <a:r>
              <a:rPr sz="633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31241" y="2679801"/>
            <a:ext cx="4954154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x</a:t>
            </a:r>
            <a:r>
              <a:rPr sz="633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112933" y="2359154"/>
            <a:ext cx="2672462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h</a:t>
            </a:r>
            <a:r>
              <a:rPr sz="633" b="0">
                <a:solidFill>
                  <a:srgbClr val="FFFFFF"/>
                </a:solidFill>
                <a:latin typeface="Cambria Math"/>
              </a:rPr>
              <a:t>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798793" y="773695"/>
            <a:ext cx="2986602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h</a:t>
            </a:r>
            <a:r>
              <a:rPr sz="633" b="0">
                <a:solidFill>
                  <a:srgbClr val="FFFFFF"/>
                </a:solidFill>
                <a:latin typeface="Cambria Math"/>
              </a:rPr>
              <a:t>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76684" y="1118584"/>
            <a:ext cx="5508711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C</a:t>
            </a:r>
            <a:r>
              <a:rPr sz="633" b="0">
                <a:solidFill>
                  <a:srgbClr val="000000"/>
                </a:solidFill>
                <a:latin typeface="Cambria Math"/>
              </a:rPr>
              <a:t>t</a:t>
            </a:r>
            <a:r>
              <a:rPr sz="633" b="0">
                <a:solidFill>
                  <a:srgbClr val="000000"/>
                </a:solidFill>
                <a:latin typeface="Cambria Math"/>
              </a:rPr>
              <a:t>−</a:t>
            </a:r>
            <a:r>
              <a:rPr sz="633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112933" y="1122770"/>
            <a:ext cx="2672462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C</a:t>
            </a:r>
            <a:r>
              <a:rPr sz="633" b="0">
                <a:solidFill>
                  <a:srgbClr val="FFFFFF"/>
                </a:solidFill>
                <a:latin typeface="Cambria Math"/>
              </a:rPr>
              <a:t>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696599" y="1904004"/>
            <a:ext cx="4088796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tanh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356896" y="1889478"/>
            <a:ext cx="4428499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σ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17183" y="1889478"/>
            <a:ext cx="4768212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σ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189579" y="1889478"/>
            <a:ext cx="3595816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σ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478549" y="1689046"/>
            <a:ext cx="3306846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×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411293" y="1362562"/>
            <a:ext cx="3374102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tanh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763856" y="1553271"/>
            <a:ext cx="4021539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×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763856" y="1120934"/>
            <a:ext cx="4021539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+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07801" y="1119508"/>
            <a:ext cx="4777594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×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37839" y="2342295"/>
            <a:ext cx="4947557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MSAM10"/>
              </a:rPr>
              <a:t>⊞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504029" y="1207752"/>
            <a:ext cx="228136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Forget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Gate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504029" y="1379415"/>
            <a:ext cx="228136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Decides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information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from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504029" y="1551487"/>
            <a:ext cx="228136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cell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should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discarded.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694009" y="1863278"/>
            <a:ext cx="209138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f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σ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W</a:t>
            </a:r>
            <a:r>
              <a:rPr sz="797" b="0">
                <a:solidFill>
                  <a:srgbClr val="000000"/>
                </a:solidFill>
                <a:latin typeface="Cambria Math"/>
              </a:rPr>
              <a:t>f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·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[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h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797" b="0">
                <a:solidFill>
                  <a:srgbClr val="000000"/>
                </a:solidFill>
                <a:latin typeface="Cambria Math"/>
              </a:rPr>
              <a:t>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, 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] +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b</a:t>
            </a:r>
            <a:r>
              <a:rPr sz="797" b="0">
                <a:solidFill>
                  <a:srgbClr val="000000"/>
                </a:solidFill>
                <a:latin typeface="Cambria Math"/>
              </a:rPr>
              <a:t>f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898159" y="3150918"/>
            <a:ext cx="88723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640207" y="3150694"/>
            <a:ext cx="14518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647700" y="1028700"/>
            <a:ext cx="2311400" cy="1536700"/>
          </a:xfrm>
          <a:custGeom>
            <a:avLst/>
            <a:gdLst/>
            <a:ahLst/>
            <a:cxnLst/>
            <a:rect l="l" t="t" r="r" b="b"/>
            <a:pathLst>
              <a:path w="182" h="121">
                <a:moveTo>
                  <a:pt x="179" y="0"/>
                </a:moveTo>
                <a:lnTo>
                  <a:pt x="3" y="0"/>
                </a:ln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1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lnTo>
                  <a:pt x="0" y="3"/>
                </a:lnTo>
                <a:lnTo>
                  <a:pt x="0" y="118"/>
                </a:lnTo>
                <a:lnTo>
                  <a:pt x="0" y="119"/>
                </a:lnTo>
                <a:lnTo>
                  <a:pt x="1" y="119"/>
                </a:lnTo>
                <a:lnTo>
                  <a:pt x="1" y="120"/>
                </a:lnTo>
                <a:lnTo>
                  <a:pt x="1" y="120"/>
                </a:lnTo>
                <a:lnTo>
                  <a:pt x="2" y="121"/>
                </a:lnTo>
                <a:lnTo>
                  <a:pt x="2" y="121"/>
                </a:lnTo>
                <a:lnTo>
                  <a:pt x="3" y="121"/>
                </a:lnTo>
                <a:lnTo>
                  <a:pt x="3" y="121"/>
                </a:lnTo>
                <a:lnTo>
                  <a:pt x="179" y="121"/>
                </a:lnTo>
                <a:lnTo>
                  <a:pt x="180" y="121"/>
                </a:lnTo>
                <a:lnTo>
                  <a:pt x="180" y="121"/>
                </a:lnTo>
                <a:lnTo>
                  <a:pt x="181" y="121"/>
                </a:lnTo>
                <a:lnTo>
                  <a:pt x="181" y="120"/>
                </a:lnTo>
                <a:lnTo>
                  <a:pt x="182" y="120"/>
                </a:lnTo>
                <a:lnTo>
                  <a:pt x="182" y="119"/>
                </a:lnTo>
                <a:lnTo>
                  <a:pt x="182" y="119"/>
                </a:lnTo>
                <a:lnTo>
                  <a:pt x="182" y="118"/>
                </a:lnTo>
                <a:lnTo>
                  <a:pt x="182" y="3"/>
                </a:lnTo>
                <a:lnTo>
                  <a:pt x="182" y="2"/>
                </a:lnTo>
                <a:lnTo>
                  <a:pt x="182" y="2"/>
                </a:lnTo>
                <a:lnTo>
                  <a:pt x="182" y="1"/>
                </a:lnTo>
                <a:lnTo>
                  <a:pt x="181" y="1"/>
                </a:lnTo>
                <a:lnTo>
                  <a:pt x="181" y="0"/>
                </a:lnTo>
                <a:lnTo>
                  <a:pt x="180" y="0"/>
                </a:lnTo>
                <a:lnTo>
                  <a:pt x="180" y="0"/>
                </a:lnTo>
                <a:lnTo>
                  <a:pt x="179" y="0"/>
                </a:lnTo>
                <a:close/>
              </a:path>
            </a:pathLst>
          </a:custGeom>
          <a:solidFill>
            <a:srgbClr val="93D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1612900" y="1828800"/>
            <a:ext cx="381000" cy="241300"/>
          </a:xfrm>
          <a:custGeom>
            <a:avLst/>
            <a:gdLst/>
            <a:ahLst/>
            <a:cxnLst/>
            <a:rect l="l" t="t" r="r" b="b"/>
            <a:pathLst>
              <a:path w="30" h="19">
                <a:moveTo>
                  <a:pt x="27" y="0"/>
                </a:moveTo>
                <a:lnTo>
                  <a:pt x="3" y="0"/>
                </a:lnTo>
                <a:lnTo>
                  <a:pt x="3" y="0"/>
                </a:lnTo>
                <a:lnTo>
                  <a:pt x="2" y="0"/>
                </a:lnTo>
                <a:lnTo>
                  <a:pt x="1" y="1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lnTo>
                  <a:pt x="0" y="3"/>
                </a:lnTo>
                <a:lnTo>
                  <a:pt x="0" y="3"/>
                </a:lnTo>
                <a:lnTo>
                  <a:pt x="0" y="16"/>
                </a:lnTo>
                <a:lnTo>
                  <a:pt x="0" y="17"/>
                </a:lnTo>
                <a:lnTo>
                  <a:pt x="0" y="17"/>
                </a:lnTo>
                <a:lnTo>
                  <a:pt x="1" y="18"/>
                </a:lnTo>
                <a:lnTo>
                  <a:pt x="1" y="18"/>
                </a:lnTo>
                <a:lnTo>
                  <a:pt x="1" y="19"/>
                </a:lnTo>
                <a:lnTo>
                  <a:pt x="2" y="19"/>
                </a:lnTo>
                <a:lnTo>
                  <a:pt x="3" y="19"/>
                </a:lnTo>
                <a:lnTo>
                  <a:pt x="3" y="19"/>
                </a:lnTo>
                <a:lnTo>
                  <a:pt x="27" y="19"/>
                </a:lnTo>
                <a:lnTo>
                  <a:pt x="28" y="19"/>
                </a:lnTo>
                <a:lnTo>
                  <a:pt x="28" y="19"/>
                </a:lnTo>
                <a:lnTo>
                  <a:pt x="29" y="19"/>
                </a:lnTo>
                <a:lnTo>
                  <a:pt x="29" y="18"/>
                </a:lnTo>
                <a:lnTo>
                  <a:pt x="30" y="18"/>
                </a:lnTo>
                <a:lnTo>
                  <a:pt x="30" y="17"/>
                </a:lnTo>
                <a:lnTo>
                  <a:pt x="30" y="17"/>
                </a:lnTo>
                <a:lnTo>
                  <a:pt x="30" y="16"/>
                </a:lnTo>
                <a:lnTo>
                  <a:pt x="30" y="3"/>
                </a:lnTo>
                <a:lnTo>
                  <a:pt x="30" y="3"/>
                </a:lnTo>
                <a:lnTo>
                  <a:pt x="30" y="2"/>
                </a:lnTo>
                <a:lnTo>
                  <a:pt x="30" y="2"/>
                </a:lnTo>
                <a:lnTo>
                  <a:pt x="29" y="1"/>
                </a:lnTo>
                <a:lnTo>
                  <a:pt x="29" y="1"/>
                </a:lnTo>
                <a:lnTo>
                  <a:pt x="28" y="0"/>
                </a:lnTo>
                <a:lnTo>
                  <a:pt x="28" y="0"/>
                </a:lnTo>
                <a:lnTo>
                  <a:pt x="27" y="0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1270000" y="1841500"/>
            <a:ext cx="241300" cy="215900"/>
          </a:xfrm>
          <a:custGeom>
            <a:avLst/>
            <a:gdLst/>
            <a:ahLst/>
            <a:cxnLst/>
            <a:rect l="l" t="t" r="r" b="b"/>
            <a:pathLst>
              <a:path w="19" h="17">
                <a:moveTo>
                  <a:pt x="15" y="0"/>
                </a:moveTo>
                <a:lnTo>
                  <a:pt x="4" y="0"/>
                </a:lnTo>
                <a:lnTo>
                  <a:pt x="3" y="0"/>
                </a:lnTo>
                <a:lnTo>
                  <a:pt x="2" y="1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1" y="2"/>
                </a:lnTo>
                <a:lnTo>
                  <a:pt x="0" y="3"/>
                </a:lnTo>
                <a:lnTo>
                  <a:pt x="0" y="3"/>
                </a:lnTo>
                <a:lnTo>
                  <a:pt x="0" y="14"/>
                </a:lnTo>
                <a:lnTo>
                  <a:pt x="0" y="15"/>
                </a:lnTo>
                <a:lnTo>
                  <a:pt x="1" y="15"/>
                </a:lnTo>
                <a:lnTo>
                  <a:pt x="1" y="16"/>
                </a:lnTo>
                <a:lnTo>
                  <a:pt x="1" y="16"/>
                </a:lnTo>
                <a:lnTo>
                  <a:pt x="2" y="17"/>
                </a:lnTo>
                <a:lnTo>
                  <a:pt x="2" y="17"/>
                </a:lnTo>
                <a:lnTo>
                  <a:pt x="3" y="17"/>
                </a:lnTo>
                <a:lnTo>
                  <a:pt x="4" y="17"/>
                </a:lnTo>
                <a:lnTo>
                  <a:pt x="15" y="17"/>
                </a:lnTo>
                <a:lnTo>
                  <a:pt x="16" y="17"/>
                </a:lnTo>
                <a:lnTo>
                  <a:pt x="17" y="17"/>
                </a:lnTo>
                <a:lnTo>
                  <a:pt x="17" y="17"/>
                </a:lnTo>
                <a:lnTo>
                  <a:pt x="18" y="16"/>
                </a:lnTo>
                <a:lnTo>
                  <a:pt x="18" y="16"/>
                </a:lnTo>
                <a:lnTo>
                  <a:pt x="18" y="15"/>
                </a:lnTo>
                <a:lnTo>
                  <a:pt x="19" y="15"/>
                </a:lnTo>
                <a:lnTo>
                  <a:pt x="19" y="14"/>
                </a:lnTo>
                <a:lnTo>
                  <a:pt x="19" y="3"/>
                </a:lnTo>
                <a:lnTo>
                  <a:pt x="19" y="3"/>
                </a:lnTo>
                <a:lnTo>
                  <a:pt x="18" y="2"/>
                </a:lnTo>
                <a:lnTo>
                  <a:pt x="18" y="2"/>
                </a:lnTo>
                <a:lnTo>
                  <a:pt x="18" y="1"/>
                </a:lnTo>
                <a:lnTo>
                  <a:pt x="17" y="1"/>
                </a:lnTo>
                <a:lnTo>
                  <a:pt x="17" y="1"/>
                </a:lnTo>
                <a:lnTo>
                  <a:pt x="16" y="0"/>
                </a:lnTo>
                <a:lnTo>
                  <a:pt x="15" y="0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939800" y="1841500"/>
            <a:ext cx="228600" cy="215900"/>
          </a:xfrm>
          <a:custGeom>
            <a:avLst/>
            <a:gdLst/>
            <a:ahLst/>
            <a:cxnLst/>
            <a:rect l="l" t="t" r="r" b="b"/>
            <a:pathLst>
              <a:path w="18" h="17">
                <a:moveTo>
                  <a:pt x="15" y="0"/>
                </a:moveTo>
                <a:lnTo>
                  <a:pt x="3" y="0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lnTo>
                  <a:pt x="1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3"/>
                </a:lnTo>
                <a:lnTo>
                  <a:pt x="0" y="14"/>
                </a:lnTo>
                <a:lnTo>
                  <a:pt x="0" y="15"/>
                </a:lnTo>
                <a:lnTo>
                  <a:pt x="0" y="15"/>
                </a:lnTo>
                <a:lnTo>
                  <a:pt x="0" y="16"/>
                </a:lnTo>
                <a:lnTo>
                  <a:pt x="1" y="16"/>
                </a:lnTo>
                <a:lnTo>
                  <a:pt x="1" y="17"/>
                </a:lnTo>
                <a:lnTo>
                  <a:pt x="2" y="17"/>
                </a:lnTo>
                <a:lnTo>
                  <a:pt x="2" y="17"/>
                </a:lnTo>
                <a:lnTo>
                  <a:pt x="3" y="17"/>
                </a:lnTo>
                <a:lnTo>
                  <a:pt x="15" y="17"/>
                </a:lnTo>
                <a:lnTo>
                  <a:pt x="15" y="17"/>
                </a:lnTo>
                <a:lnTo>
                  <a:pt x="16" y="17"/>
                </a:lnTo>
                <a:lnTo>
                  <a:pt x="16" y="17"/>
                </a:lnTo>
                <a:lnTo>
                  <a:pt x="17" y="16"/>
                </a:lnTo>
                <a:lnTo>
                  <a:pt x="17" y="16"/>
                </a:lnTo>
                <a:lnTo>
                  <a:pt x="18" y="15"/>
                </a:lnTo>
                <a:lnTo>
                  <a:pt x="18" y="15"/>
                </a:lnTo>
                <a:lnTo>
                  <a:pt x="18" y="14"/>
                </a:lnTo>
                <a:lnTo>
                  <a:pt x="18" y="3"/>
                </a:lnTo>
                <a:lnTo>
                  <a:pt x="18" y="3"/>
                </a:lnTo>
                <a:lnTo>
                  <a:pt x="18" y="2"/>
                </a:lnTo>
                <a:lnTo>
                  <a:pt x="17" y="2"/>
                </a:lnTo>
                <a:lnTo>
                  <a:pt x="17" y="1"/>
                </a:lnTo>
                <a:lnTo>
                  <a:pt x="16" y="1"/>
                </a:lnTo>
                <a:lnTo>
                  <a:pt x="16" y="1"/>
                </a:lnTo>
                <a:lnTo>
                  <a:pt x="15" y="0"/>
                </a:lnTo>
                <a:lnTo>
                  <a:pt x="1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2108200" y="1841500"/>
            <a:ext cx="228600" cy="215900"/>
          </a:xfrm>
          <a:custGeom>
            <a:avLst/>
            <a:gdLst/>
            <a:ahLst/>
            <a:cxnLst/>
            <a:rect l="l" t="t" r="r" b="b"/>
            <a:pathLst>
              <a:path w="18" h="17">
                <a:moveTo>
                  <a:pt x="15" y="0"/>
                </a:moveTo>
                <a:lnTo>
                  <a:pt x="3" y="0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lnTo>
                  <a:pt x="1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3"/>
                </a:lnTo>
                <a:lnTo>
                  <a:pt x="0" y="14"/>
                </a:lnTo>
                <a:lnTo>
                  <a:pt x="0" y="15"/>
                </a:lnTo>
                <a:lnTo>
                  <a:pt x="0" y="15"/>
                </a:lnTo>
                <a:lnTo>
                  <a:pt x="0" y="16"/>
                </a:lnTo>
                <a:lnTo>
                  <a:pt x="1" y="16"/>
                </a:lnTo>
                <a:lnTo>
                  <a:pt x="1" y="17"/>
                </a:lnTo>
                <a:lnTo>
                  <a:pt x="2" y="17"/>
                </a:lnTo>
                <a:lnTo>
                  <a:pt x="2" y="17"/>
                </a:lnTo>
                <a:lnTo>
                  <a:pt x="3" y="17"/>
                </a:lnTo>
                <a:lnTo>
                  <a:pt x="15" y="17"/>
                </a:lnTo>
                <a:lnTo>
                  <a:pt x="16" y="17"/>
                </a:lnTo>
                <a:lnTo>
                  <a:pt x="16" y="17"/>
                </a:lnTo>
                <a:lnTo>
                  <a:pt x="17" y="17"/>
                </a:lnTo>
                <a:lnTo>
                  <a:pt x="17" y="16"/>
                </a:lnTo>
                <a:lnTo>
                  <a:pt x="18" y="16"/>
                </a:lnTo>
                <a:lnTo>
                  <a:pt x="18" y="15"/>
                </a:lnTo>
                <a:lnTo>
                  <a:pt x="18" y="15"/>
                </a:lnTo>
                <a:lnTo>
                  <a:pt x="18" y="14"/>
                </a:lnTo>
                <a:lnTo>
                  <a:pt x="18" y="3"/>
                </a:lnTo>
                <a:lnTo>
                  <a:pt x="18" y="3"/>
                </a:lnTo>
                <a:lnTo>
                  <a:pt x="18" y="2"/>
                </a:lnTo>
                <a:lnTo>
                  <a:pt x="18" y="2"/>
                </a:lnTo>
                <a:lnTo>
                  <a:pt x="17" y="1"/>
                </a:lnTo>
                <a:lnTo>
                  <a:pt x="17" y="1"/>
                </a:lnTo>
                <a:lnTo>
                  <a:pt x="16" y="1"/>
                </a:lnTo>
                <a:lnTo>
                  <a:pt x="16" y="0"/>
                </a:lnTo>
                <a:lnTo>
                  <a:pt x="1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2413000" y="16383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17" h="17">
                <a:moveTo>
                  <a:pt x="17" y="9"/>
                </a:moveTo>
                <a:lnTo>
                  <a:pt x="17" y="7"/>
                </a:lnTo>
                <a:lnTo>
                  <a:pt x="17" y="5"/>
                </a:lnTo>
                <a:lnTo>
                  <a:pt x="16" y="4"/>
                </a:lnTo>
                <a:lnTo>
                  <a:pt x="15" y="3"/>
                </a:lnTo>
                <a:lnTo>
                  <a:pt x="13" y="2"/>
                </a:lnTo>
                <a:lnTo>
                  <a:pt x="12" y="1"/>
                </a:lnTo>
                <a:lnTo>
                  <a:pt x="10" y="0"/>
                </a:lnTo>
                <a:lnTo>
                  <a:pt x="9" y="0"/>
                </a:lnTo>
                <a:lnTo>
                  <a:pt x="7" y="0"/>
                </a:lnTo>
                <a:lnTo>
                  <a:pt x="5" y="1"/>
                </a:lnTo>
                <a:lnTo>
                  <a:pt x="4" y="2"/>
                </a:lnTo>
                <a:lnTo>
                  <a:pt x="2" y="3"/>
                </a:lnTo>
                <a:lnTo>
                  <a:pt x="1" y="4"/>
                </a:lnTo>
                <a:lnTo>
                  <a:pt x="1" y="5"/>
                </a:lnTo>
                <a:lnTo>
                  <a:pt x="0" y="7"/>
                </a:lnTo>
                <a:lnTo>
                  <a:pt x="0" y="9"/>
                </a:lnTo>
                <a:lnTo>
                  <a:pt x="0" y="10"/>
                </a:lnTo>
                <a:lnTo>
                  <a:pt x="1" y="12"/>
                </a:lnTo>
                <a:lnTo>
                  <a:pt x="1" y="14"/>
                </a:lnTo>
                <a:lnTo>
                  <a:pt x="2" y="15"/>
                </a:lnTo>
                <a:lnTo>
                  <a:pt x="4" y="16"/>
                </a:lnTo>
                <a:lnTo>
                  <a:pt x="5" y="17"/>
                </a:lnTo>
                <a:lnTo>
                  <a:pt x="7" y="17"/>
                </a:lnTo>
                <a:lnTo>
                  <a:pt x="9" y="17"/>
                </a:lnTo>
                <a:lnTo>
                  <a:pt x="10" y="17"/>
                </a:lnTo>
                <a:lnTo>
                  <a:pt x="12" y="17"/>
                </a:lnTo>
                <a:lnTo>
                  <a:pt x="13" y="16"/>
                </a:lnTo>
                <a:lnTo>
                  <a:pt x="15" y="15"/>
                </a:lnTo>
                <a:lnTo>
                  <a:pt x="16" y="14"/>
                </a:lnTo>
                <a:lnTo>
                  <a:pt x="17" y="12"/>
                </a:lnTo>
                <a:lnTo>
                  <a:pt x="17" y="10"/>
                </a:lnTo>
                <a:lnTo>
                  <a:pt x="17" y="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2324100" y="1295400"/>
            <a:ext cx="393700" cy="241300"/>
          </a:xfrm>
          <a:custGeom>
            <a:avLst/>
            <a:gdLst/>
            <a:ahLst/>
            <a:cxnLst/>
            <a:rect l="l" t="t" r="r" b="b"/>
            <a:pathLst>
              <a:path w="31" h="19">
                <a:moveTo>
                  <a:pt x="28" y="0"/>
                </a:move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0"/>
                </a:lnTo>
                <a:lnTo>
                  <a:pt x="1" y="1"/>
                </a:lnTo>
                <a:lnTo>
                  <a:pt x="1" y="1"/>
                </a:lnTo>
                <a:lnTo>
                  <a:pt x="0" y="2"/>
                </a:lnTo>
                <a:lnTo>
                  <a:pt x="0" y="3"/>
                </a:lnTo>
                <a:lnTo>
                  <a:pt x="0" y="15"/>
                </a:lnTo>
                <a:lnTo>
                  <a:pt x="0" y="16"/>
                </a:lnTo>
                <a:lnTo>
                  <a:pt x="1" y="17"/>
                </a:lnTo>
                <a:lnTo>
                  <a:pt x="1" y="17"/>
                </a:lnTo>
                <a:lnTo>
                  <a:pt x="1" y="18"/>
                </a:lnTo>
                <a:lnTo>
                  <a:pt x="2" y="18"/>
                </a:lnTo>
                <a:lnTo>
                  <a:pt x="2" y="18"/>
                </a:lnTo>
                <a:lnTo>
                  <a:pt x="3" y="18"/>
                </a:lnTo>
                <a:lnTo>
                  <a:pt x="4" y="19"/>
                </a:lnTo>
                <a:lnTo>
                  <a:pt x="28" y="19"/>
                </a:lnTo>
                <a:lnTo>
                  <a:pt x="28" y="18"/>
                </a:lnTo>
                <a:lnTo>
                  <a:pt x="29" y="18"/>
                </a:lnTo>
                <a:lnTo>
                  <a:pt x="29" y="18"/>
                </a:lnTo>
                <a:lnTo>
                  <a:pt x="30" y="18"/>
                </a:lnTo>
                <a:lnTo>
                  <a:pt x="30" y="17"/>
                </a:lnTo>
                <a:lnTo>
                  <a:pt x="30" y="17"/>
                </a:lnTo>
                <a:lnTo>
                  <a:pt x="31" y="16"/>
                </a:lnTo>
                <a:lnTo>
                  <a:pt x="31" y="15"/>
                </a:lnTo>
                <a:lnTo>
                  <a:pt x="31" y="3"/>
                </a:lnTo>
                <a:lnTo>
                  <a:pt x="31" y="2"/>
                </a:lnTo>
                <a:lnTo>
                  <a:pt x="30" y="1"/>
                </a:lnTo>
                <a:lnTo>
                  <a:pt x="30" y="1"/>
                </a:lnTo>
                <a:lnTo>
                  <a:pt x="30" y="0"/>
                </a:lnTo>
                <a:lnTo>
                  <a:pt x="29" y="0"/>
                </a:lnTo>
                <a:lnTo>
                  <a:pt x="29" y="0"/>
                </a:lnTo>
                <a:lnTo>
                  <a:pt x="28" y="0"/>
                </a:lnTo>
                <a:lnTo>
                  <a:pt x="2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1701800" y="1498600"/>
            <a:ext cx="215900" cy="228600"/>
          </a:xfrm>
          <a:custGeom>
            <a:avLst/>
            <a:gdLst/>
            <a:ahLst/>
            <a:cxnLst/>
            <a:rect l="l" t="t" r="r" b="b"/>
            <a:pathLst>
              <a:path w="17" h="18">
                <a:moveTo>
                  <a:pt x="17" y="9"/>
                </a:moveTo>
                <a:lnTo>
                  <a:pt x="17" y="7"/>
                </a:lnTo>
                <a:lnTo>
                  <a:pt x="16" y="6"/>
                </a:lnTo>
                <a:lnTo>
                  <a:pt x="15" y="4"/>
                </a:lnTo>
                <a:lnTo>
                  <a:pt x="14" y="3"/>
                </a:lnTo>
                <a:lnTo>
                  <a:pt x="13" y="2"/>
                </a:lnTo>
                <a:lnTo>
                  <a:pt x="12" y="1"/>
                </a:lnTo>
                <a:lnTo>
                  <a:pt x="10" y="1"/>
                </a:lnTo>
                <a:lnTo>
                  <a:pt x="8" y="0"/>
                </a:lnTo>
                <a:lnTo>
                  <a:pt x="7" y="1"/>
                </a:lnTo>
                <a:lnTo>
                  <a:pt x="5" y="1"/>
                </a:lnTo>
                <a:lnTo>
                  <a:pt x="3" y="2"/>
                </a:lnTo>
                <a:lnTo>
                  <a:pt x="2" y="3"/>
                </a:lnTo>
                <a:lnTo>
                  <a:pt x="1" y="4"/>
                </a:lnTo>
                <a:lnTo>
                  <a:pt x="0" y="6"/>
                </a:lnTo>
                <a:lnTo>
                  <a:pt x="0" y="7"/>
                </a:lnTo>
                <a:lnTo>
                  <a:pt x="0" y="9"/>
                </a:lnTo>
                <a:lnTo>
                  <a:pt x="0" y="11"/>
                </a:lnTo>
                <a:lnTo>
                  <a:pt x="0" y="12"/>
                </a:lnTo>
                <a:lnTo>
                  <a:pt x="1" y="14"/>
                </a:lnTo>
                <a:lnTo>
                  <a:pt x="2" y="15"/>
                </a:lnTo>
                <a:lnTo>
                  <a:pt x="3" y="16"/>
                </a:lnTo>
                <a:lnTo>
                  <a:pt x="5" y="17"/>
                </a:lnTo>
                <a:lnTo>
                  <a:pt x="7" y="18"/>
                </a:lnTo>
                <a:lnTo>
                  <a:pt x="8" y="18"/>
                </a:lnTo>
                <a:lnTo>
                  <a:pt x="10" y="18"/>
                </a:lnTo>
                <a:lnTo>
                  <a:pt x="12" y="17"/>
                </a:lnTo>
                <a:lnTo>
                  <a:pt x="13" y="16"/>
                </a:lnTo>
                <a:lnTo>
                  <a:pt x="14" y="15"/>
                </a:lnTo>
                <a:lnTo>
                  <a:pt x="15" y="14"/>
                </a:lnTo>
                <a:lnTo>
                  <a:pt x="16" y="12"/>
                </a:lnTo>
                <a:lnTo>
                  <a:pt x="17" y="11"/>
                </a:lnTo>
                <a:lnTo>
                  <a:pt x="17" y="9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1701800" y="1066800"/>
            <a:ext cx="215900" cy="228600"/>
          </a:xfrm>
          <a:custGeom>
            <a:avLst/>
            <a:gdLst/>
            <a:ahLst/>
            <a:cxnLst/>
            <a:rect l="l" t="t" r="r" b="b"/>
            <a:pathLst>
              <a:path w="17" h="18">
                <a:moveTo>
                  <a:pt x="17" y="9"/>
                </a:moveTo>
                <a:lnTo>
                  <a:pt x="17" y="7"/>
                </a:lnTo>
                <a:lnTo>
                  <a:pt x="16" y="5"/>
                </a:lnTo>
                <a:lnTo>
                  <a:pt x="15" y="4"/>
                </a:lnTo>
                <a:lnTo>
                  <a:pt x="14" y="3"/>
                </a:lnTo>
                <a:lnTo>
                  <a:pt x="13" y="2"/>
                </a:lnTo>
                <a:lnTo>
                  <a:pt x="12" y="1"/>
                </a:lnTo>
                <a:lnTo>
                  <a:pt x="10" y="0"/>
                </a:lnTo>
                <a:lnTo>
                  <a:pt x="8" y="0"/>
                </a:lnTo>
                <a:lnTo>
                  <a:pt x="7" y="0"/>
                </a:lnTo>
                <a:lnTo>
                  <a:pt x="5" y="1"/>
                </a:lnTo>
                <a:lnTo>
                  <a:pt x="3" y="2"/>
                </a:lnTo>
                <a:lnTo>
                  <a:pt x="2" y="3"/>
                </a:lnTo>
                <a:lnTo>
                  <a:pt x="1" y="4"/>
                </a:lnTo>
                <a:lnTo>
                  <a:pt x="0" y="5"/>
                </a:lnTo>
                <a:lnTo>
                  <a:pt x="0" y="7"/>
                </a:lnTo>
                <a:lnTo>
                  <a:pt x="0" y="9"/>
                </a:lnTo>
                <a:lnTo>
                  <a:pt x="0" y="11"/>
                </a:lnTo>
                <a:lnTo>
                  <a:pt x="0" y="12"/>
                </a:lnTo>
                <a:lnTo>
                  <a:pt x="1" y="14"/>
                </a:lnTo>
                <a:lnTo>
                  <a:pt x="2" y="15"/>
                </a:lnTo>
                <a:lnTo>
                  <a:pt x="3" y="16"/>
                </a:lnTo>
                <a:lnTo>
                  <a:pt x="5" y="17"/>
                </a:lnTo>
                <a:lnTo>
                  <a:pt x="7" y="17"/>
                </a:lnTo>
                <a:lnTo>
                  <a:pt x="8" y="18"/>
                </a:lnTo>
                <a:lnTo>
                  <a:pt x="10" y="17"/>
                </a:lnTo>
                <a:lnTo>
                  <a:pt x="12" y="17"/>
                </a:lnTo>
                <a:lnTo>
                  <a:pt x="13" y="16"/>
                </a:lnTo>
                <a:lnTo>
                  <a:pt x="14" y="15"/>
                </a:lnTo>
                <a:lnTo>
                  <a:pt x="15" y="14"/>
                </a:lnTo>
                <a:lnTo>
                  <a:pt x="16" y="12"/>
                </a:lnTo>
                <a:lnTo>
                  <a:pt x="17" y="11"/>
                </a:lnTo>
                <a:lnTo>
                  <a:pt x="17" y="9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939800" y="1066800"/>
            <a:ext cx="215900" cy="228600"/>
          </a:xfrm>
          <a:custGeom>
            <a:avLst/>
            <a:gdLst/>
            <a:ahLst/>
            <a:cxnLst/>
            <a:rect l="l" t="t" r="r" b="b"/>
            <a:pathLst>
              <a:path w="17" h="18">
                <a:moveTo>
                  <a:pt x="17" y="9"/>
                </a:moveTo>
                <a:lnTo>
                  <a:pt x="17" y="7"/>
                </a:lnTo>
                <a:lnTo>
                  <a:pt x="17" y="5"/>
                </a:lnTo>
                <a:lnTo>
                  <a:pt x="16" y="4"/>
                </a:lnTo>
                <a:lnTo>
                  <a:pt x="15" y="3"/>
                </a:lnTo>
                <a:lnTo>
                  <a:pt x="14" y="2"/>
                </a:lnTo>
                <a:lnTo>
                  <a:pt x="12" y="1"/>
                </a:lnTo>
                <a:lnTo>
                  <a:pt x="10" y="0"/>
                </a:lnTo>
                <a:lnTo>
                  <a:pt x="9" y="0"/>
                </a:lnTo>
                <a:lnTo>
                  <a:pt x="7" y="0"/>
                </a:lnTo>
                <a:lnTo>
                  <a:pt x="5" y="1"/>
                </a:lnTo>
                <a:lnTo>
                  <a:pt x="4" y="2"/>
                </a:lnTo>
                <a:lnTo>
                  <a:pt x="3" y="3"/>
                </a:lnTo>
                <a:lnTo>
                  <a:pt x="2" y="4"/>
                </a:lnTo>
                <a:lnTo>
                  <a:pt x="1" y="5"/>
                </a:lnTo>
                <a:lnTo>
                  <a:pt x="0" y="7"/>
                </a:lnTo>
                <a:lnTo>
                  <a:pt x="0" y="9"/>
                </a:lnTo>
                <a:lnTo>
                  <a:pt x="0" y="11"/>
                </a:lnTo>
                <a:lnTo>
                  <a:pt x="1" y="12"/>
                </a:lnTo>
                <a:lnTo>
                  <a:pt x="2" y="14"/>
                </a:lnTo>
                <a:lnTo>
                  <a:pt x="3" y="15"/>
                </a:lnTo>
                <a:lnTo>
                  <a:pt x="4" y="16"/>
                </a:lnTo>
                <a:lnTo>
                  <a:pt x="5" y="17"/>
                </a:lnTo>
                <a:lnTo>
                  <a:pt x="7" y="17"/>
                </a:lnTo>
                <a:lnTo>
                  <a:pt x="9" y="18"/>
                </a:lnTo>
                <a:lnTo>
                  <a:pt x="10" y="17"/>
                </a:lnTo>
                <a:lnTo>
                  <a:pt x="12" y="17"/>
                </a:lnTo>
                <a:lnTo>
                  <a:pt x="14" y="16"/>
                </a:lnTo>
                <a:lnTo>
                  <a:pt x="15" y="15"/>
                </a:lnTo>
                <a:lnTo>
                  <a:pt x="16" y="14"/>
                </a:lnTo>
                <a:lnTo>
                  <a:pt x="17" y="12"/>
                </a:lnTo>
                <a:lnTo>
                  <a:pt x="17" y="11"/>
                </a:lnTo>
                <a:lnTo>
                  <a:pt x="17" y="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774700" y="23114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17" h="17">
                <a:moveTo>
                  <a:pt x="17" y="8"/>
                </a:moveTo>
                <a:lnTo>
                  <a:pt x="17" y="6"/>
                </a:lnTo>
                <a:lnTo>
                  <a:pt x="16" y="5"/>
                </a:lnTo>
                <a:lnTo>
                  <a:pt x="16" y="3"/>
                </a:lnTo>
                <a:lnTo>
                  <a:pt x="14" y="2"/>
                </a:lnTo>
                <a:lnTo>
                  <a:pt x="13" y="1"/>
                </a:lnTo>
                <a:lnTo>
                  <a:pt x="12" y="0"/>
                </a:lnTo>
                <a:lnTo>
                  <a:pt x="10" y="0"/>
                </a:lnTo>
                <a:lnTo>
                  <a:pt x="8" y="0"/>
                </a:lnTo>
                <a:lnTo>
                  <a:pt x="7" y="0"/>
                </a:lnTo>
                <a:lnTo>
                  <a:pt x="5" y="0"/>
                </a:lnTo>
                <a:lnTo>
                  <a:pt x="3" y="1"/>
                </a:lnTo>
                <a:lnTo>
                  <a:pt x="2" y="2"/>
                </a:lnTo>
                <a:lnTo>
                  <a:pt x="1" y="3"/>
                </a:lnTo>
                <a:lnTo>
                  <a:pt x="0" y="5"/>
                </a:lnTo>
                <a:lnTo>
                  <a:pt x="0" y="6"/>
                </a:lnTo>
                <a:lnTo>
                  <a:pt x="0" y="8"/>
                </a:lnTo>
                <a:lnTo>
                  <a:pt x="0" y="10"/>
                </a:lnTo>
                <a:lnTo>
                  <a:pt x="0" y="12"/>
                </a:lnTo>
                <a:lnTo>
                  <a:pt x="1" y="13"/>
                </a:lnTo>
                <a:lnTo>
                  <a:pt x="2" y="14"/>
                </a:lnTo>
                <a:lnTo>
                  <a:pt x="3" y="15"/>
                </a:lnTo>
                <a:lnTo>
                  <a:pt x="5" y="16"/>
                </a:lnTo>
                <a:lnTo>
                  <a:pt x="7" y="17"/>
                </a:lnTo>
                <a:lnTo>
                  <a:pt x="8" y="17"/>
                </a:lnTo>
                <a:lnTo>
                  <a:pt x="10" y="17"/>
                </a:lnTo>
                <a:lnTo>
                  <a:pt x="12" y="16"/>
                </a:lnTo>
                <a:lnTo>
                  <a:pt x="13" y="15"/>
                </a:lnTo>
                <a:lnTo>
                  <a:pt x="14" y="14"/>
                </a:lnTo>
                <a:lnTo>
                  <a:pt x="16" y="13"/>
                </a:lnTo>
                <a:lnTo>
                  <a:pt x="16" y="12"/>
                </a:lnTo>
                <a:lnTo>
                  <a:pt x="17" y="10"/>
                </a:lnTo>
                <a:lnTo>
                  <a:pt x="17" y="8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 flipV="1">
            <a:off x="2848444" y="941015"/>
            <a:ext cx="0" cy="1474188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Freeform 47"/>
          <p:cNvSpPr/>
          <p:nvPr/>
        </p:nvSpPr>
        <p:spPr>
          <a:xfrm>
            <a:off x="2832100" y="914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539039" y="2415203"/>
            <a:ext cx="220520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880617" y="2536261"/>
            <a:ext cx="0" cy="143478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01675" y="2415203"/>
            <a:ext cx="48912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50587" y="2415203"/>
            <a:ext cx="339713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390300" y="2415203"/>
            <a:ext cx="416349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806649" y="2415203"/>
            <a:ext cx="416349" cy="0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050587" y="2095163"/>
            <a:ext cx="0" cy="320040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Freeform 55"/>
          <p:cNvSpPr/>
          <p:nvPr/>
        </p:nvSpPr>
        <p:spPr>
          <a:xfrm>
            <a:off x="1028700" y="2070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3" y="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 flipV="1">
            <a:off x="1390300" y="2095163"/>
            <a:ext cx="0" cy="32004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Freeform 57"/>
          <p:cNvSpPr/>
          <p:nvPr/>
        </p:nvSpPr>
        <p:spPr>
          <a:xfrm>
            <a:off x="1371600" y="2070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 flipV="1">
            <a:off x="1806649" y="2109684"/>
            <a:ext cx="0" cy="305519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Freeform 59"/>
          <p:cNvSpPr/>
          <p:nvPr/>
        </p:nvSpPr>
        <p:spPr>
          <a:xfrm>
            <a:off x="1790700" y="2082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 flipV="1">
            <a:off x="2222998" y="2095163"/>
            <a:ext cx="0" cy="320040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Freeform 61"/>
          <p:cNvSpPr/>
          <p:nvPr/>
        </p:nvSpPr>
        <p:spPr>
          <a:xfrm>
            <a:off x="2197100" y="2070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4" y="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 flipV="1">
            <a:off x="1050587" y="1326610"/>
            <a:ext cx="0" cy="507950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Freeform 63"/>
          <p:cNvSpPr/>
          <p:nvPr/>
        </p:nvSpPr>
        <p:spPr>
          <a:xfrm>
            <a:off x="1028700" y="12954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2" y="0"/>
                </a:moveTo>
                <a:lnTo>
                  <a:pt x="0" y="4"/>
                </a:lnTo>
                <a:lnTo>
                  <a:pt x="2" y="2"/>
                </a:lnTo>
                <a:lnTo>
                  <a:pt x="3" y="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 flipV="1">
            <a:off x="1390300" y="1613191"/>
            <a:ext cx="0" cy="221369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390300" y="1613191"/>
            <a:ext cx="269160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Freeform 66"/>
          <p:cNvSpPr/>
          <p:nvPr/>
        </p:nvSpPr>
        <p:spPr>
          <a:xfrm>
            <a:off x="1638300" y="15875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0" y="0"/>
                </a:lnTo>
                <a:lnTo>
                  <a:pt x="2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" name="Connector 67"/>
          <p:cNvCxnSpPr/>
          <p:nvPr/>
        </p:nvCxnSpPr>
        <p:spPr>
          <a:xfrm flipV="1">
            <a:off x="1806649" y="1760380"/>
            <a:ext cx="0" cy="59659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Freeform 68"/>
          <p:cNvSpPr/>
          <p:nvPr/>
        </p:nvSpPr>
        <p:spPr>
          <a:xfrm>
            <a:off x="1790700" y="17399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 flipV="1">
            <a:off x="2222998" y="1748959"/>
            <a:ext cx="0" cy="85601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222998" y="1748959"/>
            <a:ext cx="151163" cy="0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Freeform 71"/>
          <p:cNvSpPr/>
          <p:nvPr/>
        </p:nvSpPr>
        <p:spPr>
          <a:xfrm>
            <a:off x="2362200" y="1727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>
            <a:off x="2521350" y="1870017"/>
            <a:ext cx="0" cy="545186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521350" y="2415203"/>
            <a:ext cx="526779" cy="0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Freeform 74"/>
          <p:cNvSpPr/>
          <p:nvPr/>
        </p:nvSpPr>
        <p:spPr>
          <a:xfrm>
            <a:off x="3035300" y="2400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>
            <a:off x="539039" y="1179421"/>
            <a:ext cx="364359" cy="0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Freeform 76"/>
          <p:cNvSpPr/>
          <p:nvPr/>
        </p:nvSpPr>
        <p:spPr>
          <a:xfrm>
            <a:off x="889000" y="11557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>
            <a:off x="1171645" y="1179421"/>
            <a:ext cx="487815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Freeform 78"/>
          <p:cNvSpPr/>
          <p:nvPr/>
        </p:nvSpPr>
        <p:spPr>
          <a:xfrm>
            <a:off x="1638300" y="11557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0" y="0"/>
                </a:lnTo>
                <a:lnTo>
                  <a:pt x="2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" name="Connector 79"/>
          <p:cNvCxnSpPr/>
          <p:nvPr/>
        </p:nvCxnSpPr>
        <p:spPr>
          <a:xfrm>
            <a:off x="1927707" y="1179421"/>
            <a:ext cx="1036500" cy="0"/>
          </a:xfrm>
          <a:prstGeom prst="line">
            <a:avLst/>
          </a:prstGeom>
          <a:ln w="30151">
            <a:solidFill>
              <a:srgbClr val="93D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927707" y="1179421"/>
            <a:ext cx="1120422" cy="0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Freeform 81"/>
          <p:cNvSpPr/>
          <p:nvPr/>
        </p:nvSpPr>
        <p:spPr>
          <a:xfrm>
            <a:off x="3035300" y="11557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 flipV="1">
            <a:off x="1806649" y="1326610"/>
            <a:ext cx="0" cy="165523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Freeform 83"/>
          <p:cNvSpPr/>
          <p:nvPr/>
        </p:nvSpPr>
        <p:spPr>
          <a:xfrm>
            <a:off x="1790700" y="12954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0"/>
                </a:moveTo>
                <a:lnTo>
                  <a:pt x="0" y="4"/>
                </a:lnTo>
                <a:lnTo>
                  <a:pt x="1" y="2"/>
                </a:lnTo>
                <a:lnTo>
                  <a:pt x="3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" name="Connector 84"/>
          <p:cNvCxnSpPr/>
          <p:nvPr/>
        </p:nvCxnSpPr>
        <p:spPr>
          <a:xfrm>
            <a:off x="2521350" y="1179421"/>
            <a:ext cx="0" cy="73044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Freeform 85"/>
          <p:cNvSpPr/>
          <p:nvPr/>
        </p:nvSpPr>
        <p:spPr>
          <a:xfrm>
            <a:off x="2501900" y="12319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2" y="4"/>
                </a:moveTo>
                <a:lnTo>
                  <a:pt x="3" y="0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" name="Connector 86"/>
          <p:cNvCxnSpPr/>
          <p:nvPr/>
        </p:nvCxnSpPr>
        <p:spPr>
          <a:xfrm>
            <a:off x="2521350" y="1542111"/>
            <a:ext cx="0" cy="59659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Freeform 87"/>
          <p:cNvSpPr/>
          <p:nvPr/>
        </p:nvSpPr>
        <p:spPr>
          <a:xfrm>
            <a:off x="2501900" y="15875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3"/>
                </a:moveTo>
                <a:lnTo>
                  <a:pt x="3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-2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880002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92" name="Picture 9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Long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Short-Term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Memory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(LSTM)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Architecture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91927" y="2354958"/>
            <a:ext cx="5493468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h</a:t>
            </a:r>
            <a:r>
              <a:rPr sz="633" b="0">
                <a:solidFill>
                  <a:srgbClr val="000000"/>
                </a:solidFill>
                <a:latin typeface="Cambria Math"/>
              </a:rPr>
              <a:t>t</a:t>
            </a:r>
            <a:r>
              <a:rPr sz="633" b="0">
                <a:solidFill>
                  <a:srgbClr val="000000"/>
                </a:solidFill>
                <a:latin typeface="Cambria Math"/>
              </a:rPr>
              <a:t>−</a:t>
            </a:r>
            <a:r>
              <a:rPr sz="633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31241" y="2679801"/>
            <a:ext cx="4954154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x</a:t>
            </a:r>
            <a:r>
              <a:rPr sz="633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112933" y="2359154"/>
            <a:ext cx="2672462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h</a:t>
            </a:r>
            <a:r>
              <a:rPr sz="633" b="0">
                <a:solidFill>
                  <a:srgbClr val="FFFFFF"/>
                </a:solidFill>
                <a:latin typeface="Cambria Math"/>
              </a:rPr>
              <a:t>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798793" y="773695"/>
            <a:ext cx="2986602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h</a:t>
            </a:r>
            <a:r>
              <a:rPr sz="633" b="0">
                <a:solidFill>
                  <a:srgbClr val="FFFFFF"/>
                </a:solidFill>
                <a:latin typeface="Cambria Math"/>
              </a:rPr>
              <a:t>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76684" y="1118584"/>
            <a:ext cx="5508711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C</a:t>
            </a:r>
            <a:r>
              <a:rPr sz="633" b="0">
                <a:solidFill>
                  <a:srgbClr val="FFFFFF"/>
                </a:solidFill>
                <a:latin typeface="Cambria Math"/>
              </a:rPr>
              <a:t>t</a:t>
            </a:r>
            <a:r>
              <a:rPr sz="633" b="0">
                <a:solidFill>
                  <a:srgbClr val="FFFFFF"/>
                </a:solidFill>
                <a:latin typeface="Cambria Math"/>
              </a:rPr>
              <a:t>−</a:t>
            </a:r>
            <a:r>
              <a:rPr sz="633" b="0">
                <a:solidFill>
                  <a:srgbClr val="FFFFFF"/>
                </a:solidFill>
                <a:latin typeface="Cambria Math"/>
              </a:rPr>
              <a:t>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112933" y="1122770"/>
            <a:ext cx="2672462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C</a:t>
            </a:r>
            <a:r>
              <a:rPr sz="633" b="0">
                <a:solidFill>
                  <a:srgbClr val="FFFFFF"/>
                </a:solidFill>
                <a:latin typeface="Cambria Math"/>
              </a:rPr>
              <a:t>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696599" y="1904004"/>
            <a:ext cx="4088796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tanh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356896" y="1889478"/>
            <a:ext cx="4428499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σ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17183" y="1889478"/>
            <a:ext cx="4768212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σ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189579" y="1889478"/>
            <a:ext cx="3595816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σ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478549" y="1689046"/>
            <a:ext cx="3306846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×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411293" y="1362562"/>
            <a:ext cx="3374102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tanh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763856" y="1553271"/>
            <a:ext cx="4021539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×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763856" y="1120934"/>
            <a:ext cx="4021539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+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07801" y="1119508"/>
            <a:ext cx="4777594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×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37839" y="2342295"/>
            <a:ext cx="4947557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MSAM10"/>
              </a:rPr>
              <a:t>⊞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504029" y="1092867"/>
            <a:ext cx="228136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Input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Gate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504029" y="1264531"/>
            <a:ext cx="228136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Decides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which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information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should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504029" y="1436603"/>
            <a:ext cx="228136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be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updated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cell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state.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730267" y="1748381"/>
            <a:ext cx="205512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i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σ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W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·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[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h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797" b="0">
                <a:solidFill>
                  <a:srgbClr val="000000"/>
                </a:solidFill>
                <a:latin typeface="Cambria Math"/>
              </a:rPr>
              <a:t>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, 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] +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b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560965" y="1944944"/>
            <a:ext cx="222443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˜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C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 tanh 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W</a:t>
            </a:r>
            <a:r>
              <a:rPr sz="797" b="0">
                <a:solidFill>
                  <a:srgbClr val="000000"/>
                </a:solidFill>
                <a:latin typeface="Cambria Math"/>
              </a:rPr>
              <a:t>C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·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[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h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797" b="0">
                <a:solidFill>
                  <a:srgbClr val="000000"/>
                </a:solidFill>
                <a:latin typeface="Cambria Math"/>
              </a:rPr>
              <a:t>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, 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] +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b</a:t>
            </a:r>
            <a:r>
              <a:rPr sz="797" b="0">
                <a:solidFill>
                  <a:srgbClr val="000000"/>
                </a:solidFill>
                <a:latin typeface="Cambria Math"/>
              </a:rPr>
              <a:t>C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898159" y="3150918"/>
            <a:ext cx="88723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640207" y="3150694"/>
            <a:ext cx="14518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647700" y="1028700"/>
            <a:ext cx="2311400" cy="1536700"/>
          </a:xfrm>
          <a:custGeom>
            <a:avLst/>
            <a:gdLst/>
            <a:ahLst/>
            <a:cxnLst/>
            <a:rect l="l" t="t" r="r" b="b"/>
            <a:pathLst>
              <a:path w="182" h="121">
                <a:moveTo>
                  <a:pt x="179" y="0"/>
                </a:moveTo>
                <a:lnTo>
                  <a:pt x="3" y="0"/>
                </a:ln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1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lnTo>
                  <a:pt x="0" y="3"/>
                </a:lnTo>
                <a:lnTo>
                  <a:pt x="0" y="118"/>
                </a:lnTo>
                <a:lnTo>
                  <a:pt x="0" y="119"/>
                </a:lnTo>
                <a:lnTo>
                  <a:pt x="1" y="119"/>
                </a:lnTo>
                <a:lnTo>
                  <a:pt x="1" y="120"/>
                </a:lnTo>
                <a:lnTo>
                  <a:pt x="1" y="120"/>
                </a:lnTo>
                <a:lnTo>
                  <a:pt x="2" y="121"/>
                </a:lnTo>
                <a:lnTo>
                  <a:pt x="2" y="121"/>
                </a:lnTo>
                <a:lnTo>
                  <a:pt x="3" y="121"/>
                </a:lnTo>
                <a:lnTo>
                  <a:pt x="3" y="121"/>
                </a:lnTo>
                <a:lnTo>
                  <a:pt x="179" y="121"/>
                </a:lnTo>
                <a:lnTo>
                  <a:pt x="180" y="121"/>
                </a:lnTo>
                <a:lnTo>
                  <a:pt x="180" y="121"/>
                </a:lnTo>
                <a:lnTo>
                  <a:pt x="181" y="121"/>
                </a:lnTo>
                <a:lnTo>
                  <a:pt x="181" y="120"/>
                </a:lnTo>
                <a:lnTo>
                  <a:pt x="182" y="120"/>
                </a:lnTo>
                <a:lnTo>
                  <a:pt x="182" y="119"/>
                </a:lnTo>
                <a:lnTo>
                  <a:pt x="182" y="119"/>
                </a:lnTo>
                <a:lnTo>
                  <a:pt x="182" y="118"/>
                </a:lnTo>
                <a:lnTo>
                  <a:pt x="182" y="3"/>
                </a:lnTo>
                <a:lnTo>
                  <a:pt x="182" y="2"/>
                </a:lnTo>
                <a:lnTo>
                  <a:pt x="182" y="2"/>
                </a:lnTo>
                <a:lnTo>
                  <a:pt x="182" y="1"/>
                </a:lnTo>
                <a:lnTo>
                  <a:pt x="181" y="1"/>
                </a:lnTo>
                <a:lnTo>
                  <a:pt x="181" y="0"/>
                </a:lnTo>
                <a:lnTo>
                  <a:pt x="180" y="0"/>
                </a:lnTo>
                <a:lnTo>
                  <a:pt x="180" y="0"/>
                </a:lnTo>
                <a:lnTo>
                  <a:pt x="179" y="0"/>
                </a:lnTo>
                <a:close/>
              </a:path>
            </a:pathLst>
          </a:custGeom>
          <a:solidFill>
            <a:srgbClr val="93D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1612900" y="1828800"/>
            <a:ext cx="381000" cy="241300"/>
          </a:xfrm>
          <a:custGeom>
            <a:avLst/>
            <a:gdLst/>
            <a:ahLst/>
            <a:cxnLst/>
            <a:rect l="l" t="t" r="r" b="b"/>
            <a:pathLst>
              <a:path w="30" h="19">
                <a:moveTo>
                  <a:pt x="27" y="0"/>
                </a:moveTo>
                <a:lnTo>
                  <a:pt x="3" y="0"/>
                </a:lnTo>
                <a:lnTo>
                  <a:pt x="3" y="0"/>
                </a:lnTo>
                <a:lnTo>
                  <a:pt x="2" y="0"/>
                </a:lnTo>
                <a:lnTo>
                  <a:pt x="1" y="1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lnTo>
                  <a:pt x="0" y="3"/>
                </a:lnTo>
                <a:lnTo>
                  <a:pt x="0" y="3"/>
                </a:lnTo>
                <a:lnTo>
                  <a:pt x="0" y="16"/>
                </a:lnTo>
                <a:lnTo>
                  <a:pt x="0" y="17"/>
                </a:lnTo>
                <a:lnTo>
                  <a:pt x="0" y="17"/>
                </a:lnTo>
                <a:lnTo>
                  <a:pt x="1" y="18"/>
                </a:lnTo>
                <a:lnTo>
                  <a:pt x="1" y="18"/>
                </a:lnTo>
                <a:lnTo>
                  <a:pt x="1" y="19"/>
                </a:lnTo>
                <a:lnTo>
                  <a:pt x="2" y="19"/>
                </a:lnTo>
                <a:lnTo>
                  <a:pt x="3" y="19"/>
                </a:lnTo>
                <a:lnTo>
                  <a:pt x="3" y="19"/>
                </a:lnTo>
                <a:lnTo>
                  <a:pt x="27" y="19"/>
                </a:lnTo>
                <a:lnTo>
                  <a:pt x="28" y="19"/>
                </a:lnTo>
                <a:lnTo>
                  <a:pt x="28" y="19"/>
                </a:lnTo>
                <a:lnTo>
                  <a:pt x="29" y="19"/>
                </a:lnTo>
                <a:lnTo>
                  <a:pt x="29" y="18"/>
                </a:lnTo>
                <a:lnTo>
                  <a:pt x="30" y="18"/>
                </a:lnTo>
                <a:lnTo>
                  <a:pt x="30" y="17"/>
                </a:lnTo>
                <a:lnTo>
                  <a:pt x="30" y="17"/>
                </a:lnTo>
                <a:lnTo>
                  <a:pt x="30" y="16"/>
                </a:lnTo>
                <a:lnTo>
                  <a:pt x="30" y="3"/>
                </a:lnTo>
                <a:lnTo>
                  <a:pt x="30" y="3"/>
                </a:lnTo>
                <a:lnTo>
                  <a:pt x="30" y="2"/>
                </a:lnTo>
                <a:lnTo>
                  <a:pt x="30" y="2"/>
                </a:lnTo>
                <a:lnTo>
                  <a:pt x="29" y="1"/>
                </a:lnTo>
                <a:lnTo>
                  <a:pt x="29" y="1"/>
                </a:lnTo>
                <a:lnTo>
                  <a:pt x="28" y="0"/>
                </a:lnTo>
                <a:lnTo>
                  <a:pt x="28" y="0"/>
                </a:lnTo>
                <a:lnTo>
                  <a:pt x="2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1270000" y="1841500"/>
            <a:ext cx="241300" cy="215900"/>
          </a:xfrm>
          <a:custGeom>
            <a:avLst/>
            <a:gdLst/>
            <a:ahLst/>
            <a:cxnLst/>
            <a:rect l="l" t="t" r="r" b="b"/>
            <a:pathLst>
              <a:path w="19" h="17">
                <a:moveTo>
                  <a:pt x="15" y="0"/>
                </a:moveTo>
                <a:lnTo>
                  <a:pt x="4" y="0"/>
                </a:lnTo>
                <a:lnTo>
                  <a:pt x="3" y="0"/>
                </a:lnTo>
                <a:lnTo>
                  <a:pt x="2" y="1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1" y="2"/>
                </a:lnTo>
                <a:lnTo>
                  <a:pt x="0" y="3"/>
                </a:lnTo>
                <a:lnTo>
                  <a:pt x="0" y="3"/>
                </a:lnTo>
                <a:lnTo>
                  <a:pt x="0" y="14"/>
                </a:lnTo>
                <a:lnTo>
                  <a:pt x="0" y="15"/>
                </a:lnTo>
                <a:lnTo>
                  <a:pt x="1" y="15"/>
                </a:lnTo>
                <a:lnTo>
                  <a:pt x="1" y="16"/>
                </a:lnTo>
                <a:lnTo>
                  <a:pt x="1" y="16"/>
                </a:lnTo>
                <a:lnTo>
                  <a:pt x="2" y="17"/>
                </a:lnTo>
                <a:lnTo>
                  <a:pt x="2" y="17"/>
                </a:lnTo>
                <a:lnTo>
                  <a:pt x="3" y="17"/>
                </a:lnTo>
                <a:lnTo>
                  <a:pt x="4" y="17"/>
                </a:lnTo>
                <a:lnTo>
                  <a:pt x="15" y="17"/>
                </a:lnTo>
                <a:lnTo>
                  <a:pt x="16" y="17"/>
                </a:lnTo>
                <a:lnTo>
                  <a:pt x="17" y="17"/>
                </a:lnTo>
                <a:lnTo>
                  <a:pt x="17" y="17"/>
                </a:lnTo>
                <a:lnTo>
                  <a:pt x="18" y="16"/>
                </a:lnTo>
                <a:lnTo>
                  <a:pt x="18" y="16"/>
                </a:lnTo>
                <a:lnTo>
                  <a:pt x="18" y="15"/>
                </a:lnTo>
                <a:lnTo>
                  <a:pt x="19" y="15"/>
                </a:lnTo>
                <a:lnTo>
                  <a:pt x="19" y="14"/>
                </a:lnTo>
                <a:lnTo>
                  <a:pt x="19" y="3"/>
                </a:lnTo>
                <a:lnTo>
                  <a:pt x="19" y="3"/>
                </a:lnTo>
                <a:lnTo>
                  <a:pt x="18" y="2"/>
                </a:lnTo>
                <a:lnTo>
                  <a:pt x="18" y="2"/>
                </a:lnTo>
                <a:lnTo>
                  <a:pt x="18" y="1"/>
                </a:lnTo>
                <a:lnTo>
                  <a:pt x="17" y="1"/>
                </a:lnTo>
                <a:lnTo>
                  <a:pt x="17" y="1"/>
                </a:lnTo>
                <a:lnTo>
                  <a:pt x="16" y="0"/>
                </a:lnTo>
                <a:lnTo>
                  <a:pt x="1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939800" y="1841500"/>
            <a:ext cx="228600" cy="215900"/>
          </a:xfrm>
          <a:custGeom>
            <a:avLst/>
            <a:gdLst/>
            <a:ahLst/>
            <a:cxnLst/>
            <a:rect l="l" t="t" r="r" b="b"/>
            <a:pathLst>
              <a:path w="18" h="17">
                <a:moveTo>
                  <a:pt x="15" y="0"/>
                </a:moveTo>
                <a:lnTo>
                  <a:pt x="3" y="0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lnTo>
                  <a:pt x="1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3"/>
                </a:lnTo>
                <a:lnTo>
                  <a:pt x="0" y="14"/>
                </a:lnTo>
                <a:lnTo>
                  <a:pt x="0" y="15"/>
                </a:lnTo>
                <a:lnTo>
                  <a:pt x="0" y="15"/>
                </a:lnTo>
                <a:lnTo>
                  <a:pt x="0" y="16"/>
                </a:lnTo>
                <a:lnTo>
                  <a:pt x="1" y="16"/>
                </a:lnTo>
                <a:lnTo>
                  <a:pt x="1" y="17"/>
                </a:lnTo>
                <a:lnTo>
                  <a:pt x="2" y="17"/>
                </a:lnTo>
                <a:lnTo>
                  <a:pt x="2" y="17"/>
                </a:lnTo>
                <a:lnTo>
                  <a:pt x="3" y="17"/>
                </a:lnTo>
                <a:lnTo>
                  <a:pt x="15" y="17"/>
                </a:lnTo>
                <a:lnTo>
                  <a:pt x="15" y="17"/>
                </a:lnTo>
                <a:lnTo>
                  <a:pt x="16" y="17"/>
                </a:lnTo>
                <a:lnTo>
                  <a:pt x="16" y="17"/>
                </a:lnTo>
                <a:lnTo>
                  <a:pt x="17" y="16"/>
                </a:lnTo>
                <a:lnTo>
                  <a:pt x="17" y="16"/>
                </a:lnTo>
                <a:lnTo>
                  <a:pt x="18" y="15"/>
                </a:lnTo>
                <a:lnTo>
                  <a:pt x="18" y="15"/>
                </a:lnTo>
                <a:lnTo>
                  <a:pt x="18" y="14"/>
                </a:lnTo>
                <a:lnTo>
                  <a:pt x="18" y="3"/>
                </a:lnTo>
                <a:lnTo>
                  <a:pt x="18" y="3"/>
                </a:lnTo>
                <a:lnTo>
                  <a:pt x="18" y="2"/>
                </a:lnTo>
                <a:lnTo>
                  <a:pt x="17" y="2"/>
                </a:lnTo>
                <a:lnTo>
                  <a:pt x="17" y="1"/>
                </a:lnTo>
                <a:lnTo>
                  <a:pt x="16" y="1"/>
                </a:lnTo>
                <a:lnTo>
                  <a:pt x="16" y="1"/>
                </a:lnTo>
                <a:lnTo>
                  <a:pt x="15" y="0"/>
                </a:lnTo>
                <a:lnTo>
                  <a:pt x="1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2108200" y="1841500"/>
            <a:ext cx="228600" cy="215900"/>
          </a:xfrm>
          <a:custGeom>
            <a:avLst/>
            <a:gdLst/>
            <a:ahLst/>
            <a:cxnLst/>
            <a:rect l="l" t="t" r="r" b="b"/>
            <a:pathLst>
              <a:path w="18" h="17">
                <a:moveTo>
                  <a:pt x="15" y="0"/>
                </a:moveTo>
                <a:lnTo>
                  <a:pt x="3" y="0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lnTo>
                  <a:pt x="1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3"/>
                </a:lnTo>
                <a:lnTo>
                  <a:pt x="0" y="14"/>
                </a:lnTo>
                <a:lnTo>
                  <a:pt x="0" y="15"/>
                </a:lnTo>
                <a:lnTo>
                  <a:pt x="0" y="15"/>
                </a:lnTo>
                <a:lnTo>
                  <a:pt x="0" y="16"/>
                </a:lnTo>
                <a:lnTo>
                  <a:pt x="1" y="16"/>
                </a:lnTo>
                <a:lnTo>
                  <a:pt x="1" y="17"/>
                </a:lnTo>
                <a:lnTo>
                  <a:pt x="2" y="17"/>
                </a:lnTo>
                <a:lnTo>
                  <a:pt x="2" y="17"/>
                </a:lnTo>
                <a:lnTo>
                  <a:pt x="3" y="17"/>
                </a:lnTo>
                <a:lnTo>
                  <a:pt x="15" y="17"/>
                </a:lnTo>
                <a:lnTo>
                  <a:pt x="16" y="17"/>
                </a:lnTo>
                <a:lnTo>
                  <a:pt x="16" y="17"/>
                </a:lnTo>
                <a:lnTo>
                  <a:pt x="17" y="17"/>
                </a:lnTo>
                <a:lnTo>
                  <a:pt x="17" y="16"/>
                </a:lnTo>
                <a:lnTo>
                  <a:pt x="18" y="16"/>
                </a:lnTo>
                <a:lnTo>
                  <a:pt x="18" y="15"/>
                </a:lnTo>
                <a:lnTo>
                  <a:pt x="18" y="15"/>
                </a:lnTo>
                <a:lnTo>
                  <a:pt x="18" y="14"/>
                </a:lnTo>
                <a:lnTo>
                  <a:pt x="18" y="3"/>
                </a:lnTo>
                <a:lnTo>
                  <a:pt x="18" y="3"/>
                </a:lnTo>
                <a:lnTo>
                  <a:pt x="18" y="2"/>
                </a:lnTo>
                <a:lnTo>
                  <a:pt x="18" y="2"/>
                </a:lnTo>
                <a:lnTo>
                  <a:pt x="17" y="1"/>
                </a:lnTo>
                <a:lnTo>
                  <a:pt x="17" y="1"/>
                </a:lnTo>
                <a:lnTo>
                  <a:pt x="16" y="1"/>
                </a:lnTo>
                <a:lnTo>
                  <a:pt x="16" y="0"/>
                </a:lnTo>
                <a:lnTo>
                  <a:pt x="15" y="0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2413000" y="16383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17" h="17">
                <a:moveTo>
                  <a:pt x="17" y="9"/>
                </a:moveTo>
                <a:lnTo>
                  <a:pt x="17" y="7"/>
                </a:lnTo>
                <a:lnTo>
                  <a:pt x="17" y="5"/>
                </a:lnTo>
                <a:lnTo>
                  <a:pt x="16" y="4"/>
                </a:lnTo>
                <a:lnTo>
                  <a:pt x="15" y="3"/>
                </a:lnTo>
                <a:lnTo>
                  <a:pt x="13" y="2"/>
                </a:lnTo>
                <a:lnTo>
                  <a:pt x="12" y="1"/>
                </a:lnTo>
                <a:lnTo>
                  <a:pt x="10" y="0"/>
                </a:lnTo>
                <a:lnTo>
                  <a:pt x="9" y="0"/>
                </a:lnTo>
                <a:lnTo>
                  <a:pt x="7" y="0"/>
                </a:lnTo>
                <a:lnTo>
                  <a:pt x="5" y="1"/>
                </a:lnTo>
                <a:lnTo>
                  <a:pt x="4" y="2"/>
                </a:lnTo>
                <a:lnTo>
                  <a:pt x="2" y="3"/>
                </a:lnTo>
                <a:lnTo>
                  <a:pt x="1" y="4"/>
                </a:lnTo>
                <a:lnTo>
                  <a:pt x="1" y="5"/>
                </a:lnTo>
                <a:lnTo>
                  <a:pt x="0" y="7"/>
                </a:lnTo>
                <a:lnTo>
                  <a:pt x="0" y="9"/>
                </a:lnTo>
                <a:lnTo>
                  <a:pt x="0" y="10"/>
                </a:lnTo>
                <a:lnTo>
                  <a:pt x="1" y="12"/>
                </a:lnTo>
                <a:lnTo>
                  <a:pt x="1" y="14"/>
                </a:lnTo>
                <a:lnTo>
                  <a:pt x="2" y="15"/>
                </a:lnTo>
                <a:lnTo>
                  <a:pt x="4" y="16"/>
                </a:lnTo>
                <a:lnTo>
                  <a:pt x="5" y="17"/>
                </a:lnTo>
                <a:lnTo>
                  <a:pt x="7" y="17"/>
                </a:lnTo>
                <a:lnTo>
                  <a:pt x="9" y="17"/>
                </a:lnTo>
                <a:lnTo>
                  <a:pt x="10" y="17"/>
                </a:lnTo>
                <a:lnTo>
                  <a:pt x="12" y="17"/>
                </a:lnTo>
                <a:lnTo>
                  <a:pt x="13" y="16"/>
                </a:lnTo>
                <a:lnTo>
                  <a:pt x="15" y="15"/>
                </a:lnTo>
                <a:lnTo>
                  <a:pt x="16" y="14"/>
                </a:lnTo>
                <a:lnTo>
                  <a:pt x="17" y="12"/>
                </a:lnTo>
                <a:lnTo>
                  <a:pt x="17" y="10"/>
                </a:lnTo>
                <a:lnTo>
                  <a:pt x="17" y="9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2324100" y="1295400"/>
            <a:ext cx="393700" cy="241300"/>
          </a:xfrm>
          <a:custGeom>
            <a:avLst/>
            <a:gdLst/>
            <a:ahLst/>
            <a:cxnLst/>
            <a:rect l="l" t="t" r="r" b="b"/>
            <a:pathLst>
              <a:path w="31" h="19">
                <a:moveTo>
                  <a:pt x="28" y="0"/>
                </a:move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0"/>
                </a:lnTo>
                <a:lnTo>
                  <a:pt x="1" y="1"/>
                </a:lnTo>
                <a:lnTo>
                  <a:pt x="1" y="1"/>
                </a:lnTo>
                <a:lnTo>
                  <a:pt x="0" y="2"/>
                </a:lnTo>
                <a:lnTo>
                  <a:pt x="0" y="3"/>
                </a:lnTo>
                <a:lnTo>
                  <a:pt x="0" y="15"/>
                </a:lnTo>
                <a:lnTo>
                  <a:pt x="0" y="16"/>
                </a:lnTo>
                <a:lnTo>
                  <a:pt x="1" y="17"/>
                </a:lnTo>
                <a:lnTo>
                  <a:pt x="1" y="17"/>
                </a:lnTo>
                <a:lnTo>
                  <a:pt x="1" y="18"/>
                </a:lnTo>
                <a:lnTo>
                  <a:pt x="2" y="18"/>
                </a:lnTo>
                <a:lnTo>
                  <a:pt x="2" y="18"/>
                </a:lnTo>
                <a:lnTo>
                  <a:pt x="3" y="18"/>
                </a:lnTo>
                <a:lnTo>
                  <a:pt x="4" y="19"/>
                </a:lnTo>
                <a:lnTo>
                  <a:pt x="28" y="19"/>
                </a:lnTo>
                <a:lnTo>
                  <a:pt x="28" y="18"/>
                </a:lnTo>
                <a:lnTo>
                  <a:pt x="29" y="18"/>
                </a:lnTo>
                <a:lnTo>
                  <a:pt x="29" y="18"/>
                </a:lnTo>
                <a:lnTo>
                  <a:pt x="30" y="18"/>
                </a:lnTo>
                <a:lnTo>
                  <a:pt x="30" y="17"/>
                </a:lnTo>
                <a:lnTo>
                  <a:pt x="30" y="17"/>
                </a:lnTo>
                <a:lnTo>
                  <a:pt x="31" y="16"/>
                </a:lnTo>
                <a:lnTo>
                  <a:pt x="31" y="15"/>
                </a:lnTo>
                <a:lnTo>
                  <a:pt x="31" y="3"/>
                </a:lnTo>
                <a:lnTo>
                  <a:pt x="31" y="2"/>
                </a:lnTo>
                <a:lnTo>
                  <a:pt x="30" y="1"/>
                </a:lnTo>
                <a:lnTo>
                  <a:pt x="30" y="1"/>
                </a:lnTo>
                <a:lnTo>
                  <a:pt x="30" y="0"/>
                </a:lnTo>
                <a:lnTo>
                  <a:pt x="29" y="0"/>
                </a:lnTo>
                <a:lnTo>
                  <a:pt x="29" y="0"/>
                </a:lnTo>
                <a:lnTo>
                  <a:pt x="28" y="0"/>
                </a:lnTo>
                <a:lnTo>
                  <a:pt x="28" y="0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1701800" y="1498600"/>
            <a:ext cx="215900" cy="228600"/>
          </a:xfrm>
          <a:custGeom>
            <a:avLst/>
            <a:gdLst/>
            <a:ahLst/>
            <a:cxnLst/>
            <a:rect l="l" t="t" r="r" b="b"/>
            <a:pathLst>
              <a:path w="17" h="18">
                <a:moveTo>
                  <a:pt x="17" y="9"/>
                </a:moveTo>
                <a:lnTo>
                  <a:pt x="17" y="7"/>
                </a:lnTo>
                <a:lnTo>
                  <a:pt x="16" y="6"/>
                </a:lnTo>
                <a:lnTo>
                  <a:pt x="15" y="4"/>
                </a:lnTo>
                <a:lnTo>
                  <a:pt x="14" y="3"/>
                </a:lnTo>
                <a:lnTo>
                  <a:pt x="13" y="2"/>
                </a:lnTo>
                <a:lnTo>
                  <a:pt x="12" y="1"/>
                </a:lnTo>
                <a:lnTo>
                  <a:pt x="10" y="1"/>
                </a:lnTo>
                <a:lnTo>
                  <a:pt x="8" y="0"/>
                </a:lnTo>
                <a:lnTo>
                  <a:pt x="7" y="1"/>
                </a:lnTo>
                <a:lnTo>
                  <a:pt x="5" y="1"/>
                </a:lnTo>
                <a:lnTo>
                  <a:pt x="3" y="2"/>
                </a:lnTo>
                <a:lnTo>
                  <a:pt x="2" y="3"/>
                </a:lnTo>
                <a:lnTo>
                  <a:pt x="1" y="4"/>
                </a:lnTo>
                <a:lnTo>
                  <a:pt x="0" y="6"/>
                </a:lnTo>
                <a:lnTo>
                  <a:pt x="0" y="7"/>
                </a:lnTo>
                <a:lnTo>
                  <a:pt x="0" y="9"/>
                </a:lnTo>
                <a:lnTo>
                  <a:pt x="0" y="11"/>
                </a:lnTo>
                <a:lnTo>
                  <a:pt x="0" y="12"/>
                </a:lnTo>
                <a:lnTo>
                  <a:pt x="1" y="14"/>
                </a:lnTo>
                <a:lnTo>
                  <a:pt x="2" y="15"/>
                </a:lnTo>
                <a:lnTo>
                  <a:pt x="3" y="16"/>
                </a:lnTo>
                <a:lnTo>
                  <a:pt x="5" y="17"/>
                </a:lnTo>
                <a:lnTo>
                  <a:pt x="7" y="18"/>
                </a:lnTo>
                <a:lnTo>
                  <a:pt x="8" y="18"/>
                </a:lnTo>
                <a:lnTo>
                  <a:pt x="10" y="18"/>
                </a:lnTo>
                <a:lnTo>
                  <a:pt x="12" y="17"/>
                </a:lnTo>
                <a:lnTo>
                  <a:pt x="13" y="16"/>
                </a:lnTo>
                <a:lnTo>
                  <a:pt x="14" y="15"/>
                </a:lnTo>
                <a:lnTo>
                  <a:pt x="15" y="14"/>
                </a:lnTo>
                <a:lnTo>
                  <a:pt x="16" y="12"/>
                </a:lnTo>
                <a:lnTo>
                  <a:pt x="17" y="11"/>
                </a:lnTo>
                <a:lnTo>
                  <a:pt x="17" y="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1701800" y="1066800"/>
            <a:ext cx="215900" cy="228600"/>
          </a:xfrm>
          <a:custGeom>
            <a:avLst/>
            <a:gdLst/>
            <a:ahLst/>
            <a:cxnLst/>
            <a:rect l="l" t="t" r="r" b="b"/>
            <a:pathLst>
              <a:path w="17" h="18">
                <a:moveTo>
                  <a:pt x="17" y="9"/>
                </a:moveTo>
                <a:lnTo>
                  <a:pt x="17" y="7"/>
                </a:lnTo>
                <a:lnTo>
                  <a:pt x="16" y="5"/>
                </a:lnTo>
                <a:lnTo>
                  <a:pt x="15" y="4"/>
                </a:lnTo>
                <a:lnTo>
                  <a:pt x="14" y="3"/>
                </a:lnTo>
                <a:lnTo>
                  <a:pt x="13" y="2"/>
                </a:lnTo>
                <a:lnTo>
                  <a:pt x="12" y="1"/>
                </a:lnTo>
                <a:lnTo>
                  <a:pt x="10" y="0"/>
                </a:lnTo>
                <a:lnTo>
                  <a:pt x="8" y="0"/>
                </a:lnTo>
                <a:lnTo>
                  <a:pt x="7" y="0"/>
                </a:lnTo>
                <a:lnTo>
                  <a:pt x="5" y="1"/>
                </a:lnTo>
                <a:lnTo>
                  <a:pt x="3" y="2"/>
                </a:lnTo>
                <a:lnTo>
                  <a:pt x="2" y="3"/>
                </a:lnTo>
                <a:lnTo>
                  <a:pt x="1" y="4"/>
                </a:lnTo>
                <a:lnTo>
                  <a:pt x="0" y="5"/>
                </a:lnTo>
                <a:lnTo>
                  <a:pt x="0" y="7"/>
                </a:lnTo>
                <a:lnTo>
                  <a:pt x="0" y="9"/>
                </a:lnTo>
                <a:lnTo>
                  <a:pt x="0" y="11"/>
                </a:lnTo>
                <a:lnTo>
                  <a:pt x="0" y="12"/>
                </a:lnTo>
                <a:lnTo>
                  <a:pt x="1" y="14"/>
                </a:lnTo>
                <a:lnTo>
                  <a:pt x="2" y="15"/>
                </a:lnTo>
                <a:lnTo>
                  <a:pt x="3" y="16"/>
                </a:lnTo>
                <a:lnTo>
                  <a:pt x="5" y="17"/>
                </a:lnTo>
                <a:lnTo>
                  <a:pt x="7" y="17"/>
                </a:lnTo>
                <a:lnTo>
                  <a:pt x="8" y="18"/>
                </a:lnTo>
                <a:lnTo>
                  <a:pt x="10" y="17"/>
                </a:lnTo>
                <a:lnTo>
                  <a:pt x="12" y="17"/>
                </a:lnTo>
                <a:lnTo>
                  <a:pt x="13" y="16"/>
                </a:lnTo>
                <a:lnTo>
                  <a:pt x="14" y="15"/>
                </a:lnTo>
                <a:lnTo>
                  <a:pt x="15" y="14"/>
                </a:lnTo>
                <a:lnTo>
                  <a:pt x="16" y="12"/>
                </a:lnTo>
                <a:lnTo>
                  <a:pt x="17" y="11"/>
                </a:lnTo>
                <a:lnTo>
                  <a:pt x="17" y="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939800" y="1066800"/>
            <a:ext cx="215900" cy="228600"/>
          </a:xfrm>
          <a:custGeom>
            <a:avLst/>
            <a:gdLst/>
            <a:ahLst/>
            <a:cxnLst/>
            <a:rect l="l" t="t" r="r" b="b"/>
            <a:pathLst>
              <a:path w="17" h="18">
                <a:moveTo>
                  <a:pt x="17" y="9"/>
                </a:moveTo>
                <a:lnTo>
                  <a:pt x="17" y="7"/>
                </a:lnTo>
                <a:lnTo>
                  <a:pt x="17" y="5"/>
                </a:lnTo>
                <a:lnTo>
                  <a:pt x="16" y="4"/>
                </a:lnTo>
                <a:lnTo>
                  <a:pt x="15" y="3"/>
                </a:lnTo>
                <a:lnTo>
                  <a:pt x="14" y="2"/>
                </a:lnTo>
                <a:lnTo>
                  <a:pt x="12" y="1"/>
                </a:lnTo>
                <a:lnTo>
                  <a:pt x="10" y="0"/>
                </a:lnTo>
                <a:lnTo>
                  <a:pt x="9" y="0"/>
                </a:lnTo>
                <a:lnTo>
                  <a:pt x="7" y="0"/>
                </a:lnTo>
                <a:lnTo>
                  <a:pt x="5" y="1"/>
                </a:lnTo>
                <a:lnTo>
                  <a:pt x="4" y="2"/>
                </a:lnTo>
                <a:lnTo>
                  <a:pt x="3" y="3"/>
                </a:lnTo>
                <a:lnTo>
                  <a:pt x="2" y="4"/>
                </a:lnTo>
                <a:lnTo>
                  <a:pt x="1" y="5"/>
                </a:lnTo>
                <a:lnTo>
                  <a:pt x="0" y="7"/>
                </a:lnTo>
                <a:lnTo>
                  <a:pt x="0" y="9"/>
                </a:lnTo>
                <a:lnTo>
                  <a:pt x="0" y="11"/>
                </a:lnTo>
                <a:lnTo>
                  <a:pt x="1" y="12"/>
                </a:lnTo>
                <a:lnTo>
                  <a:pt x="2" y="14"/>
                </a:lnTo>
                <a:lnTo>
                  <a:pt x="3" y="15"/>
                </a:lnTo>
                <a:lnTo>
                  <a:pt x="4" y="16"/>
                </a:lnTo>
                <a:lnTo>
                  <a:pt x="5" y="17"/>
                </a:lnTo>
                <a:lnTo>
                  <a:pt x="7" y="17"/>
                </a:lnTo>
                <a:lnTo>
                  <a:pt x="9" y="18"/>
                </a:lnTo>
                <a:lnTo>
                  <a:pt x="10" y="17"/>
                </a:lnTo>
                <a:lnTo>
                  <a:pt x="12" y="17"/>
                </a:lnTo>
                <a:lnTo>
                  <a:pt x="14" y="16"/>
                </a:lnTo>
                <a:lnTo>
                  <a:pt x="15" y="15"/>
                </a:lnTo>
                <a:lnTo>
                  <a:pt x="16" y="14"/>
                </a:lnTo>
                <a:lnTo>
                  <a:pt x="17" y="12"/>
                </a:lnTo>
                <a:lnTo>
                  <a:pt x="17" y="11"/>
                </a:lnTo>
                <a:lnTo>
                  <a:pt x="17" y="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774700" y="23114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17" h="17">
                <a:moveTo>
                  <a:pt x="17" y="8"/>
                </a:moveTo>
                <a:lnTo>
                  <a:pt x="17" y="6"/>
                </a:lnTo>
                <a:lnTo>
                  <a:pt x="16" y="5"/>
                </a:lnTo>
                <a:lnTo>
                  <a:pt x="16" y="3"/>
                </a:lnTo>
                <a:lnTo>
                  <a:pt x="14" y="2"/>
                </a:lnTo>
                <a:lnTo>
                  <a:pt x="13" y="1"/>
                </a:lnTo>
                <a:lnTo>
                  <a:pt x="12" y="0"/>
                </a:lnTo>
                <a:lnTo>
                  <a:pt x="10" y="0"/>
                </a:lnTo>
                <a:lnTo>
                  <a:pt x="8" y="0"/>
                </a:lnTo>
                <a:lnTo>
                  <a:pt x="7" y="0"/>
                </a:lnTo>
                <a:lnTo>
                  <a:pt x="5" y="0"/>
                </a:lnTo>
                <a:lnTo>
                  <a:pt x="3" y="1"/>
                </a:lnTo>
                <a:lnTo>
                  <a:pt x="2" y="2"/>
                </a:lnTo>
                <a:lnTo>
                  <a:pt x="1" y="3"/>
                </a:lnTo>
                <a:lnTo>
                  <a:pt x="0" y="5"/>
                </a:lnTo>
                <a:lnTo>
                  <a:pt x="0" y="6"/>
                </a:lnTo>
                <a:lnTo>
                  <a:pt x="0" y="8"/>
                </a:lnTo>
                <a:lnTo>
                  <a:pt x="0" y="10"/>
                </a:lnTo>
                <a:lnTo>
                  <a:pt x="0" y="12"/>
                </a:lnTo>
                <a:lnTo>
                  <a:pt x="1" y="13"/>
                </a:lnTo>
                <a:lnTo>
                  <a:pt x="2" y="14"/>
                </a:lnTo>
                <a:lnTo>
                  <a:pt x="3" y="15"/>
                </a:lnTo>
                <a:lnTo>
                  <a:pt x="5" y="16"/>
                </a:lnTo>
                <a:lnTo>
                  <a:pt x="7" y="17"/>
                </a:lnTo>
                <a:lnTo>
                  <a:pt x="8" y="17"/>
                </a:lnTo>
                <a:lnTo>
                  <a:pt x="10" y="17"/>
                </a:lnTo>
                <a:lnTo>
                  <a:pt x="12" y="16"/>
                </a:lnTo>
                <a:lnTo>
                  <a:pt x="13" y="15"/>
                </a:lnTo>
                <a:lnTo>
                  <a:pt x="14" y="14"/>
                </a:lnTo>
                <a:lnTo>
                  <a:pt x="16" y="13"/>
                </a:lnTo>
                <a:lnTo>
                  <a:pt x="16" y="12"/>
                </a:lnTo>
                <a:lnTo>
                  <a:pt x="17" y="10"/>
                </a:lnTo>
                <a:lnTo>
                  <a:pt x="17" y="8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 flipV="1">
            <a:off x="2848444" y="941015"/>
            <a:ext cx="0" cy="1474188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Freeform 47"/>
          <p:cNvSpPr/>
          <p:nvPr/>
        </p:nvSpPr>
        <p:spPr>
          <a:xfrm>
            <a:off x="2832100" y="914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539039" y="2415203"/>
            <a:ext cx="220520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880617" y="2536261"/>
            <a:ext cx="0" cy="143478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01675" y="2415203"/>
            <a:ext cx="48912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50587" y="2415203"/>
            <a:ext cx="339713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390300" y="2415203"/>
            <a:ext cx="416349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806649" y="2415203"/>
            <a:ext cx="416349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050587" y="2095163"/>
            <a:ext cx="0" cy="320040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Freeform 55"/>
          <p:cNvSpPr/>
          <p:nvPr/>
        </p:nvSpPr>
        <p:spPr>
          <a:xfrm>
            <a:off x="1028700" y="2070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3" y="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 flipV="1">
            <a:off x="1390300" y="2095163"/>
            <a:ext cx="0" cy="320040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Freeform 57"/>
          <p:cNvSpPr/>
          <p:nvPr/>
        </p:nvSpPr>
        <p:spPr>
          <a:xfrm>
            <a:off x="1371600" y="2070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 flipV="1">
            <a:off x="1806649" y="2109684"/>
            <a:ext cx="0" cy="305519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Freeform 59"/>
          <p:cNvSpPr/>
          <p:nvPr/>
        </p:nvSpPr>
        <p:spPr>
          <a:xfrm>
            <a:off x="1790700" y="2082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 flipV="1">
            <a:off x="2222998" y="2095163"/>
            <a:ext cx="0" cy="32004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Freeform 61"/>
          <p:cNvSpPr/>
          <p:nvPr/>
        </p:nvSpPr>
        <p:spPr>
          <a:xfrm>
            <a:off x="2197100" y="2070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4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 flipV="1">
            <a:off x="1050587" y="1326610"/>
            <a:ext cx="0" cy="507950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Freeform 63"/>
          <p:cNvSpPr/>
          <p:nvPr/>
        </p:nvSpPr>
        <p:spPr>
          <a:xfrm>
            <a:off x="1028700" y="12954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2" y="0"/>
                </a:moveTo>
                <a:lnTo>
                  <a:pt x="0" y="4"/>
                </a:lnTo>
                <a:lnTo>
                  <a:pt x="2" y="2"/>
                </a:lnTo>
                <a:lnTo>
                  <a:pt x="3" y="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 flipV="1">
            <a:off x="1390300" y="1613191"/>
            <a:ext cx="0" cy="221369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390300" y="1613191"/>
            <a:ext cx="269160" cy="0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Freeform 66"/>
          <p:cNvSpPr/>
          <p:nvPr/>
        </p:nvSpPr>
        <p:spPr>
          <a:xfrm>
            <a:off x="1638300" y="15875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0" y="0"/>
                </a:lnTo>
                <a:lnTo>
                  <a:pt x="2" y="2"/>
                </a:lnTo>
                <a:lnTo>
                  <a:pt x="0" y="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" name="Connector 67"/>
          <p:cNvCxnSpPr/>
          <p:nvPr/>
        </p:nvCxnSpPr>
        <p:spPr>
          <a:xfrm flipV="1">
            <a:off x="1806649" y="1760380"/>
            <a:ext cx="0" cy="59659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Freeform 68"/>
          <p:cNvSpPr/>
          <p:nvPr/>
        </p:nvSpPr>
        <p:spPr>
          <a:xfrm>
            <a:off x="1790700" y="17399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 flipV="1">
            <a:off x="2222998" y="1748959"/>
            <a:ext cx="0" cy="85601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222998" y="1748959"/>
            <a:ext cx="151163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Freeform 71"/>
          <p:cNvSpPr/>
          <p:nvPr/>
        </p:nvSpPr>
        <p:spPr>
          <a:xfrm>
            <a:off x="2362200" y="1727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>
            <a:off x="2521350" y="1870017"/>
            <a:ext cx="0" cy="545186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521350" y="2415203"/>
            <a:ext cx="526779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Freeform 74"/>
          <p:cNvSpPr/>
          <p:nvPr/>
        </p:nvSpPr>
        <p:spPr>
          <a:xfrm>
            <a:off x="3035300" y="2400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>
            <a:off x="539039" y="1179421"/>
            <a:ext cx="364359" cy="0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Freeform 76"/>
          <p:cNvSpPr/>
          <p:nvPr/>
        </p:nvSpPr>
        <p:spPr>
          <a:xfrm>
            <a:off x="889000" y="11557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>
            <a:off x="1171645" y="1179421"/>
            <a:ext cx="487815" cy="0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Freeform 78"/>
          <p:cNvSpPr/>
          <p:nvPr/>
        </p:nvSpPr>
        <p:spPr>
          <a:xfrm>
            <a:off x="1638300" y="11557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0" y="0"/>
                </a:lnTo>
                <a:lnTo>
                  <a:pt x="2" y="2"/>
                </a:lnTo>
                <a:lnTo>
                  <a:pt x="0" y="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" name="Connector 79"/>
          <p:cNvCxnSpPr/>
          <p:nvPr/>
        </p:nvCxnSpPr>
        <p:spPr>
          <a:xfrm>
            <a:off x="1927707" y="1179421"/>
            <a:ext cx="1036500" cy="0"/>
          </a:xfrm>
          <a:prstGeom prst="line">
            <a:avLst/>
          </a:prstGeom>
          <a:ln w="30151">
            <a:solidFill>
              <a:srgbClr val="93D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927707" y="1179421"/>
            <a:ext cx="1120422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Freeform 81"/>
          <p:cNvSpPr/>
          <p:nvPr/>
        </p:nvSpPr>
        <p:spPr>
          <a:xfrm>
            <a:off x="3035300" y="11557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 flipV="1">
            <a:off x="1806649" y="1326610"/>
            <a:ext cx="0" cy="165523"/>
          </a:xfrm>
          <a:prstGeom prst="line">
            <a:avLst/>
          </a:prstGeom>
          <a:ln w="804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Freeform 83"/>
          <p:cNvSpPr/>
          <p:nvPr/>
        </p:nvSpPr>
        <p:spPr>
          <a:xfrm>
            <a:off x="1790700" y="12954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0"/>
                </a:moveTo>
                <a:lnTo>
                  <a:pt x="0" y="4"/>
                </a:lnTo>
                <a:lnTo>
                  <a:pt x="1" y="2"/>
                </a:lnTo>
                <a:lnTo>
                  <a:pt x="3" y="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" name="Connector 84"/>
          <p:cNvCxnSpPr/>
          <p:nvPr/>
        </p:nvCxnSpPr>
        <p:spPr>
          <a:xfrm>
            <a:off x="2521350" y="1179421"/>
            <a:ext cx="0" cy="73044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Freeform 85"/>
          <p:cNvSpPr/>
          <p:nvPr/>
        </p:nvSpPr>
        <p:spPr>
          <a:xfrm>
            <a:off x="2501900" y="12319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2" y="4"/>
                </a:moveTo>
                <a:lnTo>
                  <a:pt x="3" y="0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" name="Connector 86"/>
          <p:cNvCxnSpPr/>
          <p:nvPr/>
        </p:nvCxnSpPr>
        <p:spPr>
          <a:xfrm>
            <a:off x="2521350" y="1542111"/>
            <a:ext cx="0" cy="59659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Freeform 87"/>
          <p:cNvSpPr/>
          <p:nvPr/>
        </p:nvSpPr>
        <p:spPr>
          <a:xfrm>
            <a:off x="2501900" y="15875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3"/>
                </a:moveTo>
                <a:lnTo>
                  <a:pt x="3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-2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880002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92" name="Picture 9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Long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Short-Term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Memory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(LSTM)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Architecture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91927" y="2354958"/>
            <a:ext cx="5493468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h</a:t>
            </a:r>
            <a:r>
              <a:rPr sz="633" b="0">
                <a:solidFill>
                  <a:srgbClr val="000000"/>
                </a:solidFill>
                <a:latin typeface="Cambria Math"/>
              </a:rPr>
              <a:t>t</a:t>
            </a:r>
            <a:r>
              <a:rPr sz="633" b="0">
                <a:solidFill>
                  <a:srgbClr val="000000"/>
                </a:solidFill>
                <a:latin typeface="Cambria Math"/>
              </a:rPr>
              <a:t>−</a:t>
            </a:r>
            <a:r>
              <a:rPr sz="633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31241" y="2679801"/>
            <a:ext cx="4954154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x</a:t>
            </a:r>
            <a:r>
              <a:rPr sz="633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112933" y="2359154"/>
            <a:ext cx="2672462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h</a:t>
            </a:r>
            <a:r>
              <a:rPr sz="633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798793" y="773695"/>
            <a:ext cx="2986602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h</a:t>
            </a:r>
            <a:r>
              <a:rPr sz="633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76684" y="1118584"/>
            <a:ext cx="5508711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C</a:t>
            </a:r>
            <a:r>
              <a:rPr sz="633" b="0">
                <a:solidFill>
                  <a:srgbClr val="FFFFFF"/>
                </a:solidFill>
                <a:latin typeface="Cambria Math"/>
              </a:rPr>
              <a:t>t</a:t>
            </a:r>
            <a:r>
              <a:rPr sz="633" b="0">
                <a:solidFill>
                  <a:srgbClr val="FFFFFF"/>
                </a:solidFill>
                <a:latin typeface="Cambria Math"/>
              </a:rPr>
              <a:t>−</a:t>
            </a:r>
            <a:r>
              <a:rPr sz="633" b="0">
                <a:solidFill>
                  <a:srgbClr val="FFFFFF"/>
                </a:solidFill>
                <a:latin typeface="Cambria Math"/>
              </a:rPr>
              <a:t>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112933" y="1122770"/>
            <a:ext cx="2672462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C</a:t>
            </a:r>
            <a:r>
              <a:rPr sz="633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696599" y="1904004"/>
            <a:ext cx="4088796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tanh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356896" y="1889478"/>
            <a:ext cx="4428499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σ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17183" y="1889478"/>
            <a:ext cx="4768212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σ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189579" y="1889478"/>
            <a:ext cx="3595816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σ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478549" y="1689046"/>
            <a:ext cx="3306846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×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411293" y="1362562"/>
            <a:ext cx="3374102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tanh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763856" y="1553271"/>
            <a:ext cx="4021539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×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763856" y="1120934"/>
            <a:ext cx="4021539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+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07801" y="1119508"/>
            <a:ext cx="4777594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×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37839" y="2342295"/>
            <a:ext cx="4947557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MSAM10"/>
              </a:rPr>
              <a:t>⊞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504029" y="1006825"/>
            <a:ext cx="228136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Output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Gate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504029" y="1178488"/>
            <a:ext cx="228136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Decides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information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from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504029" y="1350560"/>
            <a:ext cx="228136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current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cell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should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passed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504029" y="1522646"/>
            <a:ext cx="228136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next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hidden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state.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705185" y="1834424"/>
            <a:ext cx="208021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o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σ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W</a:t>
            </a:r>
            <a:r>
              <a:rPr sz="797" b="0">
                <a:solidFill>
                  <a:srgbClr val="000000"/>
                </a:solidFill>
                <a:latin typeface="Cambria Math"/>
              </a:rPr>
              <a:t>o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·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[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h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797" b="0">
                <a:solidFill>
                  <a:srgbClr val="000000"/>
                </a:solidFill>
                <a:latin typeface="Cambria Math"/>
              </a:rPr>
              <a:t>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, 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] +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b</a:t>
            </a:r>
            <a:r>
              <a:rPr sz="797" b="0">
                <a:solidFill>
                  <a:srgbClr val="000000"/>
                </a:solidFill>
                <a:latin typeface="Cambria Math"/>
              </a:rPr>
              <a:t>o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846994" y="2030974"/>
            <a:ext cx="19384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C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f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·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C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797" b="0">
                <a:solidFill>
                  <a:srgbClr val="000000"/>
                </a:solidFill>
                <a:latin typeface="Cambria Math"/>
              </a:rPr>
              <a:t>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+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i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·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˜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C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986453" y="2274237"/>
            <a:ext cx="179894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h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o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·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tanh(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C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898159" y="3150918"/>
            <a:ext cx="88723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640207" y="3150694"/>
            <a:ext cx="14518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647700" y="1028700"/>
            <a:ext cx="2311400" cy="1536700"/>
          </a:xfrm>
          <a:custGeom>
            <a:avLst/>
            <a:gdLst/>
            <a:ahLst/>
            <a:cxnLst/>
            <a:rect l="l" t="t" r="r" b="b"/>
            <a:pathLst>
              <a:path w="182" h="121">
                <a:moveTo>
                  <a:pt x="179" y="0"/>
                </a:moveTo>
                <a:lnTo>
                  <a:pt x="3" y="0"/>
                </a:ln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1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lnTo>
                  <a:pt x="0" y="3"/>
                </a:lnTo>
                <a:lnTo>
                  <a:pt x="0" y="118"/>
                </a:lnTo>
                <a:lnTo>
                  <a:pt x="0" y="119"/>
                </a:lnTo>
                <a:lnTo>
                  <a:pt x="1" y="119"/>
                </a:lnTo>
                <a:lnTo>
                  <a:pt x="1" y="120"/>
                </a:lnTo>
                <a:lnTo>
                  <a:pt x="1" y="120"/>
                </a:lnTo>
                <a:lnTo>
                  <a:pt x="2" y="121"/>
                </a:lnTo>
                <a:lnTo>
                  <a:pt x="2" y="121"/>
                </a:lnTo>
                <a:lnTo>
                  <a:pt x="3" y="121"/>
                </a:lnTo>
                <a:lnTo>
                  <a:pt x="3" y="121"/>
                </a:lnTo>
                <a:lnTo>
                  <a:pt x="179" y="121"/>
                </a:lnTo>
                <a:lnTo>
                  <a:pt x="180" y="121"/>
                </a:lnTo>
                <a:lnTo>
                  <a:pt x="180" y="121"/>
                </a:lnTo>
                <a:lnTo>
                  <a:pt x="181" y="121"/>
                </a:lnTo>
                <a:lnTo>
                  <a:pt x="181" y="120"/>
                </a:lnTo>
                <a:lnTo>
                  <a:pt x="182" y="120"/>
                </a:lnTo>
                <a:lnTo>
                  <a:pt x="182" y="119"/>
                </a:lnTo>
                <a:lnTo>
                  <a:pt x="182" y="119"/>
                </a:lnTo>
                <a:lnTo>
                  <a:pt x="182" y="118"/>
                </a:lnTo>
                <a:lnTo>
                  <a:pt x="182" y="3"/>
                </a:lnTo>
                <a:lnTo>
                  <a:pt x="182" y="2"/>
                </a:lnTo>
                <a:lnTo>
                  <a:pt x="182" y="2"/>
                </a:lnTo>
                <a:lnTo>
                  <a:pt x="182" y="1"/>
                </a:lnTo>
                <a:lnTo>
                  <a:pt x="181" y="1"/>
                </a:lnTo>
                <a:lnTo>
                  <a:pt x="181" y="0"/>
                </a:lnTo>
                <a:lnTo>
                  <a:pt x="180" y="0"/>
                </a:lnTo>
                <a:lnTo>
                  <a:pt x="180" y="0"/>
                </a:lnTo>
                <a:lnTo>
                  <a:pt x="179" y="0"/>
                </a:lnTo>
                <a:close/>
              </a:path>
            </a:pathLst>
          </a:custGeom>
          <a:solidFill>
            <a:srgbClr val="93D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1612900" y="1828800"/>
            <a:ext cx="381000" cy="241300"/>
          </a:xfrm>
          <a:custGeom>
            <a:avLst/>
            <a:gdLst/>
            <a:ahLst/>
            <a:cxnLst/>
            <a:rect l="l" t="t" r="r" b="b"/>
            <a:pathLst>
              <a:path w="30" h="19">
                <a:moveTo>
                  <a:pt x="27" y="0"/>
                </a:moveTo>
                <a:lnTo>
                  <a:pt x="3" y="0"/>
                </a:lnTo>
                <a:lnTo>
                  <a:pt x="3" y="0"/>
                </a:lnTo>
                <a:lnTo>
                  <a:pt x="2" y="0"/>
                </a:lnTo>
                <a:lnTo>
                  <a:pt x="1" y="1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lnTo>
                  <a:pt x="0" y="3"/>
                </a:lnTo>
                <a:lnTo>
                  <a:pt x="0" y="3"/>
                </a:lnTo>
                <a:lnTo>
                  <a:pt x="0" y="16"/>
                </a:lnTo>
                <a:lnTo>
                  <a:pt x="0" y="17"/>
                </a:lnTo>
                <a:lnTo>
                  <a:pt x="0" y="17"/>
                </a:lnTo>
                <a:lnTo>
                  <a:pt x="1" y="18"/>
                </a:lnTo>
                <a:lnTo>
                  <a:pt x="1" y="18"/>
                </a:lnTo>
                <a:lnTo>
                  <a:pt x="1" y="19"/>
                </a:lnTo>
                <a:lnTo>
                  <a:pt x="2" y="19"/>
                </a:lnTo>
                <a:lnTo>
                  <a:pt x="3" y="19"/>
                </a:lnTo>
                <a:lnTo>
                  <a:pt x="3" y="19"/>
                </a:lnTo>
                <a:lnTo>
                  <a:pt x="27" y="19"/>
                </a:lnTo>
                <a:lnTo>
                  <a:pt x="28" y="19"/>
                </a:lnTo>
                <a:lnTo>
                  <a:pt x="28" y="19"/>
                </a:lnTo>
                <a:lnTo>
                  <a:pt x="29" y="19"/>
                </a:lnTo>
                <a:lnTo>
                  <a:pt x="29" y="18"/>
                </a:lnTo>
                <a:lnTo>
                  <a:pt x="30" y="18"/>
                </a:lnTo>
                <a:lnTo>
                  <a:pt x="30" y="17"/>
                </a:lnTo>
                <a:lnTo>
                  <a:pt x="30" y="17"/>
                </a:lnTo>
                <a:lnTo>
                  <a:pt x="30" y="16"/>
                </a:lnTo>
                <a:lnTo>
                  <a:pt x="30" y="3"/>
                </a:lnTo>
                <a:lnTo>
                  <a:pt x="30" y="3"/>
                </a:lnTo>
                <a:lnTo>
                  <a:pt x="30" y="2"/>
                </a:lnTo>
                <a:lnTo>
                  <a:pt x="30" y="2"/>
                </a:lnTo>
                <a:lnTo>
                  <a:pt x="29" y="1"/>
                </a:lnTo>
                <a:lnTo>
                  <a:pt x="29" y="1"/>
                </a:lnTo>
                <a:lnTo>
                  <a:pt x="28" y="0"/>
                </a:lnTo>
                <a:lnTo>
                  <a:pt x="28" y="0"/>
                </a:lnTo>
                <a:lnTo>
                  <a:pt x="27" y="0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1270000" y="1841500"/>
            <a:ext cx="241300" cy="215900"/>
          </a:xfrm>
          <a:custGeom>
            <a:avLst/>
            <a:gdLst/>
            <a:ahLst/>
            <a:cxnLst/>
            <a:rect l="l" t="t" r="r" b="b"/>
            <a:pathLst>
              <a:path w="19" h="17">
                <a:moveTo>
                  <a:pt x="15" y="0"/>
                </a:moveTo>
                <a:lnTo>
                  <a:pt x="4" y="0"/>
                </a:lnTo>
                <a:lnTo>
                  <a:pt x="3" y="0"/>
                </a:lnTo>
                <a:lnTo>
                  <a:pt x="2" y="1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1" y="2"/>
                </a:lnTo>
                <a:lnTo>
                  <a:pt x="0" y="3"/>
                </a:lnTo>
                <a:lnTo>
                  <a:pt x="0" y="3"/>
                </a:lnTo>
                <a:lnTo>
                  <a:pt x="0" y="14"/>
                </a:lnTo>
                <a:lnTo>
                  <a:pt x="0" y="15"/>
                </a:lnTo>
                <a:lnTo>
                  <a:pt x="1" y="15"/>
                </a:lnTo>
                <a:lnTo>
                  <a:pt x="1" y="16"/>
                </a:lnTo>
                <a:lnTo>
                  <a:pt x="1" y="16"/>
                </a:lnTo>
                <a:lnTo>
                  <a:pt x="2" y="17"/>
                </a:lnTo>
                <a:lnTo>
                  <a:pt x="2" y="17"/>
                </a:lnTo>
                <a:lnTo>
                  <a:pt x="3" y="17"/>
                </a:lnTo>
                <a:lnTo>
                  <a:pt x="4" y="17"/>
                </a:lnTo>
                <a:lnTo>
                  <a:pt x="15" y="17"/>
                </a:lnTo>
                <a:lnTo>
                  <a:pt x="16" y="17"/>
                </a:lnTo>
                <a:lnTo>
                  <a:pt x="17" y="17"/>
                </a:lnTo>
                <a:lnTo>
                  <a:pt x="17" y="17"/>
                </a:lnTo>
                <a:lnTo>
                  <a:pt x="18" y="16"/>
                </a:lnTo>
                <a:lnTo>
                  <a:pt x="18" y="16"/>
                </a:lnTo>
                <a:lnTo>
                  <a:pt x="18" y="15"/>
                </a:lnTo>
                <a:lnTo>
                  <a:pt x="19" y="15"/>
                </a:lnTo>
                <a:lnTo>
                  <a:pt x="19" y="14"/>
                </a:lnTo>
                <a:lnTo>
                  <a:pt x="19" y="3"/>
                </a:lnTo>
                <a:lnTo>
                  <a:pt x="19" y="3"/>
                </a:lnTo>
                <a:lnTo>
                  <a:pt x="18" y="2"/>
                </a:lnTo>
                <a:lnTo>
                  <a:pt x="18" y="2"/>
                </a:lnTo>
                <a:lnTo>
                  <a:pt x="18" y="1"/>
                </a:lnTo>
                <a:lnTo>
                  <a:pt x="17" y="1"/>
                </a:lnTo>
                <a:lnTo>
                  <a:pt x="17" y="1"/>
                </a:lnTo>
                <a:lnTo>
                  <a:pt x="16" y="0"/>
                </a:lnTo>
                <a:lnTo>
                  <a:pt x="15" y="0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939800" y="1841500"/>
            <a:ext cx="228600" cy="215900"/>
          </a:xfrm>
          <a:custGeom>
            <a:avLst/>
            <a:gdLst/>
            <a:ahLst/>
            <a:cxnLst/>
            <a:rect l="l" t="t" r="r" b="b"/>
            <a:pathLst>
              <a:path w="18" h="17">
                <a:moveTo>
                  <a:pt x="15" y="0"/>
                </a:moveTo>
                <a:lnTo>
                  <a:pt x="3" y="0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lnTo>
                  <a:pt x="1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3"/>
                </a:lnTo>
                <a:lnTo>
                  <a:pt x="0" y="14"/>
                </a:lnTo>
                <a:lnTo>
                  <a:pt x="0" y="15"/>
                </a:lnTo>
                <a:lnTo>
                  <a:pt x="0" y="15"/>
                </a:lnTo>
                <a:lnTo>
                  <a:pt x="0" y="16"/>
                </a:lnTo>
                <a:lnTo>
                  <a:pt x="1" y="16"/>
                </a:lnTo>
                <a:lnTo>
                  <a:pt x="1" y="17"/>
                </a:lnTo>
                <a:lnTo>
                  <a:pt x="2" y="17"/>
                </a:lnTo>
                <a:lnTo>
                  <a:pt x="2" y="17"/>
                </a:lnTo>
                <a:lnTo>
                  <a:pt x="3" y="17"/>
                </a:lnTo>
                <a:lnTo>
                  <a:pt x="15" y="17"/>
                </a:lnTo>
                <a:lnTo>
                  <a:pt x="15" y="17"/>
                </a:lnTo>
                <a:lnTo>
                  <a:pt x="16" y="17"/>
                </a:lnTo>
                <a:lnTo>
                  <a:pt x="16" y="17"/>
                </a:lnTo>
                <a:lnTo>
                  <a:pt x="17" y="16"/>
                </a:lnTo>
                <a:lnTo>
                  <a:pt x="17" y="16"/>
                </a:lnTo>
                <a:lnTo>
                  <a:pt x="18" y="15"/>
                </a:lnTo>
                <a:lnTo>
                  <a:pt x="18" y="15"/>
                </a:lnTo>
                <a:lnTo>
                  <a:pt x="18" y="14"/>
                </a:lnTo>
                <a:lnTo>
                  <a:pt x="18" y="3"/>
                </a:lnTo>
                <a:lnTo>
                  <a:pt x="18" y="3"/>
                </a:lnTo>
                <a:lnTo>
                  <a:pt x="18" y="2"/>
                </a:lnTo>
                <a:lnTo>
                  <a:pt x="17" y="2"/>
                </a:lnTo>
                <a:lnTo>
                  <a:pt x="17" y="1"/>
                </a:lnTo>
                <a:lnTo>
                  <a:pt x="16" y="1"/>
                </a:lnTo>
                <a:lnTo>
                  <a:pt x="16" y="1"/>
                </a:lnTo>
                <a:lnTo>
                  <a:pt x="15" y="0"/>
                </a:lnTo>
                <a:lnTo>
                  <a:pt x="15" y="0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2108200" y="1841500"/>
            <a:ext cx="228600" cy="215900"/>
          </a:xfrm>
          <a:custGeom>
            <a:avLst/>
            <a:gdLst/>
            <a:ahLst/>
            <a:cxnLst/>
            <a:rect l="l" t="t" r="r" b="b"/>
            <a:pathLst>
              <a:path w="18" h="17">
                <a:moveTo>
                  <a:pt x="15" y="0"/>
                </a:moveTo>
                <a:lnTo>
                  <a:pt x="3" y="0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lnTo>
                  <a:pt x="1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3"/>
                </a:lnTo>
                <a:lnTo>
                  <a:pt x="0" y="14"/>
                </a:lnTo>
                <a:lnTo>
                  <a:pt x="0" y="15"/>
                </a:lnTo>
                <a:lnTo>
                  <a:pt x="0" y="15"/>
                </a:lnTo>
                <a:lnTo>
                  <a:pt x="0" y="16"/>
                </a:lnTo>
                <a:lnTo>
                  <a:pt x="1" y="16"/>
                </a:lnTo>
                <a:lnTo>
                  <a:pt x="1" y="17"/>
                </a:lnTo>
                <a:lnTo>
                  <a:pt x="2" y="17"/>
                </a:lnTo>
                <a:lnTo>
                  <a:pt x="2" y="17"/>
                </a:lnTo>
                <a:lnTo>
                  <a:pt x="3" y="17"/>
                </a:lnTo>
                <a:lnTo>
                  <a:pt x="15" y="17"/>
                </a:lnTo>
                <a:lnTo>
                  <a:pt x="16" y="17"/>
                </a:lnTo>
                <a:lnTo>
                  <a:pt x="16" y="17"/>
                </a:lnTo>
                <a:lnTo>
                  <a:pt x="17" y="17"/>
                </a:lnTo>
                <a:lnTo>
                  <a:pt x="17" y="16"/>
                </a:lnTo>
                <a:lnTo>
                  <a:pt x="18" y="16"/>
                </a:lnTo>
                <a:lnTo>
                  <a:pt x="18" y="15"/>
                </a:lnTo>
                <a:lnTo>
                  <a:pt x="18" y="15"/>
                </a:lnTo>
                <a:lnTo>
                  <a:pt x="18" y="14"/>
                </a:lnTo>
                <a:lnTo>
                  <a:pt x="18" y="3"/>
                </a:lnTo>
                <a:lnTo>
                  <a:pt x="18" y="3"/>
                </a:lnTo>
                <a:lnTo>
                  <a:pt x="18" y="2"/>
                </a:lnTo>
                <a:lnTo>
                  <a:pt x="18" y="2"/>
                </a:lnTo>
                <a:lnTo>
                  <a:pt x="17" y="1"/>
                </a:lnTo>
                <a:lnTo>
                  <a:pt x="17" y="1"/>
                </a:lnTo>
                <a:lnTo>
                  <a:pt x="16" y="1"/>
                </a:lnTo>
                <a:lnTo>
                  <a:pt x="16" y="0"/>
                </a:lnTo>
                <a:lnTo>
                  <a:pt x="15" y="0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2413000" y="16383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17" h="17">
                <a:moveTo>
                  <a:pt x="17" y="9"/>
                </a:moveTo>
                <a:lnTo>
                  <a:pt x="17" y="7"/>
                </a:lnTo>
                <a:lnTo>
                  <a:pt x="17" y="5"/>
                </a:lnTo>
                <a:lnTo>
                  <a:pt x="16" y="4"/>
                </a:lnTo>
                <a:lnTo>
                  <a:pt x="15" y="3"/>
                </a:lnTo>
                <a:lnTo>
                  <a:pt x="13" y="2"/>
                </a:lnTo>
                <a:lnTo>
                  <a:pt x="12" y="1"/>
                </a:lnTo>
                <a:lnTo>
                  <a:pt x="10" y="0"/>
                </a:lnTo>
                <a:lnTo>
                  <a:pt x="9" y="0"/>
                </a:lnTo>
                <a:lnTo>
                  <a:pt x="7" y="0"/>
                </a:lnTo>
                <a:lnTo>
                  <a:pt x="5" y="1"/>
                </a:lnTo>
                <a:lnTo>
                  <a:pt x="4" y="2"/>
                </a:lnTo>
                <a:lnTo>
                  <a:pt x="2" y="3"/>
                </a:lnTo>
                <a:lnTo>
                  <a:pt x="1" y="4"/>
                </a:lnTo>
                <a:lnTo>
                  <a:pt x="1" y="5"/>
                </a:lnTo>
                <a:lnTo>
                  <a:pt x="0" y="7"/>
                </a:lnTo>
                <a:lnTo>
                  <a:pt x="0" y="9"/>
                </a:lnTo>
                <a:lnTo>
                  <a:pt x="0" y="10"/>
                </a:lnTo>
                <a:lnTo>
                  <a:pt x="1" y="12"/>
                </a:lnTo>
                <a:lnTo>
                  <a:pt x="1" y="14"/>
                </a:lnTo>
                <a:lnTo>
                  <a:pt x="2" y="15"/>
                </a:lnTo>
                <a:lnTo>
                  <a:pt x="4" y="16"/>
                </a:lnTo>
                <a:lnTo>
                  <a:pt x="5" y="17"/>
                </a:lnTo>
                <a:lnTo>
                  <a:pt x="7" y="17"/>
                </a:lnTo>
                <a:lnTo>
                  <a:pt x="9" y="17"/>
                </a:lnTo>
                <a:lnTo>
                  <a:pt x="10" y="17"/>
                </a:lnTo>
                <a:lnTo>
                  <a:pt x="12" y="17"/>
                </a:lnTo>
                <a:lnTo>
                  <a:pt x="13" y="16"/>
                </a:lnTo>
                <a:lnTo>
                  <a:pt x="15" y="15"/>
                </a:lnTo>
                <a:lnTo>
                  <a:pt x="16" y="14"/>
                </a:lnTo>
                <a:lnTo>
                  <a:pt x="17" y="12"/>
                </a:lnTo>
                <a:lnTo>
                  <a:pt x="17" y="10"/>
                </a:lnTo>
                <a:lnTo>
                  <a:pt x="17" y="9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2324100" y="1295400"/>
            <a:ext cx="393700" cy="241300"/>
          </a:xfrm>
          <a:custGeom>
            <a:avLst/>
            <a:gdLst/>
            <a:ahLst/>
            <a:cxnLst/>
            <a:rect l="l" t="t" r="r" b="b"/>
            <a:pathLst>
              <a:path w="31" h="19">
                <a:moveTo>
                  <a:pt x="28" y="0"/>
                </a:move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0"/>
                </a:lnTo>
                <a:lnTo>
                  <a:pt x="1" y="1"/>
                </a:lnTo>
                <a:lnTo>
                  <a:pt x="1" y="1"/>
                </a:lnTo>
                <a:lnTo>
                  <a:pt x="0" y="2"/>
                </a:lnTo>
                <a:lnTo>
                  <a:pt x="0" y="3"/>
                </a:lnTo>
                <a:lnTo>
                  <a:pt x="0" y="15"/>
                </a:lnTo>
                <a:lnTo>
                  <a:pt x="0" y="16"/>
                </a:lnTo>
                <a:lnTo>
                  <a:pt x="1" y="17"/>
                </a:lnTo>
                <a:lnTo>
                  <a:pt x="1" y="17"/>
                </a:lnTo>
                <a:lnTo>
                  <a:pt x="1" y="18"/>
                </a:lnTo>
                <a:lnTo>
                  <a:pt x="2" y="18"/>
                </a:lnTo>
                <a:lnTo>
                  <a:pt x="2" y="18"/>
                </a:lnTo>
                <a:lnTo>
                  <a:pt x="3" y="18"/>
                </a:lnTo>
                <a:lnTo>
                  <a:pt x="4" y="19"/>
                </a:lnTo>
                <a:lnTo>
                  <a:pt x="28" y="19"/>
                </a:lnTo>
                <a:lnTo>
                  <a:pt x="28" y="18"/>
                </a:lnTo>
                <a:lnTo>
                  <a:pt x="29" y="18"/>
                </a:lnTo>
                <a:lnTo>
                  <a:pt x="29" y="18"/>
                </a:lnTo>
                <a:lnTo>
                  <a:pt x="30" y="18"/>
                </a:lnTo>
                <a:lnTo>
                  <a:pt x="30" y="17"/>
                </a:lnTo>
                <a:lnTo>
                  <a:pt x="30" y="17"/>
                </a:lnTo>
                <a:lnTo>
                  <a:pt x="31" y="16"/>
                </a:lnTo>
                <a:lnTo>
                  <a:pt x="31" y="15"/>
                </a:lnTo>
                <a:lnTo>
                  <a:pt x="31" y="3"/>
                </a:lnTo>
                <a:lnTo>
                  <a:pt x="31" y="2"/>
                </a:lnTo>
                <a:lnTo>
                  <a:pt x="30" y="1"/>
                </a:lnTo>
                <a:lnTo>
                  <a:pt x="30" y="1"/>
                </a:lnTo>
                <a:lnTo>
                  <a:pt x="30" y="0"/>
                </a:lnTo>
                <a:lnTo>
                  <a:pt x="29" y="0"/>
                </a:lnTo>
                <a:lnTo>
                  <a:pt x="29" y="0"/>
                </a:lnTo>
                <a:lnTo>
                  <a:pt x="28" y="0"/>
                </a:lnTo>
                <a:lnTo>
                  <a:pt x="28" y="0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1701800" y="1498600"/>
            <a:ext cx="215900" cy="228600"/>
          </a:xfrm>
          <a:custGeom>
            <a:avLst/>
            <a:gdLst/>
            <a:ahLst/>
            <a:cxnLst/>
            <a:rect l="l" t="t" r="r" b="b"/>
            <a:pathLst>
              <a:path w="17" h="18">
                <a:moveTo>
                  <a:pt x="17" y="9"/>
                </a:moveTo>
                <a:lnTo>
                  <a:pt x="17" y="7"/>
                </a:lnTo>
                <a:lnTo>
                  <a:pt x="16" y="6"/>
                </a:lnTo>
                <a:lnTo>
                  <a:pt x="15" y="4"/>
                </a:lnTo>
                <a:lnTo>
                  <a:pt x="14" y="3"/>
                </a:lnTo>
                <a:lnTo>
                  <a:pt x="13" y="2"/>
                </a:lnTo>
                <a:lnTo>
                  <a:pt x="12" y="1"/>
                </a:lnTo>
                <a:lnTo>
                  <a:pt x="10" y="1"/>
                </a:lnTo>
                <a:lnTo>
                  <a:pt x="8" y="0"/>
                </a:lnTo>
                <a:lnTo>
                  <a:pt x="7" y="1"/>
                </a:lnTo>
                <a:lnTo>
                  <a:pt x="5" y="1"/>
                </a:lnTo>
                <a:lnTo>
                  <a:pt x="3" y="2"/>
                </a:lnTo>
                <a:lnTo>
                  <a:pt x="2" y="3"/>
                </a:lnTo>
                <a:lnTo>
                  <a:pt x="1" y="4"/>
                </a:lnTo>
                <a:lnTo>
                  <a:pt x="0" y="6"/>
                </a:lnTo>
                <a:lnTo>
                  <a:pt x="0" y="7"/>
                </a:lnTo>
                <a:lnTo>
                  <a:pt x="0" y="9"/>
                </a:lnTo>
                <a:lnTo>
                  <a:pt x="0" y="11"/>
                </a:lnTo>
                <a:lnTo>
                  <a:pt x="0" y="12"/>
                </a:lnTo>
                <a:lnTo>
                  <a:pt x="1" y="14"/>
                </a:lnTo>
                <a:lnTo>
                  <a:pt x="2" y="15"/>
                </a:lnTo>
                <a:lnTo>
                  <a:pt x="3" y="16"/>
                </a:lnTo>
                <a:lnTo>
                  <a:pt x="5" y="17"/>
                </a:lnTo>
                <a:lnTo>
                  <a:pt x="7" y="18"/>
                </a:lnTo>
                <a:lnTo>
                  <a:pt x="8" y="18"/>
                </a:lnTo>
                <a:lnTo>
                  <a:pt x="10" y="18"/>
                </a:lnTo>
                <a:lnTo>
                  <a:pt x="12" y="17"/>
                </a:lnTo>
                <a:lnTo>
                  <a:pt x="13" y="16"/>
                </a:lnTo>
                <a:lnTo>
                  <a:pt x="14" y="15"/>
                </a:lnTo>
                <a:lnTo>
                  <a:pt x="15" y="14"/>
                </a:lnTo>
                <a:lnTo>
                  <a:pt x="16" y="12"/>
                </a:lnTo>
                <a:lnTo>
                  <a:pt x="17" y="11"/>
                </a:lnTo>
                <a:lnTo>
                  <a:pt x="17" y="9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1701800" y="1066800"/>
            <a:ext cx="215900" cy="228600"/>
          </a:xfrm>
          <a:custGeom>
            <a:avLst/>
            <a:gdLst/>
            <a:ahLst/>
            <a:cxnLst/>
            <a:rect l="l" t="t" r="r" b="b"/>
            <a:pathLst>
              <a:path w="17" h="18">
                <a:moveTo>
                  <a:pt x="17" y="9"/>
                </a:moveTo>
                <a:lnTo>
                  <a:pt x="17" y="7"/>
                </a:lnTo>
                <a:lnTo>
                  <a:pt x="16" y="5"/>
                </a:lnTo>
                <a:lnTo>
                  <a:pt x="15" y="4"/>
                </a:lnTo>
                <a:lnTo>
                  <a:pt x="14" y="3"/>
                </a:lnTo>
                <a:lnTo>
                  <a:pt x="13" y="2"/>
                </a:lnTo>
                <a:lnTo>
                  <a:pt x="12" y="1"/>
                </a:lnTo>
                <a:lnTo>
                  <a:pt x="10" y="0"/>
                </a:lnTo>
                <a:lnTo>
                  <a:pt x="8" y="0"/>
                </a:lnTo>
                <a:lnTo>
                  <a:pt x="7" y="0"/>
                </a:lnTo>
                <a:lnTo>
                  <a:pt x="5" y="1"/>
                </a:lnTo>
                <a:lnTo>
                  <a:pt x="3" y="2"/>
                </a:lnTo>
                <a:lnTo>
                  <a:pt x="2" y="3"/>
                </a:lnTo>
                <a:lnTo>
                  <a:pt x="1" y="4"/>
                </a:lnTo>
                <a:lnTo>
                  <a:pt x="0" y="5"/>
                </a:lnTo>
                <a:lnTo>
                  <a:pt x="0" y="7"/>
                </a:lnTo>
                <a:lnTo>
                  <a:pt x="0" y="9"/>
                </a:lnTo>
                <a:lnTo>
                  <a:pt x="0" y="11"/>
                </a:lnTo>
                <a:lnTo>
                  <a:pt x="0" y="12"/>
                </a:lnTo>
                <a:lnTo>
                  <a:pt x="1" y="14"/>
                </a:lnTo>
                <a:lnTo>
                  <a:pt x="2" y="15"/>
                </a:lnTo>
                <a:lnTo>
                  <a:pt x="3" y="16"/>
                </a:lnTo>
                <a:lnTo>
                  <a:pt x="5" y="17"/>
                </a:lnTo>
                <a:lnTo>
                  <a:pt x="7" y="17"/>
                </a:lnTo>
                <a:lnTo>
                  <a:pt x="8" y="18"/>
                </a:lnTo>
                <a:lnTo>
                  <a:pt x="10" y="17"/>
                </a:lnTo>
                <a:lnTo>
                  <a:pt x="12" y="17"/>
                </a:lnTo>
                <a:lnTo>
                  <a:pt x="13" y="16"/>
                </a:lnTo>
                <a:lnTo>
                  <a:pt x="14" y="15"/>
                </a:lnTo>
                <a:lnTo>
                  <a:pt x="15" y="14"/>
                </a:lnTo>
                <a:lnTo>
                  <a:pt x="16" y="12"/>
                </a:lnTo>
                <a:lnTo>
                  <a:pt x="17" y="11"/>
                </a:lnTo>
                <a:lnTo>
                  <a:pt x="17" y="9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939800" y="1066800"/>
            <a:ext cx="215900" cy="228600"/>
          </a:xfrm>
          <a:custGeom>
            <a:avLst/>
            <a:gdLst/>
            <a:ahLst/>
            <a:cxnLst/>
            <a:rect l="l" t="t" r="r" b="b"/>
            <a:pathLst>
              <a:path w="17" h="18">
                <a:moveTo>
                  <a:pt x="17" y="9"/>
                </a:moveTo>
                <a:lnTo>
                  <a:pt x="17" y="7"/>
                </a:lnTo>
                <a:lnTo>
                  <a:pt x="17" y="5"/>
                </a:lnTo>
                <a:lnTo>
                  <a:pt x="16" y="4"/>
                </a:lnTo>
                <a:lnTo>
                  <a:pt x="15" y="3"/>
                </a:lnTo>
                <a:lnTo>
                  <a:pt x="14" y="2"/>
                </a:lnTo>
                <a:lnTo>
                  <a:pt x="12" y="1"/>
                </a:lnTo>
                <a:lnTo>
                  <a:pt x="10" y="0"/>
                </a:lnTo>
                <a:lnTo>
                  <a:pt x="9" y="0"/>
                </a:lnTo>
                <a:lnTo>
                  <a:pt x="7" y="0"/>
                </a:lnTo>
                <a:lnTo>
                  <a:pt x="5" y="1"/>
                </a:lnTo>
                <a:lnTo>
                  <a:pt x="4" y="2"/>
                </a:lnTo>
                <a:lnTo>
                  <a:pt x="3" y="3"/>
                </a:lnTo>
                <a:lnTo>
                  <a:pt x="2" y="4"/>
                </a:lnTo>
                <a:lnTo>
                  <a:pt x="1" y="5"/>
                </a:lnTo>
                <a:lnTo>
                  <a:pt x="0" y="7"/>
                </a:lnTo>
                <a:lnTo>
                  <a:pt x="0" y="9"/>
                </a:lnTo>
                <a:lnTo>
                  <a:pt x="0" y="11"/>
                </a:lnTo>
                <a:lnTo>
                  <a:pt x="1" y="12"/>
                </a:lnTo>
                <a:lnTo>
                  <a:pt x="2" y="14"/>
                </a:lnTo>
                <a:lnTo>
                  <a:pt x="3" y="15"/>
                </a:lnTo>
                <a:lnTo>
                  <a:pt x="4" y="16"/>
                </a:lnTo>
                <a:lnTo>
                  <a:pt x="5" y="17"/>
                </a:lnTo>
                <a:lnTo>
                  <a:pt x="7" y="17"/>
                </a:lnTo>
                <a:lnTo>
                  <a:pt x="9" y="18"/>
                </a:lnTo>
                <a:lnTo>
                  <a:pt x="10" y="17"/>
                </a:lnTo>
                <a:lnTo>
                  <a:pt x="12" y="17"/>
                </a:lnTo>
                <a:lnTo>
                  <a:pt x="14" y="16"/>
                </a:lnTo>
                <a:lnTo>
                  <a:pt x="15" y="15"/>
                </a:lnTo>
                <a:lnTo>
                  <a:pt x="16" y="14"/>
                </a:lnTo>
                <a:lnTo>
                  <a:pt x="17" y="12"/>
                </a:lnTo>
                <a:lnTo>
                  <a:pt x="17" y="11"/>
                </a:lnTo>
                <a:lnTo>
                  <a:pt x="17" y="9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774700" y="23114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17" h="17">
                <a:moveTo>
                  <a:pt x="17" y="8"/>
                </a:moveTo>
                <a:lnTo>
                  <a:pt x="17" y="6"/>
                </a:lnTo>
                <a:lnTo>
                  <a:pt x="16" y="5"/>
                </a:lnTo>
                <a:lnTo>
                  <a:pt x="16" y="3"/>
                </a:lnTo>
                <a:lnTo>
                  <a:pt x="14" y="2"/>
                </a:lnTo>
                <a:lnTo>
                  <a:pt x="13" y="1"/>
                </a:lnTo>
                <a:lnTo>
                  <a:pt x="12" y="0"/>
                </a:lnTo>
                <a:lnTo>
                  <a:pt x="10" y="0"/>
                </a:lnTo>
                <a:lnTo>
                  <a:pt x="8" y="0"/>
                </a:lnTo>
                <a:lnTo>
                  <a:pt x="7" y="0"/>
                </a:lnTo>
                <a:lnTo>
                  <a:pt x="5" y="0"/>
                </a:lnTo>
                <a:lnTo>
                  <a:pt x="3" y="1"/>
                </a:lnTo>
                <a:lnTo>
                  <a:pt x="2" y="2"/>
                </a:lnTo>
                <a:lnTo>
                  <a:pt x="1" y="3"/>
                </a:lnTo>
                <a:lnTo>
                  <a:pt x="0" y="5"/>
                </a:lnTo>
                <a:lnTo>
                  <a:pt x="0" y="6"/>
                </a:lnTo>
                <a:lnTo>
                  <a:pt x="0" y="8"/>
                </a:lnTo>
                <a:lnTo>
                  <a:pt x="0" y="10"/>
                </a:lnTo>
                <a:lnTo>
                  <a:pt x="0" y="12"/>
                </a:lnTo>
                <a:lnTo>
                  <a:pt x="1" y="13"/>
                </a:lnTo>
                <a:lnTo>
                  <a:pt x="2" y="14"/>
                </a:lnTo>
                <a:lnTo>
                  <a:pt x="3" y="15"/>
                </a:lnTo>
                <a:lnTo>
                  <a:pt x="5" y="16"/>
                </a:lnTo>
                <a:lnTo>
                  <a:pt x="7" y="17"/>
                </a:lnTo>
                <a:lnTo>
                  <a:pt x="8" y="17"/>
                </a:lnTo>
                <a:lnTo>
                  <a:pt x="10" y="17"/>
                </a:lnTo>
                <a:lnTo>
                  <a:pt x="12" y="16"/>
                </a:lnTo>
                <a:lnTo>
                  <a:pt x="13" y="15"/>
                </a:lnTo>
                <a:lnTo>
                  <a:pt x="14" y="14"/>
                </a:lnTo>
                <a:lnTo>
                  <a:pt x="16" y="13"/>
                </a:lnTo>
                <a:lnTo>
                  <a:pt x="16" y="12"/>
                </a:lnTo>
                <a:lnTo>
                  <a:pt x="17" y="10"/>
                </a:lnTo>
                <a:lnTo>
                  <a:pt x="17" y="8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 flipV="1">
            <a:off x="2848444" y="941015"/>
            <a:ext cx="0" cy="1474188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Freeform 47"/>
          <p:cNvSpPr/>
          <p:nvPr/>
        </p:nvSpPr>
        <p:spPr>
          <a:xfrm>
            <a:off x="2832100" y="914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539039" y="2415203"/>
            <a:ext cx="220520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880617" y="2536261"/>
            <a:ext cx="0" cy="143478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01675" y="2415203"/>
            <a:ext cx="48912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50587" y="2415203"/>
            <a:ext cx="339713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390300" y="2415203"/>
            <a:ext cx="416349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806649" y="2415203"/>
            <a:ext cx="416349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1050587" y="2095163"/>
            <a:ext cx="0" cy="32004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Freeform 55"/>
          <p:cNvSpPr/>
          <p:nvPr/>
        </p:nvSpPr>
        <p:spPr>
          <a:xfrm>
            <a:off x="1028700" y="2070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 flipV="1">
            <a:off x="1390300" y="2095163"/>
            <a:ext cx="0" cy="32004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Freeform 57"/>
          <p:cNvSpPr/>
          <p:nvPr/>
        </p:nvSpPr>
        <p:spPr>
          <a:xfrm>
            <a:off x="1371600" y="20701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 flipV="1">
            <a:off x="1806649" y="2109684"/>
            <a:ext cx="0" cy="305519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Freeform 59"/>
          <p:cNvSpPr/>
          <p:nvPr/>
        </p:nvSpPr>
        <p:spPr>
          <a:xfrm>
            <a:off x="1790700" y="20828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 flipV="1">
            <a:off x="2222998" y="2095163"/>
            <a:ext cx="0" cy="32004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Freeform 61"/>
          <p:cNvSpPr/>
          <p:nvPr/>
        </p:nvSpPr>
        <p:spPr>
          <a:xfrm>
            <a:off x="2197100" y="20701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4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 flipV="1">
            <a:off x="1050587" y="1326610"/>
            <a:ext cx="0" cy="50795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Freeform 63"/>
          <p:cNvSpPr/>
          <p:nvPr/>
        </p:nvSpPr>
        <p:spPr>
          <a:xfrm>
            <a:off x="1028700" y="12954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2" y="0"/>
                </a:moveTo>
                <a:lnTo>
                  <a:pt x="0" y="4"/>
                </a:lnTo>
                <a:lnTo>
                  <a:pt x="2" y="2"/>
                </a:lnTo>
                <a:lnTo>
                  <a:pt x="3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 flipV="1">
            <a:off x="1390300" y="1613191"/>
            <a:ext cx="0" cy="221369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390300" y="1613191"/>
            <a:ext cx="269160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Freeform 66"/>
          <p:cNvSpPr/>
          <p:nvPr/>
        </p:nvSpPr>
        <p:spPr>
          <a:xfrm>
            <a:off x="1638300" y="15875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0" y="0"/>
                </a:lnTo>
                <a:lnTo>
                  <a:pt x="2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" name="Connector 67"/>
          <p:cNvCxnSpPr/>
          <p:nvPr/>
        </p:nvCxnSpPr>
        <p:spPr>
          <a:xfrm flipV="1">
            <a:off x="1806649" y="1760380"/>
            <a:ext cx="0" cy="59659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Freeform 68"/>
          <p:cNvSpPr/>
          <p:nvPr/>
        </p:nvSpPr>
        <p:spPr>
          <a:xfrm>
            <a:off x="1790700" y="17399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 flipV="1">
            <a:off x="2222998" y="1748959"/>
            <a:ext cx="0" cy="85601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222998" y="1748959"/>
            <a:ext cx="151163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Freeform 71"/>
          <p:cNvSpPr/>
          <p:nvPr/>
        </p:nvSpPr>
        <p:spPr>
          <a:xfrm>
            <a:off x="2362200" y="17272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>
            <a:off x="2521350" y="1870017"/>
            <a:ext cx="0" cy="545186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2521350" y="2415203"/>
            <a:ext cx="526779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Freeform 74"/>
          <p:cNvSpPr/>
          <p:nvPr/>
        </p:nvSpPr>
        <p:spPr>
          <a:xfrm>
            <a:off x="3035300" y="2400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>
            <a:off x="539039" y="1179421"/>
            <a:ext cx="364359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Freeform 76"/>
          <p:cNvSpPr/>
          <p:nvPr/>
        </p:nvSpPr>
        <p:spPr>
          <a:xfrm>
            <a:off x="889000" y="11557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>
            <a:off x="1171645" y="1179421"/>
            <a:ext cx="487815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Freeform 78"/>
          <p:cNvSpPr/>
          <p:nvPr/>
        </p:nvSpPr>
        <p:spPr>
          <a:xfrm>
            <a:off x="1638300" y="11557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0" y="0"/>
                </a:lnTo>
                <a:lnTo>
                  <a:pt x="2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" name="Connector 79"/>
          <p:cNvCxnSpPr/>
          <p:nvPr/>
        </p:nvCxnSpPr>
        <p:spPr>
          <a:xfrm>
            <a:off x="1927707" y="1179421"/>
            <a:ext cx="1036500" cy="0"/>
          </a:xfrm>
          <a:prstGeom prst="line">
            <a:avLst/>
          </a:prstGeom>
          <a:ln w="30151">
            <a:solidFill>
              <a:srgbClr val="93D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1927707" y="1179421"/>
            <a:ext cx="1120422" cy="0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Freeform 81"/>
          <p:cNvSpPr/>
          <p:nvPr/>
        </p:nvSpPr>
        <p:spPr>
          <a:xfrm>
            <a:off x="3035300" y="11557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 flipV="1">
            <a:off x="1806649" y="1326610"/>
            <a:ext cx="0" cy="165523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Freeform 83"/>
          <p:cNvSpPr/>
          <p:nvPr/>
        </p:nvSpPr>
        <p:spPr>
          <a:xfrm>
            <a:off x="1790700" y="12954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0"/>
                </a:moveTo>
                <a:lnTo>
                  <a:pt x="0" y="4"/>
                </a:lnTo>
                <a:lnTo>
                  <a:pt x="1" y="2"/>
                </a:lnTo>
                <a:lnTo>
                  <a:pt x="3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" name="Connector 84"/>
          <p:cNvCxnSpPr/>
          <p:nvPr/>
        </p:nvCxnSpPr>
        <p:spPr>
          <a:xfrm>
            <a:off x="2521350" y="1179421"/>
            <a:ext cx="0" cy="73044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Freeform 85"/>
          <p:cNvSpPr/>
          <p:nvPr/>
        </p:nvSpPr>
        <p:spPr>
          <a:xfrm>
            <a:off x="2501900" y="12319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2" y="4"/>
                </a:moveTo>
                <a:lnTo>
                  <a:pt x="3" y="0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" name="Connector 86"/>
          <p:cNvCxnSpPr/>
          <p:nvPr/>
        </p:nvCxnSpPr>
        <p:spPr>
          <a:xfrm>
            <a:off x="2521350" y="1542111"/>
            <a:ext cx="0" cy="59659"/>
          </a:xfrm>
          <a:prstGeom prst="line">
            <a:avLst/>
          </a:prstGeom>
          <a:ln w="80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Freeform 87"/>
          <p:cNvSpPr/>
          <p:nvPr/>
        </p:nvSpPr>
        <p:spPr>
          <a:xfrm>
            <a:off x="2501900" y="15875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3"/>
                </a:moveTo>
                <a:lnTo>
                  <a:pt x="3" y="0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-2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880002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92" name="Picture 9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Long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Short-Term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Memory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(LSTM)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Architecture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91927" y="2354958"/>
            <a:ext cx="5493468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h</a:t>
            </a:r>
            <a:r>
              <a:rPr sz="633" b="0">
                <a:solidFill>
                  <a:srgbClr val="000000"/>
                </a:solidFill>
                <a:latin typeface="Cambria Math"/>
              </a:rPr>
              <a:t>t</a:t>
            </a:r>
            <a:r>
              <a:rPr sz="633" b="0">
                <a:solidFill>
                  <a:srgbClr val="000000"/>
                </a:solidFill>
                <a:latin typeface="Cambria Math"/>
              </a:rPr>
              <a:t>−</a:t>
            </a:r>
            <a:r>
              <a:rPr sz="633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31241" y="2679801"/>
            <a:ext cx="4954154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x</a:t>
            </a:r>
            <a:r>
              <a:rPr sz="633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112933" y="2359154"/>
            <a:ext cx="2672462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h</a:t>
            </a:r>
            <a:r>
              <a:rPr sz="633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798793" y="773695"/>
            <a:ext cx="2986602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h</a:t>
            </a:r>
            <a:r>
              <a:rPr sz="633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76684" y="1118584"/>
            <a:ext cx="5508711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C</a:t>
            </a:r>
            <a:r>
              <a:rPr sz="633" b="0">
                <a:solidFill>
                  <a:srgbClr val="000000"/>
                </a:solidFill>
                <a:latin typeface="Cambria Math"/>
              </a:rPr>
              <a:t>t</a:t>
            </a:r>
            <a:r>
              <a:rPr sz="633" b="0">
                <a:solidFill>
                  <a:srgbClr val="000000"/>
                </a:solidFill>
                <a:latin typeface="Cambria Math"/>
              </a:rPr>
              <a:t>−</a:t>
            </a:r>
            <a:r>
              <a:rPr sz="633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112933" y="1122770"/>
            <a:ext cx="2672462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C</a:t>
            </a:r>
            <a:r>
              <a:rPr sz="633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696599" y="1904004"/>
            <a:ext cx="4088796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tanh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356896" y="1889478"/>
            <a:ext cx="4428499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σ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17183" y="1889478"/>
            <a:ext cx="4768212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σ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189579" y="1889478"/>
            <a:ext cx="3595816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σ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478549" y="1689046"/>
            <a:ext cx="3306846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×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411293" y="1362562"/>
            <a:ext cx="3374102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000000"/>
                </a:solidFill>
                <a:latin typeface="Cambria Math"/>
              </a:rPr>
              <a:t>tanh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763856" y="1553271"/>
            <a:ext cx="4021539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×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763856" y="1120934"/>
            <a:ext cx="4021539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+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07801" y="1119508"/>
            <a:ext cx="4777594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Cambria Math"/>
              </a:rPr>
              <a:t>×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37839" y="2342295"/>
            <a:ext cx="4947557" cy="1705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6" b="0">
                <a:solidFill>
                  <a:srgbClr val="FFFFFF"/>
                </a:solidFill>
                <a:latin typeface="MSAM10"/>
              </a:rPr>
              <a:t>⊞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694009" y="1337422"/>
            <a:ext cx="209138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f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σ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W</a:t>
            </a:r>
            <a:r>
              <a:rPr sz="797" b="0">
                <a:solidFill>
                  <a:srgbClr val="000000"/>
                </a:solidFill>
                <a:latin typeface="Cambria Math"/>
              </a:rPr>
              <a:t>f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·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[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h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797" b="0">
                <a:solidFill>
                  <a:srgbClr val="000000"/>
                </a:solidFill>
                <a:latin typeface="Cambria Math"/>
              </a:rPr>
              <a:t>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, 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] +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b</a:t>
            </a:r>
            <a:r>
              <a:rPr sz="797" b="0">
                <a:solidFill>
                  <a:srgbClr val="000000"/>
                </a:solidFill>
                <a:latin typeface="Cambria Math"/>
              </a:rPr>
              <a:t>f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730268" y="1547454"/>
            <a:ext cx="205512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i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σ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W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·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[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h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797" b="0">
                <a:solidFill>
                  <a:srgbClr val="000000"/>
                </a:solidFill>
                <a:latin typeface="Cambria Math"/>
              </a:rPr>
              <a:t>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, 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] +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b</a:t>
            </a:r>
            <a:r>
              <a:rPr sz="797" b="0">
                <a:solidFill>
                  <a:srgbClr val="000000"/>
                </a:solidFill>
                <a:latin typeface="Cambria Math"/>
              </a:rPr>
              <a:t>i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705187" y="1757487"/>
            <a:ext cx="208020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o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σ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W</a:t>
            </a:r>
            <a:r>
              <a:rPr sz="797" b="0">
                <a:solidFill>
                  <a:srgbClr val="000000"/>
                </a:solidFill>
                <a:latin typeface="Cambria Math"/>
              </a:rPr>
              <a:t>o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·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[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h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797" b="0">
                <a:solidFill>
                  <a:srgbClr val="000000"/>
                </a:solidFill>
                <a:latin typeface="Cambria Math"/>
              </a:rPr>
              <a:t>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, 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] +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b</a:t>
            </a:r>
            <a:r>
              <a:rPr sz="797" b="0">
                <a:solidFill>
                  <a:srgbClr val="000000"/>
                </a:solidFill>
                <a:latin typeface="Cambria Math"/>
              </a:rPr>
              <a:t>o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560966" y="1954037"/>
            <a:ext cx="222442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˜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C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 tanh 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W</a:t>
            </a:r>
            <a:r>
              <a:rPr sz="797" b="0">
                <a:solidFill>
                  <a:srgbClr val="000000"/>
                </a:solidFill>
                <a:latin typeface="Cambria Math"/>
              </a:rPr>
              <a:t>C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·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[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h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797" b="0">
                <a:solidFill>
                  <a:srgbClr val="000000"/>
                </a:solidFill>
                <a:latin typeface="Cambria Math"/>
              </a:rPr>
              <a:t>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, 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] +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b</a:t>
            </a:r>
            <a:r>
              <a:rPr sz="797" b="0">
                <a:solidFill>
                  <a:srgbClr val="000000"/>
                </a:solidFill>
                <a:latin typeface="Cambria Math"/>
              </a:rPr>
              <a:t>C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846996" y="2183831"/>
            <a:ext cx="193839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C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f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·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C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797" b="0">
                <a:solidFill>
                  <a:srgbClr val="000000"/>
                </a:solidFill>
                <a:latin typeface="Cambria Math"/>
              </a:rPr>
              <a:t>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+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i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·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˜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C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986455" y="2427082"/>
            <a:ext cx="1798940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h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o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·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tanh(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C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898159" y="3150918"/>
            <a:ext cx="88723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640207" y="3150694"/>
            <a:ext cx="14518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-1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2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Long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Short-Term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Memory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(LSTM)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Strengths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and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Limitations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6" y="862088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LSTMs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remember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information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across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many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time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steps,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which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makes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7094" y="1077917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more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effective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RNNs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learning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long-term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dependencies.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056" y="1292275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gates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allow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explicitly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control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remember,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forget,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7094" y="1508105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output.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0056" y="1722462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Solves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vanishing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gradient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problem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better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standard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RNNs.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0056" y="1980563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Effective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long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sequences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where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important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information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distributed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far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7094" y="2196406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apart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time,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such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speech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recognition,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text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generation,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time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series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7094" y="2368478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prediction.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98159" y="3150918"/>
            <a:ext cx="88723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39217" y="3150694"/>
            <a:ext cx="146178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-2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2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Gaterd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Recurrent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Units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(GRU)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9993" y="1249989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Gated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Recurrent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Units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(GRU)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variation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LSTMs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aim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simplify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1422074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model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while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maintaining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similar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performance.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9992" y="1680176"/>
            <a:ext cx="542540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GRUs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combine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forget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gates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single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called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update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gate,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992" y="1852261"/>
            <a:ext cx="542540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eliminate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gate,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simplifying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overall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architecture.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98159" y="3150916"/>
            <a:ext cx="88723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39368" y="3150692"/>
            <a:ext cx="146027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3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Gaterd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Recurrent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Units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(GRU)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Architecture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9993" y="1079796"/>
            <a:ext cx="54254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GRU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two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gates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0056" y="1294140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Reset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Gate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r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7094" y="1529665"/>
            <a:ext cx="5148301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Determines how much of the previous hidden state to forget before combining it with the new input.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0056" y="1724327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Update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Gate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z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7094" y="1959853"/>
            <a:ext cx="5148301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Decides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how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much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previous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hidden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state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retain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and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how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much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new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7094" y="2131938"/>
            <a:ext cx="5148301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incorporate.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98160" y="3150917"/>
            <a:ext cx="88723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38684" y="3150693"/>
            <a:ext cx="14671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635000" y="1016000"/>
            <a:ext cx="2336800" cy="1562100"/>
          </a:xfrm>
          <a:custGeom>
            <a:avLst/>
            <a:gdLst/>
            <a:ahLst/>
            <a:cxnLst/>
            <a:rect l="l" t="t" r="r" b="b"/>
            <a:pathLst>
              <a:path w="184" h="123">
                <a:moveTo>
                  <a:pt x="181" y="0"/>
                </a:moveTo>
                <a:lnTo>
                  <a:pt x="4" y="0"/>
                </a:lnTo>
                <a:lnTo>
                  <a:pt x="3" y="0"/>
                </a:lnTo>
                <a:lnTo>
                  <a:pt x="2" y="1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1" y="2"/>
                </a:lnTo>
                <a:lnTo>
                  <a:pt x="0" y="3"/>
                </a:lnTo>
                <a:lnTo>
                  <a:pt x="0" y="4"/>
                </a:lnTo>
                <a:lnTo>
                  <a:pt x="0" y="120"/>
                </a:lnTo>
                <a:lnTo>
                  <a:pt x="0" y="120"/>
                </a:lnTo>
                <a:lnTo>
                  <a:pt x="1" y="121"/>
                </a:lnTo>
                <a:lnTo>
                  <a:pt x="1" y="122"/>
                </a:lnTo>
                <a:lnTo>
                  <a:pt x="1" y="122"/>
                </a:lnTo>
                <a:lnTo>
                  <a:pt x="2" y="122"/>
                </a:lnTo>
                <a:lnTo>
                  <a:pt x="2" y="123"/>
                </a:lnTo>
                <a:lnTo>
                  <a:pt x="3" y="123"/>
                </a:lnTo>
                <a:lnTo>
                  <a:pt x="4" y="123"/>
                </a:lnTo>
                <a:lnTo>
                  <a:pt x="181" y="123"/>
                </a:lnTo>
                <a:lnTo>
                  <a:pt x="182" y="123"/>
                </a:lnTo>
                <a:lnTo>
                  <a:pt x="182" y="123"/>
                </a:lnTo>
                <a:lnTo>
                  <a:pt x="183" y="122"/>
                </a:lnTo>
                <a:lnTo>
                  <a:pt x="183" y="122"/>
                </a:lnTo>
                <a:lnTo>
                  <a:pt x="184" y="122"/>
                </a:lnTo>
                <a:lnTo>
                  <a:pt x="184" y="121"/>
                </a:lnTo>
                <a:lnTo>
                  <a:pt x="184" y="120"/>
                </a:lnTo>
                <a:lnTo>
                  <a:pt x="184" y="120"/>
                </a:lnTo>
                <a:lnTo>
                  <a:pt x="184" y="4"/>
                </a:lnTo>
                <a:lnTo>
                  <a:pt x="184" y="3"/>
                </a:lnTo>
                <a:lnTo>
                  <a:pt x="184" y="2"/>
                </a:lnTo>
                <a:lnTo>
                  <a:pt x="184" y="2"/>
                </a:lnTo>
                <a:lnTo>
                  <a:pt x="183" y="1"/>
                </a:lnTo>
                <a:lnTo>
                  <a:pt x="183" y="1"/>
                </a:lnTo>
                <a:lnTo>
                  <a:pt x="182" y="1"/>
                </a:lnTo>
                <a:lnTo>
                  <a:pt x="182" y="0"/>
                </a:lnTo>
                <a:lnTo>
                  <a:pt x="181" y="0"/>
                </a:lnTo>
                <a:close/>
              </a:path>
            </a:pathLst>
          </a:custGeom>
          <a:solidFill>
            <a:srgbClr val="93D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1689100" y="1866900"/>
            <a:ext cx="241300" cy="215900"/>
          </a:xfrm>
          <a:custGeom>
            <a:avLst/>
            <a:gdLst/>
            <a:ahLst/>
            <a:cxnLst/>
            <a:rect l="l" t="t" r="r" b="b"/>
            <a:pathLst>
              <a:path w="19" h="17">
                <a:moveTo>
                  <a:pt x="15" y="0"/>
                </a:moveTo>
                <a:lnTo>
                  <a:pt x="3" y="0"/>
                </a:lnTo>
                <a:lnTo>
                  <a:pt x="3" y="0"/>
                </a:lnTo>
                <a:lnTo>
                  <a:pt x="2" y="0"/>
                </a:lnTo>
                <a:lnTo>
                  <a:pt x="1" y="0"/>
                </a:lnTo>
                <a:lnTo>
                  <a:pt x="1" y="1"/>
                </a:lnTo>
                <a:lnTo>
                  <a:pt x="1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13"/>
                </a:lnTo>
                <a:lnTo>
                  <a:pt x="0" y="14"/>
                </a:lnTo>
                <a:lnTo>
                  <a:pt x="0" y="15"/>
                </a:lnTo>
                <a:lnTo>
                  <a:pt x="1" y="15"/>
                </a:lnTo>
                <a:lnTo>
                  <a:pt x="1" y="16"/>
                </a:lnTo>
                <a:lnTo>
                  <a:pt x="1" y="16"/>
                </a:lnTo>
                <a:lnTo>
                  <a:pt x="2" y="16"/>
                </a:lnTo>
                <a:lnTo>
                  <a:pt x="3" y="17"/>
                </a:lnTo>
                <a:lnTo>
                  <a:pt x="3" y="17"/>
                </a:lnTo>
                <a:lnTo>
                  <a:pt x="15" y="17"/>
                </a:lnTo>
                <a:lnTo>
                  <a:pt x="16" y="17"/>
                </a:lnTo>
                <a:lnTo>
                  <a:pt x="17" y="16"/>
                </a:lnTo>
                <a:lnTo>
                  <a:pt x="17" y="16"/>
                </a:lnTo>
                <a:lnTo>
                  <a:pt x="18" y="16"/>
                </a:lnTo>
                <a:lnTo>
                  <a:pt x="18" y="15"/>
                </a:lnTo>
                <a:lnTo>
                  <a:pt x="18" y="15"/>
                </a:lnTo>
                <a:lnTo>
                  <a:pt x="18" y="14"/>
                </a:lnTo>
                <a:lnTo>
                  <a:pt x="19" y="13"/>
                </a:lnTo>
                <a:lnTo>
                  <a:pt x="19" y="3"/>
                </a:lnTo>
                <a:lnTo>
                  <a:pt x="18" y="2"/>
                </a:lnTo>
                <a:lnTo>
                  <a:pt x="18" y="2"/>
                </a:lnTo>
                <a:lnTo>
                  <a:pt x="18" y="1"/>
                </a:lnTo>
                <a:lnTo>
                  <a:pt x="18" y="1"/>
                </a:lnTo>
                <a:lnTo>
                  <a:pt x="17" y="0"/>
                </a:lnTo>
                <a:lnTo>
                  <a:pt x="17" y="0"/>
                </a:lnTo>
                <a:lnTo>
                  <a:pt x="16" y="0"/>
                </a:lnTo>
                <a:lnTo>
                  <a:pt x="15" y="0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1295400" y="1866900"/>
            <a:ext cx="228600" cy="215900"/>
          </a:xfrm>
          <a:custGeom>
            <a:avLst/>
            <a:gdLst/>
            <a:ahLst/>
            <a:cxnLst/>
            <a:rect l="l" t="t" r="r" b="b"/>
            <a:pathLst>
              <a:path w="18" h="17">
                <a:moveTo>
                  <a:pt x="15" y="0"/>
                </a:moveTo>
                <a:lnTo>
                  <a:pt x="3" y="0"/>
                </a:lnTo>
                <a:lnTo>
                  <a:pt x="2" y="0"/>
                </a:lnTo>
                <a:lnTo>
                  <a:pt x="1" y="0"/>
                </a:lnTo>
                <a:lnTo>
                  <a:pt x="1" y="0"/>
                </a:lnTo>
                <a:lnTo>
                  <a:pt x="0" y="1"/>
                </a:lnTo>
                <a:lnTo>
                  <a:pt x="0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13"/>
                </a:lnTo>
                <a:lnTo>
                  <a:pt x="0" y="14"/>
                </a:lnTo>
                <a:lnTo>
                  <a:pt x="0" y="15"/>
                </a:lnTo>
                <a:lnTo>
                  <a:pt x="0" y="15"/>
                </a:lnTo>
                <a:lnTo>
                  <a:pt x="0" y="16"/>
                </a:lnTo>
                <a:lnTo>
                  <a:pt x="1" y="16"/>
                </a:lnTo>
                <a:lnTo>
                  <a:pt x="1" y="16"/>
                </a:lnTo>
                <a:lnTo>
                  <a:pt x="2" y="17"/>
                </a:lnTo>
                <a:lnTo>
                  <a:pt x="3" y="17"/>
                </a:lnTo>
                <a:lnTo>
                  <a:pt x="15" y="17"/>
                </a:lnTo>
                <a:lnTo>
                  <a:pt x="15" y="17"/>
                </a:lnTo>
                <a:lnTo>
                  <a:pt x="16" y="16"/>
                </a:lnTo>
                <a:lnTo>
                  <a:pt x="17" y="16"/>
                </a:lnTo>
                <a:lnTo>
                  <a:pt x="17" y="16"/>
                </a:lnTo>
                <a:lnTo>
                  <a:pt x="17" y="15"/>
                </a:lnTo>
                <a:lnTo>
                  <a:pt x="18" y="15"/>
                </a:lnTo>
                <a:lnTo>
                  <a:pt x="18" y="14"/>
                </a:lnTo>
                <a:lnTo>
                  <a:pt x="18" y="13"/>
                </a:lnTo>
                <a:lnTo>
                  <a:pt x="18" y="3"/>
                </a:lnTo>
                <a:lnTo>
                  <a:pt x="18" y="2"/>
                </a:lnTo>
                <a:lnTo>
                  <a:pt x="18" y="2"/>
                </a:lnTo>
                <a:lnTo>
                  <a:pt x="17" y="1"/>
                </a:lnTo>
                <a:lnTo>
                  <a:pt x="17" y="1"/>
                </a:lnTo>
                <a:lnTo>
                  <a:pt x="17" y="0"/>
                </a:lnTo>
                <a:lnTo>
                  <a:pt x="16" y="0"/>
                </a:lnTo>
                <a:lnTo>
                  <a:pt x="15" y="0"/>
                </a:lnTo>
                <a:lnTo>
                  <a:pt x="15" y="0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2095500" y="1854200"/>
            <a:ext cx="381000" cy="241300"/>
          </a:xfrm>
          <a:custGeom>
            <a:avLst/>
            <a:gdLst/>
            <a:ahLst/>
            <a:cxnLst/>
            <a:rect l="l" t="t" r="r" b="b"/>
            <a:pathLst>
              <a:path w="30" h="19">
                <a:moveTo>
                  <a:pt x="27" y="0"/>
                </a:move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16"/>
                </a:lnTo>
                <a:lnTo>
                  <a:pt x="0" y="16"/>
                </a:lnTo>
                <a:lnTo>
                  <a:pt x="0" y="17"/>
                </a:lnTo>
                <a:lnTo>
                  <a:pt x="0" y="17"/>
                </a:lnTo>
                <a:lnTo>
                  <a:pt x="1" y="18"/>
                </a:lnTo>
                <a:lnTo>
                  <a:pt x="1" y="18"/>
                </a:lnTo>
                <a:lnTo>
                  <a:pt x="2" y="19"/>
                </a:lnTo>
                <a:lnTo>
                  <a:pt x="2" y="19"/>
                </a:lnTo>
                <a:lnTo>
                  <a:pt x="3" y="19"/>
                </a:lnTo>
                <a:lnTo>
                  <a:pt x="27" y="19"/>
                </a:lnTo>
                <a:lnTo>
                  <a:pt x="28" y="19"/>
                </a:lnTo>
                <a:lnTo>
                  <a:pt x="28" y="19"/>
                </a:lnTo>
                <a:lnTo>
                  <a:pt x="29" y="18"/>
                </a:lnTo>
                <a:lnTo>
                  <a:pt x="29" y="18"/>
                </a:lnTo>
                <a:lnTo>
                  <a:pt x="30" y="17"/>
                </a:lnTo>
                <a:lnTo>
                  <a:pt x="30" y="17"/>
                </a:lnTo>
                <a:lnTo>
                  <a:pt x="30" y="16"/>
                </a:lnTo>
                <a:lnTo>
                  <a:pt x="30" y="16"/>
                </a:lnTo>
                <a:lnTo>
                  <a:pt x="30" y="3"/>
                </a:lnTo>
                <a:lnTo>
                  <a:pt x="30" y="2"/>
                </a:lnTo>
                <a:lnTo>
                  <a:pt x="30" y="2"/>
                </a:lnTo>
                <a:lnTo>
                  <a:pt x="30" y="1"/>
                </a:lnTo>
                <a:lnTo>
                  <a:pt x="29" y="1"/>
                </a:lnTo>
                <a:lnTo>
                  <a:pt x="29" y="0"/>
                </a:lnTo>
                <a:lnTo>
                  <a:pt x="28" y="0"/>
                </a:lnTo>
                <a:lnTo>
                  <a:pt x="28" y="0"/>
                </a:lnTo>
                <a:lnTo>
                  <a:pt x="27" y="0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762000" y="20828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17" h="17">
                <a:moveTo>
                  <a:pt x="17" y="8"/>
                </a:moveTo>
                <a:lnTo>
                  <a:pt x="17" y="7"/>
                </a:lnTo>
                <a:lnTo>
                  <a:pt x="17" y="5"/>
                </a:lnTo>
                <a:lnTo>
                  <a:pt x="16" y="4"/>
                </a:lnTo>
                <a:lnTo>
                  <a:pt x="15" y="2"/>
                </a:lnTo>
                <a:lnTo>
                  <a:pt x="14" y="1"/>
                </a:lnTo>
                <a:lnTo>
                  <a:pt x="12" y="0"/>
                </a:lnTo>
                <a:lnTo>
                  <a:pt x="10" y="0"/>
                </a:lnTo>
                <a:lnTo>
                  <a:pt x="9" y="0"/>
                </a:lnTo>
                <a:lnTo>
                  <a:pt x="7" y="0"/>
                </a:lnTo>
                <a:lnTo>
                  <a:pt x="5" y="0"/>
                </a:lnTo>
                <a:lnTo>
                  <a:pt x="4" y="1"/>
                </a:lnTo>
                <a:lnTo>
                  <a:pt x="2" y="2"/>
                </a:lnTo>
                <a:lnTo>
                  <a:pt x="1" y="4"/>
                </a:lnTo>
                <a:lnTo>
                  <a:pt x="1" y="5"/>
                </a:lnTo>
                <a:lnTo>
                  <a:pt x="0" y="7"/>
                </a:lnTo>
                <a:lnTo>
                  <a:pt x="0" y="8"/>
                </a:lnTo>
                <a:lnTo>
                  <a:pt x="0" y="10"/>
                </a:lnTo>
                <a:lnTo>
                  <a:pt x="1" y="12"/>
                </a:lnTo>
                <a:lnTo>
                  <a:pt x="1" y="13"/>
                </a:lnTo>
                <a:lnTo>
                  <a:pt x="2" y="15"/>
                </a:lnTo>
                <a:lnTo>
                  <a:pt x="4" y="16"/>
                </a:lnTo>
                <a:lnTo>
                  <a:pt x="5" y="16"/>
                </a:lnTo>
                <a:lnTo>
                  <a:pt x="7" y="17"/>
                </a:lnTo>
                <a:lnTo>
                  <a:pt x="9" y="17"/>
                </a:lnTo>
                <a:lnTo>
                  <a:pt x="10" y="17"/>
                </a:lnTo>
                <a:lnTo>
                  <a:pt x="12" y="16"/>
                </a:lnTo>
                <a:lnTo>
                  <a:pt x="14" y="16"/>
                </a:lnTo>
                <a:lnTo>
                  <a:pt x="15" y="15"/>
                </a:lnTo>
                <a:lnTo>
                  <a:pt x="16" y="13"/>
                </a:lnTo>
                <a:lnTo>
                  <a:pt x="17" y="12"/>
                </a:lnTo>
                <a:lnTo>
                  <a:pt x="17" y="10"/>
                </a:lnTo>
                <a:lnTo>
                  <a:pt x="17" y="8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1028700" y="2311400"/>
            <a:ext cx="215900" cy="228600"/>
          </a:xfrm>
          <a:custGeom>
            <a:avLst/>
            <a:gdLst/>
            <a:ahLst/>
            <a:cxnLst/>
            <a:rect l="l" t="t" r="r" b="b"/>
            <a:pathLst>
              <a:path w="17" h="18">
                <a:moveTo>
                  <a:pt x="17" y="9"/>
                </a:moveTo>
                <a:lnTo>
                  <a:pt x="17" y="7"/>
                </a:lnTo>
                <a:lnTo>
                  <a:pt x="17" y="5"/>
                </a:lnTo>
                <a:lnTo>
                  <a:pt x="16" y="4"/>
                </a:lnTo>
                <a:lnTo>
                  <a:pt x="15" y="3"/>
                </a:lnTo>
                <a:lnTo>
                  <a:pt x="13" y="2"/>
                </a:lnTo>
                <a:lnTo>
                  <a:pt x="12" y="1"/>
                </a:lnTo>
                <a:lnTo>
                  <a:pt x="10" y="0"/>
                </a:lnTo>
                <a:lnTo>
                  <a:pt x="8" y="0"/>
                </a:lnTo>
                <a:lnTo>
                  <a:pt x="7" y="0"/>
                </a:lnTo>
                <a:lnTo>
                  <a:pt x="5" y="1"/>
                </a:lnTo>
                <a:lnTo>
                  <a:pt x="4" y="2"/>
                </a:lnTo>
                <a:lnTo>
                  <a:pt x="2" y="3"/>
                </a:lnTo>
                <a:lnTo>
                  <a:pt x="1" y="4"/>
                </a:lnTo>
                <a:lnTo>
                  <a:pt x="0" y="5"/>
                </a:lnTo>
                <a:lnTo>
                  <a:pt x="0" y="7"/>
                </a:lnTo>
                <a:lnTo>
                  <a:pt x="0" y="9"/>
                </a:lnTo>
                <a:lnTo>
                  <a:pt x="0" y="11"/>
                </a:lnTo>
                <a:lnTo>
                  <a:pt x="0" y="12"/>
                </a:lnTo>
                <a:lnTo>
                  <a:pt x="1" y="14"/>
                </a:lnTo>
                <a:lnTo>
                  <a:pt x="2" y="15"/>
                </a:lnTo>
                <a:lnTo>
                  <a:pt x="4" y="16"/>
                </a:lnTo>
                <a:lnTo>
                  <a:pt x="5" y="17"/>
                </a:lnTo>
                <a:lnTo>
                  <a:pt x="7" y="17"/>
                </a:lnTo>
                <a:lnTo>
                  <a:pt x="8" y="18"/>
                </a:lnTo>
                <a:lnTo>
                  <a:pt x="10" y="17"/>
                </a:lnTo>
                <a:lnTo>
                  <a:pt x="12" y="17"/>
                </a:lnTo>
                <a:lnTo>
                  <a:pt x="13" y="16"/>
                </a:lnTo>
                <a:lnTo>
                  <a:pt x="15" y="15"/>
                </a:lnTo>
                <a:lnTo>
                  <a:pt x="16" y="14"/>
                </a:lnTo>
                <a:lnTo>
                  <a:pt x="17" y="12"/>
                </a:lnTo>
                <a:lnTo>
                  <a:pt x="17" y="11"/>
                </a:lnTo>
                <a:lnTo>
                  <a:pt x="17" y="9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1028700" y="15494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17" h="17">
                <a:moveTo>
                  <a:pt x="17" y="9"/>
                </a:moveTo>
                <a:lnTo>
                  <a:pt x="17" y="7"/>
                </a:lnTo>
                <a:lnTo>
                  <a:pt x="17" y="5"/>
                </a:lnTo>
                <a:lnTo>
                  <a:pt x="16" y="4"/>
                </a:lnTo>
                <a:lnTo>
                  <a:pt x="15" y="2"/>
                </a:lnTo>
                <a:lnTo>
                  <a:pt x="13" y="1"/>
                </a:lnTo>
                <a:lnTo>
                  <a:pt x="12" y="1"/>
                </a:lnTo>
                <a:lnTo>
                  <a:pt x="10" y="0"/>
                </a:lnTo>
                <a:lnTo>
                  <a:pt x="8" y="0"/>
                </a:lnTo>
                <a:lnTo>
                  <a:pt x="7" y="0"/>
                </a:lnTo>
                <a:lnTo>
                  <a:pt x="5" y="1"/>
                </a:lnTo>
                <a:lnTo>
                  <a:pt x="4" y="1"/>
                </a:lnTo>
                <a:lnTo>
                  <a:pt x="2" y="2"/>
                </a:lnTo>
                <a:lnTo>
                  <a:pt x="1" y="4"/>
                </a:lnTo>
                <a:lnTo>
                  <a:pt x="0" y="5"/>
                </a:lnTo>
                <a:lnTo>
                  <a:pt x="0" y="7"/>
                </a:lnTo>
                <a:lnTo>
                  <a:pt x="0" y="9"/>
                </a:lnTo>
                <a:lnTo>
                  <a:pt x="0" y="10"/>
                </a:lnTo>
                <a:lnTo>
                  <a:pt x="0" y="12"/>
                </a:lnTo>
                <a:lnTo>
                  <a:pt x="1" y="14"/>
                </a:lnTo>
                <a:lnTo>
                  <a:pt x="2" y="15"/>
                </a:lnTo>
                <a:lnTo>
                  <a:pt x="4" y="16"/>
                </a:lnTo>
                <a:lnTo>
                  <a:pt x="5" y="17"/>
                </a:lnTo>
                <a:lnTo>
                  <a:pt x="7" y="17"/>
                </a:lnTo>
                <a:lnTo>
                  <a:pt x="8" y="17"/>
                </a:lnTo>
                <a:lnTo>
                  <a:pt x="10" y="17"/>
                </a:lnTo>
                <a:lnTo>
                  <a:pt x="12" y="17"/>
                </a:lnTo>
                <a:lnTo>
                  <a:pt x="13" y="16"/>
                </a:lnTo>
                <a:lnTo>
                  <a:pt x="15" y="15"/>
                </a:lnTo>
                <a:lnTo>
                  <a:pt x="16" y="14"/>
                </a:lnTo>
                <a:lnTo>
                  <a:pt x="17" y="12"/>
                </a:lnTo>
                <a:lnTo>
                  <a:pt x="17" y="10"/>
                </a:lnTo>
                <a:lnTo>
                  <a:pt x="17" y="9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2171700" y="1549400"/>
            <a:ext cx="228600" cy="215900"/>
          </a:xfrm>
          <a:custGeom>
            <a:avLst/>
            <a:gdLst/>
            <a:ahLst/>
            <a:cxnLst/>
            <a:rect l="l" t="t" r="r" b="b"/>
            <a:pathLst>
              <a:path w="18" h="17">
                <a:moveTo>
                  <a:pt x="18" y="9"/>
                </a:moveTo>
                <a:lnTo>
                  <a:pt x="18" y="7"/>
                </a:lnTo>
                <a:lnTo>
                  <a:pt x="17" y="5"/>
                </a:lnTo>
                <a:lnTo>
                  <a:pt x="16" y="4"/>
                </a:lnTo>
                <a:lnTo>
                  <a:pt x="15" y="2"/>
                </a:lnTo>
                <a:lnTo>
                  <a:pt x="14" y="1"/>
                </a:lnTo>
                <a:lnTo>
                  <a:pt x="12" y="1"/>
                </a:lnTo>
                <a:lnTo>
                  <a:pt x="11" y="0"/>
                </a:lnTo>
                <a:lnTo>
                  <a:pt x="9" y="0"/>
                </a:lnTo>
                <a:lnTo>
                  <a:pt x="7" y="0"/>
                </a:lnTo>
                <a:lnTo>
                  <a:pt x="6" y="1"/>
                </a:lnTo>
                <a:lnTo>
                  <a:pt x="4" y="1"/>
                </a:lnTo>
                <a:lnTo>
                  <a:pt x="3" y="2"/>
                </a:lnTo>
                <a:lnTo>
                  <a:pt x="2" y="4"/>
                </a:lnTo>
                <a:lnTo>
                  <a:pt x="1" y="5"/>
                </a:lnTo>
                <a:lnTo>
                  <a:pt x="0" y="7"/>
                </a:lnTo>
                <a:lnTo>
                  <a:pt x="0" y="9"/>
                </a:lnTo>
                <a:lnTo>
                  <a:pt x="0" y="10"/>
                </a:lnTo>
                <a:lnTo>
                  <a:pt x="1" y="12"/>
                </a:lnTo>
                <a:lnTo>
                  <a:pt x="2" y="14"/>
                </a:lnTo>
                <a:lnTo>
                  <a:pt x="3" y="15"/>
                </a:lnTo>
                <a:lnTo>
                  <a:pt x="4" y="16"/>
                </a:lnTo>
                <a:lnTo>
                  <a:pt x="6" y="17"/>
                </a:lnTo>
                <a:lnTo>
                  <a:pt x="7" y="17"/>
                </a:lnTo>
                <a:lnTo>
                  <a:pt x="9" y="17"/>
                </a:lnTo>
                <a:lnTo>
                  <a:pt x="11" y="17"/>
                </a:lnTo>
                <a:lnTo>
                  <a:pt x="12" y="17"/>
                </a:lnTo>
                <a:lnTo>
                  <a:pt x="14" y="16"/>
                </a:lnTo>
                <a:lnTo>
                  <a:pt x="15" y="15"/>
                </a:lnTo>
                <a:lnTo>
                  <a:pt x="16" y="14"/>
                </a:lnTo>
                <a:lnTo>
                  <a:pt x="17" y="12"/>
                </a:lnTo>
                <a:lnTo>
                  <a:pt x="18" y="10"/>
                </a:lnTo>
                <a:lnTo>
                  <a:pt x="18" y="9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2171700" y="1054100"/>
            <a:ext cx="228600" cy="215900"/>
          </a:xfrm>
          <a:custGeom>
            <a:avLst/>
            <a:gdLst/>
            <a:ahLst/>
            <a:cxnLst/>
            <a:rect l="l" t="t" r="r" b="b"/>
            <a:pathLst>
              <a:path w="18" h="17">
                <a:moveTo>
                  <a:pt x="18" y="8"/>
                </a:moveTo>
                <a:lnTo>
                  <a:pt x="18" y="7"/>
                </a:lnTo>
                <a:lnTo>
                  <a:pt x="17" y="5"/>
                </a:lnTo>
                <a:lnTo>
                  <a:pt x="16" y="3"/>
                </a:lnTo>
                <a:lnTo>
                  <a:pt x="15" y="2"/>
                </a:lnTo>
                <a:lnTo>
                  <a:pt x="14" y="1"/>
                </a:lnTo>
                <a:lnTo>
                  <a:pt x="12" y="0"/>
                </a:lnTo>
                <a:lnTo>
                  <a:pt x="11" y="0"/>
                </a:lnTo>
                <a:lnTo>
                  <a:pt x="9" y="0"/>
                </a:lnTo>
                <a:lnTo>
                  <a:pt x="7" y="0"/>
                </a:lnTo>
                <a:lnTo>
                  <a:pt x="6" y="0"/>
                </a:lnTo>
                <a:lnTo>
                  <a:pt x="4" y="1"/>
                </a:lnTo>
                <a:lnTo>
                  <a:pt x="3" y="2"/>
                </a:lnTo>
                <a:lnTo>
                  <a:pt x="2" y="3"/>
                </a:lnTo>
                <a:lnTo>
                  <a:pt x="1" y="5"/>
                </a:lnTo>
                <a:lnTo>
                  <a:pt x="0" y="7"/>
                </a:lnTo>
                <a:lnTo>
                  <a:pt x="0" y="8"/>
                </a:lnTo>
                <a:lnTo>
                  <a:pt x="0" y="10"/>
                </a:lnTo>
                <a:lnTo>
                  <a:pt x="1" y="12"/>
                </a:lnTo>
                <a:lnTo>
                  <a:pt x="2" y="13"/>
                </a:lnTo>
                <a:lnTo>
                  <a:pt x="3" y="15"/>
                </a:lnTo>
                <a:lnTo>
                  <a:pt x="4" y="16"/>
                </a:lnTo>
                <a:lnTo>
                  <a:pt x="6" y="16"/>
                </a:lnTo>
                <a:lnTo>
                  <a:pt x="7" y="17"/>
                </a:lnTo>
                <a:lnTo>
                  <a:pt x="9" y="17"/>
                </a:lnTo>
                <a:lnTo>
                  <a:pt x="11" y="17"/>
                </a:lnTo>
                <a:lnTo>
                  <a:pt x="12" y="16"/>
                </a:lnTo>
                <a:lnTo>
                  <a:pt x="14" y="16"/>
                </a:lnTo>
                <a:lnTo>
                  <a:pt x="15" y="15"/>
                </a:lnTo>
                <a:lnTo>
                  <a:pt x="16" y="13"/>
                </a:lnTo>
                <a:lnTo>
                  <a:pt x="17" y="12"/>
                </a:lnTo>
                <a:lnTo>
                  <a:pt x="18" y="10"/>
                </a:lnTo>
                <a:lnTo>
                  <a:pt x="18" y="8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1701800" y="10541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17" h="17">
                <a:moveTo>
                  <a:pt x="17" y="8"/>
                </a:moveTo>
                <a:lnTo>
                  <a:pt x="17" y="7"/>
                </a:lnTo>
                <a:lnTo>
                  <a:pt x="16" y="5"/>
                </a:lnTo>
                <a:lnTo>
                  <a:pt x="16" y="3"/>
                </a:lnTo>
                <a:lnTo>
                  <a:pt x="14" y="2"/>
                </a:lnTo>
                <a:lnTo>
                  <a:pt x="13" y="1"/>
                </a:lnTo>
                <a:lnTo>
                  <a:pt x="12" y="0"/>
                </a:lnTo>
                <a:lnTo>
                  <a:pt x="10" y="0"/>
                </a:lnTo>
                <a:lnTo>
                  <a:pt x="8" y="0"/>
                </a:lnTo>
                <a:lnTo>
                  <a:pt x="7" y="0"/>
                </a:lnTo>
                <a:lnTo>
                  <a:pt x="5" y="0"/>
                </a:lnTo>
                <a:lnTo>
                  <a:pt x="3" y="1"/>
                </a:lnTo>
                <a:lnTo>
                  <a:pt x="2" y="2"/>
                </a:lnTo>
                <a:lnTo>
                  <a:pt x="1" y="3"/>
                </a:lnTo>
                <a:lnTo>
                  <a:pt x="0" y="5"/>
                </a:lnTo>
                <a:lnTo>
                  <a:pt x="0" y="7"/>
                </a:lnTo>
                <a:lnTo>
                  <a:pt x="0" y="8"/>
                </a:lnTo>
                <a:lnTo>
                  <a:pt x="0" y="10"/>
                </a:lnTo>
                <a:lnTo>
                  <a:pt x="0" y="12"/>
                </a:lnTo>
                <a:lnTo>
                  <a:pt x="1" y="13"/>
                </a:lnTo>
                <a:lnTo>
                  <a:pt x="2" y="15"/>
                </a:lnTo>
                <a:lnTo>
                  <a:pt x="3" y="16"/>
                </a:lnTo>
                <a:lnTo>
                  <a:pt x="5" y="16"/>
                </a:lnTo>
                <a:lnTo>
                  <a:pt x="7" y="17"/>
                </a:lnTo>
                <a:lnTo>
                  <a:pt x="8" y="17"/>
                </a:lnTo>
                <a:lnTo>
                  <a:pt x="10" y="17"/>
                </a:lnTo>
                <a:lnTo>
                  <a:pt x="12" y="16"/>
                </a:lnTo>
                <a:lnTo>
                  <a:pt x="13" y="16"/>
                </a:lnTo>
                <a:lnTo>
                  <a:pt x="14" y="15"/>
                </a:lnTo>
                <a:lnTo>
                  <a:pt x="16" y="13"/>
                </a:lnTo>
                <a:lnTo>
                  <a:pt x="16" y="12"/>
                </a:lnTo>
                <a:lnTo>
                  <a:pt x="17" y="10"/>
                </a:lnTo>
                <a:lnTo>
                  <a:pt x="17" y="8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1651000" y="1358900"/>
            <a:ext cx="304800" cy="215900"/>
          </a:xfrm>
          <a:custGeom>
            <a:avLst/>
            <a:gdLst/>
            <a:ahLst/>
            <a:cxnLst/>
            <a:rect l="l" t="t" r="r" b="b"/>
            <a:pathLst>
              <a:path w="24" h="17">
                <a:moveTo>
                  <a:pt x="24" y="9"/>
                </a:moveTo>
                <a:lnTo>
                  <a:pt x="24" y="7"/>
                </a:lnTo>
                <a:lnTo>
                  <a:pt x="23" y="5"/>
                </a:lnTo>
                <a:lnTo>
                  <a:pt x="22" y="4"/>
                </a:lnTo>
                <a:lnTo>
                  <a:pt x="21" y="2"/>
                </a:lnTo>
                <a:lnTo>
                  <a:pt x="19" y="1"/>
                </a:lnTo>
                <a:lnTo>
                  <a:pt x="17" y="1"/>
                </a:lnTo>
                <a:lnTo>
                  <a:pt x="15" y="0"/>
                </a:lnTo>
                <a:lnTo>
                  <a:pt x="12" y="0"/>
                </a:lnTo>
                <a:lnTo>
                  <a:pt x="10" y="0"/>
                </a:lnTo>
                <a:lnTo>
                  <a:pt x="8" y="1"/>
                </a:lnTo>
                <a:lnTo>
                  <a:pt x="6" y="1"/>
                </a:lnTo>
                <a:lnTo>
                  <a:pt x="4" y="2"/>
                </a:lnTo>
                <a:lnTo>
                  <a:pt x="2" y="4"/>
                </a:lnTo>
                <a:lnTo>
                  <a:pt x="1" y="5"/>
                </a:lnTo>
                <a:lnTo>
                  <a:pt x="1" y="7"/>
                </a:lnTo>
                <a:lnTo>
                  <a:pt x="0" y="9"/>
                </a:lnTo>
                <a:lnTo>
                  <a:pt x="1" y="10"/>
                </a:lnTo>
                <a:lnTo>
                  <a:pt x="1" y="12"/>
                </a:lnTo>
                <a:lnTo>
                  <a:pt x="2" y="13"/>
                </a:lnTo>
                <a:lnTo>
                  <a:pt x="4" y="15"/>
                </a:lnTo>
                <a:lnTo>
                  <a:pt x="6" y="16"/>
                </a:lnTo>
                <a:lnTo>
                  <a:pt x="8" y="17"/>
                </a:lnTo>
                <a:lnTo>
                  <a:pt x="10" y="17"/>
                </a:lnTo>
                <a:lnTo>
                  <a:pt x="12" y="17"/>
                </a:lnTo>
                <a:lnTo>
                  <a:pt x="15" y="17"/>
                </a:lnTo>
                <a:lnTo>
                  <a:pt x="17" y="17"/>
                </a:lnTo>
                <a:lnTo>
                  <a:pt x="19" y="16"/>
                </a:lnTo>
                <a:lnTo>
                  <a:pt x="21" y="15"/>
                </a:lnTo>
                <a:lnTo>
                  <a:pt x="22" y="13"/>
                </a:lnTo>
                <a:lnTo>
                  <a:pt x="23" y="12"/>
                </a:lnTo>
                <a:lnTo>
                  <a:pt x="24" y="10"/>
                </a:lnTo>
                <a:lnTo>
                  <a:pt x="24" y="9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 flipV="1">
            <a:off x="2859547" y="934572"/>
            <a:ext cx="0" cy="225209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Freeform 47"/>
          <p:cNvSpPr/>
          <p:nvPr/>
        </p:nvSpPr>
        <p:spPr>
          <a:xfrm>
            <a:off x="2832100" y="9144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4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526679" y="1159781"/>
            <a:ext cx="345048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871727" y="1159781"/>
            <a:ext cx="264270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871727" y="2423737"/>
            <a:ext cx="0" cy="267224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871727" y="1159781"/>
            <a:ext cx="0" cy="881215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Freeform 52"/>
          <p:cNvSpPr/>
          <p:nvPr/>
        </p:nvSpPr>
        <p:spPr>
          <a:xfrm>
            <a:off x="850900" y="20193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2" y="4"/>
                </a:moveTo>
                <a:lnTo>
                  <a:pt x="3" y="0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 flipV="1">
            <a:off x="871727" y="2338364"/>
            <a:ext cx="0" cy="85373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Freeform 54"/>
          <p:cNvSpPr/>
          <p:nvPr/>
        </p:nvSpPr>
        <p:spPr>
          <a:xfrm>
            <a:off x="850900" y="2311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1135997" y="1159781"/>
            <a:ext cx="0" cy="35067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Freeform 56"/>
          <p:cNvSpPr/>
          <p:nvPr/>
        </p:nvSpPr>
        <p:spPr>
          <a:xfrm>
            <a:off x="1117600" y="1498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0"/>
                </a:lnTo>
                <a:lnTo>
                  <a:pt x="1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1135997" y="1781423"/>
            <a:ext cx="0" cy="49363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Freeform 58"/>
          <p:cNvSpPr/>
          <p:nvPr/>
        </p:nvSpPr>
        <p:spPr>
          <a:xfrm>
            <a:off x="1117600" y="2260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0"/>
                </a:lnTo>
                <a:lnTo>
                  <a:pt x="1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>
            <a:off x="871727" y="2423737"/>
            <a:ext cx="115586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Freeform 60"/>
          <p:cNvSpPr/>
          <p:nvPr/>
        </p:nvSpPr>
        <p:spPr>
          <a:xfrm>
            <a:off x="965200" y="24003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0" y="0"/>
                </a:lnTo>
                <a:lnTo>
                  <a:pt x="2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>
            <a:off x="1258285" y="2423737"/>
            <a:ext cx="1027234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2285519" y="2130711"/>
            <a:ext cx="0" cy="293026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Freeform 63"/>
          <p:cNvSpPr/>
          <p:nvPr/>
        </p:nvSpPr>
        <p:spPr>
          <a:xfrm>
            <a:off x="2260600" y="2108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4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 flipV="1">
            <a:off x="2285519" y="1807818"/>
            <a:ext cx="0" cy="30305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Freeform 65"/>
          <p:cNvSpPr/>
          <p:nvPr/>
        </p:nvSpPr>
        <p:spPr>
          <a:xfrm>
            <a:off x="2260600" y="17780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2" y="0"/>
                </a:moveTo>
                <a:lnTo>
                  <a:pt x="0" y="4"/>
                </a:lnTo>
                <a:lnTo>
                  <a:pt x="2" y="2"/>
                </a:lnTo>
                <a:lnTo>
                  <a:pt x="4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1807167" y="1659135"/>
            <a:ext cx="329668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Freeform 67"/>
          <p:cNvSpPr/>
          <p:nvPr/>
        </p:nvSpPr>
        <p:spPr>
          <a:xfrm>
            <a:off x="2120900" y="1638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 flipV="1">
            <a:off x="2285519" y="1308465"/>
            <a:ext cx="0" cy="228382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Freeform 69"/>
          <p:cNvSpPr/>
          <p:nvPr/>
        </p:nvSpPr>
        <p:spPr>
          <a:xfrm>
            <a:off x="2260600" y="12827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4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>
            <a:off x="994015" y="2189680"/>
            <a:ext cx="412215" cy="0"/>
          </a:xfrm>
          <a:prstGeom prst="line">
            <a:avLst/>
          </a:prstGeom>
          <a:ln w="30457">
            <a:solidFill>
              <a:srgbClr val="93D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994015" y="2189680"/>
            <a:ext cx="412215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406230" y="2189680"/>
            <a:ext cx="400937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1406230" y="2116043"/>
            <a:ext cx="0" cy="73637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Freeform 74"/>
          <p:cNvSpPr/>
          <p:nvPr/>
        </p:nvSpPr>
        <p:spPr>
          <a:xfrm>
            <a:off x="1384300" y="20955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 flipV="1">
            <a:off x="1807167" y="2116043"/>
            <a:ext cx="0" cy="73637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Freeform 76"/>
          <p:cNvSpPr/>
          <p:nvPr/>
        </p:nvSpPr>
        <p:spPr>
          <a:xfrm>
            <a:off x="1790700" y="20955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 flipV="1">
            <a:off x="1406230" y="1659135"/>
            <a:ext cx="0" cy="193656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H="1">
            <a:off x="1284681" y="1659135"/>
            <a:ext cx="121549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Freeform 79"/>
          <p:cNvSpPr/>
          <p:nvPr/>
        </p:nvSpPr>
        <p:spPr>
          <a:xfrm>
            <a:off x="1257300" y="1638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0" y="2"/>
                </a:moveTo>
                <a:lnTo>
                  <a:pt x="3" y="3"/>
                </a:lnTo>
                <a:lnTo>
                  <a:pt x="2" y="2"/>
                </a:lnTo>
                <a:lnTo>
                  <a:pt x="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" name="Connector 80"/>
          <p:cNvCxnSpPr/>
          <p:nvPr/>
        </p:nvCxnSpPr>
        <p:spPr>
          <a:xfrm flipV="1">
            <a:off x="1807167" y="1616815"/>
            <a:ext cx="0" cy="235976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Freeform 81"/>
          <p:cNvSpPr/>
          <p:nvPr/>
        </p:nvSpPr>
        <p:spPr>
          <a:xfrm>
            <a:off x="1790700" y="15875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0"/>
                </a:moveTo>
                <a:lnTo>
                  <a:pt x="0" y="4"/>
                </a:lnTo>
                <a:lnTo>
                  <a:pt x="1" y="2"/>
                </a:lnTo>
                <a:lnTo>
                  <a:pt x="3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 flipV="1">
            <a:off x="1807167" y="1308465"/>
            <a:ext cx="0" cy="37379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Freeform 83"/>
          <p:cNvSpPr/>
          <p:nvPr/>
        </p:nvSpPr>
        <p:spPr>
          <a:xfrm>
            <a:off x="1790700" y="1282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" name="Connector 84"/>
          <p:cNvCxnSpPr/>
          <p:nvPr/>
        </p:nvCxnSpPr>
        <p:spPr>
          <a:xfrm>
            <a:off x="1135997" y="1159781"/>
            <a:ext cx="522487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Freeform 85"/>
          <p:cNvSpPr/>
          <p:nvPr/>
        </p:nvSpPr>
        <p:spPr>
          <a:xfrm>
            <a:off x="1638300" y="1143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1"/>
                </a:moveTo>
                <a:lnTo>
                  <a:pt x="0" y="0"/>
                </a:lnTo>
                <a:lnTo>
                  <a:pt x="2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" name="Connector 86"/>
          <p:cNvCxnSpPr/>
          <p:nvPr/>
        </p:nvCxnSpPr>
        <p:spPr>
          <a:xfrm>
            <a:off x="1929455" y="1159781"/>
            <a:ext cx="207380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Freeform 87"/>
          <p:cNvSpPr/>
          <p:nvPr/>
        </p:nvSpPr>
        <p:spPr>
          <a:xfrm>
            <a:off x="2120900" y="1143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2407807" y="1159781"/>
            <a:ext cx="653453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Freeform 89"/>
          <p:cNvSpPr/>
          <p:nvPr/>
        </p:nvSpPr>
        <p:spPr>
          <a:xfrm>
            <a:off x="3048000" y="1143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-2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2880001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3" name="Picture 9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94" name="Picture 9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Gaterd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Recurrent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Units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(GRU)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Architecture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77057" y="1098945"/>
            <a:ext cx="5508338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000000"/>
                </a:solidFill>
                <a:latin typeface="Cambria Math"/>
              </a:rPr>
              <a:t>h</a:t>
            </a:r>
            <a:r>
              <a:rPr sz="639" b="0">
                <a:solidFill>
                  <a:srgbClr val="000000"/>
                </a:solidFill>
                <a:latin typeface="Cambria Math"/>
              </a:rPr>
              <a:t>t</a:t>
            </a:r>
            <a:r>
              <a:rPr sz="639" b="0">
                <a:solidFill>
                  <a:srgbClr val="000000"/>
                </a:solidFill>
                <a:latin typeface="Cambria Math"/>
              </a:rPr>
              <a:t>−</a:t>
            </a:r>
            <a:r>
              <a:rPr sz="639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21850" y="2691014"/>
            <a:ext cx="4963545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000000"/>
                </a:solidFill>
                <a:latin typeface="Cambria Math"/>
              </a:rPr>
              <a:t>x</a:t>
            </a:r>
            <a:r>
              <a:rPr sz="639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809391" y="765553"/>
            <a:ext cx="2976004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000000"/>
                </a:solidFill>
                <a:latin typeface="Cambria Math"/>
              </a:rPr>
              <a:t>h</a:t>
            </a:r>
            <a:r>
              <a:rPr sz="639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126723" y="1103174"/>
            <a:ext cx="2658672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000000"/>
                </a:solidFill>
                <a:latin typeface="Cambria Math"/>
              </a:rPr>
              <a:t>h</a:t>
            </a:r>
            <a:r>
              <a:rPr sz="639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773406" y="1908273"/>
            <a:ext cx="4011989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000000"/>
                </a:solidFill>
                <a:latin typeface="Cambria Math"/>
              </a:rPr>
              <a:t>σ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372482" y="1908273"/>
            <a:ext cx="4412913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000000"/>
                </a:solidFill>
                <a:latin typeface="Cambria Math"/>
              </a:rPr>
              <a:t>σ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174341" y="1922937"/>
            <a:ext cx="3611054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000000"/>
                </a:solidFill>
                <a:latin typeface="Cambria Math"/>
              </a:rPr>
              <a:t>tanh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28504" y="2116033"/>
            <a:ext cx="4956891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FFFFFF"/>
                </a:solidFill>
                <a:latin typeface="MSAM10"/>
              </a:rPr>
              <a:t>⊞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92774" y="2350088"/>
            <a:ext cx="4692621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FFFFFF"/>
                </a:solidFill>
                <a:latin typeface="MSAM10"/>
              </a:rPr>
              <a:t>⊞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92774" y="1598611"/>
            <a:ext cx="4692621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FFFFFF"/>
                </a:solidFill>
                <a:latin typeface="Cambria Math"/>
              </a:rPr>
              <a:t>×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242281" y="1598611"/>
            <a:ext cx="3543114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FFFFFF"/>
                </a:solidFill>
                <a:latin typeface="Cambria Math"/>
              </a:rPr>
              <a:t>×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242281" y="1100708"/>
            <a:ext cx="3543114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FFFFFF"/>
                </a:solidFill>
                <a:latin typeface="Cambria Math"/>
              </a:rPr>
              <a:t>+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763929" y="1099267"/>
            <a:ext cx="4021466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FFFFFF"/>
                </a:solidFill>
                <a:latin typeface="Cambria Math"/>
              </a:rPr>
              <a:t>×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736140" y="1411004"/>
            <a:ext cx="4049255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FFFFFF"/>
                </a:solidFill>
                <a:latin typeface="Cambria Math"/>
              </a:rPr>
              <a:t>1</a:t>
            </a:r>
            <a:r>
              <a:rPr sz="875" b="0">
                <a:solidFill>
                  <a:srgbClr val="FFFFFF"/>
                </a:solidFill>
                <a:latin typeface="Cambria Math"/>
              </a:rPr>
              <a:t>−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604093" y="1184667"/>
            <a:ext cx="21813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Reset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Gate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604093" y="1356740"/>
            <a:ext cx="218130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Update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Gate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898159" y="3150918"/>
            <a:ext cx="88723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638531" y="3150694"/>
            <a:ext cx="14686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635000" y="1016000"/>
            <a:ext cx="2336800" cy="1562100"/>
          </a:xfrm>
          <a:custGeom>
            <a:avLst/>
            <a:gdLst/>
            <a:ahLst/>
            <a:cxnLst/>
            <a:rect l="l" t="t" r="r" b="b"/>
            <a:pathLst>
              <a:path w="184" h="123">
                <a:moveTo>
                  <a:pt x="181" y="0"/>
                </a:moveTo>
                <a:lnTo>
                  <a:pt x="4" y="0"/>
                </a:lnTo>
                <a:lnTo>
                  <a:pt x="3" y="0"/>
                </a:lnTo>
                <a:lnTo>
                  <a:pt x="2" y="1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1" y="2"/>
                </a:lnTo>
                <a:lnTo>
                  <a:pt x="0" y="3"/>
                </a:lnTo>
                <a:lnTo>
                  <a:pt x="0" y="4"/>
                </a:lnTo>
                <a:lnTo>
                  <a:pt x="0" y="120"/>
                </a:lnTo>
                <a:lnTo>
                  <a:pt x="0" y="120"/>
                </a:lnTo>
                <a:lnTo>
                  <a:pt x="1" y="121"/>
                </a:lnTo>
                <a:lnTo>
                  <a:pt x="1" y="122"/>
                </a:lnTo>
                <a:lnTo>
                  <a:pt x="1" y="122"/>
                </a:lnTo>
                <a:lnTo>
                  <a:pt x="2" y="122"/>
                </a:lnTo>
                <a:lnTo>
                  <a:pt x="2" y="123"/>
                </a:lnTo>
                <a:lnTo>
                  <a:pt x="3" y="123"/>
                </a:lnTo>
                <a:lnTo>
                  <a:pt x="4" y="123"/>
                </a:lnTo>
                <a:lnTo>
                  <a:pt x="181" y="123"/>
                </a:lnTo>
                <a:lnTo>
                  <a:pt x="182" y="123"/>
                </a:lnTo>
                <a:lnTo>
                  <a:pt x="182" y="123"/>
                </a:lnTo>
                <a:lnTo>
                  <a:pt x="183" y="122"/>
                </a:lnTo>
                <a:lnTo>
                  <a:pt x="183" y="122"/>
                </a:lnTo>
                <a:lnTo>
                  <a:pt x="184" y="122"/>
                </a:lnTo>
                <a:lnTo>
                  <a:pt x="184" y="121"/>
                </a:lnTo>
                <a:lnTo>
                  <a:pt x="184" y="120"/>
                </a:lnTo>
                <a:lnTo>
                  <a:pt x="184" y="120"/>
                </a:lnTo>
                <a:lnTo>
                  <a:pt x="184" y="4"/>
                </a:lnTo>
                <a:lnTo>
                  <a:pt x="184" y="3"/>
                </a:lnTo>
                <a:lnTo>
                  <a:pt x="184" y="2"/>
                </a:lnTo>
                <a:lnTo>
                  <a:pt x="184" y="2"/>
                </a:lnTo>
                <a:lnTo>
                  <a:pt x="183" y="1"/>
                </a:lnTo>
                <a:lnTo>
                  <a:pt x="183" y="1"/>
                </a:lnTo>
                <a:lnTo>
                  <a:pt x="182" y="1"/>
                </a:lnTo>
                <a:lnTo>
                  <a:pt x="182" y="0"/>
                </a:lnTo>
                <a:lnTo>
                  <a:pt x="181" y="0"/>
                </a:lnTo>
                <a:close/>
              </a:path>
            </a:pathLst>
          </a:custGeom>
          <a:solidFill>
            <a:srgbClr val="93D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1689100" y="1866900"/>
            <a:ext cx="241300" cy="215900"/>
          </a:xfrm>
          <a:custGeom>
            <a:avLst/>
            <a:gdLst/>
            <a:ahLst/>
            <a:cxnLst/>
            <a:rect l="l" t="t" r="r" b="b"/>
            <a:pathLst>
              <a:path w="19" h="17">
                <a:moveTo>
                  <a:pt x="15" y="0"/>
                </a:moveTo>
                <a:lnTo>
                  <a:pt x="3" y="0"/>
                </a:lnTo>
                <a:lnTo>
                  <a:pt x="3" y="0"/>
                </a:lnTo>
                <a:lnTo>
                  <a:pt x="2" y="0"/>
                </a:lnTo>
                <a:lnTo>
                  <a:pt x="1" y="0"/>
                </a:lnTo>
                <a:lnTo>
                  <a:pt x="1" y="1"/>
                </a:lnTo>
                <a:lnTo>
                  <a:pt x="1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13"/>
                </a:lnTo>
                <a:lnTo>
                  <a:pt x="0" y="14"/>
                </a:lnTo>
                <a:lnTo>
                  <a:pt x="0" y="15"/>
                </a:lnTo>
                <a:lnTo>
                  <a:pt x="1" y="15"/>
                </a:lnTo>
                <a:lnTo>
                  <a:pt x="1" y="16"/>
                </a:lnTo>
                <a:lnTo>
                  <a:pt x="1" y="16"/>
                </a:lnTo>
                <a:lnTo>
                  <a:pt x="2" y="16"/>
                </a:lnTo>
                <a:lnTo>
                  <a:pt x="3" y="17"/>
                </a:lnTo>
                <a:lnTo>
                  <a:pt x="3" y="17"/>
                </a:lnTo>
                <a:lnTo>
                  <a:pt x="15" y="17"/>
                </a:lnTo>
                <a:lnTo>
                  <a:pt x="16" y="17"/>
                </a:lnTo>
                <a:lnTo>
                  <a:pt x="17" y="16"/>
                </a:lnTo>
                <a:lnTo>
                  <a:pt x="17" y="16"/>
                </a:lnTo>
                <a:lnTo>
                  <a:pt x="18" y="16"/>
                </a:lnTo>
                <a:lnTo>
                  <a:pt x="18" y="15"/>
                </a:lnTo>
                <a:lnTo>
                  <a:pt x="18" y="15"/>
                </a:lnTo>
                <a:lnTo>
                  <a:pt x="18" y="14"/>
                </a:lnTo>
                <a:lnTo>
                  <a:pt x="19" y="13"/>
                </a:lnTo>
                <a:lnTo>
                  <a:pt x="19" y="3"/>
                </a:lnTo>
                <a:lnTo>
                  <a:pt x="18" y="2"/>
                </a:lnTo>
                <a:lnTo>
                  <a:pt x="18" y="2"/>
                </a:lnTo>
                <a:lnTo>
                  <a:pt x="18" y="1"/>
                </a:lnTo>
                <a:lnTo>
                  <a:pt x="18" y="1"/>
                </a:lnTo>
                <a:lnTo>
                  <a:pt x="17" y="0"/>
                </a:lnTo>
                <a:lnTo>
                  <a:pt x="17" y="0"/>
                </a:lnTo>
                <a:lnTo>
                  <a:pt x="16" y="0"/>
                </a:lnTo>
                <a:lnTo>
                  <a:pt x="1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1295400" y="1866900"/>
            <a:ext cx="228600" cy="215900"/>
          </a:xfrm>
          <a:custGeom>
            <a:avLst/>
            <a:gdLst/>
            <a:ahLst/>
            <a:cxnLst/>
            <a:rect l="l" t="t" r="r" b="b"/>
            <a:pathLst>
              <a:path w="18" h="17">
                <a:moveTo>
                  <a:pt x="15" y="0"/>
                </a:moveTo>
                <a:lnTo>
                  <a:pt x="3" y="0"/>
                </a:lnTo>
                <a:lnTo>
                  <a:pt x="2" y="0"/>
                </a:lnTo>
                <a:lnTo>
                  <a:pt x="1" y="0"/>
                </a:lnTo>
                <a:lnTo>
                  <a:pt x="1" y="0"/>
                </a:lnTo>
                <a:lnTo>
                  <a:pt x="0" y="1"/>
                </a:lnTo>
                <a:lnTo>
                  <a:pt x="0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13"/>
                </a:lnTo>
                <a:lnTo>
                  <a:pt x="0" y="14"/>
                </a:lnTo>
                <a:lnTo>
                  <a:pt x="0" y="15"/>
                </a:lnTo>
                <a:lnTo>
                  <a:pt x="0" y="15"/>
                </a:lnTo>
                <a:lnTo>
                  <a:pt x="0" y="16"/>
                </a:lnTo>
                <a:lnTo>
                  <a:pt x="1" y="16"/>
                </a:lnTo>
                <a:lnTo>
                  <a:pt x="1" y="16"/>
                </a:lnTo>
                <a:lnTo>
                  <a:pt x="2" y="17"/>
                </a:lnTo>
                <a:lnTo>
                  <a:pt x="3" y="17"/>
                </a:lnTo>
                <a:lnTo>
                  <a:pt x="15" y="17"/>
                </a:lnTo>
                <a:lnTo>
                  <a:pt x="15" y="17"/>
                </a:lnTo>
                <a:lnTo>
                  <a:pt x="16" y="16"/>
                </a:lnTo>
                <a:lnTo>
                  <a:pt x="17" y="16"/>
                </a:lnTo>
                <a:lnTo>
                  <a:pt x="17" y="16"/>
                </a:lnTo>
                <a:lnTo>
                  <a:pt x="17" y="15"/>
                </a:lnTo>
                <a:lnTo>
                  <a:pt x="18" y="15"/>
                </a:lnTo>
                <a:lnTo>
                  <a:pt x="18" y="14"/>
                </a:lnTo>
                <a:lnTo>
                  <a:pt x="18" y="13"/>
                </a:lnTo>
                <a:lnTo>
                  <a:pt x="18" y="3"/>
                </a:lnTo>
                <a:lnTo>
                  <a:pt x="18" y="2"/>
                </a:lnTo>
                <a:lnTo>
                  <a:pt x="18" y="2"/>
                </a:lnTo>
                <a:lnTo>
                  <a:pt x="17" y="1"/>
                </a:lnTo>
                <a:lnTo>
                  <a:pt x="17" y="1"/>
                </a:lnTo>
                <a:lnTo>
                  <a:pt x="17" y="0"/>
                </a:lnTo>
                <a:lnTo>
                  <a:pt x="16" y="0"/>
                </a:lnTo>
                <a:lnTo>
                  <a:pt x="15" y="0"/>
                </a:lnTo>
                <a:lnTo>
                  <a:pt x="15" y="0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2095500" y="1854200"/>
            <a:ext cx="381000" cy="241300"/>
          </a:xfrm>
          <a:custGeom>
            <a:avLst/>
            <a:gdLst/>
            <a:ahLst/>
            <a:cxnLst/>
            <a:rect l="l" t="t" r="r" b="b"/>
            <a:pathLst>
              <a:path w="30" h="19">
                <a:moveTo>
                  <a:pt x="27" y="0"/>
                </a:move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16"/>
                </a:lnTo>
                <a:lnTo>
                  <a:pt x="0" y="16"/>
                </a:lnTo>
                <a:lnTo>
                  <a:pt x="0" y="17"/>
                </a:lnTo>
                <a:lnTo>
                  <a:pt x="0" y="17"/>
                </a:lnTo>
                <a:lnTo>
                  <a:pt x="1" y="18"/>
                </a:lnTo>
                <a:lnTo>
                  <a:pt x="1" y="18"/>
                </a:lnTo>
                <a:lnTo>
                  <a:pt x="2" y="19"/>
                </a:lnTo>
                <a:lnTo>
                  <a:pt x="2" y="19"/>
                </a:lnTo>
                <a:lnTo>
                  <a:pt x="3" y="19"/>
                </a:lnTo>
                <a:lnTo>
                  <a:pt x="27" y="19"/>
                </a:lnTo>
                <a:lnTo>
                  <a:pt x="28" y="19"/>
                </a:lnTo>
                <a:lnTo>
                  <a:pt x="28" y="19"/>
                </a:lnTo>
                <a:lnTo>
                  <a:pt x="29" y="18"/>
                </a:lnTo>
                <a:lnTo>
                  <a:pt x="29" y="18"/>
                </a:lnTo>
                <a:lnTo>
                  <a:pt x="30" y="17"/>
                </a:lnTo>
                <a:lnTo>
                  <a:pt x="30" y="17"/>
                </a:lnTo>
                <a:lnTo>
                  <a:pt x="30" y="16"/>
                </a:lnTo>
                <a:lnTo>
                  <a:pt x="30" y="16"/>
                </a:lnTo>
                <a:lnTo>
                  <a:pt x="30" y="3"/>
                </a:lnTo>
                <a:lnTo>
                  <a:pt x="30" y="2"/>
                </a:lnTo>
                <a:lnTo>
                  <a:pt x="30" y="2"/>
                </a:lnTo>
                <a:lnTo>
                  <a:pt x="30" y="1"/>
                </a:lnTo>
                <a:lnTo>
                  <a:pt x="29" y="1"/>
                </a:lnTo>
                <a:lnTo>
                  <a:pt x="29" y="0"/>
                </a:lnTo>
                <a:lnTo>
                  <a:pt x="28" y="0"/>
                </a:lnTo>
                <a:lnTo>
                  <a:pt x="28" y="0"/>
                </a:lnTo>
                <a:lnTo>
                  <a:pt x="2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762000" y="20828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17" h="17">
                <a:moveTo>
                  <a:pt x="17" y="8"/>
                </a:moveTo>
                <a:lnTo>
                  <a:pt x="17" y="7"/>
                </a:lnTo>
                <a:lnTo>
                  <a:pt x="17" y="5"/>
                </a:lnTo>
                <a:lnTo>
                  <a:pt x="16" y="4"/>
                </a:lnTo>
                <a:lnTo>
                  <a:pt x="15" y="2"/>
                </a:lnTo>
                <a:lnTo>
                  <a:pt x="14" y="1"/>
                </a:lnTo>
                <a:lnTo>
                  <a:pt x="12" y="0"/>
                </a:lnTo>
                <a:lnTo>
                  <a:pt x="10" y="0"/>
                </a:lnTo>
                <a:lnTo>
                  <a:pt x="9" y="0"/>
                </a:lnTo>
                <a:lnTo>
                  <a:pt x="7" y="0"/>
                </a:lnTo>
                <a:lnTo>
                  <a:pt x="5" y="0"/>
                </a:lnTo>
                <a:lnTo>
                  <a:pt x="4" y="1"/>
                </a:lnTo>
                <a:lnTo>
                  <a:pt x="2" y="2"/>
                </a:lnTo>
                <a:lnTo>
                  <a:pt x="1" y="4"/>
                </a:lnTo>
                <a:lnTo>
                  <a:pt x="1" y="5"/>
                </a:lnTo>
                <a:lnTo>
                  <a:pt x="0" y="7"/>
                </a:lnTo>
                <a:lnTo>
                  <a:pt x="0" y="8"/>
                </a:lnTo>
                <a:lnTo>
                  <a:pt x="0" y="10"/>
                </a:lnTo>
                <a:lnTo>
                  <a:pt x="1" y="12"/>
                </a:lnTo>
                <a:lnTo>
                  <a:pt x="1" y="13"/>
                </a:lnTo>
                <a:lnTo>
                  <a:pt x="2" y="15"/>
                </a:lnTo>
                <a:lnTo>
                  <a:pt x="4" y="16"/>
                </a:lnTo>
                <a:lnTo>
                  <a:pt x="5" y="16"/>
                </a:lnTo>
                <a:lnTo>
                  <a:pt x="7" y="17"/>
                </a:lnTo>
                <a:lnTo>
                  <a:pt x="9" y="17"/>
                </a:lnTo>
                <a:lnTo>
                  <a:pt x="10" y="17"/>
                </a:lnTo>
                <a:lnTo>
                  <a:pt x="12" y="16"/>
                </a:lnTo>
                <a:lnTo>
                  <a:pt x="14" y="16"/>
                </a:lnTo>
                <a:lnTo>
                  <a:pt x="15" y="15"/>
                </a:lnTo>
                <a:lnTo>
                  <a:pt x="16" y="13"/>
                </a:lnTo>
                <a:lnTo>
                  <a:pt x="17" y="12"/>
                </a:lnTo>
                <a:lnTo>
                  <a:pt x="17" y="10"/>
                </a:lnTo>
                <a:lnTo>
                  <a:pt x="17" y="8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1028700" y="2311400"/>
            <a:ext cx="215900" cy="228600"/>
          </a:xfrm>
          <a:custGeom>
            <a:avLst/>
            <a:gdLst/>
            <a:ahLst/>
            <a:cxnLst/>
            <a:rect l="l" t="t" r="r" b="b"/>
            <a:pathLst>
              <a:path w="17" h="18">
                <a:moveTo>
                  <a:pt x="17" y="9"/>
                </a:moveTo>
                <a:lnTo>
                  <a:pt x="17" y="7"/>
                </a:lnTo>
                <a:lnTo>
                  <a:pt x="17" y="5"/>
                </a:lnTo>
                <a:lnTo>
                  <a:pt x="16" y="4"/>
                </a:lnTo>
                <a:lnTo>
                  <a:pt x="15" y="3"/>
                </a:lnTo>
                <a:lnTo>
                  <a:pt x="13" y="2"/>
                </a:lnTo>
                <a:lnTo>
                  <a:pt x="12" y="1"/>
                </a:lnTo>
                <a:lnTo>
                  <a:pt x="10" y="0"/>
                </a:lnTo>
                <a:lnTo>
                  <a:pt x="8" y="0"/>
                </a:lnTo>
                <a:lnTo>
                  <a:pt x="7" y="0"/>
                </a:lnTo>
                <a:lnTo>
                  <a:pt x="5" y="1"/>
                </a:lnTo>
                <a:lnTo>
                  <a:pt x="4" y="2"/>
                </a:lnTo>
                <a:lnTo>
                  <a:pt x="2" y="3"/>
                </a:lnTo>
                <a:lnTo>
                  <a:pt x="1" y="4"/>
                </a:lnTo>
                <a:lnTo>
                  <a:pt x="0" y="5"/>
                </a:lnTo>
                <a:lnTo>
                  <a:pt x="0" y="7"/>
                </a:lnTo>
                <a:lnTo>
                  <a:pt x="0" y="9"/>
                </a:lnTo>
                <a:lnTo>
                  <a:pt x="0" y="11"/>
                </a:lnTo>
                <a:lnTo>
                  <a:pt x="0" y="12"/>
                </a:lnTo>
                <a:lnTo>
                  <a:pt x="1" y="14"/>
                </a:lnTo>
                <a:lnTo>
                  <a:pt x="2" y="15"/>
                </a:lnTo>
                <a:lnTo>
                  <a:pt x="4" y="16"/>
                </a:lnTo>
                <a:lnTo>
                  <a:pt x="5" y="17"/>
                </a:lnTo>
                <a:lnTo>
                  <a:pt x="7" y="17"/>
                </a:lnTo>
                <a:lnTo>
                  <a:pt x="8" y="18"/>
                </a:lnTo>
                <a:lnTo>
                  <a:pt x="10" y="17"/>
                </a:lnTo>
                <a:lnTo>
                  <a:pt x="12" y="17"/>
                </a:lnTo>
                <a:lnTo>
                  <a:pt x="13" y="16"/>
                </a:lnTo>
                <a:lnTo>
                  <a:pt x="15" y="15"/>
                </a:lnTo>
                <a:lnTo>
                  <a:pt x="16" y="14"/>
                </a:lnTo>
                <a:lnTo>
                  <a:pt x="17" y="12"/>
                </a:lnTo>
                <a:lnTo>
                  <a:pt x="17" y="11"/>
                </a:lnTo>
                <a:lnTo>
                  <a:pt x="17" y="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1028700" y="15494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17" h="17">
                <a:moveTo>
                  <a:pt x="17" y="9"/>
                </a:moveTo>
                <a:lnTo>
                  <a:pt x="17" y="7"/>
                </a:lnTo>
                <a:lnTo>
                  <a:pt x="17" y="5"/>
                </a:lnTo>
                <a:lnTo>
                  <a:pt x="16" y="4"/>
                </a:lnTo>
                <a:lnTo>
                  <a:pt x="15" y="2"/>
                </a:lnTo>
                <a:lnTo>
                  <a:pt x="13" y="1"/>
                </a:lnTo>
                <a:lnTo>
                  <a:pt x="12" y="1"/>
                </a:lnTo>
                <a:lnTo>
                  <a:pt x="10" y="0"/>
                </a:lnTo>
                <a:lnTo>
                  <a:pt x="8" y="0"/>
                </a:lnTo>
                <a:lnTo>
                  <a:pt x="7" y="0"/>
                </a:lnTo>
                <a:lnTo>
                  <a:pt x="5" y="1"/>
                </a:lnTo>
                <a:lnTo>
                  <a:pt x="4" y="1"/>
                </a:lnTo>
                <a:lnTo>
                  <a:pt x="2" y="2"/>
                </a:lnTo>
                <a:lnTo>
                  <a:pt x="1" y="4"/>
                </a:lnTo>
                <a:lnTo>
                  <a:pt x="0" y="5"/>
                </a:lnTo>
                <a:lnTo>
                  <a:pt x="0" y="7"/>
                </a:lnTo>
                <a:lnTo>
                  <a:pt x="0" y="9"/>
                </a:lnTo>
                <a:lnTo>
                  <a:pt x="0" y="10"/>
                </a:lnTo>
                <a:lnTo>
                  <a:pt x="0" y="12"/>
                </a:lnTo>
                <a:lnTo>
                  <a:pt x="1" y="14"/>
                </a:lnTo>
                <a:lnTo>
                  <a:pt x="2" y="15"/>
                </a:lnTo>
                <a:lnTo>
                  <a:pt x="4" y="16"/>
                </a:lnTo>
                <a:lnTo>
                  <a:pt x="5" y="17"/>
                </a:lnTo>
                <a:lnTo>
                  <a:pt x="7" y="17"/>
                </a:lnTo>
                <a:lnTo>
                  <a:pt x="8" y="17"/>
                </a:lnTo>
                <a:lnTo>
                  <a:pt x="10" y="17"/>
                </a:lnTo>
                <a:lnTo>
                  <a:pt x="12" y="17"/>
                </a:lnTo>
                <a:lnTo>
                  <a:pt x="13" y="16"/>
                </a:lnTo>
                <a:lnTo>
                  <a:pt x="15" y="15"/>
                </a:lnTo>
                <a:lnTo>
                  <a:pt x="16" y="14"/>
                </a:lnTo>
                <a:lnTo>
                  <a:pt x="17" y="12"/>
                </a:lnTo>
                <a:lnTo>
                  <a:pt x="17" y="10"/>
                </a:lnTo>
                <a:lnTo>
                  <a:pt x="17" y="9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2171700" y="1549400"/>
            <a:ext cx="228600" cy="215900"/>
          </a:xfrm>
          <a:custGeom>
            <a:avLst/>
            <a:gdLst/>
            <a:ahLst/>
            <a:cxnLst/>
            <a:rect l="l" t="t" r="r" b="b"/>
            <a:pathLst>
              <a:path w="18" h="17">
                <a:moveTo>
                  <a:pt x="18" y="9"/>
                </a:moveTo>
                <a:lnTo>
                  <a:pt x="18" y="7"/>
                </a:lnTo>
                <a:lnTo>
                  <a:pt x="17" y="5"/>
                </a:lnTo>
                <a:lnTo>
                  <a:pt x="16" y="4"/>
                </a:lnTo>
                <a:lnTo>
                  <a:pt x="15" y="2"/>
                </a:lnTo>
                <a:lnTo>
                  <a:pt x="14" y="1"/>
                </a:lnTo>
                <a:lnTo>
                  <a:pt x="12" y="1"/>
                </a:lnTo>
                <a:lnTo>
                  <a:pt x="11" y="0"/>
                </a:lnTo>
                <a:lnTo>
                  <a:pt x="9" y="0"/>
                </a:lnTo>
                <a:lnTo>
                  <a:pt x="7" y="0"/>
                </a:lnTo>
                <a:lnTo>
                  <a:pt x="6" y="1"/>
                </a:lnTo>
                <a:lnTo>
                  <a:pt x="4" y="1"/>
                </a:lnTo>
                <a:lnTo>
                  <a:pt x="3" y="2"/>
                </a:lnTo>
                <a:lnTo>
                  <a:pt x="2" y="4"/>
                </a:lnTo>
                <a:lnTo>
                  <a:pt x="1" y="5"/>
                </a:lnTo>
                <a:lnTo>
                  <a:pt x="0" y="7"/>
                </a:lnTo>
                <a:lnTo>
                  <a:pt x="0" y="9"/>
                </a:lnTo>
                <a:lnTo>
                  <a:pt x="0" y="10"/>
                </a:lnTo>
                <a:lnTo>
                  <a:pt x="1" y="12"/>
                </a:lnTo>
                <a:lnTo>
                  <a:pt x="2" y="14"/>
                </a:lnTo>
                <a:lnTo>
                  <a:pt x="3" y="15"/>
                </a:lnTo>
                <a:lnTo>
                  <a:pt x="4" y="16"/>
                </a:lnTo>
                <a:lnTo>
                  <a:pt x="6" y="17"/>
                </a:lnTo>
                <a:lnTo>
                  <a:pt x="7" y="17"/>
                </a:lnTo>
                <a:lnTo>
                  <a:pt x="9" y="17"/>
                </a:lnTo>
                <a:lnTo>
                  <a:pt x="11" y="17"/>
                </a:lnTo>
                <a:lnTo>
                  <a:pt x="12" y="17"/>
                </a:lnTo>
                <a:lnTo>
                  <a:pt x="14" y="16"/>
                </a:lnTo>
                <a:lnTo>
                  <a:pt x="15" y="15"/>
                </a:lnTo>
                <a:lnTo>
                  <a:pt x="16" y="14"/>
                </a:lnTo>
                <a:lnTo>
                  <a:pt x="17" y="12"/>
                </a:lnTo>
                <a:lnTo>
                  <a:pt x="18" y="10"/>
                </a:lnTo>
                <a:lnTo>
                  <a:pt x="18" y="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2171700" y="1054100"/>
            <a:ext cx="228600" cy="215900"/>
          </a:xfrm>
          <a:custGeom>
            <a:avLst/>
            <a:gdLst/>
            <a:ahLst/>
            <a:cxnLst/>
            <a:rect l="l" t="t" r="r" b="b"/>
            <a:pathLst>
              <a:path w="18" h="17">
                <a:moveTo>
                  <a:pt x="18" y="8"/>
                </a:moveTo>
                <a:lnTo>
                  <a:pt x="18" y="7"/>
                </a:lnTo>
                <a:lnTo>
                  <a:pt x="17" y="5"/>
                </a:lnTo>
                <a:lnTo>
                  <a:pt x="16" y="3"/>
                </a:lnTo>
                <a:lnTo>
                  <a:pt x="15" y="2"/>
                </a:lnTo>
                <a:lnTo>
                  <a:pt x="14" y="1"/>
                </a:lnTo>
                <a:lnTo>
                  <a:pt x="12" y="0"/>
                </a:lnTo>
                <a:lnTo>
                  <a:pt x="11" y="0"/>
                </a:lnTo>
                <a:lnTo>
                  <a:pt x="9" y="0"/>
                </a:lnTo>
                <a:lnTo>
                  <a:pt x="7" y="0"/>
                </a:lnTo>
                <a:lnTo>
                  <a:pt x="6" y="0"/>
                </a:lnTo>
                <a:lnTo>
                  <a:pt x="4" y="1"/>
                </a:lnTo>
                <a:lnTo>
                  <a:pt x="3" y="2"/>
                </a:lnTo>
                <a:lnTo>
                  <a:pt x="2" y="3"/>
                </a:lnTo>
                <a:lnTo>
                  <a:pt x="1" y="5"/>
                </a:lnTo>
                <a:lnTo>
                  <a:pt x="0" y="7"/>
                </a:lnTo>
                <a:lnTo>
                  <a:pt x="0" y="8"/>
                </a:lnTo>
                <a:lnTo>
                  <a:pt x="0" y="10"/>
                </a:lnTo>
                <a:lnTo>
                  <a:pt x="1" y="12"/>
                </a:lnTo>
                <a:lnTo>
                  <a:pt x="2" y="13"/>
                </a:lnTo>
                <a:lnTo>
                  <a:pt x="3" y="15"/>
                </a:lnTo>
                <a:lnTo>
                  <a:pt x="4" y="16"/>
                </a:lnTo>
                <a:lnTo>
                  <a:pt x="6" y="16"/>
                </a:lnTo>
                <a:lnTo>
                  <a:pt x="7" y="17"/>
                </a:lnTo>
                <a:lnTo>
                  <a:pt x="9" y="17"/>
                </a:lnTo>
                <a:lnTo>
                  <a:pt x="11" y="17"/>
                </a:lnTo>
                <a:lnTo>
                  <a:pt x="12" y="16"/>
                </a:lnTo>
                <a:lnTo>
                  <a:pt x="14" y="16"/>
                </a:lnTo>
                <a:lnTo>
                  <a:pt x="15" y="15"/>
                </a:lnTo>
                <a:lnTo>
                  <a:pt x="16" y="13"/>
                </a:lnTo>
                <a:lnTo>
                  <a:pt x="17" y="12"/>
                </a:lnTo>
                <a:lnTo>
                  <a:pt x="18" y="10"/>
                </a:lnTo>
                <a:lnTo>
                  <a:pt x="18" y="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1701800" y="10541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17" h="17">
                <a:moveTo>
                  <a:pt x="17" y="8"/>
                </a:moveTo>
                <a:lnTo>
                  <a:pt x="17" y="7"/>
                </a:lnTo>
                <a:lnTo>
                  <a:pt x="16" y="5"/>
                </a:lnTo>
                <a:lnTo>
                  <a:pt x="16" y="3"/>
                </a:lnTo>
                <a:lnTo>
                  <a:pt x="14" y="2"/>
                </a:lnTo>
                <a:lnTo>
                  <a:pt x="13" y="1"/>
                </a:lnTo>
                <a:lnTo>
                  <a:pt x="12" y="0"/>
                </a:lnTo>
                <a:lnTo>
                  <a:pt x="10" y="0"/>
                </a:lnTo>
                <a:lnTo>
                  <a:pt x="8" y="0"/>
                </a:lnTo>
                <a:lnTo>
                  <a:pt x="7" y="0"/>
                </a:lnTo>
                <a:lnTo>
                  <a:pt x="5" y="0"/>
                </a:lnTo>
                <a:lnTo>
                  <a:pt x="3" y="1"/>
                </a:lnTo>
                <a:lnTo>
                  <a:pt x="2" y="2"/>
                </a:lnTo>
                <a:lnTo>
                  <a:pt x="1" y="3"/>
                </a:lnTo>
                <a:lnTo>
                  <a:pt x="0" y="5"/>
                </a:lnTo>
                <a:lnTo>
                  <a:pt x="0" y="7"/>
                </a:lnTo>
                <a:lnTo>
                  <a:pt x="0" y="8"/>
                </a:lnTo>
                <a:lnTo>
                  <a:pt x="0" y="10"/>
                </a:lnTo>
                <a:lnTo>
                  <a:pt x="0" y="12"/>
                </a:lnTo>
                <a:lnTo>
                  <a:pt x="1" y="13"/>
                </a:lnTo>
                <a:lnTo>
                  <a:pt x="2" y="15"/>
                </a:lnTo>
                <a:lnTo>
                  <a:pt x="3" y="16"/>
                </a:lnTo>
                <a:lnTo>
                  <a:pt x="5" y="16"/>
                </a:lnTo>
                <a:lnTo>
                  <a:pt x="7" y="17"/>
                </a:lnTo>
                <a:lnTo>
                  <a:pt x="8" y="17"/>
                </a:lnTo>
                <a:lnTo>
                  <a:pt x="10" y="17"/>
                </a:lnTo>
                <a:lnTo>
                  <a:pt x="12" y="16"/>
                </a:lnTo>
                <a:lnTo>
                  <a:pt x="13" y="16"/>
                </a:lnTo>
                <a:lnTo>
                  <a:pt x="14" y="15"/>
                </a:lnTo>
                <a:lnTo>
                  <a:pt x="16" y="13"/>
                </a:lnTo>
                <a:lnTo>
                  <a:pt x="16" y="12"/>
                </a:lnTo>
                <a:lnTo>
                  <a:pt x="17" y="10"/>
                </a:lnTo>
                <a:lnTo>
                  <a:pt x="17" y="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1651000" y="1358900"/>
            <a:ext cx="304800" cy="215900"/>
          </a:xfrm>
          <a:custGeom>
            <a:avLst/>
            <a:gdLst/>
            <a:ahLst/>
            <a:cxnLst/>
            <a:rect l="l" t="t" r="r" b="b"/>
            <a:pathLst>
              <a:path w="24" h="17">
                <a:moveTo>
                  <a:pt x="24" y="9"/>
                </a:moveTo>
                <a:lnTo>
                  <a:pt x="24" y="7"/>
                </a:lnTo>
                <a:lnTo>
                  <a:pt x="23" y="5"/>
                </a:lnTo>
                <a:lnTo>
                  <a:pt x="22" y="4"/>
                </a:lnTo>
                <a:lnTo>
                  <a:pt x="21" y="2"/>
                </a:lnTo>
                <a:lnTo>
                  <a:pt x="19" y="1"/>
                </a:lnTo>
                <a:lnTo>
                  <a:pt x="17" y="1"/>
                </a:lnTo>
                <a:lnTo>
                  <a:pt x="15" y="0"/>
                </a:lnTo>
                <a:lnTo>
                  <a:pt x="12" y="0"/>
                </a:lnTo>
                <a:lnTo>
                  <a:pt x="10" y="0"/>
                </a:lnTo>
                <a:lnTo>
                  <a:pt x="8" y="1"/>
                </a:lnTo>
                <a:lnTo>
                  <a:pt x="6" y="1"/>
                </a:lnTo>
                <a:lnTo>
                  <a:pt x="4" y="2"/>
                </a:lnTo>
                <a:lnTo>
                  <a:pt x="2" y="4"/>
                </a:lnTo>
                <a:lnTo>
                  <a:pt x="1" y="5"/>
                </a:lnTo>
                <a:lnTo>
                  <a:pt x="1" y="7"/>
                </a:lnTo>
                <a:lnTo>
                  <a:pt x="0" y="9"/>
                </a:lnTo>
                <a:lnTo>
                  <a:pt x="1" y="10"/>
                </a:lnTo>
                <a:lnTo>
                  <a:pt x="1" y="12"/>
                </a:lnTo>
                <a:lnTo>
                  <a:pt x="2" y="13"/>
                </a:lnTo>
                <a:lnTo>
                  <a:pt x="4" y="15"/>
                </a:lnTo>
                <a:lnTo>
                  <a:pt x="6" y="16"/>
                </a:lnTo>
                <a:lnTo>
                  <a:pt x="8" y="17"/>
                </a:lnTo>
                <a:lnTo>
                  <a:pt x="10" y="17"/>
                </a:lnTo>
                <a:lnTo>
                  <a:pt x="12" y="17"/>
                </a:lnTo>
                <a:lnTo>
                  <a:pt x="15" y="17"/>
                </a:lnTo>
                <a:lnTo>
                  <a:pt x="17" y="17"/>
                </a:lnTo>
                <a:lnTo>
                  <a:pt x="19" y="16"/>
                </a:lnTo>
                <a:lnTo>
                  <a:pt x="21" y="15"/>
                </a:lnTo>
                <a:lnTo>
                  <a:pt x="22" y="13"/>
                </a:lnTo>
                <a:lnTo>
                  <a:pt x="23" y="12"/>
                </a:lnTo>
                <a:lnTo>
                  <a:pt x="24" y="10"/>
                </a:lnTo>
                <a:lnTo>
                  <a:pt x="24" y="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 flipV="1">
            <a:off x="2859547" y="934572"/>
            <a:ext cx="0" cy="225209"/>
          </a:xfrm>
          <a:prstGeom prst="line">
            <a:avLst/>
          </a:prstGeom>
          <a:ln w="8121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Freeform 47"/>
          <p:cNvSpPr/>
          <p:nvPr/>
        </p:nvSpPr>
        <p:spPr>
          <a:xfrm>
            <a:off x="2832100" y="9144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4" y="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526679" y="1159781"/>
            <a:ext cx="345048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871727" y="1159781"/>
            <a:ext cx="264270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871727" y="2423737"/>
            <a:ext cx="0" cy="267224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871727" y="1159781"/>
            <a:ext cx="0" cy="881215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Freeform 52"/>
          <p:cNvSpPr/>
          <p:nvPr/>
        </p:nvSpPr>
        <p:spPr>
          <a:xfrm>
            <a:off x="850900" y="20193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2" y="4"/>
                </a:moveTo>
                <a:lnTo>
                  <a:pt x="3" y="0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 flipV="1">
            <a:off x="871727" y="2338364"/>
            <a:ext cx="0" cy="85373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Freeform 54"/>
          <p:cNvSpPr/>
          <p:nvPr/>
        </p:nvSpPr>
        <p:spPr>
          <a:xfrm>
            <a:off x="850900" y="2311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1135997" y="1159781"/>
            <a:ext cx="0" cy="35067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Freeform 56"/>
          <p:cNvSpPr/>
          <p:nvPr/>
        </p:nvSpPr>
        <p:spPr>
          <a:xfrm>
            <a:off x="1117600" y="1498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0"/>
                </a:lnTo>
                <a:lnTo>
                  <a:pt x="1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1135997" y="1781423"/>
            <a:ext cx="0" cy="493630"/>
          </a:xfrm>
          <a:prstGeom prst="line">
            <a:avLst/>
          </a:prstGeom>
          <a:ln w="8121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Freeform 58"/>
          <p:cNvSpPr/>
          <p:nvPr/>
        </p:nvSpPr>
        <p:spPr>
          <a:xfrm>
            <a:off x="1117600" y="2260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0"/>
                </a:lnTo>
                <a:lnTo>
                  <a:pt x="1" y="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>
            <a:off x="871727" y="2423737"/>
            <a:ext cx="115586" cy="0"/>
          </a:xfrm>
          <a:prstGeom prst="line">
            <a:avLst/>
          </a:prstGeom>
          <a:ln w="8121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Freeform 60"/>
          <p:cNvSpPr/>
          <p:nvPr/>
        </p:nvSpPr>
        <p:spPr>
          <a:xfrm>
            <a:off x="965200" y="24003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0" y="0"/>
                </a:lnTo>
                <a:lnTo>
                  <a:pt x="2" y="2"/>
                </a:lnTo>
                <a:lnTo>
                  <a:pt x="0" y="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>
            <a:off x="1258285" y="2423737"/>
            <a:ext cx="1027234" cy="0"/>
          </a:xfrm>
          <a:prstGeom prst="line">
            <a:avLst/>
          </a:prstGeom>
          <a:ln w="8121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2285519" y="2130711"/>
            <a:ext cx="0" cy="293026"/>
          </a:xfrm>
          <a:prstGeom prst="line">
            <a:avLst/>
          </a:prstGeom>
          <a:ln w="8121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Freeform 63"/>
          <p:cNvSpPr/>
          <p:nvPr/>
        </p:nvSpPr>
        <p:spPr>
          <a:xfrm>
            <a:off x="2260600" y="2108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4" y="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 flipV="1">
            <a:off x="2285519" y="1807818"/>
            <a:ext cx="0" cy="30305"/>
          </a:xfrm>
          <a:prstGeom prst="line">
            <a:avLst/>
          </a:prstGeom>
          <a:ln w="8121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Freeform 65"/>
          <p:cNvSpPr/>
          <p:nvPr/>
        </p:nvSpPr>
        <p:spPr>
          <a:xfrm>
            <a:off x="2260600" y="17780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2" y="0"/>
                </a:moveTo>
                <a:lnTo>
                  <a:pt x="0" y="4"/>
                </a:lnTo>
                <a:lnTo>
                  <a:pt x="2" y="2"/>
                </a:lnTo>
                <a:lnTo>
                  <a:pt x="4" y="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1807167" y="1659135"/>
            <a:ext cx="329668" cy="0"/>
          </a:xfrm>
          <a:prstGeom prst="line">
            <a:avLst/>
          </a:prstGeom>
          <a:ln w="8121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Freeform 67"/>
          <p:cNvSpPr/>
          <p:nvPr/>
        </p:nvSpPr>
        <p:spPr>
          <a:xfrm>
            <a:off x="2120900" y="1638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 flipV="1">
            <a:off x="2285519" y="1308465"/>
            <a:ext cx="0" cy="228382"/>
          </a:xfrm>
          <a:prstGeom prst="line">
            <a:avLst/>
          </a:prstGeom>
          <a:ln w="8121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Freeform 69"/>
          <p:cNvSpPr/>
          <p:nvPr/>
        </p:nvSpPr>
        <p:spPr>
          <a:xfrm>
            <a:off x="2260600" y="12827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4" y="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>
            <a:off x="994015" y="2189680"/>
            <a:ext cx="412215" cy="0"/>
          </a:xfrm>
          <a:prstGeom prst="line">
            <a:avLst/>
          </a:prstGeom>
          <a:ln w="30457">
            <a:solidFill>
              <a:srgbClr val="93D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994015" y="2189680"/>
            <a:ext cx="412215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406230" y="2189680"/>
            <a:ext cx="400937" cy="0"/>
          </a:xfrm>
          <a:prstGeom prst="line">
            <a:avLst/>
          </a:prstGeom>
          <a:ln w="8121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1406230" y="2116043"/>
            <a:ext cx="0" cy="73637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Freeform 74"/>
          <p:cNvSpPr/>
          <p:nvPr/>
        </p:nvSpPr>
        <p:spPr>
          <a:xfrm>
            <a:off x="1384300" y="20955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 flipV="1">
            <a:off x="1807167" y="2116043"/>
            <a:ext cx="0" cy="73637"/>
          </a:xfrm>
          <a:prstGeom prst="line">
            <a:avLst/>
          </a:prstGeom>
          <a:ln w="8121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Freeform 76"/>
          <p:cNvSpPr/>
          <p:nvPr/>
        </p:nvSpPr>
        <p:spPr>
          <a:xfrm>
            <a:off x="1790700" y="20955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 flipV="1">
            <a:off x="1406230" y="1659135"/>
            <a:ext cx="0" cy="193656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H="1">
            <a:off x="1284681" y="1659135"/>
            <a:ext cx="121549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Freeform 79"/>
          <p:cNvSpPr/>
          <p:nvPr/>
        </p:nvSpPr>
        <p:spPr>
          <a:xfrm>
            <a:off x="1257300" y="1638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0" y="2"/>
                </a:moveTo>
                <a:lnTo>
                  <a:pt x="3" y="3"/>
                </a:lnTo>
                <a:lnTo>
                  <a:pt x="2" y="2"/>
                </a:lnTo>
                <a:lnTo>
                  <a:pt x="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" name="Connector 80"/>
          <p:cNvCxnSpPr/>
          <p:nvPr/>
        </p:nvCxnSpPr>
        <p:spPr>
          <a:xfrm flipV="1">
            <a:off x="1807167" y="1616815"/>
            <a:ext cx="0" cy="235976"/>
          </a:xfrm>
          <a:prstGeom prst="line">
            <a:avLst/>
          </a:prstGeom>
          <a:ln w="8121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Freeform 81"/>
          <p:cNvSpPr/>
          <p:nvPr/>
        </p:nvSpPr>
        <p:spPr>
          <a:xfrm>
            <a:off x="1790700" y="15875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0"/>
                </a:moveTo>
                <a:lnTo>
                  <a:pt x="0" y="4"/>
                </a:lnTo>
                <a:lnTo>
                  <a:pt x="1" y="2"/>
                </a:lnTo>
                <a:lnTo>
                  <a:pt x="3" y="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 flipV="1">
            <a:off x="1807167" y="1308465"/>
            <a:ext cx="0" cy="37379"/>
          </a:xfrm>
          <a:prstGeom prst="line">
            <a:avLst/>
          </a:prstGeom>
          <a:ln w="8121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Freeform 83"/>
          <p:cNvSpPr/>
          <p:nvPr/>
        </p:nvSpPr>
        <p:spPr>
          <a:xfrm>
            <a:off x="1790700" y="1282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" name="Connector 84"/>
          <p:cNvCxnSpPr/>
          <p:nvPr/>
        </p:nvCxnSpPr>
        <p:spPr>
          <a:xfrm>
            <a:off x="1135997" y="1159781"/>
            <a:ext cx="522487" cy="0"/>
          </a:xfrm>
          <a:prstGeom prst="line">
            <a:avLst/>
          </a:prstGeom>
          <a:ln w="8121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Freeform 85"/>
          <p:cNvSpPr/>
          <p:nvPr/>
        </p:nvSpPr>
        <p:spPr>
          <a:xfrm>
            <a:off x="1638300" y="1143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1"/>
                </a:moveTo>
                <a:lnTo>
                  <a:pt x="0" y="0"/>
                </a:lnTo>
                <a:lnTo>
                  <a:pt x="2" y="1"/>
                </a:lnTo>
                <a:lnTo>
                  <a:pt x="0" y="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" name="Connector 86"/>
          <p:cNvCxnSpPr/>
          <p:nvPr/>
        </p:nvCxnSpPr>
        <p:spPr>
          <a:xfrm>
            <a:off x="1929455" y="1159781"/>
            <a:ext cx="207380" cy="0"/>
          </a:xfrm>
          <a:prstGeom prst="line">
            <a:avLst/>
          </a:prstGeom>
          <a:ln w="8121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Freeform 87"/>
          <p:cNvSpPr/>
          <p:nvPr/>
        </p:nvSpPr>
        <p:spPr>
          <a:xfrm>
            <a:off x="2120900" y="1143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2407807" y="1159781"/>
            <a:ext cx="653453" cy="0"/>
          </a:xfrm>
          <a:prstGeom prst="line">
            <a:avLst/>
          </a:prstGeom>
          <a:ln w="8121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Freeform 89"/>
          <p:cNvSpPr/>
          <p:nvPr/>
        </p:nvSpPr>
        <p:spPr>
          <a:xfrm>
            <a:off x="3048000" y="1143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-2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2880001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3" name="Picture 9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94" name="Picture 9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Gaterd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Recurrent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Units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(GRU)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Architecture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77057" y="1098945"/>
            <a:ext cx="5508338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000000"/>
                </a:solidFill>
                <a:latin typeface="Cambria Math"/>
              </a:rPr>
              <a:t>h</a:t>
            </a:r>
            <a:r>
              <a:rPr sz="639" b="0">
                <a:solidFill>
                  <a:srgbClr val="000000"/>
                </a:solidFill>
                <a:latin typeface="Cambria Math"/>
              </a:rPr>
              <a:t>t</a:t>
            </a:r>
            <a:r>
              <a:rPr sz="639" b="0">
                <a:solidFill>
                  <a:srgbClr val="000000"/>
                </a:solidFill>
                <a:latin typeface="Cambria Math"/>
              </a:rPr>
              <a:t>−</a:t>
            </a:r>
            <a:r>
              <a:rPr sz="639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21850" y="2691014"/>
            <a:ext cx="4963545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000000"/>
                </a:solidFill>
                <a:latin typeface="Cambria Math"/>
              </a:rPr>
              <a:t>x</a:t>
            </a:r>
            <a:r>
              <a:rPr sz="639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809391" y="765553"/>
            <a:ext cx="2976004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FFFFFF"/>
                </a:solidFill>
                <a:latin typeface="Cambria Math"/>
              </a:rPr>
              <a:t>h</a:t>
            </a:r>
            <a:r>
              <a:rPr sz="639" b="0">
                <a:solidFill>
                  <a:srgbClr val="FFFFFF"/>
                </a:solidFill>
                <a:latin typeface="Cambria Math"/>
              </a:rPr>
              <a:t>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126723" y="1103174"/>
            <a:ext cx="2658672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FFFFFF"/>
                </a:solidFill>
                <a:latin typeface="Cambria Math"/>
              </a:rPr>
              <a:t>h</a:t>
            </a:r>
            <a:r>
              <a:rPr sz="639" b="0">
                <a:solidFill>
                  <a:srgbClr val="FFFFFF"/>
                </a:solidFill>
                <a:latin typeface="Cambria Math"/>
              </a:rPr>
              <a:t>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773406" y="1908273"/>
            <a:ext cx="4011989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FFFFFF"/>
                </a:solidFill>
                <a:latin typeface="Cambria Math"/>
              </a:rPr>
              <a:t>σ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372482" y="1908273"/>
            <a:ext cx="4412913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000000"/>
                </a:solidFill>
                <a:latin typeface="Cambria Math"/>
              </a:rPr>
              <a:t>σ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174341" y="1922937"/>
            <a:ext cx="3611054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FFFFFF"/>
                </a:solidFill>
                <a:latin typeface="Cambria Math"/>
              </a:rPr>
              <a:t>tanh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28504" y="2116033"/>
            <a:ext cx="4956891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FFFFFF"/>
                </a:solidFill>
                <a:latin typeface="MSAM10"/>
              </a:rPr>
              <a:t>⊞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92774" y="2350088"/>
            <a:ext cx="4692621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FFFFFF"/>
                </a:solidFill>
                <a:latin typeface="MSAM10"/>
              </a:rPr>
              <a:t>⊞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92774" y="1598611"/>
            <a:ext cx="4692621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FFFFFF"/>
                </a:solidFill>
                <a:latin typeface="Cambria Math"/>
              </a:rPr>
              <a:t>×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242281" y="1598611"/>
            <a:ext cx="3543114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FFFFFF"/>
                </a:solidFill>
                <a:latin typeface="Cambria Math"/>
              </a:rPr>
              <a:t>×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242281" y="1100708"/>
            <a:ext cx="3543114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FFFFFF"/>
                </a:solidFill>
                <a:latin typeface="Cambria Math"/>
              </a:rPr>
              <a:t>+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763929" y="1099267"/>
            <a:ext cx="4021466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FFFFFF"/>
                </a:solidFill>
                <a:latin typeface="Cambria Math"/>
              </a:rPr>
              <a:t>×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736140" y="1411004"/>
            <a:ext cx="4049255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FFFFFF"/>
                </a:solidFill>
                <a:latin typeface="Cambria Math"/>
              </a:rPr>
              <a:t>1</a:t>
            </a:r>
            <a:r>
              <a:rPr sz="875" b="0">
                <a:solidFill>
                  <a:srgbClr val="FFFFFF"/>
                </a:solidFill>
                <a:latin typeface="Cambria Math"/>
              </a:rPr>
              <a:t>−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504029" y="1037788"/>
            <a:ext cx="228136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Reset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Gate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504029" y="1209451"/>
            <a:ext cx="228136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Determines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how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much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504029" y="1381523"/>
            <a:ext cx="228136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previous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hidden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forget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504029" y="1553595"/>
            <a:ext cx="228136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before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combining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new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504029" y="1725680"/>
            <a:ext cx="228136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input.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707979" y="2037458"/>
            <a:ext cx="207741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r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σ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W</a:t>
            </a:r>
            <a:r>
              <a:rPr sz="797" b="0">
                <a:solidFill>
                  <a:srgbClr val="000000"/>
                </a:solidFill>
                <a:latin typeface="Cambria Math"/>
              </a:rPr>
              <a:t>r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·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[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h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797" b="0">
                <a:solidFill>
                  <a:srgbClr val="000000"/>
                </a:solidFill>
                <a:latin typeface="Cambria Math"/>
              </a:rPr>
              <a:t>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, 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] +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b</a:t>
            </a:r>
            <a:r>
              <a:rPr sz="797" b="0">
                <a:solidFill>
                  <a:srgbClr val="000000"/>
                </a:solidFill>
                <a:latin typeface="Cambria Math"/>
              </a:rPr>
              <a:t>r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898159" y="3150918"/>
            <a:ext cx="88723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638531" y="3150694"/>
            <a:ext cx="14686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635000" y="1016000"/>
            <a:ext cx="2336800" cy="1562100"/>
          </a:xfrm>
          <a:custGeom>
            <a:avLst/>
            <a:gdLst/>
            <a:ahLst/>
            <a:cxnLst/>
            <a:rect l="l" t="t" r="r" b="b"/>
            <a:pathLst>
              <a:path w="184" h="123">
                <a:moveTo>
                  <a:pt x="181" y="0"/>
                </a:moveTo>
                <a:lnTo>
                  <a:pt x="4" y="0"/>
                </a:lnTo>
                <a:lnTo>
                  <a:pt x="3" y="0"/>
                </a:lnTo>
                <a:lnTo>
                  <a:pt x="2" y="1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1" y="2"/>
                </a:lnTo>
                <a:lnTo>
                  <a:pt x="0" y="3"/>
                </a:lnTo>
                <a:lnTo>
                  <a:pt x="0" y="4"/>
                </a:lnTo>
                <a:lnTo>
                  <a:pt x="0" y="120"/>
                </a:lnTo>
                <a:lnTo>
                  <a:pt x="0" y="120"/>
                </a:lnTo>
                <a:lnTo>
                  <a:pt x="1" y="121"/>
                </a:lnTo>
                <a:lnTo>
                  <a:pt x="1" y="122"/>
                </a:lnTo>
                <a:lnTo>
                  <a:pt x="1" y="122"/>
                </a:lnTo>
                <a:lnTo>
                  <a:pt x="2" y="122"/>
                </a:lnTo>
                <a:lnTo>
                  <a:pt x="2" y="123"/>
                </a:lnTo>
                <a:lnTo>
                  <a:pt x="3" y="123"/>
                </a:lnTo>
                <a:lnTo>
                  <a:pt x="4" y="123"/>
                </a:lnTo>
                <a:lnTo>
                  <a:pt x="181" y="123"/>
                </a:lnTo>
                <a:lnTo>
                  <a:pt x="182" y="123"/>
                </a:lnTo>
                <a:lnTo>
                  <a:pt x="182" y="123"/>
                </a:lnTo>
                <a:lnTo>
                  <a:pt x="183" y="122"/>
                </a:lnTo>
                <a:lnTo>
                  <a:pt x="183" y="122"/>
                </a:lnTo>
                <a:lnTo>
                  <a:pt x="184" y="122"/>
                </a:lnTo>
                <a:lnTo>
                  <a:pt x="184" y="121"/>
                </a:lnTo>
                <a:lnTo>
                  <a:pt x="184" y="120"/>
                </a:lnTo>
                <a:lnTo>
                  <a:pt x="184" y="120"/>
                </a:lnTo>
                <a:lnTo>
                  <a:pt x="184" y="4"/>
                </a:lnTo>
                <a:lnTo>
                  <a:pt x="184" y="3"/>
                </a:lnTo>
                <a:lnTo>
                  <a:pt x="184" y="2"/>
                </a:lnTo>
                <a:lnTo>
                  <a:pt x="184" y="2"/>
                </a:lnTo>
                <a:lnTo>
                  <a:pt x="183" y="1"/>
                </a:lnTo>
                <a:lnTo>
                  <a:pt x="183" y="1"/>
                </a:lnTo>
                <a:lnTo>
                  <a:pt x="182" y="1"/>
                </a:lnTo>
                <a:lnTo>
                  <a:pt x="182" y="0"/>
                </a:lnTo>
                <a:lnTo>
                  <a:pt x="181" y="0"/>
                </a:lnTo>
                <a:close/>
              </a:path>
            </a:pathLst>
          </a:custGeom>
          <a:solidFill>
            <a:srgbClr val="93D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1689100" y="1866900"/>
            <a:ext cx="241300" cy="215900"/>
          </a:xfrm>
          <a:custGeom>
            <a:avLst/>
            <a:gdLst/>
            <a:ahLst/>
            <a:cxnLst/>
            <a:rect l="l" t="t" r="r" b="b"/>
            <a:pathLst>
              <a:path w="19" h="17">
                <a:moveTo>
                  <a:pt x="15" y="0"/>
                </a:moveTo>
                <a:lnTo>
                  <a:pt x="3" y="0"/>
                </a:lnTo>
                <a:lnTo>
                  <a:pt x="3" y="0"/>
                </a:lnTo>
                <a:lnTo>
                  <a:pt x="2" y="0"/>
                </a:lnTo>
                <a:lnTo>
                  <a:pt x="1" y="0"/>
                </a:lnTo>
                <a:lnTo>
                  <a:pt x="1" y="1"/>
                </a:lnTo>
                <a:lnTo>
                  <a:pt x="1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13"/>
                </a:lnTo>
                <a:lnTo>
                  <a:pt x="0" y="14"/>
                </a:lnTo>
                <a:lnTo>
                  <a:pt x="0" y="15"/>
                </a:lnTo>
                <a:lnTo>
                  <a:pt x="1" y="15"/>
                </a:lnTo>
                <a:lnTo>
                  <a:pt x="1" y="16"/>
                </a:lnTo>
                <a:lnTo>
                  <a:pt x="1" y="16"/>
                </a:lnTo>
                <a:lnTo>
                  <a:pt x="2" y="16"/>
                </a:lnTo>
                <a:lnTo>
                  <a:pt x="3" y="17"/>
                </a:lnTo>
                <a:lnTo>
                  <a:pt x="3" y="17"/>
                </a:lnTo>
                <a:lnTo>
                  <a:pt x="15" y="17"/>
                </a:lnTo>
                <a:lnTo>
                  <a:pt x="16" y="17"/>
                </a:lnTo>
                <a:lnTo>
                  <a:pt x="17" y="16"/>
                </a:lnTo>
                <a:lnTo>
                  <a:pt x="17" y="16"/>
                </a:lnTo>
                <a:lnTo>
                  <a:pt x="18" y="16"/>
                </a:lnTo>
                <a:lnTo>
                  <a:pt x="18" y="15"/>
                </a:lnTo>
                <a:lnTo>
                  <a:pt x="18" y="15"/>
                </a:lnTo>
                <a:lnTo>
                  <a:pt x="18" y="14"/>
                </a:lnTo>
                <a:lnTo>
                  <a:pt x="19" y="13"/>
                </a:lnTo>
                <a:lnTo>
                  <a:pt x="19" y="3"/>
                </a:lnTo>
                <a:lnTo>
                  <a:pt x="18" y="2"/>
                </a:lnTo>
                <a:lnTo>
                  <a:pt x="18" y="2"/>
                </a:lnTo>
                <a:lnTo>
                  <a:pt x="18" y="1"/>
                </a:lnTo>
                <a:lnTo>
                  <a:pt x="18" y="1"/>
                </a:lnTo>
                <a:lnTo>
                  <a:pt x="17" y="0"/>
                </a:lnTo>
                <a:lnTo>
                  <a:pt x="17" y="0"/>
                </a:lnTo>
                <a:lnTo>
                  <a:pt x="16" y="0"/>
                </a:lnTo>
                <a:lnTo>
                  <a:pt x="15" y="0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1295400" y="1866900"/>
            <a:ext cx="228600" cy="215900"/>
          </a:xfrm>
          <a:custGeom>
            <a:avLst/>
            <a:gdLst/>
            <a:ahLst/>
            <a:cxnLst/>
            <a:rect l="l" t="t" r="r" b="b"/>
            <a:pathLst>
              <a:path w="18" h="17">
                <a:moveTo>
                  <a:pt x="15" y="0"/>
                </a:moveTo>
                <a:lnTo>
                  <a:pt x="3" y="0"/>
                </a:lnTo>
                <a:lnTo>
                  <a:pt x="2" y="0"/>
                </a:lnTo>
                <a:lnTo>
                  <a:pt x="1" y="0"/>
                </a:lnTo>
                <a:lnTo>
                  <a:pt x="1" y="0"/>
                </a:lnTo>
                <a:lnTo>
                  <a:pt x="0" y="1"/>
                </a:lnTo>
                <a:lnTo>
                  <a:pt x="0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13"/>
                </a:lnTo>
                <a:lnTo>
                  <a:pt x="0" y="14"/>
                </a:lnTo>
                <a:lnTo>
                  <a:pt x="0" y="15"/>
                </a:lnTo>
                <a:lnTo>
                  <a:pt x="0" y="15"/>
                </a:lnTo>
                <a:lnTo>
                  <a:pt x="0" y="16"/>
                </a:lnTo>
                <a:lnTo>
                  <a:pt x="1" y="16"/>
                </a:lnTo>
                <a:lnTo>
                  <a:pt x="1" y="16"/>
                </a:lnTo>
                <a:lnTo>
                  <a:pt x="2" y="17"/>
                </a:lnTo>
                <a:lnTo>
                  <a:pt x="3" y="17"/>
                </a:lnTo>
                <a:lnTo>
                  <a:pt x="15" y="17"/>
                </a:lnTo>
                <a:lnTo>
                  <a:pt x="15" y="17"/>
                </a:lnTo>
                <a:lnTo>
                  <a:pt x="16" y="16"/>
                </a:lnTo>
                <a:lnTo>
                  <a:pt x="17" y="16"/>
                </a:lnTo>
                <a:lnTo>
                  <a:pt x="17" y="16"/>
                </a:lnTo>
                <a:lnTo>
                  <a:pt x="17" y="15"/>
                </a:lnTo>
                <a:lnTo>
                  <a:pt x="18" y="15"/>
                </a:lnTo>
                <a:lnTo>
                  <a:pt x="18" y="14"/>
                </a:lnTo>
                <a:lnTo>
                  <a:pt x="18" y="13"/>
                </a:lnTo>
                <a:lnTo>
                  <a:pt x="18" y="3"/>
                </a:lnTo>
                <a:lnTo>
                  <a:pt x="18" y="2"/>
                </a:lnTo>
                <a:lnTo>
                  <a:pt x="18" y="2"/>
                </a:lnTo>
                <a:lnTo>
                  <a:pt x="17" y="1"/>
                </a:lnTo>
                <a:lnTo>
                  <a:pt x="17" y="1"/>
                </a:lnTo>
                <a:lnTo>
                  <a:pt x="17" y="0"/>
                </a:lnTo>
                <a:lnTo>
                  <a:pt x="16" y="0"/>
                </a:lnTo>
                <a:lnTo>
                  <a:pt x="15" y="0"/>
                </a:lnTo>
                <a:lnTo>
                  <a:pt x="1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2095500" y="1854200"/>
            <a:ext cx="381000" cy="241300"/>
          </a:xfrm>
          <a:custGeom>
            <a:avLst/>
            <a:gdLst/>
            <a:ahLst/>
            <a:cxnLst/>
            <a:rect l="l" t="t" r="r" b="b"/>
            <a:pathLst>
              <a:path w="30" h="19">
                <a:moveTo>
                  <a:pt x="27" y="0"/>
                </a:move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16"/>
                </a:lnTo>
                <a:lnTo>
                  <a:pt x="0" y="16"/>
                </a:lnTo>
                <a:lnTo>
                  <a:pt x="0" y="17"/>
                </a:lnTo>
                <a:lnTo>
                  <a:pt x="0" y="17"/>
                </a:lnTo>
                <a:lnTo>
                  <a:pt x="1" y="18"/>
                </a:lnTo>
                <a:lnTo>
                  <a:pt x="1" y="18"/>
                </a:lnTo>
                <a:lnTo>
                  <a:pt x="2" y="19"/>
                </a:lnTo>
                <a:lnTo>
                  <a:pt x="2" y="19"/>
                </a:lnTo>
                <a:lnTo>
                  <a:pt x="3" y="19"/>
                </a:lnTo>
                <a:lnTo>
                  <a:pt x="27" y="19"/>
                </a:lnTo>
                <a:lnTo>
                  <a:pt x="28" y="19"/>
                </a:lnTo>
                <a:lnTo>
                  <a:pt x="28" y="19"/>
                </a:lnTo>
                <a:lnTo>
                  <a:pt x="29" y="18"/>
                </a:lnTo>
                <a:lnTo>
                  <a:pt x="29" y="18"/>
                </a:lnTo>
                <a:lnTo>
                  <a:pt x="30" y="17"/>
                </a:lnTo>
                <a:lnTo>
                  <a:pt x="30" y="17"/>
                </a:lnTo>
                <a:lnTo>
                  <a:pt x="30" y="16"/>
                </a:lnTo>
                <a:lnTo>
                  <a:pt x="30" y="16"/>
                </a:lnTo>
                <a:lnTo>
                  <a:pt x="30" y="3"/>
                </a:lnTo>
                <a:lnTo>
                  <a:pt x="30" y="2"/>
                </a:lnTo>
                <a:lnTo>
                  <a:pt x="30" y="2"/>
                </a:lnTo>
                <a:lnTo>
                  <a:pt x="30" y="1"/>
                </a:lnTo>
                <a:lnTo>
                  <a:pt x="29" y="1"/>
                </a:lnTo>
                <a:lnTo>
                  <a:pt x="29" y="0"/>
                </a:lnTo>
                <a:lnTo>
                  <a:pt x="28" y="0"/>
                </a:lnTo>
                <a:lnTo>
                  <a:pt x="28" y="0"/>
                </a:lnTo>
                <a:lnTo>
                  <a:pt x="27" y="0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762000" y="20828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17" h="17">
                <a:moveTo>
                  <a:pt x="17" y="8"/>
                </a:moveTo>
                <a:lnTo>
                  <a:pt x="17" y="7"/>
                </a:lnTo>
                <a:lnTo>
                  <a:pt x="17" y="5"/>
                </a:lnTo>
                <a:lnTo>
                  <a:pt x="16" y="4"/>
                </a:lnTo>
                <a:lnTo>
                  <a:pt x="15" y="2"/>
                </a:lnTo>
                <a:lnTo>
                  <a:pt x="14" y="1"/>
                </a:lnTo>
                <a:lnTo>
                  <a:pt x="12" y="0"/>
                </a:lnTo>
                <a:lnTo>
                  <a:pt x="10" y="0"/>
                </a:lnTo>
                <a:lnTo>
                  <a:pt x="9" y="0"/>
                </a:lnTo>
                <a:lnTo>
                  <a:pt x="7" y="0"/>
                </a:lnTo>
                <a:lnTo>
                  <a:pt x="5" y="0"/>
                </a:lnTo>
                <a:lnTo>
                  <a:pt x="4" y="1"/>
                </a:lnTo>
                <a:lnTo>
                  <a:pt x="2" y="2"/>
                </a:lnTo>
                <a:lnTo>
                  <a:pt x="1" y="4"/>
                </a:lnTo>
                <a:lnTo>
                  <a:pt x="1" y="5"/>
                </a:lnTo>
                <a:lnTo>
                  <a:pt x="0" y="7"/>
                </a:lnTo>
                <a:lnTo>
                  <a:pt x="0" y="8"/>
                </a:lnTo>
                <a:lnTo>
                  <a:pt x="0" y="10"/>
                </a:lnTo>
                <a:lnTo>
                  <a:pt x="1" y="12"/>
                </a:lnTo>
                <a:lnTo>
                  <a:pt x="1" y="13"/>
                </a:lnTo>
                <a:lnTo>
                  <a:pt x="2" y="15"/>
                </a:lnTo>
                <a:lnTo>
                  <a:pt x="4" y="16"/>
                </a:lnTo>
                <a:lnTo>
                  <a:pt x="5" y="16"/>
                </a:lnTo>
                <a:lnTo>
                  <a:pt x="7" y="17"/>
                </a:lnTo>
                <a:lnTo>
                  <a:pt x="9" y="17"/>
                </a:lnTo>
                <a:lnTo>
                  <a:pt x="10" y="17"/>
                </a:lnTo>
                <a:lnTo>
                  <a:pt x="12" y="16"/>
                </a:lnTo>
                <a:lnTo>
                  <a:pt x="14" y="16"/>
                </a:lnTo>
                <a:lnTo>
                  <a:pt x="15" y="15"/>
                </a:lnTo>
                <a:lnTo>
                  <a:pt x="16" y="13"/>
                </a:lnTo>
                <a:lnTo>
                  <a:pt x="17" y="12"/>
                </a:lnTo>
                <a:lnTo>
                  <a:pt x="17" y="10"/>
                </a:lnTo>
                <a:lnTo>
                  <a:pt x="17" y="8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1028700" y="2311400"/>
            <a:ext cx="215900" cy="228600"/>
          </a:xfrm>
          <a:custGeom>
            <a:avLst/>
            <a:gdLst/>
            <a:ahLst/>
            <a:cxnLst/>
            <a:rect l="l" t="t" r="r" b="b"/>
            <a:pathLst>
              <a:path w="17" h="18">
                <a:moveTo>
                  <a:pt x="17" y="9"/>
                </a:moveTo>
                <a:lnTo>
                  <a:pt x="17" y="7"/>
                </a:lnTo>
                <a:lnTo>
                  <a:pt x="17" y="5"/>
                </a:lnTo>
                <a:lnTo>
                  <a:pt x="16" y="4"/>
                </a:lnTo>
                <a:lnTo>
                  <a:pt x="15" y="3"/>
                </a:lnTo>
                <a:lnTo>
                  <a:pt x="13" y="2"/>
                </a:lnTo>
                <a:lnTo>
                  <a:pt x="12" y="1"/>
                </a:lnTo>
                <a:lnTo>
                  <a:pt x="10" y="0"/>
                </a:lnTo>
                <a:lnTo>
                  <a:pt x="8" y="0"/>
                </a:lnTo>
                <a:lnTo>
                  <a:pt x="7" y="0"/>
                </a:lnTo>
                <a:lnTo>
                  <a:pt x="5" y="1"/>
                </a:lnTo>
                <a:lnTo>
                  <a:pt x="4" y="2"/>
                </a:lnTo>
                <a:lnTo>
                  <a:pt x="2" y="3"/>
                </a:lnTo>
                <a:lnTo>
                  <a:pt x="1" y="4"/>
                </a:lnTo>
                <a:lnTo>
                  <a:pt x="0" y="5"/>
                </a:lnTo>
                <a:lnTo>
                  <a:pt x="0" y="7"/>
                </a:lnTo>
                <a:lnTo>
                  <a:pt x="0" y="9"/>
                </a:lnTo>
                <a:lnTo>
                  <a:pt x="0" y="11"/>
                </a:lnTo>
                <a:lnTo>
                  <a:pt x="0" y="12"/>
                </a:lnTo>
                <a:lnTo>
                  <a:pt x="1" y="14"/>
                </a:lnTo>
                <a:lnTo>
                  <a:pt x="2" y="15"/>
                </a:lnTo>
                <a:lnTo>
                  <a:pt x="4" y="16"/>
                </a:lnTo>
                <a:lnTo>
                  <a:pt x="5" y="17"/>
                </a:lnTo>
                <a:lnTo>
                  <a:pt x="7" y="17"/>
                </a:lnTo>
                <a:lnTo>
                  <a:pt x="8" y="18"/>
                </a:lnTo>
                <a:lnTo>
                  <a:pt x="10" y="17"/>
                </a:lnTo>
                <a:lnTo>
                  <a:pt x="12" y="17"/>
                </a:lnTo>
                <a:lnTo>
                  <a:pt x="13" y="16"/>
                </a:lnTo>
                <a:lnTo>
                  <a:pt x="15" y="15"/>
                </a:lnTo>
                <a:lnTo>
                  <a:pt x="16" y="14"/>
                </a:lnTo>
                <a:lnTo>
                  <a:pt x="17" y="12"/>
                </a:lnTo>
                <a:lnTo>
                  <a:pt x="17" y="11"/>
                </a:lnTo>
                <a:lnTo>
                  <a:pt x="17" y="9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1028700" y="15494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17" h="17">
                <a:moveTo>
                  <a:pt x="17" y="9"/>
                </a:moveTo>
                <a:lnTo>
                  <a:pt x="17" y="7"/>
                </a:lnTo>
                <a:lnTo>
                  <a:pt x="17" y="5"/>
                </a:lnTo>
                <a:lnTo>
                  <a:pt x="16" y="4"/>
                </a:lnTo>
                <a:lnTo>
                  <a:pt x="15" y="2"/>
                </a:lnTo>
                <a:lnTo>
                  <a:pt x="13" y="1"/>
                </a:lnTo>
                <a:lnTo>
                  <a:pt x="12" y="1"/>
                </a:lnTo>
                <a:lnTo>
                  <a:pt x="10" y="0"/>
                </a:lnTo>
                <a:lnTo>
                  <a:pt x="8" y="0"/>
                </a:lnTo>
                <a:lnTo>
                  <a:pt x="7" y="0"/>
                </a:lnTo>
                <a:lnTo>
                  <a:pt x="5" y="1"/>
                </a:lnTo>
                <a:lnTo>
                  <a:pt x="4" y="1"/>
                </a:lnTo>
                <a:lnTo>
                  <a:pt x="2" y="2"/>
                </a:lnTo>
                <a:lnTo>
                  <a:pt x="1" y="4"/>
                </a:lnTo>
                <a:lnTo>
                  <a:pt x="0" y="5"/>
                </a:lnTo>
                <a:lnTo>
                  <a:pt x="0" y="7"/>
                </a:lnTo>
                <a:lnTo>
                  <a:pt x="0" y="9"/>
                </a:lnTo>
                <a:lnTo>
                  <a:pt x="0" y="10"/>
                </a:lnTo>
                <a:lnTo>
                  <a:pt x="0" y="12"/>
                </a:lnTo>
                <a:lnTo>
                  <a:pt x="1" y="14"/>
                </a:lnTo>
                <a:lnTo>
                  <a:pt x="2" y="15"/>
                </a:lnTo>
                <a:lnTo>
                  <a:pt x="4" y="16"/>
                </a:lnTo>
                <a:lnTo>
                  <a:pt x="5" y="17"/>
                </a:lnTo>
                <a:lnTo>
                  <a:pt x="7" y="17"/>
                </a:lnTo>
                <a:lnTo>
                  <a:pt x="8" y="17"/>
                </a:lnTo>
                <a:lnTo>
                  <a:pt x="10" y="17"/>
                </a:lnTo>
                <a:lnTo>
                  <a:pt x="12" y="17"/>
                </a:lnTo>
                <a:lnTo>
                  <a:pt x="13" y="16"/>
                </a:lnTo>
                <a:lnTo>
                  <a:pt x="15" y="15"/>
                </a:lnTo>
                <a:lnTo>
                  <a:pt x="16" y="14"/>
                </a:lnTo>
                <a:lnTo>
                  <a:pt x="17" y="12"/>
                </a:lnTo>
                <a:lnTo>
                  <a:pt x="17" y="10"/>
                </a:lnTo>
                <a:lnTo>
                  <a:pt x="17" y="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2171700" y="1549400"/>
            <a:ext cx="228600" cy="215900"/>
          </a:xfrm>
          <a:custGeom>
            <a:avLst/>
            <a:gdLst/>
            <a:ahLst/>
            <a:cxnLst/>
            <a:rect l="l" t="t" r="r" b="b"/>
            <a:pathLst>
              <a:path w="18" h="17">
                <a:moveTo>
                  <a:pt x="18" y="9"/>
                </a:moveTo>
                <a:lnTo>
                  <a:pt x="18" y="7"/>
                </a:lnTo>
                <a:lnTo>
                  <a:pt x="17" y="5"/>
                </a:lnTo>
                <a:lnTo>
                  <a:pt x="16" y="4"/>
                </a:lnTo>
                <a:lnTo>
                  <a:pt x="15" y="2"/>
                </a:lnTo>
                <a:lnTo>
                  <a:pt x="14" y="1"/>
                </a:lnTo>
                <a:lnTo>
                  <a:pt x="12" y="1"/>
                </a:lnTo>
                <a:lnTo>
                  <a:pt x="11" y="0"/>
                </a:lnTo>
                <a:lnTo>
                  <a:pt x="9" y="0"/>
                </a:lnTo>
                <a:lnTo>
                  <a:pt x="7" y="0"/>
                </a:lnTo>
                <a:lnTo>
                  <a:pt x="6" y="1"/>
                </a:lnTo>
                <a:lnTo>
                  <a:pt x="4" y="1"/>
                </a:lnTo>
                <a:lnTo>
                  <a:pt x="3" y="2"/>
                </a:lnTo>
                <a:lnTo>
                  <a:pt x="2" y="4"/>
                </a:lnTo>
                <a:lnTo>
                  <a:pt x="1" y="5"/>
                </a:lnTo>
                <a:lnTo>
                  <a:pt x="0" y="7"/>
                </a:lnTo>
                <a:lnTo>
                  <a:pt x="0" y="9"/>
                </a:lnTo>
                <a:lnTo>
                  <a:pt x="0" y="10"/>
                </a:lnTo>
                <a:lnTo>
                  <a:pt x="1" y="12"/>
                </a:lnTo>
                <a:lnTo>
                  <a:pt x="2" y="14"/>
                </a:lnTo>
                <a:lnTo>
                  <a:pt x="3" y="15"/>
                </a:lnTo>
                <a:lnTo>
                  <a:pt x="4" y="16"/>
                </a:lnTo>
                <a:lnTo>
                  <a:pt x="6" y="17"/>
                </a:lnTo>
                <a:lnTo>
                  <a:pt x="7" y="17"/>
                </a:lnTo>
                <a:lnTo>
                  <a:pt x="9" y="17"/>
                </a:lnTo>
                <a:lnTo>
                  <a:pt x="11" y="17"/>
                </a:lnTo>
                <a:lnTo>
                  <a:pt x="12" y="17"/>
                </a:lnTo>
                <a:lnTo>
                  <a:pt x="14" y="16"/>
                </a:lnTo>
                <a:lnTo>
                  <a:pt x="15" y="15"/>
                </a:lnTo>
                <a:lnTo>
                  <a:pt x="16" y="14"/>
                </a:lnTo>
                <a:lnTo>
                  <a:pt x="17" y="12"/>
                </a:lnTo>
                <a:lnTo>
                  <a:pt x="18" y="10"/>
                </a:lnTo>
                <a:lnTo>
                  <a:pt x="18" y="9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2171700" y="1054100"/>
            <a:ext cx="228600" cy="215900"/>
          </a:xfrm>
          <a:custGeom>
            <a:avLst/>
            <a:gdLst/>
            <a:ahLst/>
            <a:cxnLst/>
            <a:rect l="l" t="t" r="r" b="b"/>
            <a:pathLst>
              <a:path w="18" h="17">
                <a:moveTo>
                  <a:pt x="18" y="8"/>
                </a:moveTo>
                <a:lnTo>
                  <a:pt x="18" y="7"/>
                </a:lnTo>
                <a:lnTo>
                  <a:pt x="17" y="5"/>
                </a:lnTo>
                <a:lnTo>
                  <a:pt x="16" y="3"/>
                </a:lnTo>
                <a:lnTo>
                  <a:pt x="15" y="2"/>
                </a:lnTo>
                <a:lnTo>
                  <a:pt x="14" y="1"/>
                </a:lnTo>
                <a:lnTo>
                  <a:pt x="12" y="0"/>
                </a:lnTo>
                <a:lnTo>
                  <a:pt x="11" y="0"/>
                </a:lnTo>
                <a:lnTo>
                  <a:pt x="9" y="0"/>
                </a:lnTo>
                <a:lnTo>
                  <a:pt x="7" y="0"/>
                </a:lnTo>
                <a:lnTo>
                  <a:pt x="6" y="0"/>
                </a:lnTo>
                <a:lnTo>
                  <a:pt x="4" y="1"/>
                </a:lnTo>
                <a:lnTo>
                  <a:pt x="3" y="2"/>
                </a:lnTo>
                <a:lnTo>
                  <a:pt x="2" y="3"/>
                </a:lnTo>
                <a:lnTo>
                  <a:pt x="1" y="5"/>
                </a:lnTo>
                <a:lnTo>
                  <a:pt x="0" y="7"/>
                </a:lnTo>
                <a:lnTo>
                  <a:pt x="0" y="8"/>
                </a:lnTo>
                <a:lnTo>
                  <a:pt x="0" y="10"/>
                </a:lnTo>
                <a:lnTo>
                  <a:pt x="1" y="12"/>
                </a:lnTo>
                <a:lnTo>
                  <a:pt x="2" y="13"/>
                </a:lnTo>
                <a:lnTo>
                  <a:pt x="3" y="15"/>
                </a:lnTo>
                <a:lnTo>
                  <a:pt x="4" y="16"/>
                </a:lnTo>
                <a:lnTo>
                  <a:pt x="6" y="16"/>
                </a:lnTo>
                <a:lnTo>
                  <a:pt x="7" y="17"/>
                </a:lnTo>
                <a:lnTo>
                  <a:pt x="9" y="17"/>
                </a:lnTo>
                <a:lnTo>
                  <a:pt x="11" y="17"/>
                </a:lnTo>
                <a:lnTo>
                  <a:pt x="12" y="16"/>
                </a:lnTo>
                <a:lnTo>
                  <a:pt x="14" y="16"/>
                </a:lnTo>
                <a:lnTo>
                  <a:pt x="15" y="15"/>
                </a:lnTo>
                <a:lnTo>
                  <a:pt x="16" y="13"/>
                </a:lnTo>
                <a:lnTo>
                  <a:pt x="17" y="12"/>
                </a:lnTo>
                <a:lnTo>
                  <a:pt x="18" y="10"/>
                </a:lnTo>
                <a:lnTo>
                  <a:pt x="18" y="8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1701800" y="10541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17" h="17">
                <a:moveTo>
                  <a:pt x="17" y="8"/>
                </a:moveTo>
                <a:lnTo>
                  <a:pt x="17" y="7"/>
                </a:lnTo>
                <a:lnTo>
                  <a:pt x="16" y="5"/>
                </a:lnTo>
                <a:lnTo>
                  <a:pt x="16" y="3"/>
                </a:lnTo>
                <a:lnTo>
                  <a:pt x="14" y="2"/>
                </a:lnTo>
                <a:lnTo>
                  <a:pt x="13" y="1"/>
                </a:lnTo>
                <a:lnTo>
                  <a:pt x="12" y="0"/>
                </a:lnTo>
                <a:lnTo>
                  <a:pt x="10" y="0"/>
                </a:lnTo>
                <a:lnTo>
                  <a:pt x="8" y="0"/>
                </a:lnTo>
                <a:lnTo>
                  <a:pt x="7" y="0"/>
                </a:lnTo>
                <a:lnTo>
                  <a:pt x="5" y="0"/>
                </a:lnTo>
                <a:lnTo>
                  <a:pt x="3" y="1"/>
                </a:lnTo>
                <a:lnTo>
                  <a:pt x="2" y="2"/>
                </a:lnTo>
                <a:lnTo>
                  <a:pt x="1" y="3"/>
                </a:lnTo>
                <a:lnTo>
                  <a:pt x="0" y="5"/>
                </a:lnTo>
                <a:lnTo>
                  <a:pt x="0" y="7"/>
                </a:lnTo>
                <a:lnTo>
                  <a:pt x="0" y="8"/>
                </a:lnTo>
                <a:lnTo>
                  <a:pt x="0" y="10"/>
                </a:lnTo>
                <a:lnTo>
                  <a:pt x="0" y="12"/>
                </a:lnTo>
                <a:lnTo>
                  <a:pt x="1" y="13"/>
                </a:lnTo>
                <a:lnTo>
                  <a:pt x="2" y="15"/>
                </a:lnTo>
                <a:lnTo>
                  <a:pt x="3" y="16"/>
                </a:lnTo>
                <a:lnTo>
                  <a:pt x="5" y="16"/>
                </a:lnTo>
                <a:lnTo>
                  <a:pt x="7" y="17"/>
                </a:lnTo>
                <a:lnTo>
                  <a:pt x="8" y="17"/>
                </a:lnTo>
                <a:lnTo>
                  <a:pt x="10" y="17"/>
                </a:lnTo>
                <a:lnTo>
                  <a:pt x="12" y="16"/>
                </a:lnTo>
                <a:lnTo>
                  <a:pt x="13" y="16"/>
                </a:lnTo>
                <a:lnTo>
                  <a:pt x="14" y="15"/>
                </a:lnTo>
                <a:lnTo>
                  <a:pt x="16" y="13"/>
                </a:lnTo>
                <a:lnTo>
                  <a:pt x="16" y="12"/>
                </a:lnTo>
                <a:lnTo>
                  <a:pt x="17" y="10"/>
                </a:lnTo>
                <a:lnTo>
                  <a:pt x="17" y="8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1651000" y="1358900"/>
            <a:ext cx="304800" cy="215900"/>
          </a:xfrm>
          <a:custGeom>
            <a:avLst/>
            <a:gdLst/>
            <a:ahLst/>
            <a:cxnLst/>
            <a:rect l="l" t="t" r="r" b="b"/>
            <a:pathLst>
              <a:path w="24" h="17">
                <a:moveTo>
                  <a:pt x="24" y="9"/>
                </a:moveTo>
                <a:lnTo>
                  <a:pt x="24" y="7"/>
                </a:lnTo>
                <a:lnTo>
                  <a:pt x="23" y="5"/>
                </a:lnTo>
                <a:lnTo>
                  <a:pt x="22" y="4"/>
                </a:lnTo>
                <a:lnTo>
                  <a:pt x="21" y="2"/>
                </a:lnTo>
                <a:lnTo>
                  <a:pt x="19" y="1"/>
                </a:lnTo>
                <a:lnTo>
                  <a:pt x="17" y="1"/>
                </a:lnTo>
                <a:lnTo>
                  <a:pt x="15" y="0"/>
                </a:lnTo>
                <a:lnTo>
                  <a:pt x="12" y="0"/>
                </a:lnTo>
                <a:lnTo>
                  <a:pt x="10" y="0"/>
                </a:lnTo>
                <a:lnTo>
                  <a:pt x="8" y="1"/>
                </a:lnTo>
                <a:lnTo>
                  <a:pt x="6" y="1"/>
                </a:lnTo>
                <a:lnTo>
                  <a:pt x="4" y="2"/>
                </a:lnTo>
                <a:lnTo>
                  <a:pt x="2" y="4"/>
                </a:lnTo>
                <a:lnTo>
                  <a:pt x="1" y="5"/>
                </a:lnTo>
                <a:lnTo>
                  <a:pt x="1" y="7"/>
                </a:lnTo>
                <a:lnTo>
                  <a:pt x="0" y="9"/>
                </a:lnTo>
                <a:lnTo>
                  <a:pt x="1" y="10"/>
                </a:lnTo>
                <a:lnTo>
                  <a:pt x="1" y="12"/>
                </a:lnTo>
                <a:lnTo>
                  <a:pt x="2" y="13"/>
                </a:lnTo>
                <a:lnTo>
                  <a:pt x="4" y="15"/>
                </a:lnTo>
                <a:lnTo>
                  <a:pt x="6" y="16"/>
                </a:lnTo>
                <a:lnTo>
                  <a:pt x="8" y="17"/>
                </a:lnTo>
                <a:lnTo>
                  <a:pt x="10" y="17"/>
                </a:lnTo>
                <a:lnTo>
                  <a:pt x="12" y="17"/>
                </a:lnTo>
                <a:lnTo>
                  <a:pt x="15" y="17"/>
                </a:lnTo>
                <a:lnTo>
                  <a:pt x="17" y="17"/>
                </a:lnTo>
                <a:lnTo>
                  <a:pt x="19" y="16"/>
                </a:lnTo>
                <a:lnTo>
                  <a:pt x="21" y="15"/>
                </a:lnTo>
                <a:lnTo>
                  <a:pt x="22" y="13"/>
                </a:lnTo>
                <a:lnTo>
                  <a:pt x="23" y="12"/>
                </a:lnTo>
                <a:lnTo>
                  <a:pt x="24" y="10"/>
                </a:lnTo>
                <a:lnTo>
                  <a:pt x="24" y="9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 flipV="1">
            <a:off x="2859547" y="934572"/>
            <a:ext cx="0" cy="225209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Freeform 47"/>
          <p:cNvSpPr/>
          <p:nvPr/>
        </p:nvSpPr>
        <p:spPr>
          <a:xfrm>
            <a:off x="2832100" y="9144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4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526679" y="1159781"/>
            <a:ext cx="345048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871727" y="1159781"/>
            <a:ext cx="264270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871727" y="2423737"/>
            <a:ext cx="0" cy="267224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871727" y="1159781"/>
            <a:ext cx="0" cy="881215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Freeform 52"/>
          <p:cNvSpPr/>
          <p:nvPr/>
        </p:nvSpPr>
        <p:spPr>
          <a:xfrm>
            <a:off x="850900" y="20193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2" y="4"/>
                </a:moveTo>
                <a:lnTo>
                  <a:pt x="3" y="0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 flipV="1">
            <a:off x="871727" y="2338364"/>
            <a:ext cx="0" cy="85373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Freeform 54"/>
          <p:cNvSpPr/>
          <p:nvPr/>
        </p:nvSpPr>
        <p:spPr>
          <a:xfrm>
            <a:off x="850900" y="2311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1135997" y="1159781"/>
            <a:ext cx="0" cy="350670"/>
          </a:xfrm>
          <a:prstGeom prst="line">
            <a:avLst/>
          </a:prstGeom>
          <a:ln w="8121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Freeform 56"/>
          <p:cNvSpPr/>
          <p:nvPr/>
        </p:nvSpPr>
        <p:spPr>
          <a:xfrm>
            <a:off x="1117600" y="1498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0"/>
                </a:lnTo>
                <a:lnTo>
                  <a:pt x="1" y="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1135997" y="1781423"/>
            <a:ext cx="0" cy="49363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Freeform 58"/>
          <p:cNvSpPr/>
          <p:nvPr/>
        </p:nvSpPr>
        <p:spPr>
          <a:xfrm>
            <a:off x="1117600" y="2260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0"/>
                </a:lnTo>
                <a:lnTo>
                  <a:pt x="1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>
            <a:off x="871727" y="2423737"/>
            <a:ext cx="115586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Freeform 60"/>
          <p:cNvSpPr/>
          <p:nvPr/>
        </p:nvSpPr>
        <p:spPr>
          <a:xfrm>
            <a:off x="965200" y="24003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0" y="0"/>
                </a:lnTo>
                <a:lnTo>
                  <a:pt x="2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>
            <a:off x="1258285" y="2423737"/>
            <a:ext cx="1027234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2285519" y="2130711"/>
            <a:ext cx="0" cy="293026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Freeform 63"/>
          <p:cNvSpPr/>
          <p:nvPr/>
        </p:nvSpPr>
        <p:spPr>
          <a:xfrm>
            <a:off x="2260600" y="2108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4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 flipV="1">
            <a:off x="2285519" y="1807818"/>
            <a:ext cx="0" cy="30305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Freeform 65"/>
          <p:cNvSpPr/>
          <p:nvPr/>
        </p:nvSpPr>
        <p:spPr>
          <a:xfrm>
            <a:off x="2260600" y="17780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2" y="0"/>
                </a:moveTo>
                <a:lnTo>
                  <a:pt x="0" y="4"/>
                </a:lnTo>
                <a:lnTo>
                  <a:pt x="2" y="2"/>
                </a:lnTo>
                <a:lnTo>
                  <a:pt x="4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1807167" y="1659135"/>
            <a:ext cx="329668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Freeform 67"/>
          <p:cNvSpPr/>
          <p:nvPr/>
        </p:nvSpPr>
        <p:spPr>
          <a:xfrm>
            <a:off x="2120900" y="1638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 flipV="1">
            <a:off x="2285519" y="1308465"/>
            <a:ext cx="0" cy="228382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Freeform 69"/>
          <p:cNvSpPr/>
          <p:nvPr/>
        </p:nvSpPr>
        <p:spPr>
          <a:xfrm>
            <a:off x="2260600" y="12827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4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>
            <a:off x="994015" y="2189680"/>
            <a:ext cx="412215" cy="0"/>
          </a:xfrm>
          <a:prstGeom prst="line">
            <a:avLst/>
          </a:prstGeom>
          <a:ln w="30457">
            <a:solidFill>
              <a:srgbClr val="93D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994015" y="2189680"/>
            <a:ext cx="412215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406230" y="2189680"/>
            <a:ext cx="400937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1406230" y="2116043"/>
            <a:ext cx="0" cy="73637"/>
          </a:xfrm>
          <a:prstGeom prst="line">
            <a:avLst/>
          </a:prstGeom>
          <a:ln w="8121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Freeform 74"/>
          <p:cNvSpPr/>
          <p:nvPr/>
        </p:nvSpPr>
        <p:spPr>
          <a:xfrm>
            <a:off x="1384300" y="20955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3" y="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 flipV="1">
            <a:off x="1807167" y="2116043"/>
            <a:ext cx="0" cy="73637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Freeform 76"/>
          <p:cNvSpPr/>
          <p:nvPr/>
        </p:nvSpPr>
        <p:spPr>
          <a:xfrm>
            <a:off x="1790700" y="20955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 flipV="1">
            <a:off x="1406230" y="1659135"/>
            <a:ext cx="0" cy="193656"/>
          </a:xfrm>
          <a:prstGeom prst="line">
            <a:avLst/>
          </a:prstGeom>
          <a:ln w="8121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H="1">
            <a:off x="1284681" y="1659135"/>
            <a:ext cx="121549" cy="0"/>
          </a:xfrm>
          <a:prstGeom prst="line">
            <a:avLst/>
          </a:prstGeom>
          <a:ln w="8121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Freeform 79"/>
          <p:cNvSpPr/>
          <p:nvPr/>
        </p:nvSpPr>
        <p:spPr>
          <a:xfrm>
            <a:off x="1257300" y="1638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0" y="2"/>
                </a:moveTo>
                <a:lnTo>
                  <a:pt x="3" y="3"/>
                </a:lnTo>
                <a:lnTo>
                  <a:pt x="2" y="2"/>
                </a:lnTo>
                <a:lnTo>
                  <a:pt x="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" name="Connector 80"/>
          <p:cNvCxnSpPr/>
          <p:nvPr/>
        </p:nvCxnSpPr>
        <p:spPr>
          <a:xfrm flipV="1">
            <a:off x="1807167" y="1616815"/>
            <a:ext cx="0" cy="235976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Freeform 81"/>
          <p:cNvSpPr/>
          <p:nvPr/>
        </p:nvSpPr>
        <p:spPr>
          <a:xfrm>
            <a:off x="1790700" y="15875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0"/>
                </a:moveTo>
                <a:lnTo>
                  <a:pt x="0" y="4"/>
                </a:lnTo>
                <a:lnTo>
                  <a:pt x="1" y="2"/>
                </a:lnTo>
                <a:lnTo>
                  <a:pt x="3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 flipV="1">
            <a:off x="1807167" y="1308465"/>
            <a:ext cx="0" cy="37379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Freeform 83"/>
          <p:cNvSpPr/>
          <p:nvPr/>
        </p:nvSpPr>
        <p:spPr>
          <a:xfrm>
            <a:off x="1790700" y="1282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" name="Connector 84"/>
          <p:cNvCxnSpPr/>
          <p:nvPr/>
        </p:nvCxnSpPr>
        <p:spPr>
          <a:xfrm>
            <a:off x="1135997" y="1159781"/>
            <a:ext cx="522487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Freeform 85"/>
          <p:cNvSpPr/>
          <p:nvPr/>
        </p:nvSpPr>
        <p:spPr>
          <a:xfrm>
            <a:off x="1638300" y="1143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1"/>
                </a:moveTo>
                <a:lnTo>
                  <a:pt x="0" y="0"/>
                </a:lnTo>
                <a:lnTo>
                  <a:pt x="2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" name="Connector 86"/>
          <p:cNvCxnSpPr/>
          <p:nvPr/>
        </p:nvCxnSpPr>
        <p:spPr>
          <a:xfrm>
            <a:off x="1929455" y="1159781"/>
            <a:ext cx="207380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Freeform 87"/>
          <p:cNvSpPr/>
          <p:nvPr/>
        </p:nvSpPr>
        <p:spPr>
          <a:xfrm>
            <a:off x="2120900" y="1143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2407807" y="1159781"/>
            <a:ext cx="653453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Freeform 89"/>
          <p:cNvSpPr/>
          <p:nvPr/>
        </p:nvSpPr>
        <p:spPr>
          <a:xfrm>
            <a:off x="3048000" y="1143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-2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2880001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3" name="Picture 9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94" name="Picture 9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Gaterd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Recurrent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Units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(GRU)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Architecture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77057" y="1098945"/>
            <a:ext cx="5508338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000000"/>
                </a:solidFill>
                <a:latin typeface="Cambria Math"/>
              </a:rPr>
              <a:t>h</a:t>
            </a:r>
            <a:r>
              <a:rPr sz="639" b="0">
                <a:solidFill>
                  <a:srgbClr val="000000"/>
                </a:solidFill>
                <a:latin typeface="Cambria Math"/>
              </a:rPr>
              <a:t>t</a:t>
            </a:r>
            <a:r>
              <a:rPr sz="639" b="0">
                <a:solidFill>
                  <a:srgbClr val="000000"/>
                </a:solidFill>
                <a:latin typeface="Cambria Math"/>
              </a:rPr>
              <a:t>−</a:t>
            </a:r>
            <a:r>
              <a:rPr sz="639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21850" y="2691014"/>
            <a:ext cx="4963545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000000"/>
                </a:solidFill>
                <a:latin typeface="Cambria Math"/>
              </a:rPr>
              <a:t>x</a:t>
            </a:r>
            <a:r>
              <a:rPr sz="639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809391" y="765553"/>
            <a:ext cx="2976004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000000"/>
                </a:solidFill>
                <a:latin typeface="Cambria Math"/>
              </a:rPr>
              <a:t>h</a:t>
            </a:r>
            <a:r>
              <a:rPr sz="639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126723" y="1103174"/>
            <a:ext cx="2658672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000000"/>
                </a:solidFill>
                <a:latin typeface="Cambria Math"/>
              </a:rPr>
              <a:t>h</a:t>
            </a:r>
            <a:r>
              <a:rPr sz="639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773406" y="1908273"/>
            <a:ext cx="4011989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000000"/>
                </a:solidFill>
                <a:latin typeface="Cambria Math"/>
              </a:rPr>
              <a:t>σ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372482" y="1908273"/>
            <a:ext cx="4412913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FFFFFF"/>
                </a:solidFill>
                <a:latin typeface="Cambria Math"/>
              </a:rPr>
              <a:t>σ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174341" y="1922937"/>
            <a:ext cx="3611054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000000"/>
                </a:solidFill>
                <a:latin typeface="Cambria Math"/>
              </a:rPr>
              <a:t>tanh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28504" y="2116033"/>
            <a:ext cx="4956891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FFFFFF"/>
                </a:solidFill>
                <a:latin typeface="MSAM10"/>
              </a:rPr>
              <a:t>⊞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92774" y="2350088"/>
            <a:ext cx="4692621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FFFFFF"/>
                </a:solidFill>
                <a:latin typeface="MSAM10"/>
              </a:rPr>
              <a:t>⊞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92774" y="1598611"/>
            <a:ext cx="4692621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FFFFFF"/>
                </a:solidFill>
                <a:latin typeface="Cambria Math"/>
              </a:rPr>
              <a:t>×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242281" y="1598611"/>
            <a:ext cx="3543114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FFFFFF"/>
                </a:solidFill>
                <a:latin typeface="Cambria Math"/>
              </a:rPr>
              <a:t>×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242281" y="1100708"/>
            <a:ext cx="3543114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FFFFFF"/>
                </a:solidFill>
                <a:latin typeface="Cambria Math"/>
              </a:rPr>
              <a:t>+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763929" y="1099267"/>
            <a:ext cx="4021466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FFFFFF"/>
                </a:solidFill>
                <a:latin typeface="Cambria Math"/>
              </a:rPr>
              <a:t>×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736140" y="1411004"/>
            <a:ext cx="4049255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FFFFFF"/>
                </a:solidFill>
                <a:latin typeface="Cambria Math"/>
              </a:rPr>
              <a:t>1</a:t>
            </a:r>
            <a:r>
              <a:rPr sz="875" b="0">
                <a:solidFill>
                  <a:srgbClr val="FFFFFF"/>
                </a:solidFill>
                <a:latin typeface="Cambria Math"/>
              </a:rPr>
              <a:t>−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504029" y="911474"/>
            <a:ext cx="228136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Update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Gate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504029" y="1083149"/>
            <a:ext cx="228136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Decides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how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much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previous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504029" y="1255222"/>
            <a:ext cx="228136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hidden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state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retain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how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504029" y="1427294"/>
            <a:ext cx="228136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much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new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504029" y="1599366"/>
            <a:ext cx="228136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incorporate.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704232" y="1911144"/>
            <a:ext cx="208116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z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σ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W</a:t>
            </a:r>
            <a:r>
              <a:rPr sz="797" b="0">
                <a:solidFill>
                  <a:srgbClr val="000000"/>
                </a:solidFill>
                <a:latin typeface="Cambria Math"/>
              </a:rPr>
              <a:t>z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·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[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h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797" b="0">
                <a:solidFill>
                  <a:srgbClr val="000000"/>
                </a:solidFill>
                <a:latin typeface="Cambria Math"/>
              </a:rPr>
              <a:t>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, 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] +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b</a:t>
            </a:r>
            <a:r>
              <a:rPr sz="797" b="0">
                <a:solidFill>
                  <a:srgbClr val="000000"/>
                </a:solidFill>
                <a:latin typeface="Cambria Math"/>
              </a:rPr>
              <a:t>z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504031" y="2107707"/>
            <a:ext cx="2281365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˜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h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 tanh 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W</a:t>
            </a:r>
            <a:r>
              <a:rPr sz="797" b="0">
                <a:solidFill>
                  <a:srgbClr val="000000"/>
                </a:solidFill>
                <a:latin typeface="Cambria Math"/>
              </a:rPr>
              <a:t>h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·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[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r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·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h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797" b="0">
                <a:solidFill>
                  <a:srgbClr val="000000"/>
                </a:solidFill>
                <a:latin typeface="Cambria Math"/>
              </a:rPr>
              <a:t>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, 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] +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b</a:t>
            </a:r>
            <a:r>
              <a:rPr sz="797" b="0">
                <a:solidFill>
                  <a:srgbClr val="000000"/>
                </a:solidFill>
                <a:latin typeface="Cambria Math"/>
              </a:rPr>
              <a:t>h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695967" y="2339025"/>
            <a:ext cx="208942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h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 (1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z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·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h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797" b="0">
                <a:solidFill>
                  <a:srgbClr val="000000"/>
                </a:solidFill>
                <a:latin typeface="Cambria Math"/>
              </a:rPr>
              <a:t>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+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z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·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˜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h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898159" y="3150918"/>
            <a:ext cx="88723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638531" y="3150694"/>
            <a:ext cx="14686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reeform 35"/>
          <p:cNvSpPr/>
          <p:nvPr/>
        </p:nvSpPr>
        <p:spPr>
          <a:xfrm>
            <a:off x="635000" y="1016000"/>
            <a:ext cx="2336800" cy="1562100"/>
          </a:xfrm>
          <a:custGeom>
            <a:avLst/>
            <a:gdLst/>
            <a:ahLst/>
            <a:cxnLst/>
            <a:rect l="l" t="t" r="r" b="b"/>
            <a:pathLst>
              <a:path w="184" h="123">
                <a:moveTo>
                  <a:pt x="181" y="0"/>
                </a:moveTo>
                <a:lnTo>
                  <a:pt x="4" y="0"/>
                </a:lnTo>
                <a:lnTo>
                  <a:pt x="3" y="0"/>
                </a:lnTo>
                <a:lnTo>
                  <a:pt x="2" y="1"/>
                </a:lnTo>
                <a:lnTo>
                  <a:pt x="2" y="1"/>
                </a:lnTo>
                <a:lnTo>
                  <a:pt x="1" y="1"/>
                </a:lnTo>
                <a:lnTo>
                  <a:pt x="1" y="2"/>
                </a:lnTo>
                <a:lnTo>
                  <a:pt x="1" y="2"/>
                </a:lnTo>
                <a:lnTo>
                  <a:pt x="0" y="3"/>
                </a:lnTo>
                <a:lnTo>
                  <a:pt x="0" y="4"/>
                </a:lnTo>
                <a:lnTo>
                  <a:pt x="0" y="120"/>
                </a:lnTo>
                <a:lnTo>
                  <a:pt x="0" y="120"/>
                </a:lnTo>
                <a:lnTo>
                  <a:pt x="1" y="121"/>
                </a:lnTo>
                <a:lnTo>
                  <a:pt x="1" y="122"/>
                </a:lnTo>
                <a:lnTo>
                  <a:pt x="1" y="122"/>
                </a:lnTo>
                <a:lnTo>
                  <a:pt x="2" y="122"/>
                </a:lnTo>
                <a:lnTo>
                  <a:pt x="2" y="123"/>
                </a:lnTo>
                <a:lnTo>
                  <a:pt x="3" y="123"/>
                </a:lnTo>
                <a:lnTo>
                  <a:pt x="4" y="123"/>
                </a:lnTo>
                <a:lnTo>
                  <a:pt x="181" y="123"/>
                </a:lnTo>
                <a:lnTo>
                  <a:pt x="182" y="123"/>
                </a:lnTo>
                <a:lnTo>
                  <a:pt x="182" y="123"/>
                </a:lnTo>
                <a:lnTo>
                  <a:pt x="183" y="122"/>
                </a:lnTo>
                <a:lnTo>
                  <a:pt x="183" y="122"/>
                </a:lnTo>
                <a:lnTo>
                  <a:pt x="184" y="122"/>
                </a:lnTo>
                <a:lnTo>
                  <a:pt x="184" y="121"/>
                </a:lnTo>
                <a:lnTo>
                  <a:pt x="184" y="120"/>
                </a:lnTo>
                <a:lnTo>
                  <a:pt x="184" y="120"/>
                </a:lnTo>
                <a:lnTo>
                  <a:pt x="184" y="4"/>
                </a:lnTo>
                <a:lnTo>
                  <a:pt x="184" y="3"/>
                </a:lnTo>
                <a:lnTo>
                  <a:pt x="184" y="2"/>
                </a:lnTo>
                <a:lnTo>
                  <a:pt x="184" y="2"/>
                </a:lnTo>
                <a:lnTo>
                  <a:pt x="183" y="1"/>
                </a:lnTo>
                <a:lnTo>
                  <a:pt x="183" y="1"/>
                </a:lnTo>
                <a:lnTo>
                  <a:pt x="182" y="1"/>
                </a:lnTo>
                <a:lnTo>
                  <a:pt x="182" y="0"/>
                </a:lnTo>
                <a:lnTo>
                  <a:pt x="181" y="0"/>
                </a:lnTo>
                <a:close/>
              </a:path>
            </a:pathLst>
          </a:custGeom>
          <a:solidFill>
            <a:srgbClr val="93D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1689100" y="1866900"/>
            <a:ext cx="241300" cy="215900"/>
          </a:xfrm>
          <a:custGeom>
            <a:avLst/>
            <a:gdLst/>
            <a:ahLst/>
            <a:cxnLst/>
            <a:rect l="l" t="t" r="r" b="b"/>
            <a:pathLst>
              <a:path w="19" h="17">
                <a:moveTo>
                  <a:pt x="15" y="0"/>
                </a:moveTo>
                <a:lnTo>
                  <a:pt x="3" y="0"/>
                </a:lnTo>
                <a:lnTo>
                  <a:pt x="3" y="0"/>
                </a:lnTo>
                <a:lnTo>
                  <a:pt x="2" y="0"/>
                </a:lnTo>
                <a:lnTo>
                  <a:pt x="1" y="0"/>
                </a:lnTo>
                <a:lnTo>
                  <a:pt x="1" y="1"/>
                </a:lnTo>
                <a:lnTo>
                  <a:pt x="1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13"/>
                </a:lnTo>
                <a:lnTo>
                  <a:pt x="0" y="14"/>
                </a:lnTo>
                <a:lnTo>
                  <a:pt x="0" y="15"/>
                </a:lnTo>
                <a:lnTo>
                  <a:pt x="1" y="15"/>
                </a:lnTo>
                <a:lnTo>
                  <a:pt x="1" y="16"/>
                </a:lnTo>
                <a:lnTo>
                  <a:pt x="1" y="16"/>
                </a:lnTo>
                <a:lnTo>
                  <a:pt x="2" y="16"/>
                </a:lnTo>
                <a:lnTo>
                  <a:pt x="3" y="17"/>
                </a:lnTo>
                <a:lnTo>
                  <a:pt x="3" y="17"/>
                </a:lnTo>
                <a:lnTo>
                  <a:pt x="15" y="17"/>
                </a:lnTo>
                <a:lnTo>
                  <a:pt x="16" y="17"/>
                </a:lnTo>
                <a:lnTo>
                  <a:pt x="17" y="16"/>
                </a:lnTo>
                <a:lnTo>
                  <a:pt x="17" y="16"/>
                </a:lnTo>
                <a:lnTo>
                  <a:pt x="18" y="16"/>
                </a:lnTo>
                <a:lnTo>
                  <a:pt x="18" y="15"/>
                </a:lnTo>
                <a:lnTo>
                  <a:pt x="18" y="15"/>
                </a:lnTo>
                <a:lnTo>
                  <a:pt x="18" y="14"/>
                </a:lnTo>
                <a:lnTo>
                  <a:pt x="19" y="13"/>
                </a:lnTo>
                <a:lnTo>
                  <a:pt x="19" y="3"/>
                </a:lnTo>
                <a:lnTo>
                  <a:pt x="18" y="2"/>
                </a:lnTo>
                <a:lnTo>
                  <a:pt x="18" y="2"/>
                </a:lnTo>
                <a:lnTo>
                  <a:pt x="18" y="1"/>
                </a:lnTo>
                <a:lnTo>
                  <a:pt x="18" y="1"/>
                </a:lnTo>
                <a:lnTo>
                  <a:pt x="17" y="0"/>
                </a:lnTo>
                <a:lnTo>
                  <a:pt x="17" y="0"/>
                </a:lnTo>
                <a:lnTo>
                  <a:pt x="16" y="0"/>
                </a:lnTo>
                <a:lnTo>
                  <a:pt x="15" y="0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1295400" y="1866900"/>
            <a:ext cx="228600" cy="215900"/>
          </a:xfrm>
          <a:custGeom>
            <a:avLst/>
            <a:gdLst/>
            <a:ahLst/>
            <a:cxnLst/>
            <a:rect l="l" t="t" r="r" b="b"/>
            <a:pathLst>
              <a:path w="18" h="17">
                <a:moveTo>
                  <a:pt x="15" y="0"/>
                </a:moveTo>
                <a:lnTo>
                  <a:pt x="3" y="0"/>
                </a:lnTo>
                <a:lnTo>
                  <a:pt x="2" y="0"/>
                </a:lnTo>
                <a:lnTo>
                  <a:pt x="1" y="0"/>
                </a:lnTo>
                <a:lnTo>
                  <a:pt x="1" y="0"/>
                </a:lnTo>
                <a:lnTo>
                  <a:pt x="0" y="1"/>
                </a:lnTo>
                <a:lnTo>
                  <a:pt x="0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13"/>
                </a:lnTo>
                <a:lnTo>
                  <a:pt x="0" y="14"/>
                </a:lnTo>
                <a:lnTo>
                  <a:pt x="0" y="15"/>
                </a:lnTo>
                <a:lnTo>
                  <a:pt x="0" y="15"/>
                </a:lnTo>
                <a:lnTo>
                  <a:pt x="0" y="16"/>
                </a:lnTo>
                <a:lnTo>
                  <a:pt x="1" y="16"/>
                </a:lnTo>
                <a:lnTo>
                  <a:pt x="1" y="16"/>
                </a:lnTo>
                <a:lnTo>
                  <a:pt x="2" y="17"/>
                </a:lnTo>
                <a:lnTo>
                  <a:pt x="3" y="17"/>
                </a:lnTo>
                <a:lnTo>
                  <a:pt x="15" y="17"/>
                </a:lnTo>
                <a:lnTo>
                  <a:pt x="15" y="17"/>
                </a:lnTo>
                <a:lnTo>
                  <a:pt x="16" y="16"/>
                </a:lnTo>
                <a:lnTo>
                  <a:pt x="17" y="16"/>
                </a:lnTo>
                <a:lnTo>
                  <a:pt x="17" y="16"/>
                </a:lnTo>
                <a:lnTo>
                  <a:pt x="17" y="15"/>
                </a:lnTo>
                <a:lnTo>
                  <a:pt x="18" y="15"/>
                </a:lnTo>
                <a:lnTo>
                  <a:pt x="18" y="14"/>
                </a:lnTo>
                <a:lnTo>
                  <a:pt x="18" y="13"/>
                </a:lnTo>
                <a:lnTo>
                  <a:pt x="18" y="3"/>
                </a:lnTo>
                <a:lnTo>
                  <a:pt x="18" y="2"/>
                </a:lnTo>
                <a:lnTo>
                  <a:pt x="18" y="2"/>
                </a:lnTo>
                <a:lnTo>
                  <a:pt x="17" y="1"/>
                </a:lnTo>
                <a:lnTo>
                  <a:pt x="17" y="1"/>
                </a:lnTo>
                <a:lnTo>
                  <a:pt x="17" y="0"/>
                </a:lnTo>
                <a:lnTo>
                  <a:pt x="16" y="0"/>
                </a:lnTo>
                <a:lnTo>
                  <a:pt x="15" y="0"/>
                </a:lnTo>
                <a:lnTo>
                  <a:pt x="15" y="0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2095500" y="1854200"/>
            <a:ext cx="381000" cy="241300"/>
          </a:xfrm>
          <a:custGeom>
            <a:avLst/>
            <a:gdLst/>
            <a:ahLst/>
            <a:cxnLst/>
            <a:rect l="l" t="t" r="r" b="b"/>
            <a:pathLst>
              <a:path w="30" h="19">
                <a:moveTo>
                  <a:pt x="27" y="0"/>
                </a:move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2"/>
                </a:lnTo>
                <a:lnTo>
                  <a:pt x="0" y="2"/>
                </a:lnTo>
                <a:lnTo>
                  <a:pt x="0" y="3"/>
                </a:lnTo>
                <a:lnTo>
                  <a:pt x="0" y="16"/>
                </a:lnTo>
                <a:lnTo>
                  <a:pt x="0" y="16"/>
                </a:lnTo>
                <a:lnTo>
                  <a:pt x="0" y="17"/>
                </a:lnTo>
                <a:lnTo>
                  <a:pt x="0" y="17"/>
                </a:lnTo>
                <a:lnTo>
                  <a:pt x="1" y="18"/>
                </a:lnTo>
                <a:lnTo>
                  <a:pt x="1" y="18"/>
                </a:lnTo>
                <a:lnTo>
                  <a:pt x="2" y="19"/>
                </a:lnTo>
                <a:lnTo>
                  <a:pt x="2" y="19"/>
                </a:lnTo>
                <a:lnTo>
                  <a:pt x="3" y="19"/>
                </a:lnTo>
                <a:lnTo>
                  <a:pt x="27" y="19"/>
                </a:lnTo>
                <a:lnTo>
                  <a:pt x="28" y="19"/>
                </a:lnTo>
                <a:lnTo>
                  <a:pt x="28" y="19"/>
                </a:lnTo>
                <a:lnTo>
                  <a:pt x="29" y="18"/>
                </a:lnTo>
                <a:lnTo>
                  <a:pt x="29" y="18"/>
                </a:lnTo>
                <a:lnTo>
                  <a:pt x="30" y="17"/>
                </a:lnTo>
                <a:lnTo>
                  <a:pt x="30" y="17"/>
                </a:lnTo>
                <a:lnTo>
                  <a:pt x="30" y="16"/>
                </a:lnTo>
                <a:lnTo>
                  <a:pt x="30" y="16"/>
                </a:lnTo>
                <a:lnTo>
                  <a:pt x="30" y="3"/>
                </a:lnTo>
                <a:lnTo>
                  <a:pt x="30" y="2"/>
                </a:lnTo>
                <a:lnTo>
                  <a:pt x="30" y="2"/>
                </a:lnTo>
                <a:lnTo>
                  <a:pt x="30" y="1"/>
                </a:lnTo>
                <a:lnTo>
                  <a:pt x="29" y="1"/>
                </a:lnTo>
                <a:lnTo>
                  <a:pt x="29" y="0"/>
                </a:lnTo>
                <a:lnTo>
                  <a:pt x="28" y="0"/>
                </a:lnTo>
                <a:lnTo>
                  <a:pt x="28" y="0"/>
                </a:lnTo>
                <a:lnTo>
                  <a:pt x="27" y="0"/>
                </a:lnTo>
                <a:close/>
              </a:path>
            </a:pathLst>
          </a:custGeom>
          <a:solidFill>
            <a:srgbClr val="F79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762000" y="20828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17" h="17">
                <a:moveTo>
                  <a:pt x="17" y="8"/>
                </a:moveTo>
                <a:lnTo>
                  <a:pt x="17" y="7"/>
                </a:lnTo>
                <a:lnTo>
                  <a:pt x="17" y="5"/>
                </a:lnTo>
                <a:lnTo>
                  <a:pt x="16" y="4"/>
                </a:lnTo>
                <a:lnTo>
                  <a:pt x="15" y="2"/>
                </a:lnTo>
                <a:lnTo>
                  <a:pt x="14" y="1"/>
                </a:lnTo>
                <a:lnTo>
                  <a:pt x="12" y="0"/>
                </a:lnTo>
                <a:lnTo>
                  <a:pt x="10" y="0"/>
                </a:lnTo>
                <a:lnTo>
                  <a:pt x="9" y="0"/>
                </a:lnTo>
                <a:lnTo>
                  <a:pt x="7" y="0"/>
                </a:lnTo>
                <a:lnTo>
                  <a:pt x="5" y="0"/>
                </a:lnTo>
                <a:lnTo>
                  <a:pt x="4" y="1"/>
                </a:lnTo>
                <a:lnTo>
                  <a:pt x="2" y="2"/>
                </a:lnTo>
                <a:lnTo>
                  <a:pt x="1" y="4"/>
                </a:lnTo>
                <a:lnTo>
                  <a:pt x="1" y="5"/>
                </a:lnTo>
                <a:lnTo>
                  <a:pt x="0" y="7"/>
                </a:lnTo>
                <a:lnTo>
                  <a:pt x="0" y="8"/>
                </a:lnTo>
                <a:lnTo>
                  <a:pt x="0" y="10"/>
                </a:lnTo>
                <a:lnTo>
                  <a:pt x="1" y="12"/>
                </a:lnTo>
                <a:lnTo>
                  <a:pt x="1" y="13"/>
                </a:lnTo>
                <a:lnTo>
                  <a:pt x="2" y="15"/>
                </a:lnTo>
                <a:lnTo>
                  <a:pt x="4" y="16"/>
                </a:lnTo>
                <a:lnTo>
                  <a:pt x="5" y="16"/>
                </a:lnTo>
                <a:lnTo>
                  <a:pt x="7" y="17"/>
                </a:lnTo>
                <a:lnTo>
                  <a:pt x="9" y="17"/>
                </a:lnTo>
                <a:lnTo>
                  <a:pt x="10" y="17"/>
                </a:lnTo>
                <a:lnTo>
                  <a:pt x="12" y="16"/>
                </a:lnTo>
                <a:lnTo>
                  <a:pt x="14" y="16"/>
                </a:lnTo>
                <a:lnTo>
                  <a:pt x="15" y="15"/>
                </a:lnTo>
                <a:lnTo>
                  <a:pt x="16" y="13"/>
                </a:lnTo>
                <a:lnTo>
                  <a:pt x="17" y="12"/>
                </a:lnTo>
                <a:lnTo>
                  <a:pt x="17" y="10"/>
                </a:lnTo>
                <a:lnTo>
                  <a:pt x="17" y="8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1028700" y="2311400"/>
            <a:ext cx="215900" cy="228600"/>
          </a:xfrm>
          <a:custGeom>
            <a:avLst/>
            <a:gdLst/>
            <a:ahLst/>
            <a:cxnLst/>
            <a:rect l="l" t="t" r="r" b="b"/>
            <a:pathLst>
              <a:path w="17" h="18">
                <a:moveTo>
                  <a:pt x="17" y="9"/>
                </a:moveTo>
                <a:lnTo>
                  <a:pt x="17" y="7"/>
                </a:lnTo>
                <a:lnTo>
                  <a:pt x="17" y="5"/>
                </a:lnTo>
                <a:lnTo>
                  <a:pt x="16" y="4"/>
                </a:lnTo>
                <a:lnTo>
                  <a:pt x="15" y="3"/>
                </a:lnTo>
                <a:lnTo>
                  <a:pt x="13" y="2"/>
                </a:lnTo>
                <a:lnTo>
                  <a:pt x="12" y="1"/>
                </a:lnTo>
                <a:lnTo>
                  <a:pt x="10" y="0"/>
                </a:lnTo>
                <a:lnTo>
                  <a:pt x="8" y="0"/>
                </a:lnTo>
                <a:lnTo>
                  <a:pt x="7" y="0"/>
                </a:lnTo>
                <a:lnTo>
                  <a:pt x="5" y="1"/>
                </a:lnTo>
                <a:lnTo>
                  <a:pt x="4" y="2"/>
                </a:lnTo>
                <a:lnTo>
                  <a:pt x="2" y="3"/>
                </a:lnTo>
                <a:lnTo>
                  <a:pt x="1" y="4"/>
                </a:lnTo>
                <a:lnTo>
                  <a:pt x="0" y="5"/>
                </a:lnTo>
                <a:lnTo>
                  <a:pt x="0" y="7"/>
                </a:lnTo>
                <a:lnTo>
                  <a:pt x="0" y="9"/>
                </a:lnTo>
                <a:lnTo>
                  <a:pt x="0" y="11"/>
                </a:lnTo>
                <a:lnTo>
                  <a:pt x="0" y="12"/>
                </a:lnTo>
                <a:lnTo>
                  <a:pt x="1" y="14"/>
                </a:lnTo>
                <a:lnTo>
                  <a:pt x="2" y="15"/>
                </a:lnTo>
                <a:lnTo>
                  <a:pt x="4" y="16"/>
                </a:lnTo>
                <a:lnTo>
                  <a:pt x="5" y="17"/>
                </a:lnTo>
                <a:lnTo>
                  <a:pt x="7" y="17"/>
                </a:lnTo>
                <a:lnTo>
                  <a:pt x="8" y="18"/>
                </a:lnTo>
                <a:lnTo>
                  <a:pt x="10" y="17"/>
                </a:lnTo>
                <a:lnTo>
                  <a:pt x="12" y="17"/>
                </a:lnTo>
                <a:lnTo>
                  <a:pt x="13" y="16"/>
                </a:lnTo>
                <a:lnTo>
                  <a:pt x="15" y="15"/>
                </a:lnTo>
                <a:lnTo>
                  <a:pt x="16" y="14"/>
                </a:lnTo>
                <a:lnTo>
                  <a:pt x="17" y="12"/>
                </a:lnTo>
                <a:lnTo>
                  <a:pt x="17" y="11"/>
                </a:lnTo>
                <a:lnTo>
                  <a:pt x="17" y="9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1028700" y="15494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17" h="17">
                <a:moveTo>
                  <a:pt x="17" y="9"/>
                </a:moveTo>
                <a:lnTo>
                  <a:pt x="17" y="7"/>
                </a:lnTo>
                <a:lnTo>
                  <a:pt x="17" y="5"/>
                </a:lnTo>
                <a:lnTo>
                  <a:pt x="16" y="4"/>
                </a:lnTo>
                <a:lnTo>
                  <a:pt x="15" y="2"/>
                </a:lnTo>
                <a:lnTo>
                  <a:pt x="13" y="1"/>
                </a:lnTo>
                <a:lnTo>
                  <a:pt x="12" y="1"/>
                </a:lnTo>
                <a:lnTo>
                  <a:pt x="10" y="0"/>
                </a:lnTo>
                <a:lnTo>
                  <a:pt x="8" y="0"/>
                </a:lnTo>
                <a:lnTo>
                  <a:pt x="7" y="0"/>
                </a:lnTo>
                <a:lnTo>
                  <a:pt x="5" y="1"/>
                </a:lnTo>
                <a:lnTo>
                  <a:pt x="4" y="1"/>
                </a:lnTo>
                <a:lnTo>
                  <a:pt x="2" y="2"/>
                </a:lnTo>
                <a:lnTo>
                  <a:pt x="1" y="4"/>
                </a:lnTo>
                <a:lnTo>
                  <a:pt x="0" y="5"/>
                </a:lnTo>
                <a:lnTo>
                  <a:pt x="0" y="7"/>
                </a:lnTo>
                <a:lnTo>
                  <a:pt x="0" y="9"/>
                </a:lnTo>
                <a:lnTo>
                  <a:pt x="0" y="10"/>
                </a:lnTo>
                <a:lnTo>
                  <a:pt x="0" y="12"/>
                </a:lnTo>
                <a:lnTo>
                  <a:pt x="1" y="14"/>
                </a:lnTo>
                <a:lnTo>
                  <a:pt x="2" y="15"/>
                </a:lnTo>
                <a:lnTo>
                  <a:pt x="4" y="16"/>
                </a:lnTo>
                <a:lnTo>
                  <a:pt x="5" y="17"/>
                </a:lnTo>
                <a:lnTo>
                  <a:pt x="7" y="17"/>
                </a:lnTo>
                <a:lnTo>
                  <a:pt x="8" y="17"/>
                </a:lnTo>
                <a:lnTo>
                  <a:pt x="10" y="17"/>
                </a:lnTo>
                <a:lnTo>
                  <a:pt x="12" y="17"/>
                </a:lnTo>
                <a:lnTo>
                  <a:pt x="13" y="16"/>
                </a:lnTo>
                <a:lnTo>
                  <a:pt x="15" y="15"/>
                </a:lnTo>
                <a:lnTo>
                  <a:pt x="16" y="14"/>
                </a:lnTo>
                <a:lnTo>
                  <a:pt x="17" y="12"/>
                </a:lnTo>
                <a:lnTo>
                  <a:pt x="17" y="10"/>
                </a:lnTo>
                <a:lnTo>
                  <a:pt x="17" y="9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2171700" y="1549400"/>
            <a:ext cx="228600" cy="215900"/>
          </a:xfrm>
          <a:custGeom>
            <a:avLst/>
            <a:gdLst/>
            <a:ahLst/>
            <a:cxnLst/>
            <a:rect l="l" t="t" r="r" b="b"/>
            <a:pathLst>
              <a:path w="18" h="17">
                <a:moveTo>
                  <a:pt x="18" y="9"/>
                </a:moveTo>
                <a:lnTo>
                  <a:pt x="18" y="7"/>
                </a:lnTo>
                <a:lnTo>
                  <a:pt x="17" y="5"/>
                </a:lnTo>
                <a:lnTo>
                  <a:pt x="16" y="4"/>
                </a:lnTo>
                <a:lnTo>
                  <a:pt x="15" y="2"/>
                </a:lnTo>
                <a:lnTo>
                  <a:pt x="14" y="1"/>
                </a:lnTo>
                <a:lnTo>
                  <a:pt x="12" y="1"/>
                </a:lnTo>
                <a:lnTo>
                  <a:pt x="11" y="0"/>
                </a:lnTo>
                <a:lnTo>
                  <a:pt x="9" y="0"/>
                </a:lnTo>
                <a:lnTo>
                  <a:pt x="7" y="0"/>
                </a:lnTo>
                <a:lnTo>
                  <a:pt x="6" y="1"/>
                </a:lnTo>
                <a:lnTo>
                  <a:pt x="4" y="1"/>
                </a:lnTo>
                <a:lnTo>
                  <a:pt x="3" y="2"/>
                </a:lnTo>
                <a:lnTo>
                  <a:pt x="2" y="4"/>
                </a:lnTo>
                <a:lnTo>
                  <a:pt x="1" y="5"/>
                </a:lnTo>
                <a:lnTo>
                  <a:pt x="0" y="7"/>
                </a:lnTo>
                <a:lnTo>
                  <a:pt x="0" y="9"/>
                </a:lnTo>
                <a:lnTo>
                  <a:pt x="0" y="10"/>
                </a:lnTo>
                <a:lnTo>
                  <a:pt x="1" y="12"/>
                </a:lnTo>
                <a:lnTo>
                  <a:pt x="2" y="14"/>
                </a:lnTo>
                <a:lnTo>
                  <a:pt x="3" y="15"/>
                </a:lnTo>
                <a:lnTo>
                  <a:pt x="4" y="16"/>
                </a:lnTo>
                <a:lnTo>
                  <a:pt x="6" y="17"/>
                </a:lnTo>
                <a:lnTo>
                  <a:pt x="7" y="17"/>
                </a:lnTo>
                <a:lnTo>
                  <a:pt x="9" y="17"/>
                </a:lnTo>
                <a:lnTo>
                  <a:pt x="11" y="17"/>
                </a:lnTo>
                <a:lnTo>
                  <a:pt x="12" y="17"/>
                </a:lnTo>
                <a:lnTo>
                  <a:pt x="14" y="16"/>
                </a:lnTo>
                <a:lnTo>
                  <a:pt x="15" y="15"/>
                </a:lnTo>
                <a:lnTo>
                  <a:pt x="16" y="14"/>
                </a:lnTo>
                <a:lnTo>
                  <a:pt x="17" y="12"/>
                </a:lnTo>
                <a:lnTo>
                  <a:pt x="18" y="10"/>
                </a:lnTo>
                <a:lnTo>
                  <a:pt x="18" y="9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2171700" y="1054100"/>
            <a:ext cx="228600" cy="215900"/>
          </a:xfrm>
          <a:custGeom>
            <a:avLst/>
            <a:gdLst/>
            <a:ahLst/>
            <a:cxnLst/>
            <a:rect l="l" t="t" r="r" b="b"/>
            <a:pathLst>
              <a:path w="18" h="17">
                <a:moveTo>
                  <a:pt x="18" y="8"/>
                </a:moveTo>
                <a:lnTo>
                  <a:pt x="18" y="7"/>
                </a:lnTo>
                <a:lnTo>
                  <a:pt x="17" y="5"/>
                </a:lnTo>
                <a:lnTo>
                  <a:pt x="16" y="3"/>
                </a:lnTo>
                <a:lnTo>
                  <a:pt x="15" y="2"/>
                </a:lnTo>
                <a:lnTo>
                  <a:pt x="14" y="1"/>
                </a:lnTo>
                <a:lnTo>
                  <a:pt x="12" y="0"/>
                </a:lnTo>
                <a:lnTo>
                  <a:pt x="11" y="0"/>
                </a:lnTo>
                <a:lnTo>
                  <a:pt x="9" y="0"/>
                </a:lnTo>
                <a:lnTo>
                  <a:pt x="7" y="0"/>
                </a:lnTo>
                <a:lnTo>
                  <a:pt x="6" y="0"/>
                </a:lnTo>
                <a:lnTo>
                  <a:pt x="4" y="1"/>
                </a:lnTo>
                <a:lnTo>
                  <a:pt x="3" y="2"/>
                </a:lnTo>
                <a:lnTo>
                  <a:pt x="2" y="3"/>
                </a:lnTo>
                <a:lnTo>
                  <a:pt x="1" y="5"/>
                </a:lnTo>
                <a:lnTo>
                  <a:pt x="0" y="7"/>
                </a:lnTo>
                <a:lnTo>
                  <a:pt x="0" y="8"/>
                </a:lnTo>
                <a:lnTo>
                  <a:pt x="0" y="10"/>
                </a:lnTo>
                <a:lnTo>
                  <a:pt x="1" y="12"/>
                </a:lnTo>
                <a:lnTo>
                  <a:pt x="2" y="13"/>
                </a:lnTo>
                <a:lnTo>
                  <a:pt x="3" y="15"/>
                </a:lnTo>
                <a:lnTo>
                  <a:pt x="4" y="16"/>
                </a:lnTo>
                <a:lnTo>
                  <a:pt x="6" y="16"/>
                </a:lnTo>
                <a:lnTo>
                  <a:pt x="7" y="17"/>
                </a:lnTo>
                <a:lnTo>
                  <a:pt x="9" y="17"/>
                </a:lnTo>
                <a:lnTo>
                  <a:pt x="11" y="17"/>
                </a:lnTo>
                <a:lnTo>
                  <a:pt x="12" y="16"/>
                </a:lnTo>
                <a:lnTo>
                  <a:pt x="14" y="16"/>
                </a:lnTo>
                <a:lnTo>
                  <a:pt x="15" y="15"/>
                </a:lnTo>
                <a:lnTo>
                  <a:pt x="16" y="13"/>
                </a:lnTo>
                <a:lnTo>
                  <a:pt x="17" y="12"/>
                </a:lnTo>
                <a:lnTo>
                  <a:pt x="18" y="10"/>
                </a:lnTo>
                <a:lnTo>
                  <a:pt x="18" y="8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1701800" y="1054100"/>
            <a:ext cx="215900" cy="215900"/>
          </a:xfrm>
          <a:custGeom>
            <a:avLst/>
            <a:gdLst/>
            <a:ahLst/>
            <a:cxnLst/>
            <a:rect l="l" t="t" r="r" b="b"/>
            <a:pathLst>
              <a:path w="17" h="17">
                <a:moveTo>
                  <a:pt x="17" y="8"/>
                </a:moveTo>
                <a:lnTo>
                  <a:pt x="17" y="7"/>
                </a:lnTo>
                <a:lnTo>
                  <a:pt x="16" y="5"/>
                </a:lnTo>
                <a:lnTo>
                  <a:pt x="16" y="3"/>
                </a:lnTo>
                <a:lnTo>
                  <a:pt x="14" y="2"/>
                </a:lnTo>
                <a:lnTo>
                  <a:pt x="13" y="1"/>
                </a:lnTo>
                <a:lnTo>
                  <a:pt x="12" y="0"/>
                </a:lnTo>
                <a:lnTo>
                  <a:pt x="10" y="0"/>
                </a:lnTo>
                <a:lnTo>
                  <a:pt x="8" y="0"/>
                </a:lnTo>
                <a:lnTo>
                  <a:pt x="7" y="0"/>
                </a:lnTo>
                <a:lnTo>
                  <a:pt x="5" y="0"/>
                </a:lnTo>
                <a:lnTo>
                  <a:pt x="3" y="1"/>
                </a:lnTo>
                <a:lnTo>
                  <a:pt x="2" y="2"/>
                </a:lnTo>
                <a:lnTo>
                  <a:pt x="1" y="3"/>
                </a:lnTo>
                <a:lnTo>
                  <a:pt x="0" y="5"/>
                </a:lnTo>
                <a:lnTo>
                  <a:pt x="0" y="7"/>
                </a:lnTo>
                <a:lnTo>
                  <a:pt x="0" y="8"/>
                </a:lnTo>
                <a:lnTo>
                  <a:pt x="0" y="10"/>
                </a:lnTo>
                <a:lnTo>
                  <a:pt x="0" y="12"/>
                </a:lnTo>
                <a:lnTo>
                  <a:pt x="1" y="13"/>
                </a:lnTo>
                <a:lnTo>
                  <a:pt x="2" y="15"/>
                </a:lnTo>
                <a:lnTo>
                  <a:pt x="3" y="16"/>
                </a:lnTo>
                <a:lnTo>
                  <a:pt x="5" y="16"/>
                </a:lnTo>
                <a:lnTo>
                  <a:pt x="7" y="17"/>
                </a:lnTo>
                <a:lnTo>
                  <a:pt x="8" y="17"/>
                </a:lnTo>
                <a:lnTo>
                  <a:pt x="10" y="17"/>
                </a:lnTo>
                <a:lnTo>
                  <a:pt x="12" y="16"/>
                </a:lnTo>
                <a:lnTo>
                  <a:pt x="13" y="16"/>
                </a:lnTo>
                <a:lnTo>
                  <a:pt x="14" y="15"/>
                </a:lnTo>
                <a:lnTo>
                  <a:pt x="16" y="13"/>
                </a:lnTo>
                <a:lnTo>
                  <a:pt x="16" y="12"/>
                </a:lnTo>
                <a:lnTo>
                  <a:pt x="17" y="10"/>
                </a:lnTo>
                <a:lnTo>
                  <a:pt x="17" y="8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1651000" y="1358900"/>
            <a:ext cx="304800" cy="215900"/>
          </a:xfrm>
          <a:custGeom>
            <a:avLst/>
            <a:gdLst/>
            <a:ahLst/>
            <a:cxnLst/>
            <a:rect l="l" t="t" r="r" b="b"/>
            <a:pathLst>
              <a:path w="24" h="17">
                <a:moveTo>
                  <a:pt x="24" y="9"/>
                </a:moveTo>
                <a:lnTo>
                  <a:pt x="24" y="7"/>
                </a:lnTo>
                <a:lnTo>
                  <a:pt x="23" y="5"/>
                </a:lnTo>
                <a:lnTo>
                  <a:pt x="22" y="4"/>
                </a:lnTo>
                <a:lnTo>
                  <a:pt x="21" y="2"/>
                </a:lnTo>
                <a:lnTo>
                  <a:pt x="19" y="1"/>
                </a:lnTo>
                <a:lnTo>
                  <a:pt x="17" y="1"/>
                </a:lnTo>
                <a:lnTo>
                  <a:pt x="15" y="0"/>
                </a:lnTo>
                <a:lnTo>
                  <a:pt x="12" y="0"/>
                </a:lnTo>
                <a:lnTo>
                  <a:pt x="10" y="0"/>
                </a:lnTo>
                <a:lnTo>
                  <a:pt x="8" y="1"/>
                </a:lnTo>
                <a:lnTo>
                  <a:pt x="6" y="1"/>
                </a:lnTo>
                <a:lnTo>
                  <a:pt x="4" y="2"/>
                </a:lnTo>
                <a:lnTo>
                  <a:pt x="2" y="4"/>
                </a:lnTo>
                <a:lnTo>
                  <a:pt x="1" y="5"/>
                </a:lnTo>
                <a:lnTo>
                  <a:pt x="1" y="7"/>
                </a:lnTo>
                <a:lnTo>
                  <a:pt x="0" y="9"/>
                </a:lnTo>
                <a:lnTo>
                  <a:pt x="1" y="10"/>
                </a:lnTo>
                <a:lnTo>
                  <a:pt x="1" y="12"/>
                </a:lnTo>
                <a:lnTo>
                  <a:pt x="2" y="13"/>
                </a:lnTo>
                <a:lnTo>
                  <a:pt x="4" y="15"/>
                </a:lnTo>
                <a:lnTo>
                  <a:pt x="6" y="16"/>
                </a:lnTo>
                <a:lnTo>
                  <a:pt x="8" y="17"/>
                </a:lnTo>
                <a:lnTo>
                  <a:pt x="10" y="17"/>
                </a:lnTo>
                <a:lnTo>
                  <a:pt x="12" y="17"/>
                </a:lnTo>
                <a:lnTo>
                  <a:pt x="15" y="17"/>
                </a:lnTo>
                <a:lnTo>
                  <a:pt x="17" y="17"/>
                </a:lnTo>
                <a:lnTo>
                  <a:pt x="19" y="16"/>
                </a:lnTo>
                <a:lnTo>
                  <a:pt x="21" y="15"/>
                </a:lnTo>
                <a:lnTo>
                  <a:pt x="22" y="13"/>
                </a:lnTo>
                <a:lnTo>
                  <a:pt x="23" y="12"/>
                </a:lnTo>
                <a:lnTo>
                  <a:pt x="24" y="10"/>
                </a:lnTo>
                <a:lnTo>
                  <a:pt x="24" y="9"/>
                </a:lnTo>
                <a:close/>
              </a:path>
            </a:pathLst>
          </a:cu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 flipV="1">
            <a:off x="2859547" y="934572"/>
            <a:ext cx="0" cy="225209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Freeform 47"/>
          <p:cNvSpPr/>
          <p:nvPr/>
        </p:nvSpPr>
        <p:spPr>
          <a:xfrm>
            <a:off x="2832100" y="9144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4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526679" y="1159781"/>
            <a:ext cx="345048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871727" y="1159781"/>
            <a:ext cx="264270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871727" y="2423737"/>
            <a:ext cx="0" cy="267224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871727" y="1159781"/>
            <a:ext cx="0" cy="881215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Freeform 52"/>
          <p:cNvSpPr/>
          <p:nvPr/>
        </p:nvSpPr>
        <p:spPr>
          <a:xfrm>
            <a:off x="850900" y="20193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2" y="4"/>
                </a:moveTo>
                <a:lnTo>
                  <a:pt x="3" y="0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 flipV="1">
            <a:off x="871727" y="2338364"/>
            <a:ext cx="0" cy="85373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Freeform 54"/>
          <p:cNvSpPr/>
          <p:nvPr/>
        </p:nvSpPr>
        <p:spPr>
          <a:xfrm>
            <a:off x="850900" y="23114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1135997" y="1159781"/>
            <a:ext cx="0" cy="35067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Freeform 56"/>
          <p:cNvSpPr/>
          <p:nvPr/>
        </p:nvSpPr>
        <p:spPr>
          <a:xfrm>
            <a:off x="1117600" y="1498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0"/>
                </a:lnTo>
                <a:lnTo>
                  <a:pt x="1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1135997" y="1781423"/>
            <a:ext cx="0" cy="49363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Freeform 58"/>
          <p:cNvSpPr/>
          <p:nvPr/>
        </p:nvSpPr>
        <p:spPr>
          <a:xfrm>
            <a:off x="1117600" y="22606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3"/>
                </a:moveTo>
                <a:lnTo>
                  <a:pt x="3" y="0"/>
                </a:lnTo>
                <a:lnTo>
                  <a:pt x="1" y="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>
            <a:off x="871727" y="2423737"/>
            <a:ext cx="115586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Freeform 60"/>
          <p:cNvSpPr/>
          <p:nvPr/>
        </p:nvSpPr>
        <p:spPr>
          <a:xfrm>
            <a:off x="965200" y="24003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4" y="2"/>
                </a:moveTo>
                <a:lnTo>
                  <a:pt x="0" y="0"/>
                </a:lnTo>
                <a:lnTo>
                  <a:pt x="2" y="2"/>
                </a:lnTo>
                <a:lnTo>
                  <a:pt x="0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>
            <a:off x="1258285" y="2423737"/>
            <a:ext cx="1027234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2285519" y="2130711"/>
            <a:ext cx="0" cy="293026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Freeform 63"/>
          <p:cNvSpPr/>
          <p:nvPr/>
        </p:nvSpPr>
        <p:spPr>
          <a:xfrm>
            <a:off x="2260600" y="21082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4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 flipV="1">
            <a:off x="2285519" y="1807818"/>
            <a:ext cx="0" cy="30305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Freeform 65"/>
          <p:cNvSpPr/>
          <p:nvPr/>
        </p:nvSpPr>
        <p:spPr>
          <a:xfrm>
            <a:off x="2260600" y="17780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2" y="0"/>
                </a:moveTo>
                <a:lnTo>
                  <a:pt x="0" y="4"/>
                </a:lnTo>
                <a:lnTo>
                  <a:pt x="2" y="2"/>
                </a:lnTo>
                <a:lnTo>
                  <a:pt x="4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1807167" y="1659135"/>
            <a:ext cx="329668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Freeform 67"/>
          <p:cNvSpPr/>
          <p:nvPr/>
        </p:nvSpPr>
        <p:spPr>
          <a:xfrm>
            <a:off x="2120900" y="1638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2"/>
                </a:moveTo>
                <a:lnTo>
                  <a:pt x="0" y="0"/>
                </a:lnTo>
                <a:lnTo>
                  <a:pt x="1" y="2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 flipV="1">
            <a:off x="2285519" y="1308465"/>
            <a:ext cx="0" cy="228382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Freeform 69"/>
          <p:cNvSpPr/>
          <p:nvPr/>
        </p:nvSpPr>
        <p:spPr>
          <a:xfrm>
            <a:off x="2260600" y="12827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4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>
            <a:off x="994015" y="2189680"/>
            <a:ext cx="412215" cy="0"/>
          </a:xfrm>
          <a:prstGeom prst="line">
            <a:avLst/>
          </a:prstGeom>
          <a:ln w="30457">
            <a:solidFill>
              <a:srgbClr val="93D4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994015" y="2189680"/>
            <a:ext cx="412215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406230" y="2189680"/>
            <a:ext cx="400937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1406230" y="2116043"/>
            <a:ext cx="0" cy="73637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Freeform 74"/>
          <p:cNvSpPr/>
          <p:nvPr/>
        </p:nvSpPr>
        <p:spPr>
          <a:xfrm>
            <a:off x="1384300" y="20955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2" y="0"/>
                </a:moveTo>
                <a:lnTo>
                  <a:pt x="0" y="3"/>
                </a:lnTo>
                <a:lnTo>
                  <a:pt x="2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 flipV="1">
            <a:off x="1807167" y="2116043"/>
            <a:ext cx="0" cy="73637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Freeform 76"/>
          <p:cNvSpPr/>
          <p:nvPr/>
        </p:nvSpPr>
        <p:spPr>
          <a:xfrm>
            <a:off x="1790700" y="20955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 flipV="1">
            <a:off x="1406230" y="1659135"/>
            <a:ext cx="0" cy="193656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H="1">
            <a:off x="1284681" y="1659135"/>
            <a:ext cx="121549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Freeform 79"/>
          <p:cNvSpPr/>
          <p:nvPr/>
        </p:nvSpPr>
        <p:spPr>
          <a:xfrm>
            <a:off x="1257300" y="16383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0" y="2"/>
                </a:moveTo>
                <a:lnTo>
                  <a:pt x="3" y="3"/>
                </a:lnTo>
                <a:lnTo>
                  <a:pt x="2" y="2"/>
                </a:lnTo>
                <a:lnTo>
                  <a:pt x="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" name="Connector 80"/>
          <p:cNvCxnSpPr/>
          <p:nvPr/>
        </p:nvCxnSpPr>
        <p:spPr>
          <a:xfrm flipV="1">
            <a:off x="1807167" y="1616815"/>
            <a:ext cx="0" cy="235976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Freeform 81"/>
          <p:cNvSpPr/>
          <p:nvPr/>
        </p:nvSpPr>
        <p:spPr>
          <a:xfrm>
            <a:off x="1790700" y="1587500"/>
            <a:ext cx="38100" cy="50800"/>
          </a:xfrm>
          <a:custGeom>
            <a:avLst/>
            <a:gdLst/>
            <a:ahLst/>
            <a:cxnLst/>
            <a:rect l="l" t="t" r="r" b="b"/>
            <a:pathLst>
              <a:path w="3" h="4">
                <a:moveTo>
                  <a:pt x="1" y="0"/>
                </a:moveTo>
                <a:lnTo>
                  <a:pt x="0" y="4"/>
                </a:lnTo>
                <a:lnTo>
                  <a:pt x="1" y="2"/>
                </a:lnTo>
                <a:lnTo>
                  <a:pt x="3" y="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3" name="Connector 82"/>
          <p:cNvCxnSpPr/>
          <p:nvPr/>
        </p:nvCxnSpPr>
        <p:spPr>
          <a:xfrm flipV="1">
            <a:off x="1807167" y="1308465"/>
            <a:ext cx="0" cy="37379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Freeform 83"/>
          <p:cNvSpPr/>
          <p:nvPr/>
        </p:nvSpPr>
        <p:spPr>
          <a:xfrm>
            <a:off x="1790700" y="12827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1" y="0"/>
                </a:moveTo>
                <a:lnTo>
                  <a:pt x="0" y="3"/>
                </a:lnTo>
                <a:lnTo>
                  <a:pt x="1" y="2"/>
                </a:lnTo>
                <a:lnTo>
                  <a:pt x="3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" name="Connector 84"/>
          <p:cNvCxnSpPr/>
          <p:nvPr/>
        </p:nvCxnSpPr>
        <p:spPr>
          <a:xfrm>
            <a:off x="1135997" y="1159781"/>
            <a:ext cx="522487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Freeform 85"/>
          <p:cNvSpPr/>
          <p:nvPr/>
        </p:nvSpPr>
        <p:spPr>
          <a:xfrm>
            <a:off x="1638300" y="1143000"/>
            <a:ext cx="50800" cy="38100"/>
          </a:xfrm>
          <a:custGeom>
            <a:avLst/>
            <a:gdLst/>
            <a:ahLst/>
            <a:cxnLst/>
            <a:rect l="l" t="t" r="r" b="b"/>
            <a:pathLst>
              <a:path w="4" h="3">
                <a:moveTo>
                  <a:pt x="4" y="1"/>
                </a:moveTo>
                <a:lnTo>
                  <a:pt x="0" y="0"/>
                </a:lnTo>
                <a:lnTo>
                  <a:pt x="2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" name="Connector 86"/>
          <p:cNvCxnSpPr/>
          <p:nvPr/>
        </p:nvCxnSpPr>
        <p:spPr>
          <a:xfrm>
            <a:off x="1929455" y="1159781"/>
            <a:ext cx="207380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Freeform 87"/>
          <p:cNvSpPr/>
          <p:nvPr/>
        </p:nvSpPr>
        <p:spPr>
          <a:xfrm>
            <a:off x="2120900" y="1143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2407807" y="1159781"/>
            <a:ext cx="653453" cy="0"/>
          </a:xfrm>
          <a:prstGeom prst="line">
            <a:avLst/>
          </a:prstGeom>
          <a:ln w="8121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Freeform 89"/>
          <p:cNvSpPr/>
          <p:nvPr/>
        </p:nvSpPr>
        <p:spPr>
          <a:xfrm>
            <a:off x="3048000" y="114300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" h="3">
                <a:moveTo>
                  <a:pt x="3" y="1"/>
                </a:moveTo>
                <a:lnTo>
                  <a:pt x="0" y="0"/>
                </a:lnTo>
                <a:lnTo>
                  <a:pt x="1" y="1"/>
                </a:lnTo>
                <a:lnTo>
                  <a:pt x="0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-2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2880001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3" name="Picture 9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94" name="Picture 9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Gaterd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Recurrent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Units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(GRU)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Architecture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77057" y="1098945"/>
            <a:ext cx="5508338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000000"/>
                </a:solidFill>
                <a:latin typeface="Cambria Math"/>
              </a:rPr>
              <a:t>h</a:t>
            </a:r>
            <a:r>
              <a:rPr sz="639" b="0">
                <a:solidFill>
                  <a:srgbClr val="000000"/>
                </a:solidFill>
                <a:latin typeface="Cambria Math"/>
              </a:rPr>
              <a:t>t</a:t>
            </a:r>
            <a:r>
              <a:rPr sz="639" b="0">
                <a:solidFill>
                  <a:srgbClr val="000000"/>
                </a:solidFill>
                <a:latin typeface="Cambria Math"/>
              </a:rPr>
              <a:t>−</a:t>
            </a:r>
            <a:r>
              <a:rPr sz="639" b="0">
                <a:solidFill>
                  <a:srgbClr val="000000"/>
                </a:solidFill>
                <a:latin typeface="Cambria Math"/>
              </a:rPr>
              <a:t>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21850" y="2691014"/>
            <a:ext cx="4963545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000000"/>
                </a:solidFill>
                <a:latin typeface="Cambria Math"/>
              </a:rPr>
              <a:t>x</a:t>
            </a:r>
            <a:r>
              <a:rPr sz="639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809391" y="765553"/>
            <a:ext cx="2976004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000000"/>
                </a:solidFill>
                <a:latin typeface="Cambria Math"/>
              </a:rPr>
              <a:t>h</a:t>
            </a:r>
            <a:r>
              <a:rPr sz="639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126723" y="1103174"/>
            <a:ext cx="2658672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000000"/>
                </a:solidFill>
                <a:latin typeface="Cambria Math"/>
              </a:rPr>
              <a:t>h</a:t>
            </a:r>
            <a:r>
              <a:rPr sz="639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773406" y="1908273"/>
            <a:ext cx="4011989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000000"/>
                </a:solidFill>
                <a:latin typeface="Cambria Math"/>
              </a:rPr>
              <a:t>σ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372482" y="1908273"/>
            <a:ext cx="4412913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000000"/>
                </a:solidFill>
                <a:latin typeface="Cambria Math"/>
              </a:rPr>
              <a:t>σ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174341" y="1922937"/>
            <a:ext cx="3611054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000000"/>
                </a:solidFill>
                <a:latin typeface="Cambria Math"/>
              </a:rPr>
              <a:t>tanh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28504" y="2116033"/>
            <a:ext cx="4956891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FFFFFF"/>
                </a:solidFill>
                <a:latin typeface="MSAM10"/>
              </a:rPr>
              <a:t>⊞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92774" y="2350088"/>
            <a:ext cx="4692621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FFFFFF"/>
                </a:solidFill>
                <a:latin typeface="MSAM10"/>
              </a:rPr>
              <a:t>⊞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92774" y="1598611"/>
            <a:ext cx="4692621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FFFFFF"/>
                </a:solidFill>
                <a:latin typeface="Cambria Math"/>
              </a:rPr>
              <a:t>×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242281" y="1598611"/>
            <a:ext cx="3543114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FFFFFF"/>
                </a:solidFill>
                <a:latin typeface="Cambria Math"/>
              </a:rPr>
              <a:t>×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242281" y="1100708"/>
            <a:ext cx="3543114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FFFFFF"/>
                </a:solidFill>
                <a:latin typeface="Cambria Math"/>
              </a:rPr>
              <a:t>+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763929" y="1099267"/>
            <a:ext cx="4021466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FFFFFF"/>
                </a:solidFill>
                <a:latin typeface="Cambria Math"/>
              </a:rPr>
              <a:t>×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736140" y="1411004"/>
            <a:ext cx="4049255" cy="1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0">
                <a:solidFill>
                  <a:srgbClr val="FFFFFF"/>
                </a:solidFill>
                <a:latin typeface="Cambria Math"/>
              </a:rPr>
              <a:t>1</a:t>
            </a:r>
            <a:r>
              <a:rPr sz="875" b="0">
                <a:solidFill>
                  <a:srgbClr val="FFFFFF"/>
                </a:solidFill>
                <a:latin typeface="Cambria Math"/>
              </a:rPr>
              <a:t>−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707979" y="1548026"/>
            <a:ext cx="207741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r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σ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W</a:t>
            </a:r>
            <a:r>
              <a:rPr sz="797" b="0">
                <a:solidFill>
                  <a:srgbClr val="000000"/>
                </a:solidFill>
                <a:latin typeface="Cambria Math"/>
              </a:rPr>
              <a:t>r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·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[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h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797" b="0">
                <a:solidFill>
                  <a:srgbClr val="000000"/>
                </a:solidFill>
                <a:latin typeface="Cambria Math"/>
              </a:rPr>
              <a:t>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, 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] +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b</a:t>
            </a:r>
            <a:r>
              <a:rPr sz="797" b="0">
                <a:solidFill>
                  <a:srgbClr val="000000"/>
                </a:solidFill>
                <a:latin typeface="Cambria Math"/>
              </a:rPr>
              <a:t>r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704233" y="1758059"/>
            <a:ext cx="208116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z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σ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W</a:t>
            </a:r>
            <a:r>
              <a:rPr sz="797" b="0">
                <a:solidFill>
                  <a:srgbClr val="000000"/>
                </a:solidFill>
                <a:latin typeface="Cambria Math"/>
              </a:rPr>
              <a:t>z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·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[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h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797" b="0">
                <a:solidFill>
                  <a:srgbClr val="000000"/>
                </a:solidFill>
                <a:latin typeface="Cambria Math"/>
              </a:rPr>
              <a:t>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, 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] +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b</a:t>
            </a:r>
            <a:r>
              <a:rPr sz="797" b="0">
                <a:solidFill>
                  <a:srgbClr val="000000"/>
                </a:solidFill>
                <a:latin typeface="Cambria Math"/>
              </a:rPr>
              <a:t>z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504031" y="1954609"/>
            <a:ext cx="2281364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˜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h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 tanh (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W</a:t>
            </a:r>
            <a:r>
              <a:rPr sz="797" b="0">
                <a:solidFill>
                  <a:srgbClr val="000000"/>
                </a:solidFill>
                <a:latin typeface="Cambria Math"/>
              </a:rPr>
              <a:t>h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·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[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r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·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h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797" b="0">
                <a:solidFill>
                  <a:srgbClr val="000000"/>
                </a:solidFill>
                <a:latin typeface="Cambria Math"/>
              </a:rPr>
              <a:t>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, x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] +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b</a:t>
            </a:r>
            <a:r>
              <a:rPr sz="797" b="0">
                <a:solidFill>
                  <a:srgbClr val="000000"/>
                </a:solidFill>
                <a:latin typeface="Cambria Math"/>
              </a:rPr>
              <a:t>h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695968" y="2185939"/>
            <a:ext cx="208942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Cambria Math"/>
              </a:rPr>
              <a:t>h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= (1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−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z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)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·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h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797" b="0">
                <a:solidFill>
                  <a:srgbClr val="000000"/>
                </a:solidFill>
                <a:latin typeface="Cambria Math"/>
              </a:rPr>
              <a:t>−</a:t>
            </a:r>
            <a:r>
              <a:rPr sz="797" b="0">
                <a:solidFill>
                  <a:srgbClr val="000000"/>
                </a:solidFill>
                <a:latin typeface="Cambria Math"/>
              </a:rPr>
              <a:t>1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+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z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·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 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˜</a:t>
            </a:r>
            <a:r>
              <a:rPr sz="1090" b="0">
                <a:solidFill>
                  <a:srgbClr val="000000"/>
                </a:solidFill>
                <a:latin typeface="Cambria Math"/>
              </a:rPr>
              <a:t>h</a:t>
            </a:r>
            <a:r>
              <a:rPr sz="797" b="0">
                <a:solidFill>
                  <a:srgbClr val="000000"/>
                </a:solidFill>
                <a:latin typeface="Cambria Math"/>
              </a:rPr>
              <a:t>t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898159" y="3150918"/>
            <a:ext cx="88723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638531" y="3150694"/>
            <a:ext cx="146865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5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Gaterd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Recurrent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Units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(GRU)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Strengths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and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Limitations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6" y="896504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GRUs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simpler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LSTMs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because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have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fewer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gates.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0056" y="1154606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tend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train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faster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work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well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LSTMs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certain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tasks.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056" y="1412721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Fewer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parameters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compared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LSTM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(since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fewer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gates),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leading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simpler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7094" y="1628563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model.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0056" y="1842909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Often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faster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train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due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fewer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computations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time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step.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0056" y="2101023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Provides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similar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performance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LSTMs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many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tasks,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especially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with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7094" y="2316852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medium-length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sequences.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98162" y="3150918"/>
            <a:ext cx="88723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42559" y="3150694"/>
            <a:ext cx="14283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359993" y="1287678"/>
            <a:ext cx="1679994" cy="222681"/>
          </a:xfrm>
          <a:prstGeom prst="rect">
            <a:avLst/>
          </a:prstGeom>
          <a:solidFill>
            <a:srgbClr val="D9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040000" y="1287678"/>
            <a:ext cx="1679993" cy="222681"/>
          </a:xfrm>
          <a:prstGeom prst="rect">
            <a:avLst/>
          </a:prstGeom>
          <a:solidFill>
            <a:srgbClr val="E6F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719994" y="1287678"/>
            <a:ext cx="1679994" cy="222681"/>
          </a:xfrm>
          <a:prstGeom prst="rect">
            <a:avLst/>
          </a:prstGeom>
          <a:solidFill>
            <a:srgbClr val="EEE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59993" y="1510360"/>
            <a:ext cx="1679994" cy="779398"/>
          </a:xfrm>
          <a:prstGeom prst="rect">
            <a:avLst/>
          </a:prstGeom>
          <a:solidFill>
            <a:srgbClr val="D9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40000" y="1510360"/>
            <a:ext cx="1679993" cy="779398"/>
          </a:xfrm>
          <a:prstGeom prst="rect">
            <a:avLst/>
          </a:prstGeom>
          <a:solidFill>
            <a:srgbClr val="E6F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719994" y="1510360"/>
            <a:ext cx="1679994" cy="779398"/>
          </a:xfrm>
          <a:prstGeom prst="rect">
            <a:avLst/>
          </a:prstGeom>
          <a:solidFill>
            <a:srgbClr val="EEE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Comparisons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22842" y="1049979"/>
            <a:ext cx="3462553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Memory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handling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2263" y="1322823"/>
            <a:ext cx="474313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RNN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35846" y="1322823"/>
            <a:ext cx="304954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GRU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75937" y="1322823"/>
            <a:ext cx="140945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LSTM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9624" y="1565213"/>
            <a:ext cx="5175771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Struggles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long-term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6066" y="1704393"/>
            <a:ext cx="4949330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memory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due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5548" y="1843572"/>
            <a:ext cx="5279847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vanishing/exploding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gradient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8227" y="1982739"/>
            <a:ext cx="4727169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issues.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33903" y="1565213"/>
            <a:ext cx="3351492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Handles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long-term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279205" y="1704393"/>
            <a:ext cx="3506191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dependencies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similarly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52179" y="1843572"/>
            <a:ext cx="3633216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LSTMs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but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does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so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fewer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401048" y="1982739"/>
            <a:ext cx="3384347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gates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and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a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simpler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588945" y="2121918"/>
            <a:ext cx="3196450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architecture.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13351" y="1565213"/>
            <a:ext cx="1772044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Strong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ability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retain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815841" y="1704393"/>
            <a:ext cx="1969554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long-term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dependencies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due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918101" y="1843572"/>
            <a:ext cx="1867294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its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memory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cell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and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gating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284712" y="1982739"/>
            <a:ext cx="1500683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mechanism.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98161" y="3150917"/>
            <a:ext cx="88723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39675" y="3150693"/>
            <a:ext cx="145720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359993" y="1287221"/>
            <a:ext cx="1679994" cy="222681"/>
          </a:xfrm>
          <a:prstGeom prst="rect">
            <a:avLst/>
          </a:prstGeom>
          <a:solidFill>
            <a:srgbClr val="D9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040000" y="1287221"/>
            <a:ext cx="1679993" cy="222681"/>
          </a:xfrm>
          <a:prstGeom prst="rect">
            <a:avLst/>
          </a:prstGeom>
          <a:solidFill>
            <a:srgbClr val="E6F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719994" y="1287221"/>
            <a:ext cx="1679994" cy="222681"/>
          </a:xfrm>
          <a:prstGeom prst="rect">
            <a:avLst/>
          </a:prstGeom>
          <a:solidFill>
            <a:srgbClr val="EEE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59993" y="1509902"/>
            <a:ext cx="1679994" cy="779398"/>
          </a:xfrm>
          <a:prstGeom prst="rect">
            <a:avLst/>
          </a:prstGeom>
          <a:solidFill>
            <a:srgbClr val="D9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40000" y="1509902"/>
            <a:ext cx="1679993" cy="779398"/>
          </a:xfrm>
          <a:prstGeom prst="rect">
            <a:avLst/>
          </a:prstGeom>
          <a:solidFill>
            <a:srgbClr val="E6F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719994" y="1509902"/>
            <a:ext cx="1679994" cy="779398"/>
          </a:xfrm>
          <a:prstGeom prst="rect">
            <a:avLst/>
          </a:prstGeom>
          <a:solidFill>
            <a:srgbClr val="EEE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Comparisons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29623" y="1050284"/>
            <a:ext cx="325577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Complexity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2263" y="1322366"/>
            <a:ext cx="474313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RNN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35846" y="1322366"/>
            <a:ext cx="304954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GRU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75937" y="1322366"/>
            <a:ext cx="140945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LSTM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5914" y="1564756"/>
            <a:ext cx="5349481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Simplest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architecture,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but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prone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6305" y="1703935"/>
            <a:ext cx="5269090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performance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degradation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0463" y="1843115"/>
            <a:ext cx="5074933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over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long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sequences.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219934" y="1564756"/>
            <a:ext cx="3565461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Slightly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simpler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than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LSTM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208326" y="1703935"/>
            <a:ext cx="3577069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two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gates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(update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and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115908" y="1843115"/>
            <a:ext cx="3669487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reset),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leading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faster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training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61692" y="1982281"/>
            <a:ext cx="3623704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and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comparable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performance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536443" y="2121461"/>
            <a:ext cx="3248952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in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many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cases.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05935" y="1564756"/>
            <a:ext cx="1979460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More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complex,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three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gates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49979" y="1703935"/>
            <a:ext cx="1835417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and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a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memory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cell,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which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871531" y="1843115"/>
            <a:ext cx="1913864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allows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it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perform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better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in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882110" y="1982281"/>
            <a:ext cx="190328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tasks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requiring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memory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over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73283" y="2121461"/>
            <a:ext cx="1612112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long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time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spans.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98161" y="3150917"/>
            <a:ext cx="88723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38532" y="3150693"/>
            <a:ext cx="14686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19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359993" y="1343342"/>
            <a:ext cx="1679994" cy="222681"/>
          </a:xfrm>
          <a:prstGeom prst="rect">
            <a:avLst/>
          </a:prstGeom>
          <a:solidFill>
            <a:srgbClr val="EEE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040000" y="1343342"/>
            <a:ext cx="1679993" cy="222681"/>
          </a:xfrm>
          <a:prstGeom prst="rect">
            <a:avLst/>
          </a:prstGeom>
          <a:solidFill>
            <a:srgbClr val="E6F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719994" y="1343342"/>
            <a:ext cx="1679994" cy="222681"/>
          </a:xfrm>
          <a:prstGeom prst="rect">
            <a:avLst/>
          </a:prstGeom>
          <a:solidFill>
            <a:srgbClr val="D9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59993" y="1566024"/>
            <a:ext cx="1679994" cy="640219"/>
          </a:xfrm>
          <a:prstGeom prst="rect">
            <a:avLst/>
          </a:prstGeom>
          <a:solidFill>
            <a:srgbClr val="EEE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40000" y="1566024"/>
            <a:ext cx="1679993" cy="640219"/>
          </a:xfrm>
          <a:prstGeom prst="rect">
            <a:avLst/>
          </a:prstGeom>
          <a:solidFill>
            <a:srgbClr val="E6F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719994" y="1566024"/>
            <a:ext cx="1679994" cy="640219"/>
          </a:xfrm>
          <a:prstGeom prst="rect">
            <a:avLst/>
          </a:prstGeom>
          <a:solidFill>
            <a:srgbClr val="D9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Comparisons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48013" y="1105643"/>
            <a:ext cx="333738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Training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Time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5948" y="1378500"/>
            <a:ext cx="4769447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LSTM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35846" y="1378500"/>
            <a:ext cx="304954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GRU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02264" y="1378500"/>
            <a:ext cx="138313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RNN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4443" y="1620878"/>
            <a:ext cx="5180952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Slower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train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due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its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3473" y="1760057"/>
            <a:ext cx="5321922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complexity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but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more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robust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for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9627" y="1899236"/>
            <a:ext cx="4955768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long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sequences.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243111" y="1620878"/>
            <a:ext cx="3542284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Faster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train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than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LSTM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284221" y="1760057"/>
            <a:ext cx="3501174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while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maintaining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similar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566618" y="1899236"/>
            <a:ext cx="3218777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performance.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857002" y="1620878"/>
            <a:ext cx="1928393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Generally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faster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train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than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65409" y="1760057"/>
            <a:ext cx="1819986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LSTM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and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GRU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but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less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74032" y="1899236"/>
            <a:ext cx="1911363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effective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in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terms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learning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30967" y="2038415"/>
            <a:ext cx="1854429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longer-term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dependencies.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98161" y="3150917"/>
            <a:ext cx="88723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17133" y="3150693"/>
            <a:ext cx="16826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359993" y="1271181"/>
            <a:ext cx="1679994" cy="222681"/>
          </a:xfrm>
          <a:prstGeom prst="rect">
            <a:avLst/>
          </a:prstGeom>
          <a:solidFill>
            <a:srgbClr val="D9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040000" y="1271181"/>
            <a:ext cx="1679993" cy="222681"/>
          </a:xfrm>
          <a:prstGeom prst="rect">
            <a:avLst/>
          </a:prstGeom>
          <a:solidFill>
            <a:srgbClr val="E6F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719994" y="1271181"/>
            <a:ext cx="1679994" cy="222681"/>
          </a:xfrm>
          <a:prstGeom prst="rect">
            <a:avLst/>
          </a:prstGeom>
          <a:solidFill>
            <a:srgbClr val="EEE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59993" y="1493850"/>
            <a:ext cx="1679994" cy="779398"/>
          </a:xfrm>
          <a:prstGeom prst="rect">
            <a:avLst/>
          </a:prstGeom>
          <a:solidFill>
            <a:srgbClr val="D9E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40000" y="1493850"/>
            <a:ext cx="1679993" cy="779398"/>
          </a:xfrm>
          <a:prstGeom prst="rect">
            <a:avLst/>
          </a:prstGeom>
          <a:solidFill>
            <a:srgbClr val="E6F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719994" y="1493850"/>
            <a:ext cx="1679994" cy="779398"/>
          </a:xfrm>
          <a:prstGeom prst="rect">
            <a:avLst/>
          </a:prstGeom>
          <a:solidFill>
            <a:srgbClr val="EEE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Comparisons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58579" y="1060977"/>
            <a:ext cx="3226816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1">
                <a:solidFill>
                  <a:srgbClr val="000000"/>
                </a:solidFill>
                <a:latin typeface="Josefin Sans"/>
              </a:rPr>
              <a:t>Use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1">
                <a:solidFill>
                  <a:srgbClr val="000000"/>
                </a:solidFill>
                <a:latin typeface="Josefin Sans"/>
              </a:rPr>
              <a:t>Cases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2263" y="1306326"/>
            <a:ext cx="4743132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RNN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35846" y="1306326"/>
            <a:ext cx="304954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GRU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75937" y="1306326"/>
            <a:ext cx="140945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LSTM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3409" y="1548703"/>
            <a:ext cx="5321986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Short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sequence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tasks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like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basic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1984" y="1687883"/>
            <a:ext cx="5243411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sentiment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analysis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or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where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8426" y="1827062"/>
            <a:ext cx="5316969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past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information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less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critical.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258085" y="1548703"/>
            <a:ext cx="3527311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Medium-length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sequences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38806" y="1687883"/>
            <a:ext cx="3646589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where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computational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efficiency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115921" y="1827062"/>
            <a:ext cx="3669474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is needed without sacrificing too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74849" y="1966241"/>
            <a:ext cx="3610546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much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accuracy,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e.g.,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real-time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22766" y="2105421"/>
            <a:ext cx="3462629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predictions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or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chatbots.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67746" y="1548703"/>
            <a:ext cx="1817649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Long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sequence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tasks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like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76661" y="1687883"/>
            <a:ext cx="1708734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machine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translation,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914228" y="1827062"/>
            <a:ext cx="1871167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speech-to-text,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handwriting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023829" y="1966241"/>
            <a:ext cx="1761566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recognition,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and</a:t>
            </a:r>
            <a:r>
              <a:rPr sz="896" b="0">
                <a:solidFill>
                  <a:srgbClr val="000000"/>
                </a:solidFill>
                <a:latin typeface="Josefin Sans"/>
              </a:rPr>
              <a:t> </a:t>
            </a:r>
            <a:r>
              <a:rPr sz="896" b="0">
                <a:solidFill>
                  <a:srgbClr val="000000"/>
                </a:solidFill>
                <a:latin typeface="Josefin Sans"/>
              </a:rPr>
              <a:t>music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292853" y="2105421"/>
            <a:ext cx="1492542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000000"/>
                </a:solidFill>
                <a:latin typeface="Josefin Sans"/>
              </a:rPr>
              <a:t>generation.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98161" y="3150917"/>
            <a:ext cx="88723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40209" y="3150693"/>
            <a:ext cx="14518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Design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a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neural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network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0057" y="930908"/>
            <a:ext cx="532533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Data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conditioning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7" y="1189023"/>
            <a:ext cx="532533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Number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hidden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layers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0057" y="1447138"/>
            <a:ext cx="532533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Number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neurons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hidden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layers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057" y="1705253"/>
            <a:ext cx="532533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Activation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functions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0057" y="1963367"/>
            <a:ext cx="532533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Connections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0057" y="2221470"/>
            <a:ext cx="5325338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Learning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algorithm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98161" y="3150917"/>
            <a:ext cx="88723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25629" y="3150693"/>
            <a:ext cx="15976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797076" y="1191195"/>
            <a:ext cx="47828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7076" y="1429065"/>
            <a:ext cx="47828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97076" y="1818765"/>
            <a:ext cx="47828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97076" y="2208465"/>
            <a:ext cx="47828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7076" y="2446336"/>
            <a:ext cx="47828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7076" y="2684207"/>
            <a:ext cx="47828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-2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880002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Design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a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neural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network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Data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conditioning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0056" y="608925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Representation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data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(categorical,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continuous,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discrete).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0056" y="846795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Data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for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training,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testing,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validation.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183" y="1138019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training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data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used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train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network,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183" y="1375890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from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time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time,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performance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evaluated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using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183" y="1527718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validation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data,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183" y="1765590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when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training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terminated,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tested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183" y="1917418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testing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data.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183" y="2155290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training,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validation,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testing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data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are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independent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of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other.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4183" y="2393161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available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data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split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into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different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proportions.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183" y="2631032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training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data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has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the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largest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proportion;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proportions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for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validation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and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testing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data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4183" y="2782860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are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similar.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898159" y="3150916"/>
            <a:ext cx="88723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24636" y="3150692"/>
            <a:ext cx="16075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-2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2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Design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a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neural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network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Number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of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hidden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layers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&amp;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number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of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hidden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neurons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6" y="1240649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Hidden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layers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useful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identifying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hidden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features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patterns.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0056" y="1498763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Does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mean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should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use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many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hidden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neurons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possible?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056" y="1756878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No.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Overfitting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might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happen.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98159" y="3150917"/>
            <a:ext cx="88723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25932" y="3150693"/>
            <a:ext cx="15946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3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5" y="3146743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Overfitting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0056" y="827670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problem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overfitting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occurs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simply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memorise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training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094" y="1043499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data.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0056" y="1257857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overfitted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unable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generalise.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056" y="1515972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be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unable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identify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correct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output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when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presented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7094" y="1731802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data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part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training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data.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0056" y="1946160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prevent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overfitting,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should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choose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smallest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number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hidden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neurons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7094" y="2161989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that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yields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good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generalisation.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0056" y="2376347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Occasional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check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with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validation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data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another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approach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to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prevent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overfitting.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98162" y="3150918"/>
            <a:ext cx="887233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24106" y="3150694"/>
            <a:ext cx="16128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-2" y="3146740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2" y="3146740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Design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a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neural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network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Activation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functions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6" y="1171814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mentioned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previously,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different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type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activation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functions: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linear,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7094" y="1387656"/>
            <a:ext cx="5148301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0000"/>
                </a:solidFill>
                <a:latin typeface="Josefin Sans"/>
              </a:rPr>
              <a:t>sign,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step,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sigmoid.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056" y="1602001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Generally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each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layer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will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have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same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type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of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activation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function.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0056" y="1860115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Activation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functions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in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different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layers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are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not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necessarily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the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same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type.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98159" y="3150916"/>
            <a:ext cx="88723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23964" y="3150692"/>
            <a:ext cx="161432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0" y="3146741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880004" y="3146741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Design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a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neural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network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Connections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056" y="1353068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Feedforward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0056" y="1611170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Recurrent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network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98161" y="3150916"/>
            <a:ext cx="88723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27979" y="3150692"/>
            <a:ext cx="15741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59996" cy="3239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01605" y="3061969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4196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597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3748" y="3072091"/>
            <a:ext cx="43019" cy="30366"/>
          </a:xfrm>
          <a:prstGeom prst="rect">
            <a:avLst/>
          </a:prstGeom>
          <a:noFill/>
          <a:ln w="5060">
            <a:solidFill>
              <a:srgbClr val="99AD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4764240" y="3061817"/>
            <a:ext cx="0" cy="1016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64240" y="3061817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07421" y="3061817"/>
            <a:ext cx="0" cy="3048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797260" y="3092297"/>
            <a:ext cx="1016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774400" y="3051656"/>
            <a:ext cx="0" cy="1016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74400" y="3051656"/>
            <a:ext cx="43181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17581" y="3051656"/>
            <a:ext cx="0" cy="30481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07421" y="3082137"/>
            <a:ext cx="10160" cy="0"/>
          </a:xfrm>
          <a:prstGeom prst="line">
            <a:avLst/>
          </a:prstGeom>
          <a:ln w="5060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/>
          <p:cNvSpPr/>
          <p:nvPr/>
        </p:nvSpPr>
        <p:spPr>
          <a:xfrm>
            <a:off x="46863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48641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048072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Freeform 17"/>
          <p:cNvSpPr/>
          <p:nvPr/>
        </p:nvSpPr>
        <p:spPr>
          <a:xfrm>
            <a:off x="49530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1308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035372" y="3051656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48072" y="30770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35372" y="30897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48072" y="3102457"/>
            <a:ext cx="38101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965" y="3051656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316665" y="30643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16665" y="3077057"/>
            <a:ext cx="38100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2324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2" y="3"/>
                </a:move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5410200" y="3060700"/>
            <a:ext cx="25400" cy="38100"/>
          </a:xfrm>
          <a:custGeom>
            <a:avLst/>
            <a:gdLst/>
            <a:ahLst/>
            <a:cxnLst/>
            <a:rect l="l" t="t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CCD6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5303965" y="30897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316665" y="3102457"/>
            <a:ext cx="38100" cy="0"/>
          </a:xfrm>
          <a:prstGeom prst="line">
            <a:avLst/>
          </a:prstGeom>
          <a:ln w="7591">
            <a:solidFill>
              <a:srgbClr val="CCD6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2544" y="3051656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585244" y="30643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85244" y="30770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72544" y="30897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85244" y="3102457"/>
            <a:ext cx="38101" cy="0"/>
          </a:xfrm>
          <a:prstGeom prst="line">
            <a:avLst/>
          </a:prstGeom>
          <a:ln w="7591">
            <a:solidFill>
              <a:srgbClr val="99AD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797076" y="1744878"/>
            <a:ext cx="47828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7076" y="1982749"/>
            <a:ext cx="47828" cy="47828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-2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880002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04" y="63277"/>
            <a:ext cx="575962" cy="231502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703" y="88661"/>
            <a:ext cx="575974" cy="206117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08000" y="127151"/>
            <a:ext cx="5677395" cy="2824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4" b="1">
                <a:solidFill>
                  <a:srgbClr val="914300"/>
                </a:solidFill>
                <a:latin typeface="Josefin Sans"/>
              </a:rPr>
              <a:t>Design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a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neural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 </a:t>
            </a:r>
            <a:r>
              <a:rPr sz="1434" b="1">
                <a:solidFill>
                  <a:srgbClr val="914300"/>
                </a:solidFill>
                <a:latin typeface="Josefin Sans"/>
              </a:rPr>
              <a:t>network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000" y="359888"/>
            <a:ext cx="5677395" cy="17650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6" b="1">
                <a:solidFill>
                  <a:srgbClr val="003373"/>
                </a:solidFill>
                <a:latin typeface="Josefin Sans"/>
              </a:rPr>
              <a:t>Learning</a:t>
            </a:r>
            <a:r>
              <a:rPr sz="896" b="1">
                <a:solidFill>
                  <a:srgbClr val="003373"/>
                </a:solidFill>
                <a:latin typeface="Josefin Sans"/>
              </a:rPr>
              <a:t> </a:t>
            </a:r>
            <a:r>
              <a:rPr sz="896" b="1">
                <a:solidFill>
                  <a:srgbClr val="003373"/>
                </a:solidFill>
                <a:latin typeface="Josefin Sans"/>
              </a:rPr>
              <a:t>algorithms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0056" y="1162607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Supervised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learning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0056" y="1400478"/>
            <a:ext cx="5325339" cy="21474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0" b="0">
                <a:solidFill>
                  <a:srgbClr val="003373"/>
                </a:solidFill>
                <a:latin typeface="MSAM10"/>
              </a:rPr>
              <a:t>▶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Unsupervised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 </a:t>
            </a:r>
            <a:r>
              <a:rPr sz="1090" b="0">
                <a:solidFill>
                  <a:srgbClr val="000000"/>
                </a:solidFill>
                <a:latin typeface="Josefin Sans"/>
              </a:rPr>
              <a:t>learning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183" y="1691702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Hebbian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learning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183" y="1929573"/>
            <a:ext cx="4871212" cy="19611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6" b="0">
                <a:solidFill>
                  <a:srgbClr val="000000"/>
                </a:solidFill>
                <a:latin typeface="Josefin Sans"/>
              </a:rPr>
              <a:t>Competitive</a:t>
            </a:r>
            <a:r>
              <a:rPr sz="996" b="0">
                <a:solidFill>
                  <a:srgbClr val="000000"/>
                </a:solidFill>
                <a:latin typeface="Josefin Sans"/>
              </a:rPr>
              <a:t> </a:t>
            </a:r>
            <a:r>
              <a:rPr sz="996" b="0">
                <a:solidFill>
                  <a:srgbClr val="000000"/>
                </a:solidFill>
                <a:latin typeface="Josefin Sans"/>
              </a:rPr>
              <a:t>learning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98159" y="3150918"/>
            <a:ext cx="887236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25094" y="3150694"/>
            <a:ext cx="160301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60073" cy="32400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46742"/>
            <a:ext cx="2880004" cy="93256"/>
          </a:xfrm>
          <a:prstGeom prst="rect">
            <a:avLst/>
          </a:prstGeom>
          <a:solidFill>
            <a:srgbClr val="26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880004" y="3146742"/>
            <a:ext cx="2880004" cy="93256"/>
          </a:xfrm>
          <a:prstGeom prst="rect">
            <a:avLst/>
          </a:prstGeom>
          <a:solidFill>
            <a:srgbClr val="003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759988" cy="32399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22610" y="1461234"/>
            <a:ext cx="1662785" cy="4879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78" b="1">
                <a:solidFill>
                  <a:srgbClr val="FFFFFF"/>
                </a:solidFill>
                <a:latin typeface="Josefin Sans"/>
              </a:rPr>
              <a:t>Thank</a:t>
            </a:r>
            <a:r>
              <a:rPr sz="2478" b="1">
                <a:solidFill>
                  <a:srgbClr val="914300"/>
                </a:solidFill>
                <a:latin typeface="Josefin Sans"/>
              </a:rPr>
              <a:t> </a:t>
            </a:r>
            <a:r>
              <a:rPr sz="2478" b="1">
                <a:solidFill>
                  <a:srgbClr val="914300"/>
                </a:solidFill>
                <a:latin typeface="Josefin Sans"/>
              </a:rPr>
              <a:t>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98161" y="3150918"/>
            <a:ext cx="887234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1">
                <a:solidFill>
                  <a:srgbClr val="FFFFFF"/>
                </a:solidFill>
                <a:latin typeface="Josefin Sans"/>
              </a:rPr>
              <a:t>Created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with</a:t>
            </a:r>
            <a:r>
              <a:rPr sz="597" b="1">
                <a:solidFill>
                  <a:srgbClr val="FFFFFF"/>
                </a:solidFill>
                <a:latin typeface="Josefin Sans"/>
              </a:rPr>
              <a:t> </a:t>
            </a:r>
            <a:r>
              <a:rPr sz="597" b="1">
                <a:solidFill>
                  <a:srgbClr val="FFFFFF"/>
                </a:solidFill>
                <a:latin typeface="Josefin Sans"/>
              </a:rPr>
              <a:t>L</a:t>
            </a:r>
            <a:r>
              <a:rPr sz="498" b="1">
                <a:solidFill>
                  <a:srgbClr val="FFFFFF"/>
                </a:solidFill>
                <a:latin typeface="Josefin Sans"/>
              </a:rPr>
              <a:t>A</a:t>
            </a:r>
            <a:r>
              <a:rPr sz="597" b="1">
                <a:solidFill>
                  <a:srgbClr val="FFFFFF"/>
                </a:solidFill>
                <a:latin typeface="Josefin Sans"/>
              </a:rPr>
              <a:t>TEX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966" y="3150694"/>
            <a:ext cx="161429" cy="1176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7" b="0">
                <a:solidFill>
                  <a:srgbClr val="FFFFFF"/>
                </a:solidFill>
                <a:latin typeface="Josefin Sans"/>
              </a:rPr>
              <a:t>29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9284" y="479056"/>
            <a:ext cx="4181140" cy="14348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8" b="0">
                <a:solidFill>
                  <a:srgbClr val="0D3361"/>
                </a:solidFill>
                <a:latin typeface="Arial"/>
              </a:rPr>
              <a:t>CSC3034 Current Course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9284" y="722056"/>
            <a:ext cx="4181140" cy="23914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14" b="1">
                <a:solidFill>
                  <a:srgbClr val="0D3361"/>
                </a:solidFill>
                <a:latin typeface="Arial"/>
              </a:rPr>
              <a:t>08 Recurrent Neural Network - handout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9284" y="1027928"/>
            <a:ext cx="4181140" cy="11957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7" b="0">
                <a:solidFill>
                  <a:srgbClr val="1A1A1A"/>
                </a:solidFill>
                <a:latin typeface="Arial"/>
              </a:rPr>
              <a:t>Synchronized from the current CSC3034 course site on 14 August 2026.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998" y="1367356"/>
            <a:ext cx="4065426" cy="11957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7" b="0">
                <a:solidFill>
                  <a:srgbClr val="1A1A1A"/>
                </a:solidFill>
                <a:latin typeface="Arial"/>
              </a:rPr>
              <a:t>•  Current Lab 8b uses a Keras Embedding/LSTM pipeline for IMDb sentiment analysis.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998" y="1629642"/>
            <a:ext cx="4065426" cy="11957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7" b="0">
                <a:solidFill>
                  <a:srgbClr val="1A1A1A"/>
                </a:solidFill>
                <a:latin typeface="Arial"/>
              </a:rPr>
              <a:t>•  The practical covers preprocessing, training, evaluation, and prediction.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998" y="1891927"/>
            <a:ext cx="4065426" cy="11957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7" b="0">
                <a:solidFill>
                  <a:srgbClr val="1A1A1A"/>
                </a:solidFill>
                <a:latin typeface="Arial"/>
              </a:rPr>
              <a:t>•  Deep-learning requirements are separated from the core lab environment.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9284" y="2670916"/>
            <a:ext cx="4181140" cy="13152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8" b="1">
                <a:solidFill>
                  <a:srgbClr val="0D3361"/>
                </a:solidFill>
                <a:latin typeface="Arial"/>
              </a:rPr>
              <a:t>Current materials author: Dr Tang Tiong Yew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9284" y="2856791"/>
            <a:ext cx="4181140" cy="1076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6" b="0">
                <a:solidFill>
                  <a:srgbClr val="0D3361"/>
                </a:solidFill>
                <a:latin typeface="Arial"/>
              </a:rPr>
              <a:t>See the synchronized lab notes and runnable examples for full instructions.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08 Recurrent Neural Network - handout</dc:title>
  <dc:subject>Editable objects converted from 08 Recurrent Neural Network - handout.pdf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