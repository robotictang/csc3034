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681580"/>
            <a:ext cx="1587500" cy="243587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681581"/>
            <a:ext cx="1587500" cy="25717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681582"/>
            <a:ext cx="1587500" cy="2707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681584"/>
            <a:ext cx="1587500" cy="28435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Performance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40493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4536" y="3150917"/>
            <a:ext cx="8808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564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50542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64131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77720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91309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U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4123" y="3150565"/>
            <a:ext cx="12127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Introduction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6212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Under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topic,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metrics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3419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intelligence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075" y="1401647"/>
            <a:ext cx="52773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8075" y="1573732"/>
            <a:ext cx="52773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8075" y="1745803"/>
            <a:ext cx="52773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100" y="1961396"/>
            <a:ext cx="510029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effectiveness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75" y="2089947"/>
            <a:ext cx="52773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4065" y="1487687"/>
            <a:ext cx="260133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contingency/confusion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84065" y="1659760"/>
            <a:ext cx="260133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characteristic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1090" y="1875366"/>
            <a:ext cx="24243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(ROC)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84065" y="2003918"/>
            <a:ext cx="260133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4534" y="3150918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3131" y="3150564"/>
            <a:ext cx="1222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Gold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03415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‘right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answer’.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9227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50786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67993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89453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211012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3284" y="3150564"/>
            <a:ext cx="1221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2598" y="3150565"/>
            <a:ext cx="1227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Percent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correct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42183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answers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judged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59390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according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04536" y="3150917"/>
            <a:ext cx="8808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2447" y="3150564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6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79997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Percent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correct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83312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limitation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1" y="1176272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Suppose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group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100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stocks.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intelligence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tool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1" y="1328101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whether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Jones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0" y="1613802"/>
            <a:ext cx="54254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month,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90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accurately,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0" y="1765630"/>
            <a:ext cx="54254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correctly.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88" y="2051330"/>
            <a:ext cx="54254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month,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85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accurately,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88" y="2203158"/>
            <a:ext cx="54254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were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correctly.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88" y="2488845"/>
            <a:ext cx="542540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decreased,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however,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ability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could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improved.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4529" y="3150920"/>
            <a:ext cx="8808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6466" y="3150566"/>
            <a:ext cx="11892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00474" y="1302488"/>
            <a:ext cx="10403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37215" y="2148994"/>
            <a:ext cx="11668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Percent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correct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664729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possible?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902602"/>
            <a:ext cx="542540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Suppose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half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month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outperformed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Jones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0383" y="1147990"/>
            <a:ext cx="42750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9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50 + 0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6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25747" y="1322019"/>
            <a:ext cx="255964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91125" y="1235228"/>
            <a:ext cx="189427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1" y="1749121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70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stocks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month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outperformed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Dow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Jones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average,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47124" y="1994509"/>
            <a:ext cx="433827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70 + 0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55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×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25746" y="2168538"/>
            <a:ext cx="255964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54383" y="2081746"/>
            <a:ext cx="18310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1" y="2595627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accuracy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increased,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though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predictive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accuracy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1" y="2747456"/>
            <a:ext cx="542540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individual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metrics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decreased.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20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3589" y="3150566"/>
            <a:ext cx="121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Percent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correct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465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showing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5" y="1361096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misleading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method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3" y="1576702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performace,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5" y="1791282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metric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3" y="2006888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4" y="3150918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2445" y="3150564"/>
            <a:ext cx="122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Percent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correct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1496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Note: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implementations,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often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establish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ranges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88704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answers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4" y="1175040"/>
            <a:ext cx="54254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example,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vary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want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define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4" y="1314219"/>
            <a:ext cx="54254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range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3929" y="1531910"/>
            <a:ext cx="350146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0.8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1.0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considered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7026" y="1671089"/>
            <a:ext cx="35183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0.0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0.2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considered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1939757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extreme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case,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64180" y="2149650"/>
            <a:ext cx="352121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0.5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1.0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considered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6870" y="2288830"/>
            <a:ext cx="353852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0.0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0.5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considered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93" y="2559937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manipulation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metric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introduces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subjectivity,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improve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its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usefulness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practical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993" y="2699116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sense.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31700" y="3150564"/>
            <a:ext cx="1536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54775" y="3150565"/>
            <a:ext cx="1306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74148" y="1382979"/>
            <a:ext cx="262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27178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474148" y="1382979"/>
            <a:ext cx="263456" cy="6586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2717800" y="142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3"/>
                </a:moveTo>
                <a:lnTo>
                  <a:pt x="1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2474148" y="1317115"/>
            <a:ext cx="263456" cy="658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7178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1"/>
                </a:moveTo>
                <a:lnTo>
                  <a:pt x="0" y="0"/>
                </a:lnTo>
                <a:lnTo>
                  <a:pt x="2" y="2"/>
                </a:lnTo>
                <a:lnTo>
                  <a:pt x="1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906153" y="1382979"/>
            <a:ext cx="262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31496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2906153" y="1389115"/>
            <a:ext cx="263455" cy="65863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3149600" y="1371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1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2906153" y="1310979"/>
            <a:ext cx="263455" cy="6586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1496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1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830853" y="1382979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146300" y="1358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3499622" y="1382979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3822700" y="1358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756556" y="2329637"/>
            <a:ext cx="147434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Average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sum-squared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9993" y="5482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often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993" y="72035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terminated.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2" y="978467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69450" y="1294132"/>
            <a:ext cx="351594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77474" y="1284289"/>
            <a:ext cx="25079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69400" y="1309105"/>
            <a:ext cx="411599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8321" y="1283400"/>
            <a:ext cx="187707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12605" y="1814686"/>
            <a:ext cx="40727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60190" y="1673239"/>
            <a:ext cx="28252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07688" y="1785241"/>
            <a:ext cx="28777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09695" y="2015999"/>
            <a:ext cx="287570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5135" y="1665860"/>
            <a:ext cx="25802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30903" y="1785241"/>
            <a:ext cx="26544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7583" y="2012621"/>
            <a:ext cx="264781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54118" y="1782573"/>
            <a:ext cx="24312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40812" y="2162266"/>
            <a:ext cx="39445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69459" y="2351039"/>
            <a:ext cx="20159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42387" y="2706798"/>
            <a:ext cx="424300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8099" y="2878870"/>
            <a:ext cx="385729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q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04534" y="3150930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40207" y="3150576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5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79999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Average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sum-squared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2607" y="1052598"/>
            <a:ext cx="40727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0191" y="911150"/>
            <a:ext cx="28252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689" y="1023165"/>
            <a:ext cx="28777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9696" y="1253923"/>
            <a:ext cx="287569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5136" y="903784"/>
            <a:ext cx="25802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30905" y="1023165"/>
            <a:ext cx="26544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37585" y="1250545"/>
            <a:ext cx="26478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4120" y="1020497"/>
            <a:ext cx="24312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145385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original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definition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Rumelhart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McClelland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(1986)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93" y="162592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multiplier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0.5,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‘neat’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differentiation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simplifies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elsewhere.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991" y="198877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implementations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ignore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factor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reduce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0" y="2351630"/>
            <a:ext cx="5425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important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aware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you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0" y="2523702"/>
            <a:ext cx="5425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1" y="3150919"/>
            <a:ext cx="8808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9213" y="3150565"/>
            <a:ext cx="1461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695751" y="2320051"/>
            <a:ext cx="1715833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3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Average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sum-squared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79854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summed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97061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33347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150554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misleading.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186839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3232" y="2150122"/>
            <a:ext cx="44521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26879" y="2338882"/>
            <a:ext cx="30585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4535" y="3150921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39370" y="3150567"/>
            <a:ext cx="1460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8684" y="3150565"/>
            <a:ext cx="1467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472611" y="1395831"/>
            <a:ext cx="188468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Absolute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7039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intuitive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human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1" y="1067492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absolute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842" y="1322186"/>
            <a:ext cx="37735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ma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32199" y="1228460"/>
            <a:ext cx="325319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72611" y="1417220"/>
            <a:ext cx="33127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mq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51846" y="1178180"/>
            <a:ext cx="30335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9344" y="1290182"/>
            <a:ext cx="308605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01351" y="1520940"/>
            <a:ext cx="308404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6791" y="1170814"/>
            <a:ext cx="27886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2559" y="1290182"/>
            <a:ext cx="28628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9240" y="1517562"/>
            <a:ext cx="28561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45762" y="1320391"/>
            <a:ext cx="263963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|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|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5912" y="1734714"/>
            <a:ext cx="53494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624" y="1906787"/>
            <a:ext cx="496377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q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9991" y="2271172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Maximum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absolute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1598" y="2445170"/>
            <a:ext cx="359379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max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max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5051" y="2443375"/>
            <a:ext cx="30403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k,j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|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|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04534" y="3150917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8531" y="315056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2558" y="3150565"/>
            <a:ext cx="1428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49167" y="2273960"/>
            <a:ext cx="121641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400105" y="2753347"/>
            <a:ext cx="345960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Normalised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5476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71970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doing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becomes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independent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39021" y="1228455"/>
            <a:ext cx="39463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86606" y="1087007"/>
            <a:ext cx="26987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34105" y="1199010"/>
            <a:ext cx="27512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6111" y="1429768"/>
            <a:ext cx="27492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1564" y="1079641"/>
            <a:ext cx="24538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7320" y="1199010"/>
            <a:ext cx="2528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64013" y="1426390"/>
            <a:ext cx="25213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80535" y="1196342"/>
            <a:ext cx="230486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86190" y="1716796"/>
            <a:ext cx="41992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86606" y="1575335"/>
            <a:ext cx="26987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34105" y="1687350"/>
            <a:ext cx="27512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36111" y="1918108"/>
            <a:ext cx="27492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1564" y="1567969"/>
            <a:ext cx="245383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7320" y="1687350"/>
            <a:ext cx="2528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64013" y="1914730"/>
            <a:ext cx="25213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80535" y="1684682"/>
            <a:ext cx="230486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24417" y="2106602"/>
            <a:ext cx="36609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49167" y="2295362"/>
            <a:ext cx="2936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61587" y="2056309"/>
            <a:ext cx="272380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09085" y="2168324"/>
            <a:ext cx="27763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11092" y="2399082"/>
            <a:ext cx="277430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32301" y="2200328"/>
            <a:ext cx="255309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98749" y="2677144"/>
            <a:ext cx="37866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99368" y="2585977"/>
            <a:ext cx="22860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00105" y="2774749"/>
            <a:ext cx="23852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04534" y="3150918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9673" y="3150564"/>
            <a:ext cx="1457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Normalised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0786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reflects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proportion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7993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variance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architecture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itself.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5" y="1742793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believed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measure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5" y="1914865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back-propagation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implementations.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7" y="3150918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8534" y="3150564"/>
            <a:ext cx="146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Normalised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1302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issue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happens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88509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change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always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7755" y="1301162"/>
            <a:ext cx="41776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171" y="1159715"/>
            <a:ext cx="267722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55682" y="1271717"/>
            <a:ext cx="272971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57689" y="1502475"/>
            <a:ext cx="27277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k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3129" y="1152349"/>
            <a:ext cx="24322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8897" y="1271717"/>
            <a:ext cx="25064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85578" y="1499097"/>
            <a:ext cx="249981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02100" y="1269049"/>
            <a:ext cx="228329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538" y="1759353"/>
            <a:ext cx="53828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kj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µ</a:t>
            </a:r>
            <a:r>
              <a:rPr sz="797" b="0">
                <a:solidFill>
                  <a:srgbClr val="000000"/>
                </a:solidFill>
                <a:latin typeface="Cambria Math"/>
              </a:rPr>
              <a:t>j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becomes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decreases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5" y="2122204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‘artificially’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larger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5" y="2485055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overcome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situation,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suggested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remove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995" y="2657127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change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4537" y="3150917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17134" y="3150563"/>
            <a:ext cx="1682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U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0208" y="3150565"/>
            <a:ext cx="14518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1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96532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Mann-Whitney-Wilcoxon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Wilcoxon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rank-sum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2343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analyse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48155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69714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9117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216985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4534" y="3150915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5627" y="3150561"/>
            <a:ext cx="1597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17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320" y="1542284"/>
            <a:ext cx="5284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4" y="1800399"/>
            <a:ext cx="53106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4537" y="3150917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4640" y="3150564"/>
            <a:ext cx="1607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1035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Calculation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703" y="1573208"/>
            <a:ext cx="49016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Method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quick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3703" y="1936060"/>
            <a:ext cx="49016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Method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4536" y="3150917"/>
            <a:ext cx="8808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5934" y="3150564"/>
            <a:ext cx="1594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51174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8" y="726336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running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minimisation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optimum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(lower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6" y="941929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better)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8" y="1156523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evolutionary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6" y="137211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“baseline”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5" y="1630231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40078" y="1888117"/>
            <a:ext cx="40453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0.079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23464" y="1888117"/>
            <a:ext cx="35619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13223" y="1888117"/>
            <a:ext cx="30721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0.073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97439" y="1888117"/>
            <a:ext cx="25879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0.047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81379" y="1888117"/>
            <a:ext cx="2104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14646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4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87714" y="2404346"/>
            <a:ext cx="37976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0.102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47824" y="2404346"/>
            <a:ext cx="333757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0.069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0630" y="2404346"/>
            <a:ext cx="284476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0.055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32883" y="2404346"/>
            <a:ext cx="235251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993" y="266267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respectively.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86532" y="2870311"/>
            <a:ext cx="33988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MSAM10"/>
              </a:rPr>
              <a:t>∴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5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04535" y="3150916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4105" y="3150562"/>
            <a:ext cx="1612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40713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40230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45105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50706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54464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60470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460177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59300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263566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45671" y="89973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40713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440230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45105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50706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54464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60470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460177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859300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63566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645671" y="1075601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38186" y="897191"/>
            <a:ext cx="40458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37702" y="897191"/>
            <a:ext cx="40994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42579" y="897191"/>
            <a:ext cx="4106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48165" y="897191"/>
            <a:ext cx="4088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51936" y="897191"/>
            <a:ext cx="41106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57930" y="897191"/>
            <a:ext cx="40477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57650" y="897191"/>
            <a:ext cx="4041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856760" y="897191"/>
            <a:ext cx="40933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261039" y="897191"/>
            <a:ext cx="3871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38186" y="1073061"/>
            <a:ext cx="40458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437702" y="1073061"/>
            <a:ext cx="40994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842579" y="1073061"/>
            <a:ext cx="4106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48165" y="1073061"/>
            <a:ext cx="4088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651936" y="1073061"/>
            <a:ext cx="41106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57930" y="1073061"/>
            <a:ext cx="40477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57650" y="1073061"/>
            <a:ext cx="4041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56760" y="1073061"/>
            <a:ext cx="40933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261039" y="1073061"/>
            <a:ext cx="3871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38186" y="1248931"/>
            <a:ext cx="40458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37702" y="1248931"/>
            <a:ext cx="40994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842579" y="1248931"/>
            <a:ext cx="4106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48165" y="1248931"/>
            <a:ext cx="4088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651936" y="1248931"/>
            <a:ext cx="41106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057930" y="1248931"/>
            <a:ext cx="40477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57650" y="1248931"/>
            <a:ext cx="4041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856760" y="1248931"/>
            <a:ext cx="40933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261039" y="1248931"/>
            <a:ext cx="3871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350907" y="1776096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689413" y="1776096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3076280" y="1776096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3450346" y="1776096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820322" y="1776096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405821" y="1960336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350904" y="1960336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689410" y="1960336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076278" y="1960336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450344" y="1960336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820320" y="1960336"/>
            <a:ext cx="0" cy="17586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348377" y="1773557"/>
            <a:ext cx="3435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686883" y="1773557"/>
            <a:ext cx="39192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73750" y="1773557"/>
            <a:ext cx="379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447803" y="1773557"/>
            <a:ext cx="37504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403281" y="1957796"/>
            <a:ext cx="950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348377" y="1957796"/>
            <a:ext cx="3435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686883" y="1957796"/>
            <a:ext cx="39192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073750" y="1957796"/>
            <a:ext cx="379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447803" y="1957796"/>
            <a:ext cx="37504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403281" y="2133665"/>
            <a:ext cx="950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348377" y="2133665"/>
            <a:ext cx="34357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686883" y="2133665"/>
            <a:ext cx="39192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073750" y="2133665"/>
            <a:ext cx="37912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3447803" y="2133665"/>
            <a:ext cx="37504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125123" y="2328509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475377" y="2328509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873979" y="2328509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259779" y="2328509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641503" y="2328509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4024141" y="2328509"/>
            <a:ext cx="0" cy="18423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191776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125125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475378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873980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259781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641505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4024143" y="251274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122597" y="2325982"/>
            <a:ext cx="3553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472838" y="2325982"/>
            <a:ext cx="4036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871453" y="2325982"/>
            <a:ext cx="3908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257253" y="2325982"/>
            <a:ext cx="3867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638977" y="2325982"/>
            <a:ext cx="38769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89249" y="2510221"/>
            <a:ext cx="93841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122597" y="2510221"/>
            <a:ext cx="3553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472838" y="2510221"/>
            <a:ext cx="4036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871453" y="2510221"/>
            <a:ext cx="3908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257253" y="2510221"/>
            <a:ext cx="3867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638977" y="2510221"/>
            <a:ext cx="38769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189249" y="2686090"/>
            <a:ext cx="93841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122597" y="2686090"/>
            <a:ext cx="35530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472838" y="2686090"/>
            <a:ext cx="40367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871453" y="2686090"/>
            <a:ext cx="39086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257253" y="2686090"/>
            <a:ext cx="38679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638977" y="2686090"/>
            <a:ext cx="38769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-3" y="3146746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880000" y="3146746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9993" y="51174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arrange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measurements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9993" y="68382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left.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19161" y="928191"/>
            <a:ext cx="46662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18677" y="928191"/>
            <a:ext cx="426671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0.049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23558" y="928191"/>
            <a:ext cx="386183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0.055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329148" y="928191"/>
            <a:ext cx="345624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0.062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32915" y="928191"/>
            <a:ext cx="305248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0.069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38910" y="928191"/>
            <a:ext cx="26464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0.073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38628" y="928191"/>
            <a:ext cx="22467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0.079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937741" y="928191"/>
            <a:ext cx="184765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0.085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42015" y="928191"/>
            <a:ext cx="144338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0.102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04746" y="1104061"/>
            <a:ext cx="45806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12765" y="1104061"/>
            <a:ext cx="417263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018051" y="1104061"/>
            <a:ext cx="376734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16859" y="1104061"/>
            <a:ext cx="33685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27611" y="1104061"/>
            <a:ext cx="29577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24597" y="1104061"/>
            <a:ext cx="256079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624012" y="1104061"/>
            <a:ext cx="21613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025654" y="1104061"/>
            <a:ext cx="175974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424766" y="1104061"/>
            <a:ext cx="13606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59991" y="1348014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Method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1: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quick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direct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13153" y="1641792"/>
            <a:ext cx="527224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count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entries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entries.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429355" y="1777213"/>
            <a:ext cx="335604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767861" y="1777213"/>
            <a:ext cx="30175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154728" y="1777213"/>
            <a:ext cx="263066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597" b="0">
                <a:solidFill>
                  <a:srgbClr val="000000"/>
                </a:solidFill>
                <a:latin typeface="Josefin Sans"/>
              </a:rPr>
              <a:t>rd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528781" y="1777213"/>
            <a:ext cx="22566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484259" y="1988795"/>
            <a:ext cx="430113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#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04220" y="1988795"/>
            <a:ext cx="328117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866908" y="1988795"/>
            <a:ext cx="29184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237645" y="1988795"/>
            <a:ext cx="25477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608661" y="1988795"/>
            <a:ext cx="21767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898768" y="1988795"/>
            <a:ext cx="188662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91294" y="2194205"/>
            <a:ext cx="52941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count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entries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entries.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203571" y="2329625"/>
            <a:ext cx="358182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  <a:r>
              <a:rPr sz="597" b="0">
                <a:solidFill>
                  <a:srgbClr val="000000"/>
                </a:solidFill>
                <a:latin typeface="Josefin Sans"/>
              </a:rPr>
              <a:t>st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553818" y="2329625"/>
            <a:ext cx="32315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  <a:r>
              <a:rPr sz="597" b="0">
                <a:solidFill>
                  <a:srgbClr val="000000"/>
                </a:solidFill>
                <a:latin typeface="Josefin Sans"/>
              </a:rPr>
              <a:t>nd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952421" y="2329625"/>
            <a:ext cx="28329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  <a:r>
              <a:rPr sz="597" b="0">
                <a:solidFill>
                  <a:srgbClr val="000000"/>
                </a:solidFill>
                <a:latin typeface="Josefin Sans"/>
              </a:rPr>
              <a:t>rd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338221" y="2329625"/>
            <a:ext cx="24471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719945" y="2329625"/>
            <a:ext cx="206545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  <a:r>
              <a:rPr sz="597" b="0">
                <a:solidFill>
                  <a:srgbClr val="000000"/>
                </a:solidFill>
                <a:latin typeface="Josefin Sans"/>
              </a:rPr>
              <a:t>th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270223" y="2541220"/>
            <a:ext cx="45151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#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of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than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268926" y="2541220"/>
            <a:ext cx="35164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649011" y="2541220"/>
            <a:ext cx="31363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040566" y="2541220"/>
            <a:ext cx="27448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424322" y="2541220"/>
            <a:ext cx="236107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806504" y="2541220"/>
            <a:ext cx="197889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102591" y="2541220"/>
            <a:ext cx="16828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=</a:t>
            </a:r>
            <a:r>
              <a:rPr sz="797" b="0">
                <a:solidFill>
                  <a:srgbClr val="000000"/>
                </a:solidFill>
                <a:latin typeface="Josefin Sans"/>
              </a:rPr>
              <a:t> </a:t>
            </a:r>
            <a:r>
              <a:rPr sz="797" b="0">
                <a:solidFill>
                  <a:srgbClr val="000000"/>
                </a:solidFill>
                <a:latin typeface="Josefin Sans"/>
              </a:rPr>
              <a:t>11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89809" y="2746630"/>
            <a:ext cx="529558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smaller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9.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29662" y="2934629"/>
            <a:ext cx="525573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*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Note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add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up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904532" y="3150934"/>
            <a:ext cx="880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623949" y="3150580"/>
            <a:ext cx="1614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61986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461502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866378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71965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75737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81730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481450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80560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284839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666944" y="52059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61986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461502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866378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71965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75737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081730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481450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880560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84839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666944" y="696468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59445" y="518058"/>
            <a:ext cx="40458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58962" y="518058"/>
            <a:ext cx="40994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63851" y="518058"/>
            <a:ext cx="4106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69438" y="518058"/>
            <a:ext cx="4088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673209" y="518058"/>
            <a:ext cx="41106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79203" y="518058"/>
            <a:ext cx="4047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78922" y="518058"/>
            <a:ext cx="4041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878033" y="518058"/>
            <a:ext cx="40933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282312" y="518058"/>
            <a:ext cx="38717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59445" y="693928"/>
            <a:ext cx="40458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458962" y="693928"/>
            <a:ext cx="40994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863851" y="693928"/>
            <a:ext cx="4106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269438" y="693928"/>
            <a:ext cx="4088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673209" y="693928"/>
            <a:ext cx="41106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079203" y="693928"/>
            <a:ext cx="4047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78922" y="693928"/>
            <a:ext cx="4041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78033" y="693928"/>
            <a:ext cx="40933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282312" y="693928"/>
            <a:ext cx="38717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59445" y="869797"/>
            <a:ext cx="40458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58962" y="869797"/>
            <a:ext cx="40994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863851" y="869797"/>
            <a:ext cx="41065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269438" y="869797"/>
            <a:ext cx="40882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2673209" y="869797"/>
            <a:ext cx="41106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079203" y="869797"/>
            <a:ext cx="40477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478922" y="869797"/>
            <a:ext cx="40417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878033" y="869797"/>
            <a:ext cx="40933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282312" y="869797"/>
            <a:ext cx="387172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301315" y="1962023"/>
            <a:ext cx="504812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567695" y="1962023"/>
            <a:ext cx="376415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74429" y="2706307"/>
            <a:ext cx="504813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540810" y="2706307"/>
            <a:ext cx="376415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0421" y="549058"/>
            <a:ext cx="464497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0.047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39937" y="549058"/>
            <a:ext cx="424545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0.049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44818" y="549058"/>
            <a:ext cx="38405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50408" y="549058"/>
            <a:ext cx="343498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0.062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54175" y="549058"/>
            <a:ext cx="30312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0.069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60169" y="549058"/>
            <a:ext cx="26252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0.073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59888" y="549058"/>
            <a:ext cx="222550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0.079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59000" y="549058"/>
            <a:ext cx="18263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0.085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63274" y="549058"/>
            <a:ext cx="14221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0.102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26006" y="724928"/>
            <a:ext cx="45593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34126" y="724928"/>
            <a:ext cx="41512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39311" y="724928"/>
            <a:ext cx="374608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38119" y="724928"/>
            <a:ext cx="33472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48871" y="724928"/>
            <a:ext cx="293652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45856" y="724928"/>
            <a:ext cx="253953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45272" y="724928"/>
            <a:ext cx="214012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46914" y="724928"/>
            <a:ext cx="173848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46025" y="724928"/>
            <a:ext cx="133937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9993" y="9688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Method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2: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formula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3155" y="1263726"/>
            <a:ext cx="527224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1.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label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rank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9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going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left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right.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1298" y="1452803"/>
            <a:ext cx="529409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2.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Josefin Sans"/>
              </a:rPr>
              <a:t>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sum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ranks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A’s,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41612" y="1675158"/>
            <a:ext cx="41437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1 + 4 + 6 + 7 + 8 = 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49857" y="1837742"/>
            <a:ext cx="413553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+ 1)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526829" y="1984046"/>
            <a:ext cx="32585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45205" y="1837742"/>
            <a:ext cx="29401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5(4) +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5(5 + 1)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729023" y="1984046"/>
            <a:ext cx="20563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983201" y="1906915"/>
            <a:ext cx="18021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26 = 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9812" y="2197073"/>
            <a:ext cx="529558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3.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Josefin Sans"/>
              </a:rPr>
              <a:t>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sum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ranks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B’s,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614727" y="2419427"/>
            <a:ext cx="41706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2 + 3 + 5 + 9 = 19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22972" y="2582013"/>
            <a:ext cx="41624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+ 1)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99943" y="2728330"/>
            <a:ext cx="32854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18320" y="2582013"/>
            <a:ext cx="29670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 5(4) +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4(4 + 1)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702138" y="2728330"/>
            <a:ext cx="208325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56316" y="2651186"/>
            <a:ext cx="182907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19 = 11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90041" y="2941356"/>
            <a:ext cx="529535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Josefin Sans"/>
              </a:rPr>
              <a:t>4.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smaller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U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9.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04534" y="3150917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27977" y="3150563"/>
            <a:ext cx="1574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417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mentioned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317" y="1542284"/>
            <a:ext cx="52840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1" y="1800399"/>
            <a:ext cx="531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5095" y="3150564"/>
            <a:ext cx="1603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09786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004781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237877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432860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65956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860952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094035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289031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522126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717109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950205" y="154575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807258" y="154322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002254" y="1543226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35337" y="1543226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30333" y="1543226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663428" y="154322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58412" y="1543226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091507" y="154322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86503" y="1543226"/>
            <a:ext cx="238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519586" y="154322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714582" y="1543226"/>
            <a:ext cx="238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07258" y="177097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002254" y="1770976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35337" y="1770976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430333" y="1770976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663428" y="177097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858412" y="1770976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91507" y="177097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286503" y="1770976"/>
            <a:ext cx="238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519586" y="1770976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714582" y="1770976"/>
            <a:ext cx="238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809787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004783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199778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394761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589757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784753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17836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250932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484028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717111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950207" y="271106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807260" y="2708539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002256" y="2708539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2197239" y="2708539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392234" y="2708539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587230" y="2708539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782213" y="2708539"/>
            <a:ext cx="238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015309" y="2708539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248405" y="2708539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481488" y="2708539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714584" y="2708539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807260" y="2936288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02256" y="2936288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197239" y="2936288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392234" y="2936288"/>
            <a:ext cx="2000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587230" y="2936288"/>
            <a:ext cx="2000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782213" y="2936288"/>
            <a:ext cx="23815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015309" y="2936288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248405" y="2936288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481488" y="2936288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714584" y="2936288"/>
            <a:ext cx="23815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59993" y="6166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equal.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9993" y="8747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 the medians of the two samples are equal, the two samples will be evenly distributed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9993" y="104680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across the rank of fitness.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 be similar and at a maximum value.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9991" y="1304920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example,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88233" y="1580675"/>
            <a:ext cx="389716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83167" y="1580675"/>
            <a:ext cx="37022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16339" y="1580675"/>
            <a:ext cx="34690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11273" y="1580675"/>
            <a:ext cx="32741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4445" y="1580675"/>
            <a:ext cx="304095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39379" y="1580675"/>
            <a:ext cx="28460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172551" y="1580675"/>
            <a:ext cx="261284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67484" y="1580675"/>
            <a:ext cx="24179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00518" y="1580675"/>
            <a:ext cx="21848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95590" y="1580675"/>
            <a:ext cx="19898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9991" y="1867974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separated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9991" y="2040046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clearly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rank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(the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59991" y="221211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smaller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9993" y="24702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example,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888235" y="2745988"/>
            <a:ext cx="389716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083168" y="2745988"/>
            <a:ext cx="37022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78241" y="2745988"/>
            <a:ext cx="35071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473174" y="2745988"/>
            <a:ext cx="33122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68246" y="2745988"/>
            <a:ext cx="31171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63180" y="2745988"/>
            <a:ext cx="29222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96352" y="2745988"/>
            <a:ext cx="26890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29386" y="2745988"/>
            <a:ext cx="24560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562419" y="2745988"/>
            <a:ext cx="22229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795591" y="2745988"/>
            <a:ext cx="19898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904534" y="3150915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23951" y="3150562"/>
            <a:ext cx="1614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5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5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6272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3479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1" y="1597645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‘small’?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1" y="1960497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table,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1" y="2132582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4" y="3150920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16140" y="3150567"/>
            <a:ext cx="1692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1534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rejected,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320" y="1473449"/>
            <a:ext cx="5284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4" y="1731564"/>
            <a:ext cx="53106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else,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6" y="190363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9218" y="3150564"/>
            <a:ext cx="1461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51141" y="1053325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1141" y="1224140"/>
            <a:ext cx="0" cy="17587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51141" y="139999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51141" y="1570812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68159" y="1741627"/>
            <a:ext cx="214490" cy="170814"/>
          </a:xfrm>
          <a:prstGeom prst="rect">
            <a:avLst/>
          </a:prstGeom>
          <a:solidFill>
            <a:srgbClr val="7F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751141" y="174162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51141" y="1912429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51141" y="208324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51141" y="2254047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51141" y="2424861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51141" y="2595664"/>
            <a:ext cx="0" cy="17081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8802" y="1397482"/>
            <a:ext cx="27486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48614" y="1397482"/>
            <a:ext cx="21954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68159" y="1397482"/>
            <a:ext cx="21449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82649" y="1397482"/>
            <a:ext cx="215595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398244" y="1397482"/>
            <a:ext cx="246367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644611" y="1397482"/>
            <a:ext cx="237059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881670" y="1397482"/>
            <a:ext cx="2658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147481" y="1397482"/>
            <a:ext cx="2540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401544" y="1397482"/>
            <a:ext cx="2658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731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993" y="90358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significance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table: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51520" y="1083667"/>
            <a:ext cx="413387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4723" y="1254469"/>
            <a:ext cx="523067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402" y="1253071"/>
            <a:ext cx="495099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8078" y="1253071"/>
            <a:ext cx="473731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63981" y="1253071"/>
            <a:ext cx="452141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93650" y="1253071"/>
            <a:ext cx="429174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38198" y="1253071"/>
            <a:ext cx="404719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88010" y="1253071"/>
            <a:ext cx="379738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47235" y="1253071"/>
            <a:ext cx="35381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86013" y="1253071"/>
            <a:ext cx="329938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184" y="1428954"/>
            <a:ext cx="519821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9589" y="1428482"/>
            <a:ext cx="49558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4075" y="1428482"/>
            <a:ext cx="47413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74452" y="1428482"/>
            <a:ext cx="451094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95720" y="1428482"/>
            <a:ext cx="428967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37434" y="1428482"/>
            <a:ext cx="40479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88258" y="1428482"/>
            <a:ext cx="379713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48292" y="1428482"/>
            <a:ext cx="353710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08226" y="1428482"/>
            <a:ext cx="32771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6435" y="1599756"/>
            <a:ext cx="51989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9589" y="1599284"/>
            <a:ext cx="495580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9460" y="1599284"/>
            <a:ext cx="472593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4735" y="1599284"/>
            <a:ext cx="45206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95112" y="1599284"/>
            <a:ext cx="42902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6927" y="1599284"/>
            <a:ext cx="40484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7852" y="1599284"/>
            <a:ext cx="379754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47685" y="1599284"/>
            <a:ext cx="35377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10352" y="1599284"/>
            <a:ext cx="327504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7286" y="1770571"/>
            <a:ext cx="51981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4969" y="1770099"/>
            <a:ext cx="494042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9743" y="1770099"/>
            <a:ext cx="473565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4229" y="1770099"/>
            <a:ext cx="45211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94708" y="1770099"/>
            <a:ext cx="42906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36320" y="1770099"/>
            <a:ext cx="404907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88561" y="1770099"/>
            <a:ext cx="379683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47685" y="1770099"/>
            <a:ext cx="35377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02558" y="1770099"/>
            <a:ext cx="328283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5977" y="1941373"/>
            <a:ext cx="519941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5253" y="1940901"/>
            <a:ext cx="495014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9131" y="1940901"/>
            <a:ext cx="473626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3820" y="1940901"/>
            <a:ext cx="452157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97335" y="1940901"/>
            <a:ext cx="42880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37126" y="1940901"/>
            <a:ext cx="404826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967301" y="1940901"/>
            <a:ext cx="381809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32902" y="1940901"/>
            <a:ext cx="355249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492330" y="1940901"/>
            <a:ext cx="329306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8810" y="2112188"/>
            <a:ext cx="519658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5253" y="2111717"/>
            <a:ext cx="495014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49233" y="2111717"/>
            <a:ext cx="473616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263718" y="2111717"/>
            <a:ext cx="452167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495412" y="2111717"/>
            <a:ext cx="42899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31255" y="2111717"/>
            <a:ext cx="405414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72362" y="2111717"/>
            <a:ext cx="381303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31890" y="2111717"/>
            <a:ext cx="355350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94456" y="2111717"/>
            <a:ext cx="329093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87146" y="2282991"/>
            <a:ext cx="51982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4593" y="2282519"/>
            <a:ext cx="495080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8775" y="2282519"/>
            <a:ext cx="47366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64475" y="2282519"/>
            <a:ext cx="452092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74204" y="2282519"/>
            <a:ext cx="431119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20878" y="2282519"/>
            <a:ext cx="406451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72005" y="2282519"/>
            <a:ext cx="38133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32546" y="2282519"/>
            <a:ext cx="355284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477499" y="2282519"/>
            <a:ext cx="330789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6435" y="2453806"/>
            <a:ext cx="519896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4694" y="2453334"/>
            <a:ext cx="495070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48674" y="2453334"/>
            <a:ext cx="47367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63666" y="2453334"/>
            <a:ext cx="452172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79872" y="2453334"/>
            <a:ext cx="430552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20574" y="2453334"/>
            <a:ext cx="406482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72612" y="2453334"/>
            <a:ext cx="381278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32951" y="2453334"/>
            <a:ext cx="355244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483370" y="2453334"/>
            <a:ext cx="3302025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5327" y="2624608"/>
            <a:ext cx="5220068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1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34694" y="2624136"/>
            <a:ext cx="4950701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51306" y="2624136"/>
            <a:ext cx="473408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258605" y="2624136"/>
            <a:ext cx="4526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79265" y="2624136"/>
            <a:ext cx="430613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723105" y="2624136"/>
            <a:ext cx="40622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17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57632" y="2624136"/>
            <a:ext cx="382776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223436" y="2624136"/>
            <a:ext cx="356195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484686" y="2624136"/>
            <a:ext cx="33007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084002" y="1295345"/>
            <a:ext cx="27013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4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084002" y="1467418"/>
            <a:ext cx="27013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084005" y="1691865"/>
            <a:ext cx="27013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9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&gt;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084005" y="1863937"/>
            <a:ext cx="27013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084004" y="2036022"/>
            <a:ext cx="27013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cannot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084004" y="2208094"/>
            <a:ext cx="27013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produces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084004" y="2380167"/>
            <a:ext cx="27013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significantly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higher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other.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904534" y="3150918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25018" y="3150564"/>
            <a:ext cx="16037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3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0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1534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named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runs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2" y="1387419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0.060,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0.045,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0.043,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0.038,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559492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0.034.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fitness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baseline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(B),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0.102,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0.069,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1" y="1731564"/>
            <a:ext cx="5425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0.055,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0.049,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value?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statistically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1" y="1903636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baseline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significance?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2" y="3150916"/>
            <a:ext cx="880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4254" y="3150562"/>
            <a:ext cx="1611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Mann-Whitney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253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Notes: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43991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69801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sampling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approaches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91361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normal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7" y="3150918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814" y="3150564"/>
            <a:ext cx="1615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127" y="3150565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127705" y="20909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762588" y="20909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397472" y="20909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27705" y="23186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762588" y="23186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97472" y="23186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125177" y="2088387"/>
            <a:ext cx="16399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60048" y="2088387"/>
            <a:ext cx="16399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25177" y="2316136"/>
            <a:ext cx="16399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60048" y="2316136"/>
            <a:ext cx="16399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25177" y="2543886"/>
            <a:ext cx="16399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760048" y="2543886"/>
            <a:ext cx="1639938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Contingency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86978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993" y="104186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classify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991" y="1404717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results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illustrated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1007" y="1675418"/>
            <a:ext cx="2534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04627" y="1898745"/>
            <a:ext cx="308076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Positive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88480" y="1898745"/>
            <a:ext cx="14969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Negative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5912" y="2153674"/>
            <a:ext cx="534948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2744" y="2325759"/>
            <a:ext cx="519265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Diagnosis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17177" y="2126494"/>
            <a:ext cx="426821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Positive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34740" y="2125849"/>
            <a:ext cx="33506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(TP)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00720" y="2125849"/>
            <a:ext cx="17846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negative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(FN)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66123" y="2354231"/>
            <a:ext cx="43192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Negative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31069" y="2353585"/>
            <a:ext cx="335432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(FP)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0048" y="2353585"/>
            <a:ext cx="176534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negative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(TN)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04534" y="3150919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2973" y="3150565"/>
            <a:ext cx="1624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353402" y="778459"/>
            <a:ext cx="0" cy="159425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97820" y="778459"/>
            <a:ext cx="0" cy="159425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642230" y="778459"/>
            <a:ext cx="0" cy="159425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353402" y="937884"/>
            <a:ext cx="0" cy="159424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97820" y="937884"/>
            <a:ext cx="0" cy="159424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642230" y="937884"/>
            <a:ext cx="0" cy="159424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51632" y="776690"/>
            <a:ext cx="1147957" cy="0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96042" y="776690"/>
            <a:ext cx="1147957" cy="0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51632" y="936115"/>
            <a:ext cx="1147957" cy="0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96042" y="936115"/>
            <a:ext cx="1147957" cy="0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351632" y="1095530"/>
            <a:ext cx="1147957" cy="0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496042" y="1095530"/>
            <a:ext cx="1147957" cy="0"/>
          </a:xfrm>
          <a:prstGeom prst="line">
            <a:avLst/>
          </a:prstGeom>
          <a:ln w="3538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77770" y="1827884"/>
            <a:ext cx="1005548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419400" y="2431160"/>
            <a:ext cx="522288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34666" y="2944393"/>
            <a:ext cx="491769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95405" y="1827885"/>
            <a:ext cx="522287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095405" y="2451532"/>
            <a:ext cx="522287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Contingency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39713" y="487603"/>
            <a:ext cx="2645682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Diagnosis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57248" y="643932"/>
            <a:ext cx="3028147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1">
                <a:solidFill>
                  <a:srgbClr val="000000"/>
                </a:solidFill>
                <a:latin typeface="Josefin Sans"/>
              </a:rPr>
              <a:t>Positive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65945" y="643932"/>
            <a:ext cx="1919451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1">
                <a:solidFill>
                  <a:srgbClr val="000000"/>
                </a:solidFill>
                <a:latin typeface="Josefin Sans"/>
              </a:rPr>
              <a:t>Negative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9147" y="822391"/>
            <a:ext cx="4616248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78929" y="942842"/>
            <a:ext cx="4506466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Diagnosis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6033" y="803356"/>
            <a:ext cx="3859363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1">
                <a:solidFill>
                  <a:srgbClr val="000000"/>
                </a:solidFill>
                <a:latin typeface="Josefin Sans"/>
              </a:rPr>
              <a:t>Positive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8326" y="802904"/>
            <a:ext cx="3217069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(TP)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64513" y="802904"/>
            <a:ext cx="2120882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negative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(FN)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90295" y="962781"/>
            <a:ext cx="3895100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1">
                <a:solidFill>
                  <a:srgbClr val="000000"/>
                </a:solidFill>
                <a:latin typeface="Josefin Sans"/>
              </a:rPr>
              <a:t>Negative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5757" y="962329"/>
            <a:ext cx="3219638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positve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(FP)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78043" y="962329"/>
            <a:ext cx="2107352" cy="1503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negative</a:t>
            </a:r>
            <a:r>
              <a:rPr sz="763" b="0">
                <a:solidFill>
                  <a:srgbClr val="000000"/>
                </a:solidFill>
                <a:latin typeface="Josefin Sans"/>
              </a:rPr>
              <a:t> </a:t>
            </a:r>
            <a:r>
              <a:rPr sz="763" b="0">
                <a:solidFill>
                  <a:srgbClr val="000000"/>
                </a:solidFill>
                <a:latin typeface="Josefin Sans"/>
              </a:rPr>
              <a:t>(TN)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3" y="1188728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0000"/>
                </a:solidFill>
                <a:latin typeface="Josefin Sans"/>
              </a:rPr>
              <a:t>Ratios: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7263" y="1435525"/>
            <a:ext cx="525813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MSAM10"/>
              </a:rPr>
              <a:t>▶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accuracy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64980" y="1691611"/>
            <a:ext cx="432041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TN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77770" y="1842487"/>
            <a:ext cx="460762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TN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FP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FN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7263" y="2038801"/>
            <a:ext cx="525813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MSAM10"/>
              </a:rPr>
              <a:t>▶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ratio/sensitivity/recall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16149" y="2294887"/>
            <a:ext cx="41692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9400" y="2445763"/>
            <a:ext cx="43659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FN</a:t>
            </a:r>
            <a:r>
              <a:rPr sz="8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7263" y="2653253"/>
            <a:ext cx="525813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MSAM10"/>
              </a:rPr>
              <a:t>▶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precision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16149" y="2808120"/>
            <a:ext cx="41692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34666" y="2958996"/>
            <a:ext cx="435072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FP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3255" y="1435527"/>
            <a:ext cx="258214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MSAM10"/>
              </a:rPr>
              <a:t>▶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ratio/false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alarm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2089" y="1691613"/>
            <a:ext cx="149330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FP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95405" y="1842489"/>
            <a:ext cx="16899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TN</a:t>
            </a:r>
            <a:r>
              <a:rPr sz="8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3255" y="2059173"/>
            <a:ext cx="258214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MSAM10"/>
              </a:rPr>
              <a:t>▶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negative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ratio/specificity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76887" y="2315259"/>
            <a:ext cx="150850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95405" y="2466135"/>
            <a:ext cx="16899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(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FP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+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TN</a:t>
            </a:r>
            <a:r>
              <a:rPr sz="896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3255" y="2682819"/>
            <a:ext cx="258214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3373"/>
                </a:solidFill>
                <a:latin typeface="MSAM10"/>
              </a:rPr>
              <a:t>▶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ratio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=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-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specificity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04534" y="3150917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26999" y="3150564"/>
            <a:ext cx="1583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Contingency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4390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8" y="1257857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6" y="1473450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6" y="1645535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ratio.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8" y="1860117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detection.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8" y="2118231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relative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negatives.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4537" y="3150917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4107" y="3150564"/>
            <a:ext cx="1612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144605" y="1721725"/>
            <a:ext cx="312712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Contingency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1534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Precision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(a.k.a.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predictive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42992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divided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645534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3729" y="1620835"/>
            <a:ext cx="1541666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44605" y="1723159"/>
            <a:ext cx="164079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Josefin Sans"/>
              </a:rPr>
              <a:t>TP</a:t>
            </a:r>
            <a:r>
              <a:rPr sz="797" b="0">
                <a:solidFill>
                  <a:srgbClr val="000000"/>
                </a:solidFill>
                <a:latin typeface="Cambria Math"/>
              </a:rPr>
              <a:t>+</a:t>
            </a:r>
            <a:r>
              <a:rPr sz="797" b="0">
                <a:solidFill>
                  <a:srgbClr val="000000"/>
                </a:solidFill>
                <a:latin typeface="Josefin Sans"/>
              </a:rPr>
              <a:t>FP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186011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magnitude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2974" y="3150564"/>
            <a:ext cx="1624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16294" y="3150565"/>
            <a:ext cx="1691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78329" y="183879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54172" y="183879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30029" y="183879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5885" y="183879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78329" y="206654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54172" y="206654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30029" y="206654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5885" y="206654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329" y="22942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172" y="22942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30029" y="22942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5885" y="2294279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75789" y="183626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51645" y="183626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27501" y="183626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75789" y="206401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51645" y="206401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501" y="206401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75789" y="2291752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1645" y="2291752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27501" y="2291752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75789" y="251950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51645" y="251950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27501" y="251950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3" y="89446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normally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multiple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995" y="1152584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96959" y="1423284"/>
            <a:ext cx="28884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17343" y="1645966"/>
            <a:ext cx="306805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01174" y="1645966"/>
            <a:ext cx="24842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70042" y="1645966"/>
            <a:ext cx="19153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47063" y="2015422"/>
            <a:ext cx="40383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27505" y="2187494"/>
            <a:ext cx="41578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02066" y="1873715"/>
            <a:ext cx="34833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10105" y="2101464"/>
            <a:ext cx="34752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03107" y="2329213"/>
            <a:ext cx="34822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9370" y="3150563"/>
            <a:ext cx="1460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78326" y="22001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54169" y="22001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30026" y="22001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5882" y="22001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78326" y="24278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54169" y="24278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30026" y="24278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5882" y="2427897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326" y="26556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169" y="26556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30026" y="26556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5882" y="265564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75786" y="219762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51642" y="219762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27498" y="219762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75786" y="2425370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51642" y="2425370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498" y="2425370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75786" y="2653119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1642" y="2653119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27498" y="2653119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75786" y="2880868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51642" y="2880868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27498" y="2880868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-3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80000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3" y="65356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populating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counts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993" y="82564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diagnoses/classes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9993" y="108376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consider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9993" y="125583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3" y="151395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 we use 50 test cases of each diagnosis to obtain the following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confusion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96956" y="1784651"/>
            <a:ext cx="28884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17340" y="2007333"/>
            <a:ext cx="30680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01171" y="2007333"/>
            <a:ext cx="24842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70039" y="2007333"/>
            <a:ext cx="19153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47060" y="2376789"/>
            <a:ext cx="403833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27502" y="2548861"/>
            <a:ext cx="41578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2063" y="2235082"/>
            <a:ext cx="34833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87497" y="2235082"/>
            <a:ext cx="309789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6518" y="2235082"/>
            <a:ext cx="24788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2867" y="2235082"/>
            <a:ext cx="19025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10102" y="2462819"/>
            <a:ext cx="34752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9618" y="2462819"/>
            <a:ext cx="305577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71054" y="2462819"/>
            <a:ext cx="25143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82871" y="2462819"/>
            <a:ext cx="19025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03104" y="2690568"/>
            <a:ext cx="34822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4372" y="2690568"/>
            <a:ext cx="30410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20306" y="2690568"/>
            <a:ext cx="246508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46502" y="2690568"/>
            <a:ext cx="19388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04532" y="3150931"/>
            <a:ext cx="880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24788" y="3150577"/>
            <a:ext cx="16060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78328" y="13715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54171" y="13715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30027" y="13715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5883" y="1371548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78328" y="159928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54171" y="159928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30027" y="159928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5883" y="159928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328" y="18270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171" y="18270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30027" y="18270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5883" y="182703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75788" y="1369021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51644" y="1369021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27500" y="1369021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75788" y="1596757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51644" y="159675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500" y="1596757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75788" y="1824506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1644" y="182450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27500" y="1824506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75788" y="2052255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51644" y="2052255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27500" y="2052255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3" y="53737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divide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instances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993" y="70944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class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96958" y="956038"/>
            <a:ext cx="28884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17341" y="1178720"/>
            <a:ext cx="30680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01172" y="1178720"/>
            <a:ext cx="24842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70040" y="1178720"/>
            <a:ext cx="19153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47061" y="1548176"/>
            <a:ext cx="403833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27504" y="1720248"/>
            <a:ext cx="41578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02064" y="1406469"/>
            <a:ext cx="34833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33466" y="1406469"/>
            <a:ext cx="315193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29350" y="1406469"/>
            <a:ext cx="255604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84917" y="1406469"/>
            <a:ext cx="200047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10103" y="1634206"/>
            <a:ext cx="34752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54943" y="1634206"/>
            <a:ext cx="313045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16330" y="1634206"/>
            <a:ext cx="256906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0.84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84921" y="1634206"/>
            <a:ext cx="200047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3106" y="1861955"/>
            <a:ext cx="348228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33953" y="1861955"/>
            <a:ext cx="31514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9748" y="1861955"/>
            <a:ext cx="257564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90393" y="1861955"/>
            <a:ext cx="19950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0.96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9993" y="214627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add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9993" y="231834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belongs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specific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9994" y="2490414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9994" y="2662486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9995" y="2920602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04537" y="3150916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3814" y="3150563"/>
            <a:ext cx="1615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05922" y="2038704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45430" y="2038704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584926" y="2038704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124435" y="2038704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505922" y="2246197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45430" y="2246197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584926" y="2246197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124435" y="2246197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505922" y="2453702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45430" y="2453702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84926" y="2453702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24435" y="2453702"/>
            <a:ext cx="0" cy="207505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03394" y="2036177"/>
            <a:ext cx="54456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42891" y="2036177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582399" y="2036177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503394" y="2243669"/>
            <a:ext cx="54456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42891" y="2243669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582399" y="2243669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503394" y="2451174"/>
            <a:ext cx="54456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42891" y="2451174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582399" y="2451174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503394" y="2658680"/>
            <a:ext cx="544564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42891" y="2658680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582399" y="2658680"/>
            <a:ext cx="544563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-6" y="3146739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79997" y="3146739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3" y="53260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 we multiply each element by the prior probability of the class of its row to obtain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9993" y="7046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final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9991" y="962795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prior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actual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9991" y="1134867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situation.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0" y="1392982"/>
            <a:ext cx="5425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prior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0.60,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0.30,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respectively.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08651" y="1659125"/>
            <a:ext cx="287674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31017" y="1861563"/>
            <a:ext cx="3054379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77858" y="1861563"/>
            <a:ext cx="250753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0908" y="1861563"/>
            <a:ext cx="197448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18128" y="2200653"/>
            <a:ext cx="396726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08933" y="2352482"/>
            <a:ext cx="407646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8155" y="2069069"/>
            <a:ext cx="344724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23975" y="2069069"/>
            <a:ext cx="316142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0.480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59429" y="2069069"/>
            <a:ext cx="2625966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0.096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01967" y="2069069"/>
            <a:ext cx="208342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45483" y="2276574"/>
            <a:ext cx="34399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20548" y="2276574"/>
            <a:ext cx="31648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0.036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68148" y="2276574"/>
            <a:ext cx="261724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0.252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13977" y="2276574"/>
            <a:ext cx="207141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9094" y="2484066"/>
            <a:ext cx="34463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15678" y="2484066"/>
            <a:ext cx="3169717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55181" y="2484066"/>
            <a:ext cx="263021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98985" y="2484066"/>
            <a:ext cx="2086410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0.096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9988" y="2755665"/>
            <a:ext cx="54254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outcome.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elements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now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9988" y="2927750"/>
            <a:ext cx="542540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equal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1.0.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04529" y="3150915"/>
            <a:ext cx="8808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3946" y="3150561"/>
            <a:ext cx="1614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80857" y="1583487"/>
            <a:ext cx="570788" cy="222681"/>
          </a:xfrm>
          <a:prstGeom prst="rect">
            <a:avLst/>
          </a:prstGeom>
          <a:solidFill>
            <a:srgbClr val="7F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478329" y="158347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54172" y="158347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630029" y="158347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05885" y="158347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056713" y="1811236"/>
            <a:ext cx="570788" cy="222681"/>
          </a:xfrm>
          <a:prstGeom prst="rect">
            <a:avLst/>
          </a:prstGeom>
          <a:solidFill>
            <a:srgbClr val="7F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2478329" y="181122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54172" y="181122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630029" y="181122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205885" y="1811223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632556" y="2038972"/>
            <a:ext cx="570788" cy="222681"/>
          </a:xfrm>
          <a:prstGeom prst="rect">
            <a:avLst/>
          </a:prstGeom>
          <a:solidFill>
            <a:srgbClr val="7F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478329" y="20389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054172" y="20389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30029" y="20389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05885" y="2038972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75789" y="158094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51645" y="158094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501" y="158094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75789" y="180869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1645" y="180869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27501" y="180869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75789" y="2036445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51645" y="2036445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27501" y="2036445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475789" y="2264194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51645" y="2264194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627501" y="2264194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9993" y="7492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accuracy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diagonal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993" y="92130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values.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96959" y="1167977"/>
            <a:ext cx="288843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17343" y="1390659"/>
            <a:ext cx="306805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01174" y="1390659"/>
            <a:ext cx="248422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70042" y="1390659"/>
            <a:ext cx="19153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47063" y="1760115"/>
            <a:ext cx="40383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27505" y="1932187"/>
            <a:ext cx="41578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2066" y="1618395"/>
            <a:ext cx="34833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0135" y="1618395"/>
            <a:ext cx="318526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0.480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71635" y="1618395"/>
            <a:ext cx="261376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0.096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50755" y="1618395"/>
            <a:ext cx="20346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10105" y="1846145"/>
            <a:ext cx="34752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96340" y="1846145"/>
            <a:ext cx="31890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0.036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81046" y="1846145"/>
            <a:ext cx="26043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0.252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63768" y="1846145"/>
            <a:ext cx="20216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03107" y="2073894"/>
            <a:ext cx="34822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91005" y="2073894"/>
            <a:ext cx="31943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66939" y="2073894"/>
            <a:ext cx="26184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47478" y="2073894"/>
            <a:ext cx="20379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0.096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19795" y="2344696"/>
            <a:ext cx="416560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accuracy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0.480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0.252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+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0.096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=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0.828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86431" y="2602810"/>
            <a:ext cx="44989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82.8%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04534" y="3150917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23278" y="3150564"/>
            <a:ext cx="1621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1465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reality.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life,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wrong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0462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 medical diagnoses, the consequences are the treatment cost, human lives, legal cost,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7670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etc.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3481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construct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investigate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0068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5" y="3150919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127" y="3150566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22852" y="1966455"/>
            <a:ext cx="548640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80377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Suppose that, the medical diagnosis represented by A is a condition that can be cured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975851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over-the-counter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drug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available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drug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$10.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23396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medical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requires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aggressive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140603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treatment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prescription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antibiotic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$100.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166415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Condition C is a very serious condition that requires hospitalisation and surgery, with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183622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total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$5000.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now,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200829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20-percent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survival.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impossible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assign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dollar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18037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human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life,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let’s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insurance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policy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patients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$100,000.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93" y="235245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misdiagnosed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$80,000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(80%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9993" y="252452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chance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death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×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$100,000).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4537" y="3150917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7154" y="3150564"/>
            <a:ext cx="1582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75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It is often assumed that correct classification/diagnosis imposes zero cost, but it is clear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183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zero.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1" y="1679939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ready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misdiagnosis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1" y="1852024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slide.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4" y="3150918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4256" y="3150564"/>
            <a:ext cx="1611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78328" y="14755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54171" y="14755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30027" y="14755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5883" y="1475586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78328" y="1703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54171" y="1703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30027" y="1703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5883" y="170333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328" y="193108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171" y="193108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30027" y="193108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5883" y="193108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75788" y="1473059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51644" y="1473059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27500" y="1473059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75788" y="1700808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51644" y="1700808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500" y="1700808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75788" y="1928557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1644" y="192855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27500" y="1928557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75788" y="2156306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51644" y="2156306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27500" y="2156306"/>
            <a:ext cx="580910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3" y="81496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96958" y="1060089"/>
            <a:ext cx="28884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17341" y="1282771"/>
            <a:ext cx="30680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01172" y="1282771"/>
            <a:ext cx="24842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70040" y="1282771"/>
            <a:ext cx="19153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7061" y="1652227"/>
            <a:ext cx="403833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7504" y="1824299"/>
            <a:ext cx="41578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02064" y="1510520"/>
            <a:ext cx="34833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62275" y="1510520"/>
            <a:ext cx="312312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6299" y="1510520"/>
            <a:ext cx="256909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$110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20667" y="1510520"/>
            <a:ext cx="20647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$5,010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10103" y="1738257"/>
            <a:ext cx="347529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40456" y="1738257"/>
            <a:ext cx="31449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$110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95242" y="1738257"/>
            <a:ext cx="25901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$100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20667" y="1738257"/>
            <a:ext cx="20647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$5,100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3106" y="1966006"/>
            <a:ext cx="348228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56763" y="1966006"/>
            <a:ext cx="32286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$80,010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$80,100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$5,000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9993" y="235802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 multiply 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 with 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final 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 element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9993" y="253011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final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matrix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4535" y="3150916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23127" y="3150562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478326" y="14694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54169" y="14694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630026" y="14694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205882" y="1469415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78326" y="16971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54169" y="16971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30026" y="16971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5882" y="1697164"/>
            <a:ext cx="0" cy="227749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78326" y="192490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4169" y="192490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30026" y="192490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5882" y="1924900"/>
            <a:ext cx="0" cy="22775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475786" y="146688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51642" y="146688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27498" y="146688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75786" y="169463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051642" y="169463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627498" y="1694637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75786" y="1922373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051642" y="1922373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27498" y="1922373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475786" y="2150122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051642" y="2150122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627498" y="2150122"/>
            <a:ext cx="580911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-5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879999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9993" y="80879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Final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matrix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96956" y="1053905"/>
            <a:ext cx="28884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17340" y="1276587"/>
            <a:ext cx="30680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01171" y="1276587"/>
            <a:ext cx="248422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70039" y="1276587"/>
            <a:ext cx="191535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7060" y="1646043"/>
            <a:ext cx="403833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7502" y="1818115"/>
            <a:ext cx="41578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02063" y="1504336"/>
            <a:ext cx="34833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83340" y="1504336"/>
            <a:ext cx="31020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4.8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92772" y="1504336"/>
            <a:ext cx="259262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10.56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36702" y="1504336"/>
            <a:ext cx="20486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120.24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10102" y="1732085"/>
            <a:ext cx="347529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45521" y="1732085"/>
            <a:ext cx="31398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3.96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23948" y="1732085"/>
            <a:ext cx="256144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25.2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12906" y="1732085"/>
            <a:ext cx="197249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61.2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03104" y="1959822"/>
            <a:ext cx="348229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75485" y="1959822"/>
            <a:ext cx="320991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160.02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51280" y="1959822"/>
            <a:ext cx="263411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160.20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08511" y="1959822"/>
            <a:ext cx="20768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480.00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9990" y="2351857"/>
            <a:ext cx="5425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estimated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application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given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9990" y="2523929"/>
            <a:ext cx="54254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elements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matrix,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$1,026.18.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04531" y="3150916"/>
            <a:ext cx="8808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15604" y="3150562"/>
            <a:ext cx="16979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Confusion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matrices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0885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fine-tune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8093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intelligence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43904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network-based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diagnostic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trained.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6111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threshold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levels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adjusted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178319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associated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produces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lowest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1" y="2041305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Even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available,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tuned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1" y="221337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off-diagonal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incorrect.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4534" y="3150918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8683" y="3150564"/>
            <a:ext cx="14671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4105" y="3150565"/>
            <a:ext cx="1612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4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4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Receiver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operating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characteristic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(ROC)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51793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(ROC)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relative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operating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73353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94811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 curves started to be used in 1940s for electronic communication systems 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16372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field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psychology.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3783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described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measuring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593910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diagnostic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180849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decisions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classifications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“gold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02409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standard”.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22386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quantify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accuracy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automated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094" y="2454285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diagnostic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056" y="266886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their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results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094" y="288447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decision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bias.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4534" y="3150920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125" y="3150566"/>
            <a:ext cx="16227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ROC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110299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corresponds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6109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plot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ratio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(sensitivity)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versus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57670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ratio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-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specificity).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79128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plot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points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threshold,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2006888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segments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smooth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4" y="3150917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278" y="3150564"/>
            <a:ext cx="1621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90346" y="1995616"/>
            <a:ext cx="0" cy="3240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86420" y="1995616"/>
            <a:ext cx="0" cy="3240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82493" y="1995616"/>
            <a:ext cx="0" cy="3240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78566" y="1995616"/>
            <a:ext cx="0" cy="3240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74639" y="1995616"/>
            <a:ext cx="0" cy="3240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70712" y="1995616"/>
            <a:ext cx="0" cy="32406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74144" y="2011819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274144" y="1788213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274144" y="1564606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74144" y="1341000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74144" y="1117393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74144" y="893787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90346" y="2011819"/>
            <a:ext cx="146518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746500" y="1993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2290346" y="797167"/>
            <a:ext cx="0" cy="121465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273300" y="787400"/>
            <a:ext cx="25400" cy="12700"/>
          </a:xfrm>
          <a:custGeom>
            <a:avLst/>
            <a:gdLst/>
            <a:ahLst/>
            <a:cxnLst/>
            <a:rect l="l" t="t" r="r" b="b"/>
            <a:pathLst>
              <a:path w="2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2290346" y="1999731"/>
            <a:ext cx="5025" cy="1208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95371" y="1971234"/>
            <a:ext cx="2128" cy="2849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97499" y="1938931"/>
            <a:ext cx="4886" cy="3230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302385" y="1900116"/>
            <a:ext cx="5977" cy="3881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308362" y="1867529"/>
            <a:ext cx="6545" cy="3258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314907" y="1848321"/>
            <a:ext cx="2511" cy="1920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17418" y="1822423"/>
            <a:ext cx="5601" cy="2589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323019" y="1782690"/>
            <a:ext cx="5102" cy="3973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328121" y="1751359"/>
            <a:ext cx="5395" cy="3133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333516" y="1714771"/>
            <a:ext cx="8513" cy="3658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342029" y="1674606"/>
            <a:ext cx="6981" cy="4016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349010" y="1633436"/>
            <a:ext cx="9393" cy="4117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358403" y="1596237"/>
            <a:ext cx="9240" cy="3719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367643" y="1559442"/>
            <a:ext cx="10289" cy="3679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377932" y="1527311"/>
            <a:ext cx="10005" cy="3213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387937" y="1498625"/>
            <a:ext cx="9796" cy="2868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397733" y="1470970"/>
            <a:ext cx="9285" cy="2765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407018" y="1437048"/>
            <a:ext cx="11903" cy="3392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18921" y="1403932"/>
            <a:ext cx="14089" cy="3311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433010" y="1376229"/>
            <a:ext cx="13760" cy="2770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446770" y="1349256"/>
            <a:ext cx="13716" cy="2697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460486" y="1320073"/>
            <a:ext cx="16533" cy="2918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477019" y="1292096"/>
            <a:ext cx="17801" cy="2797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94820" y="1265169"/>
            <a:ext cx="19079" cy="2692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513899" y="1238169"/>
            <a:ext cx="21766" cy="2700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535665" y="1210816"/>
            <a:ext cx="24471" cy="2735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560136" y="1183434"/>
            <a:ext cx="28497" cy="2738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588633" y="1157436"/>
            <a:ext cx="31096" cy="2599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619729" y="1134424"/>
            <a:ext cx="30914" cy="2301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650643" y="1114729"/>
            <a:ext cx="30712" cy="1969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681355" y="1097688"/>
            <a:ext cx="30550" cy="1704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711905" y="1082085"/>
            <a:ext cx="30463" cy="1560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742368" y="1068029"/>
            <a:ext cx="30369" cy="1405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772737" y="1055190"/>
            <a:ext cx="30295" cy="1283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803032" y="1043788"/>
            <a:ext cx="30207" cy="1140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833239" y="1032939"/>
            <a:ext cx="30174" cy="1084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863413" y="1023307"/>
            <a:ext cx="30099" cy="963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893512" y="1014559"/>
            <a:ext cx="30046" cy="874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923558" y="1006806"/>
            <a:ext cx="29985" cy="775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953543" y="998832"/>
            <a:ext cx="29998" cy="797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983541" y="992074"/>
            <a:ext cx="29925" cy="675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013466" y="985427"/>
            <a:ext cx="29918" cy="664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043384" y="979333"/>
            <a:ext cx="29884" cy="609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73268" y="974234"/>
            <a:ext cx="29823" cy="509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103091" y="969356"/>
            <a:ext cx="29810" cy="487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32901" y="964478"/>
            <a:ext cx="29810" cy="487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162711" y="961259"/>
            <a:ext cx="29710" cy="321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192421" y="956049"/>
            <a:ext cx="29830" cy="521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22251" y="951945"/>
            <a:ext cx="29763" cy="410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252014" y="948504"/>
            <a:ext cx="29722" cy="344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281736" y="944953"/>
            <a:ext cx="29730" cy="355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311466" y="940739"/>
            <a:ext cx="29769" cy="421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341235" y="938736"/>
            <a:ext cx="29635" cy="200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70870" y="936291"/>
            <a:ext cx="29662" cy="244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400532" y="933071"/>
            <a:ext cx="29709" cy="322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430241" y="929852"/>
            <a:ext cx="29709" cy="321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459950" y="927628"/>
            <a:ext cx="29649" cy="222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489599" y="925514"/>
            <a:ext cx="29642" cy="211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519241" y="923552"/>
            <a:ext cx="29632" cy="196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548873" y="920956"/>
            <a:ext cx="29671" cy="259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578544" y="918361"/>
            <a:ext cx="29671" cy="259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608215" y="915922"/>
            <a:ext cx="29662" cy="243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637877" y="914617"/>
            <a:ext cx="29592" cy="130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667469" y="913196"/>
            <a:ext cx="29600" cy="142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697069" y="912882"/>
            <a:ext cx="21483" cy="31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18552" y="912882"/>
            <a:ext cx="26877" cy="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292943" y="1956464"/>
            <a:ext cx="323" cy="51022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293266" y="1914725"/>
            <a:ext cx="1012" cy="4173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294278" y="1884157"/>
            <a:ext cx="582" cy="3056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294104" y="1858910"/>
            <a:ext cx="756" cy="2524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293640" y="1821916"/>
            <a:ext cx="464" cy="3699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292826" y="1780081"/>
            <a:ext cx="814" cy="4183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292826" y="1740326"/>
            <a:ext cx="312" cy="3975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293138" y="1712098"/>
            <a:ext cx="377" cy="2822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293515" y="1675812"/>
            <a:ext cx="1442" cy="3628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94957" y="1629155"/>
            <a:ext cx="2648" cy="4665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97605" y="1590959"/>
            <a:ext cx="2353" cy="3819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299958" y="1559733"/>
            <a:ext cx="3421" cy="3122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303379" y="1516157"/>
            <a:ext cx="5103" cy="4357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308482" y="1468851"/>
            <a:ext cx="5871" cy="4730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314353" y="1431927"/>
            <a:ext cx="7312" cy="3692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321665" y="1394653"/>
            <a:ext cx="6938" cy="3727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328603" y="1353386"/>
            <a:ext cx="10896" cy="4126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39499" y="1321659"/>
            <a:ext cx="9981" cy="3172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49480" y="1296826"/>
            <a:ext cx="8487" cy="24833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357967" y="1270978"/>
            <a:ext cx="9623" cy="2584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367590" y="1242242"/>
            <a:ext cx="12213" cy="2873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379803" y="1217093"/>
            <a:ext cx="13604" cy="2514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393407" y="1189937"/>
            <a:ext cx="16410" cy="2715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409817" y="1162807"/>
            <a:ext cx="19091" cy="271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428908" y="1134540"/>
            <a:ext cx="23185" cy="2826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452093" y="1107180"/>
            <a:ext cx="27154" cy="2736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479247" y="1082195"/>
            <a:ext cx="29693" cy="2498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508940" y="1060179"/>
            <a:ext cx="30853" cy="2201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539793" y="1041368"/>
            <a:ext cx="30659" cy="1881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570452" y="1025544"/>
            <a:ext cx="30476" cy="1582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600928" y="1012151"/>
            <a:ext cx="30328" cy="13393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631256" y="999202"/>
            <a:ext cx="30302" cy="1294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661558" y="988132"/>
            <a:ext cx="30187" cy="1107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691745" y="978831"/>
            <a:ext cx="30079" cy="930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721824" y="969751"/>
            <a:ext cx="30066" cy="908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751890" y="961445"/>
            <a:ext cx="30019" cy="830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781909" y="954356"/>
            <a:ext cx="29944" cy="708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811853" y="949036"/>
            <a:ext cx="29837" cy="532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41690" y="942720"/>
            <a:ext cx="29898" cy="631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871588" y="938616"/>
            <a:ext cx="29763" cy="410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901351" y="933296"/>
            <a:ext cx="29837" cy="532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931188" y="929966"/>
            <a:ext cx="29716" cy="33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960904" y="925973"/>
            <a:ext cx="29756" cy="3993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990660" y="921648"/>
            <a:ext cx="29776" cy="432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020436" y="918318"/>
            <a:ext cx="29716" cy="33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50152" y="916647"/>
            <a:ext cx="29615" cy="167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079767" y="915528"/>
            <a:ext cx="29581" cy="111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109348" y="913968"/>
            <a:ext cx="29608" cy="156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138956" y="912075"/>
            <a:ext cx="29628" cy="1893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168584" y="910957"/>
            <a:ext cx="29582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198166" y="909838"/>
            <a:ext cx="29581" cy="111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227747" y="908720"/>
            <a:ext cx="29581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257328" y="908375"/>
            <a:ext cx="29534" cy="34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286862" y="907699"/>
            <a:ext cx="29554" cy="67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316416" y="906581"/>
            <a:ext cx="29582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345998" y="905462"/>
            <a:ext cx="29581" cy="111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375579" y="905462"/>
            <a:ext cx="29487" cy="4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405066" y="905775"/>
            <a:ext cx="31053" cy="11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436119" y="905775"/>
            <a:ext cx="26809" cy="88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462928" y="906656"/>
            <a:ext cx="30610" cy="33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493538" y="906991"/>
            <a:ext cx="29500" cy="22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3523038" y="906911"/>
            <a:ext cx="29531" cy="30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552569" y="906663"/>
            <a:ext cx="29529" cy="24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582098" y="906663"/>
            <a:ext cx="29440" cy="119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611538" y="907854"/>
            <a:ext cx="29449" cy="106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640987" y="908918"/>
            <a:ext cx="29464" cy="79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670451" y="909610"/>
            <a:ext cx="29520" cy="10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699971" y="908655"/>
            <a:ext cx="20180" cy="95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720151" y="908655"/>
            <a:ext cx="25278" cy="422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290346" y="1966027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350979" y="1920234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411613" y="1874441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472246" y="1828648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532879" y="1782856"/>
            <a:ext cx="60634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593513" y="1737063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654146" y="1691270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714779" y="1645478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775412" y="1599685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36045" y="1553892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96679" y="1508100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957312" y="1462307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017945" y="1416514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078579" y="1370721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139212" y="1324929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199845" y="1279136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260478" y="1233343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321112" y="1187551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381745" y="1141758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442378" y="1095965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503011" y="1050172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563644" y="1004380"/>
            <a:ext cx="60634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624278" y="958587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684911" y="912794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880005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214" name="Picture 2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ROC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59993" y="54468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Hypothetically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follows: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269559" y="2045851"/>
            <a:ext cx="3515836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533302" y="2045851"/>
            <a:ext cx="3252093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829370" y="2045851"/>
            <a:ext cx="2956025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125445" y="2045851"/>
            <a:ext cx="2659950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421512" y="2045851"/>
            <a:ext cx="2363883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749912" y="2045851"/>
            <a:ext cx="2035483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203356" y="1973637"/>
            <a:ext cx="358203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138701" y="1750035"/>
            <a:ext cx="3646694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138701" y="1526434"/>
            <a:ext cx="3646694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138701" y="1302825"/>
            <a:ext cx="3646694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138701" y="1079224"/>
            <a:ext cx="3646694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203356" y="855623"/>
            <a:ext cx="358203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689642" y="1120635"/>
            <a:ext cx="3095753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1B9E77"/>
                </a:solidFill>
                <a:latin typeface="Josefin Sans"/>
              </a:rPr>
              <a:t>NN1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312521" y="964174"/>
            <a:ext cx="3472875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D95F02"/>
                </a:solidFill>
                <a:latin typeface="Josefin Sans"/>
              </a:rPr>
              <a:t>NN2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690694" y="2150592"/>
            <a:ext cx="3094701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987419" y="1069305"/>
            <a:ext cx="3797976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60007" y="2393399"/>
            <a:ext cx="542538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questions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concern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are: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60058" y="260799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interpret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curves?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60058" y="286610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performance?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904537" y="3150916"/>
            <a:ext cx="8808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622595" y="3150563"/>
            <a:ext cx="16280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77581" y="1824993"/>
            <a:ext cx="0" cy="324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73655" y="1824993"/>
            <a:ext cx="0" cy="324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69728" y="1824993"/>
            <a:ext cx="0" cy="324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65801" y="1824993"/>
            <a:ext cx="0" cy="324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61874" y="1824993"/>
            <a:ext cx="0" cy="324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57947" y="1824993"/>
            <a:ext cx="0" cy="324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61379" y="1841195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261379" y="1617589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261379" y="1393982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61379" y="1170376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61379" y="946770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61379" y="723163"/>
            <a:ext cx="32405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77581" y="1841195"/>
            <a:ext cx="1465183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733800" y="18288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2277581" y="626543"/>
            <a:ext cx="0" cy="121465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260600" y="6096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2277581" y="1829107"/>
            <a:ext cx="5025" cy="1208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82606" y="1800610"/>
            <a:ext cx="2128" cy="2849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84734" y="1768308"/>
            <a:ext cx="4886" cy="3230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289620" y="1729492"/>
            <a:ext cx="5977" cy="3881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295597" y="1696905"/>
            <a:ext cx="6545" cy="3258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302142" y="1677697"/>
            <a:ext cx="2511" cy="1920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304653" y="1651799"/>
            <a:ext cx="5601" cy="2589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310254" y="1612066"/>
            <a:ext cx="5102" cy="3973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315356" y="1580736"/>
            <a:ext cx="5395" cy="3133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320751" y="1544147"/>
            <a:ext cx="8513" cy="3658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329264" y="1503982"/>
            <a:ext cx="6981" cy="4016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336245" y="1462813"/>
            <a:ext cx="9393" cy="4116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345638" y="1425613"/>
            <a:ext cx="9240" cy="3720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354878" y="1388819"/>
            <a:ext cx="10289" cy="3679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365167" y="1356687"/>
            <a:ext cx="10005" cy="3213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375172" y="1328002"/>
            <a:ext cx="9796" cy="2868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384968" y="1300347"/>
            <a:ext cx="9285" cy="2765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394253" y="1266424"/>
            <a:ext cx="11903" cy="3392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06156" y="1233308"/>
            <a:ext cx="14089" cy="3311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420245" y="1205606"/>
            <a:ext cx="13760" cy="2770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434005" y="1178633"/>
            <a:ext cx="13716" cy="2697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447721" y="1149449"/>
            <a:ext cx="16533" cy="2918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464254" y="1121473"/>
            <a:ext cx="17801" cy="2797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482055" y="1094545"/>
            <a:ext cx="19079" cy="2692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501134" y="1067545"/>
            <a:ext cx="21766" cy="2700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522900" y="1040192"/>
            <a:ext cx="24471" cy="2735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547371" y="1012810"/>
            <a:ext cx="28497" cy="2738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575868" y="986813"/>
            <a:ext cx="31096" cy="2599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606964" y="963801"/>
            <a:ext cx="30914" cy="2301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637878" y="944106"/>
            <a:ext cx="30712" cy="1969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668590" y="927065"/>
            <a:ext cx="30551" cy="1704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699141" y="911461"/>
            <a:ext cx="30462" cy="1560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729603" y="897406"/>
            <a:ext cx="30369" cy="1405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759972" y="884566"/>
            <a:ext cx="30295" cy="1284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790267" y="873165"/>
            <a:ext cx="30207" cy="1140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820474" y="862316"/>
            <a:ext cx="30174" cy="1084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850648" y="852683"/>
            <a:ext cx="30099" cy="963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880747" y="843935"/>
            <a:ext cx="30046" cy="874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910793" y="836182"/>
            <a:ext cx="29985" cy="775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940778" y="828208"/>
            <a:ext cx="29998" cy="797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970776" y="821451"/>
            <a:ext cx="29925" cy="675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000701" y="814804"/>
            <a:ext cx="29918" cy="6647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030619" y="808709"/>
            <a:ext cx="29884" cy="609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60503" y="803610"/>
            <a:ext cx="29823" cy="509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90326" y="798732"/>
            <a:ext cx="29810" cy="487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120136" y="793854"/>
            <a:ext cx="29810" cy="4878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149946" y="790635"/>
            <a:ext cx="29710" cy="321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179656" y="785425"/>
            <a:ext cx="29830" cy="521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209486" y="781321"/>
            <a:ext cx="29763" cy="410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239249" y="777881"/>
            <a:ext cx="29722" cy="344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268971" y="774330"/>
            <a:ext cx="29729" cy="3551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298700" y="770115"/>
            <a:ext cx="29770" cy="421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328470" y="768112"/>
            <a:ext cx="29635" cy="2003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358105" y="765667"/>
            <a:ext cx="29662" cy="244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387767" y="762448"/>
            <a:ext cx="29709" cy="321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417476" y="759228"/>
            <a:ext cx="29710" cy="322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447186" y="757004"/>
            <a:ext cx="29648" cy="222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476834" y="754890"/>
            <a:ext cx="29642" cy="211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506476" y="752928"/>
            <a:ext cx="29632" cy="196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536108" y="750332"/>
            <a:ext cx="29672" cy="2596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565780" y="747737"/>
            <a:ext cx="29670" cy="2595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595450" y="745298"/>
            <a:ext cx="29662" cy="2439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625112" y="743994"/>
            <a:ext cx="29593" cy="130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654705" y="742572"/>
            <a:ext cx="29599" cy="1422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684304" y="742258"/>
            <a:ext cx="21483" cy="314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05787" y="742258"/>
            <a:ext cx="26877" cy="0"/>
          </a:xfrm>
          <a:prstGeom prst="line">
            <a:avLst/>
          </a:prstGeom>
          <a:ln w="6073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280179" y="1785840"/>
            <a:ext cx="323" cy="51022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280502" y="1744101"/>
            <a:ext cx="1011" cy="4173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281513" y="1713534"/>
            <a:ext cx="582" cy="3056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281340" y="1688287"/>
            <a:ext cx="755" cy="2524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280875" y="1651292"/>
            <a:ext cx="465" cy="3699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280061" y="1609457"/>
            <a:ext cx="814" cy="4183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280061" y="1569703"/>
            <a:ext cx="312" cy="3975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280373" y="1541474"/>
            <a:ext cx="377" cy="2822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280750" y="1505188"/>
            <a:ext cx="1442" cy="3628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282192" y="1458532"/>
            <a:ext cx="2648" cy="4665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84840" y="1420335"/>
            <a:ext cx="2353" cy="3819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287193" y="1389109"/>
            <a:ext cx="3421" cy="3122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290614" y="1345533"/>
            <a:ext cx="5103" cy="4357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295717" y="1298228"/>
            <a:ext cx="5871" cy="4730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301588" y="1261303"/>
            <a:ext cx="7312" cy="3692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308900" y="1224029"/>
            <a:ext cx="6938" cy="3727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315838" y="1182762"/>
            <a:ext cx="10896" cy="4126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326734" y="1151036"/>
            <a:ext cx="9981" cy="3172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36715" y="1126202"/>
            <a:ext cx="8487" cy="2483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345202" y="1100354"/>
            <a:ext cx="9623" cy="2584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354825" y="1071618"/>
            <a:ext cx="12213" cy="2873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367038" y="1046469"/>
            <a:ext cx="13604" cy="2514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380642" y="1019313"/>
            <a:ext cx="16410" cy="2715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397052" y="992183"/>
            <a:ext cx="19091" cy="271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416143" y="963916"/>
            <a:ext cx="23185" cy="2826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439328" y="936556"/>
            <a:ext cx="27154" cy="2736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466482" y="911572"/>
            <a:ext cx="29693" cy="2498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496175" y="889555"/>
            <a:ext cx="30853" cy="2201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527028" y="870745"/>
            <a:ext cx="30659" cy="1881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557687" y="854920"/>
            <a:ext cx="30476" cy="1582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588163" y="841528"/>
            <a:ext cx="30328" cy="13392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618491" y="828578"/>
            <a:ext cx="30302" cy="1295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648793" y="817508"/>
            <a:ext cx="30187" cy="1107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678980" y="808207"/>
            <a:ext cx="30079" cy="930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709059" y="799127"/>
            <a:ext cx="30066" cy="908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739125" y="790822"/>
            <a:ext cx="30019" cy="830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769144" y="783732"/>
            <a:ext cx="29944" cy="709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799088" y="778412"/>
            <a:ext cx="29838" cy="532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28926" y="772097"/>
            <a:ext cx="29897" cy="631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858823" y="767993"/>
            <a:ext cx="29763" cy="410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888586" y="762673"/>
            <a:ext cx="29837" cy="532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918423" y="759343"/>
            <a:ext cx="29716" cy="33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948139" y="755349"/>
            <a:ext cx="29756" cy="399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977895" y="751024"/>
            <a:ext cx="29776" cy="4325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3007671" y="747694"/>
            <a:ext cx="29716" cy="333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37387" y="746023"/>
            <a:ext cx="29615" cy="167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067002" y="744905"/>
            <a:ext cx="29581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096583" y="743344"/>
            <a:ext cx="29608" cy="156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126191" y="741451"/>
            <a:ext cx="29629" cy="1893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155820" y="740333"/>
            <a:ext cx="29581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185401" y="739214"/>
            <a:ext cx="29581" cy="111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214982" y="738096"/>
            <a:ext cx="29581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244563" y="737752"/>
            <a:ext cx="29534" cy="34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274097" y="737075"/>
            <a:ext cx="29554" cy="67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303651" y="735957"/>
            <a:ext cx="29581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333232" y="734839"/>
            <a:ext cx="29582" cy="111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362814" y="734839"/>
            <a:ext cx="29487" cy="429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392301" y="735152"/>
            <a:ext cx="31053" cy="11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423354" y="735152"/>
            <a:ext cx="26809" cy="88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450163" y="736032"/>
            <a:ext cx="30610" cy="33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480773" y="736368"/>
            <a:ext cx="29499" cy="22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3510272" y="736287"/>
            <a:ext cx="29532" cy="307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539804" y="736039"/>
            <a:ext cx="29529" cy="24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569333" y="736039"/>
            <a:ext cx="29440" cy="1191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598773" y="737230"/>
            <a:ext cx="29448" cy="106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628221" y="738294"/>
            <a:ext cx="29465" cy="800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657686" y="738986"/>
            <a:ext cx="29519" cy="108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687205" y="738032"/>
            <a:ext cx="20181" cy="954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707386" y="738032"/>
            <a:ext cx="25278" cy="4226"/>
          </a:xfrm>
          <a:prstGeom prst="line">
            <a:avLst/>
          </a:prstGeom>
          <a:ln w="6073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277581" y="1795403"/>
            <a:ext cx="60634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338215" y="1749610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398848" y="1703817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459481" y="1658025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520114" y="1612232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580748" y="1566439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641381" y="1520647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702014" y="1474854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762647" y="1429061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23281" y="1383268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83914" y="1337476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944547" y="1291683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3005180" y="1245890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065814" y="1200098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126447" y="1154305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187080" y="1108512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247713" y="1062720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308346" y="1016927"/>
            <a:ext cx="60634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368980" y="971134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429613" y="925341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490246" y="879549"/>
            <a:ext cx="60634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550880" y="833756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611513" y="787963"/>
            <a:ext cx="60633" cy="45793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672146" y="742171"/>
            <a:ext cx="60633" cy="45792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214" name="Picture 2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ROC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256802" y="1875228"/>
            <a:ext cx="3528593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520538" y="1875228"/>
            <a:ext cx="3264858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816613" y="1875228"/>
            <a:ext cx="2968782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112680" y="1875228"/>
            <a:ext cx="2672715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408748" y="1875228"/>
            <a:ext cx="2376647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737147" y="1875228"/>
            <a:ext cx="204824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190592" y="1803013"/>
            <a:ext cx="3594804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125936" y="1579412"/>
            <a:ext cx="365945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125936" y="1355810"/>
            <a:ext cx="365945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125936" y="1132202"/>
            <a:ext cx="365945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125936" y="908600"/>
            <a:ext cx="3659459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0</a:t>
            </a:r>
            <a:r>
              <a:rPr sz="654" b="0">
                <a:solidFill>
                  <a:srgbClr val="000000"/>
                </a:solidFill>
                <a:latin typeface="Cambria Math"/>
              </a:rPr>
              <a:t>.</a:t>
            </a:r>
            <a:r>
              <a:rPr sz="654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190592" y="684999"/>
            <a:ext cx="3594804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676877" y="950011"/>
            <a:ext cx="3108518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1B9E77"/>
                </a:solidFill>
                <a:latin typeface="Josefin Sans"/>
              </a:rPr>
              <a:t>NN1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299763" y="793550"/>
            <a:ext cx="3485632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D95F02"/>
                </a:solidFill>
                <a:latin typeface="Josefin Sans"/>
              </a:rPr>
              <a:t>NN2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677929" y="1979969"/>
            <a:ext cx="3107466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974654" y="898681"/>
            <a:ext cx="3810741" cy="1288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4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654" b="0">
                <a:solidFill>
                  <a:srgbClr val="000000"/>
                </a:solidFill>
                <a:latin typeface="Josefin Sans"/>
              </a:rPr>
              <a:t> </a:t>
            </a:r>
            <a:r>
              <a:rPr sz="654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59991" y="222278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attributes: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60055" y="2437369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always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above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major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diagonal.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60055" y="2695484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always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monotonically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increasing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left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right.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904534" y="3150917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622440" y="3150563"/>
            <a:ext cx="1629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578792" y="1188619"/>
            <a:ext cx="0" cy="162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726829" y="1188619"/>
            <a:ext cx="0" cy="162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74865" y="1188619"/>
            <a:ext cx="0" cy="162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22902" y="1188619"/>
            <a:ext cx="0" cy="162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170939" y="1188619"/>
            <a:ext cx="0" cy="162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318975" y="1188619"/>
            <a:ext cx="0" cy="16203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570691" y="1196720"/>
            <a:ext cx="16203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570691" y="1084917"/>
            <a:ext cx="16203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570691" y="973114"/>
            <a:ext cx="16203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570691" y="861310"/>
            <a:ext cx="16203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70691" y="749507"/>
            <a:ext cx="16203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70691" y="637704"/>
            <a:ext cx="16203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578792" y="1196720"/>
            <a:ext cx="732591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302000" y="11938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2578792" y="589394"/>
            <a:ext cx="0" cy="60732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578100" y="5842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2578792" y="1190676"/>
            <a:ext cx="2513" cy="604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581305" y="1176427"/>
            <a:ext cx="1064" cy="1424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582369" y="1160276"/>
            <a:ext cx="2443" cy="16151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584812" y="1140869"/>
            <a:ext cx="2988" cy="1940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587800" y="1124575"/>
            <a:ext cx="3273" cy="1629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591073" y="1114971"/>
            <a:ext cx="1255" cy="960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592328" y="1102022"/>
            <a:ext cx="2800" cy="1294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595128" y="1082156"/>
            <a:ext cx="2552" cy="1986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597680" y="1066490"/>
            <a:ext cx="2697" cy="1566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600377" y="1048196"/>
            <a:ext cx="4257" cy="1829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604634" y="1028114"/>
            <a:ext cx="3490" cy="2008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608124" y="1007529"/>
            <a:ext cx="4696" cy="20585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612820" y="988929"/>
            <a:ext cx="4621" cy="1860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617441" y="970532"/>
            <a:ext cx="5144" cy="1839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622585" y="954466"/>
            <a:ext cx="5003" cy="1606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627588" y="940123"/>
            <a:ext cx="4897" cy="14343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632485" y="926296"/>
            <a:ext cx="4643" cy="1382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637128" y="909334"/>
            <a:ext cx="5951" cy="1696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643079" y="892777"/>
            <a:ext cx="7045" cy="1655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650124" y="878925"/>
            <a:ext cx="6880" cy="1385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657004" y="865439"/>
            <a:ext cx="6858" cy="1348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663862" y="850847"/>
            <a:ext cx="8267" cy="1459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672129" y="836859"/>
            <a:ext cx="8900" cy="13988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681029" y="823395"/>
            <a:ext cx="9540" cy="1346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690569" y="809895"/>
            <a:ext cx="10883" cy="1350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701452" y="796219"/>
            <a:ext cx="12235" cy="1367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713687" y="782528"/>
            <a:ext cx="14249" cy="13691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727936" y="769529"/>
            <a:ext cx="15548" cy="1299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743484" y="758023"/>
            <a:ext cx="15456" cy="1150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758940" y="748175"/>
            <a:ext cx="15356" cy="9848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774296" y="739655"/>
            <a:ext cx="15276" cy="852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789572" y="731853"/>
            <a:ext cx="15231" cy="780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804803" y="724825"/>
            <a:ext cx="15185" cy="7028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819988" y="718406"/>
            <a:ext cx="15147" cy="641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835135" y="712705"/>
            <a:ext cx="15104" cy="5701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850239" y="707280"/>
            <a:ext cx="15087" cy="5425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865326" y="702464"/>
            <a:ext cx="15049" cy="481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880375" y="698090"/>
            <a:ext cx="15023" cy="437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895398" y="694214"/>
            <a:ext cx="14992" cy="387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910390" y="690227"/>
            <a:ext cx="15000" cy="398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925390" y="686848"/>
            <a:ext cx="14962" cy="337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940352" y="683524"/>
            <a:ext cx="14959" cy="3324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955311" y="680477"/>
            <a:ext cx="14942" cy="304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970253" y="677928"/>
            <a:ext cx="14912" cy="254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985165" y="675489"/>
            <a:ext cx="14905" cy="243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000070" y="673050"/>
            <a:ext cx="14905" cy="243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014975" y="671440"/>
            <a:ext cx="14854" cy="161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029829" y="668835"/>
            <a:ext cx="14915" cy="2605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044744" y="666783"/>
            <a:ext cx="14882" cy="205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059626" y="665063"/>
            <a:ext cx="14861" cy="172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074487" y="663287"/>
            <a:ext cx="14865" cy="1776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089352" y="661180"/>
            <a:ext cx="14885" cy="210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104237" y="660179"/>
            <a:ext cx="14817" cy="1001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119054" y="658956"/>
            <a:ext cx="14831" cy="1223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133885" y="657346"/>
            <a:ext cx="14855" cy="161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148740" y="655737"/>
            <a:ext cx="14854" cy="160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163594" y="654625"/>
            <a:ext cx="14825" cy="1112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178419" y="653568"/>
            <a:ext cx="14820" cy="1057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193239" y="652587"/>
            <a:ext cx="14817" cy="981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208056" y="651289"/>
            <a:ext cx="14835" cy="1298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222891" y="649991"/>
            <a:ext cx="14836" cy="1298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237727" y="648772"/>
            <a:ext cx="14831" cy="1219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252558" y="648119"/>
            <a:ext cx="14796" cy="653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267354" y="647409"/>
            <a:ext cx="14800" cy="71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282154" y="647251"/>
            <a:ext cx="10741" cy="158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292895" y="647251"/>
            <a:ext cx="13438" cy="0"/>
          </a:xfrm>
          <a:prstGeom prst="line">
            <a:avLst/>
          </a:prstGeom>
          <a:ln w="3175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580091" y="1169043"/>
            <a:ext cx="161" cy="25511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580252" y="1148173"/>
            <a:ext cx="506" cy="2087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580758" y="1132889"/>
            <a:ext cx="291" cy="1528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580671" y="1120266"/>
            <a:ext cx="378" cy="1262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580439" y="1101769"/>
            <a:ext cx="232" cy="1849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580032" y="1080851"/>
            <a:ext cx="407" cy="2091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580032" y="1060974"/>
            <a:ext cx="156" cy="1987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580188" y="1046860"/>
            <a:ext cx="188" cy="1411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580376" y="1028717"/>
            <a:ext cx="722" cy="1814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581098" y="1005388"/>
            <a:ext cx="1324" cy="2332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582422" y="986290"/>
            <a:ext cx="1176" cy="1909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583598" y="970677"/>
            <a:ext cx="1711" cy="1561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585309" y="948889"/>
            <a:ext cx="2551" cy="2178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587860" y="925236"/>
            <a:ext cx="2936" cy="2365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590796" y="906774"/>
            <a:ext cx="3656" cy="18462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594452" y="888137"/>
            <a:ext cx="3468" cy="1863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597920" y="867504"/>
            <a:ext cx="5449" cy="2063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603369" y="851640"/>
            <a:ext cx="4990" cy="1586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608359" y="839223"/>
            <a:ext cx="4244" cy="1241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612603" y="826300"/>
            <a:ext cx="4811" cy="1292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617414" y="811931"/>
            <a:ext cx="6107" cy="1436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623521" y="799357"/>
            <a:ext cx="6802" cy="1257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630323" y="785779"/>
            <a:ext cx="8205" cy="1357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638528" y="772214"/>
            <a:ext cx="9545" cy="13565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648073" y="758081"/>
            <a:ext cx="11593" cy="1413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659666" y="744401"/>
            <a:ext cx="13577" cy="1368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673243" y="731908"/>
            <a:ext cx="14846" cy="1249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688089" y="720900"/>
            <a:ext cx="15427" cy="1100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703516" y="711495"/>
            <a:ext cx="15329" cy="9405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718845" y="703583"/>
            <a:ext cx="15238" cy="7912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734083" y="696886"/>
            <a:ext cx="15164" cy="669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749247" y="690412"/>
            <a:ext cx="15151" cy="647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764398" y="684877"/>
            <a:ext cx="15093" cy="5535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779491" y="680226"/>
            <a:ext cx="15040" cy="4651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794531" y="675686"/>
            <a:ext cx="15033" cy="454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809564" y="671533"/>
            <a:ext cx="15009" cy="415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824573" y="667989"/>
            <a:ext cx="14973" cy="354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839546" y="665329"/>
            <a:ext cx="14918" cy="266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54464" y="662171"/>
            <a:ext cx="14949" cy="315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869413" y="660119"/>
            <a:ext cx="14882" cy="2052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884295" y="657459"/>
            <a:ext cx="14918" cy="266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899213" y="655794"/>
            <a:ext cx="14858" cy="1665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914071" y="653797"/>
            <a:ext cx="14878" cy="199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928949" y="651635"/>
            <a:ext cx="14888" cy="2162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943837" y="649970"/>
            <a:ext cx="14858" cy="1665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2958695" y="649134"/>
            <a:ext cx="14807" cy="83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2973502" y="648575"/>
            <a:ext cx="14791" cy="55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2988293" y="647794"/>
            <a:ext cx="14804" cy="781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003097" y="646848"/>
            <a:ext cx="14814" cy="94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017911" y="646289"/>
            <a:ext cx="14791" cy="55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032702" y="645730"/>
            <a:ext cx="14791" cy="55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047493" y="645170"/>
            <a:ext cx="14790" cy="560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062283" y="644998"/>
            <a:ext cx="14767" cy="172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077050" y="644660"/>
            <a:ext cx="14777" cy="33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091827" y="644101"/>
            <a:ext cx="14791" cy="55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106618" y="643542"/>
            <a:ext cx="14791" cy="55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121409" y="643542"/>
            <a:ext cx="14743" cy="215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136152" y="643698"/>
            <a:ext cx="15527" cy="5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151679" y="643698"/>
            <a:ext cx="13404" cy="441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165083" y="644139"/>
            <a:ext cx="15305" cy="167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180388" y="644306"/>
            <a:ext cx="14750" cy="11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3195138" y="644266"/>
            <a:ext cx="14766" cy="15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209904" y="644142"/>
            <a:ext cx="14764" cy="124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224668" y="644142"/>
            <a:ext cx="14720" cy="596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239388" y="644738"/>
            <a:ext cx="14725" cy="532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254113" y="645270"/>
            <a:ext cx="14732" cy="399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268845" y="645616"/>
            <a:ext cx="14759" cy="5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283604" y="645138"/>
            <a:ext cx="10091" cy="478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293695" y="645138"/>
            <a:ext cx="12638" cy="2113"/>
          </a:xfrm>
          <a:prstGeom prst="line">
            <a:avLst/>
          </a:prstGeom>
          <a:ln w="3175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578792" y="1173824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609109" y="1150928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639426" y="1128031"/>
            <a:ext cx="30316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669742" y="1105135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700059" y="1082238"/>
            <a:ext cx="30316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730375" y="1059342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760692" y="1036446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791009" y="1013549"/>
            <a:ext cx="30316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821325" y="990653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51642" y="967757"/>
            <a:ext cx="30316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81958" y="944860"/>
            <a:ext cx="30317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912275" y="921964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942592" y="899068"/>
            <a:ext cx="30316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2972908" y="876171"/>
            <a:ext cx="30317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003225" y="853275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033542" y="830379"/>
            <a:ext cx="30316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063858" y="807482"/>
            <a:ext cx="30317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094175" y="784586"/>
            <a:ext cx="30316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124491" y="761690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154808" y="738793"/>
            <a:ext cx="30317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185125" y="715897"/>
            <a:ext cx="30316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215441" y="693001"/>
            <a:ext cx="30317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245758" y="670104"/>
            <a:ext cx="30317" cy="22897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276075" y="647208"/>
            <a:ext cx="30316" cy="22896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97089" y="2688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97089" y="2926054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2880003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ROC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568399" y="1213736"/>
            <a:ext cx="3216997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700270" y="1213736"/>
            <a:ext cx="3085125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848304" y="1213736"/>
            <a:ext cx="2937091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996341" y="1213736"/>
            <a:ext cx="2789054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144375" y="1213736"/>
            <a:ext cx="2641020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308571" y="1213736"/>
            <a:ext cx="2476824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535297" y="1177629"/>
            <a:ext cx="3250098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502969" y="1065829"/>
            <a:ext cx="3282426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502969" y="954028"/>
            <a:ext cx="3282426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502969" y="842223"/>
            <a:ext cx="3282426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502969" y="730423"/>
            <a:ext cx="3282426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0</a:t>
            </a:r>
            <a:r>
              <a:rPr sz="327" b="0">
                <a:solidFill>
                  <a:srgbClr val="000000"/>
                </a:solidFill>
                <a:latin typeface="Cambria Math"/>
              </a:rPr>
              <a:t>.</a:t>
            </a:r>
            <a:r>
              <a:rPr sz="327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535297" y="618622"/>
            <a:ext cx="3250098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778440" y="751128"/>
            <a:ext cx="3006955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1B9E77"/>
                </a:solidFill>
                <a:latin typeface="Josefin Sans"/>
              </a:rPr>
              <a:t>NN1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589879" y="672898"/>
            <a:ext cx="3195516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D95F02"/>
                </a:solidFill>
                <a:latin typeface="Josefin Sans"/>
              </a:rPr>
              <a:t>NN2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778966" y="1266107"/>
            <a:ext cx="3006429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327" b="0">
                <a:solidFill>
                  <a:srgbClr val="000000"/>
                </a:solidFill>
                <a:latin typeface="Josefin Sans"/>
              </a:rPr>
              <a:t> </a:t>
            </a:r>
            <a:r>
              <a:rPr sz="327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327" b="0">
                <a:solidFill>
                  <a:srgbClr val="000000"/>
                </a:solidFill>
                <a:latin typeface="Josefin Sans"/>
              </a:rPr>
              <a:t> </a:t>
            </a:r>
            <a:r>
              <a:rPr sz="327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427329" y="725463"/>
            <a:ext cx="3358066" cy="644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7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327" b="0">
                <a:solidFill>
                  <a:srgbClr val="000000"/>
                </a:solidFill>
                <a:latin typeface="Josefin Sans"/>
              </a:rPr>
              <a:t> </a:t>
            </a:r>
            <a:r>
              <a:rPr sz="327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327" b="0">
                <a:solidFill>
                  <a:srgbClr val="000000"/>
                </a:solidFill>
                <a:latin typeface="Josefin Sans"/>
              </a:rPr>
              <a:t> </a:t>
            </a:r>
            <a:r>
              <a:rPr sz="327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60056" y="141762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measure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987409" y="1633228"/>
            <a:ext cx="37979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5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&lt;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&lt;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60056" y="184781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1.0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corresponds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60056" y="2105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larger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60056" y="234379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under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14183" y="2634804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generate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smooth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points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under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it,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914183" y="2872662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join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points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straight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lines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calculate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trapezoidal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rule.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904535" y="315092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626467" y="3150575"/>
            <a:ext cx="1589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377991" y="186744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24719" y="186744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71447" y="186744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18174" y="186744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364902" y="186744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611629" y="186744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64489" y="1880951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4489" y="1694613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64489" y="1508274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364489" y="1321935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364489" y="1135596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364489" y="949258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377991" y="1880951"/>
            <a:ext cx="122098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594100" y="1866900"/>
            <a:ext cx="12700" cy="25400"/>
          </a:xfrm>
          <a:custGeom>
            <a:avLst/>
            <a:gdLst/>
            <a:ahLst/>
            <a:cxnLst/>
            <a:rect l="l" t="t" r="r" b="b"/>
            <a:pathLst>
              <a:path w="1" h="2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2377991" y="868741"/>
            <a:ext cx="0" cy="101221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362200" y="8509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2377991" y="1870878"/>
            <a:ext cx="4188" cy="1007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382179" y="1847130"/>
            <a:ext cx="1773" cy="2374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383952" y="1820212"/>
            <a:ext cx="4072" cy="2691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388024" y="1787865"/>
            <a:ext cx="4980" cy="3234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393004" y="1760709"/>
            <a:ext cx="5455" cy="2715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398459" y="1744703"/>
            <a:ext cx="2092" cy="1600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400551" y="1723121"/>
            <a:ext cx="4667" cy="2158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405218" y="1690010"/>
            <a:ext cx="4252" cy="3311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409470" y="1663902"/>
            <a:ext cx="4496" cy="2610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413966" y="1633411"/>
            <a:ext cx="7095" cy="3049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421061" y="1599940"/>
            <a:ext cx="5817" cy="3347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426878" y="1565632"/>
            <a:ext cx="7827" cy="3430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434705" y="1534633"/>
            <a:ext cx="7700" cy="3099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442405" y="1503971"/>
            <a:ext cx="8575" cy="3066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450980" y="1477194"/>
            <a:ext cx="8337" cy="2677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459317" y="1453290"/>
            <a:ext cx="8163" cy="23904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467480" y="1430244"/>
            <a:ext cx="7738" cy="2304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475218" y="1401975"/>
            <a:ext cx="9919" cy="2826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485137" y="1374379"/>
            <a:ext cx="11741" cy="2759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496878" y="1351293"/>
            <a:ext cx="11467" cy="2308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508345" y="1328816"/>
            <a:ext cx="11429" cy="2247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519774" y="1304496"/>
            <a:ext cx="13778" cy="2432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533552" y="1281182"/>
            <a:ext cx="14834" cy="23314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548386" y="1258743"/>
            <a:ext cx="15899" cy="2243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564285" y="1236243"/>
            <a:ext cx="18139" cy="2250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582424" y="1213449"/>
            <a:ext cx="20392" cy="22794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602816" y="1190630"/>
            <a:ext cx="23748" cy="2281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626564" y="1168966"/>
            <a:ext cx="25913" cy="21664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652477" y="1149789"/>
            <a:ext cx="25761" cy="1917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678238" y="1133377"/>
            <a:ext cx="25594" cy="1641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703832" y="1119176"/>
            <a:ext cx="25459" cy="1420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729291" y="1106173"/>
            <a:ext cx="25385" cy="1300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754676" y="1094460"/>
            <a:ext cx="25308" cy="1171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779984" y="1083760"/>
            <a:ext cx="25245" cy="1070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805229" y="1074259"/>
            <a:ext cx="25173" cy="950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830402" y="1065218"/>
            <a:ext cx="25145" cy="904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855547" y="1057191"/>
            <a:ext cx="25082" cy="802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880629" y="1049901"/>
            <a:ext cx="25038" cy="729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905667" y="1043440"/>
            <a:ext cx="24988" cy="646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930655" y="1036795"/>
            <a:ext cx="24999" cy="664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955654" y="1031164"/>
            <a:ext cx="24937" cy="563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980591" y="1025625"/>
            <a:ext cx="24931" cy="553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005522" y="1020546"/>
            <a:ext cx="24904" cy="507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030426" y="1016297"/>
            <a:ext cx="24853" cy="424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055279" y="1012232"/>
            <a:ext cx="24841" cy="406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080120" y="1008167"/>
            <a:ext cx="24842" cy="406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104962" y="1005484"/>
            <a:ext cx="24758" cy="268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129720" y="1001143"/>
            <a:ext cx="24858" cy="434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154578" y="997723"/>
            <a:ext cx="24803" cy="342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179381" y="994856"/>
            <a:ext cx="24769" cy="286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204150" y="991897"/>
            <a:ext cx="24774" cy="295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228924" y="988385"/>
            <a:ext cx="24808" cy="351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253732" y="986715"/>
            <a:ext cx="24696" cy="167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278428" y="984678"/>
            <a:ext cx="24718" cy="203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303146" y="981995"/>
            <a:ext cx="24758" cy="268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327904" y="979312"/>
            <a:ext cx="24758" cy="268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352662" y="977459"/>
            <a:ext cx="24707" cy="185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377369" y="975697"/>
            <a:ext cx="24701" cy="176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402070" y="974062"/>
            <a:ext cx="24694" cy="163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426764" y="971899"/>
            <a:ext cx="24726" cy="216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451490" y="969736"/>
            <a:ext cx="24725" cy="216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476215" y="967704"/>
            <a:ext cx="24718" cy="203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500933" y="966617"/>
            <a:ext cx="24661" cy="108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525594" y="965432"/>
            <a:ext cx="24666" cy="118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550260" y="965170"/>
            <a:ext cx="17903" cy="26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568163" y="965170"/>
            <a:ext cx="22397" cy="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380156" y="1834822"/>
            <a:ext cx="269" cy="4251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380425" y="1800040"/>
            <a:ext cx="843" cy="3478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381268" y="1774567"/>
            <a:ext cx="485" cy="2547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 flipV="1">
            <a:off x="2381123" y="1753527"/>
            <a:ext cx="630" cy="2104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2380736" y="1722699"/>
            <a:ext cx="387" cy="3082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2380057" y="1687836"/>
            <a:ext cx="679" cy="3486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380057" y="1654707"/>
            <a:ext cx="260" cy="3312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380317" y="1631184"/>
            <a:ext cx="315" cy="2352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380632" y="1600945"/>
            <a:ext cx="1202" cy="302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381834" y="1562065"/>
            <a:ext cx="2206" cy="3888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384040" y="1530234"/>
            <a:ext cx="1962" cy="3183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386002" y="1504213"/>
            <a:ext cx="2850" cy="2602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388852" y="1467900"/>
            <a:ext cx="4252" cy="3631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393104" y="1428478"/>
            <a:ext cx="4893" cy="3942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397997" y="1397708"/>
            <a:ext cx="6094" cy="3077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404091" y="1366646"/>
            <a:ext cx="5781" cy="3106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409872" y="1332257"/>
            <a:ext cx="9080" cy="3438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418952" y="1305818"/>
            <a:ext cx="8317" cy="264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427269" y="1285123"/>
            <a:ext cx="7073" cy="2069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2434342" y="1263584"/>
            <a:ext cx="8019" cy="215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2442361" y="1239637"/>
            <a:ext cx="10178" cy="2394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2452539" y="1218680"/>
            <a:ext cx="11336" cy="2095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2463875" y="1196050"/>
            <a:ext cx="13675" cy="2263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2477550" y="1173441"/>
            <a:ext cx="15910" cy="2260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493460" y="1149885"/>
            <a:ext cx="19320" cy="2355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2512780" y="1127085"/>
            <a:ext cx="22629" cy="2280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2535409" y="1106265"/>
            <a:ext cx="24744" cy="2082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2560153" y="1087918"/>
            <a:ext cx="25711" cy="1834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2585864" y="1072242"/>
            <a:ext cx="25548" cy="1567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2611412" y="1059055"/>
            <a:ext cx="25397" cy="1318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2636809" y="1047895"/>
            <a:ext cx="25274" cy="1116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2662083" y="1037104"/>
            <a:ext cx="25251" cy="1079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687334" y="1027879"/>
            <a:ext cx="25156" cy="922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712490" y="1020128"/>
            <a:ext cx="25066" cy="775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737556" y="1012561"/>
            <a:ext cx="25055" cy="756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762611" y="1005640"/>
            <a:ext cx="25016" cy="692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787627" y="999732"/>
            <a:ext cx="24954" cy="590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812581" y="995299"/>
            <a:ext cx="24864" cy="443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837445" y="990036"/>
            <a:ext cx="24914" cy="526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862359" y="986616"/>
            <a:ext cx="24803" cy="342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887162" y="982182"/>
            <a:ext cx="24864" cy="443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912026" y="979407"/>
            <a:ext cx="24763" cy="277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936789" y="976079"/>
            <a:ext cx="24797" cy="332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961586" y="972475"/>
            <a:ext cx="24814" cy="360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986400" y="969700"/>
            <a:ext cx="24763" cy="277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11163" y="968308"/>
            <a:ext cx="24679" cy="139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035842" y="967376"/>
            <a:ext cx="24651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060493" y="966075"/>
            <a:ext cx="24673" cy="130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085166" y="964498"/>
            <a:ext cx="24691" cy="157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109857" y="963566"/>
            <a:ext cx="24650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134507" y="962634"/>
            <a:ext cx="24652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159159" y="961702"/>
            <a:ext cx="24650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183809" y="961415"/>
            <a:ext cx="24612" cy="28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208421" y="960851"/>
            <a:ext cx="24629" cy="56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233050" y="959919"/>
            <a:ext cx="24651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257701" y="958987"/>
            <a:ext cx="24651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3282352" y="958987"/>
            <a:ext cx="24572" cy="35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306924" y="959248"/>
            <a:ext cx="25878" cy="9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3332802" y="959248"/>
            <a:ext cx="22340" cy="73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355142" y="959982"/>
            <a:ext cx="25509" cy="28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380651" y="960262"/>
            <a:ext cx="24583" cy="18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3405234" y="960194"/>
            <a:ext cx="24610" cy="25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3429844" y="959988"/>
            <a:ext cx="24607" cy="20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454451" y="959988"/>
            <a:ext cx="24533" cy="99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478984" y="960980"/>
            <a:ext cx="24541" cy="88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3503525" y="961867"/>
            <a:ext cx="24553" cy="66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3528078" y="962444"/>
            <a:ext cx="24600" cy="8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3552678" y="961648"/>
            <a:ext cx="16817" cy="79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3569495" y="961648"/>
            <a:ext cx="21065" cy="352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2377991" y="1842791"/>
            <a:ext cx="50528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2428519" y="1804630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2479047" y="1766470"/>
            <a:ext cx="50527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2529574" y="1728309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2580102" y="1690148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630630" y="1651988"/>
            <a:ext cx="50528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2681158" y="1613827"/>
            <a:ext cx="50527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2731685" y="1575667"/>
            <a:ext cx="50528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2782213" y="1537506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2832741" y="1499346"/>
            <a:ext cx="50527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2883268" y="1461185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2933796" y="1423024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2984324" y="1384864"/>
            <a:ext cx="50527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3034851" y="1346703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3085379" y="1308543"/>
            <a:ext cx="50528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3135907" y="1270382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3186435" y="1232221"/>
            <a:ext cx="50527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3236962" y="1194061"/>
            <a:ext cx="50528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3287490" y="1155900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3338018" y="1117740"/>
            <a:ext cx="50527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3388545" y="1079579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3439073" y="1041418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3489601" y="1003258"/>
            <a:ext cx="50527" cy="3816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3540128" y="965097"/>
            <a:ext cx="50528" cy="3816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214" name="Picture 2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215" name="TextBox 21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ROC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360675" y="1909305"/>
            <a:ext cx="3424720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580461" y="1909305"/>
            <a:ext cx="3204934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827184" y="1909305"/>
            <a:ext cx="2958211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073907" y="1909305"/>
            <a:ext cx="2711488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320636" y="1909305"/>
            <a:ext cx="2464759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594296" y="1909305"/>
            <a:ext cx="2191099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305500" y="1849133"/>
            <a:ext cx="347989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251620" y="1662792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251620" y="1476458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251620" y="1290123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251620" y="1103789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305500" y="917448"/>
            <a:ext cx="347989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710738" y="1138298"/>
            <a:ext cx="3074657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1B9E77"/>
                </a:solidFill>
                <a:latin typeface="Josefin Sans"/>
              </a:rPr>
              <a:t>NN1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396476" y="1007913"/>
            <a:ext cx="3388919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D95F02"/>
                </a:solidFill>
                <a:latin typeface="Josefin Sans"/>
              </a:rPr>
              <a:t>NN2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711620" y="1996596"/>
            <a:ext cx="307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125558" y="1095517"/>
            <a:ext cx="3659837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59993" y="222348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shape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indicates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sensitivity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59993" y="239555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threshold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904535" y="3150929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623584" y="3150576"/>
            <a:ext cx="1618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377991" y="257238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624719" y="257238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71447" y="257238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118174" y="257238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364902" y="257238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611629" y="2572389"/>
            <a:ext cx="0" cy="27005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64489" y="2585891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4489" y="2399553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64489" y="2213214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364489" y="2026875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364489" y="1840536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364489" y="1654198"/>
            <a:ext cx="27004" cy="0"/>
          </a:xfrm>
          <a:prstGeom prst="line">
            <a:avLst/>
          </a:prstGeom>
          <a:ln w="3175">
            <a:solidFill>
              <a:srgbClr val="7F80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377991" y="2585891"/>
            <a:ext cx="1220986" cy="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3594100" y="2578100"/>
            <a:ext cx="12700" cy="127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2377991" y="1573681"/>
            <a:ext cx="0" cy="101221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362200" y="15621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2377991" y="2314275"/>
            <a:ext cx="42539" cy="27161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420530" y="2121740"/>
            <a:ext cx="42538" cy="19253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463068" y="1985396"/>
            <a:ext cx="42538" cy="136344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505606" y="1888751"/>
            <a:ext cx="42538" cy="9664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548144" y="1820347"/>
            <a:ext cx="42539" cy="68404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2590683" y="1771899"/>
            <a:ext cx="42538" cy="4844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2633221" y="1737563"/>
            <a:ext cx="42538" cy="34336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675759" y="1713250"/>
            <a:ext cx="42539" cy="2431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718298" y="1696027"/>
            <a:ext cx="42538" cy="1722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760836" y="1683827"/>
            <a:ext cx="42538" cy="12200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803374" y="1675186"/>
            <a:ext cx="42538" cy="864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845912" y="1669064"/>
            <a:ext cx="42539" cy="612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888451" y="1664729"/>
            <a:ext cx="42538" cy="433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930989" y="1661657"/>
            <a:ext cx="42538" cy="307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973527" y="1659482"/>
            <a:ext cx="42539" cy="217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016066" y="1657941"/>
            <a:ext cx="42538" cy="1541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058604" y="1656849"/>
            <a:ext cx="42538" cy="1092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101142" y="1656076"/>
            <a:ext cx="42539" cy="773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143681" y="1655528"/>
            <a:ext cx="42538" cy="54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186219" y="1655140"/>
            <a:ext cx="42538" cy="38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228757" y="1654865"/>
            <a:ext cx="42539" cy="27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271296" y="1654670"/>
            <a:ext cx="42538" cy="19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313834" y="1654533"/>
            <a:ext cx="42538" cy="13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3356372" y="1654435"/>
            <a:ext cx="42538" cy="98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398910" y="1654366"/>
            <a:ext cx="42539" cy="6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441449" y="1654317"/>
            <a:ext cx="42538" cy="49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483987" y="1654282"/>
            <a:ext cx="42538" cy="3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526525" y="1654257"/>
            <a:ext cx="42538" cy="25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569063" y="1654240"/>
            <a:ext cx="42539" cy="17"/>
          </a:xfrm>
          <a:prstGeom prst="line">
            <a:avLst/>
          </a:prstGeom>
          <a:ln w="5061">
            <a:solidFill>
              <a:srgbClr val="1B9E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380156" y="2539762"/>
            <a:ext cx="269" cy="4251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380425" y="2504980"/>
            <a:ext cx="843" cy="3478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381268" y="2479506"/>
            <a:ext cx="485" cy="2547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2381123" y="2458467"/>
            <a:ext cx="630" cy="210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 flipV="1">
            <a:off x="2380736" y="2427639"/>
            <a:ext cx="387" cy="3082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2380057" y="2392776"/>
            <a:ext cx="679" cy="3486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380057" y="2359647"/>
            <a:ext cx="260" cy="3312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380317" y="2336124"/>
            <a:ext cx="315" cy="2352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380632" y="2305885"/>
            <a:ext cx="1202" cy="302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381834" y="2267005"/>
            <a:ext cx="2206" cy="3888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384040" y="2235174"/>
            <a:ext cx="1962" cy="3183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386002" y="2209153"/>
            <a:ext cx="2850" cy="2602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388852" y="2172840"/>
            <a:ext cx="4252" cy="3631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393104" y="2133418"/>
            <a:ext cx="4893" cy="3942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397997" y="2102648"/>
            <a:ext cx="6094" cy="3077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404091" y="2071586"/>
            <a:ext cx="5781" cy="3106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409872" y="2037197"/>
            <a:ext cx="9080" cy="3438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418952" y="2010758"/>
            <a:ext cx="8317" cy="264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427269" y="1990063"/>
            <a:ext cx="7073" cy="2069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434342" y="1968524"/>
            <a:ext cx="8019" cy="2153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442361" y="1944577"/>
            <a:ext cx="10178" cy="2394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452539" y="1923619"/>
            <a:ext cx="11336" cy="2095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463875" y="1900989"/>
            <a:ext cx="13675" cy="2263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477550" y="1878381"/>
            <a:ext cx="15910" cy="2260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493460" y="1854825"/>
            <a:ext cx="19320" cy="2355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512780" y="1832025"/>
            <a:ext cx="22629" cy="2280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535409" y="1811205"/>
            <a:ext cx="24744" cy="2082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560153" y="1792858"/>
            <a:ext cx="25711" cy="1834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2585864" y="1777182"/>
            <a:ext cx="25548" cy="1567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2611412" y="1763995"/>
            <a:ext cx="25397" cy="1318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636809" y="1752835"/>
            <a:ext cx="25274" cy="1116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662083" y="1742044"/>
            <a:ext cx="25251" cy="1079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687334" y="1732819"/>
            <a:ext cx="25156" cy="922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2712490" y="1725068"/>
            <a:ext cx="25066" cy="775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2737556" y="1717501"/>
            <a:ext cx="25055" cy="756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2762611" y="1710580"/>
            <a:ext cx="25016" cy="692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787627" y="1704672"/>
            <a:ext cx="24954" cy="590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2812581" y="1700238"/>
            <a:ext cx="24864" cy="443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837445" y="1694975"/>
            <a:ext cx="24914" cy="5263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862359" y="1691556"/>
            <a:ext cx="24803" cy="3419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887162" y="1687122"/>
            <a:ext cx="24864" cy="443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2912026" y="1684347"/>
            <a:ext cx="24763" cy="277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2936789" y="1681019"/>
            <a:ext cx="24797" cy="332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961586" y="1677415"/>
            <a:ext cx="24814" cy="360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986400" y="1674640"/>
            <a:ext cx="24763" cy="277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3011163" y="1673248"/>
            <a:ext cx="24679" cy="139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3035842" y="1672316"/>
            <a:ext cx="24651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3060493" y="1671015"/>
            <a:ext cx="24673" cy="1301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3085166" y="1669438"/>
            <a:ext cx="24691" cy="157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3109857" y="1668506"/>
            <a:ext cx="24650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3134507" y="1667574"/>
            <a:ext cx="24652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3159159" y="1666642"/>
            <a:ext cx="24650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3183809" y="1666355"/>
            <a:ext cx="24612" cy="28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3208421" y="1665791"/>
            <a:ext cx="24629" cy="56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233050" y="1664859"/>
            <a:ext cx="24651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257701" y="1663927"/>
            <a:ext cx="24651" cy="93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282352" y="1663927"/>
            <a:ext cx="24572" cy="35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306924" y="1664188"/>
            <a:ext cx="25878" cy="9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332802" y="1664188"/>
            <a:ext cx="22340" cy="734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355142" y="1664922"/>
            <a:ext cx="25509" cy="28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380651" y="1665202"/>
            <a:ext cx="24583" cy="188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405234" y="1665134"/>
            <a:ext cx="24610" cy="25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429844" y="1664928"/>
            <a:ext cx="24607" cy="20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454451" y="1664928"/>
            <a:ext cx="24533" cy="99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478984" y="1665920"/>
            <a:ext cx="24541" cy="887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503525" y="1666807"/>
            <a:ext cx="24553" cy="666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528078" y="1667383"/>
            <a:ext cx="24600" cy="90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3552678" y="1666588"/>
            <a:ext cx="16817" cy="795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569495" y="1666588"/>
            <a:ext cx="21065" cy="3522"/>
          </a:xfrm>
          <a:prstGeom prst="line">
            <a:avLst/>
          </a:prstGeom>
          <a:ln w="5061">
            <a:solidFill>
              <a:srgbClr val="D95F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2377991" y="2547071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2429392" y="2508251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2480793" y="2469432"/>
            <a:ext cx="51401" cy="3881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2532194" y="2430612"/>
            <a:ext cx="51400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2583594" y="239179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2634995" y="235297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2686396" y="231415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2737797" y="2275332"/>
            <a:ext cx="51400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2789197" y="223651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2840598" y="219769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2891999" y="2158872"/>
            <a:ext cx="51400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2943399" y="212005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2994800" y="208123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3046201" y="204241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3097602" y="200359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3149003" y="1964772"/>
            <a:ext cx="51400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200403" y="192595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251804" y="188713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303205" y="184831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3354606" y="1809492"/>
            <a:ext cx="51400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406006" y="177067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457407" y="1731852"/>
            <a:ext cx="51401" cy="38820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508808" y="1693033"/>
            <a:ext cx="51401" cy="38819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560209" y="1654212"/>
            <a:ext cx="51400" cy="38821"/>
          </a:xfrm>
          <a:prstGeom prst="line">
            <a:avLst/>
          </a:prstGeom>
          <a:ln w="31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ROC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curves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59993" y="72238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Notes: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0058" y="936318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intersect.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case,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37096" y="1151924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positives,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respect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false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37096" y="132399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negatives.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360675" y="2614245"/>
            <a:ext cx="3424720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580461" y="2614245"/>
            <a:ext cx="3204934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827184" y="2614245"/>
            <a:ext cx="2958211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073907" y="2614245"/>
            <a:ext cx="2711488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320636" y="2614245"/>
            <a:ext cx="2464759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594296" y="2614245"/>
            <a:ext cx="2191099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305500" y="2554073"/>
            <a:ext cx="347989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251620" y="2367732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251620" y="2181397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251620" y="1995063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251620" y="1808722"/>
            <a:ext cx="353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0</a:t>
            </a:r>
            <a:r>
              <a:rPr sz="545" b="0">
                <a:solidFill>
                  <a:srgbClr val="000000"/>
                </a:solidFill>
                <a:latin typeface="Cambria Math"/>
              </a:rPr>
              <a:t>.</a:t>
            </a:r>
            <a:r>
              <a:rPr sz="545" b="0">
                <a:solidFill>
                  <a:srgbClr val="000000"/>
                </a:solidFill>
                <a:latin typeface="Cambria Math"/>
              </a:rPr>
              <a:t>8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305500" y="1622388"/>
            <a:ext cx="347989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665005" y="1771508"/>
            <a:ext cx="3120390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1B9E77"/>
                </a:solidFill>
                <a:latin typeface="Josefin Sans"/>
              </a:rPr>
              <a:t>NN1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396476" y="1712847"/>
            <a:ext cx="3388919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D95F02"/>
                </a:solidFill>
                <a:latin typeface="Josefin Sans"/>
              </a:rPr>
              <a:t>NN2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711620" y="2701536"/>
            <a:ext cx="3073775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Josefin Sans"/>
              </a:rPr>
              <a:t>False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125558" y="1800456"/>
            <a:ext cx="3659837" cy="1073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0">
                <a:solidFill>
                  <a:srgbClr val="000000"/>
                </a:solidFill>
                <a:latin typeface="Josefin Sans"/>
              </a:rPr>
              <a:t>True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Positive</a:t>
            </a:r>
            <a:r>
              <a:rPr sz="545" b="0">
                <a:solidFill>
                  <a:srgbClr val="000000"/>
                </a:solidFill>
                <a:latin typeface="Josefin Sans"/>
              </a:rPr>
              <a:t> </a:t>
            </a:r>
            <a:r>
              <a:rPr sz="545" b="0">
                <a:solidFill>
                  <a:srgbClr val="000000"/>
                </a:solidFill>
                <a:latin typeface="Josefin Sans"/>
              </a:rPr>
              <a:t>Ratio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622441" y="3150564"/>
            <a:ext cx="1629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Gold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U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CCCC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 </a:t>
            </a:r>
            <a:r>
              <a:rPr sz="1090" b="0">
                <a:solidFill>
                  <a:srgbClr val="CCCCCC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CCD6E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 </a:t>
            </a:r>
            <a:r>
              <a:rPr sz="1090" b="0">
                <a:solidFill>
                  <a:srgbClr val="CCD6E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15456" y="3150565"/>
            <a:ext cx="1699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247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5" y="1257857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‘gold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standard’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unknown,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know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5" y="1515972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categories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known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3" y="1731565"/>
            <a:ext cx="5148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1" y="1989681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mutually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exclusive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collectively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1" y="2161753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exhaustive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assumed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normally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4534" y="3150919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8531" y="3150565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0885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320" y="1248423"/>
            <a:ext cx="528407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1.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714" y="1525075"/>
            <a:ext cx="53106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2.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freedom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df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910" y="1783190"/>
            <a:ext cx="531248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3.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table,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190" y="2041305"/>
            <a:ext cx="53122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4.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6" y="2213378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952" y="3150564"/>
            <a:ext cx="16144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41854" y="1947937"/>
            <a:ext cx="631025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1429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5" y="1290963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categories,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4" y="1463035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category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category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1941" y="1817091"/>
            <a:ext cx="351345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70886" y="1730285"/>
            <a:ext cx="3114509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3450" y="1842300"/>
            <a:ext cx="31819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16492" y="2069680"/>
            <a:ext cx="3168903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1854" y="1745894"/>
            <a:ext cx="29435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84754" y="1969339"/>
            <a:ext cx="270064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4537" y="3150915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2976" y="3150562"/>
            <a:ext cx="1624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41853" y="1082014"/>
            <a:ext cx="631025" cy="0"/>
          </a:xfrm>
          <a:prstGeom prst="line">
            <a:avLst/>
          </a:prstGeom>
          <a:ln w="5537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566240" y="2178608"/>
            <a:ext cx="403822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43468" y="2178608"/>
            <a:ext cx="520865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37739" y="2178608"/>
            <a:ext cx="520865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532010" y="2178608"/>
            <a:ext cx="520865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24761" y="2763850"/>
            <a:ext cx="403822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201989" y="2763850"/>
            <a:ext cx="520865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96260" y="2763850"/>
            <a:ext cx="462343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532009" y="2763850"/>
            <a:ext cx="520865" cy="0"/>
          </a:xfrm>
          <a:prstGeom prst="line">
            <a:avLst/>
          </a:prstGeom>
          <a:ln w="4813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993" y="57677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71940" y="951169"/>
            <a:ext cx="351345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70885" y="864363"/>
            <a:ext cx="3114510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3448" y="976378"/>
            <a:ext cx="318194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16491" y="1203758"/>
            <a:ext cx="316890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41853" y="879984"/>
            <a:ext cx="294354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4753" y="1103416"/>
            <a:ext cx="27006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E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9993" y="1445080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example,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50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patterns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4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categories,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9993" y="1584247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classification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5,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10,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15,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20.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993" y="1809468"/>
            <a:ext cx="542540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produces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results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6,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10,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14,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20.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9314" y="2093053"/>
            <a:ext cx="45160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χ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42289" y="2025616"/>
            <a:ext cx="444310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1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(6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38897" y="2195315"/>
            <a:ext cx="404649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248" y="2025616"/>
            <a:ext cx="37741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+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(10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10)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45385" y="2195315"/>
            <a:ext cx="344001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05519" y="2025616"/>
            <a:ext cx="307987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+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(14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15)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39656" y="2195315"/>
            <a:ext cx="274573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99790" y="2025616"/>
            <a:ext cx="238560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+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(20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20)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33927" y="2195315"/>
            <a:ext cx="205146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00564" y="2118086"/>
            <a:ext cx="168483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267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9995" y="2394710"/>
            <a:ext cx="54254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second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produces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results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15,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8,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25.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7835" y="2678294"/>
            <a:ext cx="445756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χ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00810" y="2610857"/>
            <a:ext cx="438458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=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(2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5)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97405" y="2780557"/>
            <a:ext cx="398799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69769" y="2610857"/>
            <a:ext cx="371562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+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(15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10)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03906" y="2780557"/>
            <a:ext cx="338148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64040" y="2610857"/>
            <a:ext cx="302135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+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(8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15)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68916" y="2780557"/>
            <a:ext cx="271647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15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99790" y="2610857"/>
            <a:ext cx="238560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+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</a:t>
            </a:r>
            <a:r>
              <a:rPr sz="896" b="0">
                <a:solidFill>
                  <a:srgbClr val="000000"/>
                </a:solidFill>
                <a:latin typeface="Cambria Math"/>
              </a:rPr>
              <a:t>(25</a:t>
            </a:r>
            <a:r>
              <a:rPr sz="896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896" b="0">
                <a:solidFill>
                  <a:srgbClr val="000000"/>
                </a:solidFill>
                <a:latin typeface="Cambria Math"/>
              </a:rPr>
              <a:t>20)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33927" y="2780557"/>
            <a:ext cx="205146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00563" y="2703328"/>
            <a:ext cx="168483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Cambria Math"/>
              </a:rPr>
              <a:t>= 8</a:t>
            </a:r>
            <a:r>
              <a:rPr sz="896" b="0">
                <a:solidFill>
                  <a:srgbClr val="000000"/>
                </a:solidFill>
                <a:latin typeface="Cambria Math"/>
              </a:rPr>
              <a:t>.</a:t>
            </a:r>
            <a:r>
              <a:rPr sz="896" b="0">
                <a:solidFill>
                  <a:srgbClr val="000000"/>
                </a:solidFill>
                <a:latin typeface="Cambria Math"/>
              </a:rPr>
              <a:t>82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23127" y="3150564"/>
            <a:ext cx="1622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4632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degree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freedom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1" y="130377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freedom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df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1" y="1561892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example,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4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therefore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40810" y="1873906"/>
            <a:ext cx="334458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df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4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1 =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4" y="3150916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2440" y="3150563"/>
            <a:ext cx="1629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95514" y="1263826"/>
            <a:ext cx="3768966" cy="0"/>
          </a:xfrm>
          <a:prstGeom prst="line">
            <a:avLst/>
          </a:prstGeom>
          <a:ln w="5054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-3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0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84722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obtain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values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9739" y="1085782"/>
            <a:ext cx="30856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000000"/>
                </a:solidFill>
                <a:latin typeface="Josefin Sans"/>
              </a:rPr>
              <a:t>Area</a:t>
            </a:r>
            <a:r>
              <a:rPr sz="597" b="1">
                <a:solidFill>
                  <a:srgbClr val="000000"/>
                </a:solidFill>
                <a:latin typeface="Josefin Sans"/>
              </a:rPr>
              <a:t> </a:t>
            </a:r>
            <a:r>
              <a:rPr sz="597" b="1">
                <a:solidFill>
                  <a:srgbClr val="000000"/>
                </a:solidFill>
                <a:latin typeface="Josefin Sans"/>
              </a:rPr>
              <a:t>to</a:t>
            </a:r>
            <a:r>
              <a:rPr sz="597" b="1">
                <a:solidFill>
                  <a:srgbClr val="000000"/>
                </a:solidFill>
                <a:latin typeface="Josefin Sans"/>
              </a:rPr>
              <a:t> </a:t>
            </a:r>
            <a:r>
              <a:rPr sz="597" b="1">
                <a:solidFill>
                  <a:srgbClr val="000000"/>
                </a:solidFill>
                <a:latin typeface="Josefin Sans"/>
              </a:rPr>
              <a:t>the</a:t>
            </a:r>
            <a:r>
              <a:rPr sz="597" b="1">
                <a:solidFill>
                  <a:srgbClr val="000000"/>
                </a:solidFill>
                <a:latin typeface="Josefin Sans"/>
              </a:rPr>
              <a:t> </a:t>
            </a:r>
            <a:r>
              <a:rPr sz="597" b="1">
                <a:solidFill>
                  <a:srgbClr val="000000"/>
                </a:solidFill>
                <a:latin typeface="Josefin Sans"/>
              </a:rPr>
              <a:t>right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3250" y="1173998"/>
            <a:ext cx="47121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4489" y="1173998"/>
            <a:ext cx="44809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0.995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53321" y="1173998"/>
            <a:ext cx="413207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0.990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01470" y="1173998"/>
            <a:ext cx="37839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0.975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4891" y="1173998"/>
            <a:ext cx="34505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0.950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6435" y="1173998"/>
            <a:ext cx="31089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0.900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4680" y="1173998"/>
            <a:ext cx="27507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0.100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79716" y="1173998"/>
            <a:ext cx="24056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2061" y="1173998"/>
            <a:ext cx="20433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20272" y="1173998"/>
            <a:ext cx="166512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5957" y="1173998"/>
            <a:ext cx="129943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4929" y="1267623"/>
            <a:ext cx="46904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4132" y="1267623"/>
            <a:ext cx="44912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6456" y="1267623"/>
            <a:ext cx="413893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00677" y="1267623"/>
            <a:ext cx="37847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45" y="1267623"/>
            <a:ext cx="34536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87940" y="1267623"/>
            <a:ext cx="30974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6241" y="1267623"/>
            <a:ext cx="27491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2.706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99345" y="1267623"/>
            <a:ext cx="23860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3.841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6506" y="1267623"/>
            <a:ext cx="20388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5.024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22820" y="1267623"/>
            <a:ext cx="166257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6.635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1334" y="1267623"/>
            <a:ext cx="12840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7.879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7640" y="1356192"/>
            <a:ext cx="469775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05745" y="1356192"/>
            <a:ext cx="44796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50705" y="1356192"/>
            <a:ext cx="41346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04167" y="1356192"/>
            <a:ext cx="37812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0.051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43206" y="1356192"/>
            <a:ext cx="34421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0.103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00313" y="1356192"/>
            <a:ext cx="308508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0.211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33886" y="1356192"/>
            <a:ext cx="275150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4.605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98052" y="1356192"/>
            <a:ext cx="238734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5.991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52957" y="1356192"/>
            <a:ext cx="203243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7.378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7979" y="1356192"/>
            <a:ext cx="16574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9.210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2884" y="1356192"/>
            <a:ext cx="13025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10.597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7144" y="1444762"/>
            <a:ext cx="46982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03883" y="1444762"/>
            <a:ext cx="448151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0.072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73060" y="1444762"/>
            <a:ext cx="41123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0.115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08379" y="1444762"/>
            <a:ext cx="37770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0.216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9447" y="1444762"/>
            <a:ext cx="344594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0.352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4331" y="1444762"/>
            <a:ext cx="31010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0.584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45840" y="1444762"/>
            <a:ext cx="27395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6.251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00669" y="1444762"/>
            <a:ext cx="23847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7.815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49349" y="1444762"/>
            <a:ext cx="20360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9.348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9437" y="1444762"/>
            <a:ext cx="16659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11.345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86488" y="1444762"/>
            <a:ext cx="129890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12.838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7220" y="1533332"/>
            <a:ext cx="46981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03883" y="1533332"/>
            <a:ext cx="448151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0.207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59623" y="1533332"/>
            <a:ext cx="412577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0.297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02154" y="1533332"/>
            <a:ext cx="37832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0.484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56451" y="1533332"/>
            <a:ext cx="34289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0.711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91770" y="1533332"/>
            <a:ext cx="30936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1.064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43411" y="1533332"/>
            <a:ext cx="27419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7.779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92850" y="1533332"/>
            <a:ext cx="23925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9.488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53069" y="1533332"/>
            <a:ext cx="20323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11.143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115641" y="1533332"/>
            <a:ext cx="16697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13.277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81781" y="1533332"/>
            <a:ext cx="130361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14.860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6877" y="1621902"/>
            <a:ext cx="46985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15231" y="1621902"/>
            <a:ext cx="44701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0.412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57306" y="1621902"/>
            <a:ext cx="41280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0.554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08416" y="1621902"/>
            <a:ext cx="37769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0.831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58386" y="1621902"/>
            <a:ext cx="342700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1.145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699474" y="1621902"/>
            <a:ext cx="3085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1.610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37982" y="1621902"/>
            <a:ext cx="274741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9.236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81196" y="1621902"/>
            <a:ext cx="24041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11.070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38454" y="1621902"/>
            <a:ext cx="20469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12.833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07706" y="1621902"/>
            <a:ext cx="16776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15.086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482881" y="1621902"/>
            <a:ext cx="13025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16.750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86801" y="1710472"/>
            <a:ext cx="469859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07032" y="1710472"/>
            <a:ext cx="44783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0.676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60191" y="1710472"/>
            <a:ext cx="412520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0.872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14109" y="1710472"/>
            <a:ext cx="37712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1.237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350187" y="1710472"/>
            <a:ext cx="343520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1.635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85354" y="1710472"/>
            <a:ext cx="310004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2.204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021888" y="1710472"/>
            <a:ext cx="276350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10.645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79677" y="1710472"/>
            <a:ext cx="24057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12.592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38681" y="1710472"/>
            <a:ext cx="204671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14.449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20005" y="1710472"/>
            <a:ext cx="166539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16.812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85841" y="1710472"/>
            <a:ext cx="12995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18.548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821" y="1799029"/>
            <a:ext cx="469657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304952" y="1799029"/>
            <a:ext cx="448044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0.989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69422" y="1799029"/>
            <a:ext cx="41159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1.239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007474" y="1799029"/>
            <a:ext cx="377792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1.690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352586" y="1799029"/>
            <a:ext cx="343280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2.167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89044" y="1799029"/>
            <a:ext cx="30963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2.833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032409" y="1799029"/>
            <a:ext cx="27529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12.017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76914" y="1799029"/>
            <a:ext cx="24084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14.067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741080" y="1799029"/>
            <a:ext cx="20443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16.013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14964" y="1799029"/>
            <a:ext cx="16704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18.475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76929" y="1799029"/>
            <a:ext cx="13084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20.278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87373" y="1887599"/>
            <a:ext cx="46980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17169" y="1887599"/>
            <a:ext cx="44682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1.344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68734" y="1887599"/>
            <a:ext cx="41166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1.646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008911" y="1887599"/>
            <a:ext cx="377648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2.180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345445" y="1887599"/>
            <a:ext cx="34399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2.733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85394" y="1887599"/>
            <a:ext cx="31000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3.490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026331" y="1887599"/>
            <a:ext cx="275906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13.362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76681" y="1887599"/>
            <a:ext cx="240871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15.507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738570" y="1887599"/>
            <a:ext cx="20468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17.535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92944" y="1887599"/>
            <a:ext cx="16924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20.090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485199" y="1887599"/>
            <a:ext cx="13001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21.955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86801" y="1976168"/>
            <a:ext cx="469859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18420" y="1976168"/>
            <a:ext cx="446697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1.735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658749" y="1976168"/>
            <a:ext cx="412664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2.088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98850" y="1976168"/>
            <a:ext cx="378654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2.700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43430" y="1976168"/>
            <a:ext cx="34419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3.325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695830" y="1976168"/>
            <a:ext cx="30895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4.168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026214" y="1976168"/>
            <a:ext cx="275918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14.684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86053" y="1976168"/>
            <a:ext cx="239934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16.919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733822" y="1976168"/>
            <a:ext cx="20515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19.023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111273" y="1976168"/>
            <a:ext cx="16741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21.666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477868" y="1976168"/>
            <a:ext cx="13075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23.589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71434" y="2064738"/>
            <a:ext cx="47139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16869" y="2064738"/>
            <a:ext cx="446852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2.156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661678" y="2064738"/>
            <a:ext cx="412371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2.558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06941" y="2064738"/>
            <a:ext cx="37784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3.247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340590" y="2064738"/>
            <a:ext cx="3444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3.940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687751" y="2064738"/>
            <a:ext cx="309764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4.865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027473" y="2064738"/>
            <a:ext cx="275792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15.987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77443" y="2064738"/>
            <a:ext cx="240795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18.307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728096" y="2064738"/>
            <a:ext cx="20572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20.483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00917" y="2064738"/>
            <a:ext cx="168447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23.209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86264" y="2064738"/>
            <a:ext cx="129913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25.188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00619" y="2173107"/>
            <a:ext cx="468477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88147" y="2173107"/>
            <a:ext cx="439724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40470" y="2173107"/>
            <a:ext cx="40449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083116" y="2173107"/>
            <a:ext cx="37022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421927" y="2173107"/>
            <a:ext cx="336346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766998" y="2173107"/>
            <a:ext cx="301839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117125" y="2173107"/>
            <a:ext cx="266827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470197" y="2173107"/>
            <a:ext cx="231519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828338" y="2173107"/>
            <a:ext cx="19570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202746" y="2173107"/>
            <a:ext cx="15826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6482" y="2173107"/>
            <a:ext cx="120891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Josefin Sans"/>
              </a:rPr>
              <a:t>...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59991" y="2456097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degree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freedom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df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significance,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7.815.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904532" y="3150915"/>
            <a:ext cx="880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622286" y="3150562"/>
            <a:ext cx="16310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43808" y="1442935"/>
            <a:ext cx="508546" cy="0"/>
          </a:xfrm>
          <a:prstGeom prst="line">
            <a:avLst/>
          </a:prstGeom>
          <a:ln w="455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62922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rejected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5" y="861931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“the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5" y="1007448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difference”.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2463" y="1347089"/>
            <a:ext cx="339293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χ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</a:t>
            </a:r>
            <a:r>
              <a:rPr sz="797" b="0">
                <a:solidFill>
                  <a:srgbClr val="000000"/>
                </a:solidFill>
                <a:latin typeface="Cambria Math"/>
              </a:rP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03816" y="1282385"/>
            <a:ext cx="308157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5353" y="1365020"/>
            <a:ext cx="3130042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7423" y="1531750"/>
            <a:ext cx="312797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597" b="0">
                <a:solidFill>
                  <a:srgbClr val="000000"/>
                </a:solidFill>
                <a:latin typeface="Cambria Math"/>
              </a:rPr>
              <a:t>=1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43808" y="1293790"/>
            <a:ext cx="2941587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(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)</a:t>
            </a:r>
            <a:r>
              <a:rPr sz="5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8601" y="1464958"/>
            <a:ext cx="2746794" cy="1568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E</a:t>
            </a:r>
            <a:r>
              <a:rPr sz="597" b="0">
                <a:solidFill>
                  <a:srgbClr val="000000"/>
                </a:solidFill>
                <a:latin typeface="Cambria Math"/>
              </a:rPr>
              <a:t>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538" y="1751338"/>
            <a:ext cx="538285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18756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distribution,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13124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sufficiently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big,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9993" y="23535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993" y="25614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boundary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threshold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conclude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9993" y="27837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04535" y="3150917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6315" y="3150564"/>
            <a:ext cx="15908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7696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5" y="1284790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greater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equal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7537" y="1593184"/>
            <a:ext cx="20778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5" y="1801020"/>
            <a:ext cx="5425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whereas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0586" y="2109414"/>
            <a:ext cx="25248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reject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7" y="3150916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433" y="3150562"/>
            <a:ext cx="16196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8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70473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determine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if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rejected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5" y="951558"/>
            <a:ext cx="542540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our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example,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0173" y="1209684"/>
            <a:ext cx="43552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χ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9345" y="1209684"/>
            <a:ext cx="427605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χ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86521" y="1229917"/>
            <a:ext cx="359887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8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critical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value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7563" y="1639871"/>
            <a:ext cx="344783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χ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16734" y="1662440"/>
            <a:ext cx="3368661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1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0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267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&lt;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390" y="1887853"/>
            <a:ext cx="5040005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not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rejected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significance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configuration.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69201" y="2383836"/>
            <a:ext cx="3416194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Cambria Math"/>
              </a:rPr>
              <a:t>χ</a:t>
            </a: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48373" y="2404766"/>
            <a:ext cx="333702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7" b="0">
                <a:solidFill>
                  <a:srgbClr val="000000"/>
                </a:solidFill>
                <a:latin typeface="Cambria Math"/>
              </a:rPr>
              <a:t>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</a:t>
            </a:r>
            <a:r>
              <a:rPr sz="996" b="0">
                <a:solidFill>
                  <a:srgbClr val="000000"/>
                </a:solidFill>
                <a:latin typeface="Cambria Math"/>
              </a:rPr>
              <a:t>= 8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82</a:t>
            </a:r>
            <a:r>
              <a:rPr sz="996" b="0">
                <a:solidFill>
                  <a:srgbClr val="000000"/>
                </a:solidFill>
                <a:latin typeface="Cambria Math"/>
              </a:rPr>
              <a:t> ≥</a:t>
            </a:r>
            <a:r>
              <a:rPr sz="996" b="0">
                <a:solidFill>
                  <a:srgbClr val="000000"/>
                </a:solidFill>
                <a:latin typeface="Cambria Math"/>
              </a:rPr>
              <a:t>7</a:t>
            </a:r>
            <a:r>
              <a:rPr sz="996" b="0">
                <a:solidFill>
                  <a:srgbClr val="000000"/>
                </a:solidFill>
                <a:latin typeface="Cambria Math"/>
              </a:rPr>
              <a:t>.</a:t>
            </a:r>
            <a:r>
              <a:rPr sz="996" b="0">
                <a:solidFill>
                  <a:srgbClr val="000000"/>
                </a:solidFill>
                <a:latin typeface="Cambria Math"/>
              </a:rPr>
              <a:t>815</a:t>
            </a:r>
            <a:r>
              <a:rPr sz="996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097" y="2682428"/>
            <a:ext cx="5018298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rejected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significance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second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configuration.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4540" y="3150916"/>
            <a:ext cx="88085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2294" y="3150562"/>
            <a:ext cx="16310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7066" y="1294627"/>
            <a:ext cx="34983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3743" y="1322669"/>
            <a:ext cx="341165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0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267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&lt;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7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815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7442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3253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0046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4" y="3150931"/>
            <a:ext cx="88086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19481" y="3150577"/>
            <a:ext cx="16591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1698" y="1294627"/>
            <a:ext cx="346369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08389" y="1320874"/>
            <a:ext cx="337700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8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82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≥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7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.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815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7442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hypothesis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rejected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0.05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level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second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3253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0046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distribution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second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significantly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4537" y="3150931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42559" y="3150577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597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Therefore,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second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318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8992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very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least,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first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configuration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acceptable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second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6199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7978" y="3150565"/>
            <a:ext cx="15741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6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4067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Notes: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8" y="1154605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entire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once,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6" y="1370211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oppose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ROC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curve,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analyse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6" y="1542283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category)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8" y="1756878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 is necessary to determine the categories that are possible.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 some cases, not all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6" y="1972471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categories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zero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6" y="2144543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handled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care,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remove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6" y="231661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division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zero.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4539" y="3150918"/>
            <a:ext cx="88085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7004" y="3150565"/>
            <a:ext cx="15839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0783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Notes: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8" y="1292273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≤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20%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6" y="150786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counts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&lt;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individual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counts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8" y="1722461"/>
            <a:ext cx="532533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tuning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intelligence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6" y="1938054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system,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minimise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value,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i.e.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observed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frequency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6" y="2110126"/>
            <a:ext cx="51482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distribution should be as similar to the expected frequency distribution as possible.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4537" y="3150918"/>
            <a:ext cx="88085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33758" y="3150564"/>
            <a:ext cx="15163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Chi-square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8390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classification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system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objects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categories,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5597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consists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items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2804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algorithms.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result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shows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30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15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74984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shows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23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18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19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χ</a:t>
            </a:r>
            <a:r>
              <a:rPr sz="797" b="0">
                <a:solidFill>
                  <a:srgbClr val="000000"/>
                </a:solidFill>
                <a:latin typeface="Cambria Math"/>
              </a:rPr>
              <a:t>2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evaluate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4536" y="3150917"/>
            <a:ext cx="8808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6467" y="3150564"/>
            <a:ext cx="15892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42892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Introduction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16" y="627186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Gold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8355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Percent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Correct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0438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Errors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7816" y="124209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Average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Sum-Squared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7816" y="144035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Absolute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16" y="1638614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Normalised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9993" y="184693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Mann-Whitney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U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9993" y="205525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Matrices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7816" y="225352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Contingency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7816" y="2451782"/>
            <a:ext cx="521757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Confusion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Matrices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993" y="266010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Receiver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Operating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Characteristic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(ROC)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Curves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9993" y="286841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Chi-Square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4535" y="3150918"/>
            <a:ext cx="88086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7445" y="3150565"/>
            <a:ext cx="15795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22610" y="1461234"/>
            <a:ext cx="1662785" cy="4879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8" b="1">
                <a:solidFill>
                  <a:srgbClr val="FFFFFF"/>
                </a:solidFill>
                <a:latin typeface="Josefin Sans"/>
              </a:rPr>
              <a:t>Thank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 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04536" y="3150918"/>
            <a:ext cx="8808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0341" y="3150564"/>
            <a:ext cx="15505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10 Performance Merics - handout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labs connect core CI algorithms with physical-AI simulation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Isaac Sim examples use its bundled Python 3.12 environment and current launchers.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Every simulator-dependent example includes a CPU/Matplotlib learning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Performance Merics - handout</dc:title>
  <dc:subject>Editable objects converted from 10 Performance Merics - handout.pdf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