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.xml" ContentType="application/vnd.openxmlformats-officedocument.presentationml.slide+xml"/>
  <Override PartName="/ppt/slides/slide230.xml" ContentType="application/vnd.openxmlformats-officedocument.presentationml.slide+xml"/>
  <Override PartName="/ppt/slides/slide231.xml" ContentType="application/vnd.openxmlformats-officedocument.presentationml.slide+xml"/>
  <Override PartName="/ppt/slides/slide232.xml" ContentType="application/vnd.openxmlformats-officedocument.presentationml.slide+xml"/>
  <Override PartName="/ppt/slides/slide233.xml" ContentType="application/vnd.openxmlformats-officedocument.presentationml.slide+xml"/>
  <Override PartName="/ppt/slides/slide234.xml" ContentType="application/vnd.openxmlformats-officedocument.presentationml.slide+xml"/>
  <Override PartName="/ppt/slides/slide235.xml" ContentType="application/vnd.openxmlformats-officedocument.presentationml.slide+xml"/>
  <Override PartName="/ppt/slides/slide236.xml" ContentType="application/vnd.openxmlformats-officedocument.presentationml.slide+xml"/>
  <Override PartName="/ppt/slides/slide237.xml" ContentType="application/vnd.openxmlformats-officedocument.presentationml.slide+xml"/>
  <Override PartName="/ppt/slides/slide238.xml" ContentType="application/vnd.openxmlformats-officedocument.presentationml.slide+xml"/>
  <Override PartName="/ppt/slides/slide239.xml" ContentType="application/vnd.openxmlformats-officedocument.presentationml.slide+xml"/>
  <Override PartName="/ppt/slides/slide24.xml" ContentType="application/vnd.openxmlformats-officedocument.presentationml.slide+xml"/>
  <Override PartName="/ppt/slides/slide240.xml" ContentType="application/vnd.openxmlformats-officedocument.presentationml.slide+xml"/>
  <Override PartName="/ppt/slides/slide241.xml" ContentType="application/vnd.openxmlformats-officedocument.presentationml.slide+xml"/>
  <Override PartName="/ppt/slides/slide242.xml" ContentType="application/vnd.openxmlformats-officedocument.presentationml.slide+xml"/>
  <Override PartName="/ppt/slides/slide243.xml" ContentType="application/vnd.openxmlformats-officedocument.presentationml.slide+xml"/>
  <Override PartName="/ppt/slides/slide244.xml" ContentType="application/vnd.openxmlformats-officedocument.presentationml.slide+xml"/>
  <Override PartName="/ppt/slides/slide245.xml" ContentType="application/vnd.openxmlformats-officedocument.presentationml.slide+xml"/>
  <Override PartName="/ppt/slides/slide246.xml" ContentType="application/vnd.openxmlformats-officedocument.presentationml.slide+xml"/>
  <Override PartName="/ppt/slides/slide247.xml" ContentType="application/vnd.openxmlformats-officedocument.presentationml.slide+xml"/>
  <Override PartName="/ppt/slides/slide248.xml" ContentType="application/vnd.openxmlformats-officedocument.presentationml.slide+xml"/>
  <Override PartName="/ppt/slides/slide249.xml" ContentType="application/vnd.openxmlformats-officedocument.presentationml.slide+xml"/>
  <Override PartName="/ppt/slides/slide25.xml" ContentType="application/vnd.openxmlformats-officedocument.presentationml.slide+xml"/>
  <Override PartName="/ppt/slides/slide250.xml" ContentType="application/vnd.openxmlformats-officedocument.presentationml.slide+xml"/>
  <Override PartName="/ppt/slides/slide251.xml" ContentType="application/vnd.openxmlformats-officedocument.presentationml.slide+xml"/>
  <Override PartName="/ppt/slides/slide252.xml" ContentType="application/vnd.openxmlformats-officedocument.presentationml.slide+xml"/>
  <Override PartName="/ppt/slides/slide253.xml" ContentType="application/vnd.openxmlformats-officedocument.presentationml.slide+xml"/>
  <Override PartName="/ppt/slides/slide254.xml" ContentType="application/vnd.openxmlformats-officedocument.presentationml.slide+xml"/>
  <Override PartName="/ppt/slides/slide255.xml" ContentType="application/vnd.openxmlformats-officedocument.presentationml.slide+xml"/>
  <Override PartName="/ppt/slides/slide256.xml" ContentType="application/vnd.openxmlformats-officedocument.presentationml.slide+xml"/>
  <Override PartName="/ppt/slides/slide257.xml" ContentType="application/vnd.openxmlformats-officedocument.presentationml.slide+xml"/>
  <Override PartName="/ppt/slides/slide258.xml" ContentType="application/vnd.openxmlformats-officedocument.presentationml.slide+xml"/>
  <Override PartName="/ppt/slides/slide259.xml" ContentType="application/vnd.openxmlformats-officedocument.presentationml.slide+xml"/>
  <Override PartName="/ppt/slides/slide26.xml" ContentType="application/vnd.openxmlformats-officedocument.presentationml.slide+xml"/>
  <Override PartName="/ppt/slides/slide260.xml" ContentType="application/vnd.openxmlformats-officedocument.presentationml.slide+xml"/>
  <Override PartName="/ppt/slides/slide261.xml" ContentType="application/vnd.openxmlformats-officedocument.presentationml.slide+xml"/>
  <Override PartName="/ppt/slides/slide262.xml" ContentType="application/vnd.openxmlformats-officedocument.presentationml.slide+xml"/>
  <Override PartName="/ppt/slides/slide263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  <p:sldId id="361" r:id="rId112"/>
    <p:sldId id="362" r:id="rId113"/>
    <p:sldId id="363" r:id="rId114"/>
    <p:sldId id="364" r:id="rId115"/>
    <p:sldId id="365" r:id="rId116"/>
    <p:sldId id="366" r:id="rId117"/>
    <p:sldId id="367" r:id="rId118"/>
    <p:sldId id="368" r:id="rId119"/>
    <p:sldId id="369" r:id="rId120"/>
    <p:sldId id="370" r:id="rId121"/>
    <p:sldId id="371" r:id="rId122"/>
    <p:sldId id="372" r:id="rId123"/>
    <p:sldId id="373" r:id="rId124"/>
    <p:sldId id="374" r:id="rId125"/>
    <p:sldId id="375" r:id="rId126"/>
    <p:sldId id="376" r:id="rId127"/>
    <p:sldId id="377" r:id="rId128"/>
    <p:sldId id="378" r:id="rId129"/>
    <p:sldId id="379" r:id="rId130"/>
    <p:sldId id="380" r:id="rId131"/>
    <p:sldId id="381" r:id="rId132"/>
    <p:sldId id="382" r:id="rId133"/>
    <p:sldId id="383" r:id="rId134"/>
    <p:sldId id="384" r:id="rId135"/>
    <p:sldId id="385" r:id="rId136"/>
    <p:sldId id="386" r:id="rId137"/>
    <p:sldId id="387" r:id="rId138"/>
    <p:sldId id="388" r:id="rId139"/>
    <p:sldId id="389" r:id="rId140"/>
    <p:sldId id="390" r:id="rId141"/>
    <p:sldId id="391" r:id="rId142"/>
    <p:sldId id="392" r:id="rId143"/>
    <p:sldId id="393" r:id="rId144"/>
    <p:sldId id="394" r:id="rId145"/>
    <p:sldId id="395" r:id="rId146"/>
    <p:sldId id="396" r:id="rId147"/>
    <p:sldId id="397" r:id="rId148"/>
    <p:sldId id="398" r:id="rId149"/>
    <p:sldId id="399" r:id="rId150"/>
    <p:sldId id="400" r:id="rId151"/>
    <p:sldId id="401" r:id="rId152"/>
    <p:sldId id="402" r:id="rId153"/>
    <p:sldId id="403" r:id="rId154"/>
    <p:sldId id="404" r:id="rId155"/>
    <p:sldId id="405" r:id="rId156"/>
    <p:sldId id="406" r:id="rId157"/>
    <p:sldId id="407" r:id="rId158"/>
    <p:sldId id="408" r:id="rId159"/>
    <p:sldId id="409" r:id="rId160"/>
    <p:sldId id="410" r:id="rId161"/>
    <p:sldId id="411" r:id="rId162"/>
    <p:sldId id="412" r:id="rId163"/>
    <p:sldId id="413" r:id="rId164"/>
    <p:sldId id="414" r:id="rId165"/>
    <p:sldId id="415" r:id="rId166"/>
    <p:sldId id="416" r:id="rId167"/>
    <p:sldId id="417" r:id="rId168"/>
    <p:sldId id="418" r:id="rId169"/>
    <p:sldId id="419" r:id="rId170"/>
    <p:sldId id="420" r:id="rId171"/>
    <p:sldId id="421" r:id="rId172"/>
    <p:sldId id="422" r:id="rId173"/>
    <p:sldId id="423" r:id="rId174"/>
    <p:sldId id="424" r:id="rId175"/>
    <p:sldId id="425" r:id="rId176"/>
    <p:sldId id="426" r:id="rId177"/>
    <p:sldId id="427" r:id="rId178"/>
    <p:sldId id="428" r:id="rId179"/>
    <p:sldId id="429" r:id="rId180"/>
    <p:sldId id="430" r:id="rId181"/>
    <p:sldId id="431" r:id="rId182"/>
    <p:sldId id="432" r:id="rId183"/>
    <p:sldId id="433" r:id="rId184"/>
    <p:sldId id="434" r:id="rId185"/>
    <p:sldId id="435" r:id="rId186"/>
    <p:sldId id="436" r:id="rId187"/>
    <p:sldId id="437" r:id="rId188"/>
    <p:sldId id="438" r:id="rId189"/>
    <p:sldId id="439" r:id="rId190"/>
    <p:sldId id="440" r:id="rId191"/>
    <p:sldId id="441" r:id="rId192"/>
    <p:sldId id="442" r:id="rId193"/>
    <p:sldId id="443" r:id="rId194"/>
    <p:sldId id="444" r:id="rId195"/>
    <p:sldId id="445" r:id="rId196"/>
    <p:sldId id="446" r:id="rId197"/>
    <p:sldId id="447" r:id="rId198"/>
    <p:sldId id="448" r:id="rId199"/>
    <p:sldId id="449" r:id="rId200"/>
    <p:sldId id="450" r:id="rId201"/>
    <p:sldId id="451" r:id="rId202"/>
    <p:sldId id="452" r:id="rId203"/>
    <p:sldId id="453" r:id="rId204"/>
    <p:sldId id="454" r:id="rId205"/>
    <p:sldId id="455" r:id="rId206"/>
    <p:sldId id="456" r:id="rId207"/>
    <p:sldId id="457" r:id="rId208"/>
    <p:sldId id="458" r:id="rId209"/>
    <p:sldId id="459" r:id="rId210"/>
    <p:sldId id="460" r:id="rId211"/>
    <p:sldId id="461" r:id="rId212"/>
    <p:sldId id="462" r:id="rId213"/>
    <p:sldId id="463" r:id="rId214"/>
    <p:sldId id="464" r:id="rId215"/>
    <p:sldId id="465" r:id="rId216"/>
    <p:sldId id="466" r:id="rId217"/>
    <p:sldId id="467" r:id="rId218"/>
    <p:sldId id="468" r:id="rId219"/>
    <p:sldId id="469" r:id="rId220"/>
    <p:sldId id="470" r:id="rId221"/>
    <p:sldId id="471" r:id="rId222"/>
    <p:sldId id="472" r:id="rId223"/>
    <p:sldId id="473" r:id="rId224"/>
    <p:sldId id="474" r:id="rId225"/>
    <p:sldId id="475" r:id="rId226"/>
    <p:sldId id="476" r:id="rId227"/>
    <p:sldId id="477" r:id="rId228"/>
    <p:sldId id="478" r:id="rId229"/>
    <p:sldId id="479" r:id="rId230"/>
    <p:sldId id="480" r:id="rId231"/>
    <p:sldId id="481" r:id="rId232"/>
    <p:sldId id="482" r:id="rId233"/>
    <p:sldId id="483" r:id="rId234"/>
    <p:sldId id="484" r:id="rId235"/>
    <p:sldId id="485" r:id="rId236"/>
    <p:sldId id="486" r:id="rId237"/>
    <p:sldId id="487" r:id="rId238"/>
    <p:sldId id="488" r:id="rId239"/>
    <p:sldId id="489" r:id="rId240"/>
    <p:sldId id="490" r:id="rId241"/>
    <p:sldId id="491" r:id="rId242"/>
    <p:sldId id="492" r:id="rId243"/>
    <p:sldId id="493" r:id="rId244"/>
    <p:sldId id="494" r:id="rId245"/>
    <p:sldId id="495" r:id="rId246"/>
    <p:sldId id="496" r:id="rId247"/>
    <p:sldId id="497" r:id="rId248"/>
    <p:sldId id="498" r:id="rId249"/>
    <p:sldId id="499" r:id="rId250"/>
    <p:sldId id="500" r:id="rId251"/>
    <p:sldId id="501" r:id="rId252"/>
    <p:sldId id="502" r:id="rId253"/>
    <p:sldId id="503" r:id="rId254"/>
    <p:sldId id="504" r:id="rId255"/>
    <p:sldId id="505" r:id="rId256"/>
    <p:sldId id="506" r:id="rId257"/>
    <p:sldId id="507" r:id="rId258"/>
    <p:sldId id="508" r:id="rId259"/>
    <p:sldId id="509" r:id="rId260"/>
    <p:sldId id="510" r:id="rId261"/>
    <p:sldId id="511" r:id="rId262"/>
    <p:sldId id="512" r:id="rId263"/>
    <p:sldId id="513" r:id="rId264"/>
    <p:sldId id="514" r:id="rId265"/>
    <p:sldId id="515" r:id="rId266"/>
    <p:sldId id="516" r:id="rId267"/>
    <p:sldId id="517" r:id="rId268"/>
    <p:sldId id="518" r:id="rId269"/>
  </p:sldIdLst>
  <p:sldSz cx="5759996" cy="323999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Relationship Id="rId112" Type="http://schemas.openxmlformats.org/officeDocument/2006/relationships/slide" Target="slides/slide106.xml"/><Relationship Id="rId113" Type="http://schemas.openxmlformats.org/officeDocument/2006/relationships/slide" Target="slides/slide107.xml"/><Relationship Id="rId114" Type="http://schemas.openxmlformats.org/officeDocument/2006/relationships/slide" Target="slides/slide108.xml"/><Relationship Id="rId115" Type="http://schemas.openxmlformats.org/officeDocument/2006/relationships/slide" Target="slides/slide109.xml"/><Relationship Id="rId116" Type="http://schemas.openxmlformats.org/officeDocument/2006/relationships/slide" Target="slides/slide110.xml"/><Relationship Id="rId117" Type="http://schemas.openxmlformats.org/officeDocument/2006/relationships/slide" Target="slides/slide111.xml"/><Relationship Id="rId118" Type="http://schemas.openxmlformats.org/officeDocument/2006/relationships/slide" Target="slides/slide112.xml"/><Relationship Id="rId119" Type="http://schemas.openxmlformats.org/officeDocument/2006/relationships/slide" Target="slides/slide113.xml"/><Relationship Id="rId120" Type="http://schemas.openxmlformats.org/officeDocument/2006/relationships/slide" Target="slides/slide114.xml"/><Relationship Id="rId121" Type="http://schemas.openxmlformats.org/officeDocument/2006/relationships/slide" Target="slides/slide115.xml"/><Relationship Id="rId122" Type="http://schemas.openxmlformats.org/officeDocument/2006/relationships/slide" Target="slides/slide116.xml"/><Relationship Id="rId123" Type="http://schemas.openxmlformats.org/officeDocument/2006/relationships/slide" Target="slides/slide117.xml"/><Relationship Id="rId124" Type="http://schemas.openxmlformats.org/officeDocument/2006/relationships/slide" Target="slides/slide118.xml"/><Relationship Id="rId125" Type="http://schemas.openxmlformats.org/officeDocument/2006/relationships/slide" Target="slides/slide119.xml"/><Relationship Id="rId126" Type="http://schemas.openxmlformats.org/officeDocument/2006/relationships/slide" Target="slides/slide120.xml"/><Relationship Id="rId127" Type="http://schemas.openxmlformats.org/officeDocument/2006/relationships/slide" Target="slides/slide121.xml"/><Relationship Id="rId128" Type="http://schemas.openxmlformats.org/officeDocument/2006/relationships/slide" Target="slides/slide122.xml"/><Relationship Id="rId129" Type="http://schemas.openxmlformats.org/officeDocument/2006/relationships/slide" Target="slides/slide123.xml"/><Relationship Id="rId130" Type="http://schemas.openxmlformats.org/officeDocument/2006/relationships/slide" Target="slides/slide124.xml"/><Relationship Id="rId131" Type="http://schemas.openxmlformats.org/officeDocument/2006/relationships/slide" Target="slides/slide125.xml"/><Relationship Id="rId132" Type="http://schemas.openxmlformats.org/officeDocument/2006/relationships/slide" Target="slides/slide126.xml"/><Relationship Id="rId133" Type="http://schemas.openxmlformats.org/officeDocument/2006/relationships/slide" Target="slides/slide127.xml"/><Relationship Id="rId134" Type="http://schemas.openxmlformats.org/officeDocument/2006/relationships/slide" Target="slides/slide128.xml"/><Relationship Id="rId135" Type="http://schemas.openxmlformats.org/officeDocument/2006/relationships/slide" Target="slides/slide129.xml"/><Relationship Id="rId136" Type="http://schemas.openxmlformats.org/officeDocument/2006/relationships/slide" Target="slides/slide130.xml"/><Relationship Id="rId137" Type="http://schemas.openxmlformats.org/officeDocument/2006/relationships/slide" Target="slides/slide131.xml"/><Relationship Id="rId138" Type="http://schemas.openxmlformats.org/officeDocument/2006/relationships/slide" Target="slides/slide132.xml"/><Relationship Id="rId139" Type="http://schemas.openxmlformats.org/officeDocument/2006/relationships/slide" Target="slides/slide133.xml"/><Relationship Id="rId140" Type="http://schemas.openxmlformats.org/officeDocument/2006/relationships/slide" Target="slides/slide134.xml"/><Relationship Id="rId141" Type="http://schemas.openxmlformats.org/officeDocument/2006/relationships/slide" Target="slides/slide135.xml"/><Relationship Id="rId142" Type="http://schemas.openxmlformats.org/officeDocument/2006/relationships/slide" Target="slides/slide136.xml"/><Relationship Id="rId143" Type="http://schemas.openxmlformats.org/officeDocument/2006/relationships/slide" Target="slides/slide137.xml"/><Relationship Id="rId144" Type="http://schemas.openxmlformats.org/officeDocument/2006/relationships/slide" Target="slides/slide138.xml"/><Relationship Id="rId145" Type="http://schemas.openxmlformats.org/officeDocument/2006/relationships/slide" Target="slides/slide139.xml"/><Relationship Id="rId146" Type="http://schemas.openxmlformats.org/officeDocument/2006/relationships/slide" Target="slides/slide140.xml"/><Relationship Id="rId147" Type="http://schemas.openxmlformats.org/officeDocument/2006/relationships/slide" Target="slides/slide141.xml"/><Relationship Id="rId148" Type="http://schemas.openxmlformats.org/officeDocument/2006/relationships/slide" Target="slides/slide142.xml"/><Relationship Id="rId149" Type="http://schemas.openxmlformats.org/officeDocument/2006/relationships/slide" Target="slides/slide143.xml"/><Relationship Id="rId150" Type="http://schemas.openxmlformats.org/officeDocument/2006/relationships/slide" Target="slides/slide144.xml"/><Relationship Id="rId151" Type="http://schemas.openxmlformats.org/officeDocument/2006/relationships/slide" Target="slides/slide145.xml"/><Relationship Id="rId152" Type="http://schemas.openxmlformats.org/officeDocument/2006/relationships/slide" Target="slides/slide146.xml"/><Relationship Id="rId153" Type="http://schemas.openxmlformats.org/officeDocument/2006/relationships/slide" Target="slides/slide147.xml"/><Relationship Id="rId154" Type="http://schemas.openxmlformats.org/officeDocument/2006/relationships/slide" Target="slides/slide148.xml"/><Relationship Id="rId155" Type="http://schemas.openxmlformats.org/officeDocument/2006/relationships/slide" Target="slides/slide149.xml"/><Relationship Id="rId156" Type="http://schemas.openxmlformats.org/officeDocument/2006/relationships/slide" Target="slides/slide150.xml"/><Relationship Id="rId157" Type="http://schemas.openxmlformats.org/officeDocument/2006/relationships/slide" Target="slides/slide151.xml"/><Relationship Id="rId158" Type="http://schemas.openxmlformats.org/officeDocument/2006/relationships/slide" Target="slides/slide152.xml"/><Relationship Id="rId159" Type="http://schemas.openxmlformats.org/officeDocument/2006/relationships/slide" Target="slides/slide153.xml"/><Relationship Id="rId160" Type="http://schemas.openxmlformats.org/officeDocument/2006/relationships/slide" Target="slides/slide154.xml"/><Relationship Id="rId161" Type="http://schemas.openxmlformats.org/officeDocument/2006/relationships/slide" Target="slides/slide155.xml"/><Relationship Id="rId162" Type="http://schemas.openxmlformats.org/officeDocument/2006/relationships/slide" Target="slides/slide156.xml"/><Relationship Id="rId163" Type="http://schemas.openxmlformats.org/officeDocument/2006/relationships/slide" Target="slides/slide157.xml"/><Relationship Id="rId164" Type="http://schemas.openxmlformats.org/officeDocument/2006/relationships/slide" Target="slides/slide158.xml"/><Relationship Id="rId165" Type="http://schemas.openxmlformats.org/officeDocument/2006/relationships/slide" Target="slides/slide159.xml"/><Relationship Id="rId166" Type="http://schemas.openxmlformats.org/officeDocument/2006/relationships/slide" Target="slides/slide160.xml"/><Relationship Id="rId167" Type="http://schemas.openxmlformats.org/officeDocument/2006/relationships/slide" Target="slides/slide161.xml"/><Relationship Id="rId168" Type="http://schemas.openxmlformats.org/officeDocument/2006/relationships/slide" Target="slides/slide162.xml"/><Relationship Id="rId169" Type="http://schemas.openxmlformats.org/officeDocument/2006/relationships/slide" Target="slides/slide163.xml"/><Relationship Id="rId170" Type="http://schemas.openxmlformats.org/officeDocument/2006/relationships/slide" Target="slides/slide164.xml"/><Relationship Id="rId171" Type="http://schemas.openxmlformats.org/officeDocument/2006/relationships/slide" Target="slides/slide165.xml"/><Relationship Id="rId172" Type="http://schemas.openxmlformats.org/officeDocument/2006/relationships/slide" Target="slides/slide166.xml"/><Relationship Id="rId173" Type="http://schemas.openxmlformats.org/officeDocument/2006/relationships/slide" Target="slides/slide167.xml"/><Relationship Id="rId174" Type="http://schemas.openxmlformats.org/officeDocument/2006/relationships/slide" Target="slides/slide168.xml"/><Relationship Id="rId175" Type="http://schemas.openxmlformats.org/officeDocument/2006/relationships/slide" Target="slides/slide169.xml"/><Relationship Id="rId176" Type="http://schemas.openxmlformats.org/officeDocument/2006/relationships/slide" Target="slides/slide170.xml"/><Relationship Id="rId177" Type="http://schemas.openxmlformats.org/officeDocument/2006/relationships/slide" Target="slides/slide171.xml"/><Relationship Id="rId178" Type="http://schemas.openxmlformats.org/officeDocument/2006/relationships/slide" Target="slides/slide172.xml"/><Relationship Id="rId179" Type="http://schemas.openxmlformats.org/officeDocument/2006/relationships/slide" Target="slides/slide173.xml"/><Relationship Id="rId180" Type="http://schemas.openxmlformats.org/officeDocument/2006/relationships/slide" Target="slides/slide174.xml"/><Relationship Id="rId181" Type="http://schemas.openxmlformats.org/officeDocument/2006/relationships/slide" Target="slides/slide175.xml"/><Relationship Id="rId182" Type="http://schemas.openxmlformats.org/officeDocument/2006/relationships/slide" Target="slides/slide176.xml"/><Relationship Id="rId183" Type="http://schemas.openxmlformats.org/officeDocument/2006/relationships/slide" Target="slides/slide177.xml"/><Relationship Id="rId184" Type="http://schemas.openxmlformats.org/officeDocument/2006/relationships/slide" Target="slides/slide178.xml"/><Relationship Id="rId185" Type="http://schemas.openxmlformats.org/officeDocument/2006/relationships/slide" Target="slides/slide179.xml"/><Relationship Id="rId186" Type="http://schemas.openxmlformats.org/officeDocument/2006/relationships/slide" Target="slides/slide180.xml"/><Relationship Id="rId187" Type="http://schemas.openxmlformats.org/officeDocument/2006/relationships/slide" Target="slides/slide181.xml"/><Relationship Id="rId188" Type="http://schemas.openxmlformats.org/officeDocument/2006/relationships/slide" Target="slides/slide182.xml"/><Relationship Id="rId189" Type="http://schemas.openxmlformats.org/officeDocument/2006/relationships/slide" Target="slides/slide183.xml"/><Relationship Id="rId190" Type="http://schemas.openxmlformats.org/officeDocument/2006/relationships/slide" Target="slides/slide184.xml"/><Relationship Id="rId191" Type="http://schemas.openxmlformats.org/officeDocument/2006/relationships/slide" Target="slides/slide185.xml"/><Relationship Id="rId192" Type="http://schemas.openxmlformats.org/officeDocument/2006/relationships/slide" Target="slides/slide186.xml"/><Relationship Id="rId193" Type="http://schemas.openxmlformats.org/officeDocument/2006/relationships/slide" Target="slides/slide187.xml"/><Relationship Id="rId194" Type="http://schemas.openxmlformats.org/officeDocument/2006/relationships/slide" Target="slides/slide188.xml"/><Relationship Id="rId195" Type="http://schemas.openxmlformats.org/officeDocument/2006/relationships/slide" Target="slides/slide189.xml"/><Relationship Id="rId196" Type="http://schemas.openxmlformats.org/officeDocument/2006/relationships/slide" Target="slides/slide190.xml"/><Relationship Id="rId197" Type="http://schemas.openxmlformats.org/officeDocument/2006/relationships/slide" Target="slides/slide191.xml"/><Relationship Id="rId198" Type="http://schemas.openxmlformats.org/officeDocument/2006/relationships/slide" Target="slides/slide192.xml"/><Relationship Id="rId199" Type="http://schemas.openxmlformats.org/officeDocument/2006/relationships/slide" Target="slides/slide193.xml"/><Relationship Id="rId200" Type="http://schemas.openxmlformats.org/officeDocument/2006/relationships/slide" Target="slides/slide194.xml"/><Relationship Id="rId201" Type="http://schemas.openxmlformats.org/officeDocument/2006/relationships/slide" Target="slides/slide195.xml"/><Relationship Id="rId202" Type="http://schemas.openxmlformats.org/officeDocument/2006/relationships/slide" Target="slides/slide196.xml"/><Relationship Id="rId203" Type="http://schemas.openxmlformats.org/officeDocument/2006/relationships/slide" Target="slides/slide197.xml"/><Relationship Id="rId204" Type="http://schemas.openxmlformats.org/officeDocument/2006/relationships/slide" Target="slides/slide198.xml"/><Relationship Id="rId205" Type="http://schemas.openxmlformats.org/officeDocument/2006/relationships/slide" Target="slides/slide199.xml"/><Relationship Id="rId206" Type="http://schemas.openxmlformats.org/officeDocument/2006/relationships/slide" Target="slides/slide200.xml"/><Relationship Id="rId207" Type="http://schemas.openxmlformats.org/officeDocument/2006/relationships/slide" Target="slides/slide201.xml"/><Relationship Id="rId208" Type="http://schemas.openxmlformats.org/officeDocument/2006/relationships/slide" Target="slides/slide202.xml"/><Relationship Id="rId209" Type="http://schemas.openxmlformats.org/officeDocument/2006/relationships/slide" Target="slides/slide203.xml"/><Relationship Id="rId210" Type="http://schemas.openxmlformats.org/officeDocument/2006/relationships/slide" Target="slides/slide204.xml"/><Relationship Id="rId211" Type="http://schemas.openxmlformats.org/officeDocument/2006/relationships/slide" Target="slides/slide205.xml"/><Relationship Id="rId212" Type="http://schemas.openxmlformats.org/officeDocument/2006/relationships/slide" Target="slides/slide206.xml"/><Relationship Id="rId213" Type="http://schemas.openxmlformats.org/officeDocument/2006/relationships/slide" Target="slides/slide207.xml"/><Relationship Id="rId214" Type="http://schemas.openxmlformats.org/officeDocument/2006/relationships/slide" Target="slides/slide208.xml"/><Relationship Id="rId215" Type="http://schemas.openxmlformats.org/officeDocument/2006/relationships/slide" Target="slides/slide209.xml"/><Relationship Id="rId216" Type="http://schemas.openxmlformats.org/officeDocument/2006/relationships/slide" Target="slides/slide210.xml"/><Relationship Id="rId217" Type="http://schemas.openxmlformats.org/officeDocument/2006/relationships/slide" Target="slides/slide211.xml"/><Relationship Id="rId218" Type="http://schemas.openxmlformats.org/officeDocument/2006/relationships/slide" Target="slides/slide212.xml"/><Relationship Id="rId219" Type="http://schemas.openxmlformats.org/officeDocument/2006/relationships/slide" Target="slides/slide213.xml"/><Relationship Id="rId220" Type="http://schemas.openxmlformats.org/officeDocument/2006/relationships/slide" Target="slides/slide214.xml"/><Relationship Id="rId221" Type="http://schemas.openxmlformats.org/officeDocument/2006/relationships/slide" Target="slides/slide215.xml"/><Relationship Id="rId222" Type="http://schemas.openxmlformats.org/officeDocument/2006/relationships/slide" Target="slides/slide216.xml"/><Relationship Id="rId223" Type="http://schemas.openxmlformats.org/officeDocument/2006/relationships/slide" Target="slides/slide217.xml"/><Relationship Id="rId224" Type="http://schemas.openxmlformats.org/officeDocument/2006/relationships/slide" Target="slides/slide218.xml"/><Relationship Id="rId225" Type="http://schemas.openxmlformats.org/officeDocument/2006/relationships/slide" Target="slides/slide219.xml"/><Relationship Id="rId226" Type="http://schemas.openxmlformats.org/officeDocument/2006/relationships/slide" Target="slides/slide220.xml"/><Relationship Id="rId227" Type="http://schemas.openxmlformats.org/officeDocument/2006/relationships/slide" Target="slides/slide221.xml"/><Relationship Id="rId228" Type="http://schemas.openxmlformats.org/officeDocument/2006/relationships/slide" Target="slides/slide222.xml"/><Relationship Id="rId229" Type="http://schemas.openxmlformats.org/officeDocument/2006/relationships/slide" Target="slides/slide223.xml"/><Relationship Id="rId230" Type="http://schemas.openxmlformats.org/officeDocument/2006/relationships/slide" Target="slides/slide224.xml"/><Relationship Id="rId231" Type="http://schemas.openxmlformats.org/officeDocument/2006/relationships/slide" Target="slides/slide225.xml"/><Relationship Id="rId232" Type="http://schemas.openxmlformats.org/officeDocument/2006/relationships/slide" Target="slides/slide226.xml"/><Relationship Id="rId233" Type="http://schemas.openxmlformats.org/officeDocument/2006/relationships/slide" Target="slides/slide227.xml"/><Relationship Id="rId234" Type="http://schemas.openxmlformats.org/officeDocument/2006/relationships/slide" Target="slides/slide228.xml"/><Relationship Id="rId235" Type="http://schemas.openxmlformats.org/officeDocument/2006/relationships/slide" Target="slides/slide229.xml"/><Relationship Id="rId236" Type="http://schemas.openxmlformats.org/officeDocument/2006/relationships/slide" Target="slides/slide230.xml"/><Relationship Id="rId237" Type="http://schemas.openxmlformats.org/officeDocument/2006/relationships/slide" Target="slides/slide231.xml"/><Relationship Id="rId238" Type="http://schemas.openxmlformats.org/officeDocument/2006/relationships/slide" Target="slides/slide232.xml"/><Relationship Id="rId239" Type="http://schemas.openxmlformats.org/officeDocument/2006/relationships/slide" Target="slides/slide233.xml"/><Relationship Id="rId240" Type="http://schemas.openxmlformats.org/officeDocument/2006/relationships/slide" Target="slides/slide234.xml"/><Relationship Id="rId241" Type="http://schemas.openxmlformats.org/officeDocument/2006/relationships/slide" Target="slides/slide235.xml"/><Relationship Id="rId242" Type="http://schemas.openxmlformats.org/officeDocument/2006/relationships/slide" Target="slides/slide236.xml"/><Relationship Id="rId243" Type="http://schemas.openxmlformats.org/officeDocument/2006/relationships/slide" Target="slides/slide237.xml"/><Relationship Id="rId244" Type="http://schemas.openxmlformats.org/officeDocument/2006/relationships/slide" Target="slides/slide238.xml"/><Relationship Id="rId245" Type="http://schemas.openxmlformats.org/officeDocument/2006/relationships/slide" Target="slides/slide239.xml"/><Relationship Id="rId246" Type="http://schemas.openxmlformats.org/officeDocument/2006/relationships/slide" Target="slides/slide240.xml"/><Relationship Id="rId247" Type="http://schemas.openxmlformats.org/officeDocument/2006/relationships/slide" Target="slides/slide241.xml"/><Relationship Id="rId248" Type="http://schemas.openxmlformats.org/officeDocument/2006/relationships/slide" Target="slides/slide242.xml"/><Relationship Id="rId249" Type="http://schemas.openxmlformats.org/officeDocument/2006/relationships/slide" Target="slides/slide243.xml"/><Relationship Id="rId250" Type="http://schemas.openxmlformats.org/officeDocument/2006/relationships/slide" Target="slides/slide244.xml"/><Relationship Id="rId251" Type="http://schemas.openxmlformats.org/officeDocument/2006/relationships/slide" Target="slides/slide245.xml"/><Relationship Id="rId252" Type="http://schemas.openxmlformats.org/officeDocument/2006/relationships/slide" Target="slides/slide246.xml"/><Relationship Id="rId253" Type="http://schemas.openxmlformats.org/officeDocument/2006/relationships/slide" Target="slides/slide247.xml"/><Relationship Id="rId254" Type="http://schemas.openxmlformats.org/officeDocument/2006/relationships/slide" Target="slides/slide248.xml"/><Relationship Id="rId255" Type="http://schemas.openxmlformats.org/officeDocument/2006/relationships/slide" Target="slides/slide249.xml"/><Relationship Id="rId256" Type="http://schemas.openxmlformats.org/officeDocument/2006/relationships/slide" Target="slides/slide250.xml"/><Relationship Id="rId257" Type="http://schemas.openxmlformats.org/officeDocument/2006/relationships/slide" Target="slides/slide251.xml"/><Relationship Id="rId258" Type="http://schemas.openxmlformats.org/officeDocument/2006/relationships/slide" Target="slides/slide252.xml"/><Relationship Id="rId259" Type="http://schemas.openxmlformats.org/officeDocument/2006/relationships/slide" Target="slides/slide253.xml"/><Relationship Id="rId260" Type="http://schemas.openxmlformats.org/officeDocument/2006/relationships/slide" Target="slides/slide254.xml"/><Relationship Id="rId261" Type="http://schemas.openxmlformats.org/officeDocument/2006/relationships/slide" Target="slides/slide255.xml"/><Relationship Id="rId262" Type="http://schemas.openxmlformats.org/officeDocument/2006/relationships/slide" Target="slides/slide256.xml"/><Relationship Id="rId263" Type="http://schemas.openxmlformats.org/officeDocument/2006/relationships/slide" Target="slides/slide257.xml"/><Relationship Id="rId264" Type="http://schemas.openxmlformats.org/officeDocument/2006/relationships/slide" Target="slides/slide258.xml"/><Relationship Id="rId265" Type="http://schemas.openxmlformats.org/officeDocument/2006/relationships/slide" Target="slides/slide259.xml"/><Relationship Id="rId266" Type="http://schemas.openxmlformats.org/officeDocument/2006/relationships/slide" Target="slides/slide260.xml"/><Relationship Id="rId267" Type="http://schemas.openxmlformats.org/officeDocument/2006/relationships/slide" Target="slides/slide261.xml"/><Relationship Id="rId268" Type="http://schemas.openxmlformats.org/officeDocument/2006/relationships/slide" Target="slides/slide262.xml"/><Relationship Id="rId269" Type="http://schemas.openxmlformats.org/officeDocument/2006/relationships/slide" Target="slides/slide26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60073" cy="324004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880004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35862" y="1709649"/>
            <a:ext cx="1587500" cy="193292"/>
          </a:xfrm>
          <a:prstGeom prst="rect">
            <a:avLst/>
          </a:prstGeom>
          <a:solidFill>
            <a:srgbClr val="E8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35862" y="1709646"/>
            <a:ext cx="1587500" cy="206885"/>
          </a:xfrm>
          <a:prstGeom prst="rect">
            <a:avLst/>
          </a:prstGeom>
          <a:solidFill>
            <a:srgbClr val="E8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35862" y="1709646"/>
            <a:ext cx="1587500" cy="220474"/>
          </a:xfrm>
          <a:prstGeom prst="rect">
            <a:avLst/>
          </a:prstGeom>
          <a:solidFill>
            <a:srgbClr val="E8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35862" y="1709647"/>
            <a:ext cx="1587500" cy="234062"/>
          </a:xfrm>
          <a:prstGeom prst="rect">
            <a:avLst/>
          </a:prstGeom>
          <a:solidFill>
            <a:srgbClr val="E8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759988" cy="3239998"/>
          </a:xfrm>
          <a:prstGeom prst="rect">
            <a:avLst/>
          </a:prstGeom>
        </p:spPr>
      </p:pic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90872" y="63277"/>
            <a:ext cx="575962" cy="231502"/>
          </a:xfrm>
          <a:prstGeom prst="rect">
            <a:avLst/>
          </a:prstGeom>
        </p:spPr>
      </p:pic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05158" y="88661"/>
            <a:ext cx="575974" cy="20611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61225" y="918848"/>
            <a:ext cx="5324170" cy="40674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66" b="1">
                <a:solidFill>
                  <a:srgbClr val="003373"/>
                </a:solidFill>
                <a:latin typeface="Josefin Sans"/>
              </a:rPr>
              <a:t>Genetic</a:t>
            </a:r>
            <a:r>
              <a:rPr sz="2066" b="1">
                <a:solidFill>
                  <a:srgbClr val="003373"/>
                </a:solidFill>
                <a:latin typeface="Josefin Sans"/>
              </a:rPr>
              <a:t> </a:t>
            </a:r>
            <a:r>
              <a:rPr sz="2066" b="1">
                <a:solidFill>
                  <a:srgbClr val="003373"/>
                </a:solidFill>
                <a:latin typeface="Josefin Sans"/>
              </a:rPr>
              <a:t>Algorithm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1225" y="1255046"/>
            <a:ext cx="532417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5A7D"/>
                </a:solidFill>
                <a:latin typeface="Josefin Sans"/>
              </a:rPr>
              <a:t>CSC3034</a:t>
            </a:r>
            <a:r>
              <a:rPr sz="1090" b="1">
                <a:solidFill>
                  <a:srgbClr val="005A7D"/>
                </a:solidFill>
                <a:latin typeface="Josefin Sans"/>
              </a:rPr>
              <a:t> </a:t>
            </a:r>
            <a:r>
              <a:rPr sz="1090" b="1">
                <a:solidFill>
                  <a:srgbClr val="005A7D"/>
                </a:solidFill>
                <a:latin typeface="Josefin Sans"/>
              </a:rPr>
              <a:t>Computational</a:t>
            </a:r>
            <a:r>
              <a:rPr sz="1090" b="1">
                <a:solidFill>
                  <a:srgbClr val="005A7D"/>
                </a:solidFill>
                <a:latin typeface="Josefin Sans"/>
              </a:rPr>
              <a:t> </a:t>
            </a:r>
            <a:r>
              <a:rPr sz="1090" b="1">
                <a:solidFill>
                  <a:srgbClr val="005A7D"/>
                </a:solidFill>
                <a:latin typeface="Josefin Sans"/>
              </a:rPr>
              <a:t>Intelligence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1225" y="1740729"/>
            <a:ext cx="532417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Josefin Sans"/>
              </a:rPr>
              <a:t>Dr</a:t>
            </a:r>
            <a:r>
              <a:rPr sz="1090" b="0">
                <a:solidFill>
                  <a:srgbClr val="003373"/>
                </a:solidFill>
                <a:latin typeface="Josefin Sans"/>
              </a:rPr>
              <a:t> </a:t>
            </a:r>
            <a:r>
              <a:rPr sz="1090" b="0">
                <a:solidFill>
                  <a:srgbClr val="003373"/>
                </a:solidFill>
                <a:latin typeface="Josefin Sans"/>
              </a:rPr>
              <a:t>Richard</a:t>
            </a:r>
            <a:r>
              <a:rPr sz="1090" b="0">
                <a:solidFill>
                  <a:srgbClr val="003373"/>
                </a:solidFill>
                <a:latin typeface="Josefin Sans"/>
              </a:rPr>
              <a:t> </a:t>
            </a:r>
            <a:r>
              <a:rPr sz="1090" b="0">
                <a:solidFill>
                  <a:srgbClr val="003373"/>
                </a:solidFill>
                <a:latin typeface="Josefin Sans"/>
              </a:rPr>
              <a:t>Wong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98771" y="3150917"/>
            <a:ext cx="88662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78690" y="3150693"/>
            <a:ext cx="10670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1262" y="1728317"/>
            <a:ext cx="5324133" cy="1968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D3361"/>
                </a:solidFill>
                <a:latin typeface="Arial"/>
              </a:rPr>
              <a:t>Dr Tang Tiong Yew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262" y="1741906"/>
            <a:ext cx="5324133" cy="1968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D3361"/>
                </a:solidFill>
                <a:latin typeface="Arial"/>
              </a:rPr>
              <a:t>Dr Tang Tiong Yew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262" y="1755495"/>
            <a:ext cx="5324133" cy="1968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D3361"/>
                </a:solidFill>
                <a:latin typeface="Arial"/>
              </a:rPr>
              <a:t>Dr Tang Tiong Yew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1262" y="1769084"/>
            <a:ext cx="5324133" cy="1968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D3361"/>
                </a:solidFill>
                <a:latin typeface="Arial"/>
              </a:rPr>
              <a:t>Dr Tang Tiong Yew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3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Lecture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outline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603660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Josefin Sans"/>
              </a:rPr>
              <a:t>Fundamental</a:t>
            </a:r>
            <a:r>
              <a:rPr sz="1090" b="0">
                <a:solidFill>
                  <a:srgbClr val="003373"/>
                </a:solidFill>
                <a:latin typeface="Josefin Sans"/>
              </a:rPr>
              <a:t> </a:t>
            </a:r>
            <a:r>
              <a:rPr sz="1090" b="0">
                <a:solidFill>
                  <a:srgbClr val="003373"/>
                </a:solidFill>
                <a:latin typeface="Josefin Sans"/>
              </a:rPr>
              <a:t>ideas</a:t>
            </a:r>
            <a:r>
              <a:rPr sz="1090" b="0">
                <a:solidFill>
                  <a:srgbClr val="003373"/>
                </a:solidFill>
                <a:latin typeface="Josefin Sans"/>
              </a:rPr>
              <a:t> </a:t>
            </a:r>
            <a:r>
              <a:rPr sz="1090" b="0">
                <a:solidFill>
                  <a:srgbClr val="003373"/>
                </a:solidFill>
                <a:latin typeface="Josefin Sans"/>
              </a:rPr>
              <a:t>of</a:t>
            </a:r>
            <a:r>
              <a:rPr sz="1090" b="0">
                <a:solidFill>
                  <a:srgbClr val="003373"/>
                </a:solidFill>
                <a:latin typeface="Josefin Sans"/>
              </a:rPr>
              <a:t> </a:t>
            </a:r>
            <a:r>
              <a:rPr sz="1090" b="0">
                <a:solidFill>
                  <a:srgbClr val="003373"/>
                </a:solidFill>
                <a:latin typeface="Josefin Sans"/>
              </a:rPr>
              <a:t>genetic</a:t>
            </a:r>
            <a:r>
              <a:rPr sz="1090" b="0">
                <a:solidFill>
                  <a:srgbClr val="003373"/>
                </a:solidFill>
                <a:latin typeface="Josefin Sans"/>
              </a:rPr>
              <a:t> </a:t>
            </a:r>
            <a:r>
              <a:rPr sz="1090" b="0">
                <a:solidFill>
                  <a:srgbClr val="003373"/>
                </a:solidFill>
                <a:latin typeface="Josefin Sans"/>
              </a:rPr>
              <a:t>algorithm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9993" y="983555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Josefin Sans"/>
              </a:rPr>
              <a:t>Structure</a:t>
            </a:r>
            <a:r>
              <a:rPr sz="1090" b="0">
                <a:solidFill>
                  <a:srgbClr val="003373"/>
                </a:solidFill>
                <a:latin typeface="Josefin Sans"/>
              </a:rPr>
              <a:t> </a:t>
            </a:r>
            <a:r>
              <a:rPr sz="1090" b="0">
                <a:solidFill>
                  <a:srgbClr val="003373"/>
                </a:solidFill>
                <a:latin typeface="Josefin Sans"/>
              </a:rPr>
              <a:t>of</a:t>
            </a:r>
            <a:r>
              <a:rPr sz="1090" b="0">
                <a:solidFill>
                  <a:srgbClr val="003373"/>
                </a:solidFill>
                <a:latin typeface="Josefin Sans"/>
              </a:rPr>
              <a:t> </a:t>
            </a:r>
            <a:r>
              <a:rPr sz="1090" b="0">
                <a:solidFill>
                  <a:srgbClr val="003373"/>
                </a:solidFill>
                <a:latin typeface="Josefin Sans"/>
              </a:rPr>
              <a:t>a</a:t>
            </a:r>
            <a:r>
              <a:rPr sz="1090" b="0">
                <a:solidFill>
                  <a:srgbClr val="003373"/>
                </a:solidFill>
                <a:latin typeface="Josefin Sans"/>
              </a:rPr>
              <a:t> </a:t>
            </a:r>
            <a:r>
              <a:rPr sz="1090" b="0">
                <a:solidFill>
                  <a:srgbClr val="003373"/>
                </a:solidFill>
                <a:latin typeface="Josefin Sans"/>
              </a:rPr>
              <a:t>genetic</a:t>
            </a:r>
            <a:r>
              <a:rPr sz="1090" b="0">
                <a:solidFill>
                  <a:srgbClr val="003373"/>
                </a:solidFill>
                <a:latin typeface="Josefin Sans"/>
              </a:rPr>
              <a:t> </a:t>
            </a:r>
            <a:r>
              <a:rPr sz="1090" b="0">
                <a:solidFill>
                  <a:srgbClr val="003373"/>
                </a:solidFill>
                <a:latin typeface="Josefin Sans"/>
              </a:rPr>
              <a:t>algorithm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9993" y="1363450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Josefin Sans"/>
              </a:rPr>
              <a:t>Selection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9993" y="1743345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Josefin Sans"/>
              </a:rPr>
              <a:t>Problem</a:t>
            </a:r>
            <a:r>
              <a:rPr sz="1090" b="0">
                <a:solidFill>
                  <a:srgbClr val="003373"/>
                </a:solidFill>
                <a:latin typeface="Josefin Sans"/>
              </a:rPr>
              <a:t> </a:t>
            </a:r>
            <a:r>
              <a:rPr sz="1090" b="0">
                <a:solidFill>
                  <a:srgbClr val="003373"/>
                </a:solidFill>
                <a:latin typeface="Josefin Sans"/>
              </a:rPr>
              <a:t>formulation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9993" y="2123240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Josefin Sans"/>
              </a:rPr>
              <a:t>Example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59993" y="2503123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Josefin Sans"/>
              </a:rPr>
              <a:t>Evolution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59993" y="2883018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Josefin Sans"/>
              </a:rPr>
              <a:t>Variants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898770" y="3150918"/>
            <a:ext cx="8866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664123" y="3150694"/>
            <a:ext cx="12127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Freeform 35"/>
          <p:cNvSpPr/>
          <p:nvPr/>
        </p:nvSpPr>
        <p:spPr>
          <a:xfrm>
            <a:off x="2260600" y="14859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0" y="3"/>
                </a:moveTo>
                <a:lnTo>
                  <a:pt x="3" y="1"/>
                </a:lnTo>
                <a:lnTo>
                  <a:pt x="1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3479800" y="14859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3"/>
                </a:moveTo>
                <a:lnTo>
                  <a:pt x="3" y="0"/>
                </a:lnTo>
                <a:lnTo>
                  <a:pt x="2" y="2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8" name="Connector 37"/>
          <p:cNvCxnSpPr/>
          <p:nvPr/>
        </p:nvCxnSpPr>
        <p:spPr>
          <a:xfrm>
            <a:off x="2195891" y="1785672"/>
            <a:ext cx="0" cy="276685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Freeform 38"/>
          <p:cNvSpPr/>
          <p:nvPr/>
        </p:nvSpPr>
        <p:spPr>
          <a:xfrm>
            <a:off x="2171700" y="17653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2" y="0"/>
                </a:moveTo>
                <a:lnTo>
                  <a:pt x="0" y="3"/>
                </a:lnTo>
                <a:lnTo>
                  <a:pt x="2" y="2"/>
                </a:lnTo>
                <a:lnTo>
                  <a:pt x="3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880004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3" name="Picture 4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Evolutionary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computation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136393" y="1041709"/>
            <a:ext cx="36490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Evolutionary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computation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671154" y="1570981"/>
            <a:ext cx="411424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Genetic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algorithm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628965" y="1572635"/>
            <a:ext cx="415643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Genetic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algorithm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031667" y="1570981"/>
            <a:ext cx="275372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Swarm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intelligence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631187" y="2104076"/>
            <a:ext cx="415420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Biological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evolution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98770" y="3150917"/>
            <a:ext cx="8866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663133" y="3150693"/>
            <a:ext cx="12226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Freeform 35"/>
          <p:cNvSpPr/>
          <p:nvPr/>
        </p:nvSpPr>
        <p:spPr>
          <a:xfrm>
            <a:off x="2260600" y="14859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0" y="3"/>
                </a:moveTo>
                <a:lnTo>
                  <a:pt x="3" y="1"/>
                </a:lnTo>
                <a:lnTo>
                  <a:pt x="1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3479800" y="14859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3"/>
                </a:moveTo>
                <a:lnTo>
                  <a:pt x="3" y="0"/>
                </a:lnTo>
                <a:lnTo>
                  <a:pt x="2" y="2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8" name="Connector 37"/>
          <p:cNvCxnSpPr/>
          <p:nvPr/>
        </p:nvCxnSpPr>
        <p:spPr>
          <a:xfrm>
            <a:off x="2195891" y="1785672"/>
            <a:ext cx="0" cy="276685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Freeform 38"/>
          <p:cNvSpPr/>
          <p:nvPr/>
        </p:nvSpPr>
        <p:spPr>
          <a:xfrm>
            <a:off x="2171700" y="17653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2" y="0"/>
                </a:moveTo>
                <a:lnTo>
                  <a:pt x="0" y="3"/>
                </a:lnTo>
                <a:lnTo>
                  <a:pt x="2" y="2"/>
                </a:lnTo>
                <a:lnTo>
                  <a:pt x="3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880004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3" name="Picture 4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Evolutionary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computation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136393" y="1041709"/>
            <a:ext cx="36490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Evolutionary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computation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671154" y="1570981"/>
            <a:ext cx="411424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Genetic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algorithm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628965" y="1572635"/>
            <a:ext cx="415643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Genetic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algorithm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031667" y="1570981"/>
            <a:ext cx="275372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Swarm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intelligence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631187" y="2104076"/>
            <a:ext cx="415420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Biological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evolution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98770" y="3150917"/>
            <a:ext cx="8866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663133" y="3150693"/>
            <a:ext cx="12226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Freeform 35"/>
          <p:cNvSpPr/>
          <p:nvPr/>
        </p:nvSpPr>
        <p:spPr>
          <a:xfrm>
            <a:off x="2260600" y="14859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0" y="3"/>
                </a:moveTo>
                <a:lnTo>
                  <a:pt x="3" y="1"/>
                </a:lnTo>
                <a:lnTo>
                  <a:pt x="1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3479800" y="14859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3"/>
                </a:moveTo>
                <a:lnTo>
                  <a:pt x="3" y="0"/>
                </a:lnTo>
                <a:lnTo>
                  <a:pt x="2" y="2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8" name="Connector 37"/>
          <p:cNvCxnSpPr/>
          <p:nvPr/>
        </p:nvCxnSpPr>
        <p:spPr>
          <a:xfrm>
            <a:off x="2195891" y="1785672"/>
            <a:ext cx="0" cy="276685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Freeform 38"/>
          <p:cNvSpPr/>
          <p:nvPr/>
        </p:nvSpPr>
        <p:spPr>
          <a:xfrm>
            <a:off x="2171700" y="17653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2" y="0"/>
                </a:moveTo>
                <a:lnTo>
                  <a:pt x="0" y="3"/>
                </a:lnTo>
                <a:lnTo>
                  <a:pt x="2" y="2"/>
                </a:lnTo>
                <a:lnTo>
                  <a:pt x="3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880004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3" name="Picture 4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Evolutionary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computation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136393" y="1041709"/>
            <a:ext cx="36490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Evolutionary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computation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671154" y="1570981"/>
            <a:ext cx="411424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Genetic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algorithm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628965" y="1572635"/>
            <a:ext cx="415643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Genetic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algorithm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031667" y="1570981"/>
            <a:ext cx="275372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Swarm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intelligence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631187" y="2104076"/>
            <a:ext cx="415420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Biological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evolution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98770" y="3150917"/>
            <a:ext cx="8866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663133" y="3150693"/>
            <a:ext cx="12226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27624654" y="-23935419"/>
            <a:ext cx="146674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27765002" y="-23935419"/>
            <a:ext cx="329273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26034258" y="-23763347"/>
            <a:ext cx="175491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26203423" y="-23763347"/>
            <a:ext cx="230492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ectangle 39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880003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3" name="Picture 4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Biological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evolution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9993" y="1143791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Evolution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98770" y="3150918"/>
            <a:ext cx="8866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663284" y="3150694"/>
            <a:ext cx="12211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2224328" y="1464908"/>
            <a:ext cx="146672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2364675" y="1464908"/>
            <a:ext cx="329273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633932" y="1636980"/>
            <a:ext cx="175489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803096" y="1636980"/>
            <a:ext cx="230492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ectangle 39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880003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3" name="Picture 4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Biological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evolution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9993" y="1143791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Evolution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7094" y="1317406"/>
            <a:ext cx="51483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optimisation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process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improve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ability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organism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(or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system)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7094" y="1489479"/>
            <a:ext cx="51483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survive in dynamically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changing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 competitive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environments.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898770" y="3150918"/>
            <a:ext cx="8866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663284" y="3150694"/>
            <a:ext cx="12211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2224328" y="1464908"/>
            <a:ext cx="146672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2364675" y="1464908"/>
            <a:ext cx="329273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633932" y="1636980"/>
            <a:ext cx="175489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803096" y="1636980"/>
            <a:ext cx="230492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ectangle 39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880003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3" name="Picture 4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Biological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evolution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9993" y="1143791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Evolution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7094" y="1317406"/>
            <a:ext cx="51483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optimisation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process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improve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ability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organism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(or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system)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7094" y="1489479"/>
            <a:ext cx="51483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survive in dynamically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changing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 competitive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environments.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59993" y="1839485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Charles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Darwin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developed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theory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natural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selection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which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became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59993" y="2011558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foundation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biological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evolution.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98770" y="3150918"/>
            <a:ext cx="8866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663284" y="3150694"/>
            <a:ext cx="12211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54379465" y="-48772030"/>
            <a:ext cx="160567" cy="0"/>
          </a:xfrm>
          <a:prstGeom prst="line">
            <a:avLst/>
          </a:prstGeom>
          <a:ln w="478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54533694" y="-48772030"/>
            <a:ext cx="210666" cy="0"/>
          </a:xfrm>
          <a:prstGeom prst="line">
            <a:avLst/>
          </a:prstGeom>
          <a:ln w="478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55022334" y="-48772030"/>
            <a:ext cx="109196" cy="0"/>
          </a:xfrm>
          <a:prstGeom prst="line">
            <a:avLst/>
          </a:prstGeom>
          <a:ln w="478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55125193" y="-48772030"/>
            <a:ext cx="184354" cy="0"/>
          </a:xfrm>
          <a:prstGeom prst="line">
            <a:avLst/>
          </a:prstGeom>
          <a:ln w="478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55303222" y="-48772030"/>
            <a:ext cx="258242" cy="0"/>
          </a:xfrm>
          <a:prstGeom prst="line">
            <a:avLst/>
          </a:prstGeom>
          <a:ln w="478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ectangle 40"/>
          <p:cNvSpPr/>
          <p:nvPr/>
        </p:nvSpPr>
        <p:spPr>
          <a:xfrm>
            <a:off x="-3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880000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3" name="Picture 4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4" name="Picture 4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Biological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evolution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59993" y="912592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two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parts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Darwinian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theory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evolution,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reproduction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mutation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898767" y="3150918"/>
            <a:ext cx="88662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62596" y="3150694"/>
            <a:ext cx="12279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54379465" y="-48772033"/>
            <a:ext cx="160567" cy="0"/>
          </a:xfrm>
          <a:prstGeom prst="line">
            <a:avLst/>
          </a:prstGeom>
          <a:ln w="478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54533694" y="-48772033"/>
            <a:ext cx="210666" cy="0"/>
          </a:xfrm>
          <a:prstGeom prst="line">
            <a:avLst/>
          </a:prstGeom>
          <a:ln w="478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55022334" y="-48772033"/>
            <a:ext cx="109196" cy="0"/>
          </a:xfrm>
          <a:prstGeom prst="line">
            <a:avLst/>
          </a:prstGeom>
          <a:ln w="478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55125193" y="-48772033"/>
            <a:ext cx="184354" cy="0"/>
          </a:xfrm>
          <a:prstGeom prst="line">
            <a:avLst/>
          </a:prstGeom>
          <a:ln w="478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55303222" y="-48772033"/>
            <a:ext cx="258242" cy="0"/>
          </a:xfrm>
          <a:prstGeom prst="line">
            <a:avLst/>
          </a:prstGeom>
          <a:ln w="478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ectangle 40"/>
          <p:cNvSpPr/>
          <p:nvPr/>
        </p:nvSpPr>
        <p:spPr>
          <a:xfrm>
            <a:off x="-3" y="3146739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880000" y="3146739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3" name="Picture 4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4" name="Picture 4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Biological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evolution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59993" y="912592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two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parts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Darwinian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theory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evolution,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reproduction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mutation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59993" y="1170944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First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part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states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that,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898767" y="3150915"/>
            <a:ext cx="88662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662596" y="3150691"/>
            <a:ext cx="12279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28979136" y="-23371705"/>
            <a:ext cx="160567" cy="0"/>
          </a:xfrm>
          <a:prstGeom prst="line">
            <a:avLst/>
          </a:prstGeom>
          <a:ln w="478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29133365" y="-23371705"/>
            <a:ext cx="210667" cy="0"/>
          </a:xfrm>
          <a:prstGeom prst="line">
            <a:avLst/>
          </a:prstGeom>
          <a:ln w="478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29622012" y="-23371705"/>
            <a:ext cx="109193" cy="0"/>
          </a:xfrm>
          <a:prstGeom prst="line">
            <a:avLst/>
          </a:prstGeom>
          <a:ln w="478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29724870" y="-23371705"/>
            <a:ext cx="184355" cy="0"/>
          </a:xfrm>
          <a:prstGeom prst="line">
            <a:avLst/>
          </a:prstGeom>
          <a:ln w="478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29902897" y="-23371705"/>
            <a:ext cx="258241" cy="0"/>
          </a:xfrm>
          <a:prstGeom prst="line">
            <a:avLst/>
          </a:prstGeom>
          <a:ln w="478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ectangle 40"/>
          <p:cNvSpPr/>
          <p:nvPr/>
        </p:nvSpPr>
        <p:spPr>
          <a:xfrm>
            <a:off x="2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880006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3" name="Picture 4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4" name="Picture 4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Biological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evolution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59993" y="912592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two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parts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Darwinian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theory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evolution,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reproduction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mutation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59993" y="1170944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First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part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states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that,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69405" y="1377065"/>
            <a:ext cx="5315990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MSAM10"/>
              </a:rPr>
              <a:t>▶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this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world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limited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resources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and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stable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populations.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98773" y="3150916"/>
            <a:ext cx="88662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62602" y="3150692"/>
            <a:ext cx="12279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28979136" y="-23371705"/>
            <a:ext cx="160567" cy="0"/>
          </a:xfrm>
          <a:prstGeom prst="line">
            <a:avLst/>
          </a:prstGeom>
          <a:ln w="478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29133365" y="-23371705"/>
            <a:ext cx="210667" cy="0"/>
          </a:xfrm>
          <a:prstGeom prst="line">
            <a:avLst/>
          </a:prstGeom>
          <a:ln w="478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29622012" y="-23371705"/>
            <a:ext cx="109193" cy="0"/>
          </a:xfrm>
          <a:prstGeom prst="line">
            <a:avLst/>
          </a:prstGeom>
          <a:ln w="478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29724870" y="-23371705"/>
            <a:ext cx="184355" cy="0"/>
          </a:xfrm>
          <a:prstGeom prst="line">
            <a:avLst/>
          </a:prstGeom>
          <a:ln w="478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29902897" y="-23371705"/>
            <a:ext cx="258241" cy="0"/>
          </a:xfrm>
          <a:prstGeom prst="line">
            <a:avLst/>
          </a:prstGeom>
          <a:ln w="478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ectangle 40"/>
          <p:cNvSpPr/>
          <p:nvPr/>
        </p:nvSpPr>
        <p:spPr>
          <a:xfrm>
            <a:off x="2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880006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3" name="Picture 4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4" name="Picture 4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Biological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evolution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59993" y="912592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two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parts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Darwinian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theory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evolution,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reproduction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mutation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59993" y="1170944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First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part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states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that,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69405" y="1377065"/>
            <a:ext cx="5315990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MSAM10"/>
              </a:rPr>
              <a:t>▶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this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world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limited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resources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and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stable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populations.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69405" y="1614936"/>
            <a:ext cx="5315990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MSAM10"/>
              </a:rPr>
              <a:t>▶</a:t>
            </a:r>
            <a:r>
              <a:rPr sz="996" b="0">
                <a:solidFill>
                  <a:srgbClr val="000000"/>
                </a:solidFill>
                <a:latin typeface="Josefin Sans"/>
              </a:rPr>
              <a:t>Each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individual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competes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others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for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survival.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98773" y="3150916"/>
            <a:ext cx="88662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662602" y="3150692"/>
            <a:ext cx="12279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3578809" y="2028621"/>
            <a:ext cx="160567" cy="0"/>
          </a:xfrm>
          <a:prstGeom prst="line">
            <a:avLst/>
          </a:prstGeom>
          <a:ln w="478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3733038" y="2028621"/>
            <a:ext cx="210668" cy="0"/>
          </a:xfrm>
          <a:prstGeom prst="line">
            <a:avLst/>
          </a:prstGeom>
          <a:ln w="478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4221683" y="2028621"/>
            <a:ext cx="109195" cy="0"/>
          </a:xfrm>
          <a:prstGeom prst="line">
            <a:avLst/>
          </a:prstGeom>
          <a:ln w="478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4324541" y="2028621"/>
            <a:ext cx="184353" cy="0"/>
          </a:xfrm>
          <a:prstGeom prst="line">
            <a:avLst/>
          </a:prstGeom>
          <a:ln w="478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4502569" y="2028621"/>
            <a:ext cx="258242" cy="0"/>
          </a:xfrm>
          <a:prstGeom prst="line">
            <a:avLst/>
          </a:prstGeom>
          <a:ln w="478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ectangle 40"/>
          <p:cNvSpPr/>
          <p:nvPr/>
        </p:nvSpPr>
        <p:spPr>
          <a:xfrm>
            <a:off x="2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880006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3" name="Picture 4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4" name="Picture 4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Biological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evolution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59993" y="912592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two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parts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Darwinian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theory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evolution,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reproduction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mutation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59993" y="1170944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First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part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states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that,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69405" y="1377065"/>
            <a:ext cx="5315990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MSAM10"/>
              </a:rPr>
              <a:t>▶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this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world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limited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resources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and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stable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populations.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69405" y="1614936"/>
            <a:ext cx="5315990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MSAM10"/>
              </a:rPr>
              <a:t>▶</a:t>
            </a:r>
            <a:r>
              <a:rPr sz="996" b="0">
                <a:solidFill>
                  <a:srgbClr val="000000"/>
                </a:solidFill>
                <a:latin typeface="Josefin Sans"/>
              </a:rPr>
              <a:t>Each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individual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competes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others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for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survival.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69405" y="1852807"/>
            <a:ext cx="5315990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MSAM10"/>
              </a:rPr>
              <a:t>▶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Individuals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good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characteristics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are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more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likely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to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survive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and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reproduce.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898773" y="3150916"/>
            <a:ext cx="88662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662602" y="3150692"/>
            <a:ext cx="12279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3578809" y="2028621"/>
            <a:ext cx="160567" cy="0"/>
          </a:xfrm>
          <a:prstGeom prst="line">
            <a:avLst/>
          </a:prstGeom>
          <a:ln w="478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3733038" y="2028621"/>
            <a:ext cx="210668" cy="0"/>
          </a:xfrm>
          <a:prstGeom prst="line">
            <a:avLst/>
          </a:prstGeom>
          <a:ln w="478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4221683" y="2028621"/>
            <a:ext cx="109195" cy="0"/>
          </a:xfrm>
          <a:prstGeom prst="line">
            <a:avLst/>
          </a:prstGeom>
          <a:ln w="478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4324541" y="2028621"/>
            <a:ext cx="184353" cy="0"/>
          </a:xfrm>
          <a:prstGeom prst="line">
            <a:avLst/>
          </a:prstGeom>
          <a:ln w="478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4502569" y="2028621"/>
            <a:ext cx="258242" cy="0"/>
          </a:xfrm>
          <a:prstGeom prst="line">
            <a:avLst/>
          </a:prstGeom>
          <a:ln w="478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ectangle 40"/>
          <p:cNvSpPr/>
          <p:nvPr/>
        </p:nvSpPr>
        <p:spPr>
          <a:xfrm>
            <a:off x="2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880006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3" name="Picture 4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4" name="Picture 4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Biological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evolution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59993" y="912592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two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parts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Darwinian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theory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evolution,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reproduction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mutation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59993" y="1170944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First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part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states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that,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69405" y="1377065"/>
            <a:ext cx="5315990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MSAM10"/>
              </a:rPr>
              <a:t>▶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this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world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limited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resources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and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stable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populations.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69405" y="1614936"/>
            <a:ext cx="5315990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MSAM10"/>
              </a:rPr>
              <a:t>▶</a:t>
            </a:r>
            <a:r>
              <a:rPr sz="996" b="0">
                <a:solidFill>
                  <a:srgbClr val="000000"/>
                </a:solidFill>
                <a:latin typeface="Josefin Sans"/>
              </a:rPr>
              <a:t>Each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individual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competes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others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for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survival.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69405" y="1852807"/>
            <a:ext cx="5315990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MSAM10"/>
              </a:rPr>
              <a:t>▶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Individuals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good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characteristics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are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more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likely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to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survive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and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reproduce.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69405" y="2090678"/>
            <a:ext cx="5315990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MSAM10"/>
              </a:rPr>
              <a:t>▶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Characteristics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are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passed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to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their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offsprings.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898773" y="3150916"/>
            <a:ext cx="88662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662602" y="3150692"/>
            <a:ext cx="12279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3578809" y="2028621"/>
            <a:ext cx="160567" cy="0"/>
          </a:xfrm>
          <a:prstGeom prst="line">
            <a:avLst/>
          </a:prstGeom>
          <a:ln w="478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3733038" y="2028621"/>
            <a:ext cx="210668" cy="0"/>
          </a:xfrm>
          <a:prstGeom prst="line">
            <a:avLst/>
          </a:prstGeom>
          <a:ln w="478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4221683" y="2028621"/>
            <a:ext cx="109195" cy="0"/>
          </a:xfrm>
          <a:prstGeom prst="line">
            <a:avLst/>
          </a:prstGeom>
          <a:ln w="478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4324541" y="2028621"/>
            <a:ext cx="184353" cy="0"/>
          </a:xfrm>
          <a:prstGeom prst="line">
            <a:avLst/>
          </a:prstGeom>
          <a:ln w="478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4502569" y="2028621"/>
            <a:ext cx="258242" cy="0"/>
          </a:xfrm>
          <a:prstGeom prst="line">
            <a:avLst/>
          </a:prstGeom>
          <a:ln w="478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ectangle 40"/>
          <p:cNvSpPr/>
          <p:nvPr/>
        </p:nvSpPr>
        <p:spPr>
          <a:xfrm>
            <a:off x="2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880006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3" name="Picture 4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4" name="Picture 4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Biological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evolution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59993" y="912592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two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parts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Darwinian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theory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evolution,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reproduction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mutation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59993" y="1170944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First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part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states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that,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69405" y="1377065"/>
            <a:ext cx="5315990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MSAM10"/>
              </a:rPr>
              <a:t>▶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this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world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limited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resources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and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stable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populations.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69405" y="1614936"/>
            <a:ext cx="5315990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MSAM10"/>
              </a:rPr>
              <a:t>▶</a:t>
            </a:r>
            <a:r>
              <a:rPr sz="996" b="0">
                <a:solidFill>
                  <a:srgbClr val="000000"/>
                </a:solidFill>
                <a:latin typeface="Josefin Sans"/>
              </a:rPr>
              <a:t>Each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individual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competes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others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for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survival.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69405" y="1852807"/>
            <a:ext cx="5315990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MSAM10"/>
              </a:rPr>
              <a:t>▶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Individuals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good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characteristics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are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more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likely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to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survive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and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reproduce.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69405" y="2090678"/>
            <a:ext cx="5315990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MSAM10"/>
              </a:rPr>
              <a:t>▶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Characteristics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are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passed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to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their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offsprings.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69405" y="2328536"/>
            <a:ext cx="5315990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MSAM10"/>
              </a:rPr>
              <a:t>▶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Over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time,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these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good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characteristics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become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dominant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among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population.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898773" y="3150916"/>
            <a:ext cx="88662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662602" y="3150692"/>
            <a:ext cx="12279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26197405" y="-23468592"/>
            <a:ext cx="47829" cy="4782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6197405" y="-23243382"/>
            <a:ext cx="47829" cy="4782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880003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Biological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evolution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9993" y="757830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two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parts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Darwinian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theory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evolution,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reproduction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mutation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9993" y="1016182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second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part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states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that,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898770" y="3150917"/>
            <a:ext cx="8866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62447" y="3150693"/>
            <a:ext cx="12294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26197405" y="-23468592"/>
            <a:ext cx="47829" cy="4782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6197405" y="-23243382"/>
            <a:ext cx="47829" cy="4782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880003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Biological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evolution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9993" y="757830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two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parts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Darwinian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theory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evolution,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reproduction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mutation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9993" y="1016182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second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part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states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that,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9405" y="1222304"/>
            <a:ext cx="5315990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MSAM10"/>
              </a:rPr>
              <a:t>▶</a:t>
            </a:r>
            <a:r>
              <a:rPr sz="996" b="0">
                <a:solidFill>
                  <a:srgbClr val="000000"/>
                </a:solidFill>
                <a:latin typeface="Josefin Sans"/>
              </a:rPr>
              <a:t>during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production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child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organism,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random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events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cause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random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changes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to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7096" y="1415465"/>
            <a:ext cx="5148299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child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organism’s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characteristics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(mutation).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898770" y="3150917"/>
            <a:ext cx="8866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62447" y="3150693"/>
            <a:ext cx="12294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26197405" y="-23468592"/>
            <a:ext cx="47829" cy="4782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6197405" y="-23243382"/>
            <a:ext cx="47829" cy="4782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880003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Biological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evolution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9993" y="757830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two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parts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Darwinian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theory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evolution,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reproduction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mutation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9993" y="1016182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second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part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states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that,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9405" y="1222304"/>
            <a:ext cx="5315990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MSAM10"/>
              </a:rPr>
              <a:t>▶</a:t>
            </a:r>
            <a:r>
              <a:rPr sz="996" b="0">
                <a:solidFill>
                  <a:srgbClr val="000000"/>
                </a:solidFill>
                <a:latin typeface="Josefin Sans"/>
              </a:rPr>
              <a:t>during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production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child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organism,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random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events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cause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random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changes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to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7096" y="1415465"/>
            <a:ext cx="5148299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child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organism’s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characteristics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(mutation).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9406" y="1612004"/>
            <a:ext cx="5315989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MSAM10"/>
              </a:rPr>
              <a:t>▶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these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new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characteristics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are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beneficial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to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organism,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i.e.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good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characteristics,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898770" y="3150917"/>
            <a:ext cx="8866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662447" y="3150693"/>
            <a:ext cx="12294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797078" y="1931734"/>
            <a:ext cx="47828" cy="4782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6197405" y="-23243382"/>
            <a:ext cx="47829" cy="4782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880003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Biological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evolution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9993" y="757830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two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parts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Darwinian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theory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evolution,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reproduction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mutation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9993" y="1016182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second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part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states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that,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9405" y="1222304"/>
            <a:ext cx="5315990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MSAM10"/>
              </a:rPr>
              <a:t>▶</a:t>
            </a:r>
            <a:r>
              <a:rPr sz="996" b="0">
                <a:solidFill>
                  <a:srgbClr val="000000"/>
                </a:solidFill>
                <a:latin typeface="Josefin Sans"/>
              </a:rPr>
              <a:t>during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production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child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organism,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random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events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cause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random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changes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to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7096" y="1415465"/>
            <a:ext cx="5148299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child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organism’s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characteristics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(mutation).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9406" y="1612004"/>
            <a:ext cx="5315989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MSAM10"/>
              </a:rPr>
              <a:t>▶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these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new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characteristics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are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beneficial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to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organism,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i.e.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good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characteristics,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14185" y="1888658"/>
            <a:ext cx="4871210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chance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survival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increases,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98770" y="3150917"/>
            <a:ext cx="8866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62447" y="3150693"/>
            <a:ext cx="12294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797078" y="1931734"/>
            <a:ext cx="47828" cy="4782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97079" y="2156943"/>
            <a:ext cx="47828" cy="4782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880003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Biological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evolution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9993" y="757830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two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parts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Darwinian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theory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evolution,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reproduction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mutation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9993" y="1016182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second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part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states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that,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9405" y="1222304"/>
            <a:ext cx="5315990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MSAM10"/>
              </a:rPr>
              <a:t>▶</a:t>
            </a:r>
            <a:r>
              <a:rPr sz="996" b="0">
                <a:solidFill>
                  <a:srgbClr val="000000"/>
                </a:solidFill>
                <a:latin typeface="Josefin Sans"/>
              </a:rPr>
              <a:t>during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production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child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organism,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random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events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cause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random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changes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to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7096" y="1415465"/>
            <a:ext cx="5148299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child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organism’s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characteristics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(mutation).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9406" y="1612004"/>
            <a:ext cx="5315989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MSAM10"/>
              </a:rPr>
              <a:t>▶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these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new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characteristics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are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beneficial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to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organism,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i.e.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good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characteristics,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14185" y="1888658"/>
            <a:ext cx="4871210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chance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survival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increases,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14186" y="2113867"/>
            <a:ext cx="4871210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chance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reproduction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increases.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98770" y="3150917"/>
            <a:ext cx="8866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662447" y="3150693"/>
            <a:ext cx="12294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797078" y="1931734"/>
            <a:ext cx="47828" cy="4782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97079" y="2156943"/>
            <a:ext cx="47828" cy="4782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0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880005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Biological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evolution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9993" y="757830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two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parts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Darwinian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theory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evolution,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reproduction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mutation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9993" y="1016182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second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part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states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that,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9405" y="1222304"/>
            <a:ext cx="5315990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MSAM10"/>
              </a:rPr>
              <a:t>▶</a:t>
            </a:r>
            <a:r>
              <a:rPr sz="996" b="0">
                <a:solidFill>
                  <a:srgbClr val="000000"/>
                </a:solidFill>
                <a:latin typeface="Josefin Sans"/>
              </a:rPr>
              <a:t>during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production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child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organism,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random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events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cause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random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changes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to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7096" y="1415465"/>
            <a:ext cx="5148299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child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organism’s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characteristics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(mutation).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9406" y="1612004"/>
            <a:ext cx="5315989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MSAM10"/>
              </a:rPr>
              <a:t>▶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these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new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characteristics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are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beneficial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to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organism,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i.e.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good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characteristics,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14185" y="1888658"/>
            <a:ext cx="4871210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chance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survival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increases,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14186" y="2113867"/>
            <a:ext cx="4871210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chance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reproduction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increases.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69405" y="2300306"/>
            <a:ext cx="5315990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MSAM10"/>
              </a:rPr>
              <a:t>▶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These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new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characteristics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are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more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likely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to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become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dominant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population.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898771" y="3150919"/>
            <a:ext cx="88662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662448" y="3150695"/>
            <a:ext cx="12294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797078" y="1931734"/>
            <a:ext cx="47828" cy="4782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97079" y="2156943"/>
            <a:ext cx="47828" cy="4782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880005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Biological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evolution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9993" y="757830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two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parts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Darwinian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theory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evolution,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reproduction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mutation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9993" y="1016182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second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part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states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that,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9405" y="1222304"/>
            <a:ext cx="5315990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MSAM10"/>
              </a:rPr>
              <a:t>▶</a:t>
            </a:r>
            <a:r>
              <a:rPr sz="996" b="0">
                <a:solidFill>
                  <a:srgbClr val="000000"/>
                </a:solidFill>
                <a:latin typeface="Josefin Sans"/>
              </a:rPr>
              <a:t>during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production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child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organism,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random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events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cause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random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changes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to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7096" y="1415465"/>
            <a:ext cx="5148299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child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organism’s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characteristics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(mutation).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9406" y="1612004"/>
            <a:ext cx="5315989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MSAM10"/>
              </a:rPr>
              <a:t>▶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these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new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characteristics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are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beneficial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to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organism,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i.e.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good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characteristics,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14185" y="1888658"/>
            <a:ext cx="4871210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chance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survival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increases,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14186" y="2113867"/>
            <a:ext cx="4871210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chance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reproduction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increases.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69405" y="2300306"/>
            <a:ext cx="5315990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MSAM10"/>
              </a:rPr>
              <a:t>▶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These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new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characteristics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are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more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likely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to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become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dominant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population.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59995" y="2590157"/>
            <a:ext cx="54254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What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organism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mutated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developed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worse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characteristics?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898771" y="3150917"/>
            <a:ext cx="88662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662448" y="3150693"/>
            <a:ext cx="12294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4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Biological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evolution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1422074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These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processes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(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natural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selection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,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survival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fittest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,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reproduction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9993" y="1594146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mutation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)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form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fundamental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components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genetic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algorithm.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98770" y="3150917"/>
            <a:ext cx="8866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66473" y="3150693"/>
            <a:ext cx="11892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7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0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3" y="3146740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Terminology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60057" y="1342871"/>
            <a:ext cx="532533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Each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member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population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considered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individual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chromosome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898770" y="3150916"/>
            <a:ext cx="8866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63589" y="3150692"/>
            <a:ext cx="12180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8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-2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2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Terminology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60057" y="1342871"/>
            <a:ext cx="532533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Each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member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population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considered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individual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chromosome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0055" y="1600985"/>
            <a:ext cx="532534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characteristics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individual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encoded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as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genes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chromosome.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98768" y="3150917"/>
            <a:ext cx="88662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63588" y="3150693"/>
            <a:ext cx="12180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8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3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Generic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genetic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algorithm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1342889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Genetic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algorithm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7094" y="1540532"/>
            <a:ext cx="51483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optimisation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process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which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purpose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identify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chromosome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7094" y="1712617"/>
            <a:ext cx="51483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with the best combination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genes.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898770" y="3150918"/>
            <a:ext cx="8866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62447" y="3150694"/>
            <a:ext cx="12294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9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-6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79997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Optimisation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problem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627384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What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optimisation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problem?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898764" y="3150917"/>
            <a:ext cx="88663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31693" y="3150693"/>
            <a:ext cx="15370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10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3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Optimisation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problem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627384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What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optimisation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problem?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0056" y="841742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finding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value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that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will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maximise/minimise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another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value(s)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98770" y="3150917"/>
            <a:ext cx="8866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31700" y="3150693"/>
            <a:ext cx="15369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10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3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Optimisation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problem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627384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What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optimisation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problem?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0056" y="841742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finding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value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that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will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maximise/minimise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another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value(s)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9993" y="1143614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Examples,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898770" y="3150917"/>
            <a:ext cx="8866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31700" y="3150693"/>
            <a:ext cx="15369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10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3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Optimisation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problem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627384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What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optimisation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problem?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0056" y="841742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finding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value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that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will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maximise/minimise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another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value(s)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9993" y="1143614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Examples,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9404" y="1349735"/>
            <a:ext cx="531599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MSAM10"/>
              </a:rPr>
              <a:t>▶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purchasing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laptop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–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optimise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combination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specifications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to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maximise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7095" y="1542908"/>
            <a:ext cx="5148300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performance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-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to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-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money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ratio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98770" y="3150917"/>
            <a:ext cx="8866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631700" y="3150693"/>
            <a:ext cx="15369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3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Optimisation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problem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627384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What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optimisation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problem?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0056" y="841742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finding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value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that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will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maximise/minimise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another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value(s)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9993" y="1143614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Examples,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9404" y="1349735"/>
            <a:ext cx="531599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MSAM10"/>
              </a:rPr>
              <a:t>▶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purchasing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laptop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–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optimise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combination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specifications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to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maximise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7095" y="1542908"/>
            <a:ext cx="5148300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performance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-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to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-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money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ratio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69405" y="1739435"/>
            <a:ext cx="5315990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MSAM10"/>
              </a:rPr>
              <a:t>▶</a:t>
            </a:r>
            <a:r>
              <a:rPr sz="996" b="0">
                <a:solidFill>
                  <a:srgbClr val="000000"/>
                </a:solidFill>
                <a:latin typeface="Josefin Sans"/>
              </a:rPr>
              <a:t>going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from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one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place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to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another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place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–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optimise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mode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transportation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and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route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to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7096" y="1932609"/>
            <a:ext cx="5148299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take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to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minimise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time/cost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898770" y="3150917"/>
            <a:ext cx="8866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631700" y="3150693"/>
            <a:ext cx="15369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10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4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3" y="3146744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Optimisation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problem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627384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What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optimisation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problem?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0056" y="841742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finding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value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that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will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maximise/minimise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another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value(s)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9993" y="1143614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Examples,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9404" y="1349735"/>
            <a:ext cx="531599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MSAM10"/>
              </a:rPr>
              <a:t>▶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purchasing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laptop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–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optimise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combination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specifications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to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maximise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7095" y="1542908"/>
            <a:ext cx="5148300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performance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-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to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-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money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ratio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69405" y="1739435"/>
            <a:ext cx="5315990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MSAM10"/>
              </a:rPr>
              <a:t>▶</a:t>
            </a:r>
            <a:r>
              <a:rPr sz="996" b="0">
                <a:solidFill>
                  <a:srgbClr val="000000"/>
                </a:solidFill>
                <a:latin typeface="Josefin Sans"/>
              </a:rPr>
              <a:t>going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from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one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place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to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another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place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–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optimise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mode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transportation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and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route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to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7096" y="1932609"/>
            <a:ext cx="5148299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take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to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minimise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time/cost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69405" y="2129135"/>
            <a:ext cx="5315990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MSAM10"/>
              </a:rPr>
              <a:t>▶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choosing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font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size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book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you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are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writing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–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optimise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font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size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to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maximise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7096" y="2322309"/>
            <a:ext cx="5148299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readability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and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minimise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cost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printing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98770" y="3150920"/>
            <a:ext cx="8866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631700" y="3150696"/>
            <a:ext cx="15369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10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4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3" y="3146744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Optimisation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problem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627384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What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optimisation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problem?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0056" y="841742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finding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value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that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will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maximise/minimise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another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value(s)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9993" y="1143614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Examples,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9404" y="1349735"/>
            <a:ext cx="531599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MSAM10"/>
              </a:rPr>
              <a:t>▶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purchasing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laptop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–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optimise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combination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specifications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to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maximise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7095" y="1542908"/>
            <a:ext cx="5148300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performance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-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to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-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money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ratio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69405" y="1739435"/>
            <a:ext cx="5315990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MSAM10"/>
              </a:rPr>
              <a:t>▶</a:t>
            </a:r>
            <a:r>
              <a:rPr sz="996" b="0">
                <a:solidFill>
                  <a:srgbClr val="000000"/>
                </a:solidFill>
                <a:latin typeface="Josefin Sans"/>
              </a:rPr>
              <a:t>going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from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one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place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to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another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place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–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optimise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mode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transportation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and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route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to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7096" y="1932609"/>
            <a:ext cx="5148299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take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to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minimise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time/cost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69405" y="2129135"/>
            <a:ext cx="5315990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MSAM10"/>
              </a:rPr>
              <a:t>▶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choosing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font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size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book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you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are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writing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–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optimise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font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size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to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maximise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7096" y="2322309"/>
            <a:ext cx="5148299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readability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and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minimise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cost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printing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69404" y="2518835"/>
            <a:ext cx="531599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MSAM10"/>
              </a:rPr>
              <a:t>▶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any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other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example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you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can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think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of?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898770" y="3150920"/>
            <a:ext cx="8866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631700" y="3150696"/>
            <a:ext cx="15369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10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4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3" y="3146744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Optimisation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problem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627384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What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optimisation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problem?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0056" y="841742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finding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value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that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will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maximise/minimise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another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value(s)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9993" y="1143614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Examples,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9404" y="1349735"/>
            <a:ext cx="531599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MSAM10"/>
              </a:rPr>
              <a:t>▶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purchasing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laptop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–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optimise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combination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specifications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to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maximise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7095" y="1542908"/>
            <a:ext cx="5148300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performance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-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to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-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money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ratio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69405" y="1739435"/>
            <a:ext cx="5315990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MSAM10"/>
              </a:rPr>
              <a:t>▶</a:t>
            </a:r>
            <a:r>
              <a:rPr sz="996" b="0">
                <a:solidFill>
                  <a:srgbClr val="000000"/>
                </a:solidFill>
                <a:latin typeface="Josefin Sans"/>
              </a:rPr>
              <a:t>going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from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one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place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to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another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place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–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optimise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mode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transportation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and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route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to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7096" y="1932609"/>
            <a:ext cx="5148299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take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to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minimise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time/cost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69405" y="2129135"/>
            <a:ext cx="5315990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MSAM10"/>
              </a:rPr>
              <a:t>▶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choosing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font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size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book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you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are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writing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–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optimise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font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size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to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maximise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7096" y="2322309"/>
            <a:ext cx="5148299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readability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and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minimise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cost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printing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69404" y="2518835"/>
            <a:ext cx="531599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MSAM10"/>
              </a:rPr>
              <a:t>▶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any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other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example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you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can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think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of?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69403" y="2756706"/>
            <a:ext cx="531599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MSAM10"/>
              </a:rPr>
              <a:t>▶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are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search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problems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optimisation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problems?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898770" y="3150920"/>
            <a:ext cx="8866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631700" y="3150696"/>
            <a:ext cx="15369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10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4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3" y="3146744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Generic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genetic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algorithm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1294388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Genetic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algorithm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algorithm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solve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optimisation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problem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which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are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898770" y="3150919"/>
            <a:ext cx="8866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54776" y="3150695"/>
            <a:ext cx="13061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11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4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3" y="3146744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Generic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genetic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algorithm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1294388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Genetic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algorithm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algorithm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solve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optimisation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problem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which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are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0057" y="1508733"/>
            <a:ext cx="532533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optimising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values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chromosome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98770" y="3150919"/>
            <a:ext cx="8866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54776" y="3150695"/>
            <a:ext cx="13061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11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5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Generic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genetic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algorithm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1294388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Genetic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algorithm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algorithm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solve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optimisation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problem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which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are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0057" y="1508733"/>
            <a:ext cx="532533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optimising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values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chromosome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0058" y="1766848"/>
            <a:ext cx="532533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maximise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fitness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chromosome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898771" y="3150918"/>
            <a:ext cx="88662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54777" y="3150694"/>
            <a:ext cx="13061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11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H="1">
            <a:off x="1125379" y="927276"/>
            <a:ext cx="1050046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074768" y="977887"/>
            <a:ext cx="0" cy="15966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1125379" y="1188162"/>
            <a:ext cx="1050046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2226036" y="977887"/>
            <a:ext cx="0" cy="15966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H="1">
            <a:off x="2410841" y="917028"/>
            <a:ext cx="132960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2360231" y="967638"/>
            <a:ext cx="0" cy="18016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2410841" y="1198410"/>
            <a:ext cx="132960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3791060" y="967638"/>
            <a:ext cx="0" cy="18016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H="1">
            <a:off x="2720978" y="1332605"/>
            <a:ext cx="709335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2670367" y="1383216"/>
            <a:ext cx="0" cy="17771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2720978" y="1611540"/>
            <a:ext cx="709335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3480923" y="1383216"/>
            <a:ext cx="0" cy="17771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H="1">
            <a:off x="2819251" y="1745734"/>
            <a:ext cx="51278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2768640" y="1796345"/>
            <a:ext cx="0" cy="15408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2819251" y="2001040"/>
            <a:ext cx="51278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3382650" y="1796345"/>
            <a:ext cx="0" cy="15408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H="1">
            <a:off x="2387383" y="2135234"/>
            <a:ext cx="137652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2336772" y="2185845"/>
            <a:ext cx="0" cy="18016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2387383" y="2416617"/>
            <a:ext cx="137652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V="1">
            <a:off x="3814518" y="2185845"/>
            <a:ext cx="0" cy="18016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H="1">
            <a:off x="3999324" y="2148273"/>
            <a:ext cx="635316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3948713" y="2198883"/>
            <a:ext cx="0" cy="154085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3999324" y="2403579"/>
            <a:ext cx="635316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4685251" y="2198883"/>
            <a:ext cx="0" cy="154085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2228567" y="1057719"/>
            <a:ext cx="10382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Freeform 60"/>
          <p:cNvSpPr/>
          <p:nvPr/>
        </p:nvSpPr>
        <p:spPr>
          <a:xfrm>
            <a:off x="2311400" y="10414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1"/>
                </a:moveTo>
                <a:lnTo>
                  <a:pt x="0" y="0"/>
                </a:lnTo>
                <a:lnTo>
                  <a:pt x="2" y="1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2" name="Connector 61"/>
          <p:cNvCxnSpPr/>
          <p:nvPr/>
        </p:nvCxnSpPr>
        <p:spPr>
          <a:xfrm>
            <a:off x="3075645" y="1200941"/>
            <a:ext cx="0" cy="10382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Freeform 62"/>
          <p:cNvSpPr/>
          <p:nvPr/>
        </p:nvSpPr>
        <p:spPr>
          <a:xfrm>
            <a:off x="3060700" y="12954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0"/>
                </a:lnTo>
                <a:lnTo>
                  <a:pt x="1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>
            <a:off x="3075645" y="1614070"/>
            <a:ext cx="0" cy="10382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Freeform 64"/>
          <p:cNvSpPr/>
          <p:nvPr/>
        </p:nvSpPr>
        <p:spPr>
          <a:xfrm>
            <a:off x="3060700" y="17018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0"/>
                </a:lnTo>
                <a:lnTo>
                  <a:pt x="1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6" name="Connector 65"/>
          <p:cNvCxnSpPr/>
          <p:nvPr/>
        </p:nvCxnSpPr>
        <p:spPr>
          <a:xfrm>
            <a:off x="3075645" y="2003570"/>
            <a:ext cx="0" cy="10382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Freeform 66"/>
          <p:cNvSpPr/>
          <p:nvPr/>
        </p:nvSpPr>
        <p:spPr>
          <a:xfrm>
            <a:off x="3060700" y="20955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0"/>
                </a:lnTo>
                <a:lnTo>
                  <a:pt x="1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8" name="Connector 67"/>
          <p:cNvCxnSpPr/>
          <p:nvPr/>
        </p:nvCxnSpPr>
        <p:spPr>
          <a:xfrm>
            <a:off x="3817049" y="2275926"/>
            <a:ext cx="10382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Freeform 68"/>
          <p:cNvSpPr/>
          <p:nvPr/>
        </p:nvSpPr>
        <p:spPr>
          <a:xfrm>
            <a:off x="3911600" y="22606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0" name="Connector 69"/>
          <p:cNvCxnSpPr/>
          <p:nvPr/>
        </p:nvCxnSpPr>
        <p:spPr>
          <a:xfrm flipH="1">
            <a:off x="2154240" y="2275926"/>
            <a:ext cx="180002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V="1">
            <a:off x="2154240" y="1472072"/>
            <a:ext cx="0" cy="80385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2154240" y="1472072"/>
            <a:ext cx="488291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Freeform 72"/>
          <p:cNvSpPr/>
          <p:nvPr/>
        </p:nvSpPr>
        <p:spPr>
          <a:xfrm>
            <a:off x="2628900" y="14478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3" y="2"/>
                </a:moveTo>
                <a:lnTo>
                  <a:pt x="0" y="0"/>
                </a:lnTo>
                <a:lnTo>
                  <a:pt x="1" y="2"/>
                </a:lnTo>
                <a:lnTo>
                  <a:pt x="0" y="4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4" name="Connector 73"/>
          <p:cNvCxnSpPr/>
          <p:nvPr/>
        </p:nvCxnSpPr>
        <p:spPr>
          <a:xfrm flipH="1">
            <a:off x="4083989" y="1744168"/>
            <a:ext cx="50299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4033378" y="1794779"/>
            <a:ext cx="0" cy="157216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4083989" y="2002606"/>
            <a:ext cx="50299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V="1">
            <a:off x="4637594" y="1794779"/>
            <a:ext cx="0" cy="157216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Freeform 77"/>
          <p:cNvSpPr/>
          <p:nvPr/>
        </p:nvSpPr>
        <p:spPr>
          <a:xfrm>
            <a:off x="3987800" y="17907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1" y="0"/>
                </a:lnTo>
                <a:lnTo>
                  <a:pt x="1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Freeform 78"/>
          <p:cNvSpPr/>
          <p:nvPr/>
        </p:nvSpPr>
        <p:spPr>
          <a:xfrm>
            <a:off x="3987800" y="18542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0" y="0"/>
                </a:lnTo>
                <a:lnTo>
                  <a:pt x="1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Freeform 79"/>
          <p:cNvSpPr/>
          <p:nvPr/>
        </p:nvSpPr>
        <p:spPr>
          <a:xfrm>
            <a:off x="3987800" y="19177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1" name="Connector 80"/>
          <p:cNvCxnSpPr/>
          <p:nvPr/>
        </p:nvCxnSpPr>
        <p:spPr>
          <a:xfrm flipH="1">
            <a:off x="3967040" y="1176926"/>
            <a:ext cx="655586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3916429" y="1227537"/>
            <a:ext cx="0" cy="31689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3967040" y="1595041"/>
            <a:ext cx="655586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 flipV="1">
            <a:off x="4673237" y="1227537"/>
            <a:ext cx="0" cy="31689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 flipH="1">
            <a:off x="4028304" y="1729235"/>
            <a:ext cx="533057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3977693" y="1779846"/>
            <a:ext cx="0" cy="15482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>
            <a:off x="4028304" y="1985281"/>
            <a:ext cx="533057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 flipV="1">
            <a:off x="4611972" y="1779846"/>
            <a:ext cx="0" cy="15482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>
            <a:off x="4294833" y="1597571"/>
            <a:ext cx="0" cy="10382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Freeform 89"/>
          <p:cNvSpPr/>
          <p:nvPr/>
        </p:nvSpPr>
        <p:spPr>
          <a:xfrm>
            <a:off x="4279900" y="16891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0"/>
                </a:lnTo>
                <a:lnTo>
                  <a:pt x="1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1" name="Connector 90"/>
          <p:cNvCxnSpPr/>
          <p:nvPr/>
        </p:nvCxnSpPr>
        <p:spPr>
          <a:xfrm flipV="1">
            <a:off x="3483454" y="1143260"/>
            <a:ext cx="516532" cy="18681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>
            <a:off x="3483454" y="1614070"/>
            <a:ext cx="590049" cy="44848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Rectangle 92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2880004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5" name="Picture 9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96" name="Picture 9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97" name="TextBox 96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Genetic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algorithm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160868" y="1010084"/>
            <a:ext cx="4624527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Problem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formulation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2446311" y="999835"/>
            <a:ext cx="3339084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Initialisation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population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2756445" y="1412953"/>
            <a:ext cx="3028950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Reproduction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2854718" y="1822948"/>
            <a:ext cx="2930677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Mutation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2422854" y="2218019"/>
            <a:ext cx="3362541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Replacement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population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4034776" y="2225487"/>
            <a:ext cx="1750619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Termination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4119435" y="1824522"/>
            <a:ext cx="1665960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Selection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4008525" y="1257277"/>
            <a:ext cx="1776870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Selection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as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002493" y="1396456"/>
            <a:ext cx="1782902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parent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pairs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063758" y="1806450"/>
            <a:ext cx="1721637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Crossover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98770" y="3150917"/>
            <a:ext cx="8866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640209" y="3150693"/>
            <a:ext cx="14518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12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H="1">
            <a:off x="1125379" y="927276"/>
            <a:ext cx="1050046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074768" y="977887"/>
            <a:ext cx="0" cy="15966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1125379" y="1188162"/>
            <a:ext cx="1050046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2226036" y="977887"/>
            <a:ext cx="0" cy="15966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Freeform 39"/>
          <p:cNvSpPr/>
          <p:nvPr/>
        </p:nvSpPr>
        <p:spPr>
          <a:xfrm>
            <a:off x="2362200" y="914400"/>
            <a:ext cx="1435100" cy="279400"/>
          </a:xfrm>
          <a:custGeom>
            <a:avLst/>
            <a:gdLst/>
            <a:ahLst/>
            <a:cxnLst/>
            <a:rect l="l" t="t" r="r" b="b"/>
            <a:pathLst>
              <a:path w="113" h="22">
                <a:moveTo>
                  <a:pt x="109" y="0"/>
                </a:moveTo>
                <a:lnTo>
                  <a:pt x="4" y="0"/>
                </a:lnTo>
                <a:lnTo>
                  <a:pt x="3" y="0"/>
                </a:lnTo>
                <a:lnTo>
                  <a:pt x="2" y="1"/>
                </a:lnTo>
                <a:lnTo>
                  <a:pt x="2" y="1"/>
                </a:lnTo>
                <a:lnTo>
                  <a:pt x="1" y="1"/>
                </a:lnTo>
                <a:lnTo>
                  <a:pt x="1" y="2"/>
                </a:lnTo>
                <a:lnTo>
                  <a:pt x="0" y="3"/>
                </a:lnTo>
                <a:lnTo>
                  <a:pt x="0" y="3"/>
                </a:lnTo>
                <a:lnTo>
                  <a:pt x="0" y="4"/>
                </a:lnTo>
                <a:lnTo>
                  <a:pt x="0" y="18"/>
                </a:lnTo>
                <a:lnTo>
                  <a:pt x="0" y="19"/>
                </a:lnTo>
                <a:lnTo>
                  <a:pt x="0" y="20"/>
                </a:lnTo>
                <a:lnTo>
                  <a:pt x="1" y="21"/>
                </a:lnTo>
                <a:lnTo>
                  <a:pt x="1" y="21"/>
                </a:lnTo>
                <a:lnTo>
                  <a:pt x="2" y="22"/>
                </a:lnTo>
                <a:lnTo>
                  <a:pt x="2" y="22"/>
                </a:lnTo>
                <a:lnTo>
                  <a:pt x="3" y="22"/>
                </a:lnTo>
                <a:lnTo>
                  <a:pt x="4" y="22"/>
                </a:lnTo>
                <a:lnTo>
                  <a:pt x="109" y="22"/>
                </a:lnTo>
                <a:lnTo>
                  <a:pt x="109" y="22"/>
                </a:lnTo>
                <a:lnTo>
                  <a:pt x="110" y="22"/>
                </a:lnTo>
                <a:lnTo>
                  <a:pt x="111" y="22"/>
                </a:lnTo>
                <a:lnTo>
                  <a:pt x="111" y="21"/>
                </a:lnTo>
                <a:lnTo>
                  <a:pt x="112" y="21"/>
                </a:lnTo>
                <a:lnTo>
                  <a:pt x="112" y="20"/>
                </a:lnTo>
                <a:lnTo>
                  <a:pt x="112" y="19"/>
                </a:lnTo>
                <a:lnTo>
                  <a:pt x="113" y="18"/>
                </a:lnTo>
                <a:lnTo>
                  <a:pt x="113" y="4"/>
                </a:lnTo>
                <a:lnTo>
                  <a:pt x="112" y="3"/>
                </a:lnTo>
                <a:lnTo>
                  <a:pt x="112" y="3"/>
                </a:lnTo>
                <a:lnTo>
                  <a:pt x="112" y="2"/>
                </a:lnTo>
                <a:lnTo>
                  <a:pt x="111" y="1"/>
                </a:lnTo>
                <a:lnTo>
                  <a:pt x="111" y="1"/>
                </a:lnTo>
                <a:lnTo>
                  <a:pt x="110" y="1"/>
                </a:lnTo>
                <a:lnTo>
                  <a:pt x="109" y="0"/>
                </a:lnTo>
                <a:lnTo>
                  <a:pt x="109" y="0"/>
                </a:lnTo>
                <a:close/>
              </a:path>
            </a:pathLst>
          </a:custGeom>
          <a:solidFill>
            <a:srgbClr val="003373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1" name="Connector 40"/>
          <p:cNvCxnSpPr/>
          <p:nvPr/>
        </p:nvCxnSpPr>
        <p:spPr>
          <a:xfrm flipH="1">
            <a:off x="2720978" y="1332605"/>
            <a:ext cx="709335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2670367" y="1383216"/>
            <a:ext cx="0" cy="17771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2720978" y="1611540"/>
            <a:ext cx="709335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3480923" y="1383216"/>
            <a:ext cx="0" cy="17771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H="1">
            <a:off x="2819251" y="1745734"/>
            <a:ext cx="51278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2768640" y="1796345"/>
            <a:ext cx="0" cy="15408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2819251" y="2001040"/>
            <a:ext cx="51278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3382650" y="1796345"/>
            <a:ext cx="0" cy="15408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H="1">
            <a:off x="2387383" y="2135234"/>
            <a:ext cx="137652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2336772" y="2185845"/>
            <a:ext cx="0" cy="18016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2387383" y="2416617"/>
            <a:ext cx="137652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3814518" y="2185845"/>
            <a:ext cx="0" cy="18016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H="1">
            <a:off x="3999324" y="2148273"/>
            <a:ext cx="635316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3948713" y="2198883"/>
            <a:ext cx="0" cy="154085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3999324" y="2403579"/>
            <a:ext cx="635316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4685251" y="2198883"/>
            <a:ext cx="0" cy="154085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2228567" y="1057719"/>
            <a:ext cx="10382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Freeform 57"/>
          <p:cNvSpPr/>
          <p:nvPr/>
        </p:nvSpPr>
        <p:spPr>
          <a:xfrm>
            <a:off x="2311400" y="10414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1"/>
                </a:moveTo>
                <a:lnTo>
                  <a:pt x="0" y="0"/>
                </a:lnTo>
                <a:lnTo>
                  <a:pt x="2" y="1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9" name="Connector 58"/>
          <p:cNvCxnSpPr/>
          <p:nvPr/>
        </p:nvCxnSpPr>
        <p:spPr>
          <a:xfrm>
            <a:off x="3075645" y="1200941"/>
            <a:ext cx="0" cy="10382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Freeform 59"/>
          <p:cNvSpPr/>
          <p:nvPr/>
        </p:nvSpPr>
        <p:spPr>
          <a:xfrm>
            <a:off x="3060700" y="12954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0"/>
                </a:lnTo>
                <a:lnTo>
                  <a:pt x="1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1" name="Connector 60"/>
          <p:cNvCxnSpPr/>
          <p:nvPr/>
        </p:nvCxnSpPr>
        <p:spPr>
          <a:xfrm>
            <a:off x="3075645" y="1614070"/>
            <a:ext cx="0" cy="10382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Freeform 61"/>
          <p:cNvSpPr/>
          <p:nvPr/>
        </p:nvSpPr>
        <p:spPr>
          <a:xfrm>
            <a:off x="3060700" y="17018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0"/>
                </a:lnTo>
                <a:lnTo>
                  <a:pt x="1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3" name="Connector 62"/>
          <p:cNvCxnSpPr/>
          <p:nvPr/>
        </p:nvCxnSpPr>
        <p:spPr>
          <a:xfrm>
            <a:off x="3075645" y="2003570"/>
            <a:ext cx="0" cy="10382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Freeform 63"/>
          <p:cNvSpPr/>
          <p:nvPr/>
        </p:nvSpPr>
        <p:spPr>
          <a:xfrm>
            <a:off x="3060700" y="20955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0"/>
                </a:lnTo>
                <a:lnTo>
                  <a:pt x="1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5" name="Connector 64"/>
          <p:cNvCxnSpPr/>
          <p:nvPr/>
        </p:nvCxnSpPr>
        <p:spPr>
          <a:xfrm>
            <a:off x="3817049" y="2275926"/>
            <a:ext cx="10382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Freeform 65"/>
          <p:cNvSpPr/>
          <p:nvPr/>
        </p:nvSpPr>
        <p:spPr>
          <a:xfrm>
            <a:off x="3911600" y="22606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7" name="Connector 66"/>
          <p:cNvCxnSpPr/>
          <p:nvPr/>
        </p:nvCxnSpPr>
        <p:spPr>
          <a:xfrm flipH="1">
            <a:off x="2154240" y="2275926"/>
            <a:ext cx="180002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V="1">
            <a:off x="2154240" y="1472072"/>
            <a:ext cx="0" cy="80385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2154240" y="1472072"/>
            <a:ext cx="488291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Freeform 69"/>
          <p:cNvSpPr/>
          <p:nvPr/>
        </p:nvSpPr>
        <p:spPr>
          <a:xfrm>
            <a:off x="2628900" y="14478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3" y="2"/>
                </a:moveTo>
                <a:lnTo>
                  <a:pt x="0" y="0"/>
                </a:lnTo>
                <a:lnTo>
                  <a:pt x="1" y="2"/>
                </a:lnTo>
                <a:lnTo>
                  <a:pt x="0" y="4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1" name="Connector 70"/>
          <p:cNvCxnSpPr/>
          <p:nvPr/>
        </p:nvCxnSpPr>
        <p:spPr>
          <a:xfrm flipH="1">
            <a:off x="4083989" y="1744168"/>
            <a:ext cx="50299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4033378" y="1794779"/>
            <a:ext cx="0" cy="157216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4083989" y="2002606"/>
            <a:ext cx="50299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 flipV="1">
            <a:off x="4637594" y="1794779"/>
            <a:ext cx="0" cy="157216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Freeform 74"/>
          <p:cNvSpPr/>
          <p:nvPr/>
        </p:nvSpPr>
        <p:spPr>
          <a:xfrm>
            <a:off x="3987800" y="17907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1" y="0"/>
                </a:lnTo>
                <a:lnTo>
                  <a:pt x="1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Freeform 75"/>
          <p:cNvSpPr/>
          <p:nvPr/>
        </p:nvSpPr>
        <p:spPr>
          <a:xfrm>
            <a:off x="3987800" y="18542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0" y="0"/>
                </a:lnTo>
                <a:lnTo>
                  <a:pt x="1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Freeform 76"/>
          <p:cNvSpPr/>
          <p:nvPr/>
        </p:nvSpPr>
        <p:spPr>
          <a:xfrm>
            <a:off x="3987800" y="19177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8" name="Connector 77"/>
          <p:cNvCxnSpPr/>
          <p:nvPr/>
        </p:nvCxnSpPr>
        <p:spPr>
          <a:xfrm flipH="1">
            <a:off x="3967040" y="1176926"/>
            <a:ext cx="655586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3916429" y="1227537"/>
            <a:ext cx="0" cy="31689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3967040" y="1595041"/>
            <a:ext cx="655586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 flipV="1">
            <a:off x="4673237" y="1227537"/>
            <a:ext cx="0" cy="31689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 flipH="1">
            <a:off x="4028304" y="1729235"/>
            <a:ext cx="533057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3977693" y="1779846"/>
            <a:ext cx="0" cy="15482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4028304" y="1985281"/>
            <a:ext cx="533057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 flipV="1">
            <a:off x="4611972" y="1779846"/>
            <a:ext cx="0" cy="15482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4294833" y="1597571"/>
            <a:ext cx="0" cy="10382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Freeform 86"/>
          <p:cNvSpPr/>
          <p:nvPr/>
        </p:nvSpPr>
        <p:spPr>
          <a:xfrm>
            <a:off x="4279900" y="16891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0"/>
                </a:lnTo>
                <a:lnTo>
                  <a:pt x="1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8" name="Connector 87"/>
          <p:cNvCxnSpPr/>
          <p:nvPr/>
        </p:nvCxnSpPr>
        <p:spPr>
          <a:xfrm flipV="1">
            <a:off x="3483454" y="1143260"/>
            <a:ext cx="516532" cy="18681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>
            <a:off x="3483454" y="1614070"/>
            <a:ext cx="590049" cy="44848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Rectangle 89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2880004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2" name="Picture 9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93" name="Picture 9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94" name="TextBox 93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Genetic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algorithm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160868" y="1010084"/>
            <a:ext cx="4624527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Problem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formulation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2446311" y="999835"/>
            <a:ext cx="3339084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FFFFFF"/>
                </a:solidFill>
                <a:latin typeface="Josefin Sans"/>
              </a:rPr>
              <a:t>Initialisation</a:t>
            </a:r>
            <a:r>
              <a:rPr sz="896" b="0">
                <a:solidFill>
                  <a:srgbClr val="FFFFFF"/>
                </a:solidFill>
                <a:latin typeface="Josefin Sans"/>
              </a:rPr>
              <a:t> </a:t>
            </a:r>
            <a:r>
              <a:rPr sz="896" b="0">
                <a:solidFill>
                  <a:srgbClr val="FFFFFF"/>
                </a:solidFill>
                <a:latin typeface="Josefin Sans"/>
              </a:rPr>
              <a:t>of</a:t>
            </a:r>
            <a:r>
              <a:rPr sz="896" b="0">
                <a:solidFill>
                  <a:srgbClr val="FFFFFF"/>
                </a:solidFill>
                <a:latin typeface="Josefin Sans"/>
              </a:rPr>
              <a:t> </a:t>
            </a:r>
            <a:r>
              <a:rPr sz="896" b="0">
                <a:solidFill>
                  <a:srgbClr val="FFFFFF"/>
                </a:solidFill>
                <a:latin typeface="Josefin Sans"/>
              </a:rPr>
              <a:t>population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2756445" y="1412953"/>
            <a:ext cx="3028950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Reproduction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854718" y="1822948"/>
            <a:ext cx="2930677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Mutation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2422854" y="2218019"/>
            <a:ext cx="3362541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Replacement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population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034776" y="2225487"/>
            <a:ext cx="1750619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Termination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119435" y="1824522"/>
            <a:ext cx="1665960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Selection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008525" y="1257277"/>
            <a:ext cx="1776870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Selection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as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4002493" y="1396456"/>
            <a:ext cx="1782902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parent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pairs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4063758" y="1806450"/>
            <a:ext cx="1721637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Crossover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4898770" y="3150917"/>
            <a:ext cx="8866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640209" y="3150693"/>
            <a:ext cx="14518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12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3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Initialisation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of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population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873294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initial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population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generated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number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chromosomes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random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value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9993" y="1045379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assigned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genes.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98770" y="3150918"/>
            <a:ext cx="8866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39218" y="3150694"/>
            <a:ext cx="14617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13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3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Initialisation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of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population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873294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initial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population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generated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number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chromosomes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random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value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9993" y="1045379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assigned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genes.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0057" y="1259723"/>
            <a:ext cx="532533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–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size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initial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population.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898770" y="3150918"/>
            <a:ext cx="8866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39218" y="3150694"/>
            <a:ext cx="14617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13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3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Initialisation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of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population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873294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initial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population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generated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number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chromosomes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random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value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9993" y="1045379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assigned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genes.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0057" y="1259723"/>
            <a:ext cx="532533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–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size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initial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population.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7096" y="1495261"/>
            <a:ext cx="5148299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Larger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size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increases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diversity,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thus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improves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exploration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abilities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population,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but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higher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7096" y="1667334"/>
            <a:ext cx="5148299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computational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complexity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per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generation.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Smaller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size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provides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small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part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possible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7096" y="1839406"/>
            <a:ext cx="5148299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solutions,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shorter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time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for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computation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per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generation,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but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more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generations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to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converge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to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7096" y="2011478"/>
            <a:ext cx="5148299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optimal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solution.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898770" y="3150918"/>
            <a:ext cx="8866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639218" y="3150694"/>
            <a:ext cx="14617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13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3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Initialisation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of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population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873294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initial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population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generated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number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chromosomes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random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value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9993" y="1045379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assigned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genes.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0057" y="1259723"/>
            <a:ext cx="532533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–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size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initial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population.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7096" y="1495261"/>
            <a:ext cx="5148299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Larger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size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increases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diversity,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thus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improves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exploration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abilities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population,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but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higher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7096" y="1667334"/>
            <a:ext cx="5148299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computational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complexity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per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generation.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Smaller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size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provides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small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part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possible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7096" y="1839406"/>
            <a:ext cx="5148299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solutions,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shorter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time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for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computation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per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generation,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but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more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generations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to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converge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to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7096" y="2011478"/>
            <a:ext cx="5148299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optimal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solution.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60057" y="2206140"/>
            <a:ext cx="532533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random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value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98770" y="3150918"/>
            <a:ext cx="8866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39218" y="3150694"/>
            <a:ext cx="14617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3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Initialisation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of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population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873294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initial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population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generated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number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chromosomes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random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value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9993" y="1045379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assigned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genes.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0057" y="1259723"/>
            <a:ext cx="532533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–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size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initial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population.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7096" y="1495261"/>
            <a:ext cx="5148299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Larger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size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increases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diversity,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thus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improves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exploration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abilities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population,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but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higher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7096" y="1667334"/>
            <a:ext cx="5148299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computational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complexity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per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generation.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Smaller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size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provides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small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part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possible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7096" y="1839406"/>
            <a:ext cx="5148299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solutions,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shorter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time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for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computation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per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generation,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but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more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generations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to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converge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to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7096" y="2011478"/>
            <a:ext cx="5148299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optimal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solution.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60057" y="2206140"/>
            <a:ext cx="532533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random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value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7094" y="2441665"/>
            <a:ext cx="5148301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to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make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sure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that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initial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population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uniformly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represented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entire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search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space.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98770" y="3150918"/>
            <a:ext cx="8866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639218" y="3150694"/>
            <a:ext cx="14617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13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H="1">
            <a:off x="1125379" y="927276"/>
            <a:ext cx="1050046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074768" y="977887"/>
            <a:ext cx="0" cy="15966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1125379" y="1188162"/>
            <a:ext cx="1050046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2226036" y="977887"/>
            <a:ext cx="0" cy="15966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H="1">
            <a:off x="2410841" y="917028"/>
            <a:ext cx="132960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2360231" y="967638"/>
            <a:ext cx="0" cy="18016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2410841" y="1198410"/>
            <a:ext cx="132960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3791060" y="967638"/>
            <a:ext cx="0" cy="18016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Freeform 43"/>
          <p:cNvSpPr/>
          <p:nvPr/>
        </p:nvSpPr>
        <p:spPr>
          <a:xfrm>
            <a:off x="2667000" y="1333500"/>
            <a:ext cx="812800" cy="279400"/>
          </a:xfrm>
          <a:custGeom>
            <a:avLst/>
            <a:gdLst/>
            <a:ahLst/>
            <a:cxnLst/>
            <a:rect l="l" t="t" r="r" b="b"/>
            <a:pathLst>
              <a:path w="64" h="22">
                <a:moveTo>
                  <a:pt x="60" y="0"/>
                </a:moveTo>
                <a:lnTo>
                  <a:pt x="4" y="0"/>
                </a:lnTo>
                <a:lnTo>
                  <a:pt x="3" y="0"/>
                </a:lnTo>
                <a:lnTo>
                  <a:pt x="3" y="0"/>
                </a:lnTo>
                <a:lnTo>
                  <a:pt x="2" y="1"/>
                </a:lnTo>
                <a:lnTo>
                  <a:pt x="1" y="1"/>
                </a:lnTo>
                <a:lnTo>
                  <a:pt x="1" y="2"/>
                </a:lnTo>
                <a:lnTo>
                  <a:pt x="1" y="2"/>
                </a:lnTo>
                <a:lnTo>
                  <a:pt x="0" y="3"/>
                </a:lnTo>
                <a:lnTo>
                  <a:pt x="0" y="4"/>
                </a:lnTo>
                <a:lnTo>
                  <a:pt x="0" y="18"/>
                </a:lnTo>
                <a:lnTo>
                  <a:pt x="0" y="19"/>
                </a:lnTo>
                <a:lnTo>
                  <a:pt x="1" y="19"/>
                </a:lnTo>
                <a:lnTo>
                  <a:pt x="1" y="20"/>
                </a:lnTo>
                <a:lnTo>
                  <a:pt x="1" y="21"/>
                </a:lnTo>
                <a:lnTo>
                  <a:pt x="2" y="21"/>
                </a:lnTo>
                <a:lnTo>
                  <a:pt x="3" y="22"/>
                </a:lnTo>
                <a:lnTo>
                  <a:pt x="3" y="22"/>
                </a:lnTo>
                <a:lnTo>
                  <a:pt x="4" y="22"/>
                </a:lnTo>
                <a:lnTo>
                  <a:pt x="60" y="22"/>
                </a:lnTo>
                <a:lnTo>
                  <a:pt x="61" y="22"/>
                </a:lnTo>
                <a:lnTo>
                  <a:pt x="62" y="22"/>
                </a:lnTo>
                <a:lnTo>
                  <a:pt x="62" y="21"/>
                </a:lnTo>
                <a:lnTo>
                  <a:pt x="63" y="21"/>
                </a:lnTo>
                <a:lnTo>
                  <a:pt x="63" y="20"/>
                </a:lnTo>
                <a:lnTo>
                  <a:pt x="64" y="19"/>
                </a:lnTo>
                <a:lnTo>
                  <a:pt x="64" y="19"/>
                </a:lnTo>
                <a:lnTo>
                  <a:pt x="64" y="18"/>
                </a:lnTo>
                <a:lnTo>
                  <a:pt x="64" y="4"/>
                </a:lnTo>
                <a:lnTo>
                  <a:pt x="64" y="3"/>
                </a:lnTo>
                <a:lnTo>
                  <a:pt x="64" y="2"/>
                </a:lnTo>
                <a:lnTo>
                  <a:pt x="63" y="2"/>
                </a:lnTo>
                <a:lnTo>
                  <a:pt x="63" y="1"/>
                </a:lnTo>
                <a:lnTo>
                  <a:pt x="62" y="1"/>
                </a:lnTo>
                <a:lnTo>
                  <a:pt x="62" y="0"/>
                </a:lnTo>
                <a:lnTo>
                  <a:pt x="61" y="0"/>
                </a:lnTo>
                <a:lnTo>
                  <a:pt x="60" y="0"/>
                </a:lnTo>
                <a:close/>
              </a:path>
            </a:pathLst>
          </a:custGeom>
          <a:solidFill>
            <a:srgbClr val="003373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5" name="Connector 44"/>
          <p:cNvCxnSpPr/>
          <p:nvPr/>
        </p:nvCxnSpPr>
        <p:spPr>
          <a:xfrm flipH="1">
            <a:off x="2819251" y="1745734"/>
            <a:ext cx="51278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2768640" y="1796345"/>
            <a:ext cx="0" cy="15408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2819251" y="2001040"/>
            <a:ext cx="51278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3382650" y="1796345"/>
            <a:ext cx="0" cy="15408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H="1">
            <a:off x="2387383" y="2135234"/>
            <a:ext cx="137652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2336772" y="2185845"/>
            <a:ext cx="0" cy="18016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2387383" y="2416617"/>
            <a:ext cx="137652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3814518" y="2185845"/>
            <a:ext cx="0" cy="18016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H="1">
            <a:off x="3999324" y="2148273"/>
            <a:ext cx="635316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3948713" y="2198883"/>
            <a:ext cx="0" cy="154085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3999324" y="2403579"/>
            <a:ext cx="635316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4685251" y="2198883"/>
            <a:ext cx="0" cy="154085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2228567" y="1057719"/>
            <a:ext cx="10382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Freeform 57"/>
          <p:cNvSpPr/>
          <p:nvPr/>
        </p:nvSpPr>
        <p:spPr>
          <a:xfrm>
            <a:off x="2311400" y="10414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1"/>
                </a:moveTo>
                <a:lnTo>
                  <a:pt x="0" y="0"/>
                </a:lnTo>
                <a:lnTo>
                  <a:pt x="2" y="1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9" name="Connector 58"/>
          <p:cNvCxnSpPr/>
          <p:nvPr/>
        </p:nvCxnSpPr>
        <p:spPr>
          <a:xfrm>
            <a:off x="3075645" y="1200941"/>
            <a:ext cx="0" cy="10382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Freeform 59"/>
          <p:cNvSpPr/>
          <p:nvPr/>
        </p:nvSpPr>
        <p:spPr>
          <a:xfrm>
            <a:off x="3060700" y="12954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0"/>
                </a:lnTo>
                <a:lnTo>
                  <a:pt x="1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1" name="Connector 60"/>
          <p:cNvCxnSpPr/>
          <p:nvPr/>
        </p:nvCxnSpPr>
        <p:spPr>
          <a:xfrm>
            <a:off x="3075645" y="1614070"/>
            <a:ext cx="0" cy="10382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Freeform 61"/>
          <p:cNvSpPr/>
          <p:nvPr/>
        </p:nvSpPr>
        <p:spPr>
          <a:xfrm>
            <a:off x="3060700" y="17018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0"/>
                </a:lnTo>
                <a:lnTo>
                  <a:pt x="1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3" name="Connector 62"/>
          <p:cNvCxnSpPr/>
          <p:nvPr/>
        </p:nvCxnSpPr>
        <p:spPr>
          <a:xfrm>
            <a:off x="3075645" y="2003570"/>
            <a:ext cx="0" cy="10382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Freeform 63"/>
          <p:cNvSpPr/>
          <p:nvPr/>
        </p:nvSpPr>
        <p:spPr>
          <a:xfrm>
            <a:off x="3060700" y="20955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0"/>
                </a:lnTo>
                <a:lnTo>
                  <a:pt x="1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5" name="Connector 64"/>
          <p:cNvCxnSpPr/>
          <p:nvPr/>
        </p:nvCxnSpPr>
        <p:spPr>
          <a:xfrm>
            <a:off x="3817049" y="2275926"/>
            <a:ext cx="10382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Freeform 65"/>
          <p:cNvSpPr/>
          <p:nvPr/>
        </p:nvSpPr>
        <p:spPr>
          <a:xfrm>
            <a:off x="3911600" y="22606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7" name="Connector 66"/>
          <p:cNvCxnSpPr/>
          <p:nvPr/>
        </p:nvCxnSpPr>
        <p:spPr>
          <a:xfrm flipH="1">
            <a:off x="2154240" y="2275926"/>
            <a:ext cx="180002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V="1">
            <a:off x="2154240" y="1472072"/>
            <a:ext cx="0" cy="80385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2154240" y="1472072"/>
            <a:ext cx="488291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Freeform 69"/>
          <p:cNvSpPr/>
          <p:nvPr/>
        </p:nvSpPr>
        <p:spPr>
          <a:xfrm>
            <a:off x="2628900" y="14478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3" y="2"/>
                </a:moveTo>
                <a:lnTo>
                  <a:pt x="0" y="0"/>
                </a:lnTo>
                <a:lnTo>
                  <a:pt x="1" y="2"/>
                </a:lnTo>
                <a:lnTo>
                  <a:pt x="0" y="4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1" name="Connector 70"/>
          <p:cNvCxnSpPr/>
          <p:nvPr/>
        </p:nvCxnSpPr>
        <p:spPr>
          <a:xfrm flipH="1">
            <a:off x="4083989" y="1744168"/>
            <a:ext cx="50299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4033378" y="1794779"/>
            <a:ext cx="0" cy="157216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4083989" y="2002606"/>
            <a:ext cx="50299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 flipV="1">
            <a:off x="4637594" y="1794779"/>
            <a:ext cx="0" cy="157216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Freeform 74"/>
          <p:cNvSpPr/>
          <p:nvPr/>
        </p:nvSpPr>
        <p:spPr>
          <a:xfrm>
            <a:off x="3987800" y="17907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1" y="0"/>
                </a:lnTo>
                <a:lnTo>
                  <a:pt x="1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Freeform 75"/>
          <p:cNvSpPr/>
          <p:nvPr/>
        </p:nvSpPr>
        <p:spPr>
          <a:xfrm>
            <a:off x="3987800" y="18542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0" y="0"/>
                </a:lnTo>
                <a:lnTo>
                  <a:pt x="1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Freeform 76"/>
          <p:cNvSpPr/>
          <p:nvPr/>
        </p:nvSpPr>
        <p:spPr>
          <a:xfrm>
            <a:off x="3987800" y="19177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8" name="Connector 77"/>
          <p:cNvCxnSpPr/>
          <p:nvPr/>
        </p:nvCxnSpPr>
        <p:spPr>
          <a:xfrm flipH="1">
            <a:off x="3967040" y="1176926"/>
            <a:ext cx="655586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3916429" y="1227537"/>
            <a:ext cx="0" cy="31689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3967040" y="1595041"/>
            <a:ext cx="655586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 flipV="1">
            <a:off x="4673237" y="1227537"/>
            <a:ext cx="0" cy="31689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 flipH="1">
            <a:off x="4028304" y="1729235"/>
            <a:ext cx="533057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3977693" y="1779846"/>
            <a:ext cx="0" cy="15482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4028304" y="1985281"/>
            <a:ext cx="533057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 flipV="1">
            <a:off x="4611972" y="1779846"/>
            <a:ext cx="0" cy="15482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4294833" y="1597571"/>
            <a:ext cx="0" cy="10382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Freeform 86"/>
          <p:cNvSpPr/>
          <p:nvPr/>
        </p:nvSpPr>
        <p:spPr>
          <a:xfrm>
            <a:off x="4279900" y="16891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0"/>
                </a:lnTo>
                <a:lnTo>
                  <a:pt x="1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8" name="Connector 87"/>
          <p:cNvCxnSpPr/>
          <p:nvPr/>
        </p:nvCxnSpPr>
        <p:spPr>
          <a:xfrm flipV="1">
            <a:off x="3483454" y="1143260"/>
            <a:ext cx="516532" cy="18681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>
            <a:off x="3483454" y="1614070"/>
            <a:ext cx="590049" cy="44848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Rectangle 89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2880004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2" name="Picture 9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93" name="Picture 9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94" name="TextBox 93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Genetic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algorithm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160868" y="1010084"/>
            <a:ext cx="4624527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Problem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formulation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2446311" y="999835"/>
            <a:ext cx="3339084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Initialisation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population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2756445" y="1412953"/>
            <a:ext cx="3028950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FFFFFF"/>
                </a:solidFill>
                <a:latin typeface="Josefin Sans"/>
              </a:rPr>
              <a:t>Reproduction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854718" y="1822948"/>
            <a:ext cx="2930677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Mutation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2422854" y="2218019"/>
            <a:ext cx="3362541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Replacement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population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034776" y="2225487"/>
            <a:ext cx="1750619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Termination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119435" y="1824522"/>
            <a:ext cx="1665960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Selection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008525" y="1257277"/>
            <a:ext cx="1776870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Selection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as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4002493" y="1396456"/>
            <a:ext cx="1782902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parent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pairs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4063758" y="1806450"/>
            <a:ext cx="1721637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Crossover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4898770" y="3150917"/>
            <a:ext cx="8866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639371" y="3150693"/>
            <a:ext cx="14602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14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H="1">
            <a:off x="1125379" y="927276"/>
            <a:ext cx="1050046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074768" y="977887"/>
            <a:ext cx="0" cy="15966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1125379" y="1188162"/>
            <a:ext cx="1050046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2226036" y="977887"/>
            <a:ext cx="0" cy="15966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H="1">
            <a:off x="2410841" y="917028"/>
            <a:ext cx="132960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2360231" y="967638"/>
            <a:ext cx="0" cy="18016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2410841" y="1198410"/>
            <a:ext cx="132960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3791060" y="967638"/>
            <a:ext cx="0" cy="18016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H="1">
            <a:off x="2720978" y="1332605"/>
            <a:ext cx="709335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2670367" y="1383216"/>
            <a:ext cx="0" cy="17771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2720978" y="1611540"/>
            <a:ext cx="709335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3480923" y="1383216"/>
            <a:ext cx="0" cy="17771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H="1">
            <a:off x="2819251" y="1745734"/>
            <a:ext cx="51278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2768640" y="1796345"/>
            <a:ext cx="0" cy="15408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2819251" y="2001040"/>
            <a:ext cx="51278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3382650" y="1796345"/>
            <a:ext cx="0" cy="15408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H="1">
            <a:off x="2387383" y="2135234"/>
            <a:ext cx="137652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2336772" y="2185845"/>
            <a:ext cx="0" cy="18016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2387383" y="2416617"/>
            <a:ext cx="137652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V="1">
            <a:off x="3814518" y="2185845"/>
            <a:ext cx="0" cy="18016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H="1">
            <a:off x="3999324" y="2148273"/>
            <a:ext cx="635316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3948713" y="2198883"/>
            <a:ext cx="0" cy="154085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3999324" y="2403579"/>
            <a:ext cx="635316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4685251" y="2198883"/>
            <a:ext cx="0" cy="154085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2228567" y="1057719"/>
            <a:ext cx="10382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Freeform 60"/>
          <p:cNvSpPr/>
          <p:nvPr/>
        </p:nvSpPr>
        <p:spPr>
          <a:xfrm>
            <a:off x="2311400" y="10414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1"/>
                </a:moveTo>
                <a:lnTo>
                  <a:pt x="0" y="0"/>
                </a:lnTo>
                <a:lnTo>
                  <a:pt x="2" y="1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2" name="Connector 61"/>
          <p:cNvCxnSpPr/>
          <p:nvPr/>
        </p:nvCxnSpPr>
        <p:spPr>
          <a:xfrm>
            <a:off x="3075645" y="1200941"/>
            <a:ext cx="0" cy="10382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Freeform 62"/>
          <p:cNvSpPr/>
          <p:nvPr/>
        </p:nvSpPr>
        <p:spPr>
          <a:xfrm>
            <a:off x="3060700" y="12954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0"/>
                </a:lnTo>
                <a:lnTo>
                  <a:pt x="1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>
            <a:off x="3075645" y="1614070"/>
            <a:ext cx="0" cy="10382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Freeform 64"/>
          <p:cNvSpPr/>
          <p:nvPr/>
        </p:nvSpPr>
        <p:spPr>
          <a:xfrm>
            <a:off x="3060700" y="17018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0"/>
                </a:lnTo>
                <a:lnTo>
                  <a:pt x="1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6" name="Connector 65"/>
          <p:cNvCxnSpPr/>
          <p:nvPr/>
        </p:nvCxnSpPr>
        <p:spPr>
          <a:xfrm>
            <a:off x="3075645" y="2003570"/>
            <a:ext cx="0" cy="10382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Freeform 66"/>
          <p:cNvSpPr/>
          <p:nvPr/>
        </p:nvSpPr>
        <p:spPr>
          <a:xfrm>
            <a:off x="3060700" y="20955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0"/>
                </a:lnTo>
                <a:lnTo>
                  <a:pt x="1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8" name="Connector 67"/>
          <p:cNvCxnSpPr/>
          <p:nvPr/>
        </p:nvCxnSpPr>
        <p:spPr>
          <a:xfrm>
            <a:off x="3817049" y="2275926"/>
            <a:ext cx="10382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Freeform 68"/>
          <p:cNvSpPr/>
          <p:nvPr/>
        </p:nvSpPr>
        <p:spPr>
          <a:xfrm>
            <a:off x="3911600" y="22606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0" name="Connector 69"/>
          <p:cNvCxnSpPr/>
          <p:nvPr/>
        </p:nvCxnSpPr>
        <p:spPr>
          <a:xfrm flipH="1">
            <a:off x="2154240" y="2275926"/>
            <a:ext cx="180002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V="1">
            <a:off x="2154240" y="1472072"/>
            <a:ext cx="0" cy="80385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2154240" y="1472072"/>
            <a:ext cx="488291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Freeform 72"/>
          <p:cNvSpPr/>
          <p:nvPr/>
        </p:nvSpPr>
        <p:spPr>
          <a:xfrm>
            <a:off x="2628900" y="14478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3" y="2"/>
                </a:moveTo>
                <a:lnTo>
                  <a:pt x="0" y="0"/>
                </a:lnTo>
                <a:lnTo>
                  <a:pt x="1" y="2"/>
                </a:lnTo>
                <a:lnTo>
                  <a:pt x="0" y="4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4" name="Connector 73"/>
          <p:cNvCxnSpPr/>
          <p:nvPr/>
        </p:nvCxnSpPr>
        <p:spPr>
          <a:xfrm flipH="1">
            <a:off x="4083989" y="1744168"/>
            <a:ext cx="50299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4033378" y="1794779"/>
            <a:ext cx="0" cy="157216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4083989" y="2002606"/>
            <a:ext cx="50299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V="1">
            <a:off x="4637594" y="1794779"/>
            <a:ext cx="0" cy="157216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Freeform 77"/>
          <p:cNvSpPr/>
          <p:nvPr/>
        </p:nvSpPr>
        <p:spPr>
          <a:xfrm>
            <a:off x="3987800" y="17907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1" y="0"/>
                </a:lnTo>
                <a:lnTo>
                  <a:pt x="1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Freeform 78"/>
          <p:cNvSpPr/>
          <p:nvPr/>
        </p:nvSpPr>
        <p:spPr>
          <a:xfrm>
            <a:off x="3987800" y="18542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0" y="0"/>
                </a:lnTo>
                <a:lnTo>
                  <a:pt x="1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Freeform 79"/>
          <p:cNvSpPr/>
          <p:nvPr/>
        </p:nvSpPr>
        <p:spPr>
          <a:xfrm>
            <a:off x="3987800" y="19177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Freeform 80"/>
          <p:cNvSpPr/>
          <p:nvPr/>
        </p:nvSpPr>
        <p:spPr>
          <a:xfrm>
            <a:off x="3911600" y="1181100"/>
            <a:ext cx="762000" cy="419100"/>
          </a:xfrm>
          <a:custGeom>
            <a:avLst/>
            <a:gdLst/>
            <a:ahLst/>
            <a:cxnLst/>
            <a:rect l="l" t="t" r="r" b="b"/>
            <a:pathLst>
              <a:path w="60" h="33">
                <a:moveTo>
                  <a:pt x="56" y="0"/>
                </a:moveTo>
                <a:lnTo>
                  <a:pt x="4" y="0"/>
                </a:lnTo>
                <a:lnTo>
                  <a:pt x="4" y="0"/>
                </a:lnTo>
                <a:lnTo>
                  <a:pt x="3" y="0"/>
                </a:lnTo>
                <a:lnTo>
                  <a:pt x="2" y="0"/>
                </a:lnTo>
                <a:lnTo>
                  <a:pt x="2" y="1"/>
                </a:lnTo>
                <a:lnTo>
                  <a:pt x="1" y="1"/>
                </a:lnTo>
                <a:lnTo>
                  <a:pt x="1" y="2"/>
                </a:lnTo>
                <a:lnTo>
                  <a:pt x="0" y="3"/>
                </a:lnTo>
                <a:lnTo>
                  <a:pt x="0" y="4"/>
                </a:lnTo>
                <a:lnTo>
                  <a:pt x="0" y="29"/>
                </a:lnTo>
                <a:lnTo>
                  <a:pt x="0" y="29"/>
                </a:lnTo>
                <a:lnTo>
                  <a:pt x="1" y="30"/>
                </a:lnTo>
                <a:lnTo>
                  <a:pt x="1" y="31"/>
                </a:lnTo>
                <a:lnTo>
                  <a:pt x="2" y="31"/>
                </a:lnTo>
                <a:lnTo>
                  <a:pt x="2" y="32"/>
                </a:lnTo>
                <a:lnTo>
                  <a:pt x="3" y="32"/>
                </a:lnTo>
                <a:lnTo>
                  <a:pt x="4" y="33"/>
                </a:lnTo>
                <a:lnTo>
                  <a:pt x="4" y="33"/>
                </a:lnTo>
                <a:lnTo>
                  <a:pt x="56" y="33"/>
                </a:lnTo>
                <a:lnTo>
                  <a:pt x="57" y="33"/>
                </a:lnTo>
                <a:lnTo>
                  <a:pt x="58" y="32"/>
                </a:lnTo>
                <a:lnTo>
                  <a:pt x="58" y="32"/>
                </a:lnTo>
                <a:lnTo>
                  <a:pt x="59" y="31"/>
                </a:lnTo>
                <a:lnTo>
                  <a:pt x="59" y="31"/>
                </a:lnTo>
                <a:lnTo>
                  <a:pt x="60" y="30"/>
                </a:lnTo>
                <a:lnTo>
                  <a:pt x="60" y="29"/>
                </a:lnTo>
                <a:lnTo>
                  <a:pt x="60" y="29"/>
                </a:lnTo>
                <a:lnTo>
                  <a:pt x="60" y="4"/>
                </a:lnTo>
                <a:lnTo>
                  <a:pt x="60" y="3"/>
                </a:lnTo>
                <a:lnTo>
                  <a:pt x="60" y="2"/>
                </a:lnTo>
                <a:lnTo>
                  <a:pt x="59" y="1"/>
                </a:lnTo>
                <a:lnTo>
                  <a:pt x="59" y="1"/>
                </a:lnTo>
                <a:lnTo>
                  <a:pt x="58" y="0"/>
                </a:lnTo>
                <a:lnTo>
                  <a:pt x="58" y="0"/>
                </a:lnTo>
                <a:lnTo>
                  <a:pt x="57" y="0"/>
                </a:lnTo>
                <a:lnTo>
                  <a:pt x="56" y="0"/>
                </a:lnTo>
                <a:close/>
              </a:path>
            </a:pathLst>
          </a:custGeom>
          <a:solidFill>
            <a:srgbClr val="003373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Freeform 81"/>
          <p:cNvSpPr/>
          <p:nvPr/>
        </p:nvSpPr>
        <p:spPr>
          <a:xfrm>
            <a:off x="3975100" y="1727200"/>
            <a:ext cx="635000" cy="254000"/>
          </a:xfrm>
          <a:custGeom>
            <a:avLst/>
            <a:gdLst/>
            <a:ahLst/>
            <a:cxnLst/>
            <a:rect l="l" t="t" r="r" b="b"/>
            <a:pathLst>
              <a:path w="50" h="20">
                <a:moveTo>
                  <a:pt x="46" y="0"/>
                </a:moveTo>
                <a:lnTo>
                  <a:pt x="4" y="0"/>
                </a:lnTo>
                <a:lnTo>
                  <a:pt x="3" y="0"/>
                </a:lnTo>
                <a:lnTo>
                  <a:pt x="3" y="0"/>
                </a:lnTo>
                <a:lnTo>
                  <a:pt x="2" y="1"/>
                </a:lnTo>
                <a:lnTo>
                  <a:pt x="1" y="1"/>
                </a:lnTo>
                <a:lnTo>
                  <a:pt x="1" y="2"/>
                </a:lnTo>
                <a:lnTo>
                  <a:pt x="1" y="3"/>
                </a:lnTo>
                <a:lnTo>
                  <a:pt x="0" y="3"/>
                </a:lnTo>
                <a:lnTo>
                  <a:pt x="0" y="4"/>
                </a:lnTo>
                <a:lnTo>
                  <a:pt x="0" y="16"/>
                </a:lnTo>
                <a:lnTo>
                  <a:pt x="0" y="17"/>
                </a:lnTo>
                <a:lnTo>
                  <a:pt x="1" y="18"/>
                </a:lnTo>
                <a:lnTo>
                  <a:pt x="1" y="19"/>
                </a:lnTo>
                <a:lnTo>
                  <a:pt x="1" y="19"/>
                </a:lnTo>
                <a:lnTo>
                  <a:pt x="2" y="20"/>
                </a:lnTo>
                <a:lnTo>
                  <a:pt x="3" y="20"/>
                </a:lnTo>
                <a:lnTo>
                  <a:pt x="3" y="20"/>
                </a:lnTo>
                <a:lnTo>
                  <a:pt x="4" y="20"/>
                </a:lnTo>
                <a:lnTo>
                  <a:pt x="46" y="20"/>
                </a:lnTo>
                <a:lnTo>
                  <a:pt x="47" y="20"/>
                </a:lnTo>
                <a:lnTo>
                  <a:pt x="48" y="20"/>
                </a:lnTo>
                <a:lnTo>
                  <a:pt x="48" y="20"/>
                </a:lnTo>
                <a:lnTo>
                  <a:pt x="49" y="19"/>
                </a:lnTo>
                <a:lnTo>
                  <a:pt x="49" y="19"/>
                </a:lnTo>
                <a:lnTo>
                  <a:pt x="50" y="18"/>
                </a:lnTo>
                <a:lnTo>
                  <a:pt x="50" y="17"/>
                </a:lnTo>
                <a:lnTo>
                  <a:pt x="50" y="16"/>
                </a:lnTo>
                <a:lnTo>
                  <a:pt x="50" y="4"/>
                </a:lnTo>
                <a:lnTo>
                  <a:pt x="50" y="3"/>
                </a:lnTo>
                <a:lnTo>
                  <a:pt x="50" y="3"/>
                </a:lnTo>
                <a:lnTo>
                  <a:pt x="49" y="2"/>
                </a:lnTo>
                <a:lnTo>
                  <a:pt x="49" y="1"/>
                </a:lnTo>
                <a:lnTo>
                  <a:pt x="48" y="1"/>
                </a:lnTo>
                <a:lnTo>
                  <a:pt x="48" y="0"/>
                </a:lnTo>
                <a:lnTo>
                  <a:pt x="47" y="0"/>
                </a:lnTo>
                <a:lnTo>
                  <a:pt x="46" y="0"/>
                </a:lnTo>
                <a:close/>
              </a:path>
            </a:pathLst>
          </a:custGeom>
          <a:solidFill>
            <a:srgbClr val="003373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3" name="Connector 82"/>
          <p:cNvCxnSpPr/>
          <p:nvPr/>
        </p:nvCxnSpPr>
        <p:spPr>
          <a:xfrm>
            <a:off x="4294833" y="1597571"/>
            <a:ext cx="0" cy="10382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Freeform 83"/>
          <p:cNvSpPr/>
          <p:nvPr/>
        </p:nvSpPr>
        <p:spPr>
          <a:xfrm>
            <a:off x="4279900" y="16891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0"/>
                </a:lnTo>
                <a:lnTo>
                  <a:pt x="1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5" name="Connector 84"/>
          <p:cNvCxnSpPr/>
          <p:nvPr/>
        </p:nvCxnSpPr>
        <p:spPr>
          <a:xfrm flipV="1">
            <a:off x="3483454" y="1143260"/>
            <a:ext cx="516532" cy="18681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3483454" y="1614070"/>
            <a:ext cx="590049" cy="44848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Rectangle 86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2880004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9" name="Picture 88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90" name="Picture 8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91" name="TextBox 90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Genetic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algorithm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160868" y="1010084"/>
            <a:ext cx="4624527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Problem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formulation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446311" y="999835"/>
            <a:ext cx="3339084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Initialisation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population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2756445" y="1412953"/>
            <a:ext cx="3028950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Reproduction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854718" y="1822948"/>
            <a:ext cx="2930677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Mutation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2422854" y="2218019"/>
            <a:ext cx="3362541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Replacement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population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034776" y="2225487"/>
            <a:ext cx="1750619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Termination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4119435" y="1824522"/>
            <a:ext cx="1665960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Selection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008525" y="1257277"/>
            <a:ext cx="1776870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FFFFFF"/>
                </a:solidFill>
                <a:latin typeface="Josefin Sans"/>
              </a:rPr>
              <a:t>Selection</a:t>
            </a:r>
            <a:r>
              <a:rPr sz="896" b="0">
                <a:solidFill>
                  <a:srgbClr val="FFFFFF"/>
                </a:solidFill>
                <a:latin typeface="Josefin Sans"/>
              </a:rPr>
              <a:t> </a:t>
            </a:r>
            <a:r>
              <a:rPr sz="896" b="0">
                <a:solidFill>
                  <a:srgbClr val="FFFFFF"/>
                </a:solidFill>
                <a:latin typeface="Josefin Sans"/>
              </a:rPr>
              <a:t>as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002493" y="1396456"/>
            <a:ext cx="1782902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FFFFFF"/>
                </a:solidFill>
                <a:latin typeface="Josefin Sans"/>
              </a:rPr>
              <a:t>parent</a:t>
            </a:r>
            <a:r>
              <a:rPr sz="896" b="0">
                <a:solidFill>
                  <a:srgbClr val="FFFFFF"/>
                </a:solidFill>
                <a:latin typeface="Josefin Sans"/>
              </a:rPr>
              <a:t> </a:t>
            </a:r>
            <a:r>
              <a:rPr sz="896" b="0">
                <a:solidFill>
                  <a:srgbClr val="FFFFFF"/>
                </a:solidFill>
                <a:latin typeface="Josefin Sans"/>
              </a:rPr>
              <a:t>pairs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063758" y="1806450"/>
            <a:ext cx="1721637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FFFFFF"/>
                </a:solidFill>
                <a:latin typeface="Josefin Sans"/>
              </a:rPr>
              <a:t>Crossover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898770" y="3150917"/>
            <a:ext cx="8866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639371" y="3150693"/>
            <a:ext cx="14602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14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Freeform 35"/>
          <p:cNvSpPr/>
          <p:nvPr/>
        </p:nvSpPr>
        <p:spPr>
          <a:xfrm>
            <a:off x="2984500" y="14478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0" y="2"/>
                </a:moveTo>
                <a:lnTo>
                  <a:pt x="3" y="4"/>
                </a:lnTo>
                <a:lnTo>
                  <a:pt x="2" y="2"/>
                </a:lnTo>
                <a:lnTo>
                  <a:pt x="3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2984500" y="12319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0" y="1"/>
                </a:moveTo>
                <a:lnTo>
                  <a:pt x="3" y="3"/>
                </a:lnTo>
                <a:lnTo>
                  <a:pt x="2" y="1"/>
                </a:lnTo>
                <a:lnTo>
                  <a:pt x="3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2984500" y="10033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0" y="2"/>
                </a:moveTo>
                <a:lnTo>
                  <a:pt x="3" y="3"/>
                </a:lnTo>
                <a:lnTo>
                  <a:pt x="2" y="2"/>
                </a:lnTo>
                <a:lnTo>
                  <a:pt x="3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Freeform 38"/>
          <p:cNvSpPr/>
          <p:nvPr/>
        </p:nvSpPr>
        <p:spPr>
          <a:xfrm>
            <a:off x="3670300" y="18923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2"/>
                </a:moveTo>
                <a:lnTo>
                  <a:pt x="0" y="0"/>
                </a:lnTo>
                <a:lnTo>
                  <a:pt x="2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3670300" y="20955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1"/>
                </a:moveTo>
                <a:lnTo>
                  <a:pt x="0" y="0"/>
                </a:lnTo>
                <a:lnTo>
                  <a:pt x="2" y="1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3670300" y="22987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1"/>
                </a:moveTo>
                <a:lnTo>
                  <a:pt x="0" y="0"/>
                </a:lnTo>
                <a:lnTo>
                  <a:pt x="2" y="1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880004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5" name="Picture 4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Reproduction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8000" y="359888"/>
            <a:ext cx="567739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1">
                <a:solidFill>
                  <a:srgbClr val="003373"/>
                </a:solidFill>
                <a:latin typeface="Josefin Sans"/>
              </a:rPr>
              <a:t>Crossover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048177" y="1638180"/>
            <a:ext cx="273721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Crossover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446148" y="1403633"/>
            <a:ext cx="433924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multi-recombination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&gt;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3)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11056" y="1179872"/>
            <a:ext cx="3474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asexual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(1)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361907" y="956098"/>
            <a:ext cx="342348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sexual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(2)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764800" y="1826328"/>
            <a:ext cx="202059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one-point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764800" y="2027165"/>
            <a:ext cx="202059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two-point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764800" y="2257442"/>
            <a:ext cx="202059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uniform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898770" y="3150930"/>
            <a:ext cx="8866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638685" y="3150706"/>
            <a:ext cx="14671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15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Freeform 35"/>
          <p:cNvSpPr/>
          <p:nvPr/>
        </p:nvSpPr>
        <p:spPr>
          <a:xfrm>
            <a:off x="2984500" y="14478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0" y="2"/>
                </a:moveTo>
                <a:lnTo>
                  <a:pt x="3" y="4"/>
                </a:lnTo>
                <a:lnTo>
                  <a:pt x="2" y="2"/>
                </a:lnTo>
                <a:lnTo>
                  <a:pt x="3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2984500" y="12319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0" y="1"/>
                </a:moveTo>
                <a:lnTo>
                  <a:pt x="3" y="3"/>
                </a:lnTo>
                <a:lnTo>
                  <a:pt x="2" y="1"/>
                </a:lnTo>
                <a:lnTo>
                  <a:pt x="3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2984500" y="10033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0" y="2"/>
                </a:moveTo>
                <a:lnTo>
                  <a:pt x="3" y="3"/>
                </a:lnTo>
                <a:lnTo>
                  <a:pt x="2" y="2"/>
                </a:lnTo>
                <a:lnTo>
                  <a:pt x="3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Freeform 38"/>
          <p:cNvSpPr/>
          <p:nvPr/>
        </p:nvSpPr>
        <p:spPr>
          <a:xfrm>
            <a:off x="3670300" y="18923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2"/>
                </a:moveTo>
                <a:lnTo>
                  <a:pt x="0" y="0"/>
                </a:lnTo>
                <a:lnTo>
                  <a:pt x="2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3670300" y="20955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1"/>
                </a:moveTo>
                <a:lnTo>
                  <a:pt x="0" y="0"/>
                </a:lnTo>
                <a:lnTo>
                  <a:pt x="2" y="1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3670300" y="22987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1"/>
                </a:moveTo>
                <a:lnTo>
                  <a:pt x="0" y="0"/>
                </a:lnTo>
                <a:lnTo>
                  <a:pt x="2" y="1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880004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5" name="Picture 4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Reproduction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8000" y="359888"/>
            <a:ext cx="567739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1">
                <a:solidFill>
                  <a:srgbClr val="003373"/>
                </a:solidFill>
                <a:latin typeface="Josefin Sans"/>
              </a:rPr>
              <a:t>Crossover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048177" y="1638180"/>
            <a:ext cx="273721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Crossover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446148" y="1403633"/>
            <a:ext cx="433924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multi-recombination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&gt;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3)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11056" y="1179872"/>
            <a:ext cx="3474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asexual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(1)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361907" y="956098"/>
            <a:ext cx="342348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sexual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(2)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764800" y="1826328"/>
            <a:ext cx="202059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one-point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764800" y="2027165"/>
            <a:ext cx="202059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two-point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764800" y="2257442"/>
            <a:ext cx="202059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uniform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898770" y="3150930"/>
            <a:ext cx="8866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638685" y="3150706"/>
            <a:ext cx="14671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15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Freeform 35"/>
          <p:cNvSpPr/>
          <p:nvPr/>
        </p:nvSpPr>
        <p:spPr>
          <a:xfrm>
            <a:off x="2984500" y="14478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0" y="2"/>
                </a:moveTo>
                <a:lnTo>
                  <a:pt x="3" y="4"/>
                </a:lnTo>
                <a:lnTo>
                  <a:pt x="2" y="2"/>
                </a:lnTo>
                <a:lnTo>
                  <a:pt x="3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2984500" y="12319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0" y="1"/>
                </a:moveTo>
                <a:lnTo>
                  <a:pt x="3" y="3"/>
                </a:lnTo>
                <a:lnTo>
                  <a:pt x="2" y="1"/>
                </a:lnTo>
                <a:lnTo>
                  <a:pt x="3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2984500" y="10033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0" y="2"/>
                </a:moveTo>
                <a:lnTo>
                  <a:pt x="3" y="3"/>
                </a:lnTo>
                <a:lnTo>
                  <a:pt x="2" y="2"/>
                </a:lnTo>
                <a:lnTo>
                  <a:pt x="3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Freeform 38"/>
          <p:cNvSpPr/>
          <p:nvPr/>
        </p:nvSpPr>
        <p:spPr>
          <a:xfrm>
            <a:off x="3670300" y="18923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2"/>
                </a:moveTo>
                <a:lnTo>
                  <a:pt x="0" y="0"/>
                </a:lnTo>
                <a:lnTo>
                  <a:pt x="2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3670300" y="20955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1"/>
                </a:moveTo>
                <a:lnTo>
                  <a:pt x="0" y="0"/>
                </a:lnTo>
                <a:lnTo>
                  <a:pt x="2" y="1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3670300" y="22987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1"/>
                </a:moveTo>
                <a:lnTo>
                  <a:pt x="0" y="0"/>
                </a:lnTo>
                <a:lnTo>
                  <a:pt x="2" y="1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880004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5" name="Picture 4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Reproduction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8000" y="359888"/>
            <a:ext cx="567739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1">
                <a:solidFill>
                  <a:srgbClr val="003373"/>
                </a:solidFill>
                <a:latin typeface="Josefin Sans"/>
              </a:rPr>
              <a:t>Crossover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048177" y="1638180"/>
            <a:ext cx="273721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Crossover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446148" y="1403633"/>
            <a:ext cx="433924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multi-recombination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&gt;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3)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11056" y="1179872"/>
            <a:ext cx="3474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asexual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(1)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361907" y="956098"/>
            <a:ext cx="342348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sexual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(2)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764800" y="1826328"/>
            <a:ext cx="202059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one-point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764800" y="2027165"/>
            <a:ext cx="202059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two-point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764800" y="2257442"/>
            <a:ext cx="202059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uniform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898770" y="3150930"/>
            <a:ext cx="8866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638685" y="3150706"/>
            <a:ext cx="14671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15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Freeform 35"/>
          <p:cNvSpPr/>
          <p:nvPr/>
        </p:nvSpPr>
        <p:spPr>
          <a:xfrm>
            <a:off x="2984500" y="14478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0" y="2"/>
                </a:moveTo>
                <a:lnTo>
                  <a:pt x="3" y="4"/>
                </a:lnTo>
                <a:lnTo>
                  <a:pt x="2" y="2"/>
                </a:lnTo>
                <a:lnTo>
                  <a:pt x="3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2984500" y="12319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0" y="1"/>
                </a:moveTo>
                <a:lnTo>
                  <a:pt x="3" y="3"/>
                </a:lnTo>
                <a:lnTo>
                  <a:pt x="2" y="1"/>
                </a:lnTo>
                <a:lnTo>
                  <a:pt x="3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2984500" y="10033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0" y="2"/>
                </a:moveTo>
                <a:lnTo>
                  <a:pt x="3" y="3"/>
                </a:lnTo>
                <a:lnTo>
                  <a:pt x="2" y="2"/>
                </a:lnTo>
                <a:lnTo>
                  <a:pt x="3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Freeform 38"/>
          <p:cNvSpPr/>
          <p:nvPr/>
        </p:nvSpPr>
        <p:spPr>
          <a:xfrm>
            <a:off x="3670300" y="18923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2"/>
                </a:moveTo>
                <a:lnTo>
                  <a:pt x="0" y="0"/>
                </a:lnTo>
                <a:lnTo>
                  <a:pt x="2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3670300" y="20955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1"/>
                </a:moveTo>
                <a:lnTo>
                  <a:pt x="0" y="0"/>
                </a:lnTo>
                <a:lnTo>
                  <a:pt x="2" y="1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3670300" y="22987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1"/>
                </a:moveTo>
                <a:lnTo>
                  <a:pt x="0" y="0"/>
                </a:lnTo>
                <a:lnTo>
                  <a:pt x="2" y="1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880004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5" name="Picture 4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Reproduction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8000" y="359888"/>
            <a:ext cx="567739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1">
                <a:solidFill>
                  <a:srgbClr val="003373"/>
                </a:solidFill>
                <a:latin typeface="Josefin Sans"/>
              </a:rPr>
              <a:t>Crossover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048177" y="1638180"/>
            <a:ext cx="273721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Crossover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446148" y="1403633"/>
            <a:ext cx="433924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multi-recombination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&gt;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3)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11056" y="1179872"/>
            <a:ext cx="3474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asexual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(1)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361907" y="956098"/>
            <a:ext cx="342348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sexual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(2)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764800" y="1826328"/>
            <a:ext cx="202059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one-point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764800" y="2027165"/>
            <a:ext cx="202059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two-point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764800" y="2257442"/>
            <a:ext cx="202059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uniform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898770" y="3150930"/>
            <a:ext cx="8866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638685" y="3150706"/>
            <a:ext cx="14671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15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Freeform 35"/>
          <p:cNvSpPr/>
          <p:nvPr/>
        </p:nvSpPr>
        <p:spPr>
          <a:xfrm>
            <a:off x="2984500" y="14478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0" y="2"/>
                </a:moveTo>
                <a:lnTo>
                  <a:pt x="3" y="4"/>
                </a:lnTo>
                <a:lnTo>
                  <a:pt x="2" y="2"/>
                </a:lnTo>
                <a:lnTo>
                  <a:pt x="3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2984500" y="12319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0" y="1"/>
                </a:moveTo>
                <a:lnTo>
                  <a:pt x="3" y="3"/>
                </a:lnTo>
                <a:lnTo>
                  <a:pt x="2" y="1"/>
                </a:lnTo>
                <a:lnTo>
                  <a:pt x="3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2984500" y="10033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0" y="2"/>
                </a:moveTo>
                <a:lnTo>
                  <a:pt x="3" y="3"/>
                </a:lnTo>
                <a:lnTo>
                  <a:pt x="2" y="2"/>
                </a:lnTo>
                <a:lnTo>
                  <a:pt x="3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Freeform 38"/>
          <p:cNvSpPr/>
          <p:nvPr/>
        </p:nvSpPr>
        <p:spPr>
          <a:xfrm>
            <a:off x="3670300" y="18923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2"/>
                </a:moveTo>
                <a:lnTo>
                  <a:pt x="0" y="0"/>
                </a:lnTo>
                <a:lnTo>
                  <a:pt x="2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3670300" y="20955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1"/>
                </a:moveTo>
                <a:lnTo>
                  <a:pt x="0" y="0"/>
                </a:lnTo>
                <a:lnTo>
                  <a:pt x="2" y="1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3670300" y="22987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1"/>
                </a:moveTo>
                <a:lnTo>
                  <a:pt x="0" y="0"/>
                </a:lnTo>
                <a:lnTo>
                  <a:pt x="2" y="1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880004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5" name="Picture 4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Reproduction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8000" y="359888"/>
            <a:ext cx="567739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1">
                <a:solidFill>
                  <a:srgbClr val="003373"/>
                </a:solidFill>
                <a:latin typeface="Josefin Sans"/>
              </a:rPr>
              <a:t>Crossover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048177" y="1638180"/>
            <a:ext cx="273721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Crossover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446148" y="1403633"/>
            <a:ext cx="433924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multi-recombination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&gt;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3)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11056" y="1179872"/>
            <a:ext cx="3474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asexual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(1)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361907" y="956098"/>
            <a:ext cx="342348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sexual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(2)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764800" y="1826328"/>
            <a:ext cx="202059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one-point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764800" y="2027165"/>
            <a:ext cx="202059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two-point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764800" y="2257442"/>
            <a:ext cx="202059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uniform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898770" y="3150930"/>
            <a:ext cx="8866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638685" y="3150706"/>
            <a:ext cx="14671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15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Freeform 35"/>
          <p:cNvSpPr/>
          <p:nvPr/>
        </p:nvSpPr>
        <p:spPr>
          <a:xfrm>
            <a:off x="2984500" y="14478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0" y="2"/>
                </a:moveTo>
                <a:lnTo>
                  <a:pt x="3" y="4"/>
                </a:lnTo>
                <a:lnTo>
                  <a:pt x="2" y="2"/>
                </a:lnTo>
                <a:lnTo>
                  <a:pt x="3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2984500" y="12319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0" y="1"/>
                </a:moveTo>
                <a:lnTo>
                  <a:pt x="3" y="3"/>
                </a:lnTo>
                <a:lnTo>
                  <a:pt x="2" y="1"/>
                </a:lnTo>
                <a:lnTo>
                  <a:pt x="3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2984500" y="10033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0" y="2"/>
                </a:moveTo>
                <a:lnTo>
                  <a:pt x="3" y="3"/>
                </a:lnTo>
                <a:lnTo>
                  <a:pt x="2" y="2"/>
                </a:lnTo>
                <a:lnTo>
                  <a:pt x="3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Freeform 38"/>
          <p:cNvSpPr/>
          <p:nvPr/>
        </p:nvSpPr>
        <p:spPr>
          <a:xfrm>
            <a:off x="3670300" y="18923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2"/>
                </a:moveTo>
                <a:lnTo>
                  <a:pt x="0" y="0"/>
                </a:lnTo>
                <a:lnTo>
                  <a:pt x="2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3670300" y="20955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1"/>
                </a:moveTo>
                <a:lnTo>
                  <a:pt x="0" y="0"/>
                </a:lnTo>
                <a:lnTo>
                  <a:pt x="2" y="1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3670300" y="22987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1"/>
                </a:moveTo>
                <a:lnTo>
                  <a:pt x="0" y="0"/>
                </a:lnTo>
                <a:lnTo>
                  <a:pt x="2" y="1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880004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5" name="Picture 4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Reproduction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8000" y="359888"/>
            <a:ext cx="567739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1">
                <a:solidFill>
                  <a:srgbClr val="003373"/>
                </a:solidFill>
                <a:latin typeface="Josefin Sans"/>
              </a:rPr>
              <a:t>Crossover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048177" y="1638180"/>
            <a:ext cx="273721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Crossover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446148" y="1403633"/>
            <a:ext cx="433924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multi-recombination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&gt;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3)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11056" y="1179872"/>
            <a:ext cx="3474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asexual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(1)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361907" y="956098"/>
            <a:ext cx="342348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sexual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(2)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764800" y="1826328"/>
            <a:ext cx="202059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one-point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764800" y="2027165"/>
            <a:ext cx="202059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two-point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764800" y="2257442"/>
            <a:ext cx="202059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uniform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898770" y="3150930"/>
            <a:ext cx="8866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638685" y="3150706"/>
            <a:ext cx="14671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15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Freeform 35"/>
          <p:cNvSpPr/>
          <p:nvPr/>
        </p:nvSpPr>
        <p:spPr>
          <a:xfrm>
            <a:off x="2984500" y="14478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0" y="2"/>
                </a:moveTo>
                <a:lnTo>
                  <a:pt x="3" y="4"/>
                </a:lnTo>
                <a:lnTo>
                  <a:pt x="2" y="2"/>
                </a:lnTo>
                <a:lnTo>
                  <a:pt x="3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2984500" y="12319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0" y="1"/>
                </a:moveTo>
                <a:lnTo>
                  <a:pt x="3" y="3"/>
                </a:lnTo>
                <a:lnTo>
                  <a:pt x="2" y="1"/>
                </a:lnTo>
                <a:lnTo>
                  <a:pt x="3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2984500" y="10033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0" y="2"/>
                </a:moveTo>
                <a:lnTo>
                  <a:pt x="3" y="3"/>
                </a:lnTo>
                <a:lnTo>
                  <a:pt x="2" y="2"/>
                </a:lnTo>
                <a:lnTo>
                  <a:pt x="3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Freeform 38"/>
          <p:cNvSpPr/>
          <p:nvPr/>
        </p:nvSpPr>
        <p:spPr>
          <a:xfrm>
            <a:off x="3670300" y="18923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2"/>
                </a:moveTo>
                <a:lnTo>
                  <a:pt x="0" y="0"/>
                </a:lnTo>
                <a:lnTo>
                  <a:pt x="2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3670300" y="20955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1"/>
                </a:moveTo>
                <a:lnTo>
                  <a:pt x="0" y="0"/>
                </a:lnTo>
                <a:lnTo>
                  <a:pt x="2" y="1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3670300" y="22987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1"/>
                </a:moveTo>
                <a:lnTo>
                  <a:pt x="0" y="0"/>
                </a:lnTo>
                <a:lnTo>
                  <a:pt x="2" y="1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880004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5" name="Picture 4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Reproduction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8000" y="359888"/>
            <a:ext cx="567739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1">
                <a:solidFill>
                  <a:srgbClr val="003373"/>
                </a:solidFill>
                <a:latin typeface="Josefin Sans"/>
              </a:rPr>
              <a:t>Crossover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048177" y="1638180"/>
            <a:ext cx="273721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Crossover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446148" y="1403633"/>
            <a:ext cx="433924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multi-recombination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&gt;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3)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11056" y="1179872"/>
            <a:ext cx="3474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asexual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(1)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361907" y="956098"/>
            <a:ext cx="342348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sexual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(2)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764800" y="1826328"/>
            <a:ext cx="202059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one-point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764800" y="2027165"/>
            <a:ext cx="202059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two-point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764800" y="2257442"/>
            <a:ext cx="202059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uniform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898770" y="3150930"/>
            <a:ext cx="8866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638685" y="3150706"/>
            <a:ext cx="14671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15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1185303" y="925360"/>
            <a:ext cx="410083" cy="222681"/>
          </a:xfrm>
          <a:prstGeom prst="rect">
            <a:avLst/>
          </a:prstGeom>
          <a:solidFill>
            <a:srgbClr val="FBB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608035" y="925360"/>
            <a:ext cx="410083" cy="222681"/>
          </a:xfrm>
          <a:prstGeom prst="rect">
            <a:avLst/>
          </a:prstGeom>
          <a:solidFill>
            <a:srgbClr val="FBB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030767" y="925360"/>
            <a:ext cx="410082" cy="222681"/>
          </a:xfrm>
          <a:prstGeom prst="rect">
            <a:avLst/>
          </a:prstGeom>
          <a:solidFill>
            <a:srgbClr val="FBB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453499" y="925360"/>
            <a:ext cx="410083" cy="222681"/>
          </a:xfrm>
          <a:prstGeom prst="rect">
            <a:avLst/>
          </a:prstGeom>
          <a:solidFill>
            <a:srgbClr val="FBB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876244" y="925360"/>
            <a:ext cx="410082" cy="222681"/>
          </a:xfrm>
          <a:prstGeom prst="rect">
            <a:avLst/>
          </a:prstGeom>
          <a:solidFill>
            <a:srgbClr val="FBB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298976" y="925360"/>
            <a:ext cx="410083" cy="222681"/>
          </a:xfrm>
          <a:prstGeom prst="rect">
            <a:avLst/>
          </a:prstGeom>
          <a:solidFill>
            <a:srgbClr val="FBB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721709" y="925360"/>
            <a:ext cx="410083" cy="222681"/>
          </a:xfrm>
          <a:prstGeom prst="rect">
            <a:avLst/>
          </a:prstGeom>
          <a:solidFill>
            <a:srgbClr val="FBB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144441" y="925360"/>
            <a:ext cx="410083" cy="222681"/>
          </a:xfrm>
          <a:prstGeom prst="rect">
            <a:avLst/>
          </a:prstGeom>
          <a:solidFill>
            <a:srgbClr val="FBB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567186" y="925360"/>
            <a:ext cx="410083" cy="222681"/>
          </a:xfrm>
          <a:prstGeom prst="rect">
            <a:avLst/>
          </a:prstGeom>
          <a:solidFill>
            <a:srgbClr val="FBB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989918" y="925360"/>
            <a:ext cx="410083" cy="222681"/>
          </a:xfrm>
          <a:prstGeom prst="rect">
            <a:avLst/>
          </a:prstGeom>
          <a:solidFill>
            <a:srgbClr val="FBB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 flipV="1">
            <a:off x="1601710" y="925347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2024443" y="925347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2447175" y="925347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2869907" y="925347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V="1">
            <a:off x="3292652" y="925347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3715384" y="925347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4138116" y="925347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4560849" y="925347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V="1">
            <a:off x="4983593" y="925347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Rectangle 54"/>
          <p:cNvSpPr/>
          <p:nvPr/>
        </p:nvSpPr>
        <p:spPr>
          <a:xfrm>
            <a:off x="1185303" y="1211300"/>
            <a:ext cx="410083" cy="222681"/>
          </a:xfrm>
          <a:prstGeom prst="rect">
            <a:avLst/>
          </a:prstGeom>
          <a:solidFill>
            <a:srgbClr val="B3C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1608035" y="1211300"/>
            <a:ext cx="410083" cy="222681"/>
          </a:xfrm>
          <a:prstGeom prst="rect">
            <a:avLst/>
          </a:prstGeom>
          <a:solidFill>
            <a:srgbClr val="B3C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2030767" y="1211300"/>
            <a:ext cx="410082" cy="222681"/>
          </a:xfrm>
          <a:prstGeom prst="rect">
            <a:avLst/>
          </a:prstGeom>
          <a:solidFill>
            <a:srgbClr val="B3C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2453499" y="1211300"/>
            <a:ext cx="410083" cy="222681"/>
          </a:xfrm>
          <a:prstGeom prst="rect">
            <a:avLst/>
          </a:prstGeom>
          <a:solidFill>
            <a:srgbClr val="B3C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2876244" y="1211300"/>
            <a:ext cx="410082" cy="222681"/>
          </a:xfrm>
          <a:prstGeom prst="rect">
            <a:avLst/>
          </a:prstGeom>
          <a:solidFill>
            <a:srgbClr val="B3C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3298976" y="1211300"/>
            <a:ext cx="410083" cy="222681"/>
          </a:xfrm>
          <a:prstGeom prst="rect">
            <a:avLst/>
          </a:prstGeom>
          <a:solidFill>
            <a:srgbClr val="B3C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3721709" y="1211300"/>
            <a:ext cx="410083" cy="222681"/>
          </a:xfrm>
          <a:prstGeom prst="rect">
            <a:avLst/>
          </a:prstGeom>
          <a:solidFill>
            <a:srgbClr val="B3C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4144441" y="1211300"/>
            <a:ext cx="410083" cy="222681"/>
          </a:xfrm>
          <a:prstGeom prst="rect">
            <a:avLst/>
          </a:prstGeom>
          <a:solidFill>
            <a:srgbClr val="B3C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4567186" y="1211300"/>
            <a:ext cx="410083" cy="222681"/>
          </a:xfrm>
          <a:prstGeom prst="rect">
            <a:avLst/>
          </a:prstGeom>
          <a:solidFill>
            <a:srgbClr val="B3C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4989918" y="1211300"/>
            <a:ext cx="410083" cy="222681"/>
          </a:xfrm>
          <a:prstGeom prst="rect">
            <a:avLst/>
          </a:prstGeom>
          <a:solidFill>
            <a:srgbClr val="B3C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5" name="Connector 64"/>
          <p:cNvCxnSpPr/>
          <p:nvPr/>
        </p:nvCxnSpPr>
        <p:spPr>
          <a:xfrm flipV="1">
            <a:off x="1601710" y="1211300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2024443" y="1211300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V="1">
            <a:off x="2447175" y="1211300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V="1">
            <a:off x="2869907" y="1211300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V="1">
            <a:off x="3292652" y="1211300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 flipV="1">
            <a:off x="3715384" y="1211300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V="1">
            <a:off x="4138116" y="1211300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V="1">
            <a:off x="4560849" y="1211300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 flipV="1">
            <a:off x="4983593" y="1211300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 flipV="1">
            <a:off x="1601706" y="1497241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 flipV="1">
            <a:off x="2024439" y="1497241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 flipV="1">
            <a:off x="2447171" y="1497241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V="1">
            <a:off x="2869903" y="1497241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 flipV="1">
            <a:off x="3292648" y="1497241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 flipV="1">
            <a:off x="3715380" y="1497241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 flipV="1">
            <a:off x="4138112" y="1497241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 flipV="1">
            <a:off x="4560845" y="1497241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 flipV="1">
            <a:off x="4983589" y="1497241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 flipV="1">
            <a:off x="1601722" y="1783194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 flipV="1">
            <a:off x="2024454" y="1783194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 flipV="1">
            <a:off x="2447187" y="1783194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 flipV="1">
            <a:off x="2869919" y="1783194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 flipV="1">
            <a:off x="3292664" y="1783194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 flipV="1">
            <a:off x="3715396" y="1783194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 flipV="1">
            <a:off x="4560860" y="1783194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 flipV="1">
            <a:off x="4983605" y="1783194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 flipV="1">
            <a:off x="1601734" y="2355087"/>
            <a:ext cx="0" cy="285954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 flipV="1">
            <a:off x="2024467" y="2355087"/>
            <a:ext cx="0" cy="285954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 flipV="1">
            <a:off x="2447199" y="2355087"/>
            <a:ext cx="0" cy="285954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 flipV="1">
            <a:off x="2869931" y="2355087"/>
            <a:ext cx="0" cy="285954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 flipV="1">
            <a:off x="3292676" y="2355087"/>
            <a:ext cx="0" cy="285954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 flipV="1">
            <a:off x="3715408" y="2355087"/>
            <a:ext cx="0" cy="285954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 flipV="1">
            <a:off x="4138140" y="2355087"/>
            <a:ext cx="0" cy="285954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 flipV="1">
            <a:off x="4560873" y="2355087"/>
            <a:ext cx="0" cy="285954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 flipV="1">
            <a:off x="4983617" y="2355087"/>
            <a:ext cx="0" cy="285954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 flipV="1">
            <a:off x="1601747" y="2641028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 flipV="1">
            <a:off x="2024479" y="2641028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 flipV="1">
            <a:off x="2447211" y="2641028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 flipV="1">
            <a:off x="2869944" y="2641028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 flipV="1">
            <a:off x="3292688" y="2641028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 flipV="1">
            <a:off x="3715421" y="2641028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 flipV="1">
            <a:off x="4138153" y="2641028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 flipV="1">
            <a:off x="4560885" y="2641028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 flipV="1">
            <a:off x="4983630" y="2641028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" name="Rectangle 108"/>
          <p:cNvSpPr/>
          <p:nvPr/>
        </p:nvSpPr>
        <p:spPr>
          <a:xfrm>
            <a:off x="1185339" y="862088"/>
            <a:ext cx="422732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1595422" y="862088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2018154" y="862088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2440887" y="862088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2863619" y="862088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3286364" y="862088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3709096" y="862088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4131828" y="862088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4554560" y="862088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4977305" y="862088"/>
            <a:ext cx="422732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1185339" y="1148041"/>
            <a:ext cx="422732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1595422" y="1148041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2018154" y="1148041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2440887" y="1148041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2863619" y="1148041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3286364" y="1148041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3709096" y="1148041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4131828" y="1148041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4554560" y="1148041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4977305" y="1148041"/>
            <a:ext cx="422732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1185339" y="1433982"/>
            <a:ext cx="422732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1595422" y="1433982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2018154" y="1433982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2440887" y="1433982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2863619" y="1433982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3286364" y="1433982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3709096" y="1433982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4131828" y="1433982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Rectangle 136"/>
          <p:cNvSpPr/>
          <p:nvPr/>
        </p:nvSpPr>
        <p:spPr>
          <a:xfrm>
            <a:off x="4554560" y="1433982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Rectangle 137"/>
          <p:cNvSpPr/>
          <p:nvPr/>
        </p:nvSpPr>
        <p:spPr>
          <a:xfrm>
            <a:off x="4977305" y="1433982"/>
            <a:ext cx="422732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Rectangle 138"/>
          <p:cNvSpPr/>
          <p:nvPr/>
        </p:nvSpPr>
        <p:spPr>
          <a:xfrm>
            <a:off x="1185339" y="1719935"/>
            <a:ext cx="422732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ectangle 139"/>
          <p:cNvSpPr/>
          <p:nvPr/>
        </p:nvSpPr>
        <p:spPr>
          <a:xfrm>
            <a:off x="1595422" y="1719935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2018154" y="1719935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Rectangle 141"/>
          <p:cNvSpPr/>
          <p:nvPr/>
        </p:nvSpPr>
        <p:spPr>
          <a:xfrm>
            <a:off x="2440887" y="1719935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ectangle 142"/>
          <p:cNvSpPr/>
          <p:nvPr/>
        </p:nvSpPr>
        <p:spPr>
          <a:xfrm>
            <a:off x="2863619" y="1719935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Rectangle 143"/>
          <p:cNvSpPr/>
          <p:nvPr/>
        </p:nvSpPr>
        <p:spPr>
          <a:xfrm>
            <a:off x="3286364" y="1719935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3709096" y="1719935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Rectangle 145"/>
          <p:cNvSpPr/>
          <p:nvPr/>
        </p:nvSpPr>
        <p:spPr>
          <a:xfrm>
            <a:off x="4131828" y="1719935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Rectangle 146"/>
          <p:cNvSpPr/>
          <p:nvPr/>
        </p:nvSpPr>
        <p:spPr>
          <a:xfrm>
            <a:off x="4554560" y="1719935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Rectangle 147"/>
          <p:cNvSpPr/>
          <p:nvPr/>
        </p:nvSpPr>
        <p:spPr>
          <a:xfrm>
            <a:off x="4977305" y="1719935"/>
            <a:ext cx="422732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1185339" y="2005888"/>
            <a:ext cx="422732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Rectangle 149"/>
          <p:cNvSpPr/>
          <p:nvPr/>
        </p:nvSpPr>
        <p:spPr>
          <a:xfrm>
            <a:off x="1595422" y="2005888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Rectangle 150"/>
          <p:cNvSpPr/>
          <p:nvPr/>
        </p:nvSpPr>
        <p:spPr>
          <a:xfrm>
            <a:off x="2018154" y="2005888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Rectangle 151"/>
          <p:cNvSpPr/>
          <p:nvPr/>
        </p:nvSpPr>
        <p:spPr>
          <a:xfrm>
            <a:off x="2440887" y="2005888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Rectangle 152"/>
          <p:cNvSpPr/>
          <p:nvPr/>
        </p:nvSpPr>
        <p:spPr>
          <a:xfrm>
            <a:off x="2863619" y="2005888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Rectangle 153"/>
          <p:cNvSpPr/>
          <p:nvPr/>
        </p:nvSpPr>
        <p:spPr>
          <a:xfrm>
            <a:off x="3286364" y="2005888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Rectangle 154"/>
          <p:cNvSpPr/>
          <p:nvPr/>
        </p:nvSpPr>
        <p:spPr>
          <a:xfrm>
            <a:off x="3709096" y="2005888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Rectangle 155"/>
          <p:cNvSpPr/>
          <p:nvPr/>
        </p:nvSpPr>
        <p:spPr>
          <a:xfrm>
            <a:off x="4131828" y="2005888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4554560" y="2005888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Rectangle 157"/>
          <p:cNvSpPr/>
          <p:nvPr/>
        </p:nvSpPr>
        <p:spPr>
          <a:xfrm>
            <a:off x="4977305" y="2005888"/>
            <a:ext cx="422732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Rectangle 158"/>
          <p:cNvSpPr/>
          <p:nvPr/>
        </p:nvSpPr>
        <p:spPr>
          <a:xfrm>
            <a:off x="1185339" y="2291829"/>
            <a:ext cx="422732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Rectangle 159"/>
          <p:cNvSpPr/>
          <p:nvPr/>
        </p:nvSpPr>
        <p:spPr>
          <a:xfrm>
            <a:off x="1595422" y="2291829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Rectangle 160"/>
          <p:cNvSpPr/>
          <p:nvPr/>
        </p:nvSpPr>
        <p:spPr>
          <a:xfrm>
            <a:off x="2018154" y="2291829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Rectangle 161"/>
          <p:cNvSpPr/>
          <p:nvPr/>
        </p:nvSpPr>
        <p:spPr>
          <a:xfrm>
            <a:off x="2440887" y="2291829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Rectangle 162"/>
          <p:cNvSpPr/>
          <p:nvPr/>
        </p:nvSpPr>
        <p:spPr>
          <a:xfrm>
            <a:off x="2863619" y="2291829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Rectangle 163"/>
          <p:cNvSpPr/>
          <p:nvPr/>
        </p:nvSpPr>
        <p:spPr>
          <a:xfrm>
            <a:off x="3286364" y="2291829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3709096" y="2291829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Rectangle 165"/>
          <p:cNvSpPr/>
          <p:nvPr/>
        </p:nvSpPr>
        <p:spPr>
          <a:xfrm>
            <a:off x="4131828" y="2291829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Rectangle 166"/>
          <p:cNvSpPr/>
          <p:nvPr/>
        </p:nvSpPr>
        <p:spPr>
          <a:xfrm>
            <a:off x="4554560" y="2291829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Rectangle 167"/>
          <p:cNvSpPr/>
          <p:nvPr/>
        </p:nvSpPr>
        <p:spPr>
          <a:xfrm>
            <a:off x="4977305" y="2291829"/>
            <a:ext cx="422732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Rectangle 168"/>
          <p:cNvSpPr/>
          <p:nvPr/>
        </p:nvSpPr>
        <p:spPr>
          <a:xfrm>
            <a:off x="1185339" y="2577782"/>
            <a:ext cx="422732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Rectangle 169"/>
          <p:cNvSpPr/>
          <p:nvPr/>
        </p:nvSpPr>
        <p:spPr>
          <a:xfrm>
            <a:off x="1595422" y="2577782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Rectangle 170"/>
          <p:cNvSpPr/>
          <p:nvPr/>
        </p:nvSpPr>
        <p:spPr>
          <a:xfrm>
            <a:off x="2018154" y="2577782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Rectangle 171"/>
          <p:cNvSpPr/>
          <p:nvPr/>
        </p:nvSpPr>
        <p:spPr>
          <a:xfrm>
            <a:off x="2440887" y="2577782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2863619" y="2577782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Rectangle 173"/>
          <p:cNvSpPr/>
          <p:nvPr/>
        </p:nvSpPr>
        <p:spPr>
          <a:xfrm>
            <a:off x="3286364" y="2577782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Rectangle 174"/>
          <p:cNvSpPr/>
          <p:nvPr/>
        </p:nvSpPr>
        <p:spPr>
          <a:xfrm>
            <a:off x="3709096" y="2577782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Rectangle 175"/>
          <p:cNvSpPr/>
          <p:nvPr/>
        </p:nvSpPr>
        <p:spPr>
          <a:xfrm>
            <a:off x="4131828" y="2577782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Rectangle 176"/>
          <p:cNvSpPr/>
          <p:nvPr/>
        </p:nvSpPr>
        <p:spPr>
          <a:xfrm>
            <a:off x="4554560" y="2577782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Rectangle 177"/>
          <p:cNvSpPr/>
          <p:nvPr/>
        </p:nvSpPr>
        <p:spPr>
          <a:xfrm>
            <a:off x="4977305" y="2577782"/>
            <a:ext cx="422732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Rectangle 178"/>
          <p:cNvSpPr/>
          <p:nvPr/>
        </p:nvSpPr>
        <p:spPr>
          <a:xfrm>
            <a:off x="1185339" y="2863722"/>
            <a:ext cx="422732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Rectangle 179"/>
          <p:cNvSpPr/>
          <p:nvPr/>
        </p:nvSpPr>
        <p:spPr>
          <a:xfrm>
            <a:off x="1595422" y="2863722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2018154" y="2863722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Rectangle 181"/>
          <p:cNvSpPr/>
          <p:nvPr/>
        </p:nvSpPr>
        <p:spPr>
          <a:xfrm>
            <a:off x="2440887" y="2863722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Rectangle 182"/>
          <p:cNvSpPr/>
          <p:nvPr/>
        </p:nvSpPr>
        <p:spPr>
          <a:xfrm>
            <a:off x="2863619" y="2863722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Rectangle 183"/>
          <p:cNvSpPr/>
          <p:nvPr/>
        </p:nvSpPr>
        <p:spPr>
          <a:xfrm>
            <a:off x="3286364" y="2863722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Rectangle 184"/>
          <p:cNvSpPr/>
          <p:nvPr/>
        </p:nvSpPr>
        <p:spPr>
          <a:xfrm>
            <a:off x="3709096" y="2863722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Rectangle 185"/>
          <p:cNvSpPr/>
          <p:nvPr/>
        </p:nvSpPr>
        <p:spPr>
          <a:xfrm>
            <a:off x="4131828" y="2863722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Rectangle 186"/>
          <p:cNvSpPr/>
          <p:nvPr/>
        </p:nvSpPr>
        <p:spPr>
          <a:xfrm>
            <a:off x="4554560" y="2863722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Rectangle 187"/>
          <p:cNvSpPr/>
          <p:nvPr/>
        </p:nvSpPr>
        <p:spPr>
          <a:xfrm>
            <a:off x="4977305" y="2863722"/>
            <a:ext cx="422732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Rectangle 188"/>
          <p:cNvSpPr/>
          <p:nvPr/>
        </p:nvSpPr>
        <p:spPr>
          <a:xfrm>
            <a:off x="36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Rectangle 189"/>
          <p:cNvSpPr/>
          <p:nvPr/>
        </p:nvSpPr>
        <p:spPr>
          <a:xfrm>
            <a:off x="2880040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1" name="Picture 19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192" name="Picture 19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193" name="TextBox 192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Crossover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08000" y="359888"/>
            <a:ext cx="567739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1">
                <a:solidFill>
                  <a:srgbClr val="003373"/>
                </a:solidFill>
                <a:latin typeface="Josefin Sans"/>
              </a:rPr>
              <a:t>Sexual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crossover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359993" y="625151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One-point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crossover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640409" y="960505"/>
            <a:ext cx="514498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Parent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613803" y="1246458"/>
            <a:ext cx="517159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Parent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4898807" y="3150917"/>
            <a:ext cx="88658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5638569" y="3150693"/>
            <a:ext cx="14682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16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1185303" y="925360"/>
            <a:ext cx="410083" cy="222681"/>
          </a:xfrm>
          <a:prstGeom prst="rect">
            <a:avLst/>
          </a:prstGeom>
          <a:solidFill>
            <a:srgbClr val="FBB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608035" y="925360"/>
            <a:ext cx="410083" cy="222681"/>
          </a:xfrm>
          <a:prstGeom prst="rect">
            <a:avLst/>
          </a:prstGeom>
          <a:solidFill>
            <a:srgbClr val="FBB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030767" y="925360"/>
            <a:ext cx="410082" cy="222681"/>
          </a:xfrm>
          <a:prstGeom prst="rect">
            <a:avLst/>
          </a:prstGeom>
          <a:solidFill>
            <a:srgbClr val="FBB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453499" y="925360"/>
            <a:ext cx="410083" cy="222681"/>
          </a:xfrm>
          <a:prstGeom prst="rect">
            <a:avLst/>
          </a:prstGeom>
          <a:solidFill>
            <a:srgbClr val="FBB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876244" y="925360"/>
            <a:ext cx="410082" cy="222681"/>
          </a:xfrm>
          <a:prstGeom prst="rect">
            <a:avLst/>
          </a:prstGeom>
          <a:solidFill>
            <a:srgbClr val="FBB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298976" y="925360"/>
            <a:ext cx="410083" cy="222681"/>
          </a:xfrm>
          <a:prstGeom prst="rect">
            <a:avLst/>
          </a:prstGeom>
          <a:solidFill>
            <a:srgbClr val="FBB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721709" y="925360"/>
            <a:ext cx="410083" cy="222681"/>
          </a:xfrm>
          <a:prstGeom prst="rect">
            <a:avLst/>
          </a:prstGeom>
          <a:solidFill>
            <a:srgbClr val="FBB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144441" y="925360"/>
            <a:ext cx="410083" cy="222681"/>
          </a:xfrm>
          <a:prstGeom prst="rect">
            <a:avLst/>
          </a:prstGeom>
          <a:solidFill>
            <a:srgbClr val="FBB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567186" y="925360"/>
            <a:ext cx="410083" cy="222681"/>
          </a:xfrm>
          <a:prstGeom prst="rect">
            <a:avLst/>
          </a:prstGeom>
          <a:solidFill>
            <a:srgbClr val="FBB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989918" y="925360"/>
            <a:ext cx="410083" cy="222681"/>
          </a:xfrm>
          <a:prstGeom prst="rect">
            <a:avLst/>
          </a:prstGeom>
          <a:solidFill>
            <a:srgbClr val="FBB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 flipV="1">
            <a:off x="1601710" y="925347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2024443" y="925347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2447175" y="925347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2869907" y="925347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V="1">
            <a:off x="3292652" y="925347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3715384" y="925347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4138116" y="925347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4560849" y="925347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V="1">
            <a:off x="4983593" y="925347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Rectangle 54"/>
          <p:cNvSpPr/>
          <p:nvPr/>
        </p:nvSpPr>
        <p:spPr>
          <a:xfrm>
            <a:off x="1185303" y="1211300"/>
            <a:ext cx="410083" cy="222681"/>
          </a:xfrm>
          <a:prstGeom prst="rect">
            <a:avLst/>
          </a:prstGeom>
          <a:solidFill>
            <a:srgbClr val="B3C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1608035" y="1211300"/>
            <a:ext cx="410083" cy="222681"/>
          </a:xfrm>
          <a:prstGeom prst="rect">
            <a:avLst/>
          </a:prstGeom>
          <a:solidFill>
            <a:srgbClr val="B3C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2030767" y="1211300"/>
            <a:ext cx="410082" cy="222681"/>
          </a:xfrm>
          <a:prstGeom prst="rect">
            <a:avLst/>
          </a:prstGeom>
          <a:solidFill>
            <a:srgbClr val="B3C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2453499" y="1211300"/>
            <a:ext cx="410083" cy="222681"/>
          </a:xfrm>
          <a:prstGeom prst="rect">
            <a:avLst/>
          </a:prstGeom>
          <a:solidFill>
            <a:srgbClr val="B3C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2876244" y="1211300"/>
            <a:ext cx="410082" cy="222681"/>
          </a:xfrm>
          <a:prstGeom prst="rect">
            <a:avLst/>
          </a:prstGeom>
          <a:solidFill>
            <a:srgbClr val="B3C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3298976" y="1211300"/>
            <a:ext cx="410083" cy="222681"/>
          </a:xfrm>
          <a:prstGeom prst="rect">
            <a:avLst/>
          </a:prstGeom>
          <a:solidFill>
            <a:srgbClr val="B3C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3721709" y="1211300"/>
            <a:ext cx="410083" cy="222681"/>
          </a:xfrm>
          <a:prstGeom prst="rect">
            <a:avLst/>
          </a:prstGeom>
          <a:solidFill>
            <a:srgbClr val="B3C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4144441" y="1211300"/>
            <a:ext cx="410083" cy="222681"/>
          </a:xfrm>
          <a:prstGeom prst="rect">
            <a:avLst/>
          </a:prstGeom>
          <a:solidFill>
            <a:srgbClr val="B3C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4567186" y="1211300"/>
            <a:ext cx="410083" cy="222681"/>
          </a:xfrm>
          <a:prstGeom prst="rect">
            <a:avLst/>
          </a:prstGeom>
          <a:solidFill>
            <a:srgbClr val="B3C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4989918" y="1211300"/>
            <a:ext cx="410083" cy="222681"/>
          </a:xfrm>
          <a:prstGeom prst="rect">
            <a:avLst/>
          </a:prstGeom>
          <a:solidFill>
            <a:srgbClr val="B3C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5" name="Connector 64"/>
          <p:cNvCxnSpPr/>
          <p:nvPr/>
        </p:nvCxnSpPr>
        <p:spPr>
          <a:xfrm flipV="1">
            <a:off x="1601710" y="1211300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2024443" y="1211300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V="1">
            <a:off x="2447175" y="1211300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V="1">
            <a:off x="2869907" y="1211300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V="1">
            <a:off x="3292652" y="1211300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 flipV="1">
            <a:off x="3715384" y="1211300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V="1">
            <a:off x="4138116" y="1211300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V="1">
            <a:off x="4560849" y="1211300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 flipV="1">
            <a:off x="4983593" y="1211300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 flipV="1">
            <a:off x="1601706" y="1497241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 flipV="1">
            <a:off x="2024439" y="1497241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 flipV="1">
            <a:off x="2447171" y="1497241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V="1">
            <a:off x="2869903" y="1497241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 flipV="1">
            <a:off x="3292648" y="1497241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 flipV="1">
            <a:off x="3715380" y="1497241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 flipV="1">
            <a:off x="4138112" y="1497241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 flipV="1">
            <a:off x="4560845" y="1497241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 flipV="1">
            <a:off x="4983589" y="1497241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 flipV="1">
            <a:off x="1601722" y="1783194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 flipV="1">
            <a:off x="2024454" y="1783194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 flipV="1">
            <a:off x="2447187" y="1783194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 flipV="1">
            <a:off x="2869919" y="1783194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 flipV="1">
            <a:off x="3292664" y="1783194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 flipV="1">
            <a:off x="3715396" y="1783194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 flipV="1">
            <a:off x="4560860" y="1783194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 flipV="1">
            <a:off x="4983605" y="1783194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 flipV="1">
            <a:off x="1601734" y="2355087"/>
            <a:ext cx="0" cy="285954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 flipV="1">
            <a:off x="2024467" y="2355087"/>
            <a:ext cx="0" cy="285954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 flipV="1">
            <a:off x="2447199" y="2355087"/>
            <a:ext cx="0" cy="285954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 flipV="1">
            <a:off x="2869931" y="2355087"/>
            <a:ext cx="0" cy="285954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 flipV="1">
            <a:off x="3292676" y="2355087"/>
            <a:ext cx="0" cy="285954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 flipV="1">
            <a:off x="3715408" y="2355087"/>
            <a:ext cx="0" cy="285954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 flipV="1">
            <a:off x="4138140" y="2355087"/>
            <a:ext cx="0" cy="285954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 flipV="1">
            <a:off x="4560873" y="2355087"/>
            <a:ext cx="0" cy="285954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 flipV="1">
            <a:off x="4983617" y="2355087"/>
            <a:ext cx="0" cy="285954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 flipV="1">
            <a:off x="1601747" y="2641028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 flipV="1">
            <a:off x="2024479" y="2641028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 flipV="1">
            <a:off x="2447211" y="2641028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 flipV="1">
            <a:off x="2869944" y="2641028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 flipV="1">
            <a:off x="3292688" y="2641028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 flipV="1">
            <a:off x="3715421" y="2641028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 flipV="1">
            <a:off x="4138153" y="2641028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 flipV="1">
            <a:off x="4560885" y="2641028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 flipV="1">
            <a:off x="4983630" y="2641028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" name="Rectangle 108"/>
          <p:cNvSpPr/>
          <p:nvPr/>
        </p:nvSpPr>
        <p:spPr>
          <a:xfrm>
            <a:off x="1185339" y="862088"/>
            <a:ext cx="422732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1595422" y="862088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2018154" y="862088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2440887" y="862088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2863619" y="862088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3286364" y="862088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3709096" y="862088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4131828" y="862088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4554560" y="862088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4977305" y="862088"/>
            <a:ext cx="422732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1185339" y="1148041"/>
            <a:ext cx="422732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1595422" y="1148041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2018154" y="1148041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2440887" y="1148041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2863619" y="1148041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3286364" y="1148041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3709096" y="1148041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4131828" y="1148041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4554560" y="1148041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4977305" y="1148041"/>
            <a:ext cx="422732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1185339" y="1433982"/>
            <a:ext cx="422732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1595422" y="1433982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2018154" y="1433982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2440887" y="1433982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2863619" y="1433982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3286364" y="1433982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3709096" y="1433982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4131828" y="1433982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Rectangle 136"/>
          <p:cNvSpPr/>
          <p:nvPr/>
        </p:nvSpPr>
        <p:spPr>
          <a:xfrm>
            <a:off x="4554560" y="1433982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Rectangle 137"/>
          <p:cNvSpPr/>
          <p:nvPr/>
        </p:nvSpPr>
        <p:spPr>
          <a:xfrm>
            <a:off x="4977305" y="1433982"/>
            <a:ext cx="422732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Rectangle 138"/>
          <p:cNvSpPr/>
          <p:nvPr/>
        </p:nvSpPr>
        <p:spPr>
          <a:xfrm>
            <a:off x="1185339" y="1719935"/>
            <a:ext cx="422732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ectangle 139"/>
          <p:cNvSpPr/>
          <p:nvPr/>
        </p:nvSpPr>
        <p:spPr>
          <a:xfrm>
            <a:off x="1595422" y="1719935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2018154" y="1719935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Rectangle 141"/>
          <p:cNvSpPr/>
          <p:nvPr/>
        </p:nvSpPr>
        <p:spPr>
          <a:xfrm>
            <a:off x="2440887" y="1719935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ectangle 142"/>
          <p:cNvSpPr/>
          <p:nvPr/>
        </p:nvSpPr>
        <p:spPr>
          <a:xfrm>
            <a:off x="2863619" y="1719935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Rectangle 143"/>
          <p:cNvSpPr/>
          <p:nvPr/>
        </p:nvSpPr>
        <p:spPr>
          <a:xfrm>
            <a:off x="3286364" y="1719935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3709096" y="1719935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Rectangle 145"/>
          <p:cNvSpPr/>
          <p:nvPr/>
        </p:nvSpPr>
        <p:spPr>
          <a:xfrm>
            <a:off x="4131828" y="1719935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Rectangle 146"/>
          <p:cNvSpPr/>
          <p:nvPr/>
        </p:nvSpPr>
        <p:spPr>
          <a:xfrm>
            <a:off x="4554560" y="1719935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Rectangle 147"/>
          <p:cNvSpPr/>
          <p:nvPr/>
        </p:nvSpPr>
        <p:spPr>
          <a:xfrm>
            <a:off x="4977305" y="1719935"/>
            <a:ext cx="422732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1185339" y="2005888"/>
            <a:ext cx="422732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Rectangle 149"/>
          <p:cNvSpPr/>
          <p:nvPr/>
        </p:nvSpPr>
        <p:spPr>
          <a:xfrm>
            <a:off x="1595422" y="2005888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Rectangle 150"/>
          <p:cNvSpPr/>
          <p:nvPr/>
        </p:nvSpPr>
        <p:spPr>
          <a:xfrm>
            <a:off x="2018154" y="2005888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Rectangle 151"/>
          <p:cNvSpPr/>
          <p:nvPr/>
        </p:nvSpPr>
        <p:spPr>
          <a:xfrm>
            <a:off x="2440887" y="2005888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Rectangle 152"/>
          <p:cNvSpPr/>
          <p:nvPr/>
        </p:nvSpPr>
        <p:spPr>
          <a:xfrm>
            <a:off x="2863619" y="2005888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Rectangle 153"/>
          <p:cNvSpPr/>
          <p:nvPr/>
        </p:nvSpPr>
        <p:spPr>
          <a:xfrm>
            <a:off x="3286364" y="2005888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Rectangle 154"/>
          <p:cNvSpPr/>
          <p:nvPr/>
        </p:nvSpPr>
        <p:spPr>
          <a:xfrm>
            <a:off x="3709096" y="2005888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Rectangle 155"/>
          <p:cNvSpPr/>
          <p:nvPr/>
        </p:nvSpPr>
        <p:spPr>
          <a:xfrm>
            <a:off x="4131828" y="2005888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4554560" y="2005888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Rectangle 157"/>
          <p:cNvSpPr/>
          <p:nvPr/>
        </p:nvSpPr>
        <p:spPr>
          <a:xfrm>
            <a:off x="4977305" y="2005888"/>
            <a:ext cx="422732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Rectangle 158"/>
          <p:cNvSpPr/>
          <p:nvPr/>
        </p:nvSpPr>
        <p:spPr>
          <a:xfrm>
            <a:off x="1185339" y="2291829"/>
            <a:ext cx="422732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Rectangle 159"/>
          <p:cNvSpPr/>
          <p:nvPr/>
        </p:nvSpPr>
        <p:spPr>
          <a:xfrm>
            <a:off x="1595422" y="2291829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Rectangle 160"/>
          <p:cNvSpPr/>
          <p:nvPr/>
        </p:nvSpPr>
        <p:spPr>
          <a:xfrm>
            <a:off x="2018154" y="2291829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Rectangle 161"/>
          <p:cNvSpPr/>
          <p:nvPr/>
        </p:nvSpPr>
        <p:spPr>
          <a:xfrm>
            <a:off x="2440887" y="2291829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Rectangle 162"/>
          <p:cNvSpPr/>
          <p:nvPr/>
        </p:nvSpPr>
        <p:spPr>
          <a:xfrm>
            <a:off x="2863619" y="2291829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Rectangle 163"/>
          <p:cNvSpPr/>
          <p:nvPr/>
        </p:nvSpPr>
        <p:spPr>
          <a:xfrm>
            <a:off x="3286364" y="2291829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3709096" y="2291829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Rectangle 165"/>
          <p:cNvSpPr/>
          <p:nvPr/>
        </p:nvSpPr>
        <p:spPr>
          <a:xfrm>
            <a:off x="4131828" y="2291829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Rectangle 166"/>
          <p:cNvSpPr/>
          <p:nvPr/>
        </p:nvSpPr>
        <p:spPr>
          <a:xfrm>
            <a:off x="4554560" y="2291829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Rectangle 167"/>
          <p:cNvSpPr/>
          <p:nvPr/>
        </p:nvSpPr>
        <p:spPr>
          <a:xfrm>
            <a:off x="4977305" y="2291829"/>
            <a:ext cx="422732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Rectangle 168"/>
          <p:cNvSpPr/>
          <p:nvPr/>
        </p:nvSpPr>
        <p:spPr>
          <a:xfrm>
            <a:off x="1185339" y="2577782"/>
            <a:ext cx="422732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Rectangle 169"/>
          <p:cNvSpPr/>
          <p:nvPr/>
        </p:nvSpPr>
        <p:spPr>
          <a:xfrm>
            <a:off x="1595422" y="2577782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Rectangle 170"/>
          <p:cNvSpPr/>
          <p:nvPr/>
        </p:nvSpPr>
        <p:spPr>
          <a:xfrm>
            <a:off x="2018154" y="2577782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Rectangle 171"/>
          <p:cNvSpPr/>
          <p:nvPr/>
        </p:nvSpPr>
        <p:spPr>
          <a:xfrm>
            <a:off x="2440887" y="2577782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2863619" y="2577782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Rectangle 173"/>
          <p:cNvSpPr/>
          <p:nvPr/>
        </p:nvSpPr>
        <p:spPr>
          <a:xfrm>
            <a:off x="3286364" y="2577782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Rectangle 174"/>
          <p:cNvSpPr/>
          <p:nvPr/>
        </p:nvSpPr>
        <p:spPr>
          <a:xfrm>
            <a:off x="3709096" y="2577782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Rectangle 175"/>
          <p:cNvSpPr/>
          <p:nvPr/>
        </p:nvSpPr>
        <p:spPr>
          <a:xfrm>
            <a:off x="4131828" y="2577782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Rectangle 176"/>
          <p:cNvSpPr/>
          <p:nvPr/>
        </p:nvSpPr>
        <p:spPr>
          <a:xfrm>
            <a:off x="4554560" y="2577782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Rectangle 177"/>
          <p:cNvSpPr/>
          <p:nvPr/>
        </p:nvSpPr>
        <p:spPr>
          <a:xfrm>
            <a:off x="4977305" y="2577782"/>
            <a:ext cx="422732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Rectangle 178"/>
          <p:cNvSpPr/>
          <p:nvPr/>
        </p:nvSpPr>
        <p:spPr>
          <a:xfrm>
            <a:off x="1185339" y="2863722"/>
            <a:ext cx="422732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Rectangle 179"/>
          <p:cNvSpPr/>
          <p:nvPr/>
        </p:nvSpPr>
        <p:spPr>
          <a:xfrm>
            <a:off x="1595422" y="2863722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2018154" y="2863722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Rectangle 181"/>
          <p:cNvSpPr/>
          <p:nvPr/>
        </p:nvSpPr>
        <p:spPr>
          <a:xfrm>
            <a:off x="2440887" y="2863722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Rectangle 182"/>
          <p:cNvSpPr/>
          <p:nvPr/>
        </p:nvSpPr>
        <p:spPr>
          <a:xfrm>
            <a:off x="2863619" y="2863722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Rectangle 183"/>
          <p:cNvSpPr/>
          <p:nvPr/>
        </p:nvSpPr>
        <p:spPr>
          <a:xfrm>
            <a:off x="3286364" y="2863722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Rectangle 184"/>
          <p:cNvSpPr/>
          <p:nvPr/>
        </p:nvSpPr>
        <p:spPr>
          <a:xfrm>
            <a:off x="3709096" y="2863722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Rectangle 185"/>
          <p:cNvSpPr/>
          <p:nvPr/>
        </p:nvSpPr>
        <p:spPr>
          <a:xfrm>
            <a:off x="4131828" y="2863722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Rectangle 186"/>
          <p:cNvSpPr/>
          <p:nvPr/>
        </p:nvSpPr>
        <p:spPr>
          <a:xfrm>
            <a:off x="4554560" y="2863722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Rectangle 187"/>
          <p:cNvSpPr/>
          <p:nvPr/>
        </p:nvSpPr>
        <p:spPr>
          <a:xfrm>
            <a:off x="4977305" y="2863722"/>
            <a:ext cx="422732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Rectangle 188"/>
          <p:cNvSpPr/>
          <p:nvPr/>
        </p:nvSpPr>
        <p:spPr>
          <a:xfrm>
            <a:off x="36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Rectangle 189"/>
          <p:cNvSpPr/>
          <p:nvPr/>
        </p:nvSpPr>
        <p:spPr>
          <a:xfrm>
            <a:off x="2880040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1" name="Picture 19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192" name="Picture 19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193" name="TextBox 192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Crossover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08000" y="359888"/>
            <a:ext cx="567739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1">
                <a:solidFill>
                  <a:srgbClr val="003373"/>
                </a:solidFill>
                <a:latin typeface="Josefin Sans"/>
              </a:rPr>
              <a:t>Sexual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crossover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359993" y="625151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One-point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crossover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640409" y="960505"/>
            <a:ext cx="514498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Parent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613803" y="1246458"/>
            <a:ext cx="517159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Parent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792948" y="1532399"/>
            <a:ext cx="499244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Mask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1347454" y="1532399"/>
            <a:ext cx="443794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1770184" y="1532399"/>
            <a:ext cx="401521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2192928" y="1532399"/>
            <a:ext cx="359246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2615658" y="1532399"/>
            <a:ext cx="316973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3038389" y="1532399"/>
            <a:ext cx="274700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3461136" y="1532399"/>
            <a:ext cx="232426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3883869" y="1532399"/>
            <a:ext cx="190152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4327656" y="1532399"/>
            <a:ext cx="14577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4750390" y="1532399"/>
            <a:ext cx="103500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5173136" y="1532399"/>
            <a:ext cx="61225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4097170" y="1818878"/>
            <a:ext cx="168822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Cambria Math"/>
              </a:rPr>
              <a:t>↑</a:t>
            </a:r>
          </a:p>
        </p:txBody>
      </p:sp>
      <p:sp>
        <p:nvSpPr>
          <p:cNvPr id="210" name="TextBox 209"/>
          <p:cNvSpPr txBox="1"/>
          <p:nvPr/>
        </p:nvSpPr>
        <p:spPr>
          <a:xfrm>
            <a:off x="3250320" y="2104819"/>
            <a:ext cx="253507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⇓</a:t>
            </a:r>
          </a:p>
        </p:txBody>
      </p:sp>
      <p:sp>
        <p:nvSpPr>
          <p:cNvPr id="211" name="TextBox 210"/>
          <p:cNvSpPr txBox="1"/>
          <p:nvPr/>
        </p:nvSpPr>
        <p:spPr>
          <a:xfrm>
            <a:off x="4898807" y="3150917"/>
            <a:ext cx="88658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5638569" y="3150693"/>
            <a:ext cx="14682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16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1185303" y="925360"/>
            <a:ext cx="410083" cy="222681"/>
          </a:xfrm>
          <a:prstGeom prst="rect">
            <a:avLst/>
          </a:prstGeom>
          <a:solidFill>
            <a:srgbClr val="FBB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608035" y="925360"/>
            <a:ext cx="410083" cy="222681"/>
          </a:xfrm>
          <a:prstGeom prst="rect">
            <a:avLst/>
          </a:prstGeom>
          <a:solidFill>
            <a:srgbClr val="FBB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030767" y="925360"/>
            <a:ext cx="410082" cy="222681"/>
          </a:xfrm>
          <a:prstGeom prst="rect">
            <a:avLst/>
          </a:prstGeom>
          <a:solidFill>
            <a:srgbClr val="FBB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453499" y="925360"/>
            <a:ext cx="410083" cy="222681"/>
          </a:xfrm>
          <a:prstGeom prst="rect">
            <a:avLst/>
          </a:prstGeom>
          <a:solidFill>
            <a:srgbClr val="FBB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876244" y="925360"/>
            <a:ext cx="410082" cy="222681"/>
          </a:xfrm>
          <a:prstGeom prst="rect">
            <a:avLst/>
          </a:prstGeom>
          <a:solidFill>
            <a:srgbClr val="FBB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298976" y="925360"/>
            <a:ext cx="410083" cy="222681"/>
          </a:xfrm>
          <a:prstGeom prst="rect">
            <a:avLst/>
          </a:prstGeom>
          <a:solidFill>
            <a:srgbClr val="FBB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721709" y="925360"/>
            <a:ext cx="410083" cy="222681"/>
          </a:xfrm>
          <a:prstGeom prst="rect">
            <a:avLst/>
          </a:prstGeom>
          <a:solidFill>
            <a:srgbClr val="FBB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144441" y="925360"/>
            <a:ext cx="410083" cy="222681"/>
          </a:xfrm>
          <a:prstGeom prst="rect">
            <a:avLst/>
          </a:prstGeom>
          <a:solidFill>
            <a:srgbClr val="FBB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567186" y="925360"/>
            <a:ext cx="410083" cy="222681"/>
          </a:xfrm>
          <a:prstGeom prst="rect">
            <a:avLst/>
          </a:prstGeom>
          <a:solidFill>
            <a:srgbClr val="FBB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989918" y="925360"/>
            <a:ext cx="410083" cy="222681"/>
          </a:xfrm>
          <a:prstGeom prst="rect">
            <a:avLst/>
          </a:prstGeom>
          <a:solidFill>
            <a:srgbClr val="FBB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 flipV="1">
            <a:off x="1601710" y="925347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2024443" y="925347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2447175" y="925347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2869907" y="925347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V="1">
            <a:off x="3292652" y="925347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3715384" y="925347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4138116" y="925347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4560849" y="925347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V="1">
            <a:off x="4983593" y="925347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Rectangle 54"/>
          <p:cNvSpPr/>
          <p:nvPr/>
        </p:nvSpPr>
        <p:spPr>
          <a:xfrm>
            <a:off x="1185303" y="1211300"/>
            <a:ext cx="410083" cy="222681"/>
          </a:xfrm>
          <a:prstGeom prst="rect">
            <a:avLst/>
          </a:prstGeom>
          <a:solidFill>
            <a:srgbClr val="B3C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1608035" y="1211300"/>
            <a:ext cx="410083" cy="222681"/>
          </a:xfrm>
          <a:prstGeom prst="rect">
            <a:avLst/>
          </a:prstGeom>
          <a:solidFill>
            <a:srgbClr val="B3C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2030767" y="1211300"/>
            <a:ext cx="410082" cy="222681"/>
          </a:xfrm>
          <a:prstGeom prst="rect">
            <a:avLst/>
          </a:prstGeom>
          <a:solidFill>
            <a:srgbClr val="B3C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2453499" y="1211300"/>
            <a:ext cx="410083" cy="222681"/>
          </a:xfrm>
          <a:prstGeom prst="rect">
            <a:avLst/>
          </a:prstGeom>
          <a:solidFill>
            <a:srgbClr val="B3C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2876244" y="1211300"/>
            <a:ext cx="410082" cy="222681"/>
          </a:xfrm>
          <a:prstGeom prst="rect">
            <a:avLst/>
          </a:prstGeom>
          <a:solidFill>
            <a:srgbClr val="B3C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3298976" y="1211300"/>
            <a:ext cx="410083" cy="222681"/>
          </a:xfrm>
          <a:prstGeom prst="rect">
            <a:avLst/>
          </a:prstGeom>
          <a:solidFill>
            <a:srgbClr val="B3C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3721709" y="1211300"/>
            <a:ext cx="410083" cy="222681"/>
          </a:xfrm>
          <a:prstGeom prst="rect">
            <a:avLst/>
          </a:prstGeom>
          <a:solidFill>
            <a:srgbClr val="B3C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4144441" y="1211300"/>
            <a:ext cx="410083" cy="222681"/>
          </a:xfrm>
          <a:prstGeom prst="rect">
            <a:avLst/>
          </a:prstGeom>
          <a:solidFill>
            <a:srgbClr val="B3C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4567186" y="1211300"/>
            <a:ext cx="410083" cy="222681"/>
          </a:xfrm>
          <a:prstGeom prst="rect">
            <a:avLst/>
          </a:prstGeom>
          <a:solidFill>
            <a:srgbClr val="B3C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4989918" y="1211300"/>
            <a:ext cx="410083" cy="222681"/>
          </a:xfrm>
          <a:prstGeom prst="rect">
            <a:avLst/>
          </a:prstGeom>
          <a:solidFill>
            <a:srgbClr val="B3C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5" name="Connector 64"/>
          <p:cNvCxnSpPr/>
          <p:nvPr/>
        </p:nvCxnSpPr>
        <p:spPr>
          <a:xfrm flipV="1">
            <a:off x="1601710" y="1211300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2024443" y="1211300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V="1">
            <a:off x="2447175" y="1211300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V="1">
            <a:off x="2869907" y="1211300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V="1">
            <a:off x="3292652" y="1211300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 flipV="1">
            <a:off x="3715384" y="1211300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V="1">
            <a:off x="4138116" y="1211300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V="1">
            <a:off x="4560849" y="1211300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 flipV="1">
            <a:off x="4983593" y="1211300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 flipV="1">
            <a:off x="1601706" y="1497241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 flipV="1">
            <a:off x="2024439" y="1497241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 flipV="1">
            <a:off x="2447171" y="1497241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V="1">
            <a:off x="2869903" y="1497241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 flipV="1">
            <a:off x="3292648" y="1497241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 flipV="1">
            <a:off x="3715380" y="1497241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 flipV="1">
            <a:off x="4138112" y="1497241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 flipV="1">
            <a:off x="4560845" y="1497241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 flipV="1">
            <a:off x="4983589" y="1497241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 flipV="1">
            <a:off x="1601722" y="1783194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 flipV="1">
            <a:off x="2024454" y="1783194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 flipV="1">
            <a:off x="2447187" y="1783194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 flipV="1">
            <a:off x="2869919" y="1783194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 flipV="1">
            <a:off x="3292664" y="1783194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 flipV="1">
            <a:off x="3715396" y="1783194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 flipV="1">
            <a:off x="4560860" y="1783194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 flipV="1">
            <a:off x="4983605" y="1783194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Rectangle 90"/>
          <p:cNvSpPr/>
          <p:nvPr/>
        </p:nvSpPr>
        <p:spPr>
          <a:xfrm>
            <a:off x="1185314" y="2355088"/>
            <a:ext cx="410083" cy="222681"/>
          </a:xfrm>
          <a:prstGeom prst="rect">
            <a:avLst/>
          </a:prstGeom>
          <a:solidFill>
            <a:srgbClr val="FBB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608048" y="2355088"/>
            <a:ext cx="410083" cy="222681"/>
          </a:xfrm>
          <a:prstGeom prst="rect">
            <a:avLst/>
          </a:prstGeom>
          <a:solidFill>
            <a:srgbClr val="FBB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2030782" y="2355088"/>
            <a:ext cx="410082" cy="222681"/>
          </a:xfrm>
          <a:prstGeom prst="rect">
            <a:avLst/>
          </a:prstGeom>
          <a:solidFill>
            <a:srgbClr val="FBB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2453515" y="2355088"/>
            <a:ext cx="410082" cy="222681"/>
          </a:xfrm>
          <a:prstGeom prst="rect">
            <a:avLst/>
          </a:prstGeom>
          <a:solidFill>
            <a:srgbClr val="FBB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2876259" y="2355088"/>
            <a:ext cx="410082" cy="222681"/>
          </a:xfrm>
          <a:prstGeom prst="rect">
            <a:avLst/>
          </a:prstGeom>
          <a:solidFill>
            <a:srgbClr val="FBB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3298992" y="2355088"/>
            <a:ext cx="410083" cy="222681"/>
          </a:xfrm>
          <a:prstGeom prst="rect">
            <a:avLst/>
          </a:prstGeom>
          <a:solidFill>
            <a:srgbClr val="FBB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3721726" y="2355088"/>
            <a:ext cx="410083" cy="222681"/>
          </a:xfrm>
          <a:prstGeom prst="rect">
            <a:avLst/>
          </a:prstGeom>
          <a:solidFill>
            <a:srgbClr val="FBB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4144460" y="2355088"/>
            <a:ext cx="410083" cy="222681"/>
          </a:xfrm>
          <a:prstGeom prst="rect">
            <a:avLst/>
          </a:prstGeom>
          <a:solidFill>
            <a:srgbClr val="B3C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4567206" y="2355088"/>
            <a:ext cx="410083" cy="222681"/>
          </a:xfrm>
          <a:prstGeom prst="rect">
            <a:avLst/>
          </a:prstGeom>
          <a:solidFill>
            <a:srgbClr val="B3C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4989940" y="2355088"/>
            <a:ext cx="410083" cy="222681"/>
          </a:xfrm>
          <a:prstGeom prst="rect">
            <a:avLst/>
          </a:prstGeom>
          <a:solidFill>
            <a:srgbClr val="B3C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1" name="Connector 100"/>
          <p:cNvCxnSpPr/>
          <p:nvPr/>
        </p:nvCxnSpPr>
        <p:spPr>
          <a:xfrm flipV="1">
            <a:off x="1601734" y="2355087"/>
            <a:ext cx="0" cy="285954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 flipV="1">
            <a:off x="2024467" y="2355087"/>
            <a:ext cx="0" cy="285954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 flipV="1">
            <a:off x="2447199" y="2355087"/>
            <a:ext cx="0" cy="285954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 flipV="1">
            <a:off x="2869931" y="2355087"/>
            <a:ext cx="0" cy="285954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 flipV="1">
            <a:off x="3292676" y="2355087"/>
            <a:ext cx="0" cy="285954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 flipV="1">
            <a:off x="3715408" y="2355087"/>
            <a:ext cx="0" cy="285954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 flipV="1">
            <a:off x="4138140" y="2355087"/>
            <a:ext cx="0" cy="285954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 flipV="1">
            <a:off x="4560873" y="2355087"/>
            <a:ext cx="0" cy="285954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 flipV="1">
            <a:off x="4983617" y="2355087"/>
            <a:ext cx="0" cy="285954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/>
          <p:cNvCxnSpPr/>
          <p:nvPr/>
        </p:nvCxnSpPr>
        <p:spPr>
          <a:xfrm flipV="1">
            <a:off x="1601747" y="2641028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 110"/>
          <p:cNvCxnSpPr/>
          <p:nvPr/>
        </p:nvCxnSpPr>
        <p:spPr>
          <a:xfrm flipV="1">
            <a:off x="2024479" y="2641028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 111"/>
          <p:cNvCxnSpPr/>
          <p:nvPr/>
        </p:nvCxnSpPr>
        <p:spPr>
          <a:xfrm flipV="1">
            <a:off x="2447211" y="2641028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 112"/>
          <p:cNvCxnSpPr/>
          <p:nvPr/>
        </p:nvCxnSpPr>
        <p:spPr>
          <a:xfrm flipV="1">
            <a:off x="2869944" y="2641028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/>
          <p:cNvCxnSpPr/>
          <p:nvPr/>
        </p:nvCxnSpPr>
        <p:spPr>
          <a:xfrm flipV="1">
            <a:off x="3292688" y="2641028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Connector 114"/>
          <p:cNvCxnSpPr/>
          <p:nvPr/>
        </p:nvCxnSpPr>
        <p:spPr>
          <a:xfrm flipV="1">
            <a:off x="3715421" y="2641028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 115"/>
          <p:cNvCxnSpPr/>
          <p:nvPr/>
        </p:nvCxnSpPr>
        <p:spPr>
          <a:xfrm flipV="1">
            <a:off x="4138153" y="2641028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 116"/>
          <p:cNvCxnSpPr/>
          <p:nvPr/>
        </p:nvCxnSpPr>
        <p:spPr>
          <a:xfrm flipV="1">
            <a:off x="4560885" y="2641028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 117"/>
          <p:cNvCxnSpPr/>
          <p:nvPr/>
        </p:nvCxnSpPr>
        <p:spPr>
          <a:xfrm flipV="1">
            <a:off x="4983630" y="2641028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9" name="Rectangle 118"/>
          <p:cNvSpPr/>
          <p:nvPr/>
        </p:nvSpPr>
        <p:spPr>
          <a:xfrm>
            <a:off x="1185339" y="862088"/>
            <a:ext cx="422732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1595422" y="862088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2018154" y="862088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2440887" y="862088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2863619" y="862088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3286364" y="862088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3709096" y="862088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4131828" y="862088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4554560" y="862088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4977305" y="862088"/>
            <a:ext cx="422732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1185339" y="1148041"/>
            <a:ext cx="422732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1595422" y="1148041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2018154" y="1148041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2440887" y="1148041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2863619" y="1148041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3286364" y="1148041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3709096" y="1148041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4131828" y="1148041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Rectangle 136"/>
          <p:cNvSpPr/>
          <p:nvPr/>
        </p:nvSpPr>
        <p:spPr>
          <a:xfrm>
            <a:off x="4554560" y="1148041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Rectangle 137"/>
          <p:cNvSpPr/>
          <p:nvPr/>
        </p:nvSpPr>
        <p:spPr>
          <a:xfrm>
            <a:off x="4977305" y="1148041"/>
            <a:ext cx="422732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Rectangle 138"/>
          <p:cNvSpPr/>
          <p:nvPr/>
        </p:nvSpPr>
        <p:spPr>
          <a:xfrm>
            <a:off x="1185339" y="1433982"/>
            <a:ext cx="422732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ectangle 139"/>
          <p:cNvSpPr/>
          <p:nvPr/>
        </p:nvSpPr>
        <p:spPr>
          <a:xfrm>
            <a:off x="1595422" y="1433982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2018154" y="1433982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Rectangle 141"/>
          <p:cNvSpPr/>
          <p:nvPr/>
        </p:nvSpPr>
        <p:spPr>
          <a:xfrm>
            <a:off x="2440887" y="1433982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ectangle 142"/>
          <p:cNvSpPr/>
          <p:nvPr/>
        </p:nvSpPr>
        <p:spPr>
          <a:xfrm>
            <a:off x="2863619" y="1433982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Rectangle 143"/>
          <p:cNvSpPr/>
          <p:nvPr/>
        </p:nvSpPr>
        <p:spPr>
          <a:xfrm>
            <a:off x="3286364" y="1433982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3709096" y="1433982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Rectangle 145"/>
          <p:cNvSpPr/>
          <p:nvPr/>
        </p:nvSpPr>
        <p:spPr>
          <a:xfrm>
            <a:off x="4131828" y="1433982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Rectangle 146"/>
          <p:cNvSpPr/>
          <p:nvPr/>
        </p:nvSpPr>
        <p:spPr>
          <a:xfrm>
            <a:off x="4554560" y="1433982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Rectangle 147"/>
          <p:cNvSpPr/>
          <p:nvPr/>
        </p:nvSpPr>
        <p:spPr>
          <a:xfrm>
            <a:off x="4977305" y="1433982"/>
            <a:ext cx="422732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1185339" y="1719935"/>
            <a:ext cx="422732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Rectangle 149"/>
          <p:cNvSpPr/>
          <p:nvPr/>
        </p:nvSpPr>
        <p:spPr>
          <a:xfrm>
            <a:off x="1595422" y="1719935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Rectangle 150"/>
          <p:cNvSpPr/>
          <p:nvPr/>
        </p:nvSpPr>
        <p:spPr>
          <a:xfrm>
            <a:off x="2018154" y="1719935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Rectangle 151"/>
          <p:cNvSpPr/>
          <p:nvPr/>
        </p:nvSpPr>
        <p:spPr>
          <a:xfrm>
            <a:off x="2440887" y="1719935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Rectangle 152"/>
          <p:cNvSpPr/>
          <p:nvPr/>
        </p:nvSpPr>
        <p:spPr>
          <a:xfrm>
            <a:off x="2863619" y="1719935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Rectangle 153"/>
          <p:cNvSpPr/>
          <p:nvPr/>
        </p:nvSpPr>
        <p:spPr>
          <a:xfrm>
            <a:off x="3286364" y="1719935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Rectangle 154"/>
          <p:cNvSpPr/>
          <p:nvPr/>
        </p:nvSpPr>
        <p:spPr>
          <a:xfrm>
            <a:off x="3709096" y="1719935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Rectangle 155"/>
          <p:cNvSpPr/>
          <p:nvPr/>
        </p:nvSpPr>
        <p:spPr>
          <a:xfrm>
            <a:off x="4131828" y="1719935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4554560" y="1719935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Rectangle 157"/>
          <p:cNvSpPr/>
          <p:nvPr/>
        </p:nvSpPr>
        <p:spPr>
          <a:xfrm>
            <a:off x="4977305" y="1719935"/>
            <a:ext cx="422732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Rectangle 158"/>
          <p:cNvSpPr/>
          <p:nvPr/>
        </p:nvSpPr>
        <p:spPr>
          <a:xfrm>
            <a:off x="1185339" y="2005888"/>
            <a:ext cx="422732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Rectangle 159"/>
          <p:cNvSpPr/>
          <p:nvPr/>
        </p:nvSpPr>
        <p:spPr>
          <a:xfrm>
            <a:off x="1595422" y="2005888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Rectangle 160"/>
          <p:cNvSpPr/>
          <p:nvPr/>
        </p:nvSpPr>
        <p:spPr>
          <a:xfrm>
            <a:off x="2018154" y="2005888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Rectangle 161"/>
          <p:cNvSpPr/>
          <p:nvPr/>
        </p:nvSpPr>
        <p:spPr>
          <a:xfrm>
            <a:off x="2440887" y="2005888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Rectangle 162"/>
          <p:cNvSpPr/>
          <p:nvPr/>
        </p:nvSpPr>
        <p:spPr>
          <a:xfrm>
            <a:off x="2863619" y="2005888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Rectangle 163"/>
          <p:cNvSpPr/>
          <p:nvPr/>
        </p:nvSpPr>
        <p:spPr>
          <a:xfrm>
            <a:off x="3286364" y="2005888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3709096" y="2005888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Rectangle 165"/>
          <p:cNvSpPr/>
          <p:nvPr/>
        </p:nvSpPr>
        <p:spPr>
          <a:xfrm>
            <a:off x="4131828" y="2005888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Rectangle 166"/>
          <p:cNvSpPr/>
          <p:nvPr/>
        </p:nvSpPr>
        <p:spPr>
          <a:xfrm>
            <a:off x="4554560" y="2005888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Rectangle 167"/>
          <p:cNvSpPr/>
          <p:nvPr/>
        </p:nvSpPr>
        <p:spPr>
          <a:xfrm>
            <a:off x="4977305" y="2005888"/>
            <a:ext cx="422732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Rectangle 168"/>
          <p:cNvSpPr/>
          <p:nvPr/>
        </p:nvSpPr>
        <p:spPr>
          <a:xfrm>
            <a:off x="1185339" y="2291829"/>
            <a:ext cx="422732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Rectangle 169"/>
          <p:cNvSpPr/>
          <p:nvPr/>
        </p:nvSpPr>
        <p:spPr>
          <a:xfrm>
            <a:off x="1595422" y="2291829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Rectangle 170"/>
          <p:cNvSpPr/>
          <p:nvPr/>
        </p:nvSpPr>
        <p:spPr>
          <a:xfrm>
            <a:off x="2018154" y="2291829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Rectangle 171"/>
          <p:cNvSpPr/>
          <p:nvPr/>
        </p:nvSpPr>
        <p:spPr>
          <a:xfrm>
            <a:off x="2440887" y="2291829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2863619" y="2291829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Rectangle 173"/>
          <p:cNvSpPr/>
          <p:nvPr/>
        </p:nvSpPr>
        <p:spPr>
          <a:xfrm>
            <a:off x="3286364" y="2291829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Rectangle 174"/>
          <p:cNvSpPr/>
          <p:nvPr/>
        </p:nvSpPr>
        <p:spPr>
          <a:xfrm>
            <a:off x="3709096" y="2291829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Rectangle 175"/>
          <p:cNvSpPr/>
          <p:nvPr/>
        </p:nvSpPr>
        <p:spPr>
          <a:xfrm>
            <a:off x="4131828" y="2291829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Rectangle 176"/>
          <p:cNvSpPr/>
          <p:nvPr/>
        </p:nvSpPr>
        <p:spPr>
          <a:xfrm>
            <a:off x="4554560" y="2291829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Rectangle 177"/>
          <p:cNvSpPr/>
          <p:nvPr/>
        </p:nvSpPr>
        <p:spPr>
          <a:xfrm>
            <a:off x="4977305" y="2291829"/>
            <a:ext cx="422732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Rectangle 178"/>
          <p:cNvSpPr/>
          <p:nvPr/>
        </p:nvSpPr>
        <p:spPr>
          <a:xfrm>
            <a:off x="1185339" y="2577782"/>
            <a:ext cx="422732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Rectangle 179"/>
          <p:cNvSpPr/>
          <p:nvPr/>
        </p:nvSpPr>
        <p:spPr>
          <a:xfrm>
            <a:off x="1595422" y="2577782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2018154" y="2577782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Rectangle 181"/>
          <p:cNvSpPr/>
          <p:nvPr/>
        </p:nvSpPr>
        <p:spPr>
          <a:xfrm>
            <a:off x="2440887" y="2577782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Rectangle 182"/>
          <p:cNvSpPr/>
          <p:nvPr/>
        </p:nvSpPr>
        <p:spPr>
          <a:xfrm>
            <a:off x="2863619" y="2577782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Rectangle 183"/>
          <p:cNvSpPr/>
          <p:nvPr/>
        </p:nvSpPr>
        <p:spPr>
          <a:xfrm>
            <a:off x="3286364" y="2577782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Rectangle 184"/>
          <p:cNvSpPr/>
          <p:nvPr/>
        </p:nvSpPr>
        <p:spPr>
          <a:xfrm>
            <a:off x="3709096" y="2577782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Rectangle 185"/>
          <p:cNvSpPr/>
          <p:nvPr/>
        </p:nvSpPr>
        <p:spPr>
          <a:xfrm>
            <a:off x="4131828" y="2577782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Rectangle 186"/>
          <p:cNvSpPr/>
          <p:nvPr/>
        </p:nvSpPr>
        <p:spPr>
          <a:xfrm>
            <a:off x="4554560" y="2577782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Rectangle 187"/>
          <p:cNvSpPr/>
          <p:nvPr/>
        </p:nvSpPr>
        <p:spPr>
          <a:xfrm>
            <a:off x="4977305" y="2577782"/>
            <a:ext cx="422732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Rectangle 188"/>
          <p:cNvSpPr/>
          <p:nvPr/>
        </p:nvSpPr>
        <p:spPr>
          <a:xfrm>
            <a:off x="1185339" y="2863722"/>
            <a:ext cx="422732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Rectangle 189"/>
          <p:cNvSpPr/>
          <p:nvPr/>
        </p:nvSpPr>
        <p:spPr>
          <a:xfrm>
            <a:off x="1595422" y="2863722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Rectangle 190"/>
          <p:cNvSpPr/>
          <p:nvPr/>
        </p:nvSpPr>
        <p:spPr>
          <a:xfrm>
            <a:off x="2018154" y="2863722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Rectangle 191"/>
          <p:cNvSpPr/>
          <p:nvPr/>
        </p:nvSpPr>
        <p:spPr>
          <a:xfrm>
            <a:off x="2440887" y="2863722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Rectangle 192"/>
          <p:cNvSpPr/>
          <p:nvPr/>
        </p:nvSpPr>
        <p:spPr>
          <a:xfrm>
            <a:off x="2863619" y="2863722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Rectangle 193"/>
          <p:cNvSpPr/>
          <p:nvPr/>
        </p:nvSpPr>
        <p:spPr>
          <a:xfrm>
            <a:off x="3286364" y="2863722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Rectangle 194"/>
          <p:cNvSpPr/>
          <p:nvPr/>
        </p:nvSpPr>
        <p:spPr>
          <a:xfrm>
            <a:off x="3709096" y="2863722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Rectangle 195"/>
          <p:cNvSpPr/>
          <p:nvPr/>
        </p:nvSpPr>
        <p:spPr>
          <a:xfrm>
            <a:off x="4131828" y="2863722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Rectangle 196"/>
          <p:cNvSpPr/>
          <p:nvPr/>
        </p:nvSpPr>
        <p:spPr>
          <a:xfrm>
            <a:off x="4554560" y="2863722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Rectangle 197"/>
          <p:cNvSpPr/>
          <p:nvPr/>
        </p:nvSpPr>
        <p:spPr>
          <a:xfrm>
            <a:off x="4977305" y="2863722"/>
            <a:ext cx="422732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Rectangle 198"/>
          <p:cNvSpPr/>
          <p:nvPr/>
        </p:nvSpPr>
        <p:spPr>
          <a:xfrm>
            <a:off x="36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Rectangle 199"/>
          <p:cNvSpPr/>
          <p:nvPr/>
        </p:nvSpPr>
        <p:spPr>
          <a:xfrm>
            <a:off x="2880040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1" name="Picture 20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202" name="Picture 20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203" name="TextBox 202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Crossover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108000" y="359888"/>
            <a:ext cx="567739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1">
                <a:solidFill>
                  <a:srgbClr val="003373"/>
                </a:solidFill>
                <a:latin typeface="Josefin Sans"/>
              </a:rPr>
              <a:t>Sexual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crossover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359993" y="625151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One-point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crossover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640409" y="960505"/>
            <a:ext cx="514498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Parent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613803" y="1246458"/>
            <a:ext cx="517159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Parent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792948" y="1532399"/>
            <a:ext cx="499244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Mask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1347454" y="1532399"/>
            <a:ext cx="443794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10" name="TextBox 209"/>
          <p:cNvSpPr txBox="1"/>
          <p:nvPr/>
        </p:nvSpPr>
        <p:spPr>
          <a:xfrm>
            <a:off x="1770184" y="1532399"/>
            <a:ext cx="401521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11" name="TextBox 210"/>
          <p:cNvSpPr txBox="1"/>
          <p:nvPr/>
        </p:nvSpPr>
        <p:spPr>
          <a:xfrm>
            <a:off x="2192928" y="1532399"/>
            <a:ext cx="359246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2615658" y="1532399"/>
            <a:ext cx="316973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3038389" y="1532399"/>
            <a:ext cx="274700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3461136" y="1532399"/>
            <a:ext cx="232426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3883869" y="1532399"/>
            <a:ext cx="190152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4327656" y="1532399"/>
            <a:ext cx="14577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4750390" y="1532399"/>
            <a:ext cx="103500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5173136" y="1532399"/>
            <a:ext cx="61225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219" name="TextBox 218"/>
          <p:cNvSpPr txBox="1"/>
          <p:nvPr/>
        </p:nvSpPr>
        <p:spPr>
          <a:xfrm>
            <a:off x="4097170" y="1818878"/>
            <a:ext cx="168822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Cambria Math"/>
              </a:rPr>
              <a:t>↑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3250320" y="2104819"/>
            <a:ext cx="253507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⇓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462531" y="2390245"/>
            <a:ext cx="532286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Offspring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4898807" y="3150917"/>
            <a:ext cx="88658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223" name="TextBox 222"/>
          <p:cNvSpPr txBox="1"/>
          <p:nvPr/>
        </p:nvSpPr>
        <p:spPr>
          <a:xfrm>
            <a:off x="5638569" y="3150693"/>
            <a:ext cx="14682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16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1185303" y="925360"/>
            <a:ext cx="410083" cy="222681"/>
          </a:xfrm>
          <a:prstGeom prst="rect">
            <a:avLst/>
          </a:prstGeom>
          <a:solidFill>
            <a:srgbClr val="FBB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608035" y="925360"/>
            <a:ext cx="410083" cy="222681"/>
          </a:xfrm>
          <a:prstGeom prst="rect">
            <a:avLst/>
          </a:prstGeom>
          <a:solidFill>
            <a:srgbClr val="FBB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030767" y="925360"/>
            <a:ext cx="410082" cy="222681"/>
          </a:xfrm>
          <a:prstGeom prst="rect">
            <a:avLst/>
          </a:prstGeom>
          <a:solidFill>
            <a:srgbClr val="FBB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453499" y="925360"/>
            <a:ext cx="410083" cy="222681"/>
          </a:xfrm>
          <a:prstGeom prst="rect">
            <a:avLst/>
          </a:prstGeom>
          <a:solidFill>
            <a:srgbClr val="FBB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876244" y="925360"/>
            <a:ext cx="410082" cy="222681"/>
          </a:xfrm>
          <a:prstGeom prst="rect">
            <a:avLst/>
          </a:prstGeom>
          <a:solidFill>
            <a:srgbClr val="FBB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298976" y="925360"/>
            <a:ext cx="410083" cy="222681"/>
          </a:xfrm>
          <a:prstGeom prst="rect">
            <a:avLst/>
          </a:prstGeom>
          <a:solidFill>
            <a:srgbClr val="FBB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721709" y="925360"/>
            <a:ext cx="410083" cy="222681"/>
          </a:xfrm>
          <a:prstGeom prst="rect">
            <a:avLst/>
          </a:prstGeom>
          <a:solidFill>
            <a:srgbClr val="FBB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144441" y="925360"/>
            <a:ext cx="410083" cy="222681"/>
          </a:xfrm>
          <a:prstGeom prst="rect">
            <a:avLst/>
          </a:prstGeom>
          <a:solidFill>
            <a:srgbClr val="FBB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567186" y="925360"/>
            <a:ext cx="410083" cy="222681"/>
          </a:xfrm>
          <a:prstGeom prst="rect">
            <a:avLst/>
          </a:prstGeom>
          <a:solidFill>
            <a:srgbClr val="FBB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989918" y="925360"/>
            <a:ext cx="410083" cy="222681"/>
          </a:xfrm>
          <a:prstGeom prst="rect">
            <a:avLst/>
          </a:prstGeom>
          <a:solidFill>
            <a:srgbClr val="FBB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 flipV="1">
            <a:off x="1601710" y="925347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2024443" y="925347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2447175" y="925347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2869907" y="925347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V="1">
            <a:off x="3292652" y="925347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3715384" y="925347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4138116" y="925347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4560849" y="925347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V="1">
            <a:off x="4983593" y="925347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Rectangle 54"/>
          <p:cNvSpPr/>
          <p:nvPr/>
        </p:nvSpPr>
        <p:spPr>
          <a:xfrm>
            <a:off x="1185303" y="1211300"/>
            <a:ext cx="410083" cy="222681"/>
          </a:xfrm>
          <a:prstGeom prst="rect">
            <a:avLst/>
          </a:prstGeom>
          <a:solidFill>
            <a:srgbClr val="B3C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1608035" y="1211300"/>
            <a:ext cx="410083" cy="222681"/>
          </a:xfrm>
          <a:prstGeom prst="rect">
            <a:avLst/>
          </a:prstGeom>
          <a:solidFill>
            <a:srgbClr val="B3C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2030767" y="1211300"/>
            <a:ext cx="410082" cy="222681"/>
          </a:xfrm>
          <a:prstGeom prst="rect">
            <a:avLst/>
          </a:prstGeom>
          <a:solidFill>
            <a:srgbClr val="B3C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2453499" y="1211300"/>
            <a:ext cx="410083" cy="222681"/>
          </a:xfrm>
          <a:prstGeom prst="rect">
            <a:avLst/>
          </a:prstGeom>
          <a:solidFill>
            <a:srgbClr val="B3C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2876244" y="1211300"/>
            <a:ext cx="410082" cy="222681"/>
          </a:xfrm>
          <a:prstGeom prst="rect">
            <a:avLst/>
          </a:prstGeom>
          <a:solidFill>
            <a:srgbClr val="B3C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3298976" y="1211300"/>
            <a:ext cx="410083" cy="222681"/>
          </a:xfrm>
          <a:prstGeom prst="rect">
            <a:avLst/>
          </a:prstGeom>
          <a:solidFill>
            <a:srgbClr val="B3C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3721709" y="1211300"/>
            <a:ext cx="410083" cy="222681"/>
          </a:xfrm>
          <a:prstGeom prst="rect">
            <a:avLst/>
          </a:prstGeom>
          <a:solidFill>
            <a:srgbClr val="B3C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4144441" y="1211300"/>
            <a:ext cx="410083" cy="222681"/>
          </a:xfrm>
          <a:prstGeom prst="rect">
            <a:avLst/>
          </a:prstGeom>
          <a:solidFill>
            <a:srgbClr val="B3C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4567186" y="1211300"/>
            <a:ext cx="410083" cy="222681"/>
          </a:xfrm>
          <a:prstGeom prst="rect">
            <a:avLst/>
          </a:prstGeom>
          <a:solidFill>
            <a:srgbClr val="B3C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4989918" y="1211300"/>
            <a:ext cx="410083" cy="222681"/>
          </a:xfrm>
          <a:prstGeom prst="rect">
            <a:avLst/>
          </a:prstGeom>
          <a:solidFill>
            <a:srgbClr val="B3C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5" name="Connector 64"/>
          <p:cNvCxnSpPr/>
          <p:nvPr/>
        </p:nvCxnSpPr>
        <p:spPr>
          <a:xfrm flipV="1">
            <a:off x="1601710" y="1211300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2024443" y="1211300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V="1">
            <a:off x="2447175" y="1211300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V="1">
            <a:off x="2869907" y="1211300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V="1">
            <a:off x="3292652" y="1211300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 flipV="1">
            <a:off x="3715384" y="1211300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V="1">
            <a:off x="4138116" y="1211300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V="1">
            <a:off x="4560849" y="1211300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 flipV="1">
            <a:off x="4983593" y="1211300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 flipV="1">
            <a:off x="1601706" y="1497241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 flipV="1">
            <a:off x="2024439" y="1497241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 flipV="1">
            <a:off x="2447171" y="1497241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V="1">
            <a:off x="2869903" y="1497241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 flipV="1">
            <a:off x="3292648" y="1497241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 flipV="1">
            <a:off x="3715380" y="1497241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 flipV="1">
            <a:off x="4138112" y="1497241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 flipV="1">
            <a:off x="4560845" y="1497241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 flipV="1">
            <a:off x="4983589" y="1497241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 flipV="1">
            <a:off x="1601722" y="1783194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 flipV="1">
            <a:off x="2024454" y="1783194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 flipV="1">
            <a:off x="2447187" y="1783194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 flipV="1">
            <a:off x="2869919" y="1783194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 flipV="1">
            <a:off x="3292664" y="1783194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 flipV="1">
            <a:off x="3715396" y="1783194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 flipV="1">
            <a:off x="4560860" y="1783194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 flipV="1">
            <a:off x="4983605" y="1783194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Rectangle 90"/>
          <p:cNvSpPr/>
          <p:nvPr/>
        </p:nvSpPr>
        <p:spPr>
          <a:xfrm>
            <a:off x="1185314" y="2355088"/>
            <a:ext cx="410083" cy="222681"/>
          </a:xfrm>
          <a:prstGeom prst="rect">
            <a:avLst/>
          </a:prstGeom>
          <a:solidFill>
            <a:srgbClr val="FBB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608048" y="2355088"/>
            <a:ext cx="410083" cy="222681"/>
          </a:xfrm>
          <a:prstGeom prst="rect">
            <a:avLst/>
          </a:prstGeom>
          <a:solidFill>
            <a:srgbClr val="FBB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2030782" y="2355088"/>
            <a:ext cx="410082" cy="222681"/>
          </a:xfrm>
          <a:prstGeom prst="rect">
            <a:avLst/>
          </a:prstGeom>
          <a:solidFill>
            <a:srgbClr val="FBB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2453515" y="2355088"/>
            <a:ext cx="410082" cy="222681"/>
          </a:xfrm>
          <a:prstGeom prst="rect">
            <a:avLst/>
          </a:prstGeom>
          <a:solidFill>
            <a:srgbClr val="FBB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2876259" y="2355088"/>
            <a:ext cx="410082" cy="222681"/>
          </a:xfrm>
          <a:prstGeom prst="rect">
            <a:avLst/>
          </a:prstGeom>
          <a:solidFill>
            <a:srgbClr val="FBB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3298992" y="2355088"/>
            <a:ext cx="410083" cy="222681"/>
          </a:xfrm>
          <a:prstGeom prst="rect">
            <a:avLst/>
          </a:prstGeom>
          <a:solidFill>
            <a:srgbClr val="FBB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3721726" y="2355088"/>
            <a:ext cx="410083" cy="222681"/>
          </a:xfrm>
          <a:prstGeom prst="rect">
            <a:avLst/>
          </a:prstGeom>
          <a:solidFill>
            <a:srgbClr val="FBB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4144460" y="2355088"/>
            <a:ext cx="410083" cy="222681"/>
          </a:xfrm>
          <a:prstGeom prst="rect">
            <a:avLst/>
          </a:prstGeom>
          <a:solidFill>
            <a:srgbClr val="B3C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4567206" y="2355088"/>
            <a:ext cx="410083" cy="222681"/>
          </a:xfrm>
          <a:prstGeom prst="rect">
            <a:avLst/>
          </a:prstGeom>
          <a:solidFill>
            <a:srgbClr val="B3C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4989940" y="2355088"/>
            <a:ext cx="410083" cy="222681"/>
          </a:xfrm>
          <a:prstGeom prst="rect">
            <a:avLst/>
          </a:prstGeom>
          <a:solidFill>
            <a:srgbClr val="B3C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1" name="Connector 100"/>
          <p:cNvCxnSpPr/>
          <p:nvPr/>
        </p:nvCxnSpPr>
        <p:spPr>
          <a:xfrm flipV="1">
            <a:off x="1601734" y="2355087"/>
            <a:ext cx="0" cy="285954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 flipV="1">
            <a:off x="2024467" y="2355087"/>
            <a:ext cx="0" cy="285954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 flipV="1">
            <a:off x="2447199" y="2355087"/>
            <a:ext cx="0" cy="285954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 flipV="1">
            <a:off x="2869931" y="2355087"/>
            <a:ext cx="0" cy="285954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 flipV="1">
            <a:off x="3292676" y="2355087"/>
            <a:ext cx="0" cy="285954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 flipV="1">
            <a:off x="3715408" y="2355087"/>
            <a:ext cx="0" cy="285954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 flipV="1">
            <a:off x="4138140" y="2355087"/>
            <a:ext cx="0" cy="285954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 flipV="1">
            <a:off x="4560873" y="2355087"/>
            <a:ext cx="0" cy="285954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 flipV="1">
            <a:off x="4983617" y="2355087"/>
            <a:ext cx="0" cy="285954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0" name="Rectangle 109"/>
          <p:cNvSpPr/>
          <p:nvPr/>
        </p:nvSpPr>
        <p:spPr>
          <a:xfrm>
            <a:off x="1185326" y="2641041"/>
            <a:ext cx="410083" cy="222681"/>
          </a:xfrm>
          <a:prstGeom prst="rect">
            <a:avLst/>
          </a:prstGeom>
          <a:solidFill>
            <a:srgbClr val="B3C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1608060" y="2641041"/>
            <a:ext cx="410083" cy="222681"/>
          </a:xfrm>
          <a:prstGeom prst="rect">
            <a:avLst/>
          </a:prstGeom>
          <a:solidFill>
            <a:srgbClr val="B3C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2030794" y="2641041"/>
            <a:ext cx="410082" cy="222681"/>
          </a:xfrm>
          <a:prstGeom prst="rect">
            <a:avLst/>
          </a:prstGeom>
          <a:solidFill>
            <a:srgbClr val="B3C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2453527" y="2641041"/>
            <a:ext cx="410082" cy="222681"/>
          </a:xfrm>
          <a:prstGeom prst="rect">
            <a:avLst/>
          </a:prstGeom>
          <a:solidFill>
            <a:srgbClr val="B3C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2876271" y="2641041"/>
            <a:ext cx="410082" cy="222681"/>
          </a:xfrm>
          <a:prstGeom prst="rect">
            <a:avLst/>
          </a:prstGeom>
          <a:solidFill>
            <a:srgbClr val="B3C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3299005" y="2641041"/>
            <a:ext cx="410083" cy="222681"/>
          </a:xfrm>
          <a:prstGeom prst="rect">
            <a:avLst/>
          </a:prstGeom>
          <a:solidFill>
            <a:srgbClr val="B3C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3721739" y="2641041"/>
            <a:ext cx="410083" cy="222681"/>
          </a:xfrm>
          <a:prstGeom prst="rect">
            <a:avLst/>
          </a:prstGeom>
          <a:solidFill>
            <a:srgbClr val="B3C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4144472" y="2641041"/>
            <a:ext cx="410083" cy="222681"/>
          </a:xfrm>
          <a:prstGeom prst="rect">
            <a:avLst/>
          </a:prstGeom>
          <a:solidFill>
            <a:srgbClr val="FBB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4567219" y="2641041"/>
            <a:ext cx="410083" cy="222681"/>
          </a:xfrm>
          <a:prstGeom prst="rect">
            <a:avLst/>
          </a:prstGeom>
          <a:solidFill>
            <a:srgbClr val="FBB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4989953" y="2641041"/>
            <a:ext cx="410083" cy="222681"/>
          </a:xfrm>
          <a:prstGeom prst="rect">
            <a:avLst/>
          </a:prstGeom>
          <a:solidFill>
            <a:srgbClr val="FBB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0" name="Connector 119"/>
          <p:cNvCxnSpPr/>
          <p:nvPr/>
        </p:nvCxnSpPr>
        <p:spPr>
          <a:xfrm flipV="1">
            <a:off x="1601747" y="2641028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Connector 120"/>
          <p:cNvCxnSpPr/>
          <p:nvPr/>
        </p:nvCxnSpPr>
        <p:spPr>
          <a:xfrm flipV="1">
            <a:off x="2024479" y="2641028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Connector 121"/>
          <p:cNvCxnSpPr/>
          <p:nvPr/>
        </p:nvCxnSpPr>
        <p:spPr>
          <a:xfrm flipV="1">
            <a:off x="2447211" y="2641028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Connector 122"/>
          <p:cNvCxnSpPr/>
          <p:nvPr/>
        </p:nvCxnSpPr>
        <p:spPr>
          <a:xfrm flipV="1">
            <a:off x="2869944" y="2641028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Connector 123"/>
          <p:cNvCxnSpPr/>
          <p:nvPr/>
        </p:nvCxnSpPr>
        <p:spPr>
          <a:xfrm flipV="1">
            <a:off x="3292688" y="2641028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 124"/>
          <p:cNvCxnSpPr/>
          <p:nvPr/>
        </p:nvCxnSpPr>
        <p:spPr>
          <a:xfrm flipV="1">
            <a:off x="3715421" y="2641028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Connector 125"/>
          <p:cNvCxnSpPr/>
          <p:nvPr/>
        </p:nvCxnSpPr>
        <p:spPr>
          <a:xfrm flipV="1">
            <a:off x="4138153" y="2641028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Connector 126"/>
          <p:cNvCxnSpPr/>
          <p:nvPr/>
        </p:nvCxnSpPr>
        <p:spPr>
          <a:xfrm flipV="1">
            <a:off x="4560885" y="2641028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Connector 127"/>
          <p:cNvCxnSpPr/>
          <p:nvPr/>
        </p:nvCxnSpPr>
        <p:spPr>
          <a:xfrm flipV="1">
            <a:off x="4983630" y="2641028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9" name="Rectangle 128"/>
          <p:cNvSpPr/>
          <p:nvPr/>
        </p:nvSpPr>
        <p:spPr>
          <a:xfrm>
            <a:off x="1185339" y="862088"/>
            <a:ext cx="422732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1595422" y="862088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2018154" y="862088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2440887" y="862088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2863619" y="862088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3286364" y="862088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3709096" y="862088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4131828" y="862088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Rectangle 136"/>
          <p:cNvSpPr/>
          <p:nvPr/>
        </p:nvSpPr>
        <p:spPr>
          <a:xfrm>
            <a:off x="4554560" y="862088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Rectangle 137"/>
          <p:cNvSpPr/>
          <p:nvPr/>
        </p:nvSpPr>
        <p:spPr>
          <a:xfrm>
            <a:off x="4977305" y="862088"/>
            <a:ext cx="422732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Rectangle 138"/>
          <p:cNvSpPr/>
          <p:nvPr/>
        </p:nvSpPr>
        <p:spPr>
          <a:xfrm>
            <a:off x="1185339" y="1148041"/>
            <a:ext cx="422732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ectangle 139"/>
          <p:cNvSpPr/>
          <p:nvPr/>
        </p:nvSpPr>
        <p:spPr>
          <a:xfrm>
            <a:off x="1595422" y="1148041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2018154" y="1148041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Rectangle 141"/>
          <p:cNvSpPr/>
          <p:nvPr/>
        </p:nvSpPr>
        <p:spPr>
          <a:xfrm>
            <a:off x="2440887" y="1148041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ectangle 142"/>
          <p:cNvSpPr/>
          <p:nvPr/>
        </p:nvSpPr>
        <p:spPr>
          <a:xfrm>
            <a:off x="2863619" y="1148041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Rectangle 143"/>
          <p:cNvSpPr/>
          <p:nvPr/>
        </p:nvSpPr>
        <p:spPr>
          <a:xfrm>
            <a:off x="3286364" y="1148041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3709096" y="1148041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Rectangle 145"/>
          <p:cNvSpPr/>
          <p:nvPr/>
        </p:nvSpPr>
        <p:spPr>
          <a:xfrm>
            <a:off x="4131828" y="1148041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Rectangle 146"/>
          <p:cNvSpPr/>
          <p:nvPr/>
        </p:nvSpPr>
        <p:spPr>
          <a:xfrm>
            <a:off x="4554560" y="1148041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Rectangle 147"/>
          <p:cNvSpPr/>
          <p:nvPr/>
        </p:nvSpPr>
        <p:spPr>
          <a:xfrm>
            <a:off x="4977305" y="1148041"/>
            <a:ext cx="422732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1185339" y="1433982"/>
            <a:ext cx="422732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Rectangle 149"/>
          <p:cNvSpPr/>
          <p:nvPr/>
        </p:nvSpPr>
        <p:spPr>
          <a:xfrm>
            <a:off x="1595422" y="1433982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Rectangle 150"/>
          <p:cNvSpPr/>
          <p:nvPr/>
        </p:nvSpPr>
        <p:spPr>
          <a:xfrm>
            <a:off x="2018154" y="1433982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Rectangle 151"/>
          <p:cNvSpPr/>
          <p:nvPr/>
        </p:nvSpPr>
        <p:spPr>
          <a:xfrm>
            <a:off x="2440887" y="1433982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Rectangle 152"/>
          <p:cNvSpPr/>
          <p:nvPr/>
        </p:nvSpPr>
        <p:spPr>
          <a:xfrm>
            <a:off x="2863619" y="1433982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Rectangle 153"/>
          <p:cNvSpPr/>
          <p:nvPr/>
        </p:nvSpPr>
        <p:spPr>
          <a:xfrm>
            <a:off x="3286364" y="1433982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Rectangle 154"/>
          <p:cNvSpPr/>
          <p:nvPr/>
        </p:nvSpPr>
        <p:spPr>
          <a:xfrm>
            <a:off x="3709096" y="1433982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Rectangle 155"/>
          <p:cNvSpPr/>
          <p:nvPr/>
        </p:nvSpPr>
        <p:spPr>
          <a:xfrm>
            <a:off x="4131828" y="1433982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4554560" y="1433982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Rectangle 157"/>
          <p:cNvSpPr/>
          <p:nvPr/>
        </p:nvSpPr>
        <p:spPr>
          <a:xfrm>
            <a:off x="4977305" y="1433982"/>
            <a:ext cx="422732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Rectangle 158"/>
          <p:cNvSpPr/>
          <p:nvPr/>
        </p:nvSpPr>
        <p:spPr>
          <a:xfrm>
            <a:off x="1185339" y="1719935"/>
            <a:ext cx="422732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Rectangle 159"/>
          <p:cNvSpPr/>
          <p:nvPr/>
        </p:nvSpPr>
        <p:spPr>
          <a:xfrm>
            <a:off x="1595422" y="1719935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Rectangle 160"/>
          <p:cNvSpPr/>
          <p:nvPr/>
        </p:nvSpPr>
        <p:spPr>
          <a:xfrm>
            <a:off x="2018154" y="1719935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Rectangle 161"/>
          <p:cNvSpPr/>
          <p:nvPr/>
        </p:nvSpPr>
        <p:spPr>
          <a:xfrm>
            <a:off x="2440887" y="1719935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Rectangle 162"/>
          <p:cNvSpPr/>
          <p:nvPr/>
        </p:nvSpPr>
        <p:spPr>
          <a:xfrm>
            <a:off x="2863619" y="1719935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Rectangle 163"/>
          <p:cNvSpPr/>
          <p:nvPr/>
        </p:nvSpPr>
        <p:spPr>
          <a:xfrm>
            <a:off x="3286364" y="1719935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3709096" y="1719935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Rectangle 165"/>
          <p:cNvSpPr/>
          <p:nvPr/>
        </p:nvSpPr>
        <p:spPr>
          <a:xfrm>
            <a:off x="4131828" y="1719935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Rectangle 166"/>
          <p:cNvSpPr/>
          <p:nvPr/>
        </p:nvSpPr>
        <p:spPr>
          <a:xfrm>
            <a:off x="4554560" y="1719935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Rectangle 167"/>
          <p:cNvSpPr/>
          <p:nvPr/>
        </p:nvSpPr>
        <p:spPr>
          <a:xfrm>
            <a:off x="4977305" y="1719935"/>
            <a:ext cx="422732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Rectangle 168"/>
          <p:cNvSpPr/>
          <p:nvPr/>
        </p:nvSpPr>
        <p:spPr>
          <a:xfrm>
            <a:off x="1185339" y="2005888"/>
            <a:ext cx="422732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Rectangle 169"/>
          <p:cNvSpPr/>
          <p:nvPr/>
        </p:nvSpPr>
        <p:spPr>
          <a:xfrm>
            <a:off x="1595422" y="2005888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Rectangle 170"/>
          <p:cNvSpPr/>
          <p:nvPr/>
        </p:nvSpPr>
        <p:spPr>
          <a:xfrm>
            <a:off x="2018154" y="2005888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Rectangle 171"/>
          <p:cNvSpPr/>
          <p:nvPr/>
        </p:nvSpPr>
        <p:spPr>
          <a:xfrm>
            <a:off x="2440887" y="2005888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2863619" y="2005888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Rectangle 173"/>
          <p:cNvSpPr/>
          <p:nvPr/>
        </p:nvSpPr>
        <p:spPr>
          <a:xfrm>
            <a:off x="3286364" y="2005888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Rectangle 174"/>
          <p:cNvSpPr/>
          <p:nvPr/>
        </p:nvSpPr>
        <p:spPr>
          <a:xfrm>
            <a:off x="3709096" y="2005888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Rectangle 175"/>
          <p:cNvSpPr/>
          <p:nvPr/>
        </p:nvSpPr>
        <p:spPr>
          <a:xfrm>
            <a:off x="4131828" y="2005888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Rectangle 176"/>
          <p:cNvSpPr/>
          <p:nvPr/>
        </p:nvSpPr>
        <p:spPr>
          <a:xfrm>
            <a:off x="4554560" y="2005888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Rectangle 177"/>
          <p:cNvSpPr/>
          <p:nvPr/>
        </p:nvSpPr>
        <p:spPr>
          <a:xfrm>
            <a:off x="4977305" y="2005888"/>
            <a:ext cx="422732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Rectangle 178"/>
          <p:cNvSpPr/>
          <p:nvPr/>
        </p:nvSpPr>
        <p:spPr>
          <a:xfrm>
            <a:off x="1185339" y="2291829"/>
            <a:ext cx="422732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Rectangle 179"/>
          <p:cNvSpPr/>
          <p:nvPr/>
        </p:nvSpPr>
        <p:spPr>
          <a:xfrm>
            <a:off x="1595422" y="2291829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2018154" y="2291829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Rectangle 181"/>
          <p:cNvSpPr/>
          <p:nvPr/>
        </p:nvSpPr>
        <p:spPr>
          <a:xfrm>
            <a:off x="2440887" y="2291829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Rectangle 182"/>
          <p:cNvSpPr/>
          <p:nvPr/>
        </p:nvSpPr>
        <p:spPr>
          <a:xfrm>
            <a:off x="2863619" y="2291829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Rectangle 183"/>
          <p:cNvSpPr/>
          <p:nvPr/>
        </p:nvSpPr>
        <p:spPr>
          <a:xfrm>
            <a:off x="3286364" y="2291829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Rectangle 184"/>
          <p:cNvSpPr/>
          <p:nvPr/>
        </p:nvSpPr>
        <p:spPr>
          <a:xfrm>
            <a:off x="3709096" y="2291829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Rectangle 185"/>
          <p:cNvSpPr/>
          <p:nvPr/>
        </p:nvSpPr>
        <p:spPr>
          <a:xfrm>
            <a:off x="4131828" y="2291829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Rectangle 186"/>
          <p:cNvSpPr/>
          <p:nvPr/>
        </p:nvSpPr>
        <p:spPr>
          <a:xfrm>
            <a:off x="4554560" y="2291829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Rectangle 187"/>
          <p:cNvSpPr/>
          <p:nvPr/>
        </p:nvSpPr>
        <p:spPr>
          <a:xfrm>
            <a:off x="4977305" y="2291829"/>
            <a:ext cx="422732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Rectangle 188"/>
          <p:cNvSpPr/>
          <p:nvPr/>
        </p:nvSpPr>
        <p:spPr>
          <a:xfrm>
            <a:off x="1185339" y="2577782"/>
            <a:ext cx="422732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Rectangle 189"/>
          <p:cNvSpPr/>
          <p:nvPr/>
        </p:nvSpPr>
        <p:spPr>
          <a:xfrm>
            <a:off x="1595422" y="2577782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Rectangle 190"/>
          <p:cNvSpPr/>
          <p:nvPr/>
        </p:nvSpPr>
        <p:spPr>
          <a:xfrm>
            <a:off x="2018154" y="2577782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Rectangle 191"/>
          <p:cNvSpPr/>
          <p:nvPr/>
        </p:nvSpPr>
        <p:spPr>
          <a:xfrm>
            <a:off x="2440887" y="2577782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Rectangle 192"/>
          <p:cNvSpPr/>
          <p:nvPr/>
        </p:nvSpPr>
        <p:spPr>
          <a:xfrm>
            <a:off x="2863619" y="2577782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Rectangle 193"/>
          <p:cNvSpPr/>
          <p:nvPr/>
        </p:nvSpPr>
        <p:spPr>
          <a:xfrm>
            <a:off x="3286364" y="2577782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Rectangle 194"/>
          <p:cNvSpPr/>
          <p:nvPr/>
        </p:nvSpPr>
        <p:spPr>
          <a:xfrm>
            <a:off x="3709096" y="2577782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Rectangle 195"/>
          <p:cNvSpPr/>
          <p:nvPr/>
        </p:nvSpPr>
        <p:spPr>
          <a:xfrm>
            <a:off x="4131828" y="2577782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Rectangle 196"/>
          <p:cNvSpPr/>
          <p:nvPr/>
        </p:nvSpPr>
        <p:spPr>
          <a:xfrm>
            <a:off x="4554560" y="2577782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Rectangle 197"/>
          <p:cNvSpPr/>
          <p:nvPr/>
        </p:nvSpPr>
        <p:spPr>
          <a:xfrm>
            <a:off x="4977305" y="2577782"/>
            <a:ext cx="422732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Rectangle 198"/>
          <p:cNvSpPr/>
          <p:nvPr/>
        </p:nvSpPr>
        <p:spPr>
          <a:xfrm>
            <a:off x="1185339" y="2863722"/>
            <a:ext cx="422732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Rectangle 199"/>
          <p:cNvSpPr/>
          <p:nvPr/>
        </p:nvSpPr>
        <p:spPr>
          <a:xfrm>
            <a:off x="1595422" y="2863722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Rectangle 200"/>
          <p:cNvSpPr/>
          <p:nvPr/>
        </p:nvSpPr>
        <p:spPr>
          <a:xfrm>
            <a:off x="2018154" y="2863722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Rectangle 201"/>
          <p:cNvSpPr/>
          <p:nvPr/>
        </p:nvSpPr>
        <p:spPr>
          <a:xfrm>
            <a:off x="2440887" y="2863722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Rectangle 202"/>
          <p:cNvSpPr/>
          <p:nvPr/>
        </p:nvSpPr>
        <p:spPr>
          <a:xfrm>
            <a:off x="2863619" y="2863722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Rectangle 203"/>
          <p:cNvSpPr/>
          <p:nvPr/>
        </p:nvSpPr>
        <p:spPr>
          <a:xfrm>
            <a:off x="3286364" y="2863722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Rectangle 204"/>
          <p:cNvSpPr/>
          <p:nvPr/>
        </p:nvSpPr>
        <p:spPr>
          <a:xfrm>
            <a:off x="3709096" y="2863722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Rectangle 205"/>
          <p:cNvSpPr/>
          <p:nvPr/>
        </p:nvSpPr>
        <p:spPr>
          <a:xfrm>
            <a:off x="4131828" y="2863722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Rectangle 206"/>
          <p:cNvSpPr/>
          <p:nvPr/>
        </p:nvSpPr>
        <p:spPr>
          <a:xfrm>
            <a:off x="4554560" y="2863722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Rectangle 207"/>
          <p:cNvSpPr/>
          <p:nvPr/>
        </p:nvSpPr>
        <p:spPr>
          <a:xfrm>
            <a:off x="4977305" y="2863722"/>
            <a:ext cx="422732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Rectangle 208"/>
          <p:cNvSpPr/>
          <p:nvPr/>
        </p:nvSpPr>
        <p:spPr>
          <a:xfrm>
            <a:off x="36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Rectangle 209"/>
          <p:cNvSpPr/>
          <p:nvPr/>
        </p:nvSpPr>
        <p:spPr>
          <a:xfrm>
            <a:off x="2880040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1" name="Picture 21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212" name="Picture 21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213" name="TextBox 212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Crossover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108000" y="359888"/>
            <a:ext cx="567739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1">
                <a:solidFill>
                  <a:srgbClr val="003373"/>
                </a:solidFill>
                <a:latin typeface="Josefin Sans"/>
              </a:rPr>
              <a:t>Sexual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crossover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359993" y="625151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One-point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crossover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640409" y="960505"/>
            <a:ext cx="514498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Parent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613803" y="1246458"/>
            <a:ext cx="517159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Parent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792948" y="1532399"/>
            <a:ext cx="499244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Mask</a:t>
            </a:r>
          </a:p>
        </p:txBody>
      </p:sp>
      <p:sp>
        <p:nvSpPr>
          <p:cNvPr id="219" name="TextBox 218"/>
          <p:cNvSpPr txBox="1"/>
          <p:nvPr/>
        </p:nvSpPr>
        <p:spPr>
          <a:xfrm>
            <a:off x="1347454" y="1532399"/>
            <a:ext cx="443794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1770184" y="1532399"/>
            <a:ext cx="401521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2192928" y="1532399"/>
            <a:ext cx="359246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2615658" y="1532399"/>
            <a:ext cx="316973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23" name="TextBox 222"/>
          <p:cNvSpPr txBox="1"/>
          <p:nvPr/>
        </p:nvSpPr>
        <p:spPr>
          <a:xfrm>
            <a:off x="3038389" y="1532399"/>
            <a:ext cx="274700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24" name="TextBox 223"/>
          <p:cNvSpPr txBox="1"/>
          <p:nvPr/>
        </p:nvSpPr>
        <p:spPr>
          <a:xfrm>
            <a:off x="3461136" y="1532399"/>
            <a:ext cx="232426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3883869" y="1532399"/>
            <a:ext cx="190152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4327656" y="1532399"/>
            <a:ext cx="14577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4750390" y="1532399"/>
            <a:ext cx="103500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5173136" y="1532399"/>
            <a:ext cx="61225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4097170" y="1818878"/>
            <a:ext cx="168822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Cambria Math"/>
              </a:rPr>
              <a:t>↑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3250320" y="2104819"/>
            <a:ext cx="253507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⇓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462531" y="2390245"/>
            <a:ext cx="532286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Offspring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435937" y="2676199"/>
            <a:ext cx="534945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Offspring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4898807" y="3150917"/>
            <a:ext cx="88658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5638569" y="3150693"/>
            <a:ext cx="14682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16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1185303" y="925360"/>
            <a:ext cx="410083" cy="222681"/>
          </a:xfrm>
          <a:prstGeom prst="rect">
            <a:avLst/>
          </a:prstGeom>
          <a:solidFill>
            <a:srgbClr val="FBB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608035" y="925360"/>
            <a:ext cx="410083" cy="222681"/>
          </a:xfrm>
          <a:prstGeom prst="rect">
            <a:avLst/>
          </a:prstGeom>
          <a:solidFill>
            <a:srgbClr val="FBB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030767" y="925360"/>
            <a:ext cx="410082" cy="222681"/>
          </a:xfrm>
          <a:prstGeom prst="rect">
            <a:avLst/>
          </a:prstGeom>
          <a:solidFill>
            <a:srgbClr val="FBB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453499" y="925360"/>
            <a:ext cx="410083" cy="222681"/>
          </a:xfrm>
          <a:prstGeom prst="rect">
            <a:avLst/>
          </a:prstGeom>
          <a:solidFill>
            <a:srgbClr val="FBB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876244" y="925360"/>
            <a:ext cx="410082" cy="222681"/>
          </a:xfrm>
          <a:prstGeom prst="rect">
            <a:avLst/>
          </a:prstGeom>
          <a:solidFill>
            <a:srgbClr val="FBB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298976" y="925360"/>
            <a:ext cx="410083" cy="222681"/>
          </a:xfrm>
          <a:prstGeom prst="rect">
            <a:avLst/>
          </a:prstGeom>
          <a:solidFill>
            <a:srgbClr val="FBB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721709" y="925360"/>
            <a:ext cx="410083" cy="222681"/>
          </a:xfrm>
          <a:prstGeom prst="rect">
            <a:avLst/>
          </a:prstGeom>
          <a:solidFill>
            <a:srgbClr val="FBB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144441" y="925360"/>
            <a:ext cx="410083" cy="222681"/>
          </a:xfrm>
          <a:prstGeom prst="rect">
            <a:avLst/>
          </a:prstGeom>
          <a:solidFill>
            <a:srgbClr val="FBB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567186" y="925360"/>
            <a:ext cx="410083" cy="222681"/>
          </a:xfrm>
          <a:prstGeom prst="rect">
            <a:avLst/>
          </a:prstGeom>
          <a:solidFill>
            <a:srgbClr val="FBB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989918" y="925360"/>
            <a:ext cx="410083" cy="222681"/>
          </a:xfrm>
          <a:prstGeom prst="rect">
            <a:avLst/>
          </a:prstGeom>
          <a:solidFill>
            <a:srgbClr val="FBB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 flipV="1">
            <a:off x="1601710" y="925347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2024443" y="925347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2447175" y="925347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2869907" y="925347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V="1">
            <a:off x="3292652" y="925347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3715384" y="925347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4138116" y="925347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4560849" y="925347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V="1">
            <a:off x="4983593" y="925347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Rectangle 54"/>
          <p:cNvSpPr/>
          <p:nvPr/>
        </p:nvSpPr>
        <p:spPr>
          <a:xfrm>
            <a:off x="1185303" y="1211300"/>
            <a:ext cx="410083" cy="222681"/>
          </a:xfrm>
          <a:prstGeom prst="rect">
            <a:avLst/>
          </a:prstGeom>
          <a:solidFill>
            <a:srgbClr val="B3C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1608035" y="1211300"/>
            <a:ext cx="410083" cy="222681"/>
          </a:xfrm>
          <a:prstGeom prst="rect">
            <a:avLst/>
          </a:prstGeom>
          <a:solidFill>
            <a:srgbClr val="B3C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2030767" y="1211300"/>
            <a:ext cx="410082" cy="222681"/>
          </a:xfrm>
          <a:prstGeom prst="rect">
            <a:avLst/>
          </a:prstGeom>
          <a:solidFill>
            <a:srgbClr val="B3C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2453499" y="1211300"/>
            <a:ext cx="410083" cy="222681"/>
          </a:xfrm>
          <a:prstGeom prst="rect">
            <a:avLst/>
          </a:prstGeom>
          <a:solidFill>
            <a:srgbClr val="B3C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2876244" y="1211300"/>
            <a:ext cx="410082" cy="222681"/>
          </a:xfrm>
          <a:prstGeom prst="rect">
            <a:avLst/>
          </a:prstGeom>
          <a:solidFill>
            <a:srgbClr val="B3C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3298976" y="1211300"/>
            <a:ext cx="410083" cy="222681"/>
          </a:xfrm>
          <a:prstGeom prst="rect">
            <a:avLst/>
          </a:prstGeom>
          <a:solidFill>
            <a:srgbClr val="B3C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3721709" y="1211300"/>
            <a:ext cx="410083" cy="222681"/>
          </a:xfrm>
          <a:prstGeom prst="rect">
            <a:avLst/>
          </a:prstGeom>
          <a:solidFill>
            <a:srgbClr val="B3C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4144441" y="1211300"/>
            <a:ext cx="410083" cy="222681"/>
          </a:xfrm>
          <a:prstGeom prst="rect">
            <a:avLst/>
          </a:prstGeom>
          <a:solidFill>
            <a:srgbClr val="B3C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4567186" y="1211300"/>
            <a:ext cx="410083" cy="222681"/>
          </a:xfrm>
          <a:prstGeom prst="rect">
            <a:avLst/>
          </a:prstGeom>
          <a:solidFill>
            <a:srgbClr val="B3C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4989918" y="1211300"/>
            <a:ext cx="410083" cy="222681"/>
          </a:xfrm>
          <a:prstGeom prst="rect">
            <a:avLst/>
          </a:prstGeom>
          <a:solidFill>
            <a:srgbClr val="B3C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5" name="Connector 64"/>
          <p:cNvCxnSpPr/>
          <p:nvPr/>
        </p:nvCxnSpPr>
        <p:spPr>
          <a:xfrm flipV="1">
            <a:off x="1601710" y="1211300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2024443" y="1211300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V="1">
            <a:off x="2447175" y="1211300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V="1">
            <a:off x="2869907" y="1211300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V="1">
            <a:off x="3292652" y="1211300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 flipV="1">
            <a:off x="3715384" y="1211300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V="1">
            <a:off x="4138116" y="1211300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V="1">
            <a:off x="4560849" y="1211300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 flipV="1">
            <a:off x="4983593" y="1211300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 flipV="1">
            <a:off x="1601706" y="1497240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 flipV="1">
            <a:off x="2024439" y="1497240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 flipV="1">
            <a:off x="2447171" y="1497240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V="1">
            <a:off x="2869903" y="1497240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 flipV="1">
            <a:off x="3292648" y="1497240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 flipV="1">
            <a:off x="3715380" y="1497240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 flipV="1">
            <a:off x="4138112" y="1497240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 flipV="1">
            <a:off x="4560845" y="1497240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 flipV="1">
            <a:off x="4983589" y="1497240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 flipV="1">
            <a:off x="1601722" y="1783194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 flipV="1">
            <a:off x="2447187" y="1783194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 flipV="1">
            <a:off x="2869919" y="1783194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 flipV="1">
            <a:off x="3292664" y="1783194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 flipV="1">
            <a:off x="4138128" y="1783194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 flipV="1">
            <a:off x="4560860" y="1783194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 flipV="1">
            <a:off x="4983605" y="1783194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 flipV="1">
            <a:off x="1601734" y="2355087"/>
            <a:ext cx="0" cy="285954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 flipV="1">
            <a:off x="2024467" y="2355087"/>
            <a:ext cx="0" cy="285954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 flipV="1">
            <a:off x="2447199" y="2355087"/>
            <a:ext cx="0" cy="285954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 flipV="1">
            <a:off x="2869931" y="2355087"/>
            <a:ext cx="0" cy="285954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 flipV="1">
            <a:off x="3292676" y="2355087"/>
            <a:ext cx="0" cy="285954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 flipV="1">
            <a:off x="3715408" y="2355087"/>
            <a:ext cx="0" cy="285954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 flipV="1">
            <a:off x="4138140" y="2355087"/>
            <a:ext cx="0" cy="285954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 flipV="1">
            <a:off x="4560873" y="2355087"/>
            <a:ext cx="0" cy="285954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 flipV="1">
            <a:off x="4983617" y="2355087"/>
            <a:ext cx="0" cy="285954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 flipV="1">
            <a:off x="1601747" y="2641028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 flipV="1">
            <a:off x="2024479" y="2641028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 flipV="1">
            <a:off x="2447211" y="2641028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 flipV="1">
            <a:off x="2869944" y="2641028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 flipV="1">
            <a:off x="3292688" y="2641028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 flipV="1">
            <a:off x="3715421" y="2641028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 flipV="1">
            <a:off x="4138153" y="2641028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 flipV="1">
            <a:off x="4560885" y="2641028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 flipV="1">
            <a:off x="4983630" y="2641028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Rectangle 107"/>
          <p:cNvSpPr/>
          <p:nvPr/>
        </p:nvSpPr>
        <p:spPr>
          <a:xfrm>
            <a:off x="1185339" y="862088"/>
            <a:ext cx="422732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1595422" y="862088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2018154" y="862088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2440887" y="862088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2863619" y="862088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3286364" y="862088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3709096" y="862088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4131828" y="862088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4554560" y="862088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4977305" y="862088"/>
            <a:ext cx="422732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1185339" y="1148041"/>
            <a:ext cx="422732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1595422" y="1148041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2018154" y="1148041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2440887" y="1148041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2863619" y="1148041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3286364" y="1148041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3709096" y="1148041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4131828" y="1148041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4554560" y="1148041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4977305" y="1148041"/>
            <a:ext cx="422732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1185339" y="1433982"/>
            <a:ext cx="422732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1595422" y="1433982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2018154" y="1433982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2440887" y="1433982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2863619" y="1433982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3286364" y="1433982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3709096" y="1433982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4131828" y="1433982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4554560" y="1433982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Rectangle 136"/>
          <p:cNvSpPr/>
          <p:nvPr/>
        </p:nvSpPr>
        <p:spPr>
          <a:xfrm>
            <a:off x="4977305" y="1433982"/>
            <a:ext cx="422732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Rectangle 137"/>
          <p:cNvSpPr/>
          <p:nvPr/>
        </p:nvSpPr>
        <p:spPr>
          <a:xfrm>
            <a:off x="1185339" y="1719935"/>
            <a:ext cx="422732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Rectangle 138"/>
          <p:cNvSpPr/>
          <p:nvPr/>
        </p:nvSpPr>
        <p:spPr>
          <a:xfrm>
            <a:off x="1595422" y="1719935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ectangle 139"/>
          <p:cNvSpPr/>
          <p:nvPr/>
        </p:nvSpPr>
        <p:spPr>
          <a:xfrm>
            <a:off x="2018154" y="1719935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2440887" y="1719935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Rectangle 141"/>
          <p:cNvSpPr/>
          <p:nvPr/>
        </p:nvSpPr>
        <p:spPr>
          <a:xfrm>
            <a:off x="2863619" y="1719935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ectangle 142"/>
          <p:cNvSpPr/>
          <p:nvPr/>
        </p:nvSpPr>
        <p:spPr>
          <a:xfrm>
            <a:off x="3286364" y="1719935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Rectangle 143"/>
          <p:cNvSpPr/>
          <p:nvPr/>
        </p:nvSpPr>
        <p:spPr>
          <a:xfrm>
            <a:off x="3709096" y="1719935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4131828" y="1719935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Rectangle 145"/>
          <p:cNvSpPr/>
          <p:nvPr/>
        </p:nvSpPr>
        <p:spPr>
          <a:xfrm>
            <a:off x="4554560" y="1719935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Rectangle 146"/>
          <p:cNvSpPr/>
          <p:nvPr/>
        </p:nvSpPr>
        <p:spPr>
          <a:xfrm>
            <a:off x="4977305" y="1719935"/>
            <a:ext cx="422732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Rectangle 147"/>
          <p:cNvSpPr/>
          <p:nvPr/>
        </p:nvSpPr>
        <p:spPr>
          <a:xfrm>
            <a:off x="1185339" y="2005888"/>
            <a:ext cx="422732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1595422" y="2005888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Rectangle 149"/>
          <p:cNvSpPr/>
          <p:nvPr/>
        </p:nvSpPr>
        <p:spPr>
          <a:xfrm>
            <a:off x="2018154" y="2005888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Rectangle 150"/>
          <p:cNvSpPr/>
          <p:nvPr/>
        </p:nvSpPr>
        <p:spPr>
          <a:xfrm>
            <a:off x="2440887" y="2005888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Rectangle 151"/>
          <p:cNvSpPr/>
          <p:nvPr/>
        </p:nvSpPr>
        <p:spPr>
          <a:xfrm>
            <a:off x="2863619" y="2005888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Rectangle 152"/>
          <p:cNvSpPr/>
          <p:nvPr/>
        </p:nvSpPr>
        <p:spPr>
          <a:xfrm>
            <a:off x="3286364" y="2005888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Rectangle 153"/>
          <p:cNvSpPr/>
          <p:nvPr/>
        </p:nvSpPr>
        <p:spPr>
          <a:xfrm>
            <a:off x="3709096" y="2005888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Rectangle 154"/>
          <p:cNvSpPr/>
          <p:nvPr/>
        </p:nvSpPr>
        <p:spPr>
          <a:xfrm>
            <a:off x="4131828" y="2005888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Rectangle 155"/>
          <p:cNvSpPr/>
          <p:nvPr/>
        </p:nvSpPr>
        <p:spPr>
          <a:xfrm>
            <a:off x="4554560" y="2005888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4977305" y="2005888"/>
            <a:ext cx="422732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Rectangle 157"/>
          <p:cNvSpPr/>
          <p:nvPr/>
        </p:nvSpPr>
        <p:spPr>
          <a:xfrm>
            <a:off x="1185339" y="2291829"/>
            <a:ext cx="422732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Rectangle 158"/>
          <p:cNvSpPr/>
          <p:nvPr/>
        </p:nvSpPr>
        <p:spPr>
          <a:xfrm>
            <a:off x="1595422" y="2291829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Rectangle 159"/>
          <p:cNvSpPr/>
          <p:nvPr/>
        </p:nvSpPr>
        <p:spPr>
          <a:xfrm>
            <a:off x="2018154" y="2291829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Rectangle 160"/>
          <p:cNvSpPr/>
          <p:nvPr/>
        </p:nvSpPr>
        <p:spPr>
          <a:xfrm>
            <a:off x="2440887" y="2291829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Rectangle 161"/>
          <p:cNvSpPr/>
          <p:nvPr/>
        </p:nvSpPr>
        <p:spPr>
          <a:xfrm>
            <a:off x="2863619" y="2291829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Rectangle 162"/>
          <p:cNvSpPr/>
          <p:nvPr/>
        </p:nvSpPr>
        <p:spPr>
          <a:xfrm>
            <a:off x="3286364" y="2291829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Rectangle 163"/>
          <p:cNvSpPr/>
          <p:nvPr/>
        </p:nvSpPr>
        <p:spPr>
          <a:xfrm>
            <a:off x="3709096" y="2291829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4131828" y="2291829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Rectangle 165"/>
          <p:cNvSpPr/>
          <p:nvPr/>
        </p:nvSpPr>
        <p:spPr>
          <a:xfrm>
            <a:off x="4554560" y="2291829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Rectangle 166"/>
          <p:cNvSpPr/>
          <p:nvPr/>
        </p:nvSpPr>
        <p:spPr>
          <a:xfrm>
            <a:off x="4977305" y="2291829"/>
            <a:ext cx="422732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Rectangle 167"/>
          <p:cNvSpPr/>
          <p:nvPr/>
        </p:nvSpPr>
        <p:spPr>
          <a:xfrm>
            <a:off x="1185339" y="2577782"/>
            <a:ext cx="422732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Rectangle 168"/>
          <p:cNvSpPr/>
          <p:nvPr/>
        </p:nvSpPr>
        <p:spPr>
          <a:xfrm>
            <a:off x="1595422" y="2577782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Rectangle 169"/>
          <p:cNvSpPr/>
          <p:nvPr/>
        </p:nvSpPr>
        <p:spPr>
          <a:xfrm>
            <a:off x="2018154" y="2577782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Rectangle 170"/>
          <p:cNvSpPr/>
          <p:nvPr/>
        </p:nvSpPr>
        <p:spPr>
          <a:xfrm>
            <a:off x="2440887" y="2577782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Rectangle 171"/>
          <p:cNvSpPr/>
          <p:nvPr/>
        </p:nvSpPr>
        <p:spPr>
          <a:xfrm>
            <a:off x="2863619" y="2577782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3286364" y="2577782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Rectangle 173"/>
          <p:cNvSpPr/>
          <p:nvPr/>
        </p:nvSpPr>
        <p:spPr>
          <a:xfrm>
            <a:off x="3709096" y="2577782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Rectangle 174"/>
          <p:cNvSpPr/>
          <p:nvPr/>
        </p:nvSpPr>
        <p:spPr>
          <a:xfrm>
            <a:off x="4131828" y="2577782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Rectangle 175"/>
          <p:cNvSpPr/>
          <p:nvPr/>
        </p:nvSpPr>
        <p:spPr>
          <a:xfrm>
            <a:off x="4554560" y="2577782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Rectangle 176"/>
          <p:cNvSpPr/>
          <p:nvPr/>
        </p:nvSpPr>
        <p:spPr>
          <a:xfrm>
            <a:off x="4977305" y="2577782"/>
            <a:ext cx="422732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Rectangle 177"/>
          <p:cNvSpPr/>
          <p:nvPr/>
        </p:nvSpPr>
        <p:spPr>
          <a:xfrm>
            <a:off x="1185339" y="2863722"/>
            <a:ext cx="422732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Rectangle 178"/>
          <p:cNvSpPr/>
          <p:nvPr/>
        </p:nvSpPr>
        <p:spPr>
          <a:xfrm>
            <a:off x="1595422" y="2863722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Rectangle 179"/>
          <p:cNvSpPr/>
          <p:nvPr/>
        </p:nvSpPr>
        <p:spPr>
          <a:xfrm>
            <a:off x="2018154" y="2863722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2440887" y="2863722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Rectangle 181"/>
          <p:cNvSpPr/>
          <p:nvPr/>
        </p:nvSpPr>
        <p:spPr>
          <a:xfrm>
            <a:off x="2863619" y="2863722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Rectangle 182"/>
          <p:cNvSpPr/>
          <p:nvPr/>
        </p:nvSpPr>
        <p:spPr>
          <a:xfrm>
            <a:off x="3286364" y="2863722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Rectangle 183"/>
          <p:cNvSpPr/>
          <p:nvPr/>
        </p:nvSpPr>
        <p:spPr>
          <a:xfrm>
            <a:off x="3709096" y="2863722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Rectangle 184"/>
          <p:cNvSpPr/>
          <p:nvPr/>
        </p:nvSpPr>
        <p:spPr>
          <a:xfrm>
            <a:off x="4131828" y="2863722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Rectangle 185"/>
          <p:cNvSpPr/>
          <p:nvPr/>
        </p:nvSpPr>
        <p:spPr>
          <a:xfrm>
            <a:off x="4554560" y="2863722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Rectangle 186"/>
          <p:cNvSpPr/>
          <p:nvPr/>
        </p:nvSpPr>
        <p:spPr>
          <a:xfrm>
            <a:off x="4977305" y="2863722"/>
            <a:ext cx="422732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Rectangle 187"/>
          <p:cNvSpPr/>
          <p:nvPr/>
        </p:nvSpPr>
        <p:spPr>
          <a:xfrm>
            <a:off x="36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Rectangle 188"/>
          <p:cNvSpPr/>
          <p:nvPr/>
        </p:nvSpPr>
        <p:spPr>
          <a:xfrm>
            <a:off x="2880040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0" name="Picture 18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191" name="Picture 19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192" name="TextBox 191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Crossover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108000" y="359888"/>
            <a:ext cx="567739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1">
                <a:solidFill>
                  <a:srgbClr val="003373"/>
                </a:solidFill>
                <a:latin typeface="Josefin Sans"/>
              </a:rPr>
              <a:t>Sexual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crossover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359993" y="625151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Two-point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crossover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640409" y="960505"/>
            <a:ext cx="514498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Parent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613803" y="1246458"/>
            <a:ext cx="517159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Parent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4898807" y="3150917"/>
            <a:ext cx="88658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5642595" y="3150693"/>
            <a:ext cx="14280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17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1185303" y="925360"/>
            <a:ext cx="410083" cy="222681"/>
          </a:xfrm>
          <a:prstGeom prst="rect">
            <a:avLst/>
          </a:prstGeom>
          <a:solidFill>
            <a:srgbClr val="FBB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608035" y="925360"/>
            <a:ext cx="410083" cy="222681"/>
          </a:xfrm>
          <a:prstGeom prst="rect">
            <a:avLst/>
          </a:prstGeom>
          <a:solidFill>
            <a:srgbClr val="FBB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030767" y="925360"/>
            <a:ext cx="410082" cy="222681"/>
          </a:xfrm>
          <a:prstGeom prst="rect">
            <a:avLst/>
          </a:prstGeom>
          <a:solidFill>
            <a:srgbClr val="FBB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453499" y="925360"/>
            <a:ext cx="410083" cy="222681"/>
          </a:xfrm>
          <a:prstGeom prst="rect">
            <a:avLst/>
          </a:prstGeom>
          <a:solidFill>
            <a:srgbClr val="FBB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876244" y="925360"/>
            <a:ext cx="410082" cy="222681"/>
          </a:xfrm>
          <a:prstGeom prst="rect">
            <a:avLst/>
          </a:prstGeom>
          <a:solidFill>
            <a:srgbClr val="FBB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298976" y="925360"/>
            <a:ext cx="410083" cy="222681"/>
          </a:xfrm>
          <a:prstGeom prst="rect">
            <a:avLst/>
          </a:prstGeom>
          <a:solidFill>
            <a:srgbClr val="FBB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721709" y="925360"/>
            <a:ext cx="410083" cy="222681"/>
          </a:xfrm>
          <a:prstGeom prst="rect">
            <a:avLst/>
          </a:prstGeom>
          <a:solidFill>
            <a:srgbClr val="FBB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144441" y="925360"/>
            <a:ext cx="410083" cy="222681"/>
          </a:xfrm>
          <a:prstGeom prst="rect">
            <a:avLst/>
          </a:prstGeom>
          <a:solidFill>
            <a:srgbClr val="FBB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567186" y="925360"/>
            <a:ext cx="410083" cy="222681"/>
          </a:xfrm>
          <a:prstGeom prst="rect">
            <a:avLst/>
          </a:prstGeom>
          <a:solidFill>
            <a:srgbClr val="FBB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989918" y="925360"/>
            <a:ext cx="410083" cy="222681"/>
          </a:xfrm>
          <a:prstGeom prst="rect">
            <a:avLst/>
          </a:prstGeom>
          <a:solidFill>
            <a:srgbClr val="FBB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 flipV="1">
            <a:off x="1601710" y="925347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2024443" y="925347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2447175" y="925347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2869907" y="925347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V="1">
            <a:off x="3292652" y="925347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3715384" y="925347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4138116" y="925347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4560849" y="925347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V="1">
            <a:off x="4983593" y="925347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Rectangle 54"/>
          <p:cNvSpPr/>
          <p:nvPr/>
        </p:nvSpPr>
        <p:spPr>
          <a:xfrm>
            <a:off x="1185303" y="1211300"/>
            <a:ext cx="410083" cy="222681"/>
          </a:xfrm>
          <a:prstGeom prst="rect">
            <a:avLst/>
          </a:prstGeom>
          <a:solidFill>
            <a:srgbClr val="B3C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1608035" y="1211300"/>
            <a:ext cx="410083" cy="222681"/>
          </a:xfrm>
          <a:prstGeom prst="rect">
            <a:avLst/>
          </a:prstGeom>
          <a:solidFill>
            <a:srgbClr val="B3C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2030767" y="1211300"/>
            <a:ext cx="410082" cy="222681"/>
          </a:xfrm>
          <a:prstGeom prst="rect">
            <a:avLst/>
          </a:prstGeom>
          <a:solidFill>
            <a:srgbClr val="B3C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2453499" y="1211300"/>
            <a:ext cx="410083" cy="222681"/>
          </a:xfrm>
          <a:prstGeom prst="rect">
            <a:avLst/>
          </a:prstGeom>
          <a:solidFill>
            <a:srgbClr val="B3C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2876244" y="1211300"/>
            <a:ext cx="410082" cy="222681"/>
          </a:xfrm>
          <a:prstGeom prst="rect">
            <a:avLst/>
          </a:prstGeom>
          <a:solidFill>
            <a:srgbClr val="B3C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3298976" y="1211300"/>
            <a:ext cx="410083" cy="222681"/>
          </a:xfrm>
          <a:prstGeom prst="rect">
            <a:avLst/>
          </a:prstGeom>
          <a:solidFill>
            <a:srgbClr val="B3C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3721709" y="1211300"/>
            <a:ext cx="410083" cy="222681"/>
          </a:xfrm>
          <a:prstGeom prst="rect">
            <a:avLst/>
          </a:prstGeom>
          <a:solidFill>
            <a:srgbClr val="B3C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4144441" y="1211300"/>
            <a:ext cx="410083" cy="222681"/>
          </a:xfrm>
          <a:prstGeom prst="rect">
            <a:avLst/>
          </a:prstGeom>
          <a:solidFill>
            <a:srgbClr val="B3C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4567186" y="1211300"/>
            <a:ext cx="410083" cy="222681"/>
          </a:xfrm>
          <a:prstGeom prst="rect">
            <a:avLst/>
          </a:prstGeom>
          <a:solidFill>
            <a:srgbClr val="B3C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4989918" y="1211300"/>
            <a:ext cx="410083" cy="222681"/>
          </a:xfrm>
          <a:prstGeom prst="rect">
            <a:avLst/>
          </a:prstGeom>
          <a:solidFill>
            <a:srgbClr val="B3C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5" name="Connector 64"/>
          <p:cNvCxnSpPr/>
          <p:nvPr/>
        </p:nvCxnSpPr>
        <p:spPr>
          <a:xfrm flipV="1">
            <a:off x="1601710" y="1211300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2024443" y="1211300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V="1">
            <a:off x="2447175" y="1211300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V="1">
            <a:off x="2869907" y="1211300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V="1">
            <a:off x="3292652" y="1211300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 flipV="1">
            <a:off x="3715384" y="1211300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V="1">
            <a:off x="4138116" y="1211300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V="1">
            <a:off x="4560849" y="1211300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 flipV="1">
            <a:off x="4983593" y="1211300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 flipV="1">
            <a:off x="1601706" y="1497240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 flipV="1">
            <a:off x="2024439" y="1497240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 flipV="1">
            <a:off x="2447171" y="1497240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V="1">
            <a:off x="2869903" y="1497240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 flipV="1">
            <a:off x="3292648" y="1497240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 flipV="1">
            <a:off x="3715380" y="1497240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 flipV="1">
            <a:off x="4138112" y="1497240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 flipV="1">
            <a:off x="4560845" y="1497240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 flipV="1">
            <a:off x="4983589" y="1497240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 flipV="1">
            <a:off x="1601722" y="1783194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 flipV="1">
            <a:off x="2447186" y="1783194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 flipV="1">
            <a:off x="2869919" y="1783194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 flipV="1">
            <a:off x="3292664" y="1783194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 flipV="1">
            <a:off x="4138128" y="1783194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 flipV="1">
            <a:off x="4560860" y="1783194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 flipV="1">
            <a:off x="4983605" y="1783194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 flipV="1">
            <a:off x="1601734" y="2355087"/>
            <a:ext cx="0" cy="285954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 flipV="1">
            <a:off x="2024467" y="2355087"/>
            <a:ext cx="0" cy="285954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 flipV="1">
            <a:off x="2447199" y="2355087"/>
            <a:ext cx="0" cy="285954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 flipV="1">
            <a:off x="2869931" y="2355087"/>
            <a:ext cx="0" cy="285954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 flipV="1">
            <a:off x="3292676" y="2355087"/>
            <a:ext cx="0" cy="285954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 flipV="1">
            <a:off x="3715408" y="2355087"/>
            <a:ext cx="0" cy="285954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 flipV="1">
            <a:off x="4138140" y="2355087"/>
            <a:ext cx="0" cy="285954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 flipV="1">
            <a:off x="4560873" y="2355087"/>
            <a:ext cx="0" cy="285954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 flipV="1">
            <a:off x="4983617" y="2355087"/>
            <a:ext cx="0" cy="285954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 flipV="1">
            <a:off x="1601747" y="2641028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 flipV="1">
            <a:off x="2024479" y="2641028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 flipV="1">
            <a:off x="2447211" y="2641028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 flipV="1">
            <a:off x="2869944" y="2641028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 flipV="1">
            <a:off x="3292688" y="2641028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 flipV="1">
            <a:off x="3715421" y="2641028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 flipV="1">
            <a:off x="4138153" y="2641028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 flipV="1">
            <a:off x="4560885" y="2641028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 flipV="1">
            <a:off x="4983630" y="2641028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Rectangle 107"/>
          <p:cNvSpPr/>
          <p:nvPr/>
        </p:nvSpPr>
        <p:spPr>
          <a:xfrm>
            <a:off x="1185339" y="862088"/>
            <a:ext cx="422732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1595422" y="862088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2018154" y="862088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2440887" y="862088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2863619" y="862088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3286364" y="862088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3709096" y="862088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4131828" y="862088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4554560" y="862088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4977305" y="862088"/>
            <a:ext cx="422732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1185339" y="1148041"/>
            <a:ext cx="422732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1595422" y="1148041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2018154" y="1148041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2440887" y="1148041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2863619" y="1148041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3286364" y="1148041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3709096" y="1148041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4131828" y="1148041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4554560" y="1148041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4977305" y="1148041"/>
            <a:ext cx="422732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1185339" y="1433982"/>
            <a:ext cx="422732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1595422" y="1433982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2018154" y="1433982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2440887" y="1433982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2863619" y="1433982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3286364" y="1433982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3709096" y="1433982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4131828" y="1433982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4554560" y="1433982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Rectangle 136"/>
          <p:cNvSpPr/>
          <p:nvPr/>
        </p:nvSpPr>
        <p:spPr>
          <a:xfrm>
            <a:off x="4977305" y="1433982"/>
            <a:ext cx="422732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Rectangle 137"/>
          <p:cNvSpPr/>
          <p:nvPr/>
        </p:nvSpPr>
        <p:spPr>
          <a:xfrm>
            <a:off x="1185339" y="1719935"/>
            <a:ext cx="422732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Rectangle 138"/>
          <p:cNvSpPr/>
          <p:nvPr/>
        </p:nvSpPr>
        <p:spPr>
          <a:xfrm>
            <a:off x="1595422" y="1719935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ectangle 139"/>
          <p:cNvSpPr/>
          <p:nvPr/>
        </p:nvSpPr>
        <p:spPr>
          <a:xfrm>
            <a:off x="2018154" y="1719935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2440887" y="1719935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Rectangle 141"/>
          <p:cNvSpPr/>
          <p:nvPr/>
        </p:nvSpPr>
        <p:spPr>
          <a:xfrm>
            <a:off x="2863619" y="1719935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ectangle 142"/>
          <p:cNvSpPr/>
          <p:nvPr/>
        </p:nvSpPr>
        <p:spPr>
          <a:xfrm>
            <a:off x="3286364" y="1719935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Rectangle 143"/>
          <p:cNvSpPr/>
          <p:nvPr/>
        </p:nvSpPr>
        <p:spPr>
          <a:xfrm>
            <a:off x="3709096" y="1719935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4131828" y="1719935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Rectangle 145"/>
          <p:cNvSpPr/>
          <p:nvPr/>
        </p:nvSpPr>
        <p:spPr>
          <a:xfrm>
            <a:off x="4554560" y="1719935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Rectangle 146"/>
          <p:cNvSpPr/>
          <p:nvPr/>
        </p:nvSpPr>
        <p:spPr>
          <a:xfrm>
            <a:off x="4977305" y="1719935"/>
            <a:ext cx="422732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Rectangle 147"/>
          <p:cNvSpPr/>
          <p:nvPr/>
        </p:nvSpPr>
        <p:spPr>
          <a:xfrm>
            <a:off x="1185339" y="2005888"/>
            <a:ext cx="422732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1595422" y="2005888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Rectangle 149"/>
          <p:cNvSpPr/>
          <p:nvPr/>
        </p:nvSpPr>
        <p:spPr>
          <a:xfrm>
            <a:off x="2018154" y="2005888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Rectangle 150"/>
          <p:cNvSpPr/>
          <p:nvPr/>
        </p:nvSpPr>
        <p:spPr>
          <a:xfrm>
            <a:off x="2440887" y="2005888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Rectangle 151"/>
          <p:cNvSpPr/>
          <p:nvPr/>
        </p:nvSpPr>
        <p:spPr>
          <a:xfrm>
            <a:off x="2863619" y="2005888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Rectangle 152"/>
          <p:cNvSpPr/>
          <p:nvPr/>
        </p:nvSpPr>
        <p:spPr>
          <a:xfrm>
            <a:off x="3286364" y="2005888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Rectangle 153"/>
          <p:cNvSpPr/>
          <p:nvPr/>
        </p:nvSpPr>
        <p:spPr>
          <a:xfrm>
            <a:off x="3709096" y="2005888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Rectangle 154"/>
          <p:cNvSpPr/>
          <p:nvPr/>
        </p:nvSpPr>
        <p:spPr>
          <a:xfrm>
            <a:off x="4131828" y="2005888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Rectangle 155"/>
          <p:cNvSpPr/>
          <p:nvPr/>
        </p:nvSpPr>
        <p:spPr>
          <a:xfrm>
            <a:off x="4554560" y="2005888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4977305" y="2005888"/>
            <a:ext cx="422732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Rectangle 157"/>
          <p:cNvSpPr/>
          <p:nvPr/>
        </p:nvSpPr>
        <p:spPr>
          <a:xfrm>
            <a:off x="1185339" y="2291829"/>
            <a:ext cx="422732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Rectangle 158"/>
          <p:cNvSpPr/>
          <p:nvPr/>
        </p:nvSpPr>
        <p:spPr>
          <a:xfrm>
            <a:off x="1595422" y="2291829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Rectangle 159"/>
          <p:cNvSpPr/>
          <p:nvPr/>
        </p:nvSpPr>
        <p:spPr>
          <a:xfrm>
            <a:off x="2018154" y="2291829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Rectangle 160"/>
          <p:cNvSpPr/>
          <p:nvPr/>
        </p:nvSpPr>
        <p:spPr>
          <a:xfrm>
            <a:off x="2440887" y="2291829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Rectangle 161"/>
          <p:cNvSpPr/>
          <p:nvPr/>
        </p:nvSpPr>
        <p:spPr>
          <a:xfrm>
            <a:off x="2863619" y="2291829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Rectangle 162"/>
          <p:cNvSpPr/>
          <p:nvPr/>
        </p:nvSpPr>
        <p:spPr>
          <a:xfrm>
            <a:off x="3286364" y="2291829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Rectangle 163"/>
          <p:cNvSpPr/>
          <p:nvPr/>
        </p:nvSpPr>
        <p:spPr>
          <a:xfrm>
            <a:off x="3709096" y="2291829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4131828" y="2291829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Rectangle 165"/>
          <p:cNvSpPr/>
          <p:nvPr/>
        </p:nvSpPr>
        <p:spPr>
          <a:xfrm>
            <a:off x="4554560" y="2291829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Rectangle 166"/>
          <p:cNvSpPr/>
          <p:nvPr/>
        </p:nvSpPr>
        <p:spPr>
          <a:xfrm>
            <a:off x="4977305" y="2291829"/>
            <a:ext cx="422732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Rectangle 167"/>
          <p:cNvSpPr/>
          <p:nvPr/>
        </p:nvSpPr>
        <p:spPr>
          <a:xfrm>
            <a:off x="1185339" y="2577782"/>
            <a:ext cx="422732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Rectangle 168"/>
          <p:cNvSpPr/>
          <p:nvPr/>
        </p:nvSpPr>
        <p:spPr>
          <a:xfrm>
            <a:off x="1595422" y="2577782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Rectangle 169"/>
          <p:cNvSpPr/>
          <p:nvPr/>
        </p:nvSpPr>
        <p:spPr>
          <a:xfrm>
            <a:off x="2018154" y="2577782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Rectangle 170"/>
          <p:cNvSpPr/>
          <p:nvPr/>
        </p:nvSpPr>
        <p:spPr>
          <a:xfrm>
            <a:off x="2440887" y="2577782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Rectangle 171"/>
          <p:cNvSpPr/>
          <p:nvPr/>
        </p:nvSpPr>
        <p:spPr>
          <a:xfrm>
            <a:off x="2863619" y="2577782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3286364" y="2577782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Rectangle 173"/>
          <p:cNvSpPr/>
          <p:nvPr/>
        </p:nvSpPr>
        <p:spPr>
          <a:xfrm>
            <a:off x="3709096" y="2577782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Rectangle 174"/>
          <p:cNvSpPr/>
          <p:nvPr/>
        </p:nvSpPr>
        <p:spPr>
          <a:xfrm>
            <a:off x="4131828" y="2577782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Rectangle 175"/>
          <p:cNvSpPr/>
          <p:nvPr/>
        </p:nvSpPr>
        <p:spPr>
          <a:xfrm>
            <a:off x="4554560" y="2577782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Rectangle 176"/>
          <p:cNvSpPr/>
          <p:nvPr/>
        </p:nvSpPr>
        <p:spPr>
          <a:xfrm>
            <a:off x="4977305" y="2577782"/>
            <a:ext cx="422732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Rectangle 177"/>
          <p:cNvSpPr/>
          <p:nvPr/>
        </p:nvSpPr>
        <p:spPr>
          <a:xfrm>
            <a:off x="1185339" y="2863722"/>
            <a:ext cx="422732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Rectangle 178"/>
          <p:cNvSpPr/>
          <p:nvPr/>
        </p:nvSpPr>
        <p:spPr>
          <a:xfrm>
            <a:off x="1595422" y="2863722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Rectangle 179"/>
          <p:cNvSpPr/>
          <p:nvPr/>
        </p:nvSpPr>
        <p:spPr>
          <a:xfrm>
            <a:off x="2018154" y="2863722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2440887" y="2863722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Rectangle 181"/>
          <p:cNvSpPr/>
          <p:nvPr/>
        </p:nvSpPr>
        <p:spPr>
          <a:xfrm>
            <a:off x="2863619" y="2863722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Rectangle 182"/>
          <p:cNvSpPr/>
          <p:nvPr/>
        </p:nvSpPr>
        <p:spPr>
          <a:xfrm>
            <a:off x="3286364" y="2863722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Rectangle 183"/>
          <p:cNvSpPr/>
          <p:nvPr/>
        </p:nvSpPr>
        <p:spPr>
          <a:xfrm>
            <a:off x="3709096" y="2863722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Rectangle 184"/>
          <p:cNvSpPr/>
          <p:nvPr/>
        </p:nvSpPr>
        <p:spPr>
          <a:xfrm>
            <a:off x="4131828" y="2863722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Rectangle 185"/>
          <p:cNvSpPr/>
          <p:nvPr/>
        </p:nvSpPr>
        <p:spPr>
          <a:xfrm>
            <a:off x="4554560" y="2863722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Rectangle 186"/>
          <p:cNvSpPr/>
          <p:nvPr/>
        </p:nvSpPr>
        <p:spPr>
          <a:xfrm>
            <a:off x="4977305" y="2863722"/>
            <a:ext cx="422732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Rectangle 187"/>
          <p:cNvSpPr/>
          <p:nvPr/>
        </p:nvSpPr>
        <p:spPr>
          <a:xfrm>
            <a:off x="36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Rectangle 188"/>
          <p:cNvSpPr/>
          <p:nvPr/>
        </p:nvSpPr>
        <p:spPr>
          <a:xfrm>
            <a:off x="2880040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0" name="Picture 18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191" name="Picture 19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192" name="TextBox 191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Crossover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108000" y="359888"/>
            <a:ext cx="567739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1">
                <a:solidFill>
                  <a:srgbClr val="003373"/>
                </a:solidFill>
                <a:latin typeface="Josefin Sans"/>
              </a:rPr>
              <a:t>Sexual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crossover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359993" y="625151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Two-point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crossover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640409" y="960505"/>
            <a:ext cx="514498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Parent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613803" y="1246458"/>
            <a:ext cx="517159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Parent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792948" y="1532399"/>
            <a:ext cx="499244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Mask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1347454" y="1532399"/>
            <a:ext cx="443794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1770184" y="1532399"/>
            <a:ext cx="401521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2213987" y="1532399"/>
            <a:ext cx="357140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2636721" y="1532399"/>
            <a:ext cx="314867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3059455" y="1532399"/>
            <a:ext cx="272594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3482201" y="1532399"/>
            <a:ext cx="230319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3883876" y="1532399"/>
            <a:ext cx="190151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4306606" y="1532399"/>
            <a:ext cx="147878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4729337" y="1532399"/>
            <a:ext cx="105605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5152068" y="1532399"/>
            <a:ext cx="63332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1983497" y="1818878"/>
            <a:ext cx="380189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Cambria Math"/>
              </a:rPr>
              <a:t>↑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3674438" y="1818878"/>
            <a:ext cx="211095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Cambria Math"/>
              </a:rPr>
              <a:t>↑</a:t>
            </a:r>
          </a:p>
        </p:txBody>
      </p:sp>
      <p:sp>
        <p:nvSpPr>
          <p:cNvPr id="210" name="TextBox 209"/>
          <p:cNvSpPr txBox="1"/>
          <p:nvPr/>
        </p:nvSpPr>
        <p:spPr>
          <a:xfrm>
            <a:off x="3250320" y="2104819"/>
            <a:ext cx="253507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⇓</a:t>
            </a:r>
          </a:p>
        </p:txBody>
      </p:sp>
      <p:sp>
        <p:nvSpPr>
          <p:cNvPr id="211" name="TextBox 210"/>
          <p:cNvSpPr txBox="1"/>
          <p:nvPr/>
        </p:nvSpPr>
        <p:spPr>
          <a:xfrm>
            <a:off x="4898807" y="3150917"/>
            <a:ext cx="88658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5642595" y="3150693"/>
            <a:ext cx="14280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17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1185303" y="925360"/>
            <a:ext cx="410083" cy="222681"/>
          </a:xfrm>
          <a:prstGeom prst="rect">
            <a:avLst/>
          </a:prstGeom>
          <a:solidFill>
            <a:srgbClr val="FBB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608035" y="925360"/>
            <a:ext cx="410083" cy="222681"/>
          </a:xfrm>
          <a:prstGeom prst="rect">
            <a:avLst/>
          </a:prstGeom>
          <a:solidFill>
            <a:srgbClr val="FBB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030767" y="925360"/>
            <a:ext cx="410082" cy="222681"/>
          </a:xfrm>
          <a:prstGeom prst="rect">
            <a:avLst/>
          </a:prstGeom>
          <a:solidFill>
            <a:srgbClr val="FBB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453499" y="925360"/>
            <a:ext cx="410083" cy="222681"/>
          </a:xfrm>
          <a:prstGeom prst="rect">
            <a:avLst/>
          </a:prstGeom>
          <a:solidFill>
            <a:srgbClr val="FBB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876244" y="925360"/>
            <a:ext cx="410082" cy="222681"/>
          </a:xfrm>
          <a:prstGeom prst="rect">
            <a:avLst/>
          </a:prstGeom>
          <a:solidFill>
            <a:srgbClr val="FBB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298976" y="925360"/>
            <a:ext cx="410083" cy="222681"/>
          </a:xfrm>
          <a:prstGeom prst="rect">
            <a:avLst/>
          </a:prstGeom>
          <a:solidFill>
            <a:srgbClr val="FBB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721709" y="925360"/>
            <a:ext cx="410083" cy="222681"/>
          </a:xfrm>
          <a:prstGeom prst="rect">
            <a:avLst/>
          </a:prstGeom>
          <a:solidFill>
            <a:srgbClr val="FBB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144441" y="925360"/>
            <a:ext cx="410083" cy="222681"/>
          </a:xfrm>
          <a:prstGeom prst="rect">
            <a:avLst/>
          </a:prstGeom>
          <a:solidFill>
            <a:srgbClr val="FBB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567186" y="925360"/>
            <a:ext cx="410083" cy="222681"/>
          </a:xfrm>
          <a:prstGeom prst="rect">
            <a:avLst/>
          </a:prstGeom>
          <a:solidFill>
            <a:srgbClr val="FBB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989918" y="925360"/>
            <a:ext cx="410083" cy="222681"/>
          </a:xfrm>
          <a:prstGeom prst="rect">
            <a:avLst/>
          </a:prstGeom>
          <a:solidFill>
            <a:srgbClr val="FBB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 flipV="1">
            <a:off x="1601710" y="925347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2024443" y="925347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2447175" y="925347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2869907" y="925347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V="1">
            <a:off x="3292652" y="925347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3715384" y="925347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4138116" y="925347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4560849" y="925347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V="1">
            <a:off x="4983593" y="925347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Rectangle 54"/>
          <p:cNvSpPr/>
          <p:nvPr/>
        </p:nvSpPr>
        <p:spPr>
          <a:xfrm>
            <a:off x="1185303" y="1211300"/>
            <a:ext cx="410083" cy="222681"/>
          </a:xfrm>
          <a:prstGeom prst="rect">
            <a:avLst/>
          </a:prstGeom>
          <a:solidFill>
            <a:srgbClr val="B3C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1608035" y="1211300"/>
            <a:ext cx="410083" cy="222681"/>
          </a:xfrm>
          <a:prstGeom prst="rect">
            <a:avLst/>
          </a:prstGeom>
          <a:solidFill>
            <a:srgbClr val="B3C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2030767" y="1211300"/>
            <a:ext cx="410082" cy="222681"/>
          </a:xfrm>
          <a:prstGeom prst="rect">
            <a:avLst/>
          </a:prstGeom>
          <a:solidFill>
            <a:srgbClr val="B3C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2453499" y="1211300"/>
            <a:ext cx="410083" cy="222681"/>
          </a:xfrm>
          <a:prstGeom prst="rect">
            <a:avLst/>
          </a:prstGeom>
          <a:solidFill>
            <a:srgbClr val="B3C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2876244" y="1211300"/>
            <a:ext cx="410082" cy="222681"/>
          </a:xfrm>
          <a:prstGeom prst="rect">
            <a:avLst/>
          </a:prstGeom>
          <a:solidFill>
            <a:srgbClr val="B3C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3298976" y="1211300"/>
            <a:ext cx="410083" cy="222681"/>
          </a:xfrm>
          <a:prstGeom prst="rect">
            <a:avLst/>
          </a:prstGeom>
          <a:solidFill>
            <a:srgbClr val="B3C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3721709" y="1211300"/>
            <a:ext cx="410083" cy="222681"/>
          </a:xfrm>
          <a:prstGeom prst="rect">
            <a:avLst/>
          </a:prstGeom>
          <a:solidFill>
            <a:srgbClr val="B3C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4144441" y="1211300"/>
            <a:ext cx="410083" cy="222681"/>
          </a:xfrm>
          <a:prstGeom prst="rect">
            <a:avLst/>
          </a:prstGeom>
          <a:solidFill>
            <a:srgbClr val="B3C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4567186" y="1211300"/>
            <a:ext cx="410083" cy="222681"/>
          </a:xfrm>
          <a:prstGeom prst="rect">
            <a:avLst/>
          </a:prstGeom>
          <a:solidFill>
            <a:srgbClr val="B3C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4989918" y="1211300"/>
            <a:ext cx="410083" cy="222681"/>
          </a:xfrm>
          <a:prstGeom prst="rect">
            <a:avLst/>
          </a:prstGeom>
          <a:solidFill>
            <a:srgbClr val="B3C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5" name="Connector 64"/>
          <p:cNvCxnSpPr/>
          <p:nvPr/>
        </p:nvCxnSpPr>
        <p:spPr>
          <a:xfrm flipV="1">
            <a:off x="1601710" y="1211300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2024443" y="1211300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V="1">
            <a:off x="2447175" y="1211300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V="1">
            <a:off x="2869907" y="1211300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V="1">
            <a:off x="3292652" y="1211300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 flipV="1">
            <a:off x="3715384" y="1211300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V="1">
            <a:off x="4138116" y="1211300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V="1">
            <a:off x="4560849" y="1211300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 flipV="1">
            <a:off x="4983593" y="1211300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 flipV="1">
            <a:off x="1601706" y="1497240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 flipV="1">
            <a:off x="2024439" y="1497240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 flipV="1">
            <a:off x="2447171" y="1497240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V="1">
            <a:off x="2869903" y="1497240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 flipV="1">
            <a:off x="3292648" y="1497240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 flipV="1">
            <a:off x="3715380" y="1497240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 flipV="1">
            <a:off x="4138112" y="1497240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 flipV="1">
            <a:off x="4560845" y="1497240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 flipV="1">
            <a:off x="4983589" y="1497240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 flipV="1">
            <a:off x="1601722" y="1783194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 flipV="1">
            <a:off x="2447186" y="1783194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 flipV="1">
            <a:off x="2869919" y="1783194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 flipV="1">
            <a:off x="3292664" y="1783194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 flipV="1">
            <a:off x="4138128" y="1783194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 flipV="1">
            <a:off x="4560860" y="1783194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 flipV="1">
            <a:off x="4983605" y="1783194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Rectangle 89"/>
          <p:cNvSpPr/>
          <p:nvPr/>
        </p:nvSpPr>
        <p:spPr>
          <a:xfrm>
            <a:off x="1185314" y="2355088"/>
            <a:ext cx="410083" cy="222681"/>
          </a:xfrm>
          <a:prstGeom prst="rect">
            <a:avLst/>
          </a:prstGeom>
          <a:solidFill>
            <a:srgbClr val="FBB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1608048" y="2355088"/>
            <a:ext cx="410083" cy="222681"/>
          </a:xfrm>
          <a:prstGeom prst="rect">
            <a:avLst/>
          </a:prstGeom>
          <a:solidFill>
            <a:srgbClr val="FBB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2030782" y="2355088"/>
            <a:ext cx="410082" cy="222681"/>
          </a:xfrm>
          <a:prstGeom prst="rect">
            <a:avLst/>
          </a:prstGeom>
          <a:solidFill>
            <a:srgbClr val="B3C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2453515" y="2355088"/>
            <a:ext cx="410082" cy="222681"/>
          </a:xfrm>
          <a:prstGeom prst="rect">
            <a:avLst/>
          </a:prstGeom>
          <a:solidFill>
            <a:srgbClr val="B3C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2876259" y="2355088"/>
            <a:ext cx="410082" cy="222681"/>
          </a:xfrm>
          <a:prstGeom prst="rect">
            <a:avLst/>
          </a:prstGeom>
          <a:solidFill>
            <a:srgbClr val="B3C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3298992" y="2355088"/>
            <a:ext cx="410083" cy="222681"/>
          </a:xfrm>
          <a:prstGeom prst="rect">
            <a:avLst/>
          </a:prstGeom>
          <a:solidFill>
            <a:srgbClr val="B3C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3721726" y="2355088"/>
            <a:ext cx="410083" cy="222681"/>
          </a:xfrm>
          <a:prstGeom prst="rect">
            <a:avLst/>
          </a:prstGeom>
          <a:solidFill>
            <a:srgbClr val="FBB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4144460" y="2355088"/>
            <a:ext cx="410083" cy="222681"/>
          </a:xfrm>
          <a:prstGeom prst="rect">
            <a:avLst/>
          </a:prstGeom>
          <a:solidFill>
            <a:srgbClr val="FBB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4567206" y="2355088"/>
            <a:ext cx="410083" cy="222681"/>
          </a:xfrm>
          <a:prstGeom prst="rect">
            <a:avLst/>
          </a:prstGeom>
          <a:solidFill>
            <a:srgbClr val="FBB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4989940" y="2355088"/>
            <a:ext cx="410083" cy="222681"/>
          </a:xfrm>
          <a:prstGeom prst="rect">
            <a:avLst/>
          </a:prstGeom>
          <a:solidFill>
            <a:srgbClr val="FBB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0" name="Connector 99"/>
          <p:cNvCxnSpPr/>
          <p:nvPr/>
        </p:nvCxnSpPr>
        <p:spPr>
          <a:xfrm flipV="1">
            <a:off x="1601734" y="2355087"/>
            <a:ext cx="0" cy="285954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 flipV="1">
            <a:off x="2024467" y="2355087"/>
            <a:ext cx="0" cy="285954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 flipV="1">
            <a:off x="2447199" y="2355087"/>
            <a:ext cx="0" cy="285954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 flipV="1">
            <a:off x="2869931" y="2355087"/>
            <a:ext cx="0" cy="285954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 flipV="1">
            <a:off x="3292676" y="2355087"/>
            <a:ext cx="0" cy="285954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 flipV="1">
            <a:off x="3715408" y="2355087"/>
            <a:ext cx="0" cy="285954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 flipV="1">
            <a:off x="4138140" y="2355087"/>
            <a:ext cx="0" cy="285954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 flipV="1">
            <a:off x="4560873" y="2355087"/>
            <a:ext cx="0" cy="285954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 flipV="1">
            <a:off x="4983617" y="2355087"/>
            <a:ext cx="0" cy="285954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 flipV="1">
            <a:off x="1601747" y="2641028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/>
          <p:cNvCxnSpPr/>
          <p:nvPr/>
        </p:nvCxnSpPr>
        <p:spPr>
          <a:xfrm flipV="1">
            <a:off x="2024479" y="2641028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 110"/>
          <p:cNvCxnSpPr/>
          <p:nvPr/>
        </p:nvCxnSpPr>
        <p:spPr>
          <a:xfrm flipV="1">
            <a:off x="2447211" y="2641028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 111"/>
          <p:cNvCxnSpPr/>
          <p:nvPr/>
        </p:nvCxnSpPr>
        <p:spPr>
          <a:xfrm flipV="1">
            <a:off x="2869944" y="2641028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 112"/>
          <p:cNvCxnSpPr/>
          <p:nvPr/>
        </p:nvCxnSpPr>
        <p:spPr>
          <a:xfrm flipV="1">
            <a:off x="3292688" y="2641028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/>
          <p:cNvCxnSpPr/>
          <p:nvPr/>
        </p:nvCxnSpPr>
        <p:spPr>
          <a:xfrm flipV="1">
            <a:off x="3715421" y="2641028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Connector 114"/>
          <p:cNvCxnSpPr/>
          <p:nvPr/>
        </p:nvCxnSpPr>
        <p:spPr>
          <a:xfrm flipV="1">
            <a:off x="4138153" y="2641028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 115"/>
          <p:cNvCxnSpPr/>
          <p:nvPr/>
        </p:nvCxnSpPr>
        <p:spPr>
          <a:xfrm flipV="1">
            <a:off x="4560885" y="2641028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 116"/>
          <p:cNvCxnSpPr/>
          <p:nvPr/>
        </p:nvCxnSpPr>
        <p:spPr>
          <a:xfrm flipV="1">
            <a:off x="4983630" y="2641028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8" name="Rectangle 117"/>
          <p:cNvSpPr/>
          <p:nvPr/>
        </p:nvSpPr>
        <p:spPr>
          <a:xfrm>
            <a:off x="1185339" y="862088"/>
            <a:ext cx="422732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1595422" y="862088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2018154" y="862088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2440887" y="862088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2863619" y="862088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3286364" y="862088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3709096" y="862088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4131828" y="862088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4554560" y="862088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4977305" y="862088"/>
            <a:ext cx="422732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1185339" y="1148041"/>
            <a:ext cx="422732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1595422" y="1148041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2018154" y="1148041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2440887" y="1148041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2863619" y="1148041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3286364" y="1148041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3709096" y="1148041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4131828" y="1148041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4554560" y="1148041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Rectangle 136"/>
          <p:cNvSpPr/>
          <p:nvPr/>
        </p:nvSpPr>
        <p:spPr>
          <a:xfrm>
            <a:off x="4977305" y="1148041"/>
            <a:ext cx="422732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Rectangle 137"/>
          <p:cNvSpPr/>
          <p:nvPr/>
        </p:nvSpPr>
        <p:spPr>
          <a:xfrm>
            <a:off x="1185339" y="1433982"/>
            <a:ext cx="422732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Rectangle 138"/>
          <p:cNvSpPr/>
          <p:nvPr/>
        </p:nvSpPr>
        <p:spPr>
          <a:xfrm>
            <a:off x="1595422" y="1433982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ectangle 139"/>
          <p:cNvSpPr/>
          <p:nvPr/>
        </p:nvSpPr>
        <p:spPr>
          <a:xfrm>
            <a:off x="2018154" y="1433982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2440887" y="1433982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Rectangle 141"/>
          <p:cNvSpPr/>
          <p:nvPr/>
        </p:nvSpPr>
        <p:spPr>
          <a:xfrm>
            <a:off x="2863619" y="1433982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ectangle 142"/>
          <p:cNvSpPr/>
          <p:nvPr/>
        </p:nvSpPr>
        <p:spPr>
          <a:xfrm>
            <a:off x="3286364" y="1433982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Rectangle 143"/>
          <p:cNvSpPr/>
          <p:nvPr/>
        </p:nvSpPr>
        <p:spPr>
          <a:xfrm>
            <a:off x="3709096" y="1433982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4131828" y="1433982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Rectangle 145"/>
          <p:cNvSpPr/>
          <p:nvPr/>
        </p:nvSpPr>
        <p:spPr>
          <a:xfrm>
            <a:off x="4554560" y="1433982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Rectangle 146"/>
          <p:cNvSpPr/>
          <p:nvPr/>
        </p:nvSpPr>
        <p:spPr>
          <a:xfrm>
            <a:off x="4977305" y="1433982"/>
            <a:ext cx="422732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Rectangle 147"/>
          <p:cNvSpPr/>
          <p:nvPr/>
        </p:nvSpPr>
        <p:spPr>
          <a:xfrm>
            <a:off x="1185339" y="1719935"/>
            <a:ext cx="422732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1595422" y="1719935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Rectangle 149"/>
          <p:cNvSpPr/>
          <p:nvPr/>
        </p:nvSpPr>
        <p:spPr>
          <a:xfrm>
            <a:off x="2018154" y="1719935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Rectangle 150"/>
          <p:cNvSpPr/>
          <p:nvPr/>
        </p:nvSpPr>
        <p:spPr>
          <a:xfrm>
            <a:off x="2440887" y="1719935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Rectangle 151"/>
          <p:cNvSpPr/>
          <p:nvPr/>
        </p:nvSpPr>
        <p:spPr>
          <a:xfrm>
            <a:off x="2863619" y="1719935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Rectangle 152"/>
          <p:cNvSpPr/>
          <p:nvPr/>
        </p:nvSpPr>
        <p:spPr>
          <a:xfrm>
            <a:off x="3286364" y="1719935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Rectangle 153"/>
          <p:cNvSpPr/>
          <p:nvPr/>
        </p:nvSpPr>
        <p:spPr>
          <a:xfrm>
            <a:off x="3709096" y="1719935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Rectangle 154"/>
          <p:cNvSpPr/>
          <p:nvPr/>
        </p:nvSpPr>
        <p:spPr>
          <a:xfrm>
            <a:off x="4131828" y="1719935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Rectangle 155"/>
          <p:cNvSpPr/>
          <p:nvPr/>
        </p:nvSpPr>
        <p:spPr>
          <a:xfrm>
            <a:off x="4554560" y="1719935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4977305" y="1719935"/>
            <a:ext cx="422732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Rectangle 157"/>
          <p:cNvSpPr/>
          <p:nvPr/>
        </p:nvSpPr>
        <p:spPr>
          <a:xfrm>
            <a:off x="1185339" y="2005888"/>
            <a:ext cx="422732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Rectangle 158"/>
          <p:cNvSpPr/>
          <p:nvPr/>
        </p:nvSpPr>
        <p:spPr>
          <a:xfrm>
            <a:off x="1595422" y="2005888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Rectangle 159"/>
          <p:cNvSpPr/>
          <p:nvPr/>
        </p:nvSpPr>
        <p:spPr>
          <a:xfrm>
            <a:off x="2018154" y="2005888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Rectangle 160"/>
          <p:cNvSpPr/>
          <p:nvPr/>
        </p:nvSpPr>
        <p:spPr>
          <a:xfrm>
            <a:off x="2440887" y="2005888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Rectangle 161"/>
          <p:cNvSpPr/>
          <p:nvPr/>
        </p:nvSpPr>
        <p:spPr>
          <a:xfrm>
            <a:off x="2863619" y="2005888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Rectangle 162"/>
          <p:cNvSpPr/>
          <p:nvPr/>
        </p:nvSpPr>
        <p:spPr>
          <a:xfrm>
            <a:off x="3286364" y="2005888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Rectangle 163"/>
          <p:cNvSpPr/>
          <p:nvPr/>
        </p:nvSpPr>
        <p:spPr>
          <a:xfrm>
            <a:off x="3709096" y="2005888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4131828" y="2005888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Rectangle 165"/>
          <p:cNvSpPr/>
          <p:nvPr/>
        </p:nvSpPr>
        <p:spPr>
          <a:xfrm>
            <a:off x="4554560" y="2005888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Rectangle 166"/>
          <p:cNvSpPr/>
          <p:nvPr/>
        </p:nvSpPr>
        <p:spPr>
          <a:xfrm>
            <a:off x="4977305" y="2005888"/>
            <a:ext cx="422732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Rectangle 167"/>
          <p:cNvSpPr/>
          <p:nvPr/>
        </p:nvSpPr>
        <p:spPr>
          <a:xfrm>
            <a:off x="1185339" y="2291829"/>
            <a:ext cx="422732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Rectangle 168"/>
          <p:cNvSpPr/>
          <p:nvPr/>
        </p:nvSpPr>
        <p:spPr>
          <a:xfrm>
            <a:off x="1595422" y="2291829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Rectangle 169"/>
          <p:cNvSpPr/>
          <p:nvPr/>
        </p:nvSpPr>
        <p:spPr>
          <a:xfrm>
            <a:off x="2018154" y="2291829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Rectangle 170"/>
          <p:cNvSpPr/>
          <p:nvPr/>
        </p:nvSpPr>
        <p:spPr>
          <a:xfrm>
            <a:off x="2440887" y="2291829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Rectangle 171"/>
          <p:cNvSpPr/>
          <p:nvPr/>
        </p:nvSpPr>
        <p:spPr>
          <a:xfrm>
            <a:off x="2863619" y="2291829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3286364" y="2291829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Rectangle 173"/>
          <p:cNvSpPr/>
          <p:nvPr/>
        </p:nvSpPr>
        <p:spPr>
          <a:xfrm>
            <a:off x="3709096" y="2291829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Rectangle 174"/>
          <p:cNvSpPr/>
          <p:nvPr/>
        </p:nvSpPr>
        <p:spPr>
          <a:xfrm>
            <a:off x="4131828" y="2291829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Rectangle 175"/>
          <p:cNvSpPr/>
          <p:nvPr/>
        </p:nvSpPr>
        <p:spPr>
          <a:xfrm>
            <a:off x="4554560" y="2291829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Rectangle 176"/>
          <p:cNvSpPr/>
          <p:nvPr/>
        </p:nvSpPr>
        <p:spPr>
          <a:xfrm>
            <a:off x="4977305" y="2291829"/>
            <a:ext cx="422732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Rectangle 177"/>
          <p:cNvSpPr/>
          <p:nvPr/>
        </p:nvSpPr>
        <p:spPr>
          <a:xfrm>
            <a:off x="1185339" y="2577782"/>
            <a:ext cx="422732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Rectangle 178"/>
          <p:cNvSpPr/>
          <p:nvPr/>
        </p:nvSpPr>
        <p:spPr>
          <a:xfrm>
            <a:off x="1595422" y="2577782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Rectangle 179"/>
          <p:cNvSpPr/>
          <p:nvPr/>
        </p:nvSpPr>
        <p:spPr>
          <a:xfrm>
            <a:off x="2018154" y="2577782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2440887" y="2577782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Rectangle 181"/>
          <p:cNvSpPr/>
          <p:nvPr/>
        </p:nvSpPr>
        <p:spPr>
          <a:xfrm>
            <a:off x="2863619" y="2577782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Rectangle 182"/>
          <p:cNvSpPr/>
          <p:nvPr/>
        </p:nvSpPr>
        <p:spPr>
          <a:xfrm>
            <a:off x="3286364" y="2577782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Rectangle 183"/>
          <p:cNvSpPr/>
          <p:nvPr/>
        </p:nvSpPr>
        <p:spPr>
          <a:xfrm>
            <a:off x="3709096" y="2577782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Rectangle 184"/>
          <p:cNvSpPr/>
          <p:nvPr/>
        </p:nvSpPr>
        <p:spPr>
          <a:xfrm>
            <a:off x="4131828" y="2577782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Rectangle 185"/>
          <p:cNvSpPr/>
          <p:nvPr/>
        </p:nvSpPr>
        <p:spPr>
          <a:xfrm>
            <a:off x="4554560" y="2577782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Rectangle 186"/>
          <p:cNvSpPr/>
          <p:nvPr/>
        </p:nvSpPr>
        <p:spPr>
          <a:xfrm>
            <a:off x="4977305" y="2577782"/>
            <a:ext cx="422732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Rectangle 187"/>
          <p:cNvSpPr/>
          <p:nvPr/>
        </p:nvSpPr>
        <p:spPr>
          <a:xfrm>
            <a:off x="1185339" y="2863722"/>
            <a:ext cx="422732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Rectangle 188"/>
          <p:cNvSpPr/>
          <p:nvPr/>
        </p:nvSpPr>
        <p:spPr>
          <a:xfrm>
            <a:off x="1595422" y="2863722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Rectangle 189"/>
          <p:cNvSpPr/>
          <p:nvPr/>
        </p:nvSpPr>
        <p:spPr>
          <a:xfrm>
            <a:off x="2018154" y="2863722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Rectangle 190"/>
          <p:cNvSpPr/>
          <p:nvPr/>
        </p:nvSpPr>
        <p:spPr>
          <a:xfrm>
            <a:off x="2440887" y="2863722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Rectangle 191"/>
          <p:cNvSpPr/>
          <p:nvPr/>
        </p:nvSpPr>
        <p:spPr>
          <a:xfrm>
            <a:off x="2863619" y="2863722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Rectangle 192"/>
          <p:cNvSpPr/>
          <p:nvPr/>
        </p:nvSpPr>
        <p:spPr>
          <a:xfrm>
            <a:off x="3286364" y="2863722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Rectangle 193"/>
          <p:cNvSpPr/>
          <p:nvPr/>
        </p:nvSpPr>
        <p:spPr>
          <a:xfrm>
            <a:off x="3709096" y="2863722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Rectangle 194"/>
          <p:cNvSpPr/>
          <p:nvPr/>
        </p:nvSpPr>
        <p:spPr>
          <a:xfrm>
            <a:off x="4131828" y="2863722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Rectangle 195"/>
          <p:cNvSpPr/>
          <p:nvPr/>
        </p:nvSpPr>
        <p:spPr>
          <a:xfrm>
            <a:off x="4554560" y="2863722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Rectangle 196"/>
          <p:cNvSpPr/>
          <p:nvPr/>
        </p:nvSpPr>
        <p:spPr>
          <a:xfrm>
            <a:off x="4977305" y="2863722"/>
            <a:ext cx="422732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Rectangle 197"/>
          <p:cNvSpPr/>
          <p:nvPr/>
        </p:nvSpPr>
        <p:spPr>
          <a:xfrm>
            <a:off x="36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Rectangle 198"/>
          <p:cNvSpPr/>
          <p:nvPr/>
        </p:nvSpPr>
        <p:spPr>
          <a:xfrm>
            <a:off x="2880040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0" name="Picture 19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201" name="Picture 20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202" name="TextBox 201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Crossover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108000" y="359888"/>
            <a:ext cx="567739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1">
                <a:solidFill>
                  <a:srgbClr val="003373"/>
                </a:solidFill>
                <a:latin typeface="Josefin Sans"/>
              </a:rPr>
              <a:t>Sexual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crossover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359993" y="625151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Two-point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crossover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640409" y="960505"/>
            <a:ext cx="514498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Parent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613803" y="1246458"/>
            <a:ext cx="517159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Parent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792948" y="1532399"/>
            <a:ext cx="499244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Mask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1347454" y="1532399"/>
            <a:ext cx="443794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1770184" y="1532399"/>
            <a:ext cx="401521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10" name="TextBox 209"/>
          <p:cNvSpPr txBox="1"/>
          <p:nvPr/>
        </p:nvSpPr>
        <p:spPr>
          <a:xfrm>
            <a:off x="2213987" y="1532399"/>
            <a:ext cx="357140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211" name="TextBox 210"/>
          <p:cNvSpPr txBox="1"/>
          <p:nvPr/>
        </p:nvSpPr>
        <p:spPr>
          <a:xfrm>
            <a:off x="2636721" y="1532399"/>
            <a:ext cx="314867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3059455" y="1532399"/>
            <a:ext cx="272594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3482201" y="1532399"/>
            <a:ext cx="230319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3883876" y="1532399"/>
            <a:ext cx="190151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4306606" y="1532399"/>
            <a:ext cx="147878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4729337" y="1532399"/>
            <a:ext cx="105605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5152068" y="1532399"/>
            <a:ext cx="63332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1983497" y="1818878"/>
            <a:ext cx="380189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Cambria Math"/>
              </a:rPr>
              <a:t>↑</a:t>
            </a:r>
          </a:p>
        </p:txBody>
      </p:sp>
      <p:sp>
        <p:nvSpPr>
          <p:cNvPr id="219" name="TextBox 218"/>
          <p:cNvSpPr txBox="1"/>
          <p:nvPr/>
        </p:nvSpPr>
        <p:spPr>
          <a:xfrm>
            <a:off x="3674438" y="1818878"/>
            <a:ext cx="211095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Cambria Math"/>
              </a:rPr>
              <a:t>↑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3250320" y="2104819"/>
            <a:ext cx="253507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⇓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462531" y="2390245"/>
            <a:ext cx="532286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Offspring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4898807" y="3150917"/>
            <a:ext cx="88658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223" name="TextBox 222"/>
          <p:cNvSpPr txBox="1"/>
          <p:nvPr/>
        </p:nvSpPr>
        <p:spPr>
          <a:xfrm>
            <a:off x="5642595" y="3150693"/>
            <a:ext cx="14280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17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1185303" y="925360"/>
            <a:ext cx="410083" cy="222681"/>
          </a:xfrm>
          <a:prstGeom prst="rect">
            <a:avLst/>
          </a:prstGeom>
          <a:solidFill>
            <a:srgbClr val="FBB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608035" y="925360"/>
            <a:ext cx="410083" cy="222681"/>
          </a:xfrm>
          <a:prstGeom prst="rect">
            <a:avLst/>
          </a:prstGeom>
          <a:solidFill>
            <a:srgbClr val="FBB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030767" y="925360"/>
            <a:ext cx="410082" cy="222681"/>
          </a:xfrm>
          <a:prstGeom prst="rect">
            <a:avLst/>
          </a:prstGeom>
          <a:solidFill>
            <a:srgbClr val="FBB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453499" y="925360"/>
            <a:ext cx="410083" cy="222681"/>
          </a:xfrm>
          <a:prstGeom prst="rect">
            <a:avLst/>
          </a:prstGeom>
          <a:solidFill>
            <a:srgbClr val="FBB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876244" y="925360"/>
            <a:ext cx="410082" cy="222681"/>
          </a:xfrm>
          <a:prstGeom prst="rect">
            <a:avLst/>
          </a:prstGeom>
          <a:solidFill>
            <a:srgbClr val="FBB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298976" y="925360"/>
            <a:ext cx="410083" cy="222681"/>
          </a:xfrm>
          <a:prstGeom prst="rect">
            <a:avLst/>
          </a:prstGeom>
          <a:solidFill>
            <a:srgbClr val="FBB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721709" y="925360"/>
            <a:ext cx="410083" cy="222681"/>
          </a:xfrm>
          <a:prstGeom prst="rect">
            <a:avLst/>
          </a:prstGeom>
          <a:solidFill>
            <a:srgbClr val="FBB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144441" y="925360"/>
            <a:ext cx="410083" cy="222681"/>
          </a:xfrm>
          <a:prstGeom prst="rect">
            <a:avLst/>
          </a:prstGeom>
          <a:solidFill>
            <a:srgbClr val="FBB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567186" y="925360"/>
            <a:ext cx="410083" cy="222681"/>
          </a:xfrm>
          <a:prstGeom prst="rect">
            <a:avLst/>
          </a:prstGeom>
          <a:solidFill>
            <a:srgbClr val="FBB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989918" y="925360"/>
            <a:ext cx="410083" cy="222681"/>
          </a:xfrm>
          <a:prstGeom prst="rect">
            <a:avLst/>
          </a:prstGeom>
          <a:solidFill>
            <a:srgbClr val="FBB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 flipV="1">
            <a:off x="1601710" y="925347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2024443" y="925347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2447175" y="925347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2869907" y="925347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V="1">
            <a:off x="3292652" y="925347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3715384" y="925347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4138116" y="925347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4560849" y="925347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V="1">
            <a:off x="4983593" y="925347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Rectangle 54"/>
          <p:cNvSpPr/>
          <p:nvPr/>
        </p:nvSpPr>
        <p:spPr>
          <a:xfrm>
            <a:off x="1185303" y="1211300"/>
            <a:ext cx="410083" cy="222681"/>
          </a:xfrm>
          <a:prstGeom prst="rect">
            <a:avLst/>
          </a:prstGeom>
          <a:solidFill>
            <a:srgbClr val="B3C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1608035" y="1211300"/>
            <a:ext cx="410083" cy="222681"/>
          </a:xfrm>
          <a:prstGeom prst="rect">
            <a:avLst/>
          </a:prstGeom>
          <a:solidFill>
            <a:srgbClr val="B3C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2030767" y="1211300"/>
            <a:ext cx="410082" cy="222681"/>
          </a:xfrm>
          <a:prstGeom prst="rect">
            <a:avLst/>
          </a:prstGeom>
          <a:solidFill>
            <a:srgbClr val="B3C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2453499" y="1211300"/>
            <a:ext cx="410083" cy="222681"/>
          </a:xfrm>
          <a:prstGeom prst="rect">
            <a:avLst/>
          </a:prstGeom>
          <a:solidFill>
            <a:srgbClr val="B3C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2876244" y="1211300"/>
            <a:ext cx="410082" cy="222681"/>
          </a:xfrm>
          <a:prstGeom prst="rect">
            <a:avLst/>
          </a:prstGeom>
          <a:solidFill>
            <a:srgbClr val="B3C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3298976" y="1211300"/>
            <a:ext cx="410083" cy="222681"/>
          </a:xfrm>
          <a:prstGeom prst="rect">
            <a:avLst/>
          </a:prstGeom>
          <a:solidFill>
            <a:srgbClr val="B3C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3721709" y="1211300"/>
            <a:ext cx="410083" cy="222681"/>
          </a:xfrm>
          <a:prstGeom prst="rect">
            <a:avLst/>
          </a:prstGeom>
          <a:solidFill>
            <a:srgbClr val="B3C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4144441" y="1211300"/>
            <a:ext cx="410083" cy="222681"/>
          </a:xfrm>
          <a:prstGeom prst="rect">
            <a:avLst/>
          </a:prstGeom>
          <a:solidFill>
            <a:srgbClr val="B3C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4567186" y="1211300"/>
            <a:ext cx="410083" cy="222681"/>
          </a:xfrm>
          <a:prstGeom prst="rect">
            <a:avLst/>
          </a:prstGeom>
          <a:solidFill>
            <a:srgbClr val="B3C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4989918" y="1211300"/>
            <a:ext cx="410083" cy="222681"/>
          </a:xfrm>
          <a:prstGeom prst="rect">
            <a:avLst/>
          </a:prstGeom>
          <a:solidFill>
            <a:srgbClr val="B3C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5" name="Connector 64"/>
          <p:cNvCxnSpPr/>
          <p:nvPr/>
        </p:nvCxnSpPr>
        <p:spPr>
          <a:xfrm flipV="1">
            <a:off x="1601710" y="1211300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2024443" y="1211300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V="1">
            <a:off x="2447175" y="1211300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V="1">
            <a:off x="2869907" y="1211300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V="1">
            <a:off x="3292652" y="1211300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 flipV="1">
            <a:off x="3715384" y="1211300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V="1">
            <a:off x="4138116" y="1211300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V="1">
            <a:off x="4560849" y="1211300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 flipV="1">
            <a:off x="4983593" y="1211300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 flipV="1">
            <a:off x="1601706" y="1497240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 flipV="1">
            <a:off x="2024439" y="1497240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 flipV="1">
            <a:off x="2447171" y="1497240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V="1">
            <a:off x="2869903" y="1497240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 flipV="1">
            <a:off x="3292648" y="1497240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 flipV="1">
            <a:off x="3715380" y="1497240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 flipV="1">
            <a:off x="4138112" y="1497240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 flipV="1">
            <a:off x="4560845" y="1497240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 flipV="1">
            <a:off x="4983589" y="1497240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 flipV="1">
            <a:off x="1601722" y="1783194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 flipV="1">
            <a:off x="2447186" y="1783194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 flipV="1">
            <a:off x="2869919" y="1783194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 flipV="1">
            <a:off x="3292664" y="1783194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 flipV="1">
            <a:off x="4138128" y="1783194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 flipV="1">
            <a:off x="4560860" y="1783194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 flipV="1">
            <a:off x="4983605" y="1783194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Rectangle 89"/>
          <p:cNvSpPr/>
          <p:nvPr/>
        </p:nvSpPr>
        <p:spPr>
          <a:xfrm>
            <a:off x="1185314" y="2355088"/>
            <a:ext cx="410083" cy="222681"/>
          </a:xfrm>
          <a:prstGeom prst="rect">
            <a:avLst/>
          </a:prstGeom>
          <a:solidFill>
            <a:srgbClr val="FBB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1608048" y="2355088"/>
            <a:ext cx="410083" cy="222681"/>
          </a:xfrm>
          <a:prstGeom prst="rect">
            <a:avLst/>
          </a:prstGeom>
          <a:solidFill>
            <a:srgbClr val="FBB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2030782" y="2355088"/>
            <a:ext cx="410082" cy="222681"/>
          </a:xfrm>
          <a:prstGeom prst="rect">
            <a:avLst/>
          </a:prstGeom>
          <a:solidFill>
            <a:srgbClr val="B3C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2453515" y="2355088"/>
            <a:ext cx="410082" cy="222681"/>
          </a:xfrm>
          <a:prstGeom prst="rect">
            <a:avLst/>
          </a:prstGeom>
          <a:solidFill>
            <a:srgbClr val="B3C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2876259" y="2355088"/>
            <a:ext cx="410082" cy="222681"/>
          </a:xfrm>
          <a:prstGeom prst="rect">
            <a:avLst/>
          </a:prstGeom>
          <a:solidFill>
            <a:srgbClr val="B3C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3298992" y="2355088"/>
            <a:ext cx="410083" cy="222681"/>
          </a:xfrm>
          <a:prstGeom prst="rect">
            <a:avLst/>
          </a:prstGeom>
          <a:solidFill>
            <a:srgbClr val="B3C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3721726" y="2355088"/>
            <a:ext cx="410083" cy="222681"/>
          </a:xfrm>
          <a:prstGeom prst="rect">
            <a:avLst/>
          </a:prstGeom>
          <a:solidFill>
            <a:srgbClr val="FBB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4144460" y="2355088"/>
            <a:ext cx="410083" cy="222681"/>
          </a:xfrm>
          <a:prstGeom prst="rect">
            <a:avLst/>
          </a:prstGeom>
          <a:solidFill>
            <a:srgbClr val="FBB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4567206" y="2355088"/>
            <a:ext cx="410083" cy="222681"/>
          </a:xfrm>
          <a:prstGeom prst="rect">
            <a:avLst/>
          </a:prstGeom>
          <a:solidFill>
            <a:srgbClr val="FBB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4989940" y="2355088"/>
            <a:ext cx="410083" cy="222681"/>
          </a:xfrm>
          <a:prstGeom prst="rect">
            <a:avLst/>
          </a:prstGeom>
          <a:solidFill>
            <a:srgbClr val="FBB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0" name="Connector 99"/>
          <p:cNvCxnSpPr/>
          <p:nvPr/>
        </p:nvCxnSpPr>
        <p:spPr>
          <a:xfrm flipV="1">
            <a:off x="1601734" y="2355087"/>
            <a:ext cx="0" cy="285954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 flipV="1">
            <a:off x="2024467" y="2355087"/>
            <a:ext cx="0" cy="285954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 flipV="1">
            <a:off x="2447199" y="2355087"/>
            <a:ext cx="0" cy="285954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 flipV="1">
            <a:off x="2869931" y="2355087"/>
            <a:ext cx="0" cy="285954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 flipV="1">
            <a:off x="3292676" y="2355087"/>
            <a:ext cx="0" cy="285954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 flipV="1">
            <a:off x="3715408" y="2355087"/>
            <a:ext cx="0" cy="285954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 flipV="1">
            <a:off x="4138140" y="2355087"/>
            <a:ext cx="0" cy="285954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 flipV="1">
            <a:off x="4560873" y="2355087"/>
            <a:ext cx="0" cy="285954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 flipV="1">
            <a:off x="4983617" y="2355087"/>
            <a:ext cx="0" cy="285954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" name="Rectangle 108"/>
          <p:cNvSpPr/>
          <p:nvPr/>
        </p:nvSpPr>
        <p:spPr>
          <a:xfrm>
            <a:off x="1185326" y="2641041"/>
            <a:ext cx="410083" cy="222681"/>
          </a:xfrm>
          <a:prstGeom prst="rect">
            <a:avLst/>
          </a:prstGeom>
          <a:solidFill>
            <a:srgbClr val="B3C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1608060" y="2641041"/>
            <a:ext cx="410083" cy="222681"/>
          </a:xfrm>
          <a:prstGeom prst="rect">
            <a:avLst/>
          </a:prstGeom>
          <a:solidFill>
            <a:srgbClr val="B3C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2030794" y="2641041"/>
            <a:ext cx="410082" cy="222681"/>
          </a:xfrm>
          <a:prstGeom prst="rect">
            <a:avLst/>
          </a:prstGeom>
          <a:solidFill>
            <a:srgbClr val="FBB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2453527" y="2641041"/>
            <a:ext cx="410082" cy="222681"/>
          </a:xfrm>
          <a:prstGeom prst="rect">
            <a:avLst/>
          </a:prstGeom>
          <a:solidFill>
            <a:srgbClr val="FBB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2876271" y="2641041"/>
            <a:ext cx="410082" cy="222681"/>
          </a:xfrm>
          <a:prstGeom prst="rect">
            <a:avLst/>
          </a:prstGeom>
          <a:solidFill>
            <a:srgbClr val="FBB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3299005" y="2641041"/>
            <a:ext cx="410083" cy="222681"/>
          </a:xfrm>
          <a:prstGeom prst="rect">
            <a:avLst/>
          </a:prstGeom>
          <a:solidFill>
            <a:srgbClr val="FBB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3721739" y="2641041"/>
            <a:ext cx="410083" cy="222681"/>
          </a:xfrm>
          <a:prstGeom prst="rect">
            <a:avLst/>
          </a:prstGeom>
          <a:solidFill>
            <a:srgbClr val="B3C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4144472" y="2641041"/>
            <a:ext cx="410083" cy="222681"/>
          </a:xfrm>
          <a:prstGeom prst="rect">
            <a:avLst/>
          </a:prstGeom>
          <a:solidFill>
            <a:srgbClr val="B3C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4567219" y="2641041"/>
            <a:ext cx="410083" cy="222681"/>
          </a:xfrm>
          <a:prstGeom prst="rect">
            <a:avLst/>
          </a:prstGeom>
          <a:solidFill>
            <a:srgbClr val="B3C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4989953" y="2641041"/>
            <a:ext cx="410083" cy="222681"/>
          </a:xfrm>
          <a:prstGeom prst="rect">
            <a:avLst/>
          </a:prstGeom>
          <a:solidFill>
            <a:srgbClr val="B3C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9" name="Connector 118"/>
          <p:cNvCxnSpPr/>
          <p:nvPr/>
        </p:nvCxnSpPr>
        <p:spPr>
          <a:xfrm flipV="1">
            <a:off x="1601747" y="2641028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 119"/>
          <p:cNvCxnSpPr/>
          <p:nvPr/>
        </p:nvCxnSpPr>
        <p:spPr>
          <a:xfrm flipV="1">
            <a:off x="2024479" y="2641028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Connector 120"/>
          <p:cNvCxnSpPr/>
          <p:nvPr/>
        </p:nvCxnSpPr>
        <p:spPr>
          <a:xfrm flipV="1">
            <a:off x="2447211" y="2641028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Connector 121"/>
          <p:cNvCxnSpPr/>
          <p:nvPr/>
        </p:nvCxnSpPr>
        <p:spPr>
          <a:xfrm flipV="1">
            <a:off x="2869944" y="2641028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Connector 122"/>
          <p:cNvCxnSpPr/>
          <p:nvPr/>
        </p:nvCxnSpPr>
        <p:spPr>
          <a:xfrm flipV="1">
            <a:off x="3292688" y="2641028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Connector 123"/>
          <p:cNvCxnSpPr/>
          <p:nvPr/>
        </p:nvCxnSpPr>
        <p:spPr>
          <a:xfrm flipV="1">
            <a:off x="3715421" y="2641028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 124"/>
          <p:cNvCxnSpPr/>
          <p:nvPr/>
        </p:nvCxnSpPr>
        <p:spPr>
          <a:xfrm flipV="1">
            <a:off x="4138153" y="2641028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Connector 125"/>
          <p:cNvCxnSpPr/>
          <p:nvPr/>
        </p:nvCxnSpPr>
        <p:spPr>
          <a:xfrm flipV="1">
            <a:off x="4560885" y="2641028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Connector 126"/>
          <p:cNvCxnSpPr/>
          <p:nvPr/>
        </p:nvCxnSpPr>
        <p:spPr>
          <a:xfrm flipV="1">
            <a:off x="4983630" y="2641028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8" name="Rectangle 127"/>
          <p:cNvSpPr/>
          <p:nvPr/>
        </p:nvSpPr>
        <p:spPr>
          <a:xfrm>
            <a:off x="1185339" y="862088"/>
            <a:ext cx="422732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1595422" y="862088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2018154" y="862088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2440887" y="862088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2863619" y="862088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3286364" y="862088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3709096" y="862088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4131828" y="862088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4554560" y="862088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Rectangle 136"/>
          <p:cNvSpPr/>
          <p:nvPr/>
        </p:nvSpPr>
        <p:spPr>
          <a:xfrm>
            <a:off x="4977305" y="862088"/>
            <a:ext cx="422732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Rectangle 137"/>
          <p:cNvSpPr/>
          <p:nvPr/>
        </p:nvSpPr>
        <p:spPr>
          <a:xfrm>
            <a:off x="1185339" y="1148041"/>
            <a:ext cx="422732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Rectangle 138"/>
          <p:cNvSpPr/>
          <p:nvPr/>
        </p:nvSpPr>
        <p:spPr>
          <a:xfrm>
            <a:off x="1595422" y="1148041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ectangle 139"/>
          <p:cNvSpPr/>
          <p:nvPr/>
        </p:nvSpPr>
        <p:spPr>
          <a:xfrm>
            <a:off x="2018154" y="1148041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2440887" y="1148041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Rectangle 141"/>
          <p:cNvSpPr/>
          <p:nvPr/>
        </p:nvSpPr>
        <p:spPr>
          <a:xfrm>
            <a:off x="2863619" y="1148041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ectangle 142"/>
          <p:cNvSpPr/>
          <p:nvPr/>
        </p:nvSpPr>
        <p:spPr>
          <a:xfrm>
            <a:off x="3286364" y="1148041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Rectangle 143"/>
          <p:cNvSpPr/>
          <p:nvPr/>
        </p:nvSpPr>
        <p:spPr>
          <a:xfrm>
            <a:off x="3709096" y="1148041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4131828" y="1148041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Rectangle 145"/>
          <p:cNvSpPr/>
          <p:nvPr/>
        </p:nvSpPr>
        <p:spPr>
          <a:xfrm>
            <a:off x="4554560" y="1148041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Rectangle 146"/>
          <p:cNvSpPr/>
          <p:nvPr/>
        </p:nvSpPr>
        <p:spPr>
          <a:xfrm>
            <a:off x="4977305" y="1148041"/>
            <a:ext cx="422732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Rectangle 147"/>
          <p:cNvSpPr/>
          <p:nvPr/>
        </p:nvSpPr>
        <p:spPr>
          <a:xfrm>
            <a:off x="1185339" y="1433982"/>
            <a:ext cx="422732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1595422" y="1433982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Rectangle 149"/>
          <p:cNvSpPr/>
          <p:nvPr/>
        </p:nvSpPr>
        <p:spPr>
          <a:xfrm>
            <a:off x="2018154" y="1433982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Rectangle 150"/>
          <p:cNvSpPr/>
          <p:nvPr/>
        </p:nvSpPr>
        <p:spPr>
          <a:xfrm>
            <a:off x="2440887" y="1433982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Rectangle 151"/>
          <p:cNvSpPr/>
          <p:nvPr/>
        </p:nvSpPr>
        <p:spPr>
          <a:xfrm>
            <a:off x="2863619" y="1433982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Rectangle 152"/>
          <p:cNvSpPr/>
          <p:nvPr/>
        </p:nvSpPr>
        <p:spPr>
          <a:xfrm>
            <a:off x="3286364" y="1433982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Rectangle 153"/>
          <p:cNvSpPr/>
          <p:nvPr/>
        </p:nvSpPr>
        <p:spPr>
          <a:xfrm>
            <a:off x="3709096" y="1433982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Rectangle 154"/>
          <p:cNvSpPr/>
          <p:nvPr/>
        </p:nvSpPr>
        <p:spPr>
          <a:xfrm>
            <a:off x="4131828" y="1433982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Rectangle 155"/>
          <p:cNvSpPr/>
          <p:nvPr/>
        </p:nvSpPr>
        <p:spPr>
          <a:xfrm>
            <a:off x="4554560" y="1433982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4977305" y="1433982"/>
            <a:ext cx="422732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Rectangle 157"/>
          <p:cNvSpPr/>
          <p:nvPr/>
        </p:nvSpPr>
        <p:spPr>
          <a:xfrm>
            <a:off x="1185339" y="1719935"/>
            <a:ext cx="422732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Rectangle 158"/>
          <p:cNvSpPr/>
          <p:nvPr/>
        </p:nvSpPr>
        <p:spPr>
          <a:xfrm>
            <a:off x="1595422" y="1719935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Rectangle 159"/>
          <p:cNvSpPr/>
          <p:nvPr/>
        </p:nvSpPr>
        <p:spPr>
          <a:xfrm>
            <a:off x="2018154" y="1719935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Rectangle 160"/>
          <p:cNvSpPr/>
          <p:nvPr/>
        </p:nvSpPr>
        <p:spPr>
          <a:xfrm>
            <a:off x="2440887" y="1719935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Rectangle 161"/>
          <p:cNvSpPr/>
          <p:nvPr/>
        </p:nvSpPr>
        <p:spPr>
          <a:xfrm>
            <a:off x="2863619" y="1719935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Rectangle 162"/>
          <p:cNvSpPr/>
          <p:nvPr/>
        </p:nvSpPr>
        <p:spPr>
          <a:xfrm>
            <a:off x="3286364" y="1719935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Rectangle 163"/>
          <p:cNvSpPr/>
          <p:nvPr/>
        </p:nvSpPr>
        <p:spPr>
          <a:xfrm>
            <a:off x="3709096" y="1719935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4131828" y="1719935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Rectangle 165"/>
          <p:cNvSpPr/>
          <p:nvPr/>
        </p:nvSpPr>
        <p:spPr>
          <a:xfrm>
            <a:off x="4554560" y="1719935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Rectangle 166"/>
          <p:cNvSpPr/>
          <p:nvPr/>
        </p:nvSpPr>
        <p:spPr>
          <a:xfrm>
            <a:off x="4977305" y="1719935"/>
            <a:ext cx="422732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Rectangle 167"/>
          <p:cNvSpPr/>
          <p:nvPr/>
        </p:nvSpPr>
        <p:spPr>
          <a:xfrm>
            <a:off x="1185339" y="2005888"/>
            <a:ext cx="422732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Rectangle 168"/>
          <p:cNvSpPr/>
          <p:nvPr/>
        </p:nvSpPr>
        <p:spPr>
          <a:xfrm>
            <a:off x="1595422" y="2005888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Rectangle 169"/>
          <p:cNvSpPr/>
          <p:nvPr/>
        </p:nvSpPr>
        <p:spPr>
          <a:xfrm>
            <a:off x="2018154" y="2005888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Rectangle 170"/>
          <p:cNvSpPr/>
          <p:nvPr/>
        </p:nvSpPr>
        <p:spPr>
          <a:xfrm>
            <a:off x="2440887" y="2005888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Rectangle 171"/>
          <p:cNvSpPr/>
          <p:nvPr/>
        </p:nvSpPr>
        <p:spPr>
          <a:xfrm>
            <a:off x="2863619" y="2005888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3286364" y="2005888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Rectangle 173"/>
          <p:cNvSpPr/>
          <p:nvPr/>
        </p:nvSpPr>
        <p:spPr>
          <a:xfrm>
            <a:off x="3709096" y="2005888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Rectangle 174"/>
          <p:cNvSpPr/>
          <p:nvPr/>
        </p:nvSpPr>
        <p:spPr>
          <a:xfrm>
            <a:off x="4131828" y="2005888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Rectangle 175"/>
          <p:cNvSpPr/>
          <p:nvPr/>
        </p:nvSpPr>
        <p:spPr>
          <a:xfrm>
            <a:off x="4554560" y="2005888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Rectangle 176"/>
          <p:cNvSpPr/>
          <p:nvPr/>
        </p:nvSpPr>
        <p:spPr>
          <a:xfrm>
            <a:off x="4977305" y="2005888"/>
            <a:ext cx="422732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Rectangle 177"/>
          <p:cNvSpPr/>
          <p:nvPr/>
        </p:nvSpPr>
        <p:spPr>
          <a:xfrm>
            <a:off x="1185339" y="2291829"/>
            <a:ext cx="422732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Rectangle 178"/>
          <p:cNvSpPr/>
          <p:nvPr/>
        </p:nvSpPr>
        <p:spPr>
          <a:xfrm>
            <a:off x="1595422" y="2291829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Rectangle 179"/>
          <p:cNvSpPr/>
          <p:nvPr/>
        </p:nvSpPr>
        <p:spPr>
          <a:xfrm>
            <a:off x="2018154" y="2291829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2440887" y="2291829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Rectangle 181"/>
          <p:cNvSpPr/>
          <p:nvPr/>
        </p:nvSpPr>
        <p:spPr>
          <a:xfrm>
            <a:off x="2863619" y="2291829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Rectangle 182"/>
          <p:cNvSpPr/>
          <p:nvPr/>
        </p:nvSpPr>
        <p:spPr>
          <a:xfrm>
            <a:off x="3286364" y="2291829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Rectangle 183"/>
          <p:cNvSpPr/>
          <p:nvPr/>
        </p:nvSpPr>
        <p:spPr>
          <a:xfrm>
            <a:off x="3709096" y="2291829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Rectangle 184"/>
          <p:cNvSpPr/>
          <p:nvPr/>
        </p:nvSpPr>
        <p:spPr>
          <a:xfrm>
            <a:off x="4131828" y="2291829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Rectangle 185"/>
          <p:cNvSpPr/>
          <p:nvPr/>
        </p:nvSpPr>
        <p:spPr>
          <a:xfrm>
            <a:off x="4554560" y="2291829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Rectangle 186"/>
          <p:cNvSpPr/>
          <p:nvPr/>
        </p:nvSpPr>
        <p:spPr>
          <a:xfrm>
            <a:off x="4977305" y="2291829"/>
            <a:ext cx="422732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Rectangle 187"/>
          <p:cNvSpPr/>
          <p:nvPr/>
        </p:nvSpPr>
        <p:spPr>
          <a:xfrm>
            <a:off x="1185339" y="2577782"/>
            <a:ext cx="422732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Rectangle 188"/>
          <p:cNvSpPr/>
          <p:nvPr/>
        </p:nvSpPr>
        <p:spPr>
          <a:xfrm>
            <a:off x="1595422" y="2577782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Rectangle 189"/>
          <p:cNvSpPr/>
          <p:nvPr/>
        </p:nvSpPr>
        <p:spPr>
          <a:xfrm>
            <a:off x="2018154" y="2577782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Rectangle 190"/>
          <p:cNvSpPr/>
          <p:nvPr/>
        </p:nvSpPr>
        <p:spPr>
          <a:xfrm>
            <a:off x="2440887" y="2577782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Rectangle 191"/>
          <p:cNvSpPr/>
          <p:nvPr/>
        </p:nvSpPr>
        <p:spPr>
          <a:xfrm>
            <a:off x="2863619" y="2577782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Rectangle 192"/>
          <p:cNvSpPr/>
          <p:nvPr/>
        </p:nvSpPr>
        <p:spPr>
          <a:xfrm>
            <a:off x="3286364" y="2577782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Rectangle 193"/>
          <p:cNvSpPr/>
          <p:nvPr/>
        </p:nvSpPr>
        <p:spPr>
          <a:xfrm>
            <a:off x="3709096" y="2577782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Rectangle 194"/>
          <p:cNvSpPr/>
          <p:nvPr/>
        </p:nvSpPr>
        <p:spPr>
          <a:xfrm>
            <a:off x="4131828" y="2577782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Rectangle 195"/>
          <p:cNvSpPr/>
          <p:nvPr/>
        </p:nvSpPr>
        <p:spPr>
          <a:xfrm>
            <a:off x="4554560" y="2577782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Rectangle 196"/>
          <p:cNvSpPr/>
          <p:nvPr/>
        </p:nvSpPr>
        <p:spPr>
          <a:xfrm>
            <a:off x="4977305" y="2577782"/>
            <a:ext cx="422732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Rectangle 197"/>
          <p:cNvSpPr/>
          <p:nvPr/>
        </p:nvSpPr>
        <p:spPr>
          <a:xfrm>
            <a:off x="1185339" y="2863722"/>
            <a:ext cx="422732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Rectangle 198"/>
          <p:cNvSpPr/>
          <p:nvPr/>
        </p:nvSpPr>
        <p:spPr>
          <a:xfrm>
            <a:off x="1595422" y="2863722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Rectangle 199"/>
          <p:cNvSpPr/>
          <p:nvPr/>
        </p:nvSpPr>
        <p:spPr>
          <a:xfrm>
            <a:off x="2018154" y="2863722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Rectangle 200"/>
          <p:cNvSpPr/>
          <p:nvPr/>
        </p:nvSpPr>
        <p:spPr>
          <a:xfrm>
            <a:off x="2440887" y="2863722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Rectangle 201"/>
          <p:cNvSpPr/>
          <p:nvPr/>
        </p:nvSpPr>
        <p:spPr>
          <a:xfrm>
            <a:off x="2863619" y="2863722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Rectangle 202"/>
          <p:cNvSpPr/>
          <p:nvPr/>
        </p:nvSpPr>
        <p:spPr>
          <a:xfrm>
            <a:off x="3286364" y="2863722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Rectangle 203"/>
          <p:cNvSpPr/>
          <p:nvPr/>
        </p:nvSpPr>
        <p:spPr>
          <a:xfrm>
            <a:off x="3709096" y="2863722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Rectangle 204"/>
          <p:cNvSpPr/>
          <p:nvPr/>
        </p:nvSpPr>
        <p:spPr>
          <a:xfrm>
            <a:off x="4131828" y="2863722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Rectangle 205"/>
          <p:cNvSpPr/>
          <p:nvPr/>
        </p:nvSpPr>
        <p:spPr>
          <a:xfrm>
            <a:off x="4554560" y="2863722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Rectangle 206"/>
          <p:cNvSpPr/>
          <p:nvPr/>
        </p:nvSpPr>
        <p:spPr>
          <a:xfrm>
            <a:off x="4977305" y="2863722"/>
            <a:ext cx="422732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Rectangle 207"/>
          <p:cNvSpPr/>
          <p:nvPr/>
        </p:nvSpPr>
        <p:spPr>
          <a:xfrm>
            <a:off x="36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Rectangle 208"/>
          <p:cNvSpPr/>
          <p:nvPr/>
        </p:nvSpPr>
        <p:spPr>
          <a:xfrm>
            <a:off x="2880040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0" name="Picture 20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211" name="Picture 21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212" name="TextBox 211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Crossover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108000" y="359888"/>
            <a:ext cx="567739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1">
                <a:solidFill>
                  <a:srgbClr val="003373"/>
                </a:solidFill>
                <a:latin typeface="Josefin Sans"/>
              </a:rPr>
              <a:t>Sexual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crossover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359993" y="625151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Two-point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crossover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640409" y="960505"/>
            <a:ext cx="514498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Parent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613803" y="1246458"/>
            <a:ext cx="517159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Parent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792948" y="1532399"/>
            <a:ext cx="499244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Mask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1347454" y="1532399"/>
            <a:ext cx="443794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19" name="TextBox 218"/>
          <p:cNvSpPr txBox="1"/>
          <p:nvPr/>
        </p:nvSpPr>
        <p:spPr>
          <a:xfrm>
            <a:off x="1770184" y="1532399"/>
            <a:ext cx="401521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2213987" y="1532399"/>
            <a:ext cx="357140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2636721" y="1532399"/>
            <a:ext cx="314867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3059455" y="1532399"/>
            <a:ext cx="272594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223" name="TextBox 222"/>
          <p:cNvSpPr txBox="1"/>
          <p:nvPr/>
        </p:nvSpPr>
        <p:spPr>
          <a:xfrm>
            <a:off x="3482201" y="1532399"/>
            <a:ext cx="230319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224" name="TextBox 223"/>
          <p:cNvSpPr txBox="1"/>
          <p:nvPr/>
        </p:nvSpPr>
        <p:spPr>
          <a:xfrm>
            <a:off x="3883876" y="1532399"/>
            <a:ext cx="190151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4306606" y="1532399"/>
            <a:ext cx="147878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4729337" y="1532399"/>
            <a:ext cx="105605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5152068" y="1532399"/>
            <a:ext cx="63332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1983497" y="1818878"/>
            <a:ext cx="380189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Cambria Math"/>
              </a:rPr>
              <a:t>↑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3674438" y="1818878"/>
            <a:ext cx="211095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Cambria Math"/>
              </a:rPr>
              <a:t>↑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3250320" y="2104819"/>
            <a:ext cx="253507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⇓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462531" y="2390245"/>
            <a:ext cx="532286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Offspring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435937" y="2676199"/>
            <a:ext cx="534945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Offspring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4898807" y="3150917"/>
            <a:ext cx="88658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5642595" y="3150693"/>
            <a:ext cx="14280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17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1185303" y="909307"/>
            <a:ext cx="410083" cy="222681"/>
          </a:xfrm>
          <a:prstGeom prst="rect">
            <a:avLst/>
          </a:prstGeom>
          <a:solidFill>
            <a:srgbClr val="FBB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608035" y="909307"/>
            <a:ext cx="410083" cy="222681"/>
          </a:xfrm>
          <a:prstGeom prst="rect">
            <a:avLst/>
          </a:prstGeom>
          <a:solidFill>
            <a:srgbClr val="FBB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030767" y="909307"/>
            <a:ext cx="410082" cy="222681"/>
          </a:xfrm>
          <a:prstGeom prst="rect">
            <a:avLst/>
          </a:prstGeom>
          <a:solidFill>
            <a:srgbClr val="FBB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453499" y="909307"/>
            <a:ext cx="410083" cy="222681"/>
          </a:xfrm>
          <a:prstGeom prst="rect">
            <a:avLst/>
          </a:prstGeom>
          <a:solidFill>
            <a:srgbClr val="FBB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876244" y="909307"/>
            <a:ext cx="410082" cy="222681"/>
          </a:xfrm>
          <a:prstGeom prst="rect">
            <a:avLst/>
          </a:prstGeom>
          <a:solidFill>
            <a:srgbClr val="FBB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298976" y="909307"/>
            <a:ext cx="410083" cy="222681"/>
          </a:xfrm>
          <a:prstGeom prst="rect">
            <a:avLst/>
          </a:prstGeom>
          <a:solidFill>
            <a:srgbClr val="FBB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721709" y="909307"/>
            <a:ext cx="410083" cy="222681"/>
          </a:xfrm>
          <a:prstGeom prst="rect">
            <a:avLst/>
          </a:prstGeom>
          <a:solidFill>
            <a:srgbClr val="FBB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144441" y="909307"/>
            <a:ext cx="410083" cy="222681"/>
          </a:xfrm>
          <a:prstGeom prst="rect">
            <a:avLst/>
          </a:prstGeom>
          <a:solidFill>
            <a:srgbClr val="FBB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567186" y="909307"/>
            <a:ext cx="410083" cy="222681"/>
          </a:xfrm>
          <a:prstGeom prst="rect">
            <a:avLst/>
          </a:prstGeom>
          <a:solidFill>
            <a:srgbClr val="FBB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989918" y="909307"/>
            <a:ext cx="410083" cy="222681"/>
          </a:xfrm>
          <a:prstGeom prst="rect">
            <a:avLst/>
          </a:prstGeom>
          <a:solidFill>
            <a:srgbClr val="FBB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 flipV="1">
            <a:off x="1601710" y="909307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2024443" y="909307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2447175" y="909307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2869907" y="909307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V="1">
            <a:off x="3292652" y="909307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3715384" y="909307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4138116" y="909307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4560849" y="909307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V="1">
            <a:off x="4983593" y="909307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Rectangle 54"/>
          <p:cNvSpPr/>
          <p:nvPr/>
        </p:nvSpPr>
        <p:spPr>
          <a:xfrm>
            <a:off x="1185303" y="1195260"/>
            <a:ext cx="410083" cy="222681"/>
          </a:xfrm>
          <a:prstGeom prst="rect">
            <a:avLst/>
          </a:prstGeom>
          <a:solidFill>
            <a:srgbClr val="B3C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1608035" y="1195260"/>
            <a:ext cx="410083" cy="222681"/>
          </a:xfrm>
          <a:prstGeom prst="rect">
            <a:avLst/>
          </a:prstGeom>
          <a:solidFill>
            <a:srgbClr val="B3C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2030767" y="1195260"/>
            <a:ext cx="410082" cy="222681"/>
          </a:xfrm>
          <a:prstGeom prst="rect">
            <a:avLst/>
          </a:prstGeom>
          <a:solidFill>
            <a:srgbClr val="B3C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2453499" y="1195260"/>
            <a:ext cx="410083" cy="222681"/>
          </a:xfrm>
          <a:prstGeom prst="rect">
            <a:avLst/>
          </a:prstGeom>
          <a:solidFill>
            <a:srgbClr val="B3C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2876244" y="1195260"/>
            <a:ext cx="410082" cy="222681"/>
          </a:xfrm>
          <a:prstGeom prst="rect">
            <a:avLst/>
          </a:prstGeom>
          <a:solidFill>
            <a:srgbClr val="B3C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3298976" y="1195260"/>
            <a:ext cx="410083" cy="222681"/>
          </a:xfrm>
          <a:prstGeom prst="rect">
            <a:avLst/>
          </a:prstGeom>
          <a:solidFill>
            <a:srgbClr val="B3C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3721709" y="1195260"/>
            <a:ext cx="410083" cy="222681"/>
          </a:xfrm>
          <a:prstGeom prst="rect">
            <a:avLst/>
          </a:prstGeom>
          <a:solidFill>
            <a:srgbClr val="B3C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4144441" y="1195260"/>
            <a:ext cx="410083" cy="222681"/>
          </a:xfrm>
          <a:prstGeom prst="rect">
            <a:avLst/>
          </a:prstGeom>
          <a:solidFill>
            <a:srgbClr val="B3C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4567186" y="1195260"/>
            <a:ext cx="410083" cy="222681"/>
          </a:xfrm>
          <a:prstGeom prst="rect">
            <a:avLst/>
          </a:prstGeom>
          <a:solidFill>
            <a:srgbClr val="B3C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4989918" y="1195260"/>
            <a:ext cx="410083" cy="222681"/>
          </a:xfrm>
          <a:prstGeom prst="rect">
            <a:avLst/>
          </a:prstGeom>
          <a:solidFill>
            <a:srgbClr val="B3C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5" name="Connector 64"/>
          <p:cNvCxnSpPr/>
          <p:nvPr/>
        </p:nvCxnSpPr>
        <p:spPr>
          <a:xfrm flipV="1">
            <a:off x="1601710" y="1195247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2024443" y="1195247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V="1">
            <a:off x="2447175" y="1195247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V="1">
            <a:off x="2869907" y="1195247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V="1">
            <a:off x="3292652" y="1195247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 flipV="1">
            <a:off x="3715384" y="1195247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V="1">
            <a:off x="4138116" y="1195247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V="1">
            <a:off x="4560849" y="1195247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 flipV="1">
            <a:off x="4983593" y="1195247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 flipV="1">
            <a:off x="1601706" y="1481201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 flipV="1">
            <a:off x="2024439" y="1481201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 flipV="1">
            <a:off x="2447171" y="1481201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V="1">
            <a:off x="2869903" y="1481201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 flipV="1">
            <a:off x="3292648" y="1481201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 flipV="1">
            <a:off x="3715380" y="1481201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 flipV="1">
            <a:off x="4138112" y="1481201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 flipV="1">
            <a:off x="4560845" y="1481201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 flipV="1">
            <a:off x="4983589" y="1481201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 flipV="1">
            <a:off x="1601722" y="1767141"/>
            <a:ext cx="0" cy="285954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 flipV="1">
            <a:off x="2024454" y="1767141"/>
            <a:ext cx="0" cy="285954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 flipV="1">
            <a:off x="2447187" y="1767141"/>
            <a:ext cx="0" cy="285954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 flipV="1">
            <a:off x="2869919" y="1767141"/>
            <a:ext cx="0" cy="285954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 flipV="1">
            <a:off x="3292664" y="1767141"/>
            <a:ext cx="0" cy="285954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 flipV="1">
            <a:off x="3715396" y="1767141"/>
            <a:ext cx="0" cy="285954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 flipV="1">
            <a:off x="4138128" y="1767141"/>
            <a:ext cx="0" cy="285954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 flipV="1">
            <a:off x="4560860" y="1767141"/>
            <a:ext cx="0" cy="285954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 flipV="1">
            <a:off x="4983605" y="1767141"/>
            <a:ext cx="0" cy="285954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 flipV="1">
            <a:off x="1601734" y="2339048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 flipV="1">
            <a:off x="2024467" y="2339048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 flipV="1">
            <a:off x="2447199" y="2339048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 flipV="1">
            <a:off x="2869931" y="2339048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 flipV="1">
            <a:off x="3292676" y="2339048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 flipV="1">
            <a:off x="3715408" y="2339048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 flipV="1">
            <a:off x="4138140" y="2339048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 flipV="1">
            <a:off x="4560873" y="2339048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 flipV="1">
            <a:off x="4983617" y="2339048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 flipV="1">
            <a:off x="1601747" y="2624989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 flipV="1">
            <a:off x="2024479" y="2624989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 flipV="1">
            <a:off x="2447211" y="2624989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 flipV="1">
            <a:off x="2869944" y="2624989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 flipV="1">
            <a:off x="3292688" y="2624989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 flipV="1">
            <a:off x="3715421" y="2624989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 flipV="1">
            <a:off x="4138153" y="2624989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 flipV="1">
            <a:off x="4560885" y="2624989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 flipV="1">
            <a:off x="4983630" y="2624989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0" name="Rectangle 109"/>
          <p:cNvSpPr/>
          <p:nvPr/>
        </p:nvSpPr>
        <p:spPr>
          <a:xfrm>
            <a:off x="1185339" y="846049"/>
            <a:ext cx="422732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1595422" y="846049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2018154" y="846049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2440887" y="846049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2863619" y="846049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3286364" y="846049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3709096" y="846049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4131828" y="846049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4554560" y="846049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4977305" y="846049"/>
            <a:ext cx="422732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1185339" y="1132002"/>
            <a:ext cx="422732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1595422" y="1132002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2018154" y="1132002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2440887" y="1132002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2863619" y="1132002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3286364" y="1132002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3709096" y="1132002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4131828" y="1132002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4554560" y="1132002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4977305" y="1132002"/>
            <a:ext cx="422732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1185339" y="1417943"/>
            <a:ext cx="422732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1595422" y="1417943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2018154" y="1417943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2440887" y="1417943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2863619" y="1417943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3286364" y="1417943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3709096" y="1417943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Rectangle 136"/>
          <p:cNvSpPr/>
          <p:nvPr/>
        </p:nvSpPr>
        <p:spPr>
          <a:xfrm>
            <a:off x="4131828" y="1417943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Rectangle 137"/>
          <p:cNvSpPr/>
          <p:nvPr/>
        </p:nvSpPr>
        <p:spPr>
          <a:xfrm>
            <a:off x="4554560" y="1417943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Rectangle 138"/>
          <p:cNvSpPr/>
          <p:nvPr/>
        </p:nvSpPr>
        <p:spPr>
          <a:xfrm>
            <a:off x="4977305" y="1417943"/>
            <a:ext cx="422732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ectangle 139"/>
          <p:cNvSpPr/>
          <p:nvPr/>
        </p:nvSpPr>
        <p:spPr>
          <a:xfrm>
            <a:off x="1185339" y="1703896"/>
            <a:ext cx="422732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1595422" y="1703896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Rectangle 141"/>
          <p:cNvSpPr/>
          <p:nvPr/>
        </p:nvSpPr>
        <p:spPr>
          <a:xfrm>
            <a:off x="2018154" y="1703896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ectangle 142"/>
          <p:cNvSpPr/>
          <p:nvPr/>
        </p:nvSpPr>
        <p:spPr>
          <a:xfrm>
            <a:off x="2440887" y="1703896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Rectangle 143"/>
          <p:cNvSpPr/>
          <p:nvPr/>
        </p:nvSpPr>
        <p:spPr>
          <a:xfrm>
            <a:off x="2863619" y="1703896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3286364" y="1703896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Rectangle 145"/>
          <p:cNvSpPr/>
          <p:nvPr/>
        </p:nvSpPr>
        <p:spPr>
          <a:xfrm>
            <a:off x="3709096" y="1703896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Rectangle 146"/>
          <p:cNvSpPr/>
          <p:nvPr/>
        </p:nvSpPr>
        <p:spPr>
          <a:xfrm>
            <a:off x="4131828" y="1703896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Rectangle 147"/>
          <p:cNvSpPr/>
          <p:nvPr/>
        </p:nvSpPr>
        <p:spPr>
          <a:xfrm>
            <a:off x="4554560" y="1703896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4977305" y="1703896"/>
            <a:ext cx="422732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Rectangle 149"/>
          <p:cNvSpPr/>
          <p:nvPr/>
        </p:nvSpPr>
        <p:spPr>
          <a:xfrm>
            <a:off x="1185339" y="1989836"/>
            <a:ext cx="422732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Rectangle 150"/>
          <p:cNvSpPr/>
          <p:nvPr/>
        </p:nvSpPr>
        <p:spPr>
          <a:xfrm>
            <a:off x="1595422" y="1989836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Rectangle 151"/>
          <p:cNvSpPr/>
          <p:nvPr/>
        </p:nvSpPr>
        <p:spPr>
          <a:xfrm>
            <a:off x="2018154" y="1989836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Rectangle 152"/>
          <p:cNvSpPr/>
          <p:nvPr/>
        </p:nvSpPr>
        <p:spPr>
          <a:xfrm>
            <a:off x="2440887" y="1989836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Rectangle 153"/>
          <p:cNvSpPr/>
          <p:nvPr/>
        </p:nvSpPr>
        <p:spPr>
          <a:xfrm>
            <a:off x="2863619" y="1989836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Rectangle 154"/>
          <p:cNvSpPr/>
          <p:nvPr/>
        </p:nvSpPr>
        <p:spPr>
          <a:xfrm>
            <a:off x="3286364" y="1989836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Rectangle 155"/>
          <p:cNvSpPr/>
          <p:nvPr/>
        </p:nvSpPr>
        <p:spPr>
          <a:xfrm>
            <a:off x="3709096" y="1989836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4131828" y="1989836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Rectangle 157"/>
          <p:cNvSpPr/>
          <p:nvPr/>
        </p:nvSpPr>
        <p:spPr>
          <a:xfrm>
            <a:off x="4554560" y="1989836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Rectangle 158"/>
          <p:cNvSpPr/>
          <p:nvPr/>
        </p:nvSpPr>
        <p:spPr>
          <a:xfrm>
            <a:off x="4977305" y="1989836"/>
            <a:ext cx="422732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Rectangle 159"/>
          <p:cNvSpPr/>
          <p:nvPr/>
        </p:nvSpPr>
        <p:spPr>
          <a:xfrm>
            <a:off x="1185339" y="2275789"/>
            <a:ext cx="422732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Rectangle 160"/>
          <p:cNvSpPr/>
          <p:nvPr/>
        </p:nvSpPr>
        <p:spPr>
          <a:xfrm>
            <a:off x="1595422" y="2275789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Rectangle 161"/>
          <p:cNvSpPr/>
          <p:nvPr/>
        </p:nvSpPr>
        <p:spPr>
          <a:xfrm>
            <a:off x="2018154" y="2275789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Rectangle 162"/>
          <p:cNvSpPr/>
          <p:nvPr/>
        </p:nvSpPr>
        <p:spPr>
          <a:xfrm>
            <a:off x="2440887" y="2275789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Rectangle 163"/>
          <p:cNvSpPr/>
          <p:nvPr/>
        </p:nvSpPr>
        <p:spPr>
          <a:xfrm>
            <a:off x="2863619" y="2275789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3286364" y="2275789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Rectangle 165"/>
          <p:cNvSpPr/>
          <p:nvPr/>
        </p:nvSpPr>
        <p:spPr>
          <a:xfrm>
            <a:off x="3709096" y="2275789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Rectangle 166"/>
          <p:cNvSpPr/>
          <p:nvPr/>
        </p:nvSpPr>
        <p:spPr>
          <a:xfrm>
            <a:off x="4131828" y="2275789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Rectangle 167"/>
          <p:cNvSpPr/>
          <p:nvPr/>
        </p:nvSpPr>
        <p:spPr>
          <a:xfrm>
            <a:off x="4554560" y="2275789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Rectangle 168"/>
          <p:cNvSpPr/>
          <p:nvPr/>
        </p:nvSpPr>
        <p:spPr>
          <a:xfrm>
            <a:off x="4977305" y="2275789"/>
            <a:ext cx="422732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Rectangle 169"/>
          <p:cNvSpPr/>
          <p:nvPr/>
        </p:nvSpPr>
        <p:spPr>
          <a:xfrm>
            <a:off x="1185339" y="2561743"/>
            <a:ext cx="422732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Rectangle 170"/>
          <p:cNvSpPr/>
          <p:nvPr/>
        </p:nvSpPr>
        <p:spPr>
          <a:xfrm>
            <a:off x="1595422" y="2561743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Rectangle 171"/>
          <p:cNvSpPr/>
          <p:nvPr/>
        </p:nvSpPr>
        <p:spPr>
          <a:xfrm>
            <a:off x="2018154" y="2561743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2440887" y="2561743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Rectangle 173"/>
          <p:cNvSpPr/>
          <p:nvPr/>
        </p:nvSpPr>
        <p:spPr>
          <a:xfrm>
            <a:off x="2863619" y="2561743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Rectangle 174"/>
          <p:cNvSpPr/>
          <p:nvPr/>
        </p:nvSpPr>
        <p:spPr>
          <a:xfrm>
            <a:off x="3286364" y="2561743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Rectangle 175"/>
          <p:cNvSpPr/>
          <p:nvPr/>
        </p:nvSpPr>
        <p:spPr>
          <a:xfrm>
            <a:off x="3709096" y="2561743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Rectangle 176"/>
          <p:cNvSpPr/>
          <p:nvPr/>
        </p:nvSpPr>
        <p:spPr>
          <a:xfrm>
            <a:off x="4131828" y="2561743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Rectangle 177"/>
          <p:cNvSpPr/>
          <p:nvPr/>
        </p:nvSpPr>
        <p:spPr>
          <a:xfrm>
            <a:off x="4554560" y="2561743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Rectangle 178"/>
          <p:cNvSpPr/>
          <p:nvPr/>
        </p:nvSpPr>
        <p:spPr>
          <a:xfrm>
            <a:off x="4977305" y="2561743"/>
            <a:ext cx="422732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Rectangle 179"/>
          <p:cNvSpPr/>
          <p:nvPr/>
        </p:nvSpPr>
        <p:spPr>
          <a:xfrm>
            <a:off x="1185339" y="2847683"/>
            <a:ext cx="422732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1595422" y="2847683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Rectangle 181"/>
          <p:cNvSpPr/>
          <p:nvPr/>
        </p:nvSpPr>
        <p:spPr>
          <a:xfrm>
            <a:off x="2018154" y="2847683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Rectangle 182"/>
          <p:cNvSpPr/>
          <p:nvPr/>
        </p:nvSpPr>
        <p:spPr>
          <a:xfrm>
            <a:off x="2440887" y="2847683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Rectangle 183"/>
          <p:cNvSpPr/>
          <p:nvPr/>
        </p:nvSpPr>
        <p:spPr>
          <a:xfrm>
            <a:off x="2863619" y="2847683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Rectangle 184"/>
          <p:cNvSpPr/>
          <p:nvPr/>
        </p:nvSpPr>
        <p:spPr>
          <a:xfrm>
            <a:off x="3286364" y="2847683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Rectangle 185"/>
          <p:cNvSpPr/>
          <p:nvPr/>
        </p:nvSpPr>
        <p:spPr>
          <a:xfrm>
            <a:off x="3709096" y="2847683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Rectangle 186"/>
          <p:cNvSpPr/>
          <p:nvPr/>
        </p:nvSpPr>
        <p:spPr>
          <a:xfrm>
            <a:off x="4131828" y="2847683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Rectangle 187"/>
          <p:cNvSpPr/>
          <p:nvPr/>
        </p:nvSpPr>
        <p:spPr>
          <a:xfrm>
            <a:off x="4554560" y="2847683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Rectangle 188"/>
          <p:cNvSpPr/>
          <p:nvPr/>
        </p:nvSpPr>
        <p:spPr>
          <a:xfrm>
            <a:off x="4977305" y="2847683"/>
            <a:ext cx="422732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Rectangle 189"/>
          <p:cNvSpPr/>
          <p:nvPr/>
        </p:nvSpPr>
        <p:spPr>
          <a:xfrm>
            <a:off x="36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Rectangle 190"/>
          <p:cNvSpPr/>
          <p:nvPr/>
        </p:nvSpPr>
        <p:spPr>
          <a:xfrm>
            <a:off x="2880040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2" name="Picture 19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193" name="Picture 19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194" name="TextBox 193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Crossover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08000" y="359888"/>
            <a:ext cx="567739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1">
                <a:solidFill>
                  <a:srgbClr val="003373"/>
                </a:solidFill>
                <a:latin typeface="Josefin Sans"/>
              </a:rPr>
              <a:t>Sexual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crossover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359993" y="635845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Uniform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crossover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640409" y="944465"/>
            <a:ext cx="514498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Parent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613803" y="1230418"/>
            <a:ext cx="517159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Parent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4898807" y="3150918"/>
            <a:ext cx="88658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5639712" y="3150694"/>
            <a:ext cx="14568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18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1185303" y="909307"/>
            <a:ext cx="410083" cy="222681"/>
          </a:xfrm>
          <a:prstGeom prst="rect">
            <a:avLst/>
          </a:prstGeom>
          <a:solidFill>
            <a:srgbClr val="FBB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608035" y="909307"/>
            <a:ext cx="410083" cy="222681"/>
          </a:xfrm>
          <a:prstGeom prst="rect">
            <a:avLst/>
          </a:prstGeom>
          <a:solidFill>
            <a:srgbClr val="FBB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030767" y="909307"/>
            <a:ext cx="410082" cy="222681"/>
          </a:xfrm>
          <a:prstGeom prst="rect">
            <a:avLst/>
          </a:prstGeom>
          <a:solidFill>
            <a:srgbClr val="FBB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453499" y="909307"/>
            <a:ext cx="410083" cy="222681"/>
          </a:xfrm>
          <a:prstGeom prst="rect">
            <a:avLst/>
          </a:prstGeom>
          <a:solidFill>
            <a:srgbClr val="FBB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876244" y="909307"/>
            <a:ext cx="410082" cy="222681"/>
          </a:xfrm>
          <a:prstGeom prst="rect">
            <a:avLst/>
          </a:prstGeom>
          <a:solidFill>
            <a:srgbClr val="FBB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298976" y="909307"/>
            <a:ext cx="410083" cy="222681"/>
          </a:xfrm>
          <a:prstGeom prst="rect">
            <a:avLst/>
          </a:prstGeom>
          <a:solidFill>
            <a:srgbClr val="FBB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721709" y="909307"/>
            <a:ext cx="410083" cy="222681"/>
          </a:xfrm>
          <a:prstGeom prst="rect">
            <a:avLst/>
          </a:prstGeom>
          <a:solidFill>
            <a:srgbClr val="FBB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144441" y="909307"/>
            <a:ext cx="410083" cy="222681"/>
          </a:xfrm>
          <a:prstGeom prst="rect">
            <a:avLst/>
          </a:prstGeom>
          <a:solidFill>
            <a:srgbClr val="FBB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567186" y="909307"/>
            <a:ext cx="410083" cy="222681"/>
          </a:xfrm>
          <a:prstGeom prst="rect">
            <a:avLst/>
          </a:prstGeom>
          <a:solidFill>
            <a:srgbClr val="FBB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989918" y="909307"/>
            <a:ext cx="410083" cy="222681"/>
          </a:xfrm>
          <a:prstGeom prst="rect">
            <a:avLst/>
          </a:prstGeom>
          <a:solidFill>
            <a:srgbClr val="FBB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 flipV="1">
            <a:off x="1601710" y="909307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2024443" y="909307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2447175" y="909307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2869907" y="909307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V="1">
            <a:off x="3292652" y="909307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3715384" y="909307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4138116" y="909307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4560849" y="909307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V="1">
            <a:off x="4983593" y="909307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Rectangle 54"/>
          <p:cNvSpPr/>
          <p:nvPr/>
        </p:nvSpPr>
        <p:spPr>
          <a:xfrm>
            <a:off x="1185303" y="1195260"/>
            <a:ext cx="410083" cy="222681"/>
          </a:xfrm>
          <a:prstGeom prst="rect">
            <a:avLst/>
          </a:prstGeom>
          <a:solidFill>
            <a:srgbClr val="B3C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1608035" y="1195260"/>
            <a:ext cx="410083" cy="222681"/>
          </a:xfrm>
          <a:prstGeom prst="rect">
            <a:avLst/>
          </a:prstGeom>
          <a:solidFill>
            <a:srgbClr val="B3C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2030767" y="1195260"/>
            <a:ext cx="410082" cy="222681"/>
          </a:xfrm>
          <a:prstGeom prst="rect">
            <a:avLst/>
          </a:prstGeom>
          <a:solidFill>
            <a:srgbClr val="B3C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2453499" y="1195260"/>
            <a:ext cx="410083" cy="222681"/>
          </a:xfrm>
          <a:prstGeom prst="rect">
            <a:avLst/>
          </a:prstGeom>
          <a:solidFill>
            <a:srgbClr val="B3C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2876244" y="1195260"/>
            <a:ext cx="410082" cy="222681"/>
          </a:xfrm>
          <a:prstGeom prst="rect">
            <a:avLst/>
          </a:prstGeom>
          <a:solidFill>
            <a:srgbClr val="B3C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3298976" y="1195260"/>
            <a:ext cx="410083" cy="222681"/>
          </a:xfrm>
          <a:prstGeom prst="rect">
            <a:avLst/>
          </a:prstGeom>
          <a:solidFill>
            <a:srgbClr val="B3C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3721709" y="1195260"/>
            <a:ext cx="410083" cy="222681"/>
          </a:xfrm>
          <a:prstGeom prst="rect">
            <a:avLst/>
          </a:prstGeom>
          <a:solidFill>
            <a:srgbClr val="B3C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4144441" y="1195260"/>
            <a:ext cx="410083" cy="222681"/>
          </a:xfrm>
          <a:prstGeom prst="rect">
            <a:avLst/>
          </a:prstGeom>
          <a:solidFill>
            <a:srgbClr val="B3C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4567186" y="1195260"/>
            <a:ext cx="410083" cy="222681"/>
          </a:xfrm>
          <a:prstGeom prst="rect">
            <a:avLst/>
          </a:prstGeom>
          <a:solidFill>
            <a:srgbClr val="B3C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4989918" y="1195260"/>
            <a:ext cx="410083" cy="222681"/>
          </a:xfrm>
          <a:prstGeom prst="rect">
            <a:avLst/>
          </a:prstGeom>
          <a:solidFill>
            <a:srgbClr val="B3C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5" name="Connector 64"/>
          <p:cNvCxnSpPr/>
          <p:nvPr/>
        </p:nvCxnSpPr>
        <p:spPr>
          <a:xfrm flipV="1">
            <a:off x="1601710" y="1195247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2024443" y="1195247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V="1">
            <a:off x="2447175" y="1195247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V="1">
            <a:off x="2869907" y="1195247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V="1">
            <a:off x="3292652" y="1195247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 flipV="1">
            <a:off x="3715384" y="1195247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V="1">
            <a:off x="4138116" y="1195247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V="1">
            <a:off x="4560849" y="1195247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 flipV="1">
            <a:off x="4983593" y="1195247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 flipV="1">
            <a:off x="1601706" y="1481201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 flipV="1">
            <a:off x="2024439" y="1481201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 flipV="1">
            <a:off x="2447171" y="1481201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V="1">
            <a:off x="2869903" y="1481201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 flipV="1">
            <a:off x="3292648" y="1481201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 flipV="1">
            <a:off x="3715380" y="1481201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 flipV="1">
            <a:off x="4138112" y="1481201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 flipV="1">
            <a:off x="4560845" y="1481201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 flipV="1">
            <a:off x="4983589" y="1481201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 flipV="1">
            <a:off x="1601722" y="1767141"/>
            <a:ext cx="0" cy="285954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 flipV="1">
            <a:off x="2024454" y="1767141"/>
            <a:ext cx="0" cy="285954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 flipV="1">
            <a:off x="2447187" y="1767141"/>
            <a:ext cx="0" cy="285954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 flipV="1">
            <a:off x="2869919" y="1767141"/>
            <a:ext cx="0" cy="285954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 flipV="1">
            <a:off x="3292664" y="1767141"/>
            <a:ext cx="0" cy="285954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 flipV="1">
            <a:off x="3715396" y="1767141"/>
            <a:ext cx="0" cy="285954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 flipV="1">
            <a:off x="4138128" y="1767141"/>
            <a:ext cx="0" cy="285954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 flipV="1">
            <a:off x="4560860" y="1767141"/>
            <a:ext cx="0" cy="285954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 flipV="1">
            <a:off x="4983605" y="1767141"/>
            <a:ext cx="0" cy="285954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 flipV="1">
            <a:off x="1601734" y="2339048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 flipV="1">
            <a:off x="2024467" y="2339048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 flipV="1">
            <a:off x="2447199" y="2339048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 flipV="1">
            <a:off x="2869931" y="2339048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 flipV="1">
            <a:off x="3292676" y="2339048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 flipV="1">
            <a:off x="3715408" y="2339048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 flipV="1">
            <a:off x="4138140" y="2339048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 flipV="1">
            <a:off x="4560873" y="2339048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 flipV="1">
            <a:off x="4983617" y="2339048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 flipV="1">
            <a:off x="1601747" y="2624989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 flipV="1">
            <a:off x="2024479" y="2624989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 flipV="1">
            <a:off x="2447211" y="2624989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 flipV="1">
            <a:off x="2869944" y="2624989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 flipV="1">
            <a:off x="3292688" y="2624989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 flipV="1">
            <a:off x="3715421" y="2624989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 flipV="1">
            <a:off x="4138153" y="2624989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 flipV="1">
            <a:off x="4560885" y="2624989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 flipV="1">
            <a:off x="4983630" y="2624989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0" name="Rectangle 109"/>
          <p:cNvSpPr/>
          <p:nvPr/>
        </p:nvSpPr>
        <p:spPr>
          <a:xfrm>
            <a:off x="1185339" y="846049"/>
            <a:ext cx="422732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1595422" y="846049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2018154" y="846049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2440887" y="846049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2863619" y="846049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3286364" y="846049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3709096" y="846049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4131828" y="846049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4554560" y="846049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4977305" y="846049"/>
            <a:ext cx="422732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1185339" y="1132002"/>
            <a:ext cx="422732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1595422" y="1132002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2018154" y="1132002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2440887" y="1132002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2863619" y="1132002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3286364" y="1132002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3709096" y="1132002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4131828" y="1132002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4554560" y="1132002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4977305" y="1132002"/>
            <a:ext cx="422732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1185339" y="1417943"/>
            <a:ext cx="422732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1595422" y="1417943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2018154" y="1417943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2440887" y="1417943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2863619" y="1417943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3286364" y="1417943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3709096" y="1417943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Rectangle 136"/>
          <p:cNvSpPr/>
          <p:nvPr/>
        </p:nvSpPr>
        <p:spPr>
          <a:xfrm>
            <a:off x="4131828" y="1417943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Rectangle 137"/>
          <p:cNvSpPr/>
          <p:nvPr/>
        </p:nvSpPr>
        <p:spPr>
          <a:xfrm>
            <a:off x="4554560" y="1417943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Rectangle 138"/>
          <p:cNvSpPr/>
          <p:nvPr/>
        </p:nvSpPr>
        <p:spPr>
          <a:xfrm>
            <a:off x="4977305" y="1417943"/>
            <a:ext cx="422732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ectangle 139"/>
          <p:cNvSpPr/>
          <p:nvPr/>
        </p:nvSpPr>
        <p:spPr>
          <a:xfrm>
            <a:off x="1185339" y="1703896"/>
            <a:ext cx="422732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1595422" y="1703896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Rectangle 141"/>
          <p:cNvSpPr/>
          <p:nvPr/>
        </p:nvSpPr>
        <p:spPr>
          <a:xfrm>
            <a:off x="2018154" y="1703896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ectangle 142"/>
          <p:cNvSpPr/>
          <p:nvPr/>
        </p:nvSpPr>
        <p:spPr>
          <a:xfrm>
            <a:off x="2440887" y="1703896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Rectangle 143"/>
          <p:cNvSpPr/>
          <p:nvPr/>
        </p:nvSpPr>
        <p:spPr>
          <a:xfrm>
            <a:off x="2863619" y="1703896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3286364" y="1703896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Rectangle 145"/>
          <p:cNvSpPr/>
          <p:nvPr/>
        </p:nvSpPr>
        <p:spPr>
          <a:xfrm>
            <a:off x="3709096" y="1703896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Rectangle 146"/>
          <p:cNvSpPr/>
          <p:nvPr/>
        </p:nvSpPr>
        <p:spPr>
          <a:xfrm>
            <a:off x="4131828" y="1703896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Rectangle 147"/>
          <p:cNvSpPr/>
          <p:nvPr/>
        </p:nvSpPr>
        <p:spPr>
          <a:xfrm>
            <a:off x="4554560" y="1703896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4977305" y="1703896"/>
            <a:ext cx="422732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Rectangle 149"/>
          <p:cNvSpPr/>
          <p:nvPr/>
        </p:nvSpPr>
        <p:spPr>
          <a:xfrm>
            <a:off x="1185339" y="1989836"/>
            <a:ext cx="422732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Rectangle 150"/>
          <p:cNvSpPr/>
          <p:nvPr/>
        </p:nvSpPr>
        <p:spPr>
          <a:xfrm>
            <a:off x="1595422" y="1989836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Rectangle 151"/>
          <p:cNvSpPr/>
          <p:nvPr/>
        </p:nvSpPr>
        <p:spPr>
          <a:xfrm>
            <a:off x="2018154" y="1989836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Rectangle 152"/>
          <p:cNvSpPr/>
          <p:nvPr/>
        </p:nvSpPr>
        <p:spPr>
          <a:xfrm>
            <a:off x="2440887" y="1989836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Rectangle 153"/>
          <p:cNvSpPr/>
          <p:nvPr/>
        </p:nvSpPr>
        <p:spPr>
          <a:xfrm>
            <a:off x="2863619" y="1989836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Rectangle 154"/>
          <p:cNvSpPr/>
          <p:nvPr/>
        </p:nvSpPr>
        <p:spPr>
          <a:xfrm>
            <a:off x="3286364" y="1989836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Rectangle 155"/>
          <p:cNvSpPr/>
          <p:nvPr/>
        </p:nvSpPr>
        <p:spPr>
          <a:xfrm>
            <a:off x="3709096" y="1989836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4131828" y="1989836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Rectangle 157"/>
          <p:cNvSpPr/>
          <p:nvPr/>
        </p:nvSpPr>
        <p:spPr>
          <a:xfrm>
            <a:off x="4554560" y="1989836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Rectangle 158"/>
          <p:cNvSpPr/>
          <p:nvPr/>
        </p:nvSpPr>
        <p:spPr>
          <a:xfrm>
            <a:off x="4977305" y="1989836"/>
            <a:ext cx="422732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Rectangle 159"/>
          <p:cNvSpPr/>
          <p:nvPr/>
        </p:nvSpPr>
        <p:spPr>
          <a:xfrm>
            <a:off x="1185339" y="2275789"/>
            <a:ext cx="422732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Rectangle 160"/>
          <p:cNvSpPr/>
          <p:nvPr/>
        </p:nvSpPr>
        <p:spPr>
          <a:xfrm>
            <a:off x="1595422" y="2275789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Rectangle 161"/>
          <p:cNvSpPr/>
          <p:nvPr/>
        </p:nvSpPr>
        <p:spPr>
          <a:xfrm>
            <a:off x="2018154" y="2275789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Rectangle 162"/>
          <p:cNvSpPr/>
          <p:nvPr/>
        </p:nvSpPr>
        <p:spPr>
          <a:xfrm>
            <a:off x="2440887" y="2275789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Rectangle 163"/>
          <p:cNvSpPr/>
          <p:nvPr/>
        </p:nvSpPr>
        <p:spPr>
          <a:xfrm>
            <a:off x="2863619" y="2275789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3286364" y="2275789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Rectangle 165"/>
          <p:cNvSpPr/>
          <p:nvPr/>
        </p:nvSpPr>
        <p:spPr>
          <a:xfrm>
            <a:off x="3709096" y="2275789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Rectangle 166"/>
          <p:cNvSpPr/>
          <p:nvPr/>
        </p:nvSpPr>
        <p:spPr>
          <a:xfrm>
            <a:off x="4131828" y="2275789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Rectangle 167"/>
          <p:cNvSpPr/>
          <p:nvPr/>
        </p:nvSpPr>
        <p:spPr>
          <a:xfrm>
            <a:off x="4554560" y="2275789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Rectangle 168"/>
          <p:cNvSpPr/>
          <p:nvPr/>
        </p:nvSpPr>
        <p:spPr>
          <a:xfrm>
            <a:off x="4977305" y="2275789"/>
            <a:ext cx="422732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Rectangle 169"/>
          <p:cNvSpPr/>
          <p:nvPr/>
        </p:nvSpPr>
        <p:spPr>
          <a:xfrm>
            <a:off x="1185339" y="2561743"/>
            <a:ext cx="422732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Rectangle 170"/>
          <p:cNvSpPr/>
          <p:nvPr/>
        </p:nvSpPr>
        <p:spPr>
          <a:xfrm>
            <a:off x="1595422" y="2561743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Rectangle 171"/>
          <p:cNvSpPr/>
          <p:nvPr/>
        </p:nvSpPr>
        <p:spPr>
          <a:xfrm>
            <a:off x="2018154" y="2561743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2440887" y="2561743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Rectangle 173"/>
          <p:cNvSpPr/>
          <p:nvPr/>
        </p:nvSpPr>
        <p:spPr>
          <a:xfrm>
            <a:off x="2863619" y="2561743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Rectangle 174"/>
          <p:cNvSpPr/>
          <p:nvPr/>
        </p:nvSpPr>
        <p:spPr>
          <a:xfrm>
            <a:off x="3286364" y="2561743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Rectangle 175"/>
          <p:cNvSpPr/>
          <p:nvPr/>
        </p:nvSpPr>
        <p:spPr>
          <a:xfrm>
            <a:off x="3709096" y="2561743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Rectangle 176"/>
          <p:cNvSpPr/>
          <p:nvPr/>
        </p:nvSpPr>
        <p:spPr>
          <a:xfrm>
            <a:off x="4131828" y="2561743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Rectangle 177"/>
          <p:cNvSpPr/>
          <p:nvPr/>
        </p:nvSpPr>
        <p:spPr>
          <a:xfrm>
            <a:off x="4554560" y="2561743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Rectangle 178"/>
          <p:cNvSpPr/>
          <p:nvPr/>
        </p:nvSpPr>
        <p:spPr>
          <a:xfrm>
            <a:off x="4977305" y="2561743"/>
            <a:ext cx="422732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Rectangle 179"/>
          <p:cNvSpPr/>
          <p:nvPr/>
        </p:nvSpPr>
        <p:spPr>
          <a:xfrm>
            <a:off x="1185339" y="2847683"/>
            <a:ext cx="422732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1595422" y="2847683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Rectangle 181"/>
          <p:cNvSpPr/>
          <p:nvPr/>
        </p:nvSpPr>
        <p:spPr>
          <a:xfrm>
            <a:off x="2018154" y="2847683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Rectangle 182"/>
          <p:cNvSpPr/>
          <p:nvPr/>
        </p:nvSpPr>
        <p:spPr>
          <a:xfrm>
            <a:off x="2440887" y="2847683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Rectangle 183"/>
          <p:cNvSpPr/>
          <p:nvPr/>
        </p:nvSpPr>
        <p:spPr>
          <a:xfrm>
            <a:off x="2863619" y="2847683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Rectangle 184"/>
          <p:cNvSpPr/>
          <p:nvPr/>
        </p:nvSpPr>
        <p:spPr>
          <a:xfrm>
            <a:off x="3286364" y="2847683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Rectangle 185"/>
          <p:cNvSpPr/>
          <p:nvPr/>
        </p:nvSpPr>
        <p:spPr>
          <a:xfrm>
            <a:off x="3709096" y="2847683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Rectangle 186"/>
          <p:cNvSpPr/>
          <p:nvPr/>
        </p:nvSpPr>
        <p:spPr>
          <a:xfrm>
            <a:off x="4131828" y="2847683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Rectangle 187"/>
          <p:cNvSpPr/>
          <p:nvPr/>
        </p:nvSpPr>
        <p:spPr>
          <a:xfrm>
            <a:off x="4554560" y="2847683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Rectangle 188"/>
          <p:cNvSpPr/>
          <p:nvPr/>
        </p:nvSpPr>
        <p:spPr>
          <a:xfrm>
            <a:off x="4977305" y="2847683"/>
            <a:ext cx="422732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Rectangle 189"/>
          <p:cNvSpPr/>
          <p:nvPr/>
        </p:nvSpPr>
        <p:spPr>
          <a:xfrm>
            <a:off x="36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Rectangle 190"/>
          <p:cNvSpPr/>
          <p:nvPr/>
        </p:nvSpPr>
        <p:spPr>
          <a:xfrm>
            <a:off x="2880040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2" name="Picture 19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193" name="Picture 19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194" name="TextBox 193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Crossover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08000" y="359888"/>
            <a:ext cx="567739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1">
                <a:solidFill>
                  <a:srgbClr val="003373"/>
                </a:solidFill>
                <a:latin typeface="Josefin Sans"/>
              </a:rPr>
              <a:t>Sexual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crossover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359993" y="635845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Uniform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crossover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640409" y="944465"/>
            <a:ext cx="514498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Parent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613803" y="1230418"/>
            <a:ext cx="517159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Parent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792948" y="1516359"/>
            <a:ext cx="499244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Mask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1368513" y="1516359"/>
            <a:ext cx="441688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1770188" y="1516359"/>
            <a:ext cx="401520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2213990" y="1516359"/>
            <a:ext cx="357140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2636724" y="1516359"/>
            <a:ext cx="314867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3038399" y="1516359"/>
            <a:ext cx="274699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3482201" y="1516359"/>
            <a:ext cx="230319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3883876" y="1516359"/>
            <a:ext cx="190151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4327662" y="1516359"/>
            <a:ext cx="145773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4729337" y="1516359"/>
            <a:ext cx="105605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5152068" y="1516359"/>
            <a:ext cx="63332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10" name="TextBox 209"/>
          <p:cNvSpPr txBox="1"/>
          <p:nvPr/>
        </p:nvSpPr>
        <p:spPr>
          <a:xfrm>
            <a:off x="1355695" y="1802839"/>
            <a:ext cx="442970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Cambria Math"/>
              </a:rPr>
              <a:t>↑</a:t>
            </a:r>
          </a:p>
        </p:txBody>
      </p:sp>
      <p:sp>
        <p:nvSpPr>
          <p:cNvPr id="211" name="TextBox 210"/>
          <p:cNvSpPr txBox="1"/>
          <p:nvPr/>
        </p:nvSpPr>
        <p:spPr>
          <a:xfrm>
            <a:off x="2201176" y="1802839"/>
            <a:ext cx="358421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Cambria Math"/>
              </a:rPr>
              <a:t>↑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2623910" y="1802839"/>
            <a:ext cx="316148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Cambria Math"/>
              </a:rPr>
              <a:t>↑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3469390" y="1802839"/>
            <a:ext cx="231600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Cambria Math"/>
              </a:rPr>
              <a:t>↑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4314858" y="1802839"/>
            <a:ext cx="147053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Cambria Math"/>
              </a:rPr>
              <a:t>↑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3250320" y="2088780"/>
            <a:ext cx="253507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⇓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4898807" y="3150918"/>
            <a:ext cx="88658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5639712" y="3150694"/>
            <a:ext cx="14568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18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1185303" y="909307"/>
            <a:ext cx="410083" cy="222681"/>
          </a:xfrm>
          <a:prstGeom prst="rect">
            <a:avLst/>
          </a:prstGeom>
          <a:solidFill>
            <a:srgbClr val="FBB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608035" y="909307"/>
            <a:ext cx="410083" cy="222681"/>
          </a:xfrm>
          <a:prstGeom prst="rect">
            <a:avLst/>
          </a:prstGeom>
          <a:solidFill>
            <a:srgbClr val="FBB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030767" y="909307"/>
            <a:ext cx="410082" cy="222681"/>
          </a:xfrm>
          <a:prstGeom prst="rect">
            <a:avLst/>
          </a:prstGeom>
          <a:solidFill>
            <a:srgbClr val="FBB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453499" y="909307"/>
            <a:ext cx="410083" cy="222681"/>
          </a:xfrm>
          <a:prstGeom prst="rect">
            <a:avLst/>
          </a:prstGeom>
          <a:solidFill>
            <a:srgbClr val="FBB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876244" y="909307"/>
            <a:ext cx="410082" cy="222681"/>
          </a:xfrm>
          <a:prstGeom prst="rect">
            <a:avLst/>
          </a:prstGeom>
          <a:solidFill>
            <a:srgbClr val="FBB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298976" y="909307"/>
            <a:ext cx="410083" cy="222681"/>
          </a:xfrm>
          <a:prstGeom prst="rect">
            <a:avLst/>
          </a:prstGeom>
          <a:solidFill>
            <a:srgbClr val="FBB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721709" y="909307"/>
            <a:ext cx="410083" cy="222681"/>
          </a:xfrm>
          <a:prstGeom prst="rect">
            <a:avLst/>
          </a:prstGeom>
          <a:solidFill>
            <a:srgbClr val="FBB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144441" y="909307"/>
            <a:ext cx="410083" cy="222681"/>
          </a:xfrm>
          <a:prstGeom prst="rect">
            <a:avLst/>
          </a:prstGeom>
          <a:solidFill>
            <a:srgbClr val="FBB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567186" y="909307"/>
            <a:ext cx="410083" cy="222681"/>
          </a:xfrm>
          <a:prstGeom prst="rect">
            <a:avLst/>
          </a:prstGeom>
          <a:solidFill>
            <a:srgbClr val="FBB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989918" y="909307"/>
            <a:ext cx="410083" cy="222681"/>
          </a:xfrm>
          <a:prstGeom prst="rect">
            <a:avLst/>
          </a:prstGeom>
          <a:solidFill>
            <a:srgbClr val="FBB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 flipV="1">
            <a:off x="1601710" y="909307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2024443" y="909307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2447175" y="909307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2869907" y="909307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V="1">
            <a:off x="3292652" y="909307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3715384" y="909307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4138116" y="909307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4560849" y="909307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V="1">
            <a:off x="4983593" y="909307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Rectangle 54"/>
          <p:cNvSpPr/>
          <p:nvPr/>
        </p:nvSpPr>
        <p:spPr>
          <a:xfrm>
            <a:off x="1185303" y="1195260"/>
            <a:ext cx="410083" cy="222681"/>
          </a:xfrm>
          <a:prstGeom prst="rect">
            <a:avLst/>
          </a:prstGeom>
          <a:solidFill>
            <a:srgbClr val="B3C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1608035" y="1195260"/>
            <a:ext cx="410083" cy="222681"/>
          </a:xfrm>
          <a:prstGeom prst="rect">
            <a:avLst/>
          </a:prstGeom>
          <a:solidFill>
            <a:srgbClr val="B3C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2030767" y="1195260"/>
            <a:ext cx="410082" cy="222681"/>
          </a:xfrm>
          <a:prstGeom prst="rect">
            <a:avLst/>
          </a:prstGeom>
          <a:solidFill>
            <a:srgbClr val="B3C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2453499" y="1195260"/>
            <a:ext cx="410083" cy="222681"/>
          </a:xfrm>
          <a:prstGeom prst="rect">
            <a:avLst/>
          </a:prstGeom>
          <a:solidFill>
            <a:srgbClr val="B3C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2876244" y="1195260"/>
            <a:ext cx="410082" cy="222681"/>
          </a:xfrm>
          <a:prstGeom prst="rect">
            <a:avLst/>
          </a:prstGeom>
          <a:solidFill>
            <a:srgbClr val="B3C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3298976" y="1195260"/>
            <a:ext cx="410083" cy="222681"/>
          </a:xfrm>
          <a:prstGeom prst="rect">
            <a:avLst/>
          </a:prstGeom>
          <a:solidFill>
            <a:srgbClr val="B3C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3721709" y="1195260"/>
            <a:ext cx="410083" cy="222681"/>
          </a:xfrm>
          <a:prstGeom prst="rect">
            <a:avLst/>
          </a:prstGeom>
          <a:solidFill>
            <a:srgbClr val="B3C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4144441" y="1195260"/>
            <a:ext cx="410083" cy="222681"/>
          </a:xfrm>
          <a:prstGeom prst="rect">
            <a:avLst/>
          </a:prstGeom>
          <a:solidFill>
            <a:srgbClr val="B3C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4567186" y="1195260"/>
            <a:ext cx="410083" cy="222681"/>
          </a:xfrm>
          <a:prstGeom prst="rect">
            <a:avLst/>
          </a:prstGeom>
          <a:solidFill>
            <a:srgbClr val="B3C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4989918" y="1195260"/>
            <a:ext cx="410083" cy="222681"/>
          </a:xfrm>
          <a:prstGeom prst="rect">
            <a:avLst/>
          </a:prstGeom>
          <a:solidFill>
            <a:srgbClr val="B3C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5" name="Connector 64"/>
          <p:cNvCxnSpPr/>
          <p:nvPr/>
        </p:nvCxnSpPr>
        <p:spPr>
          <a:xfrm flipV="1">
            <a:off x="1601710" y="1195247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2024443" y="1195247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V="1">
            <a:off x="2447175" y="1195247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V="1">
            <a:off x="2869907" y="1195247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V="1">
            <a:off x="3292652" y="1195247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 flipV="1">
            <a:off x="3715384" y="1195247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V="1">
            <a:off x="4138116" y="1195247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V="1">
            <a:off x="4560849" y="1195247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 flipV="1">
            <a:off x="4983593" y="1195247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 flipV="1">
            <a:off x="1601706" y="1481201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 flipV="1">
            <a:off x="2024439" y="1481201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 flipV="1">
            <a:off x="2447171" y="1481201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V="1">
            <a:off x="2869903" y="1481201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 flipV="1">
            <a:off x="3292648" y="1481201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 flipV="1">
            <a:off x="3715380" y="1481201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 flipV="1">
            <a:off x="4138112" y="1481201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 flipV="1">
            <a:off x="4560845" y="1481201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 flipV="1">
            <a:off x="4983589" y="1481201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 flipV="1">
            <a:off x="1601722" y="1767141"/>
            <a:ext cx="0" cy="285954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 flipV="1">
            <a:off x="2024454" y="1767141"/>
            <a:ext cx="0" cy="285954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 flipV="1">
            <a:off x="2447187" y="1767141"/>
            <a:ext cx="0" cy="285954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 flipV="1">
            <a:off x="2869919" y="1767141"/>
            <a:ext cx="0" cy="285954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 flipV="1">
            <a:off x="3292664" y="1767141"/>
            <a:ext cx="0" cy="285954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 flipV="1">
            <a:off x="3715396" y="1767141"/>
            <a:ext cx="0" cy="285954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 flipV="1">
            <a:off x="4138128" y="1767141"/>
            <a:ext cx="0" cy="285954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 flipV="1">
            <a:off x="4560860" y="1767141"/>
            <a:ext cx="0" cy="285954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 flipV="1">
            <a:off x="4983605" y="1767141"/>
            <a:ext cx="0" cy="285954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Rectangle 91"/>
          <p:cNvSpPr/>
          <p:nvPr/>
        </p:nvSpPr>
        <p:spPr>
          <a:xfrm>
            <a:off x="1185314" y="2339048"/>
            <a:ext cx="410083" cy="222681"/>
          </a:xfrm>
          <a:prstGeom prst="rect">
            <a:avLst/>
          </a:prstGeom>
          <a:solidFill>
            <a:srgbClr val="B3C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608048" y="2339048"/>
            <a:ext cx="410083" cy="222681"/>
          </a:xfrm>
          <a:prstGeom prst="rect">
            <a:avLst/>
          </a:prstGeom>
          <a:solidFill>
            <a:srgbClr val="FBB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2030782" y="2339048"/>
            <a:ext cx="410082" cy="222681"/>
          </a:xfrm>
          <a:prstGeom prst="rect">
            <a:avLst/>
          </a:prstGeom>
          <a:solidFill>
            <a:srgbClr val="B3C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2453515" y="2339048"/>
            <a:ext cx="410082" cy="222681"/>
          </a:xfrm>
          <a:prstGeom prst="rect">
            <a:avLst/>
          </a:prstGeom>
          <a:solidFill>
            <a:srgbClr val="B3C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2876259" y="2339048"/>
            <a:ext cx="410082" cy="222681"/>
          </a:xfrm>
          <a:prstGeom prst="rect">
            <a:avLst/>
          </a:prstGeom>
          <a:solidFill>
            <a:srgbClr val="FBB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3298992" y="2339048"/>
            <a:ext cx="410083" cy="222681"/>
          </a:xfrm>
          <a:prstGeom prst="rect">
            <a:avLst/>
          </a:prstGeom>
          <a:solidFill>
            <a:srgbClr val="B3C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3721726" y="2339048"/>
            <a:ext cx="410083" cy="222681"/>
          </a:xfrm>
          <a:prstGeom prst="rect">
            <a:avLst/>
          </a:prstGeom>
          <a:solidFill>
            <a:srgbClr val="FBB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4144460" y="2339048"/>
            <a:ext cx="410083" cy="222681"/>
          </a:xfrm>
          <a:prstGeom prst="rect">
            <a:avLst/>
          </a:prstGeom>
          <a:solidFill>
            <a:srgbClr val="B3C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4567206" y="2339048"/>
            <a:ext cx="410083" cy="222681"/>
          </a:xfrm>
          <a:prstGeom prst="rect">
            <a:avLst/>
          </a:prstGeom>
          <a:solidFill>
            <a:srgbClr val="FBB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4989940" y="2339048"/>
            <a:ext cx="410083" cy="222681"/>
          </a:xfrm>
          <a:prstGeom prst="rect">
            <a:avLst/>
          </a:prstGeom>
          <a:solidFill>
            <a:srgbClr val="FBB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2" name="Connector 101"/>
          <p:cNvCxnSpPr/>
          <p:nvPr/>
        </p:nvCxnSpPr>
        <p:spPr>
          <a:xfrm flipV="1">
            <a:off x="1601734" y="2339048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 flipV="1">
            <a:off x="2024467" y="2339048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 flipV="1">
            <a:off x="2447199" y="2339048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 flipV="1">
            <a:off x="2869931" y="2339048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 flipV="1">
            <a:off x="3292676" y="2339048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 flipV="1">
            <a:off x="3715408" y="2339048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 flipV="1">
            <a:off x="4138140" y="2339048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 flipV="1">
            <a:off x="4560873" y="2339048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/>
          <p:cNvCxnSpPr/>
          <p:nvPr/>
        </p:nvCxnSpPr>
        <p:spPr>
          <a:xfrm flipV="1">
            <a:off x="4983617" y="2339048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 110"/>
          <p:cNvCxnSpPr/>
          <p:nvPr/>
        </p:nvCxnSpPr>
        <p:spPr>
          <a:xfrm flipV="1">
            <a:off x="1601747" y="2624989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 111"/>
          <p:cNvCxnSpPr/>
          <p:nvPr/>
        </p:nvCxnSpPr>
        <p:spPr>
          <a:xfrm flipV="1">
            <a:off x="2024479" y="2624989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 112"/>
          <p:cNvCxnSpPr/>
          <p:nvPr/>
        </p:nvCxnSpPr>
        <p:spPr>
          <a:xfrm flipV="1">
            <a:off x="2447211" y="2624989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/>
          <p:cNvCxnSpPr/>
          <p:nvPr/>
        </p:nvCxnSpPr>
        <p:spPr>
          <a:xfrm flipV="1">
            <a:off x="2869944" y="2624989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Connector 114"/>
          <p:cNvCxnSpPr/>
          <p:nvPr/>
        </p:nvCxnSpPr>
        <p:spPr>
          <a:xfrm flipV="1">
            <a:off x="3292688" y="2624989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 115"/>
          <p:cNvCxnSpPr/>
          <p:nvPr/>
        </p:nvCxnSpPr>
        <p:spPr>
          <a:xfrm flipV="1">
            <a:off x="3715421" y="2624989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 116"/>
          <p:cNvCxnSpPr/>
          <p:nvPr/>
        </p:nvCxnSpPr>
        <p:spPr>
          <a:xfrm flipV="1">
            <a:off x="4138153" y="2624989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 117"/>
          <p:cNvCxnSpPr/>
          <p:nvPr/>
        </p:nvCxnSpPr>
        <p:spPr>
          <a:xfrm flipV="1">
            <a:off x="4560885" y="2624989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 118"/>
          <p:cNvCxnSpPr/>
          <p:nvPr/>
        </p:nvCxnSpPr>
        <p:spPr>
          <a:xfrm flipV="1">
            <a:off x="4983630" y="2624989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0" name="Rectangle 119"/>
          <p:cNvSpPr/>
          <p:nvPr/>
        </p:nvSpPr>
        <p:spPr>
          <a:xfrm>
            <a:off x="1185339" y="846049"/>
            <a:ext cx="422732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1595422" y="846049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2018154" y="846049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2440887" y="846049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2863619" y="846049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3286364" y="846049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3709096" y="846049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4131828" y="846049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4554560" y="846049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4977305" y="846049"/>
            <a:ext cx="422732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1185339" y="1132002"/>
            <a:ext cx="422732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1595422" y="1132002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2018154" y="1132002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2440887" y="1132002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2863619" y="1132002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3286364" y="1132002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3709096" y="1132002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Rectangle 136"/>
          <p:cNvSpPr/>
          <p:nvPr/>
        </p:nvSpPr>
        <p:spPr>
          <a:xfrm>
            <a:off x="4131828" y="1132002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Rectangle 137"/>
          <p:cNvSpPr/>
          <p:nvPr/>
        </p:nvSpPr>
        <p:spPr>
          <a:xfrm>
            <a:off x="4554560" y="1132002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Rectangle 138"/>
          <p:cNvSpPr/>
          <p:nvPr/>
        </p:nvSpPr>
        <p:spPr>
          <a:xfrm>
            <a:off x="4977305" y="1132002"/>
            <a:ext cx="422732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ectangle 139"/>
          <p:cNvSpPr/>
          <p:nvPr/>
        </p:nvSpPr>
        <p:spPr>
          <a:xfrm>
            <a:off x="1185339" y="1417943"/>
            <a:ext cx="422732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1595422" y="1417943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Rectangle 141"/>
          <p:cNvSpPr/>
          <p:nvPr/>
        </p:nvSpPr>
        <p:spPr>
          <a:xfrm>
            <a:off x="2018154" y="1417943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ectangle 142"/>
          <p:cNvSpPr/>
          <p:nvPr/>
        </p:nvSpPr>
        <p:spPr>
          <a:xfrm>
            <a:off x="2440887" y="1417943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Rectangle 143"/>
          <p:cNvSpPr/>
          <p:nvPr/>
        </p:nvSpPr>
        <p:spPr>
          <a:xfrm>
            <a:off x="2863619" y="1417943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3286364" y="1417943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Rectangle 145"/>
          <p:cNvSpPr/>
          <p:nvPr/>
        </p:nvSpPr>
        <p:spPr>
          <a:xfrm>
            <a:off x="3709096" y="1417943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Rectangle 146"/>
          <p:cNvSpPr/>
          <p:nvPr/>
        </p:nvSpPr>
        <p:spPr>
          <a:xfrm>
            <a:off x="4131828" y="1417943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Rectangle 147"/>
          <p:cNvSpPr/>
          <p:nvPr/>
        </p:nvSpPr>
        <p:spPr>
          <a:xfrm>
            <a:off x="4554560" y="1417943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4977305" y="1417943"/>
            <a:ext cx="422732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Rectangle 149"/>
          <p:cNvSpPr/>
          <p:nvPr/>
        </p:nvSpPr>
        <p:spPr>
          <a:xfrm>
            <a:off x="1185339" y="1703896"/>
            <a:ext cx="422732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Rectangle 150"/>
          <p:cNvSpPr/>
          <p:nvPr/>
        </p:nvSpPr>
        <p:spPr>
          <a:xfrm>
            <a:off x="1595422" y="1703896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Rectangle 151"/>
          <p:cNvSpPr/>
          <p:nvPr/>
        </p:nvSpPr>
        <p:spPr>
          <a:xfrm>
            <a:off x="2018154" y="1703896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Rectangle 152"/>
          <p:cNvSpPr/>
          <p:nvPr/>
        </p:nvSpPr>
        <p:spPr>
          <a:xfrm>
            <a:off x="2440887" y="1703896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Rectangle 153"/>
          <p:cNvSpPr/>
          <p:nvPr/>
        </p:nvSpPr>
        <p:spPr>
          <a:xfrm>
            <a:off x="2863619" y="1703896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Rectangle 154"/>
          <p:cNvSpPr/>
          <p:nvPr/>
        </p:nvSpPr>
        <p:spPr>
          <a:xfrm>
            <a:off x="3286364" y="1703896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Rectangle 155"/>
          <p:cNvSpPr/>
          <p:nvPr/>
        </p:nvSpPr>
        <p:spPr>
          <a:xfrm>
            <a:off x="3709096" y="1703896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4131828" y="1703896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Rectangle 157"/>
          <p:cNvSpPr/>
          <p:nvPr/>
        </p:nvSpPr>
        <p:spPr>
          <a:xfrm>
            <a:off x="4554560" y="1703896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Rectangle 158"/>
          <p:cNvSpPr/>
          <p:nvPr/>
        </p:nvSpPr>
        <p:spPr>
          <a:xfrm>
            <a:off x="4977305" y="1703896"/>
            <a:ext cx="422732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Rectangle 159"/>
          <p:cNvSpPr/>
          <p:nvPr/>
        </p:nvSpPr>
        <p:spPr>
          <a:xfrm>
            <a:off x="1185339" y="1989836"/>
            <a:ext cx="422732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Rectangle 160"/>
          <p:cNvSpPr/>
          <p:nvPr/>
        </p:nvSpPr>
        <p:spPr>
          <a:xfrm>
            <a:off x="1595422" y="1989836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Rectangle 161"/>
          <p:cNvSpPr/>
          <p:nvPr/>
        </p:nvSpPr>
        <p:spPr>
          <a:xfrm>
            <a:off x="2018154" y="1989836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Rectangle 162"/>
          <p:cNvSpPr/>
          <p:nvPr/>
        </p:nvSpPr>
        <p:spPr>
          <a:xfrm>
            <a:off x="2440887" y="1989836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Rectangle 163"/>
          <p:cNvSpPr/>
          <p:nvPr/>
        </p:nvSpPr>
        <p:spPr>
          <a:xfrm>
            <a:off x="2863619" y="1989836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3286364" y="1989836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Rectangle 165"/>
          <p:cNvSpPr/>
          <p:nvPr/>
        </p:nvSpPr>
        <p:spPr>
          <a:xfrm>
            <a:off x="3709096" y="1989836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Rectangle 166"/>
          <p:cNvSpPr/>
          <p:nvPr/>
        </p:nvSpPr>
        <p:spPr>
          <a:xfrm>
            <a:off x="4131828" y="1989836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Rectangle 167"/>
          <p:cNvSpPr/>
          <p:nvPr/>
        </p:nvSpPr>
        <p:spPr>
          <a:xfrm>
            <a:off x="4554560" y="1989836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Rectangle 168"/>
          <p:cNvSpPr/>
          <p:nvPr/>
        </p:nvSpPr>
        <p:spPr>
          <a:xfrm>
            <a:off x="4977305" y="1989836"/>
            <a:ext cx="422732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Rectangle 169"/>
          <p:cNvSpPr/>
          <p:nvPr/>
        </p:nvSpPr>
        <p:spPr>
          <a:xfrm>
            <a:off x="1185339" y="2275789"/>
            <a:ext cx="422732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Rectangle 170"/>
          <p:cNvSpPr/>
          <p:nvPr/>
        </p:nvSpPr>
        <p:spPr>
          <a:xfrm>
            <a:off x="1595422" y="2275789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Rectangle 171"/>
          <p:cNvSpPr/>
          <p:nvPr/>
        </p:nvSpPr>
        <p:spPr>
          <a:xfrm>
            <a:off x="2018154" y="2275789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2440887" y="2275789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Rectangle 173"/>
          <p:cNvSpPr/>
          <p:nvPr/>
        </p:nvSpPr>
        <p:spPr>
          <a:xfrm>
            <a:off x="2863619" y="2275789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Rectangle 174"/>
          <p:cNvSpPr/>
          <p:nvPr/>
        </p:nvSpPr>
        <p:spPr>
          <a:xfrm>
            <a:off x="3286364" y="2275789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Rectangle 175"/>
          <p:cNvSpPr/>
          <p:nvPr/>
        </p:nvSpPr>
        <p:spPr>
          <a:xfrm>
            <a:off x="3709096" y="2275789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Rectangle 176"/>
          <p:cNvSpPr/>
          <p:nvPr/>
        </p:nvSpPr>
        <p:spPr>
          <a:xfrm>
            <a:off x="4131828" y="2275789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Rectangle 177"/>
          <p:cNvSpPr/>
          <p:nvPr/>
        </p:nvSpPr>
        <p:spPr>
          <a:xfrm>
            <a:off x="4554560" y="2275789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Rectangle 178"/>
          <p:cNvSpPr/>
          <p:nvPr/>
        </p:nvSpPr>
        <p:spPr>
          <a:xfrm>
            <a:off x="4977305" y="2275789"/>
            <a:ext cx="422732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Rectangle 179"/>
          <p:cNvSpPr/>
          <p:nvPr/>
        </p:nvSpPr>
        <p:spPr>
          <a:xfrm>
            <a:off x="1185339" y="2561743"/>
            <a:ext cx="422732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1595422" y="2561743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Rectangle 181"/>
          <p:cNvSpPr/>
          <p:nvPr/>
        </p:nvSpPr>
        <p:spPr>
          <a:xfrm>
            <a:off x="2018154" y="2561743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Rectangle 182"/>
          <p:cNvSpPr/>
          <p:nvPr/>
        </p:nvSpPr>
        <p:spPr>
          <a:xfrm>
            <a:off x="2440887" y="2561743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Rectangle 183"/>
          <p:cNvSpPr/>
          <p:nvPr/>
        </p:nvSpPr>
        <p:spPr>
          <a:xfrm>
            <a:off x="2863619" y="2561743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Rectangle 184"/>
          <p:cNvSpPr/>
          <p:nvPr/>
        </p:nvSpPr>
        <p:spPr>
          <a:xfrm>
            <a:off x="3286364" y="2561743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Rectangle 185"/>
          <p:cNvSpPr/>
          <p:nvPr/>
        </p:nvSpPr>
        <p:spPr>
          <a:xfrm>
            <a:off x="3709096" y="2561743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Rectangle 186"/>
          <p:cNvSpPr/>
          <p:nvPr/>
        </p:nvSpPr>
        <p:spPr>
          <a:xfrm>
            <a:off x="4131828" y="2561743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Rectangle 187"/>
          <p:cNvSpPr/>
          <p:nvPr/>
        </p:nvSpPr>
        <p:spPr>
          <a:xfrm>
            <a:off x="4554560" y="2561743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Rectangle 188"/>
          <p:cNvSpPr/>
          <p:nvPr/>
        </p:nvSpPr>
        <p:spPr>
          <a:xfrm>
            <a:off x="4977305" y="2561743"/>
            <a:ext cx="422732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Rectangle 189"/>
          <p:cNvSpPr/>
          <p:nvPr/>
        </p:nvSpPr>
        <p:spPr>
          <a:xfrm>
            <a:off x="1185339" y="2847683"/>
            <a:ext cx="422732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Rectangle 190"/>
          <p:cNvSpPr/>
          <p:nvPr/>
        </p:nvSpPr>
        <p:spPr>
          <a:xfrm>
            <a:off x="1595422" y="2847683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Rectangle 191"/>
          <p:cNvSpPr/>
          <p:nvPr/>
        </p:nvSpPr>
        <p:spPr>
          <a:xfrm>
            <a:off x="2018154" y="2847683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Rectangle 192"/>
          <p:cNvSpPr/>
          <p:nvPr/>
        </p:nvSpPr>
        <p:spPr>
          <a:xfrm>
            <a:off x="2440887" y="2847683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Rectangle 193"/>
          <p:cNvSpPr/>
          <p:nvPr/>
        </p:nvSpPr>
        <p:spPr>
          <a:xfrm>
            <a:off x="2863619" y="2847683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Rectangle 194"/>
          <p:cNvSpPr/>
          <p:nvPr/>
        </p:nvSpPr>
        <p:spPr>
          <a:xfrm>
            <a:off x="3286364" y="2847683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Rectangle 195"/>
          <p:cNvSpPr/>
          <p:nvPr/>
        </p:nvSpPr>
        <p:spPr>
          <a:xfrm>
            <a:off x="3709096" y="2847683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Rectangle 196"/>
          <p:cNvSpPr/>
          <p:nvPr/>
        </p:nvSpPr>
        <p:spPr>
          <a:xfrm>
            <a:off x="4131828" y="2847683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Rectangle 197"/>
          <p:cNvSpPr/>
          <p:nvPr/>
        </p:nvSpPr>
        <p:spPr>
          <a:xfrm>
            <a:off x="4554560" y="2847683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Rectangle 198"/>
          <p:cNvSpPr/>
          <p:nvPr/>
        </p:nvSpPr>
        <p:spPr>
          <a:xfrm>
            <a:off x="4977305" y="2847683"/>
            <a:ext cx="422732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Rectangle 199"/>
          <p:cNvSpPr/>
          <p:nvPr/>
        </p:nvSpPr>
        <p:spPr>
          <a:xfrm>
            <a:off x="36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Rectangle 200"/>
          <p:cNvSpPr/>
          <p:nvPr/>
        </p:nvSpPr>
        <p:spPr>
          <a:xfrm>
            <a:off x="2880040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2" name="Picture 20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203" name="Picture 20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204" name="TextBox 203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Crossover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108000" y="359888"/>
            <a:ext cx="567739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1">
                <a:solidFill>
                  <a:srgbClr val="003373"/>
                </a:solidFill>
                <a:latin typeface="Josefin Sans"/>
              </a:rPr>
              <a:t>Sexual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crossover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359993" y="635845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Uniform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crossover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640409" y="944465"/>
            <a:ext cx="514498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Parent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613803" y="1230418"/>
            <a:ext cx="517159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Parent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792948" y="1516359"/>
            <a:ext cx="499244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Mask</a:t>
            </a:r>
          </a:p>
        </p:txBody>
      </p:sp>
      <p:sp>
        <p:nvSpPr>
          <p:cNvPr id="210" name="TextBox 209"/>
          <p:cNvSpPr txBox="1"/>
          <p:nvPr/>
        </p:nvSpPr>
        <p:spPr>
          <a:xfrm>
            <a:off x="1368513" y="1516359"/>
            <a:ext cx="441688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211" name="TextBox 210"/>
          <p:cNvSpPr txBox="1"/>
          <p:nvPr/>
        </p:nvSpPr>
        <p:spPr>
          <a:xfrm>
            <a:off x="1770188" y="1516359"/>
            <a:ext cx="401520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2213990" y="1516359"/>
            <a:ext cx="357140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2636724" y="1516359"/>
            <a:ext cx="314867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3038399" y="1516359"/>
            <a:ext cx="274699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3482201" y="1516359"/>
            <a:ext cx="230319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3883876" y="1516359"/>
            <a:ext cx="190151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4327662" y="1516359"/>
            <a:ext cx="145773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4729337" y="1516359"/>
            <a:ext cx="105605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19" name="TextBox 218"/>
          <p:cNvSpPr txBox="1"/>
          <p:nvPr/>
        </p:nvSpPr>
        <p:spPr>
          <a:xfrm>
            <a:off x="5152068" y="1516359"/>
            <a:ext cx="63332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1355695" y="1802839"/>
            <a:ext cx="442970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Cambria Math"/>
              </a:rPr>
              <a:t>↑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2201176" y="1802839"/>
            <a:ext cx="358421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Cambria Math"/>
              </a:rPr>
              <a:t>↑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2623910" y="1802839"/>
            <a:ext cx="316148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Cambria Math"/>
              </a:rPr>
              <a:t>↑</a:t>
            </a:r>
          </a:p>
        </p:txBody>
      </p:sp>
      <p:sp>
        <p:nvSpPr>
          <p:cNvPr id="223" name="TextBox 222"/>
          <p:cNvSpPr txBox="1"/>
          <p:nvPr/>
        </p:nvSpPr>
        <p:spPr>
          <a:xfrm>
            <a:off x="3469390" y="1802839"/>
            <a:ext cx="231600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Cambria Math"/>
              </a:rPr>
              <a:t>↑</a:t>
            </a:r>
          </a:p>
        </p:txBody>
      </p:sp>
      <p:sp>
        <p:nvSpPr>
          <p:cNvPr id="224" name="TextBox 223"/>
          <p:cNvSpPr txBox="1"/>
          <p:nvPr/>
        </p:nvSpPr>
        <p:spPr>
          <a:xfrm>
            <a:off x="4314858" y="1802839"/>
            <a:ext cx="147053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Cambria Math"/>
              </a:rPr>
              <a:t>↑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3250320" y="2088780"/>
            <a:ext cx="253507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⇓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462531" y="2374206"/>
            <a:ext cx="532286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Offspring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4898807" y="3150918"/>
            <a:ext cx="88658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5639712" y="3150694"/>
            <a:ext cx="14568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18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1185303" y="909307"/>
            <a:ext cx="410083" cy="222681"/>
          </a:xfrm>
          <a:prstGeom prst="rect">
            <a:avLst/>
          </a:prstGeom>
          <a:solidFill>
            <a:srgbClr val="FBB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608035" y="909307"/>
            <a:ext cx="410083" cy="222681"/>
          </a:xfrm>
          <a:prstGeom prst="rect">
            <a:avLst/>
          </a:prstGeom>
          <a:solidFill>
            <a:srgbClr val="FBB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030767" y="909307"/>
            <a:ext cx="410082" cy="222681"/>
          </a:xfrm>
          <a:prstGeom prst="rect">
            <a:avLst/>
          </a:prstGeom>
          <a:solidFill>
            <a:srgbClr val="FBB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453499" y="909307"/>
            <a:ext cx="410083" cy="222681"/>
          </a:xfrm>
          <a:prstGeom prst="rect">
            <a:avLst/>
          </a:prstGeom>
          <a:solidFill>
            <a:srgbClr val="FBB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876244" y="909307"/>
            <a:ext cx="410082" cy="222681"/>
          </a:xfrm>
          <a:prstGeom prst="rect">
            <a:avLst/>
          </a:prstGeom>
          <a:solidFill>
            <a:srgbClr val="FBB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298976" y="909307"/>
            <a:ext cx="410083" cy="222681"/>
          </a:xfrm>
          <a:prstGeom prst="rect">
            <a:avLst/>
          </a:prstGeom>
          <a:solidFill>
            <a:srgbClr val="FBB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721709" y="909307"/>
            <a:ext cx="410083" cy="222681"/>
          </a:xfrm>
          <a:prstGeom prst="rect">
            <a:avLst/>
          </a:prstGeom>
          <a:solidFill>
            <a:srgbClr val="FBB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144441" y="909307"/>
            <a:ext cx="410083" cy="222681"/>
          </a:xfrm>
          <a:prstGeom prst="rect">
            <a:avLst/>
          </a:prstGeom>
          <a:solidFill>
            <a:srgbClr val="FBB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567186" y="909307"/>
            <a:ext cx="410083" cy="222681"/>
          </a:xfrm>
          <a:prstGeom prst="rect">
            <a:avLst/>
          </a:prstGeom>
          <a:solidFill>
            <a:srgbClr val="FBB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989918" y="909307"/>
            <a:ext cx="410083" cy="222681"/>
          </a:xfrm>
          <a:prstGeom prst="rect">
            <a:avLst/>
          </a:prstGeom>
          <a:solidFill>
            <a:srgbClr val="FBB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 flipV="1">
            <a:off x="1601710" y="909307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2024443" y="909307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2447175" y="909307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2869907" y="909307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V="1">
            <a:off x="3292652" y="909307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3715384" y="909307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4138116" y="909307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4560849" y="909307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V="1">
            <a:off x="4983593" y="909307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Rectangle 54"/>
          <p:cNvSpPr/>
          <p:nvPr/>
        </p:nvSpPr>
        <p:spPr>
          <a:xfrm>
            <a:off x="1185303" y="1195260"/>
            <a:ext cx="410083" cy="222681"/>
          </a:xfrm>
          <a:prstGeom prst="rect">
            <a:avLst/>
          </a:prstGeom>
          <a:solidFill>
            <a:srgbClr val="B3C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1608035" y="1195260"/>
            <a:ext cx="410083" cy="222681"/>
          </a:xfrm>
          <a:prstGeom prst="rect">
            <a:avLst/>
          </a:prstGeom>
          <a:solidFill>
            <a:srgbClr val="B3C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2030767" y="1195260"/>
            <a:ext cx="410082" cy="222681"/>
          </a:xfrm>
          <a:prstGeom prst="rect">
            <a:avLst/>
          </a:prstGeom>
          <a:solidFill>
            <a:srgbClr val="B3C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2453499" y="1195260"/>
            <a:ext cx="410083" cy="222681"/>
          </a:xfrm>
          <a:prstGeom prst="rect">
            <a:avLst/>
          </a:prstGeom>
          <a:solidFill>
            <a:srgbClr val="B3C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2876244" y="1195260"/>
            <a:ext cx="410082" cy="222681"/>
          </a:xfrm>
          <a:prstGeom prst="rect">
            <a:avLst/>
          </a:prstGeom>
          <a:solidFill>
            <a:srgbClr val="B3C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3298976" y="1195260"/>
            <a:ext cx="410083" cy="222681"/>
          </a:xfrm>
          <a:prstGeom prst="rect">
            <a:avLst/>
          </a:prstGeom>
          <a:solidFill>
            <a:srgbClr val="B3C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3721709" y="1195260"/>
            <a:ext cx="410083" cy="222681"/>
          </a:xfrm>
          <a:prstGeom prst="rect">
            <a:avLst/>
          </a:prstGeom>
          <a:solidFill>
            <a:srgbClr val="B3C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4144441" y="1195260"/>
            <a:ext cx="410083" cy="222681"/>
          </a:xfrm>
          <a:prstGeom prst="rect">
            <a:avLst/>
          </a:prstGeom>
          <a:solidFill>
            <a:srgbClr val="B3C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4567186" y="1195260"/>
            <a:ext cx="410083" cy="222681"/>
          </a:xfrm>
          <a:prstGeom prst="rect">
            <a:avLst/>
          </a:prstGeom>
          <a:solidFill>
            <a:srgbClr val="B3C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4989918" y="1195260"/>
            <a:ext cx="410083" cy="222681"/>
          </a:xfrm>
          <a:prstGeom prst="rect">
            <a:avLst/>
          </a:prstGeom>
          <a:solidFill>
            <a:srgbClr val="B3C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5" name="Connector 64"/>
          <p:cNvCxnSpPr/>
          <p:nvPr/>
        </p:nvCxnSpPr>
        <p:spPr>
          <a:xfrm flipV="1">
            <a:off x="1601710" y="1195247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2024443" y="1195247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V="1">
            <a:off x="2447175" y="1195247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V="1">
            <a:off x="2869907" y="1195247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V="1">
            <a:off x="3292652" y="1195247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 flipV="1">
            <a:off x="3715384" y="1195247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V="1">
            <a:off x="4138116" y="1195247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V="1">
            <a:off x="4560849" y="1195247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 flipV="1">
            <a:off x="4983593" y="1195247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 flipV="1">
            <a:off x="1601706" y="1481201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 flipV="1">
            <a:off x="2024439" y="1481201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 flipV="1">
            <a:off x="2447171" y="1481201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V="1">
            <a:off x="2869903" y="1481201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 flipV="1">
            <a:off x="3292648" y="1481201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 flipV="1">
            <a:off x="3715380" y="1481201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 flipV="1">
            <a:off x="4138112" y="1481201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 flipV="1">
            <a:off x="4560845" y="1481201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 flipV="1">
            <a:off x="4983589" y="1481201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 flipV="1">
            <a:off x="1601722" y="1767141"/>
            <a:ext cx="0" cy="285954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 flipV="1">
            <a:off x="2024454" y="1767141"/>
            <a:ext cx="0" cy="285954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 flipV="1">
            <a:off x="2447187" y="1767141"/>
            <a:ext cx="0" cy="285954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 flipV="1">
            <a:off x="2869919" y="1767141"/>
            <a:ext cx="0" cy="285954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 flipV="1">
            <a:off x="3292664" y="1767141"/>
            <a:ext cx="0" cy="285954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 flipV="1">
            <a:off x="3715396" y="1767141"/>
            <a:ext cx="0" cy="285954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 flipV="1">
            <a:off x="4138128" y="1767141"/>
            <a:ext cx="0" cy="285954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 flipV="1">
            <a:off x="4560860" y="1767141"/>
            <a:ext cx="0" cy="285954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 flipV="1">
            <a:off x="4983605" y="1767141"/>
            <a:ext cx="0" cy="285954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Rectangle 91"/>
          <p:cNvSpPr/>
          <p:nvPr/>
        </p:nvSpPr>
        <p:spPr>
          <a:xfrm>
            <a:off x="1185314" y="2339048"/>
            <a:ext cx="410083" cy="222681"/>
          </a:xfrm>
          <a:prstGeom prst="rect">
            <a:avLst/>
          </a:prstGeom>
          <a:solidFill>
            <a:srgbClr val="B3C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608048" y="2339048"/>
            <a:ext cx="410083" cy="222681"/>
          </a:xfrm>
          <a:prstGeom prst="rect">
            <a:avLst/>
          </a:prstGeom>
          <a:solidFill>
            <a:srgbClr val="FBB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2030782" y="2339048"/>
            <a:ext cx="410082" cy="222681"/>
          </a:xfrm>
          <a:prstGeom prst="rect">
            <a:avLst/>
          </a:prstGeom>
          <a:solidFill>
            <a:srgbClr val="B3C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2453515" y="2339048"/>
            <a:ext cx="410082" cy="222681"/>
          </a:xfrm>
          <a:prstGeom prst="rect">
            <a:avLst/>
          </a:prstGeom>
          <a:solidFill>
            <a:srgbClr val="B3C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2876259" y="2339048"/>
            <a:ext cx="410082" cy="222681"/>
          </a:xfrm>
          <a:prstGeom prst="rect">
            <a:avLst/>
          </a:prstGeom>
          <a:solidFill>
            <a:srgbClr val="FBB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3298992" y="2339048"/>
            <a:ext cx="410083" cy="222681"/>
          </a:xfrm>
          <a:prstGeom prst="rect">
            <a:avLst/>
          </a:prstGeom>
          <a:solidFill>
            <a:srgbClr val="B3C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3721726" y="2339048"/>
            <a:ext cx="410083" cy="222681"/>
          </a:xfrm>
          <a:prstGeom prst="rect">
            <a:avLst/>
          </a:prstGeom>
          <a:solidFill>
            <a:srgbClr val="FBB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4144460" y="2339048"/>
            <a:ext cx="410083" cy="222681"/>
          </a:xfrm>
          <a:prstGeom prst="rect">
            <a:avLst/>
          </a:prstGeom>
          <a:solidFill>
            <a:srgbClr val="B3C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4567206" y="2339048"/>
            <a:ext cx="410083" cy="222681"/>
          </a:xfrm>
          <a:prstGeom prst="rect">
            <a:avLst/>
          </a:prstGeom>
          <a:solidFill>
            <a:srgbClr val="FBB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4989940" y="2339048"/>
            <a:ext cx="410083" cy="222681"/>
          </a:xfrm>
          <a:prstGeom prst="rect">
            <a:avLst/>
          </a:prstGeom>
          <a:solidFill>
            <a:srgbClr val="FBB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2" name="Connector 101"/>
          <p:cNvCxnSpPr/>
          <p:nvPr/>
        </p:nvCxnSpPr>
        <p:spPr>
          <a:xfrm flipV="1">
            <a:off x="1601734" y="2339048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 flipV="1">
            <a:off x="2024467" y="2339048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 flipV="1">
            <a:off x="2447199" y="2339048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 flipV="1">
            <a:off x="2869931" y="2339048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 flipV="1">
            <a:off x="3292676" y="2339048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 flipV="1">
            <a:off x="3715408" y="2339048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 flipV="1">
            <a:off x="4138140" y="2339048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 flipV="1">
            <a:off x="4560873" y="2339048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/>
          <p:cNvCxnSpPr/>
          <p:nvPr/>
        </p:nvCxnSpPr>
        <p:spPr>
          <a:xfrm flipV="1">
            <a:off x="4983617" y="2339048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" name="Rectangle 110"/>
          <p:cNvSpPr/>
          <p:nvPr/>
        </p:nvSpPr>
        <p:spPr>
          <a:xfrm>
            <a:off x="1185326" y="2625001"/>
            <a:ext cx="410083" cy="222681"/>
          </a:xfrm>
          <a:prstGeom prst="rect">
            <a:avLst/>
          </a:prstGeom>
          <a:solidFill>
            <a:srgbClr val="FBB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1608060" y="2625001"/>
            <a:ext cx="410083" cy="222681"/>
          </a:xfrm>
          <a:prstGeom prst="rect">
            <a:avLst/>
          </a:prstGeom>
          <a:solidFill>
            <a:srgbClr val="B3C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2030794" y="2625001"/>
            <a:ext cx="410082" cy="222681"/>
          </a:xfrm>
          <a:prstGeom prst="rect">
            <a:avLst/>
          </a:prstGeom>
          <a:solidFill>
            <a:srgbClr val="FBB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2453527" y="2625001"/>
            <a:ext cx="410082" cy="222681"/>
          </a:xfrm>
          <a:prstGeom prst="rect">
            <a:avLst/>
          </a:prstGeom>
          <a:solidFill>
            <a:srgbClr val="FBB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2876271" y="2625001"/>
            <a:ext cx="410082" cy="222681"/>
          </a:xfrm>
          <a:prstGeom prst="rect">
            <a:avLst/>
          </a:prstGeom>
          <a:solidFill>
            <a:srgbClr val="B3C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3299005" y="2625001"/>
            <a:ext cx="410083" cy="222681"/>
          </a:xfrm>
          <a:prstGeom prst="rect">
            <a:avLst/>
          </a:prstGeom>
          <a:solidFill>
            <a:srgbClr val="FBB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3721739" y="2625001"/>
            <a:ext cx="410083" cy="222681"/>
          </a:xfrm>
          <a:prstGeom prst="rect">
            <a:avLst/>
          </a:prstGeom>
          <a:solidFill>
            <a:srgbClr val="B3C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4144472" y="2625001"/>
            <a:ext cx="410083" cy="222681"/>
          </a:xfrm>
          <a:prstGeom prst="rect">
            <a:avLst/>
          </a:prstGeom>
          <a:solidFill>
            <a:srgbClr val="FBB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4567219" y="2625001"/>
            <a:ext cx="410083" cy="222681"/>
          </a:xfrm>
          <a:prstGeom prst="rect">
            <a:avLst/>
          </a:prstGeom>
          <a:solidFill>
            <a:srgbClr val="B3C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4989953" y="2625001"/>
            <a:ext cx="410083" cy="222681"/>
          </a:xfrm>
          <a:prstGeom prst="rect">
            <a:avLst/>
          </a:prstGeom>
          <a:solidFill>
            <a:srgbClr val="B3C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1" name="Connector 120"/>
          <p:cNvCxnSpPr/>
          <p:nvPr/>
        </p:nvCxnSpPr>
        <p:spPr>
          <a:xfrm flipV="1">
            <a:off x="1601747" y="2624989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Connector 121"/>
          <p:cNvCxnSpPr/>
          <p:nvPr/>
        </p:nvCxnSpPr>
        <p:spPr>
          <a:xfrm flipV="1">
            <a:off x="2024479" y="2624989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Connector 122"/>
          <p:cNvCxnSpPr/>
          <p:nvPr/>
        </p:nvCxnSpPr>
        <p:spPr>
          <a:xfrm flipV="1">
            <a:off x="2447211" y="2624989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Connector 123"/>
          <p:cNvCxnSpPr/>
          <p:nvPr/>
        </p:nvCxnSpPr>
        <p:spPr>
          <a:xfrm flipV="1">
            <a:off x="2869944" y="2624989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 124"/>
          <p:cNvCxnSpPr/>
          <p:nvPr/>
        </p:nvCxnSpPr>
        <p:spPr>
          <a:xfrm flipV="1">
            <a:off x="3292688" y="2624989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Connector 125"/>
          <p:cNvCxnSpPr/>
          <p:nvPr/>
        </p:nvCxnSpPr>
        <p:spPr>
          <a:xfrm flipV="1">
            <a:off x="3715421" y="2624989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Connector 126"/>
          <p:cNvCxnSpPr/>
          <p:nvPr/>
        </p:nvCxnSpPr>
        <p:spPr>
          <a:xfrm flipV="1">
            <a:off x="4138153" y="2624989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Connector 127"/>
          <p:cNvCxnSpPr/>
          <p:nvPr/>
        </p:nvCxnSpPr>
        <p:spPr>
          <a:xfrm flipV="1">
            <a:off x="4560885" y="2624989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Connector 128"/>
          <p:cNvCxnSpPr/>
          <p:nvPr/>
        </p:nvCxnSpPr>
        <p:spPr>
          <a:xfrm flipV="1">
            <a:off x="4983630" y="2624989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0" name="Rectangle 129"/>
          <p:cNvSpPr/>
          <p:nvPr/>
        </p:nvSpPr>
        <p:spPr>
          <a:xfrm>
            <a:off x="1185339" y="846049"/>
            <a:ext cx="422732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1595422" y="846049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2018154" y="846049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2440887" y="846049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2863619" y="846049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3286364" y="846049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3709096" y="846049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Rectangle 136"/>
          <p:cNvSpPr/>
          <p:nvPr/>
        </p:nvSpPr>
        <p:spPr>
          <a:xfrm>
            <a:off x="4131828" y="846049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Rectangle 137"/>
          <p:cNvSpPr/>
          <p:nvPr/>
        </p:nvSpPr>
        <p:spPr>
          <a:xfrm>
            <a:off x="4554560" y="846049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Rectangle 138"/>
          <p:cNvSpPr/>
          <p:nvPr/>
        </p:nvSpPr>
        <p:spPr>
          <a:xfrm>
            <a:off x="4977305" y="846049"/>
            <a:ext cx="422732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ectangle 139"/>
          <p:cNvSpPr/>
          <p:nvPr/>
        </p:nvSpPr>
        <p:spPr>
          <a:xfrm>
            <a:off x="1185339" y="1132002"/>
            <a:ext cx="422732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1595422" y="1132002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Rectangle 141"/>
          <p:cNvSpPr/>
          <p:nvPr/>
        </p:nvSpPr>
        <p:spPr>
          <a:xfrm>
            <a:off x="2018154" y="1132002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ectangle 142"/>
          <p:cNvSpPr/>
          <p:nvPr/>
        </p:nvSpPr>
        <p:spPr>
          <a:xfrm>
            <a:off x="2440887" y="1132002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Rectangle 143"/>
          <p:cNvSpPr/>
          <p:nvPr/>
        </p:nvSpPr>
        <p:spPr>
          <a:xfrm>
            <a:off x="2863619" y="1132002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3286364" y="1132002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Rectangle 145"/>
          <p:cNvSpPr/>
          <p:nvPr/>
        </p:nvSpPr>
        <p:spPr>
          <a:xfrm>
            <a:off x="3709096" y="1132002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Rectangle 146"/>
          <p:cNvSpPr/>
          <p:nvPr/>
        </p:nvSpPr>
        <p:spPr>
          <a:xfrm>
            <a:off x="4131828" y="1132002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Rectangle 147"/>
          <p:cNvSpPr/>
          <p:nvPr/>
        </p:nvSpPr>
        <p:spPr>
          <a:xfrm>
            <a:off x="4554560" y="1132002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4977305" y="1132002"/>
            <a:ext cx="422732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Rectangle 149"/>
          <p:cNvSpPr/>
          <p:nvPr/>
        </p:nvSpPr>
        <p:spPr>
          <a:xfrm>
            <a:off x="1185339" y="1417943"/>
            <a:ext cx="422732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Rectangle 150"/>
          <p:cNvSpPr/>
          <p:nvPr/>
        </p:nvSpPr>
        <p:spPr>
          <a:xfrm>
            <a:off x="1595422" y="1417943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Rectangle 151"/>
          <p:cNvSpPr/>
          <p:nvPr/>
        </p:nvSpPr>
        <p:spPr>
          <a:xfrm>
            <a:off x="2018154" y="1417943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Rectangle 152"/>
          <p:cNvSpPr/>
          <p:nvPr/>
        </p:nvSpPr>
        <p:spPr>
          <a:xfrm>
            <a:off x="2440887" y="1417943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Rectangle 153"/>
          <p:cNvSpPr/>
          <p:nvPr/>
        </p:nvSpPr>
        <p:spPr>
          <a:xfrm>
            <a:off x="2863619" y="1417943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Rectangle 154"/>
          <p:cNvSpPr/>
          <p:nvPr/>
        </p:nvSpPr>
        <p:spPr>
          <a:xfrm>
            <a:off x="3286364" y="1417943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Rectangle 155"/>
          <p:cNvSpPr/>
          <p:nvPr/>
        </p:nvSpPr>
        <p:spPr>
          <a:xfrm>
            <a:off x="3709096" y="1417943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4131828" y="1417943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Rectangle 157"/>
          <p:cNvSpPr/>
          <p:nvPr/>
        </p:nvSpPr>
        <p:spPr>
          <a:xfrm>
            <a:off x="4554560" y="1417943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Rectangle 158"/>
          <p:cNvSpPr/>
          <p:nvPr/>
        </p:nvSpPr>
        <p:spPr>
          <a:xfrm>
            <a:off x="4977305" y="1417943"/>
            <a:ext cx="422732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Rectangle 159"/>
          <p:cNvSpPr/>
          <p:nvPr/>
        </p:nvSpPr>
        <p:spPr>
          <a:xfrm>
            <a:off x="1185339" y="1703896"/>
            <a:ext cx="422732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Rectangle 160"/>
          <p:cNvSpPr/>
          <p:nvPr/>
        </p:nvSpPr>
        <p:spPr>
          <a:xfrm>
            <a:off x="1595422" y="1703896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Rectangle 161"/>
          <p:cNvSpPr/>
          <p:nvPr/>
        </p:nvSpPr>
        <p:spPr>
          <a:xfrm>
            <a:off x="2018154" y="1703896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Rectangle 162"/>
          <p:cNvSpPr/>
          <p:nvPr/>
        </p:nvSpPr>
        <p:spPr>
          <a:xfrm>
            <a:off x="2440887" y="1703896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Rectangle 163"/>
          <p:cNvSpPr/>
          <p:nvPr/>
        </p:nvSpPr>
        <p:spPr>
          <a:xfrm>
            <a:off x="2863619" y="1703896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3286364" y="1703896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Rectangle 165"/>
          <p:cNvSpPr/>
          <p:nvPr/>
        </p:nvSpPr>
        <p:spPr>
          <a:xfrm>
            <a:off x="3709096" y="1703896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Rectangle 166"/>
          <p:cNvSpPr/>
          <p:nvPr/>
        </p:nvSpPr>
        <p:spPr>
          <a:xfrm>
            <a:off x="4131828" y="1703896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Rectangle 167"/>
          <p:cNvSpPr/>
          <p:nvPr/>
        </p:nvSpPr>
        <p:spPr>
          <a:xfrm>
            <a:off x="4554560" y="1703896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Rectangle 168"/>
          <p:cNvSpPr/>
          <p:nvPr/>
        </p:nvSpPr>
        <p:spPr>
          <a:xfrm>
            <a:off x="4977305" y="1703896"/>
            <a:ext cx="422732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Rectangle 169"/>
          <p:cNvSpPr/>
          <p:nvPr/>
        </p:nvSpPr>
        <p:spPr>
          <a:xfrm>
            <a:off x="1185339" y="1989836"/>
            <a:ext cx="422732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Rectangle 170"/>
          <p:cNvSpPr/>
          <p:nvPr/>
        </p:nvSpPr>
        <p:spPr>
          <a:xfrm>
            <a:off x="1595422" y="1989836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Rectangle 171"/>
          <p:cNvSpPr/>
          <p:nvPr/>
        </p:nvSpPr>
        <p:spPr>
          <a:xfrm>
            <a:off x="2018154" y="1989836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2440887" y="1989836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Rectangle 173"/>
          <p:cNvSpPr/>
          <p:nvPr/>
        </p:nvSpPr>
        <p:spPr>
          <a:xfrm>
            <a:off x="2863619" y="1989836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Rectangle 174"/>
          <p:cNvSpPr/>
          <p:nvPr/>
        </p:nvSpPr>
        <p:spPr>
          <a:xfrm>
            <a:off x="3286364" y="1989836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Rectangle 175"/>
          <p:cNvSpPr/>
          <p:nvPr/>
        </p:nvSpPr>
        <p:spPr>
          <a:xfrm>
            <a:off x="3709096" y="1989836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Rectangle 176"/>
          <p:cNvSpPr/>
          <p:nvPr/>
        </p:nvSpPr>
        <p:spPr>
          <a:xfrm>
            <a:off x="4131828" y="1989836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Rectangle 177"/>
          <p:cNvSpPr/>
          <p:nvPr/>
        </p:nvSpPr>
        <p:spPr>
          <a:xfrm>
            <a:off x="4554560" y="1989836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Rectangle 178"/>
          <p:cNvSpPr/>
          <p:nvPr/>
        </p:nvSpPr>
        <p:spPr>
          <a:xfrm>
            <a:off x="4977305" y="1989836"/>
            <a:ext cx="422732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Rectangle 179"/>
          <p:cNvSpPr/>
          <p:nvPr/>
        </p:nvSpPr>
        <p:spPr>
          <a:xfrm>
            <a:off x="1185339" y="2275789"/>
            <a:ext cx="422732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1595422" y="2275789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Rectangle 181"/>
          <p:cNvSpPr/>
          <p:nvPr/>
        </p:nvSpPr>
        <p:spPr>
          <a:xfrm>
            <a:off x="2018154" y="2275789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Rectangle 182"/>
          <p:cNvSpPr/>
          <p:nvPr/>
        </p:nvSpPr>
        <p:spPr>
          <a:xfrm>
            <a:off x="2440887" y="2275789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Rectangle 183"/>
          <p:cNvSpPr/>
          <p:nvPr/>
        </p:nvSpPr>
        <p:spPr>
          <a:xfrm>
            <a:off x="2863619" y="2275789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Rectangle 184"/>
          <p:cNvSpPr/>
          <p:nvPr/>
        </p:nvSpPr>
        <p:spPr>
          <a:xfrm>
            <a:off x="3286364" y="2275789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Rectangle 185"/>
          <p:cNvSpPr/>
          <p:nvPr/>
        </p:nvSpPr>
        <p:spPr>
          <a:xfrm>
            <a:off x="3709096" y="2275789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Rectangle 186"/>
          <p:cNvSpPr/>
          <p:nvPr/>
        </p:nvSpPr>
        <p:spPr>
          <a:xfrm>
            <a:off x="4131828" y="2275789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Rectangle 187"/>
          <p:cNvSpPr/>
          <p:nvPr/>
        </p:nvSpPr>
        <p:spPr>
          <a:xfrm>
            <a:off x="4554560" y="2275789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Rectangle 188"/>
          <p:cNvSpPr/>
          <p:nvPr/>
        </p:nvSpPr>
        <p:spPr>
          <a:xfrm>
            <a:off x="4977305" y="2275789"/>
            <a:ext cx="422732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Rectangle 189"/>
          <p:cNvSpPr/>
          <p:nvPr/>
        </p:nvSpPr>
        <p:spPr>
          <a:xfrm>
            <a:off x="1185339" y="2561743"/>
            <a:ext cx="422732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Rectangle 190"/>
          <p:cNvSpPr/>
          <p:nvPr/>
        </p:nvSpPr>
        <p:spPr>
          <a:xfrm>
            <a:off x="1595422" y="2561743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Rectangle 191"/>
          <p:cNvSpPr/>
          <p:nvPr/>
        </p:nvSpPr>
        <p:spPr>
          <a:xfrm>
            <a:off x="2018154" y="2561743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Rectangle 192"/>
          <p:cNvSpPr/>
          <p:nvPr/>
        </p:nvSpPr>
        <p:spPr>
          <a:xfrm>
            <a:off x="2440887" y="2561743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Rectangle 193"/>
          <p:cNvSpPr/>
          <p:nvPr/>
        </p:nvSpPr>
        <p:spPr>
          <a:xfrm>
            <a:off x="2863619" y="2561743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Rectangle 194"/>
          <p:cNvSpPr/>
          <p:nvPr/>
        </p:nvSpPr>
        <p:spPr>
          <a:xfrm>
            <a:off x="3286364" y="2561743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Rectangle 195"/>
          <p:cNvSpPr/>
          <p:nvPr/>
        </p:nvSpPr>
        <p:spPr>
          <a:xfrm>
            <a:off x="3709096" y="2561743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Rectangle 196"/>
          <p:cNvSpPr/>
          <p:nvPr/>
        </p:nvSpPr>
        <p:spPr>
          <a:xfrm>
            <a:off x="4131828" y="2561743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Rectangle 197"/>
          <p:cNvSpPr/>
          <p:nvPr/>
        </p:nvSpPr>
        <p:spPr>
          <a:xfrm>
            <a:off x="4554560" y="2561743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Rectangle 198"/>
          <p:cNvSpPr/>
          <p:nvPr/>
        </p:nvSpPr>
        <p:spPr>
          <a:xfrm>
            <a:off x="4977305" y="2561743"/>
            <a:ext cx="422732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Rectangle 199"/>
          <p:cNvSpPr/>
          <p:nvPr/>
        </p:nvSpPr>
        <p:spPr>
          <a:xfrm>
            <a:off x="1185339" y="2847683"/>
            <a:ext cx="422732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Rectangle 200"/>
          <p:cNvSpPr/>
          <p:nvPr/>
        </p:nvSpPr>
        <p:spPr>
          <a:xfrm>
            <a:off x="1595422" y="2847683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Rectangle 201"/>
          <p:cNvSpPr/>
          <p:nvPr/>
        </p:nvSpPr>
        <p:spPr>
          <a:xfrm>
            <a:off x="2018154" y="2847683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Rectangle 202"/>
          <p:cNvSpPr/>
          <p:nvPr/>
        </p:nvSpPr>
        <p:spPr>
          <a:xfrm>
            <a:off x="2440887" y="2847683"/>
            <a:ext cx="435394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Rectangle 203"/>
          <p:cNvSpPr/>
          <p:nvPr/>
        </p:nvSpPr>
        <p:spPr>
          <a:xfrm>
            <a:off x="2863619" y="2847683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Rectangle 204"/>
          <p:cNvSpPr/>
          <p:nvPr/>
        </p:nvSpPr>
        <p:spPr>
          <a:xfrm>
            <a:off x="3286364" y="2847683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Rectangle 205"/>
          <p:cNvSpPr/>
          <p:nvPr/>
        </p:nvSpPr>
        <p:spPr>
          <a:xfrm>
            <a:off x="3709096" y="2847683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Rectangle 206"/>
          <p:cNvSpPr/>
          <p:nvPr/>
        </p:nvSpPr>
        <p:spPr>
          <a:xfrm>
            <a:off x="4131828" y="2847683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Rectangle 207"/>
          <p:cNvSpPr/>
          <p:nvPr/>
        </p:nvSpPr>
        <p:spPr>
          <a:xfrm>
            <a:off x="4554560" y="2847683"/>
            <a:ext cx="435393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Rectangle 208"/>
          <p:cNvSpPr/>
          <p:nvPr/>
        </p:nvSpPr>
        <p:spPr>
          <a:xfrm>
            <a:off x="4977305" y="2847683"/>
            <a:ext cx="422732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Rectangle 209"/>
          <p:cNvSpPr/>
          <p:nvPr/>
        </p:nvSpPr>
        <p:spPr>
          <a:xfrm>
            <a:off x="36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Rectangle 210"/>
          <p:cNvSpPr/>
          <p:nvPr/>
        </p:nvSpPr>
        <p:spPr>
          <a:xfrm>
            <a:off x="2880040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2" name="Picture 2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213" name="Picture 21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214" name="TextBox 213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Crossover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108000" y="359888"/>
            <a:ext cx="567739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1">
                <a:solidFill>
                  <a:srgbClr val="003373"/>
                </a:solidFill>
                <a:latin typeface="Josefin Sans"/>
              </a:rPr>
              <a:t>Sexual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crossover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359993" y="635845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Uniform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crossover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640409" y="944465"/>
            <a:ext cx="514498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Parent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613803" y="1230418"/>
            <a:ext cx="517159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Parent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219" name="TextBox 218"/>
          <p:cNvSpPr txBox="1"/>
          <p:nvPr/>
        </p:nvSpPr>
        <p:spPr>
          <a:xfrm>
            <a:off x="792948" y="1516359"/>
            <a:ext cx="499244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Mask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1368513" y="1516359"/>
            <a:ext cx="441688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1770188" y="1516359"/>
            <a:ext cx="401520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2213990" y="1516359"/>
            <a:ext cx="357140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223" name="TextBox 222"/>
          <p:cNvSpPr txBox="1"/>
          <p:nvPr/>
        </p:nvSpPr>
        <p:spPr>
          <a:xfrm>
            <a:off x="2636724" y="1516359"/>
            <a:ext cx="314867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224" name="TextBox 223"/>
          <p:cNvSpPr txBox="1"/>
          <p:nvPr/>
        </p:nvSpPr>
        <p:spPr>
          <a:xfrm>
            <a:off x="3038399" y="1516359"/>
            <a:ext cx="274699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3482201" y="1516359"/>
            <a:ext cx="230319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3883876" y="1516359"/>
            <a:ext cx="190151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4327662" y="1516359"/>
            <a:ext cx="145773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4729337" y="1516359"/>
            <a:ext cx="105605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5152068" y="1516359"/>
            <a:ext cx="63332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1355695" y="1802839"/>
            <a:ext cx="442970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Cambria Math"/>
              </a:rPr>
              <a:t>↑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2201176" y="1802839"/>
            <a:ext cx="358421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Cambria Math"/>
              </a:rPr>
              <a:t>↑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2623910" y="1802839"/>
            <a:ext cx="316148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Cambria Math"/>
              </a:rPr>
              <a:t>↑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3469390" y="1802839"/>
            <a:ext cx="231600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Cambria Math"/>
              </a:rPr>
              <a:t>↑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4314858" y="1802839"/>
            <a:ext cx="147053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Cambria Math"/>
              </a:rPr>
              <a:t>↑</a:t>
            </a:r>
          </a:p>
        </p:txBody>
      </p:sp>
      <p:sp>
        <p:nvSpPr>
          <p:cNvPr id="235" name="TextBox 234"/>
          <p:cNvSpPr txBox="1"/>
          <p:nvPr/>
        </p:nvSpPr>
        <p:spPr>
          <a:xfrm>
            <a:off x="3250320" y="2088780"/>
            <a:ext cx="253507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⇓</a:t>
            </a:r>
          </a:p>
        </p:txBody>
      </p:sp>
      <p:sp>
        <p:nvSpPr>
          <p:cNvPr id="236" name="TextBox 235"/>
          <p:cNvSpPr txBox="1"/>
          <p:nvPr/>
        </p:nvSpPr>
        <p:spPr>
          <a:xfrm>
            <a:off x="462531" y="2374206"/>
            <a:ext cx="532286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Offspring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237" name="TextBox 236"/>
          <p:cNvSpPr txBox="1"/>
          <p:nvPr/>
        </p:nvSpPr>
        <p:spPr>
          <a:xfrm>
            <a:off x="435937" y="2660147"/>
            <a:ext cx="534945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Offspring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4898807" y="3150918"/>
            <a:ext cx="88658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239" name="TextBox 238"/>
          <p:cNvSpPr txBox="1"/>
          <p:nvPr/>
        </p:nvSpPr>
        <p:spPr>
          <a:xfrm>
            <a:off x="5639712" y="3150694"/>
            <a:ext cx="14568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18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4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Crossover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1500077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How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about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asexual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multi-recombination?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898770" y="3150917"/>
            <a:ext cx="8866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38532" y="3150693"/>
            <a:ext cx="14686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19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1803805" y="1482597"/>
            <a:ext cx="444461" cy="222681"/>
          </a:xfrm>
          <a:prstGeom prst="rect">
            <a:avLst/>
          </a:prstGeom>
          <a:solidFill>
            <a:srgbClr val="C7E9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253322" y="1482597"/>
            <a:ext cx="444462" cy="222681"/>
          </a:xfrm>
          <a:prstGeom prst="rect">
            <a:avLst/>
          </a:prstGeom>
          <a:solidFill>
            <a:srgbClr val="A1D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702851" y="1482597"/>
            <a:ext cx="444462" cy="222681"/>
          </a:xfrm>
          <a:prstGeom prst="rect">
            <a:avLst/>
          </a:prstGeom>
          <a:solidFill>
            <a:srgbClr val="7FCDB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152380" y="1482597"/>
            <a:ext cx="444462" cy="222681"/>
          </a:xfrm>
          <a:prstGeom prst="rect">
            <a:avLst/>
          </a:prstGeom>
          <a:solidFill>
            <a:srgbClr val="41B6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601897" y="1482597"/>
            <a:ext cx="444462" cy="222681"/>
          </a:xfrm>
          <a:prstGeom prst="rect">
            <a:avLst/>
          </a:prstGeom>
          <a:solidFill>
            <a:srgbClr val="1D91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051426" y="1482597"/>
            <a:ext cx="444462" cy="222681"/>
          </a:xfrm>
          <a:prstGeom prst="rect">
            <a:avLst/>
          </a:prstGeom>
          <a:solidFill>
            <a:srgbClr val="2C7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2" name="Connector 41"/>
          <p:cNvCxnSpPr/>
          <p:nvPr/>
        </p:nvCxnSpPr>
        <p:spPr>
          <a:xfrm flipV="1">
            <a:off x="362533" y="1482597"/>
            <a:ext cx="0" cy="222682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902220" y="1482597"/>
            <a:ext cx="0" cy="222682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1351749" y="1482597"/>
            <a:ext cx="0" cy="222682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1801266" y="1482597"/>
            <a:ext cx="0" cy="222682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2250795" y="1482597"/>
            <a:ext cx="0" cy="222682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2700324" y="1482597"/>
            <a:ext cx="0" cy="222682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3149840" y="1482597"/>
            <a:ext cx="0" cy="222682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3599370" y="1482597"/>
            <a:ext cx="0" cy="222682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V="1">
            <a:off x="4048899" y="1482597"/>
            <a:ext cx="0" cy="222682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4498415" y="1482597"/>
            <a:ext cx="0" cy="222682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4947944" y="1482597"/>
            <a:ext cx="0" cy="222682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5397474" y="1482597"/>
            <a:ext cx="0" cy="222682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V="1">
            <a:off x="362533" y="1705279"/>
            <a:ext cx="0" cy="222682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V="1">
            <a:off x="902220" y="1705279"/>
            <a:ext cx="0" cy="222682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1351749" y="1705279"/>
            <a:ext cx="0" cy="222682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V="1">
            <a:off x="1801266" y="1705279"/>
            <a:ext cx="0" cy="222682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V="1">
            <a:off x="2250795" y="1705279"/>
            <a:ext cx="0" cy="222682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2700324" y="1705279"/>
            <a:ext cx="0" cy="222682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V="1">
            <a:off x="3149840" y="1705279"/>
            <a:ext cx="0" cy="222682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3599370" y="1705279"/>
            <a:ext cx="0" cy="222682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4048899" y="1705279"/>
            <a:ext cx="0" cy="222682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4498415" y="1705279"/>
            <a:ext cx="0" cy="222682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4947944" y="1705279"/>
            <a:ext cx="0" cy="222682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5397474" y="1705279"/>
            <a:ext cx="0" cy="222682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362533" y="1927961"/>
            <a:ext cx="0" cy="222682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V="1">
            <a:off x="902219" y="1927961"/>
            <a:ext cx="0" cy="222682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V="1">
            <a:off x="1351748" y="1927961"/>
            <a:ext cx="0" cy="222682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V="1">
            <a:off x="1801265" y="1927961"/>
            <a:ext cx="0" cy="222682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 flipV="1">
            <a:off x="2250794" y="1927961"/>
            <a:ext cx="0" cy="222682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V="1">
            <a:off x="2700323" y="1927961"/>
            <a:ext cx="0" cy="222682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V="1">
            <a:off x="3149840" y="1927961"/>
            <a:ext cx="0" cy="222682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 flipV="1">
            <a:off x="3599369" y="1927961"/>
            <a:ext cx="0" cy="222682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 flipV="1">
            <a:off x="4048898" y="1927961"/>
            <a:ext cx="0" cy="222682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 flipV="1">
            <a:off x="4498415" y="1927961"/>
            <a:ext cx="0" cy="222682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 flipV="1">
            <a:off x="4947944" y="1927961"/>
            <a:ext cx="0" cy="222682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V="1">
            <a:off x="5397473" y="1927961"/>
            <a:ext cx="0" cy="222682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Rectangle 77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2880003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0" name="Picture 7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81" name="Picture 8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82" name="TextBox 81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Crossover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8000" y="359888"/>
            <a:ext cx="567739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1">
                <a:solidFill>
                  <a:srgbClr val="003373"/>
                </a:solidFill>
                <a:latin typeface="Josefin Sans"/>
              </a:rPr>
              <a:t>Asexual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crossover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59993" y="1142305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inversion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–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switching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portion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parent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40981" y="1517743"/>
            <a:ext cx="534441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Parent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105169" y="1517743"/>
            <a:ext cx="468022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533690" y="1517743"/>
            <a:ext cx="425170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2004211" y="1517743"/>
            <a:ext cx="378118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453741" y="1517743"/>
            <a:ext cx="333165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882201" y="1517743"/>
            <a:ext cx="290319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352786" y="1517743"/>
            <a:ext cx="243260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3781246" y="1517743"/>
            <a:ext cx="200414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251832" y="1517743"/>
            <a:ext cx="153356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680354" y="1517743"/>
            <a:ext cx="110504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129796" y="1517743"/>
            <a:ext cx="65559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996769" y="1760566"/>
            <a:ext cx="3788626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3373"/>
                </a:solidFill>
                <a:latin typeface="Cambria Math"/>
              </a:rPr>
              <a:t>↑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244401" y="1760566"/>
            <a:ext cx="154099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3373"/>
                </a:solidFill>
                <a:latin typeface="Cambria Math"/>
              </a:rPr>
              <a:t>↑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4898770" y="3150930"/>
            <a:ext cx="8866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5617133" y="3150706"/>
            <a:ext cx="16826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20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1803805" y="1482597"/>
            <a:ext cx="444461" cy="222681"/>
          </a:xfrm>
          <a:prstGeom prst="rect">
            <a:avLst/>
          </a:prstGeom>
          <a:solidFill>
            <a:srgbClr val="C7E9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253322" y="1482597"/>
            <a:ext cx="444462" cy="222681"/>
          </a:xfrm>
          <a:prstGeom prst="rect">
            <a:avLst/>
          </a:prstGeom>
          <a:solidFill>
            <a:srgbClr val="A1D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702851" y="1482597"/>
            <a:ext cx="444462" cy="222681"/>
          </a:xfrm>
          <a:prstGeom prst="rect">
            <a:avLst/>
          </a:prstGeom>
          <a:solidFill>
            <a:srgbClr val="7FCDB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152380" y="1482597"/>
            <a:ext cx="444462" cy="222681"/>
          </a:xfrm>
          <a:prstGeom prst="rect">
            <a:avLst/>
          </a:prstGeom>
          <a:solidFill>
            <a:srgbClr val="41B6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601897" y="1482597"/>
            <a:ext cx="444462" cy="222681"/>
          </a:xfrm>
          <a:prstGeom prst="rect">
            <a:avLst/>
          </a:prstGeom>
          <a:solidFill>
            <a:srgbClr val="1D91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051426" y="1482597"/>
            <a:ext cx="444462" cy="222681"/>
          </a:xfrm>
          <a:prstGeom prst="rect">
            <a:avLst/>
          </a:prstGeom>
          <a:solidFill>
            <a:srgbClr val="2C7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2" name="Connector 41"/>
          <p:cNvCxnSpPr/>
          <p:nvPr/>
        </p:nvCxnSpPr>
        <p:spPr>
          <a:xfrm flipV="1">
            <a:off x="362533" y="1482597"/>
            <a:ext cx="0" cy="222682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902220" y="1482597"/>
            <a:ext cx="0" cy="222682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1351749" y="1482597"/>
            <a:ext cx="0" cy="222682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1801266" y="1482597"/>
            <a:ext cx="0" cy="222682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2250795" y="1482597"/>
            <a:ext cx="0" cy="222682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2700324" y="1482597"/>
            <a:ext cx="0" cy="222682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3149840" y="1482597"/>
            <a:ext cx="0" cy="222682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3599370" y="1482597"/>
            <a:ext cx="0" cy="222682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V="1">
            <a:off x="4048899" y="1482597"/>
            <a:ext cx="0" cy="222682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4498415" y="1482597"/>
            <a:ext cx="0" cy="222682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4947944" y="1482597"/>
            <a:ext cx="0" cy="222682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5397474" y="1482597"/>
            <a:ext cx="0" cy="222682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V="1">
            <a:off x="362533" y="1705279"/>
            <a:ext cx="0" cy="222682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V="1">
            <a:off x="902220" y="1705279"/>
            <a:ext cx="0" cy="222682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1351749" y="1705279"/>
            <a:ext cx="0" cy="222682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V="1">
            <a:off x="1801266" y="1705279"/>
            <a:ext cx="0" cy="222682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V="1">
            <a:off x="2250795" y="1705279"/>
            <a:ext cx="0" cy="222682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2700324" y="1705279"/>
            <a:ext cx="0" cy="222682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V="1">
            <a:off x="3149840" y="1705279"/>
            <a:ext cx="0" cy="222682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3599370" y="1705279"/>
            <a:ext cx="0" cy="222682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4048899" y="1705279"/>
            <a:ext cx="0" cy="222682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4498415" y="1705279"/>
            <a:ext cx="0" cy="222682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4947944" y="1705279"/>
            <a:ext cx="0" cy="222682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5397474" y="1705279"/>
            <a:ext cx="0" cy="222682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Rectangle 65"/>
          <p:cNvSpPr/>
          <p:nvPr/>
        </p:nvSpPr>
        <p:spPr>
          <a:xfrm>
            <a:off x="1803805" y="1927961"/>
            <a:ext cx="444462" cy="222681"/>
          </a:xfrm>
          <a:prstGeom prst="rect">
            <a:avLst/>
          </a:prstGeom>
          <a:solidFill>
            <a:srgbClr val="2C7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2253321" y="1927962"/>
            <a:ext cx="444462" cy="222681"/>
          </a:xfrm>
          <a:prstGeom prst="rect">
            <a:avLst/>
          </a:prstGeom>
          <a:solidFill>
            <a:srgbClr val="1D91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2702850" y="1927961"/>
            <a:ext cx="444462" cy="222681"/>
          </a:xfrm>
          <a:prstGeom prst="rect">
            <a:avLst/>
          </a:prstGeom>
          <a:solidFill>
            <a:srgbClr val="41B6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3152380" y="1927962"/>
            <a:ext cx="444462" cy="222681"/>
          </a:xfrm>
          <a:prstGeom prst="rect">
            <a:avLst/>
          </a:prstGeom>
          <a:solidFill>
            <a:srgbClr val="7FCDB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3601896" y="1927961"/>
            <a:ext cx="444462" cy="222681"/>
          </a:xfrm>
          <a:prstGeom prst="rect">
            <a:avLst/>
          </a:prstGeom>
          <a:solidFill>
            <a:srgbClr val="A1D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4051425" y="1927962"/>
            <a:ext cx="444462" cy="222681"/>
          </a:xfrm>
          <a:prstGeom prst="rect">
            <a:avLst/>
          </a:prstGeom>
          <a:solidFill>
            <a:srgbClr val="C7E9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2" name="Connector 71"/>
          <p:cNvCxnSpPr/>
          <p:nvPr/>
        </p:nvCxnSpPr>
        <p:spPr>
          <a:xfrm flipV="1">
            <a:off x="362533" y="1927961"/>
            <a:ext cx="0" cy="222682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 flipV="1">
            <a:off x="902219" y="1927961"/>
            <a:ext cx="0" cy="222682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 flipV="1">
            <a:off x="1351748" y="1927961"/>
            <a:ext cx="0" cy="222682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 flipV="1">
            <a:off x="1801265" y="1927961"/>
            <a:ext cx="0" cy="222682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 flipV="1">
            <a:off x="2250794" y="1927961"/>
            <a:ext cx="0" cy="222682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V="1">
            <a:off x="2700323" y="1927961"/>
            <a:ext cx="0" cy="222682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 flipV="1">
            <a:off x="3149840" y="1927961"/>
            <a:ext cx="0" cy="222682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 flipV="1">
            <a:off x="3599369" y="1927961"/>
            <a:ext cx="0" cy="222682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 flipV="1">
            <a:off x="4048898" y="1927961"/>
            <a:ext cx="0" cy="222682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 flipV="1">
            <a:off x="4498415" y="1927961"/>
            <a:ext cx="0" cy="222682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 flipV="1">
            <a:off x="4947944" y="1927961"/>
            <a:ext cx="0" cy="222682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 flipV="1">
            <a:off x="5397473" y="1927961"/>
            <a:ext cx="0" cy="222682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Rectangle 83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2880003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6" name="Picture 8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87" name="Picture 8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88" name="TextBox 87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Crossover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8000" y="359888"/>
            <a:ext cx="567739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1">
                <a:solidFill>
                  <a:srgbClr val="003373"/>
                </a:solidFill>
                <a:latin typeface="Josefin Sans"/>
              </a:rPr>
              <a:t>Asexual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crossover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59993" y="1142305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inversion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–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switching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portion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parent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40981" y="1517743"/>
            <a:ext cx="534441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Parent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105169" y="1517743"/>
            <a:ext cx="468022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533690" y="1517743"/>
            <a:ext cx="425170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2004211" y="1517743"/>
            <a:ext cx="378118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453741" y="1517743"/>
            <a:ext cx="333165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2882201" y="1517743"/>
            <a:ext cx="290319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352786" y="1517743"/>
            <a:ext cx="243260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3781246" y="1517743"/>
            <a:ext cx="200414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251832" y="1517743"/>
            <a:ext cx="153356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680354" y="1517743"/>
            <a:ext cx="110504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129796" y="1517743"/>
            <a:ext cx="65559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996769" y="1760566"/>
            <a:ext cx="3788626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3373"/>
                </a:solidFill>
                <a:latin typeface="Cambria Math"/>
              </a:rPr>
              <a:t>↑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4244401" y="1760566"/>
            <a:ext cx="154099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3373"/>
                </a:solidFill>
                <a:latin typeface="Cambria Math"/>
              </a:rPr>
              <a:t>↑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516901" y="1963120"/>
            <a:ext cx="526849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Child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105165" y="1963120"/>
            <a:ext cx="468023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533625" y="1963120"/>
            <a:ext cx="425177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004210" y="1963120"/>
            <a:ext cx="378118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2432684" y="1963120"/>
            <a:ext cx="335271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2903256" y="1963120"/>
            <a:ext cx="28821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3331729" y="1963120"/>
            <a:ext cx="245366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3802315" y="1963120"/>
            <a:ext cx="198308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4251831" y="1963120"/>
            <a:ext cx="153356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4680305" y="1963120"/>
            <a:ext cx="110509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5129821" y="1963120"/>
            <a:ext cx="65557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4898770" y="3150930"/>
            <a:ext cx="8866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617133" y="3150706"/>
            <a:ext cx="16826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20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26559023" y="-24474966"/>
            <a:ext cx="412737" cy="222682"/>
          </a:xfrm>
          <a:prstGeom prst="rect">
            <a:avLst/>
          </a:prstGeom>
          <a:solidFill>
            <a:srgbClr val="FBB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6984424" y="-24474966"/>
            <a:ext cx="412737" cy="222682"/>
          </a:xfrm>
          <a:prstGeom prst="rect">
            <a:avLst/>
          </a:prstGeom>
          <a:solidFill>
            <a:srgbClr val="FBB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7409821" y="-24474966"/>
            <a:ext cx="412737" cy="222682"/>
          </a:xfrm>
          <a:prstGeom prst="rect">
            <a:avLst/>
          </a:prstGeom>
          <a:solidFill>
            <a:srgbClr val="FBB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7835209" y="-24474966"/>
            <a:ext cx="412737" cy="222682"/>
          </a:xfrm>
          <a:prstGeom prst="rect">
            <a:avLst/>
          </a:prstGeom>
          <a:solidFill>
            <a:srgbClr val="FBB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8260606" y="-24474966"/>
            <a:ext cx="412737" cy="222682"/>
          </a:xfrm>
          <a:prstGeom prst="rect">
            <a:avLst/>
          </a:prstGeom>
          <a:solidFill>
            <a:srgbClr val="FBB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8686007" y="-24474966"/>
            <a:ext cx="412737" cy="222682"/>
          </a:xfrm>
          <a:prstGeom prst="rect">
            <a:avLst/>
          </a:prstGeom>
          <a:solidFill>
            <a:srgbClr val="FBB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9111395" y="-24474966"/>
            <a:ext cx="412737" cy="222682"/>
          </a:xfrm>
          <a:prstGeom prst="rect">
            <a:avLst/>
          </a:prstGeom>
          <a:solidFill>
            <a:srgbClr val="FBB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9536792" y="-24474966"/>
            <a:ext cx="412737" cy="222682"/>
          </a:xfrm>
          <a:prstGeom prst="rect">
            <a:avLst/>
          </a:prstGeom>
          <a:solidFill>
            <a:srgbClr val="FBB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29962192" y="-24474966"/>
            <a:ext cx="412737" cy="222682"/>
          </a:xfrm>
          <a:prstGeom prst="rect">
            <a:avLst/>
          </a:prstGeom>
          <a:solidFill>
            <a:srgbClr val="FBB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30387577" y="-24474966"/>
            <a:ext cx="412737" cy="222682"/>
          </a:xfrm>
          <a:prstGeom prst="rect">
            <a:avLst/>
          </a:prstGeom>
          <a:solidFill>
            <a:srgbClr val="FBB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 flipV="1">
            <a:off x="26978099" y="-24474978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27403487" y="-24474978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27828884" y="-24474978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28254284" y="-24474978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V="1">
            <a:off x="28679669" y="-24474978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29105069" y="-24474978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29530470" y="-24474978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29955867" y="-24474978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V="1">
            <a:off x="30381255" y="-24474978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Rectangle 54"/>
          <p:cNvSpPr/>
          <p:nvPr/>
        </p:nvSpPr>
        <p:spPr>
          <a:xfrm>
            <a:off x="26559023" y="-24189027"/>
            <a:ext cx="412737" cy="222682"/>
          </a:xfrm>
          <a:prstGeom prst="rect">
            <a:avLst/>
          </a:prstGeom>
          <a:solidFill>
            <a:srgbClr val="B3C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26984424" y="-24189027"/>
            <a:ext cx="412737" cy="222682"/>
          </a:xfrm>
          <a:prstGeom prst="rect">
            <a:avLst/>
          </a:prstGeom>
          <a:solidFill>
            <a:srgbClr val="B3C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27409821" y="-24189027"/>
            <a:ext cx="412737" cy="222682"/>
          </a:xfrm>
          <a:prstGeom prst="rect">
            <a:avLst/>
          </a:prstGeom>
          <a:solidFill>
            <a:srgbClr val="B3C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27835209" y="-24189027"/>
            <a:ext cx="412737" cy="222682"/>
          </a:xfrm>
          <a:prstGeom prst="rect">
            <a:avLst/>
          </a:prstGeom>
          <a:solidFill>
            <a:srgbClr val="B3C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28260606" y="-24189027"/>
            <a:ext cx="412737" cy="222682"/>
          </a:xfrm>
          <a:prstGeom prst="rect">
            <a:avLst/>
          </a:prstGeom>
          <a:solidFill>
            <a:srgbClr val="B3C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28686007" y="-24189027"/>
            <a:ext cx="412737" cy="222682"/>
          </a:xfrm>
          <a:prstGeom prst="rect">
            <a:avLst/>
          </a:prstGeom>
          <a:solidFill>
            <a:srgbClr val="B3C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29111395" y="-24189027"/>
            <a:ext cx="412737" cy="222682"/>
          </a:xfrm>
          <a:prstGeom prst="rect">
            <a:avLst/>
          </a:prstGeom>
          <a:solidFill>
            <a:srgbClr val="B3C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29536792" y="-24189027"/>
            <a:ext cx="412737" cy="222682"/>
          </a:xfrm>
          <a:prstGeom prst="rect">
            <a:avLst/>
          </a:prstGeom>
          <a:solidFill>
            <a:srgbClr val="B3C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29962192" y="-24189027"/>
            <a:ext cx="412737" cy="222682"/>
          </a:xfrm>
          <a:prstGeom prst="rect">
            <a:avLst/>
          </a:prstGeom>
          <a:solidFill>
            <a:srgbClr val="B3C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30387577" y="-24189027"/>
            <a:ext cx="412737" cy="222682"/>
          </a:xfrm>
          <a:prstGeom prst="rect">
            <a:avLst/>
          </a:prstGeom>
          <a:solidFill>
            <a:srgbClr val="B3C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5" name="Connector 64"/>
          <p:cNvCxnSpPr/>
          <p:nvPr/>
        </p:nvCxnSpPr>
        <p:spPr>
          <a:xfrm flipV="1">
            <a:off x="26978099" y="-24189025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27403487" y="-24189025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V="1">
            <a:off x="27828884" y="-24189025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V="1">
            <a:off x="28254284" y="-24189025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V="1">
            <a:off x="28679669" y="-24189025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 flipV="1">
            <a:off x="29105069" y="-24189025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V="1">
            <a:off x="29530470" y="-24189025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V="1">
            <a:off x="29955867" y="-24189025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 flipV="1">
            <a:off x="30381255" y="-24189025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Rectangle 73"/>
          <p:cNvSpPr/>
          <p:nvPr/>
        </p:nvSpPr>
        <p:spPr>
          <a:xfrm>
            <a:off x="26559023" y="-23903072"/>
            <a:ext cx="412737" cy="222682"/>
          </a:xfrm>
          <a:prstGeom prst="rect">
            <a:avLst/>
          </a:prstGeom>
          <a:solidFill>
            <a:srgbClr val="CCEB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26984424" y="-23903072"/>
            <a:ext cx="412737" cy="222682"/>
          </a:xfrm>
          <a:prstGeom prst="rect">
            <a:avLst/>
          </a:prstGeom>
          <a:solidFill>
            <a:srgbClr val="CCEB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27409821" y="-23903072"/>
            <a:ext cx="412737" cy="222682"/>
          </a:xfrm>
          <a:prstGeom prst="rect">
            <a:avLst/>
          </a:prstGeom>
          <a:solidFill>
            <a:srgbClr val="CCEB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27835209" y="-23903072"/>
            <a:ext cx="412737" cy="222682"/>
          </a:xfrm>
          <a:prstGeom prst="rect">
            <a:avLst/>
          </a:prstGeom>
          <a:solidFill>
            <a:srgbClr val="CCEB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28260606" y="-23903072"/>
            <a:ext cx="412737" cy="222682"/>
          </a:xfrm>
          <a:prstGeom prst="rect">
            <a:avLst/>
          </a:prstGeom>
          <a:solidFill>
            <a:srgbClr val="CCEB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28686007" y="-23903072"/>
            <a:ext cx="412737" cy="222682"/>
          </a:xfrm>
          <a:prstGeom prst="rect">
            <a:avLst/>
          </a:prstGeom>
          <a:solidFill>
            <a:srgbClr val="CCEB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29111395" y="-23903072"/>
            <a:ext cx="412737" cy="222682"/>
          </a:xfrm>
          <a:prstGeom prst="rect">
            <a:avLst/>
          </a:prstGeom>
          <a:solidFill>
            <a:srgbClr val="CCEB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29536792" y="-23903072"/>
            <a:ext cx="412737" cy="222682"/>
          </a:xfrm>
          <a:prstGeom prst="rect">
            <a:avLst/>
          </a:prstGeom>
          <a:solidFill>
            <a:srgbClr val="CCEB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29962192" y="-23903072"/>
            <a:ext cx="412737" cy="222682"/>
          </a:xfrm>
          <a:prstGeom prst="rect">
            <a:avLst/>
          </a:prstGeom>
          <a:solidFill>
            <a:srgbClr val="CCEB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30387577" y="-23903072"/>
            <a:ext cx="412737" cy="222682"/>
          </a:xfrm>
          <a:prstGeom prst="rect">
            <a:avLst/>
          </a:prstGeom>
          <a:solidFill>
            <a:srgbClr val="CCEB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4" name="Connector 83"/>
          <p:cNvCxnSpPr/>
          <p:nvPr/>
        </p:nvCxnSpPr>
        <p:spPr>
          <a:xfrm flipV="1">
            <a:off x="26978099" y="-23903085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 flipV="1">
            <a:off x="27403487" y="-23903085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 flipV="1">
            <a:off x="27828884" y="-23903085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 flipV="1">
            <a:off x="28254284" y="-23903085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 flipV="1">
            <a:off x="28679669" y="-23903085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 flipV="1">
            <a:off x="29105069" y="-23903085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 flipV="1">
            <a:off x="29530470" y="-23903085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 flipV="1">
            <a:off x="29955867" y="-23903085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 flipV="1">
            <a:off x="30381255" y="-23903085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 flipV="1">
            <a:off x="26978068" y="-23617133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 flipV="1">
            <a:off x="27403452" y="-23617133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 flipV="1">
            <a:off x="27828853" y="-23617133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 flipV="1">
            <a:off x="28254250" y="-23617133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 flipV="1">
            <a:off x="28679638" y="-23617133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 flipV="1">
            <a:off x="29105038" y="-23617133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 flipV="1">
            <a:off x="29530436" y="-23617133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 flipV="1">
            <a:off x="29955836" y="-23617133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 flipV="1">
            <a:off x="30381221" y="-23617133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 flipV="1">
            <a:off x="26978080" y="-23331191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 flipV="1">
            <a:off x="27828865" y="-23331191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 flipV="1">
            <a:off x="28254262" y="-23331191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 flipV="1">
            <a:off x="28679650" y="-23331191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 flipV="1">
            <a:off x="29530448" y="-23331191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 flipV="1">
            <a:off x="29955849" y="-23331191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 flipV="1">
            <a:off x="30381233" y="-23331191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 flipV="1">
            <a:off x="26978092" y="-22759294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/>
          <p:cNvCxnSpPr/>
          <p:nvPr/>
        </p:nvCxnSpPr>
        <p:spPr>
          <a:xfrm flipV="1">
            <a:off x="27403477" y="-22759294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 110"/>
          <p:cNvCxnSpPr/>
          <p:nvPr/>
        </p:nvCxnSpPr>
        <p:spPr>
          <a:xfrm flipV="1">
            <a:off x="27828878" y="-22759294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 111"/>
          <p:cNvCxnSpPr/>
          <p:nvPr/>
        </p:nvCxnSpPr>
        <p:spPr>
          <a:xfrm flipV="1">
            <a:off x="28254275" y="-22759294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 112"/>
          <p:cNvCxnSpPr/>
          <p:nvPr/>
        </p:nvCxnSpPr>
        <p:spPr>
          <a:xfrm flipV="1">
            <a:off x="28679663" y="-22759294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/>
          <p:cNvCxnSpPr/>
          <p:nvPr/>
        </p:nvCxnSpPr>
        <p:spPr>
          <a:xfrm flipV="1">
            <a:off x="29105063" y="-22759294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Connector 114"/>
          <p:cNvCxnSpPr/>
          <p:nvPr/>
        </p:nvCxnSpPr>
        <p:spPr>
          <a:xfrm flipV="1">
            <a:off x="29530461" y="-22759294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 115"/>
          <p:cNvCxnSpPr/>
          <p:nvPr/>
        </p:nvCxnSpPr>
        <p:spPr>
          <a:xfrm flipV="1">
            <a:off x="29955861" y="-22759294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 116"/>
          <p:cNvCxnSpPr/>
          <p:nvPr/>
        </p:nvCxnSpPr>
        <p:spPr>
          <a:xfrm flipV="1">
            <a:off x="30381246" y="-22759294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8" name="Rectangle 117"/>
          <p:cNvSpPr/>
          <p:nvPr/>
        </p:nvSpPr>
        <p:spPr>
          <a:xfrm>
            <a:off x="26559017" y="-24538233"/>
            <a:ext cx="425400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26971767" y="-24538233"/>
            <a:ext cx="438047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27397152" y="-24538233"/>
            <a:ext cx="438047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27822552" y="-24538233"/>
            <a:ext cx="438047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28247953" y="-24538233"/>
            <a:ext cx="438047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28673338" y="-24538233"/>
            <a:ext cx="438047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29098738" y="-24538233"/>
            <a:ext cx="438047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29524135" y="-24538233"/>
            <a:ext cx="438047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29949523" y="-24538233"/>
            <a:ext cx="438047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30374921" y="-24538233"/>
            <a:ext cx="425400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26559017" y="-24252280"/>
            <a:ext cx="425400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26971767" y="-24252280"/>
            <a:ext cx="438047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27397152" y="-24252280"/>
            <a:ext cx="438047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27822552" y="-24252280"/>
            <a:ext cx="438047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28247953" y="-24252280"/>
            <a:ext cx="438047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28673338" y="-24252280"/>
            <a:ext cx="438047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29098738" y="-24252280"/>
            <a:ext cx="438047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29524135" y="-24252280"/>
            <a:ext cx="438047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29949523" y="-24252280"/>
            <a:ext cx="438047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Rectangle 136"/>
          <p:cNvSpPr/>
          <p:nvPr/>
        </p:nvSpPr>
        <p:spPr>
          <a:xfrm>
            <a:off x="30374921" y="-24252280"/>
            <a:ext cx="425400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Rectangle 137"/>
          <p:cNvSpPr/>
          <p:nvPr/>
        </p:nvSpPr>
        <p:spPr>
          <a:xfrm>
            <a:off x="26559017" y="-23966326"/>
            <a:ext cx="425400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Rectangle 138"/>
          <p:cNvSpPr/>
          <p:nvPr/>
        </p:nvSpPr>
        <p:spPr>
          <a:xfrm>
            <a:off x="26971767" y="-23966326"/>
            <a:ext cx="438047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ectangle 139"/>
          <p:cNvSpPr/>
          <p:nvPr/>
        </p:nvSpPr>
        <p:spPr>
          <a:xfrm>
            <a:off x="27397152" y="-23966326"/>
            <a:ext cx="438047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27822552" y="-23966326"/>
            <a:ext cx="438047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Rectangle 141"/>
          <p:cNvSpPr/>
          <p:nvPr/>
        </p:nvSpPr>
        <p:spPr>
          <a:xfrm>
            <a:off x="28247953" y="-23966326"/>
            <a:ext cx="438047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ectangle 142"/>
          <p:cNvSpPr/>
          <p:nvPr/>
        </p:nvSpPr>
        <p:spPr>
          <a:xfrm>
            <a:off x="28673338" y="-23966326"/>
            <a:ext cx="438047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Rectangle 143"/>
          <p:cNvSpPr/>
          <p:nvPr/>
        </p:nvSpPr>
        <p:spPr>
          <a:xfrm>
            <a:off x="29098738" y="-23966326"/>
            <a:ext cx="438047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29524135" y="-23966326"/>
            <a:ext cx="438047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Rectangle 145"/>
          <p:cNvSpPr/>
          <p:nvPr/>
        </p:nvSpPr>
        <p:spPr>
          <a:xfrm>
            <a:off x="29949523" y="-23966326"/>
            <a:ext cx="438047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Rectangle 146"/>
          <p:cNvSpPr/>
          <p:nvPr/>
        </p:nvSpPr>
        <p:spPr>
          <a:xfrm>
            <a:off x="30374921" y="-23966326"/>
            <a:ext cx="425400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Rectangle 147"/>
          <p:cNvSpPr/>
          <p:nvPr/>
        </p:nvSpPr>
        <p:spPr>
          <a:xfrm>
            <a:off x="26559017" y="-23680387"/>
            <a:ext cx="425400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26971767" y="-23680387"/>
            <a:ext cx="438047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Rectangle 149"/>
          <p:cNvSpPr/>
          <p:nvPr/>
        </p:nvSpPr>
        <p:spPr>
          <a:xfrm>
            <a:off x="27397152" y="-23680387"/>
            <a:ext cx="438047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Rectangle 150"/>
          <p:cNvSpPr/>
          <p:nvPr/>
        </p:nvSpPr>
        <p:spPr>
          <a:xfrm>
            <a:off x="27822552" y="-23680387"/>
            <a:ext cx="438047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Rectangle 151"/>
          <p:cNvSpPr/>
          <p:nvPr/>
        </p:nvSpPr>
        <p:spPr>
          <a:xfrm>
            <a:off x="28247953" y="-23680387"/>
            <a:ext cx="438047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Rectangle 152"/>
          <p:cNvSpPr/>
          <p:nvPr/>
        </p:nvSpPr>
        <p:spPr>
          <a:xfrm>
            <a:off x="28673338" y="-23680387"/>
            <a:ext cx="438047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Rectangle 153"/>
          <p:cNvSpPr/>
          <p:nvPr/>
        </p:nvSpPr>
        <p:spPr>
          <a:xfrm>
            <a:off x="29098738" y="-23680387"/>
            <a:ext cx="438047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Rectangle 154"/>
          <p:cNvSpPr/>
          <p:nvPr/>
        </p:nvSpPr>
        <p:spPr>
          <a:xfrm>
            <a:off x="29524135" y="-23680387"/>
            <a:ext cx="438047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Rectangle 155"/>
          <p:cNvSpPr/>
          <p:nvPr/>
        </p:nvSpPr>
        <p:spPr>
          <a:xfrm>
            <a:off x="29949523" y="-23680387"/>
            <a:ext cx="438047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30374921" y="-23680387"/>
            <a:ext cx="425400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Rectangle 157"/>
          <p:cNvSpPr/>
          <p:nvPr/>
        </p:nvSpPr>
        <p:spPr>
          <a:xfrm>
            <a:off x="26559017" y="-23394434"/>
            <a:ext cx="425400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Rectangle 158"/>
          <p:cNvSpPr/>
          <p:nvPr/>
        </p:nvSpPr>
        <p:spPr>
          <a:xfrm>
            <a:off x="26971767" y="-23394434"/>
            <a:ext cx="438047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Rectangle 159"/>
          <p:cNvSpPr/>
          <p:nvPr/>
        </p:nvSpPr>
        <p:spPr>
          <a:xfrm>
            <a:off x="27397152" y="-23394434"/>
            <a:ext cx="438047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Rectangle 160"/>
          <p:cNvSpPr/>
          <p:nvPr/>
        </p:nvSpPr>
        <p:spPr>
          <a:xfrm>
            <a:off x="27822552" y="-23394434"/>
            <a:ext cx="438047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Rectangle 161"/>
          <p:cNvSpPr/>
          <p:nvPr/>
        </p:nvSpPr>
        <p:spPr>
          <a:xfrm>
            <a:off x="28247953" y="-23394434"/>
            <a:ext cx="438047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Rectangle 162"/>
          <p:cNvSpPr/>
          <p:nvPr/>
        </p:nvSpPr>
        <p:spPr>
          <a:xfrm>
            <a:off x="28673338" y="-23394434"/>
            <a:ext cx="438047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Rectangle 163"/>
          <p:cNvSpPr/>
          <p:nvPr/>
        </p:nvSpPr>
        <p:spPr>
          <a:xfrm>
            <a:off x="29098738" y="-23394434"/>
            <a:ext cx="438047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29524135" y="-23394434"/>
            <a:ext cx="438047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Rectangle 165"/>
          <p:cNvSpPr/>
          <p:nvPr/>
        </p:nvSpPr>
        <p:spPr>
          <a:xfrm>
            <a:off x="29949523" y="-23394434"/>
            <a:ext cx="438047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Rectangle 166"/>
          <p:cNvSpPr/>
          <p:nvPr/>
        </p:nvSpPr>
        <p:spPr>
          <a:xfrm>
            <a:off x="30374921" y="-23394434"/>
            <a:ext cx="425400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Rectangle 167"/>
          <p:cNvSpPr/>
          <p:nvPr/>
        </p:nvSpPr>
        <p:spPr>
          <a:xfrm>
            <a:off x="26559017" y="-23108493"/>
            <a:ext cx="425400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Rectangle 168"/>
          <p:cNvSpPr/>
          <p:nvPr/>
        </p:nvSpPr>
        <p:spPr>
          <a:xfrm>
            <a:off x="26971767" y="-23108493"/>
            <a:ext cx="438047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Rectangle 169"/>
          <p:cNvSpPr/>
          <p:nvPr/>
        </p:nvSpPr>
        <p:spPr>
          <a:xfrm>
            <a:off x="27397152" y="-23108493"/>
            <a:ext cx="438047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Rectangle 170"/>
          <p:cNvSpPr/>
          <p:nvPr/>
        </p:nvSpPr>
        <p:spPr>
          <a:xfrm>
            <a:off x="27822552" y="-23108493"/>
            <a:ext cx="438047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Rectangle 171"/>
          <p:cNvSpPr/>
          <p:nvPr/>
        </p:nvSpPr>
        <p:spPr>
          <a:xfrm>
            <a:off x="28247953" y="-23108493"/>
            <a:ext cx="438047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28673338" y="-23108493"/>
            <a:ext cx="438047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Rectangle 173"/>
          <p:cNvSpPr/>
          <p:nvPr/>
        </p:nvSpPr>
        <p:spPr>
          <a:xfrm>
            <a:off x="29098738" y="-23108493"/>
            <a:ext cx="438047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Rectangle 174"/>
          <p:cNvSpPr/>
          <p:nvPr/>
        </p:nvSpPr>
        <p:spPr>
          <a:xfrm>
            <a:off x="29524135" y="-23108493"/>
            <a:ext cx="438047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Rectangle 175"/>
          <p:cNvSpPr/>
          <p:nvPr/>
        </p:nvSpPr>
        <p:spPr>
          <a:xfrm>
            <a:off x="29949523" y="-23108493"/>
            <a:ext cx="438047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Rectangle 176"/>
          <p:cNvSpPr/>
          <p:nvPr/>
        </p:nvSpPr>
        <p:spPr>
          <a:xfrm>
            <a:off x="30374921" y="-23108493"/>
            <a:ext cx="425400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Rectangle 177"/>
          <p:cNvSpPr/>
          <p:nvPr/>
        </p:nvSpPr>
        <p:spPr>
          <a:xfrm>
            <a:off x="26559017" y="-22822540"/>
            <a:ext cx="425400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Rectangle 178"/>
          <p:cNvSpPr/>
          <p:nvPr/>
        </p:nvSpPr>
        <p:spPr>
          <a:xfrm>
            <a:off x="26971767" y="-22822540"/>
            <a:ext cx="438047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Rectangle 179"/>
          <p:cNvSpPr/>
          <p:nvPr/>
        </p:nvSpPr>
        <p:spPr>
          <a:xfrm>
            <a:off x="27397152" y="-22822540"/>
            <a:ext cx="438047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27822552" y="-22822540"/>
            <a:ext cx="438047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Rectangle 181"/>
          <p:cNvSpPr/>
          <p:nvPr/>
        </p:nvSpPr>
        <p:spPr>
          <a:xfrm>
            <a:off x="28247953" y="-22822540"/>
            <a:ext cx="438047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Rectangle 182"/>
          <p:cNvSpPr/>
          <p:nvPr/>
        </p:nvSpPr>
        <p:spPr>
          <a:xfrm>
            <a:off x="28673338" y="-22822540"/>
            <a:ext cx="438047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Rectangle 183"/>
          <p:cNvSpPr/>
          <p:nvPr/>
        </p:nvSpPr>
        <p:spPr>
          <a:xfrm>
            <a:off x="29098738" y="-22822540"/>
            <a:ext cx="438047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Rectangle 184"/>
          <p:cNvSpPr/>
          <p:nvPr/>
        </p:nvSpPr>
        <p:spPr>
          <a:xfrm>
            <a:off x="29524135" y="-22822540"/>
            <a:ext cx="438047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Rectangle 185"/>
          <p:cNvSpPr/>
          <p:nvPr/>
        </p:nvSpPr>
        <p:spPr>
          <a:xfrm>
            <a:off x="29949523" y="-22822540"/>
            <a:ext cx="438047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Rectangle 186"/>
          <p:cNvSpPr/>
          <p:nvPr/>
        </p:nvSpPr>
        <p:spPr>
          <a:xfrm>
            <a:off x="30374921" y="-22822540"/>
            <a:ext cx="425400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Rectangle 187"/>
          <p:cNvSpPr/>
          <p:nvPr/>
        </p:nvSpPr>
        <p:spPr>
          <a:xfrm>
            <a:off x="26559017" y="-22536599"/>
            <a:ext cx="425400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Rectangle 188"/>
          <p:cNvSpPr/>
          <p:nvPr/>
        </p:nvSpPr>
        <p:spPr>
          <a:xfrm>
            <a:off x="26971767" y="-22536599"/>
            <a:ext cx="438047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Rectangle 189"/>
          <p:cNvSpPr/>
          <p:nvPr/>
        </p:nvSpPr>
        <p:spPr>
          <a:xfrm>
            <a:off x="27397152" y="-22536599"/>
            <a:ext cx="438047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Rectangle 190"/>
          <p:cNvSpPr/>
          <p:nvPr/>
        </p:nvSpPr>
        <p:spPr>
          <a:xfrm>
            <a:off x="27822552" y="-22536599"/>
            <a:ext cx="438047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Rectangle 191"/>
          <p:cNvSpPr/>
          <p:nvPr/>
        </p:nvSpPr>
        <p:spPr>
          <a:xfrm>
            <a:off x="28247953" y="-22536599"/>
            <a:ext cx="438047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Rectangle 192"/>
          <p:cNvSpPr/>
          <p:nvPr/>
        </p:nvSpPr>
        <p:spPr>
          <a:xfrm>
            <a:off x="28673338" y="-22536599"/>
            <a:ext cx="438047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Rectangle 193"/>
          <p:cNvSpPr/>
          <p:nvPr/>
        </p:nvSpPr>
        <p:spPr>
          <a:xfrm>
            <a:off x="29098738" y="-22536599"/>
            <a:ext cx="438047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Rectangle 194"/>
          <p:cNvSpPr/>
          <p:nvPr/>
        </p:nvSpPr>
        <p:spPr>
          <a:xfrm>
            <a:off x="29524135" y="-22536599"/>
            <a:ext cx="438047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Rectangle 195"/>
          <p:cNvSpPr/>
          <p:nvPr/>
        </p:nvSpPr>
        <p:spPr>
          <a:xfrm>
            <a:off x="29949523" y="-22536599"/>
            <a:ext cx="438047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Rectangle 196"/>
          <p:cNvSpPr/>
          <p:nvPr/>
        </p:nvSpPr>
        <p:spPr>
          <a:xfrm>
            <a:off x="30374921" y="-22536599"/>
            <a:ext cx="425400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Rectangle 197"/>
          <p:cNvSpPr/>
          <p:nvPr/>
        </p:nvSpPr>
        <p:spPr>
          <a:xfrm>
            <a:off x="-6" y="3146746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Rectangle 198"/>
          <p:cNvSpPr/>
          <p:nvPr/>
        </p:nvSpPr>
        <p:spPr>
          <a:xfrm>
            <a:off x="2879997" y="3146746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0" name="Picture 19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201" name="Picture 20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202" name="TextBox 201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Crossover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108000" y="359888"/>
            <a:ext cx="567739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1">
                <a:solidFill>
                  <a:srgbClr val="003373"/>
                </a:solidFill>
                <a:latin typeface="Josefin Sans"/>
              </a:rPr>
              <a:t>Multi-recombination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crossover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359993" y="624742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n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-point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crossover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–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parents,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n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1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crossover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points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selected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4898764" y="3150922"/>
            <a:ext cx="88663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5640203" y="3150697"/>
            <a:ext cx="14519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21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1158697" y="925360"/>
            <a:ext cx="412737" cy="222681"/>
          </a:xfrm>
          <a:prstGeom prst="rect">
            <a:avLst/>
          </a:prstGeom>
          <a:solidFill>
            <a:srgbClr val="FBB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584096" y="925360"/>
            <a:ext cx="412737" cy="222681"/>
          </a:xfrm>
          <a:prstGeom prst="rect">
            <a:avLst/>
          </a:prstGeom>
          <a:solidFill>
            <a:srgbClr val="FBB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009495" y="925360"/>
            <a:ext cx="412737" cy="222681"/>
          </a:xfrm>
          <a:prstGeom prst="rect">
            <a:avLst/>
          </a:prstGeom>
          <a:solidFill>
            <a:srgbClr val="FBB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434882" y="925360"/>
            <a:ext cx="412737" cy="222681"/>
          </a:xfrm>
          <a:prstGeom prst="rect">
            <a:avLst/>
          </a:prstGeom>
          <a:solidFill>
            <a:srgbClr val="FBB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860281" y="925360"/>
            <a:ext cx="412737" cy="222681"/>
          </a:xfrm>
          <a:prstGeom prst="rect">
            <a:avLst/>
          </a:prstGeom>
          <a:solidFill>
            <a:srgbClr val="FBB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285680" y="925360"/>
            <a:ext cx="412737" cy="222681"/>
          </a:xfrm>
          <a:prstGeom prst="rect">
            <a:avLst/>
          </a:prstGeom>
          <a:solidFill>
            <a:srgbClr val="FBB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711066" y="925360"/>
            <a:ext cx="412737" cy="222681"/>
          </a:xfrm>
          <a:prstGeom prst="rect">
            <a:avLst/>
          </a:prstGeom>
          <a:solidFill>
            <a:srgbClr val="FBB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136466" y="925360"/>
            <a:ext cx="412737" cy="222681"/>
          </a:xfrm>
          <a:prstGeom prst="rect">
            <a:avLst/>
          </a:prstGeom>
          <a:solidFill>
            <a:srgbClr val="FBB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561865" y="925360"/>
            <a:ext cx="412737" cy="222681"/>
          </a:xfrm>
          <a:prstGeom prst="rect">
            <a:avLst/>
          </a:prstGeom>
          <a:solidFill>
            <a:srgbClr val="FBB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987251" y="925360"/>
            <a:ext cx="412737" cy="222681"/>
          </a:xfrm>
          <a:prstGeom prst="rect">
            <a:avLst/>
          </a:prstGeom>
          <a:solidFill>
            <a:srgbClr val="FBB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 flipV="1">
            <a:off x="1577771" y="925347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2003158" y="925347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2428557" y="925347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2853956" y="925347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V="1">
            <a:off x="3279343" y="925347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3704742" y="925347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4130141" y="925347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4555540" y="925347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V="1">
            <a:off x="4980927" y="925347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Rectangle 54"/>
          <p:cNvSpPr/>
          <p:nvPr/>
        </p:nvSpPr>
        <p:spPr>
          <a:xfrm>
            <a:off x="1158697" y="1211300"/>
            <a:ext cx="412737" cy="222681"/>
          </a:xfrm>
          <a:prstGeom prst="rect">
            <a:avLst/>
          </a:prstGeom>
          <a:solidFill>
            <a:srgbClr val="B3C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1584096" y="1211300"/>
            <a:ext cx="412737" cy="222681"/>
          </a:xfrm>
          <a:prstGeom prst="rect">
            <a:avLst/>
          </a:prstGeom>
          <a:solidFill>
            <a:srgbClr val="B3C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2009495" y="1211300"/>
            <a:ext cx="412737" cy="222681"/>
          </a:xfrm>
          <a:prstGeom prst="rect">
            <a:avLst/>
          </a:prstGeom>
          <a:solidFill>
            <a:srgbClr val="B3C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2434882" y="1211300"/>
            <a:ext cx="412737" cy="222681"/>
          </a:xfrm>
          <a:prstGeom prst="rect">
            <a:avLst/>
          </a:prstGeom>
          <a:solidFill>
            <a:srgbClr val="B3C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2860281" y="1211300"/>
            <a:ext cx="412737" cy="222681"/>
          </a:xfrm>
          <a:prstGeom prst="rect">
            <a:avLst/>
          </a:prstGeom>
          <a:solidFill>
            <a:srgbClr val="B3C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3285680" y="1211300"/>
            <a:ext cx="412737" cy="222681"/>
          </a:xfrm>
          <a:prstGeom prst="rect">
            <a:avLst/>
          </a:prstGeom>
          <a:solidFill>
            <a:srgbClr val="B3C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3711066" y="1211300"/>
            <a:ext cx="412737" cy="222681"/>
          </a:xfrm>
          <a:prstGeom prst="rect">
            <a:avLst/>
          </a:prstGeom>
          <a:solidFill>
            <a:srgbClr val="B3C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4136466" y="1211300"/>
            <a:ext cx="412737" cy="222681"/>
          </a:xfrm>
          <a:prstGeom prst="rect">
            <a:avLst/>
          </a:prstGeom>
          <a:solidFill>
            <a:srgbClr val="B3C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4561865" y="1211300"/>
            <a:ext cx="412737" cy="222681"/>
          </a:xfrm>
          <a:prstGeom prst="rect">
            <a:avLst/>
          </a:prstGeom>
          <a:solidFill>
            <a:srgbClr val="B3C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4987251" y="1211300"/>
            <a:ext cx="412737" cy="222681"/>
          </a:xfrm>
          <a:prstGeom prst="rect">
            <a:avLst/>
          </a:prstGeom>
          <a:solidFill>
            <a:srgbClr val="B3C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5" name="Connector 64"/>
          <p:cNvCxnSpPr/>
          <p:nvPr/>
        </p:nvCxnSpPr>
        <p:spPr>
          <a:xfrm flipV="1">
            <a:off x="1577771" y="1211300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2003158" y="1211300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V="1">
            <a:off x="2428557" y="1211300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V="1">
            <a:off x="2853956" y="1211300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V="1">
            <a:off x="3279343" y="1211300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 flipV="1">
            <a:off x="3704742" y="1211300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V="1">
            <a:off x="4130141" y="1211300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V="1">
            <a:off x="4555540" y="1211300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 flipV="1">
            <a:off x="4980927" y="1211300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Rectangle 73"/>
          <p:cNvSpPr/>
          <p:nvPr/>
        </p:nvSpPr>
        <p:spPr>
          <a:xfrm>
            <a:off x="1158697" y="1497253"/>
            <a:ext cx="412737" cy="222681"/>
          </a:xfrm>
          <a:prstGeom prst="rect">
            <a:avLst/>
          </a:prstGeom>
          <a:solidFill>
            <a:srgbClr val="CCEB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1584096" y="1497253"/>
            <a:ext cx="412737" cy="222681"/>
          </a:xfrm>
          <a:prstGeom prst="rect">
            <a:avLst/>
          </a:prstGeom>
          <a:solidFill>
            <a:srgbClr val="CCEB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2009495" y="1497253"/>
            <a:ext cx="412737" cy="222681"/>
          </a:xfrm>
          <a:prstGeom prst="rect">
            <a:avLst/>
          </a:prstGeom>
          <a:solidFill>
            <a:srgbClr val="CCEB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2434882" y="1497253"/>
            <a:ext cx="412737" cy="222681"/>
          </a:xfrm>
          <a:prstGeom prst="rect">
            <a:avLst/>
          </a:prstGeom>
          <a:solidFill>
            <a:srgbClr val="CCEB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2860281" y="1497253"/>
            <a:ext cx="412737" cy="222681"/>
          </a:xfrm>
          <a:prstGeom prst="rect">
            <a:avLst/>
          </a:prstGeom>
          <a:solidFill>
            <a:srgbClr val="CCEB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3285680" y="1497253"/>
            <a:ext cx="412737" cy="222681"/>
          </a:xfrm>
          <a:prstGeom prst="rect">
            <a:avLst/>
          </a:prstGeom>
          <a:solidFill>
            <a:srgbClr val="CCEB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3711066" y="1497253"/>
            <a:ext cx="412737" cy="222681"/>
          </a:xfrm>
          <a:prstGeom prst="rect">
            <a:avLst/>
          </a:prstGeom>
          <a:solidFill>
            <a:srgbClr val="CCEB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4136466" y="1497253"/>
            <a:ext cx="412737" cy="222681"/>
          </a:xfrm>
          <a:prstGeom prst="rect">
            <a:avLst/>
          </a:prstGeom>
          <a:solidFill>
            <a:srgbClr val="CCEB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4561865" y="1497253"/>
            <a:ext cx="412737" cy="222681"/>
          </a:xfrm>
          <a:prstGeom prst="rect">
            <a:avLst/>
          </a:prstGeom>
          <a:solidFill>
            <a:srgbClr val="CCEB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4987251" y="1497253"/>
            <a:ext cx="412737" cy="222681"/>
          </a:xfrm>
          <a:prstGeom prst="rect">
            <a:avLst/>
          </a:prstGeom>
          <a:solidFill>
            <a:srgbClr val="CCEB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4" name="Connector 83"/>
          <p:cNvCxnSpPr/>
          <p:nvPr/>
        </p:nvCxnSpPr>
        <p:spPr>
          <a:xfrm flipV="1">
            <a:off x="1577771" y="1497241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 flipV="1">
            <a:off x="2003158" y="1497241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 flipV="1">
            <a:off x="2428557" y="1497241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 flipV="1">
            <a:off x="2853956" y="1497241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 flipV="1">
            <a:off x="3279343" y="1497241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 flipV="1">
            <a:off x="3704742" y="1497241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 flipV="1">
            <a:off x="4130141" y="1497241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 flipV="1">
            <a:off x="4555540" y="1497241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 flipV="1">
            <a:off x="4980927" y="1497241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 flipV="1">
            <a:off x="1577770" y="1783194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 flipV="1">
            <a:off x="2003157" y="1783194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 flipV="1">
            <a:off x="2428556" y="1783194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 flipV="1">
            <a:off x="2853955" y="1783194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 flipV="1">
            <a:off x="3279342" y="1783194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 flipV="1">
            <a:off x="3704741" y="1783194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 flipV="1">
            <a:off x="4130140" y="1783194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 flipV="1">
            <a:off x="4555539" y="1783194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 flipV="1">
            <a:off x="4980926" y="1783194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 flipV="1">
            <a:off x="1577783" y="2069134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 flipV="1">
            <a:off x="2428569" y="2069134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 flipV="1">
            <a:off x="2853968" y="2069134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 flipV="1">
            <a:off x="3279354" y="2069134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 flipV="1">
            <a:off x="4130152" y="2069134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 flipV="1">
            <a:off x="4555552" y="2069134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 flipV="1">
            <a:off x="4980938" y="2069134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 flipV="1">
            <a:off x="1577795" y="2641028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/>
          <p:cNvCxnSpPr/>
          <p:nvPr/>
        </p:nvCxnSpPr>
        <p:spPr>
          <a:xfrm flipV="1">
            <a:off x="2003182" y="2641028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 110"/>
          <p:cNvCxnSpPr/>
          <p:nvPr/>
        </p:nvCxnSpPr>
        <p:spPr>
          <a:xfrm flipV="1">
            <a:off x="2428581" y="2641028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 111"/>
          <p:cNvCxnSpPr/>
          <p:nvPr/>
        </p:nvCxnSpPr>
        <p:spPr>
          <a:xfrm flipV="1">
            <a:off x="2853980" y="2641028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 112"/>
          <p:cNvCxnSpPr/>
          <p:nvPr/>
        </p:nvCxnSpPr>
        <p:spPr>
          <a:xfrm flipV="1">
            <a:off x="3279367" y="2641028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/>
          <p:cNvCxnSpPr/>
          <p:nvPr/>
        </p:nvCxnSpPr>
        <p:spPr>
          <a:xfrm flipV="1">
            <a:off x="3704766" y="2641028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Connector 114"/>
          <p:cNvCxnSpPr/>
          <p:nvPr/>
        </p:nvCxnSpPr>
        <p:spPr>
          <a:xfrm flipV="1">
            <a:off x="4130165" y="2641028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 115"/>
          <p:cNvCxnSpPr/>
          <p:nvPr/>
        </p:nvCxnSpPr>
        <p:spPr>
          <a:xfrm flipV="1">
            <a:off x="4555564" y="2641028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 116"/>
          <p:cNvCxnSpPr/>
          <p:nvPr/>
        </p:nvCxnSpPr>
        <p:spPr>
          <a:xfrm flipV="1">
            <a:off x="4980951" y="2641028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8" name="Rectangle 117"/>
          <p:cNvSpPr/>
          <p:nvPr/>
        </p:nvSpPr>
        <p:spPr>
          <a:xfrm>
            <a:off x="1158721" y="862088"/>
            <a:ext cx="425399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1571471" y="862088"/>
            <a:ext cx="438048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1996857" y="862088"/>
            <a:ext cx="438048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2422256" y="862088"/>
            <a:ext cx="438048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2847656" y="862088"/>
            <a:ext cx="438048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3273042" y="862088"/>
            <a:ext cx="438048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3698441" y="862088"/>
            <a:ext cx="438048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4123840" y="862088"/>
            <a:ext cx="438048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4549227" y="862088"/>
            <a:ext cx="438048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4974626" y="862088"/>
            <a:ext cx="425399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1158721" y="1148041"/>
            <a:ext cx="425399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1571471" y="1148041"/>
            <a:ext cx="438048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1996857" y="1148041"/>
            <a:ext cx="438048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2422256" y="1148041"/>
            <a:ext cx="438048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2847656" y="1148041"/>
            <a:ext cx="438048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3273042" y="1148041"/>
            <a:ext cx="438048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3698441" y="1148041"/>
            <a:ext cx="438048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4123840" y="1148041"/>
            <a:ext cx="438048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4549227" y="1148041"/>
            <a:ext cx="438048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Rectangle 136"/>
          <p:cNvSpPr/>
          <p:nvPr/>
        </p:nvSpPr>
        <p:spPr>
          <a:xfrm>
            <a:off x="4974626" y="1148041"/>
            <a:ext cx="425399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Rectangle 137"/>
          <p:cNvSpPr/>
          <p:nvPr/>
        </p:nvSpPr>
        <p:spPr>
          <a:xfrm>
            <a:off x="1158721" y="1433994"/>
            <a:ext cx="425399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Rectangle 138"/>
          <p:cNvSpPr/>
          <p:nvPr/>
        </p:nvSpPr>
        <p:spPr>
          <a:xfrm>
            <a:off x="1571471" y="1433994"/>
            <a:ext cx="438048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ectangle 139"/>
          <p:cNvSpPr/>
          <p:nvPr/>
        </p:nvSpPr>
        <p:spPr>
          <a:xfrm>
            <a:off x="1996857" y="1433994"/>
            <a:ext cx="438048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2422256" y="1433994"/>
            <a:ext cx="438048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Rectangle 141"/>
          <p:cNvSpPr/>
          <p:nvPr/>
        </p:nvSpPr>
        <p:spPr>
          <a:xfrm>
            <a:off x="2847656" y="1433994"/>
            <a:ext cx="438048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ectangle 142"/>
          <p:cNvSpPr/>
          <p:nvPr/>
        </p:nvSpPr>
        <p:spPr>
          <a:xfrm>
            <a:off x="3273042" y="1433994"/>
            <a:ext cx="438048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Rectangle 143"/>
          <p:cNvSpPr/>
          <p:nvPr/>
        </p:nvSpPr>
        <p:spPr>
          <a:xfrm>
            <a:off x="3698441" y="1433994"/>
            <a:ext cx="438048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4123840" y="1433994"/>
            <a:ext cx="438048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Rectangle 145"/>
          <p:cNvSpPr/>
          <p:nvPr/>
        </p:nvSpPr>
        <p:spPr>
          <a:xfrm>
            <a:off x="4549227" y="1433994"/>
            <a:ext cx="438048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Rectangle 146"/>
          <p:cNvSpPr/>
          <p:nvPr/>
        </p:nvSpPr>
        <p:spPr>
          <a:xfrm>
            <a:off x="4974626" y="1433994"/>
            <a:ext cx="425399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Rectangle 147"/>
          <p:cNvSpPr/>
          <p:nvPr/>
        </p:nvSpPr>
        <p:spPr>
          <a:xfrm>
            <a:off x="1158721" y="1719935"/>
            <a:ext cx="425399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1571471" y="1719935"/>
            <a:ext cx="438048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Rectangle 149"/>
          <p:cNvSpPr/>
          <p:nvPr/>
        </p:nvSpPr>
        <p:spPr>
          <a:xfrm>
            <a:off x="1996857" y="1719935"/>
            <a:ext cx="438048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Rectangle 150"/>
          <p:cNvSpPr/>
          <p:nvPr/>
        </p:nvSpPr>
        <p:spPr>
          <a:xfrm>
            <a:off x="2422256" y="1719935"/>
            <a:ext cx="438048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Rectangle 151"/>
          <p:cNvSpPr/>
          <p:nvPr/>
        </p:nvSpPr>
        <p:spPr>
          <a:xfrm>
            <a:off x="2847656" y="1719935"/>
            <a:ext cx="438048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Rectangle 152"/>
          <p:cNvSpPr/>
          <p:nvPr/>
        </p:nvSpPr>
        <p:spPr>
          <a:xfrm>
            <a:off x="3273042" y="1719935"/>
            <a:ext cx="438048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Rectangle 153"/>
          <p:cNvSpPr/>
          <p:nvPr/>
        </p:nvSpPr>
        <p:spPr>
          <a:xfrm>
            <a:off x="3698441" y="1719935"/>
            <a:ext cx="438048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Rectangle 154"/>
          <p:cNvSpPr/>
          <p:nvPr/>
        </p:nvSpPr>
        <p:spPr>
          <a:xfrm>
            <a:off x="4123840" y="1719935"/>
            <a:ext cx="438048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Rectangle 155"/>
          <p:cNvSpPr/>
          <p:nvPr/>
        </p:nvSpPr>
        <p:spPr>
          <a:xfrm>
            <a:off x="4549227" y="1719935"/>
            <a:ext cx="438048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4974626" y="1719935"/>
            <a:ext cx="425399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Rectangle 157"/>
          <p:cNvSpPr/>
          <p:nvPr/>
        </p:nvSpPr>
        <p:spPr>
          <a:xfrm>
            <a:off x="1158721" y="2005888"/>
            <a:ext cx="425399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Rectangle 158"/>
          <p:cNvSpPr/>
          <p:nvPr/>
        </p:nvSpPr>
        <p:spPr>
          <a:xfrm>
            <a:off x="1571471" y="2005888"/>
            <a:ext cx="438048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Rectangle 159"/>
          <p:cNvSpPr/>
          <p:nvPr/>
        </p:nvSpPr>
        <p:spPr>
          <a:xfrm>
            <a:off x="1996857" y="2005888"/>
            <a:ext cx="438048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Rectangle 160"/>
          <p:cNvSpPr/>
          <p:nvPr/>
        </p:nvSpPr>
        <p:spPr>
          <a:xfrm>
            <a:off x="2422256" y="2005888"/>
            <a:ext cx="438048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Rectangle 161"/>
          <p:cNvSpPr/>
          <p:nvPr/>
        </p:nvSpPr>
        <p:spPr>
          <a:xfrm>
            <a:off x="2847656" y="2005888"/>
            <a:ext cx="438048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Rectangle 162"/>
          <p:cNvSpPr/>
          <p:nvPr/>
        </p:nvSpPr>
        <p:spPr>
          <a:xfrm>
            <a:off x="3273042" y="2005888"/>
            <a:ext cx="438048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Rectangle 163"/>
          <p:cNvSpPr/>
          <p:nvPr/>
        </p:nvSpPr>
        <p:spPr>
          <a:xfrm>
            <a:off x="3698441" y="2005888"/>
            <a:ext cx="438048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4123840" y="2005888"/>
            <a:ext cx="438048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Rectangle 165"/>
          <p:cNvSpPr/>
          <p:nvPr/>
        </p:nvSpPr>
        <p:spPr>
          <a:xfrm>
            <a:off x="4549227" y="2005888"/>
            <a:ext cx="438048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Rectangle 166"/>
          <p:cNvSpPr/>
          <p:nvPr/>
        </p:nvSpPr>
        <p:spPr>
          <a:xfrm>
            <a:off x="4974626" y="2005888"/>
            <a:ext cx="425399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Rectangle 167"/>
          <p:cNvSpPr/>
          <p:nvPr/>
        </p:nvSpPr>
        <p:spPr>
          <a:xfrm>
            <a:off x="1158721" y="2291829"/>
            <a:ext cx="425399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Rectangle 168"/>
          <p:cNvSpPr/>
          <p:nvPr/>
        </p:nvSpPr>
        <p:spPr>
          <a:xfrm>
            <a:off x="1571471" y="2291829"/>
            <a:ext cx="438048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Rectangle 169"/>
          <p:cNvSpPr/>
          <p:nvPr/>
        </p:nvSpPr>
        <p:spPr>
          <a:xfrm>
            <a:off x="1996857" y="2291829"/>
            <a:ext cx="438048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Rectangle 170"/>
          <p:cNvSpPr/>
          <p:nvPr/>
        </p:nvSpPr>
        <p:spPr>
          <a:xfrm>
            <a:off x="2422256" y="2291829"/>
            <a:ext cx="438048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Rectangle 171"/>
          <p:cNvSpPr/>
          <p:nvPr/>
        </p:nvSpPr>
        <p:spPr>
          <a:xfrm>
            <a:off x="2847656" y="2291829"/>
            <a:ext cx="438048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3273042" y="2291829"/>
            <a:ext cx="438048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Rectangle 173"/>
          <p:cNvSpPr/>
          <p:nvPr/>
        </p:nvSpPr>
        <p:spPr>
          <a:xfrm>
            <a:off x="3698441" y="2291829"/>
            <a:ext cx="438048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Rectangle 174"/>
          <p:cNvSpPr/>
          <p:nvPr/>
        </p:nvSpPr>
        <p:spPr>
          <a:xfrm>
            <a:off x="4123840" y="2291829"/>
            <a:ext cx="438048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Rectangle 175"/>
          <p:cNvSpPr/>
          <p:nvPr/>
        </p:nvSpPr>
        <p:spPr>
          <a:xfrm>
            <a:off x="4549227" y="2291829"/>
            <a:ext cx="438048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Rectangle 176"/>
          <p:cNvSpPr/>
          <p:nvPr/>
        </p:nvSpPr>
        <p:spPr>
          <a:xfrm>
            <a:off x="4974626" y="2291829"/>
            <a:ext cx="425399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Rectangle 177"/>
          <p:cNvSpPr/>
          <p:nvPr/>
        </p:nvSpPr>
        <p:spPr>
          <a:xfrm>
            <a:off x="1158721" y="2577782"/>
            <a:ext cx="425399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Rectangle 178"/>
          <p:cNvSpPr/>
          <p:nvPr/>
        </p:nvSpPr>
        <p:spPr>
          <a:xfrm>
            <a:off x="1571471" y="2577782"/>
            <a:ext cx="438048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Rectangle 179"/>
          <p:cNvSpPr/>
          <p:nvPr/>
        </p:nvSpPr>
        <p:spPr>
          <a:xfrm>
            <a:off x="1996857" y="2577782"/>
            <a:ext cx="438048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2422256" y="2577782"/>
            <a:ext cx="438048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Rectangle 181"/>
          <p:cNvSpPr/>
          <p:nvPr/>
        </p:nvSpPr>
        <p:spPr>
          <a:xfrm>
            <a:off x="2847656" y="2577782"/>
            <a:ext cx="438048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Rectangle 182"/>
          <p:cNvSpPr/>
          <p:nvPr/>
        </p:nvSpPr>
        <p:spPr>
          <a:xfrm>
            <a:off x="3273042" y="2577782"/>
            <a:ext cx="438048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Rectangle 183"/>
          <p:cNvSpPr/>
          <p:nvPr/>
        </p:nvSpPr>
        <p:spPr>
          <a:xfrm>
            <a:off x="3698441" y="2577782"/>
            <a:ext cx="438048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Rectangle 184"/>
          <p:cNvSpPr/>
          <p:nvPr/>
        </p:nvSpPr>
        <p:spPr>
          <a:xfrm>
            <a:off x="4123840" y="2577782"/>
            <a:ext cx="438048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Rectangle 185"/>
          <p:cNvSpPr/>
          <p:nvPr/>
        </p:nvSpPr>
        <p:spPr>
          <a:xfrm>
            <a:off x="4549227" y="2577782"/>
            <a:ext cx="438048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Rectangle 186"/>
          <p:cNvSpPr/>
          <p:nvPr/>
        </p:nvSpPr>
        <p:spPr>
          <a:xfrm>
            <a:off x="4974626" y="2577782"/>
            <a:ext cx="425399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Rectangle 187"/>
          <p:cNvSpPr/>
          <p:nvPr/>
        </p:nvSpPr>
        <p:spPr>
          <a:xfrm>
            <a:off x="1158721" y="2863722"/>
            <a:ext cx="425399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Rectangle 188"/>
          <p:cNvSpPr/>
          <p:nvPr/>
        </p:nvSpPr>
        <p:spPr>
          <a:xfrm>
            <a:off x="1571471" y="2863722"/>
            <a:ext cx="438048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Rectangle 189"/>
          <p:cNvSpPr/>
          <p:nvPr/>
        </p:nvSpPr>
        <p:spPr>
          <a:xfrm>
            <a:off x="1996857" y="2863722"/>
            <a:ext cx="438048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Rectangle 190"/>
          <p:cNvSpPr/>
          <p:nvPr/>
        </p:nvSpPr>
        <p:spPr>
          <a:xfrm>
            <a:off x="2422256" y="2863722"/>
            <a:ext cx="438048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Rectangle 191"/>
          <p:cNvSpPr/>
          <p:nvPr/>
        </p:nvSpPr>
        <p:spPr>
          <a:xfrm>
            <a:off x="2847656" y="2863722"/>
            <a:ext cx="438048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Rectangle 192"/>
          <p:cNvSpPr/>
          <p:nvPr/>
        </p:nvSpPr>
        <p:spPr>
          <a:xfrm>
            <a:off x="3273042" y="2863722"/>
            <a:ext cx="438048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Rectangle 193"/>
          <p:cNvSpPr/>
          <p:nvPr/>
        </p:nvSpPr>
        <p:spPr>
          <a:xfrm>
            <a:off x="3698441" y="2863722"/>
            <a:ext cx="438048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Rectangle 194"/>
          <p:cNvSpPr/>
          <p:nvPr/>
        </p:nvSpPr>
        <p:spPr>
          <a:xfrm>
            <a:off x="4123840" y="2863722"/>
            <a:ext cx="438048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Rectangle 195"/>
          <p:cNvSpPr/>
          <p:nvPr/>
        </p:nvSpPr>
        <p:spPr>
          <a:xfrm>
            <a:off x="4549227" y="2863722"/>
            <a:ext cx="438048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Rectangle 196"/>
          <p:cNvSpPr/>
          <p:nvPr/>
        </p:nvSpPr>
        <p:spPr>
          <a:xfrm>
            <a:off x="4974626" y="2863722"/>
            <a:ext cx="425399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Rectangle 197"/>
          <p:cNvSpPr/>
          <p:nvPr/>
        </p:nvSpPr>
        <p:spPr>
          <a:xfrm>
            <a:off x="24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Rectangle 198"/>
          <p:cNvSpPr/>
          <p:nvPr/>
        </p:nvSpPr>
        <p:spPr>
          <a:xfrm>
            <a:off x="2880028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0" name="Picture 19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201" name="Picture 20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202" name="TextBox 201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Crossover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108000" y="359888"/>
            <a:ext cx="567739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1">
                <a:solidFill>
                  <a:srgbClr val="003373"/>
                </a:solidFill>
                <a:latin typeface="Josefin Sans"/>
              </a:rPr>
              <a:t>Multi-recombination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crossover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359993" y="624742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n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-point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crossover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–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parents,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n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1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crossover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points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selected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613803" y="960505"/>
            <a:ext cx="517159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Parent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587209" y="1246458"/>
            <a:ext cx="519818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Parent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585406" y="1532399"/>
            <a:ext cx="519998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Parent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4898795" y="3150917"/>
            <a:ext cx="88660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5640234" y="3150693"/>
            <a:ext cx="14516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21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1158697" y="925360"/>
            <a:ext cx="412737" cy="222681"/>
          </a:xfrm>
          <a:prstGeom prst="rect">
            <a:avLst/>
          </a:prstGeom>
          <a:solidFill>
            <a:srgbClr val="FBB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584096" y="925360"/>
            <a:ext cx="412737" cy="222681"/>
          </a:xfrm>
          <a:prstGeom prst="rect">
            <a:avLst/>
          </a:prstGeom>
          <a:solidFill>
            <a:srgbClr val="FBB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009495" y="925360"/>
            <a:ext cx="412737" cy="222681"/>
          </a:xfrm>
          <a:prstGeom prst="rect">
            <a:avLst/>
          </a:prstGeom>
          <a:solidFill>
            <a:srgbClr val="FBB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434882" y="925360"/>
            <a:ext cx="412737" cy="222681"/>
          </a:xfrm>
          <a:prstGeom prst="rect">
            <a:avLst/>
          </a:prstGeom>
          <a:solidFill>
            <a:srgbClr val="FBB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860281" y="925360"/>
            <a:ext cx="412737" cy="222681"/>
          </a:xfrm>
          <a:prstGeom prst="rect">
            <a:avLst/>
          </a:prstGeom>
          <a:solidFill>
            <a:srgbClr val="FBB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285680" y="925360"/>
            <a:ext cx="412737" cy="222681"/>
          </a:xfrm>
          <a:prstGeom prst="rect">
            <a:avLst/>
          </a:prstGeom>
          <a:solidFill>
            <a:srgbClr val="FBB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711066" y="925360"/>
            <a:ext cx="412737" cy="222681"/>
          </a:xfrm>
          <a:prstGeom prst="rect">
            <a:avLst/>
          </a:prstGeom>
          <a:solidFill>
            <a:srgbClr val="FBB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136466" y="925360"/>
            <a:ext cx="412737" cy="222681"/>
          </a:xfrm>
          <a:prstGeom prst="rect">
            <a:avLst/>
          </a:prstGeom>
          <a:solidFill>
            <a:srgbClr val="FBB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561865" y="925360"/>
            <a:ext cx="412737" cy="222681"/>
          </a:xfrm>
          <a:prstGeom prst="rect">
            <a:avLst/>
          </a:prstGeom>
          <a:solidFill>
            <a:srgbClr val="FBB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987251" y="925360"/>
            <a:ext cx="412737" cy="222681"/>
          </a:xfrm>
          <a:prstGeom prst="rect">
            <a:avLst/>
          </a:prstGeom>
          <a:solidFill>
            <a:srgbClr val="FBB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 flipV="1">
            <a:off x="1577771" y="925347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2003158" y="925347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2428557" y="925347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2853956" y="925347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V="1">
            <a:off x="3279343" y="925347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3704742" y="925347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4130141" y="925347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4555540" y="925347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V="1">
            <a:off x="4980927" y="925347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Rectangle 54"/>
          <p:cNvSpPr/>
          <p:nvPr/>
        </p:nvSpPr>
        <p:spPr>
          <a:xfrm>
            <a:off x="1158697" y="1211300"/>
            <a:ext cx="412737" cy="222681"/>
          </a:xfrm>
          <a:prstGeom prst="rect">
            <a:avLst/>
          </a:prstGeom>
          <a:solidFill>
            <a:srgbClr val="B3C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1584096" y="1211300"/>
            <a:ext cx="412737" cy="222681"/>
          </a:xfrm>
          <a:prstGeom prst="rect">
            <a:avLst/>
          </a:prstGeom>
          <a:solidFill>
            <a:srgbClr val="B3C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2009495" y="1211300"/>
            <a:ext cx="412737" cy="222681"/>
          </a:xfrm>
          <a:prstGeom prst="rect">
            <a:avLst/>
          </a:prstGeom>
          <a:solidFill>
            <a:srgbClr val="B3C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2434882" y="1211300"/>
            <a:ext cx="412737" cy="222681"/>
          </a:xfrm>
          <a:prstGeom prst="rect">
            <a:avLst/>
          </a:prstGeom>
          <a:solidFill>
            <a:srgbClr val="B3C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2860281" y="1211300"/>
            <a:ext cx="412737" cy="222681"/>
          </a:xfrm>
          <a:prstGeom prst="rect">
            <a:avLst/>
          </a:prstGeom>
          <a:solidFill>
            <a:srgbClr val="B3C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3285680" y="1211300"/>
            <a:ext cx="412737" cy="222681"/>
          </a:xfrm>
          <a:prstGeom prst="rect">
            <a:avLst/>
          </a:prstGeom>
          <a:solidFill>
            <a:srgbClr val="B3C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3711066" y="1211300"/>
            <a:ext cx="412737" cy="222681"/>
          </a:xfrm>
          <a:prstGeom prst="rect">
            <a:avLst/>
          </a:prstGeom>
          <a:solidFill>
            <a:srgbClr val="B3C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4136466" y="1211300"/>
            <a:ext cx="412737" cy="222681"/>
          </a:xfrm>
          <a:prstGeom prst="rect">
            <a:avLst/>
          </a:prstGeom>
          <a:solidFill>
            <a:srgbClr val="B3C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4561865" y="1211300"/>
            <a:ext cx="412737" cy="222681"/>
          </a:xfrm>
          <a:prstGeom prst="rect">
            <a:avLst/>
          </a:prstGeom>
          <a:solidFill>
            <a:srgbClr val="B3C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4987251" y="1211300"/>
            <a:ext cx="412737" cy="222681"/>
          </a:xfrm>
          <a:prstGeom prst="rect">
            <a:avLst/>
          </a:prstGeom>
          <a:solidFill>
            <a:srgbClr val="B3C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5" name="Connector 64"/>
          <p:cNvCxnSpPr/>
          <p:nvPr/>
        </p:nvCxnSpPr>
        <p:spPr>
          <a:xfrm flipV="1">
            <a:off x="1577771" y="1211300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2003158" y="1211300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V="1">
            <a:off x="2428557" y="1211300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V="1">
            <a:off x="2853956" y="1211300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V="1">
            <a:off x="3279343" y="1211300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 flipV="1">
            <a:off x="3704742" y="1211300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V="1">
            <a:off x="4130141" y="1211300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V="1">
            <a:off x="4555540" y="1211300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 flipV="1">
            <a:off x="4980927" y="1211300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Rectangle 73"/>
          <p:cNvSpPr/>
          <p:nvPr/>
        </p:nvSpPr>
        <p:spPr>
          <a:xfrm>
            <a:off x="1158697" y="1497253"/>
            <a:ext cx="412737" cy="222681"/>
          </a:xfrm>
          <a:prstGeom prst="rect">
            <a:avLst/>
          </a:prstGeom>
          <a:solidFill>
            <a:srgbClr val="CCEB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1584096" y="1497253"/>
            <a:ext cx="412737" cy="222681"/>
          </a:xfrm>
          <a:prstGeom prst="rect">
            <a:avLst/>
          </a:prstGeom>
          <a:solidFill>
            <a:srgbClr val="CCEB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2009495" y="1497253"/>
            <a:ext cx="412737" cy="222681"/>
          </a:xfrm>
          <a:prstGeom prst="rect">
            <a:avLst/>
          </a:prstGeom>
          <a:solidFill>
            <a:srgbClr val="CCEB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2434882" y="1497253"/>
            <a:ext cx="412737" cy="222681"/>
          </a:xfrm>
          <a:prstGeom prst="rect">
            <a:avLst/>
          </a:prstGeom>
          <a:solidFill>
            <a:srgbClr val="CCEB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2860281" y="1497253"/>
            <a:ext cx="412737" cy="222681"/>
          </a:xfrm>
          <a:prstGeom prst="rect">
            <a:avLst/>
          </a:prstGeom>
          <a:solidFill>
            <a:srgbClr val="CCEB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3285680" y="1497253"/>
            <a:ext cx="412737" cy="222681"/>
          </a:xfrm>
          <a:prstGeom prst="rect">
            <a:avLst/>
          </a:prstGeom>
          <a:solidFill>
            <a:srgbClr val="CCEB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3711066" y="1497253"/>
            <a:ext cx="412737" cy="222681"/>
          </a:xfrm>
          <a:prstGeom prst="rect">
            <a:avLst/>
          </a:prstGeom>
          <a:solidFill>
            <a:srgbClr val="CCEB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4136466" y="1497253"/>
            <a:ext cx="412737" cy="222681"/>
          </a:xfrm>
          <a:prstGeom prst="rect">
            <a:avLst/>
          </a:prstGeom>
          <a:solidFill>
            <a:srgbClr val="CCEB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4561865" y="1497253"/>
            <a:ext cx="412737" cy="222681"/>
          </a:xfrm>
          <a:prstGeom prst="rect">
            <a:avLst/>
          </a:prstGeom>
          <a:solidFill>
            <a:srgbClr val="CCEB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4987251" y="1497253"/>
            <a:ext cx="412737" cy="222681"/>
          </a:xfrm>
          <a:prstGeom prst="rect">
            <a:avLst/>
          </a:prstGeom>
          <a:solidFill>
            <a:srgbClr val="CCEB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4" name="Connector 83"/>
          <p:cNvCxnSpPr/>
          <p:nvPr/>
        </p:nvCxnSpPr>
        <p:spPr>
          <a:xfrm flipV="1">
            <a:off x="1577771" y="1497241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 flipV="1">
            <a:off x="2003158" y="1497241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 flipV="1">
            <a:off x="2428557" y="1497241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 flipV="1">
            <a:off x="2853956" y="1497241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 flipV="1">
            <a:off x="3279343" y="1497241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 flipV="1">
            <a:off x="3704742" y="1497241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 flipV="1">
            <a:off x="4130141" y="1497241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 flipV="1">
            <a:off x="4555540" y="1497241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 flipV="1">
            <a:off x="4980927" y="1497241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 flipV="1">
            <a:off x="1577770" y="1783194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 flipV="1">
            <a:off x="2003157" y="1783194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 flipV="1">
            <a:off x="2428556" y="1783194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 flipV="1">
            <a:off x="2853955" y="1783194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 flipV="1">
            <a:off x="3279342" y="1783194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 flipV="1">
            <a:off x="3704741" y="1783194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 flipV="1">
            <a:off x="4130140" y="1783194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 flipV="1">
            <a:off x="4555539" y="1783194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 flipV="1">
            <a:off x="4980926" y="1783194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 flipV="1">
            <a:off x="1577783" y="2069134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 flipV="1">
            <a:off x="2428569" y="2069134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 flipV="1">
            <a:off x="2853968" y="2069134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 flipV="1">
            <a:off x="3279354" y="2069134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 flipV="1">
            <a:off x="4130153" y="2069134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 flipV="1">
            <a:off x="4555552" y="2069134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 flipV="1">
            <a:off x="4980938" y="2069134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 flipV="1">
            <a:off x="1577795" y="2641028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/>
          <p:cNvCxnSpPr/>
          <p:nvPr/>
        </p:nvCxnSpPr>
        <p:spPr>
          <a:xfrm flipV="1">
            <a:off x="2003182" y="2641028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 110"/>
          <p:cNvCxnSpPr/>
          <p:nvPr/>
        </p:nvCxnSpPr>
        <p:spPr>
          <a:xfrm flipV="1">
            <a:off x="2428581" y="2641028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 111"/>
          <p:cNvCxnSpPr/>
          <p:nvPr/>
        </p:nvCxnSpPr>
        <p:spPr>
          <a:xfrm flipV="1">
            <a:off x="2853980" y="2641028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 112"/>
          <p:cNvCxnSpPr/>
          <p:nvPr/>
        </p:nvCxnSpPr>
        <p:spPr>
          <a:xfrm flipV="1">
            <a:off x="3279367" y="2641028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/>
          <p:cNvCxnSpPr/>
          <p:nvPr/>
        </p:nvCxnSpPr>
        <p:spPr>
          <a:xfrm flipV="1">
            <a:off x="3704766" y="2641028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Connector 114"/>
          <p:cNvCxnSpPr/>
          <p:nvPr/>
        </p:nvCxnSpPr>
        <p:spPr>
          <a:xfrm flipV="1">
            <a:off x="4130165" y="2641028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 115"/>
          <p:cNvCxnSpPr/>
          <p:nvPr/>
        </p:nvCxnSpPr>
        <p:spPr>
          <a:xfrm flipV="1">
            <a:off x="4555564" y="2641028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 116"/>
          <p:cNvCxnSpPr/>
          <p:nvPr/>
        </p:nvCxnSpPr>
        <p:spPr>
          <a:xfrm flipV="1">
            <a:off x="4980951" y="2641028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8" name="Rectangle 117"/>
          <p:cNvSpPr/>
          <p:nvPr/>
        </p:nvSpPr>
        <p:spPr>
          <a:xfrm>
            <a:off x="1158721" y="862088"/>
            <a:ext cx="425399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1571471" y="862088"/>
            <a:ext cx="438048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1996857" y="862088"/>
            <a:ext cx="438048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2422256" y="862088"/>
            <a:ext cx="438048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2847656" y="862088"/>
            <a:ext cx="438048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3273042" y="862088"/>
            <a:ext cx="438048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3698441" y="862088"/>
            <a:ext cx="438048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4123840" y="862088"/>
            <a:ext cx="438048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4549227" y="862088"/>
            <a:ext cx="438048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4974626" y="862088"/>
            <a:ext cx="425399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1158721" y="1148041"/>
            <a:ext cx="425399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1571471" y="1148041"/>
            <a:ext cx="438048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1996857" y="1148041"/>
            <a:ext cx="438048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2422256" y="1148041"/>
            <a:ext cx="438048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2847656" y="1148041"/>
            <a:ext cx="438048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3273042" y="1148041"/>
            <a:ext cx="438048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3698441" y="1148041"/>
            <a:ext cx="438048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4123840" y="1148041"/>
            <a:ext cx="438048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4549227" y="1148041"/>
            <a:ext cx="438048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Rectangle 136"/>
          <p:cNvSpPr/>
          <p:nvPr/>
        </p:nvSpPr>
        <p:spPr>
          <a:xfrm>
            <a:off x="4974626" y="1148041"/>
            <a:ext cx="425399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Rectangle 137"/>
          <p:cNvSpPr/>
          <p:nvPr/>
        </p:nvSpPr>
        <p:spPr>
          <a:xfrm>
            <a:off x="1158721" y="1433994"/>
            <a:ext cx="425399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Rectangle 138"/>
          <p:cNvSpPr/>
          <p:nvPr/>
        </p:nvSpPr>
        <p:spPr>
          <a:xfrm>
            <a:off x="1571471" y="1433994"/>
            <a:ext cx="438048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ectangle 139"/>
          <p:cNvSpPr/>
          <p:nvPr/>
        </p:nvSpPr>
        <p:spPr>
          <a:xfrm>
            <a:off x="1996857" y="1433994"/>
            <a:ext cx="438048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2422256" y="1433994"/>
            <a:ext cx="438048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Rectangle 141"/>
          <p:cNvSpPr/>
          <p:nvPr/>
        </p:nvSpPr>
        <p:spPr>
          <a:xfrm>
            <a:off x="2847656" y="1433994"/>
            <a:ext cx="438048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ectangle 142"/>
          <p:cNvSpPr/>
          <p:nvPr/>
        </p:nvSpPr>
        <p:spPr>
          <a:xfrm>
            <a:off x="3273042" y="1433994"/>
            <a:ext cx="438048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Rectangle 143"/>
          <p:cNvSpPr/>
          <p:nvPr/>
        </p:nvSpPr>
        <p:spPr>
          <a:xfrm>
            <a:off x="3698441" y="1433994"/>
            <a:ext cx="438048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4123840" y="1433994"/>
            <a:ext cx="438048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Rectangle 145"/>
          <p:cNvSpPr/>
          <p:nvPr/>
        </p:nvSpPr>
        <p:spPr>
          <a:xfrm>
            <a:off x="4549227" y="1433994"/>
            <a:ext cx="438048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Rectangle 146"/>
          <p:cNvSpPr/>
          <p:nvPr/>
        </p:nvSpPr>
        <p:spPr>
          <a:xfrm>
            <a:off x="4974626" y="1433994"/>
            <a:ext cx="425399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Rectangle 147"/>
          <p:cNvSpPr/>
          <p:nvPr/>
        </p:nvSpPr>
        <p:spPr>
          <a:xfrm>
            <a:off x="1158721" y="1719935"/>
            <a:ext cx="425399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1571471" y="1719935"/>
            <a:ext cx="438048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Rectangle 149"/>
          <p:cNvSpPr/>
          <p:nvPr/>
        </p:nvSpPr>
        <p:spPr>
          <a:xfrm>
            <a:off x="1996857" y="1719935"/>
            <a:ext cx="438048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Rectangle 150"/>
          <p:cNvSpPr/>
          <p:nvPr/>
        </p:nvSpPr>
        <p:spPr>
          <a:xfrm>
            <a:off x="2422256" y="1719935"/>
            <a:ext cx="438048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Rectangle 151"/>
          <p:cNvSpPr/>
          <p:nvPr/>
        </p:nvSpPr>
        <p:spPr>
          <a:xfrm>
            <a:off x="2847656" y="1719935"/>
            <a:ext cx="438048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Rectangle 152"/>
          <p:cNvSpPr/>
          <p:nvPr/>
        </p:nvSpPr>
        <p:spPr>
          <a:xfrm>
            <a:off x="3273042" y="1719935"/>
            <a:ext cx="438048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Rectangle 153"/>
          <p:cNvSpPr/>
          <p:nvPr/>
        </p:nvSpPr>
        <p:spPr>
          <a:xfrm>
            <a:off x="3698441" y="1719935"/>
            <a:ext cx="438048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Rectangle 154"/>
          <p:cNvSpPr/>
          <p:nvPr/>
        </p:nvSpPr>
        <p:spPr>
          <a:xfrm>
            <a:off x="4123840" y="1719935"/>
            <a:ext cx="438048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Rectangle 155"/>
          <p:cNvSpPr/>
          <p:nvPr/>
        </p:nvSpPr>
        <p:spPr>
          <a:xfrm>
            <a:off x="4549227" y="1719935"/>
            <a:ext cx="438048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4974626" y="1719935"/>
            <a:ext cx="425399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Rectangle 157"/>
          <p:cNvSpPr/>
          <p:nvPr/>
        </p:nvSpPr>
        <p:spPr>
          <a:xfrm>
            <a:off x="1158721" y="2005888"/>
            <a:ext cx="425399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Rectangle 158"/>
          <p:cNvSpPr/>
          <p:nvPr/>
        </p:nvSpPr>
        <p:spPr>
          <a:xfrm>
            <a:off x="1571471" y="2005888"/>
            <a:ext cx="438048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Rectangle 159"/>
          <p:cNvSpPr/>
          <p:nvPr/>
        </p:nvSpPr>
        <p:spPr>
          <a:xfrm>
            <a:off x="1996857" y="2005888"/>
            <a:ext cx="438048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Rectangle 160"/>
          <p:cNvSpPr/>
          <p:nvPr/>
        </p:nvSpPr>
        <p:spPr>
          <a:xfrm>
            <a:off x="2422256" y="2005888"/>
            <a:ext cx="438048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Rectangle 161"/>
          <p:cNvSpPr/>
          <p:nvPr/>
        </p:nvSpPr>
        <p:spPr>
          <a:xfrm>
            <a:off x="2847656" y="2005888"/>
            <a:ext cx="438048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Rectangle 162"/>
          <p:cNvSpPr/>
          <p:nvPr/>
        </p:nvSpPr>
        <p:spPr>
          <a:xfrm>
            <a:off x="3273042" y="2005888"/>
            <a:ext cx="438048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Rectangle 163"/>
          <p:cNvSpPr/>
          <p:nvPr/>
        </p:nvSpPr>
        <p:spPr>
          <a:xfrm>
            <a:off x="3698441" y="2005888"/>
            <a:ext cx="438048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4123840" y="2005888"/>
            <a:ext cx="438048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Rectangle 165"/>
          <p:cNvSpPr/>
          <p:nvPr/>
        </p:nvSpPr>
        <p:spPr>
          <a:xfrm>
            <a:off x="4549227" y="2005888"/>
            <a:ext cx="438048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Rectangle 166"/>
          <p:cNvSpPr/>
          <p:nvPr/>
        </p:nvSpPr>
        <p:spPr>
          <a:xfrm>
            <a:off x="4974626" y="2005888"/>
            <a:ext cx="425399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Rectangle 167"/>
          <p:cNvSpPr/>
          <p:nvPr/>
        </p:nvSpPr>
        <p:spPr>
          <a:xfrm>
            <a:off x="1158721" y="2291829"/>
            <a:ext cx="425399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Rectangle 168"/>
          <p:cNvSpPr/>
          <p:nvPr/>
        </p:nvSpPr>
        <p:spPr>
          <a:xfrm>
            <a:off x="1571471" y="2291829"/>
            <a:ext cx="438048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Rectangle 169"/>
          <p:cNvSpPr/>
          <p:nvPr/>
        </p:nvSpPr>
        <p:spPr>
          <a:xfrm>
            <a:off x="1996857" y="2291829"/>
            <a:ext cx="438048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Rectangle 170"/>
          <p:cNvSpPr/>
          <p:nvPr/>
        </p:nvSpPr>
        <p:spPr>
          <a:xfrm>
            <a:off x="2422256" y="2291829"/>
            <a:ext cx="438048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Rectangle 171"/>
          <p:cNvSpPr/>
          <p:nvPr/>
        </p:nvSpPr>
        <p:spPr>
          <a:xfrm>
            <a:off x="2847656" y="2291829"/>
            <a:ext cx="438048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3273042" y="2291829"/>
            <a:ext cx="438048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Rectangle 173"/>
          <p:cNvSpPr/>
          <p:nvPr/>
        </p:nvSpPr>
        <p:spPr>
          <a:xfrm>
            <a:off x="3698441" y="2291829"/>
            <a:ext cx="438048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Rectangle 174"/>
          <p:cNvSpPr/>
          <p:nvPr/>
        </p:nvSpPr>
        <p:spPr>
          <a:xfrm>
            <a:off x="4123840" y="2291829"/>
            <a:ext cx="438048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Rectangle 175"/>
          <p:cNvSpPr/>
          <p:nvPr/>
        </p:nvSpPr>
        <p:spPr>
          <a:xfrm>
            <a:off x="4549227" y="2291829"/>
            <a:ext cx="438048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Rectangle 176"/>
          <p:cNvSpPr/>
          <p:nvPr/>
        </p:nvSpPr>
        <p:spPr>
          <a:xfrm>
            <a:off x="4974626" y="2291829"/>
            <a:ext cx="425399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Rectangle 177"/>
          <p:cNvSpPr/>
          <p:nvPr/>
        </p:nvSpPr>
        <p:spPr>
          <a:xfrm>
            <a:off x="1158721" y="2577782"/>
            <a:ext cx="425399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Rectangle 178"/>
          <p:cNvSpPr/>
          <p:nvPr/>
        </p:nvSpPr>
        <p:spPr>
          <a:xfrm>
            <a:off x="1571471" y="2577782"/>
            <a:ext cx="438048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Rectangle 179"/>
          <p:cNvSpPr/>
          <p:nvPr/>
        </p:nvSpPr>
        <p:spPr>
          <a:xfrm>
            <a:off x="1996857" y="2577782"/>
            <a:ext cx="438048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2422256" y="2577782"/>
            <a:ext cx="438048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Rectangle 181"/>
          <p:cNvSpPr/>
          <p:nvPr/>
        </p:nvSpPr>
        <p:spPr>
          <a:xfrm>
            <a:off x="2847656" y="2577782"/>
            <a:ext cx="438048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Rectangle 182"/>
          <p:cNvSpPr/>
          <p:nvPr/>
        </p:nvSpPr>
        <p:spPr>
          <a:xfrm>
            <a:off x="3273042" y="2577782"/>
            <a:ext cx="438048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Rectangle 183"/>
          <p:cNvSpPr/>
          <p:nvPr/>
        </p:nvSpPr>
        <p:spPr>
          <a:xfrm>
            <a:off x="3698441" y="2577782"/>
            <a:ext cx="438048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Rectangle 184"/>
          <p:cNvSpPr/>
          <p:nvPr/>
        </p:nvSpPr>
        <p:spPr>
          <a:xfrm>
            <a:off x="4123840" y="2577782"/>
            <a:ext cx="438048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Rectangle 185"/>
          <p:cNvSpPr/>
          <p:nvPr/>
        </p:nvSpPr>
        <p:spPr>
          <a:xfrm>
            <a:off x="4549227" y="2577782"/>
            <a:ext cx="438048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Rectangle 186"/>
          <p:cNvSpPr/>
          <p:nvPr/>
        </p:nvSpPr>
        <p:spPr>
          <a:xfrm>
            <a:off x="4974626" y="2577782"/>
            <a:ext cx="425399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Rectangle 187"/>
          <p:cNvSpPr/>
          <p:nvPr/>
        </p:nvSpPr>
        <p:spPr>
          <a:xfrm>
            <a:off x="1158721" y="2863722"/>
            <a:ext cx="425399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Rectangle 188"/>
          <p:cNvSpPr/>
          <p:nvPr/>
        </p:nvSpPr>
        <p:spPr>
          <a:xfrm>
            <a:off x="1571471" y="2863722"/>
            <a:ext cx="438048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Rectangle 189"/>
          <p:cNvSpPr/>
          <p:nvPr/>
        </p:nvSpPr>
        <p:spPr>
          <a:xfrm>
            <a:off x="1996857" y="2863722"/>
            <a:ext cx="438048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Rectangle 190"/>
          <p:cNvSpPr/>
          <p:nvPr/>
        </p:nvSpPr>
        <p:spPr>
          <a:xfrm>
            <a:off x="2422256" y="2863722"/>
            <a:ext cx="438048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Rectangle 191"/>
          <p:cNvSpPr/>
          <p:nvPr/>
        </p:nvSpPr>
        <p:spPr>
          <a:xfrm>
            <a:off x="2847656" y="2863722"/>
            <a:ext cx="438048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Rectangle 192"/>
          <p:cNvSpPr/>
          <p:nvPr/>
        </p:nvSpPr>
        <p:spPr>
          <a:xfrm>
            <a:off x="3273042" y="2863722"/>
            <a:ext cx="438048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Rectangle 193"/>
          <p:cNvSpPr/>
          <p:nvPr/>
        </p:nvSpPr>
        <p:spPr>
          <a:xfrm>
            <a:off x="3698441" y="2863722"/>
            <a:ext cx="438048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Rectangle 194"/>
          <p:cNvSpPr/>
          <p:nvPr/>
        </p:nvSpPr>
        <p:spPr>
          <a:xfrm>
            <a:off x="4123840" y="2863722"/>
            <a:ext cx="438048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Rectangle 195"/>
          <p:cNvSpPr/>
          <p:nvPr/>
        </p:nvSpPr>
        <p:spPr>
          <a:xfrm>
            <a:off x="4549227" y="2863722"/>
            <a:ext cx="438048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Rectangle 196"/>
          <p:cNvSpPr/>
          <p:nvPr/>
        </p:nvSpPr>
        <p:spPr>
          <a:xfrm>
            <a:off x="4974626" y="2863722"/>
            <a:ext cx="425399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Rectangle 197"/>
          <p:cNvSpPr/>
          <p:nvPr/>
        </p:nvSpPr>
        <p:spPr>
          <a:xfrm>
            <a:off x="24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Rectangle 198"/>
          <p:cNvSpPr/>
          <p:nvPr/>
        </p:nvSpPr>
        <p:spPr>
          <a:xfrm>
            <a:off x="2880028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0" name="Picture 19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201" name="Picture 20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202" name="TextBox 201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Crossover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108000" y="359888"/>
            <a:ext cx="567739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1">
                <a:solidFill>
                  <a:srgbClr val="003373"/>
                </a:solidFill>
                <a:latin typeface="Josefin Sans"/>
              </a:rPr>
              <a:t>Multi-recombination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crossover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359993" y="624742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n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-point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crossover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–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parents,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n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1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crossover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points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selected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613803" y="960505"/>
            <a:ext cx="517159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Parent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587209" y="1246458"/>
            <a:ext cx="519818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Parent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585406" y="1532399"/>
            <a:ext cx="519998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Parent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766342" y="1818352"/>
            <a:ext cx="501905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Mask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1322181" y="1818352"/>
            <a:ext cx="446321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10" name="TextBox 209"/>
          <p:cNvSpPr txBox="1"/>
          <p:nvPr/>
        </p:nvSpPr>
        <p:spPr>
          <a:xfrm>
            <a:off x="1747578" y="1818352"/>
            <a:ext cx="403781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11" name="TextBox 210"/>
          <p:cNvSpPr txBox="1"/>
          <p:nvPr/>
        </p:nvSpPr>
        <p:spPr>
          <a:xfrm>
            <a:off x="2194035" y="1818352"/>
            <a:ext cx="359136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2619435" y="1818352"/>
            <a:ext cx="316596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3044823" y="1818352"/>
            <a:ext cx="274057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3470223" y="1818352"/>
            <a:ext cx="231517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3882325" y="1818352"/>
            <a:ext cx="190307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4307713" y="1818352"/>
            <a:ext cx="147768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4733114" y="1818352"/>
            <a:ext cx="105228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5158511" y="1818352"/>
            <a:ext cx="62688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219" name="TextBox 218"/>
          <p:cNvSpPr txBox="1"/>
          <p:nvPr/>
        </p:nvSpPr>
        <p:spPr>
          <a:xfrm>
            <a:off x="1962212" y="2104831"/>
            <a:ext cx="382318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Cambria Math"/>
              </a:rPr>
              <a:t>↑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3663796" y="2104831"/>
            <a:ext cx="212159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Cambria Math"/>
              </a:rPr>
              <a:t>↑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3237025" y="2390772"/>
            <a:ext cx="254837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⇓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4898795" y="3150917"/>
            <a:ext cx="88660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223" name="TextBox 222"/>
          <p:cNvSpPr txBox="1"/>
          <p:nvPr/>
        </p:nvSpPr>
        <p:spPr>
          <a:xfrm>
            <a:off x="5640234" y="3150693"/>
            <a:ext cx="14516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21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1158697" y="925360"/>
            <a:ext cx="412737" cy="222681"/>
          </a:xfrm>
          <a:prstGeom prst="rect">
            <a:avLst/>
          </a:prstGeom>
          <a:solidFill>
            <a:srgbClr val="FBB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584096" y="925360"/>
            <a:ext cx="412737" cy="222681"/>
          </a:xfrm>
          <a:prstGeom prst="rect">
            <a:avLst/>
          </a:prstGeom>
          <a:solidFill>
            <a:srgbClr val="FBB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009495" y="925360"/>
            <a:ext cx="412737" cy="222681"/>
          </a:xfrm>
          <a:prstGeom prst="rect">
            <a:avLst/>
          </a:prstGeom>
          <a:solidFill>
            <a:srgbClr val="FBB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434882" y="925360"/>
            <a:ext cx="412737" cy="222681"/>
          </a:xfrm>
          <a:prstGeom prst="rect">
            <a:avLst/>
          </a:prstGeom>
          <a:solidFill>
            <a:srgbClr val="FBB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860281" y="925360"/>
            <a:ext cx="412737" cy="222681"/>
          </a:xfrm>
          <a:prstGeom prst="rect">
            <a:avLst/>
          </a:prstGeom>
          <a:solidFill>
            <a:srgbClr val="FBB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285680" y="925360"/>
            <a:ext cx="412737" cy="222681"/>
          </a:xfrm>
          <a:prstGeom prst="rect">
            <a:avLst/>
          </a:prstGeom>
          <a:solidFill>
            <a:srgbClr val="FBB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711066" y="925360"/>
            <a:ext cx="412737" cy="222681"/>
          </a:xfrm>
          <a:prstGeom prst="rect">
            <a:avLst/>
          </a:prstGeom>
          <a:solidFill>
            <a:srgbClr val="FBB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136466" y="925360"/>
            <a:ext cx="412737" cy="222681"/>
          </a:xfrm>
          <a:prstGeom prst="rect">
            <a:avLst/>
          </a:prstGeom>
          <a:solidFill>
            <a:srgbClr val="FBB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561865" y="925360"/>
            <a:ext cx="412737" cy="222681"/>
          </a:xfrm>
          <a:prstGeom prst="rect">
            <a:avLst/>
          </a:prstGeom>
          <a:solidFill>
            <a:srgbClr val="FBB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987251" y="925360"/>
            <a:ext cx="412737" cy="222681"/>
          </a:xfrm>
          <a:prstGeom prst="rect">
            <a:avLst/>
          </a:prstGeom>
          <a:solidFill>
            <a:srgbClr val="FBB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 flipV="1">
            <a:off x="1577771" y="925347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2003158" y="925347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2428557" y="925347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2853956" y="925347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V="1">
            <a:off x="3279343" y="925347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3704742" y="925347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4130141" y="925347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4555540" y="925347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V="1">
            <a:off x="4980927" y="925347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Rectangle 54"/>
          <p:cNvSpPr/>
          <p:nvPr/>
        </p:nvSpPr>
        <p:spPr>
          <a:xfrm>
            <a:off x="1158697" y="1211300"/>
            <a:ext cx="412737" cy="222681"/>
          </a:xfrm>
          <a:prstGeom prst="rect">
            <a:avLst/>
          </a:prstGeom>
          <a:solidFill>
            <a:srgbClr val="B3C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1584096" y="1211300"/>
            <a:ext cx="412737" cy="222681"/>
          </a:xfrm>
          <a:prstGeom prst="rect">
            <a:avLst/>
          </a:prstGeom>
          <a:solidFill>
            <a:srgbClr val="B3C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2009495" y="1211300"/>
            <a:ext cx="412737" cy="222681"/>
          </a:xfrm>
          <a:prstGeom prst="rect">
            <a:avLst/>
          </a:prstGeom>
          <a:solidFill>
            <a:srgbClr val="B3C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2434882" y="1211300"/>
            <a:ext cx="412737" cy="222681"/>
          </a:xfrm>
          <a:prstGeom prst="rect">
            <a:avLst/>
          </a:prstGeom>
          <a:solidFill>
            <a:srgbClr val="B3C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2860281" y="1211300"/>
            <a:ext cx="412737" cy="222681"/>
          </a:xfrm>
          <a:prstGeom prst="rect">
            <a:avLst/>
          </a:prstGeom>
          <a:solidFill>
            <a:srgbClr val="B3C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3285680" y="1211300"/>
            <a:ext cx="412737" cy="222681"/>
          </a:xfrm>
          <a:prstGeom prst="rect">
            <a:avLst/>
          </a:prstGeom>
          <a:solidFill>
            <a:srgbClr val="B3C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3711066" y="1211300"/>
            <a:ext cx="412737" cy="222681"/>
          </a:xfrm>
          <a:prstGeom prst="rect">
            <a:avLst/>
          </a:prstGeom>
          <a:solidFill>
            <a:srgbClr val="B3C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4136466" y="1211300"/>
            <a:ext cx="412737" cy="222681"/>
          </a:xfrm>
          <a:prstGeom prst="rect">
            <a:avLst/>
          </a:prstGeom>
          <a:solidFill>
            <a:srgbClr val="B3C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4561865" y="1211300"/>
            <a:ext cx="412737" cy="222681"/>
          </a:xfrm>
          <a:prstGeom prst="rect">
            <a:avLst/>
          </a:prstGeom>
          <a:solidFill>
            <a:srgbClr val="B3C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4987251" y="1211300"/>
            <a:ext cx="412737" cy="222681"/>
          </a:xfrm>
          <a:prstGeom prst="rect">
            <a:avLst/>
          </a:prstGeom>
          <a:solidFill>
            <a:srgbClr val="B3C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5" name="Connector 64"/>
          <p:cNvCxnSpPr/>
          <p:nvPr/>
        </p:nvCxnSpPr>
        <p:spPr>
          <a:xfrm flipV="1">
            <a:off x="1577771" y="1211300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2003158" y="1211300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V="1">
            <a:off x="2428557" y="1211300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V="1">
            <a:off x="2853956" y="1211300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V="1">
            <a:off x="3279343" y="1211300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 flipV="1">
            <a:off x="3704742" y="1211300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V="1">
            <a:off x="4130141" y="1211300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V="1">
            <a:off x="4555540" y="1211300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 flipV="1">
            <a:off x="4980927" y="1211300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Rectangle 73"/>
          <p:cNvSpPr/>
          <p:nvPr/>
        </p:nvSpPr>
        <p:spPr>
          <a:xfrm>
            <a:off x="1158697" y="1497253"/>
            <a:ext cx="412737" cy="222681"/>
          </a:xfrm>
          <a:prstGeom prst="rect">
            <a:avLst/>
          </a:prstGeom>
          <a:solidFill>
            <a:srgbClr val="CCEB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1584096" y="1497253"/>
            <a:ext cx="412737" cy="222681"/>
          </a:xfrm>
          <a:prstGeom prst="rect">
            <a:avLst/>
          </a:prstGeom>
          <a:solidFill>
            <a:srgbClr val="CCEB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2009495" y="1497253"/>
            <a:ext cx="412737" cy="222681"/>
          </a:xfrm>
          <a:prstGeom prst="rect">
            <a:avLst/>
          </a:prstGeom>
          <a:solidFill>
            <a:srgbClr val="CCEB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2434882" y="1497253"/>
            <a:ext cx="412737" cy="222681"/>
          </a:xfrm>
          <a:prstGeom prst="rect">
            <a:avLst/>
          </a:prstGeom>
          <a:solidFill>
            <a:srgbClr val="CCEB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2860281" y="1497253"/>
            <a:ext cx="412737" cy="222681"/>
          </a:xfrm>
          <a:prstGeom prst="rect">
            <a:avLst/>
          </a:prstGeom>
          <a:solidFill>
            <a:srgbClr val="CCEB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3285680" y="1497253"/>
            <a:ext cx="412737" cy="222681"/>
          </a:xfrm>
          <a:prstGeom prst="rect">
            <a:avLst/>
          </a:prstGeom>
          <a:solidFill>
            <a:srgbClr val="CCEB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3711066" y="1497253"/>
            <a:ext cx="412737" cy="222681"/>
          </a:xfrm>
          <a:prstGeom prst="rect">
            <a:avLst/>
          </a:prstGeom>
          <a:solidFill>
            <a:srgbClr val="CCEB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4136466" y="1497253"/>
            <a:ext cx="412737" cy="222681"/>
          </a:xfrm>
          <a:prstGeom prst="rect">
            <a:avLst/>
          </a:prstGeom>
          <a:solidFill>
            <a:srgbClr val="CCEB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4561865" y="1497253"/>
            <a:ext cx="412737" cy="222681"/>
          </a:xfrm>
          <a:prstGeom prst="rect">
            <a:avLst/>
          </a:prstGeom>
          <a:solidFill>
            <a:srgbClr val="CCEB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4987251" y="1497253"/>
            <a:ext cx="412737" cy="222681"/>
          </a:xfrm>
          <a:prstGeom prst="rect">
            <a:avLst/>
          </a:prstGeom>
          <a:solidFill>
            <a:srgbClr val="CCEB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4" name="Connector 83"/>
          <p:cNvCxnSpPr/>
          <p:nvPr/>
        </p:nvCxnSpPr>
        <p:spPr>
          <a:xfrm flipV="1">
            <a:off x="1577771" y="1497241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 flipV="1">
            <a:off x="2003158" y="1497241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 flipV="1">
            <a:off x="2428557" y="1497241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 flipV="1">
            <a:off x="2853956" y="1497241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 flipV="1">
            <a:off x="3279343" y="1497241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 flipV="1">
            <a:off x="3704742" y="1497241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 flipV="1">
            <a:off x="4130141" y="1497241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 flipV="1">
            <a:off x="4555540" y="1497241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 flipV="1">
            <a:off x="4980927" y="1497241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 flipV="1">
            <a:off x="1577770" y="1783194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 flipV="1">
            <a:off x="2003157" y="1783194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 flipV="1">
            <a:off x="2428556" y="1783194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 flipV="1">
            <a:off x="2853955" y="1783194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 flipV="1">
            <a:off x="3279342" y="1783194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 flipV="1">
            <a:off x="3704741" y="1783194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 flipV="1">
            <a:off x="4130140" y="1783194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 flipV="1">
            <a:off x="4555539" y="1783194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 flipV="1">
            <a:off x="4980926" y="1783194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 flipV="1">
            <a:off x="1577783" y="2069134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 flipV="1">
            <a:off x="2428569" y="2069134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 flipV="1">
            <a:off x="2853968" y="2069134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 flipV="1">
            <a:off x="3279354" y="2069134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 flipV="1">
            <a:off x="4130153" y="2069134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 flipV="1">
            <a:off x="4555552" y="2069134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 flipV="1">
            <a:off x="4980938" y="2069134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" name="Rectangle 108"/>
          <p:cNvSpPr/>
          <p:nvPr/>
        </p:nvSpPr>
        <p:spPr>
          <a:xfrm>
            <a:off x="1158707" y="2641041"/>
            <a:ext cx="412737" cy="222681"/>
          </a:xfrm>
          <a:prstGeom prst="rect">
            <a:avLst/>
          </a:prstGeom>
          <a:solidFill>
            <a:srgbClr val="FBB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1584108" y="2641041"/>
            <a:ext cx="412737" cy="222681"/>
          </a:xfrm>
          <a:prstGeom prst="rect">
            <a:avLst/>
          </a:prstGeom>
          <a:solidFill>
            <a:srgbClr val="FBB4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2009509" y="2641041"/>
            <a:ext cx="412737" cy="222681"/>
          </a:xfrm>
          <a:prstGeom prst="rect">
            <a:avLst/>
          </a:prstGeom>
          <a:solidFill>
            <a:srgbClr val="B3C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2434897" y="2641041"/>
            <a:ext cx="412737" cy="222681"/>
          </a:xfrm>
          <a:prstGeom prst="rect">
            <a:avLst/>
          </a:prstGeom>
          <a:solidFill>
            <a:srgbClr val="B3C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2860297" y="2641041"/>
            <a:ext cx="412737" cy="222681"/>
          </a:xfrm>
          <a:prstGeom prst="rect">
            <a:avLst/>
          </a:prstGeom>
          <a:solidFill>
            <a:srgbClr val="B3C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3285698" y="2641041"/>
            <a:ext cx="412737" cy="222681"/>
          </a:xfrm>
          <a:prstGeom prst="rect">
            <a:avLst/>
          </a:prstGeom>
          <a:solidFill>
            <a:srgbClr val="B3C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3711085" y="2641041"/>
            <a:ext cx="412737" cy="222681"/>
          </a:xfrm>
          <a:prstGeom prst="rect">
            <a:avLst/>
          </a:prstGeom>
          <a:solidFill>
            <a:srgbClr val="CCEB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4136486" y="2641041"/>
            <a:ext cx="412737" cy="222681"/>
          </a:xfrm>
          <a:prstGeom prst="rect">
            <a:avLst/>
          </a:prstGeom>
          <a:solidFill>
            <a:srgbClr val="CCEB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4561886" y="2641041"/>
            <a:ext cx="412737" cy="222681"/>
          </a:xfrm>
          <a:prstGeom prst="rect">
            <a:avLst/>
          </a:prstGeom>
          <a:solidFill>
            <a:srgbClr val="CCEB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4987274" y="2641041"/>
            <a:ext cx="412737" cy="222681"/>
          </a:xfrm>
          <a:prstGeom prst="rect">
            <a:avLst/>
          </a:prstGeom>
          <a:solidFill>
            <a:srgbClr val="CCEB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9" name="Connector 118"/>
          <p:cNvCxnSpPr/>
          <p:nvPr/>
        </p:nvCxnSpPr>
        <p:spPr>
          <a:xfrm flipV="1">
            <a:off x="1577795" y="2641028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 119"/>
          <p:cNvCxnSpPr/>
          <p:nvPr/>
        </p:nvCxnSpPr>
        <p:spPr>
          <a:xfrm flipV="1">
            <a:off x="2003182" y="2641028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Connector 120"/>
          <p:cNvCxnSpPr/>
          <p:nvPr/>
        </p:nvCxnSpPr>
        <p:spPr>
          <a:xfrm flipV="1">
            <a:off x="2428581" y="2641028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Connector 121"/>
          <p:cNvCxnSpPr/>
          <p:nvPr/>
        </p:nvCxnSpPr>
        <p:spPr>
          <a:xfrm flipV="1">
            <a:off x="2853980" y="2641028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Connector 122"/>
          <p:cNvCxnSpPr/>
          <p:nvPr/>
        </p:nvCxnSpPr>
        <p:spPr>
          <a:xfrm flipV="1">
            <a:off x="3279367" y="2641028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Connector 123"/>
          <p:cNvCxnSpPr/>
          <p:nvPr/>
        </p:nvCxnSpPr>
        <p:spPr>
          <a:xfrm flipV="1">
            <a:off x="3704766" y="2641028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 124"/>
          <p:cNvCxnSpPr/>
          <p:nvPr/>
        </p:nvCxnSpPr>
        <p:spPr>
          <a:xfrm flipV="1">
            <a:off x="4130165" y="2641028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Connector 125"/>
          <p:cNvCxnSpPr/>
          <p:nvPr/>
        </p:nvCxnSpPr>
        <p:spPr>
          <a:xfrm flipV="1">
            <a:off x="4555564" y="2641028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Connector 126"/>
          <p:cNvCxnSpPr/>
          <p:nvPr/>
        </p:nvCxnSpPr>
        <p:spPr>
          <a:xfrm flipV="1">
            <a:off x="4980951" y="2641028"/>
            <a:ext cx="0" cy="285953"/>
          </a:xfrm>
          <a:prstGeom prst="line">
            <a:avLst/>
          </a:prstGeom>
          <a:ln w="12649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8" name="Rectangle 127"/>
          <p:cNvSpPr/>
          <p:nvPr/>
        </p:nvSpPr>
        <p:spPr>
          <a:xfrm>
            <a:off x="1158721" y="862088"/>
            <a:ext cx="425399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1571471" y="862088"/>
            <a:ext cx="438048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1996857" y="862088"/>
            <a:ext cx="438048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2422256" y="862088"/>
            <a:ext cx="438048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2847656" y="862088"/>
            <a:ext cx="438048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3273042" y="862088"/>
            <a:ext cx="438048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3698441" y="862088"/>
            <a:ext cx="438048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4123840" y="862088"/>
            <a:ext cx="438048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4549227" y="862088"/>
            <a:ext cx="438048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Rectangle 136"/>
          <p:cNvSpPr/>
          <p:nvPr/>
        </p:nvSpPr>
        <p:spPr>
          <a:xfrm>
            <a:off x="4974626" y="862088"/>
            <a:ext cx="425399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Rectangle 137"/>
          <p:cNvSpPr/>
          <p:nvPr/>
        </p:nvSpPr>
        <p:spPr>
          <a:xfrm>
            <a:off x="1158721" y="1148041"/>
            <a:ext cx="425399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Rectangle 138"/>
          <p:cNvSpPr/>
          <p:nvPr/>
        </p:nvSpPr>
        <p:spPr>
          <a:xfrm>
            <a:off x="1571471" y="1148041"/>
            <a:ext cx="438048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ectangle 139"/>
          <p:cNvSpPr/>
          <p:nvPr/>
        </p:nvSpPr>
        <p:spPr>
          <a:xfrm>
            <a:off x="1996857" y="1148041"/>
            <a:ext cx="438048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2422256" y="1148041"/>
            <a:ext cx="438048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Rectangle 141"/>
          <p:cNvSpPr/>
          <p:nvPr/>
        </p:nvSpPr>
        <p:spPr>
          <a:xfrm>
            <a:off x="2847656" y="1148041"/>
            <a:ext cx="438048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ectangle 142"/>
          <p:cNvSpPr/>
          <p:nvPr/>
        </p:nvSpPr>
        <p:spPr>
          <a:xfrm>
            <a:off x="3273042" y="1148041"/>
            <a:ext cx="438048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Rectangle 143"/>
          <p:cNvSpPr/>
          <p:nvPr/>
        </p:nvSpPr>
        <p:spPr>
          <a:xfrm>
            <a:off x="3698441" y="1148041"/>
            <a:ext cx="438048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4123840" y="1148041"/>
            <a:ext cx="438048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Rectangle 145"/>
          <p:cNvSpPr/>
          <p:nvPr/>
        </p:nvSpPr>
        <p:spPr>
          <a:xfrm>
            <a:off x="4549227" y="1148041"/>
            <a:ext cx="438048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Rectangle 146"/>
          <p:cNvSpPr/>
          <p:nvPr/>
        </p:nvSpPr>
        <p:spPr>
          <a:xfrm>
            <a:off x="4974626" y="1148041"/>
            <a:ext cx="425399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Rectangle 147"/>
          <p:cNvSpPr/>
          <p:nvPr/>
        </p:nvSpPr>
        <p:spPr>
          <a:xfrm>
            <a:off x="1158721" y="1433994"/>
            <a:ext cx="425399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1571471" y="1433994"/>
            <a:ext cx="438048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Rectangle 149"/>
          <p:cNvSpPr/>
          <p:nvPr/>
        </p:nvSpPr>
        <p:spPr>
          <a:xfrm>
            <a:off x="1996857" y="1433994"/>
            <a:ext cx="438048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Rectangle 150"/>
          <p:cNvSpPr/>
          <p:nvPr/>
        </p:nvSpPr>
        <p:spPr>
          <a:xfrm>
            <a:off x="2422256" y="1433994"/>
            <a:ext cx="438048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Rectangle 151"/>
          <p:cNvSpPr/>
          <p:nvPr/>
        </p:nvSpPr>
        <p:spPr>
          <a:xfrm>
            <a:off x="2847656" y="1433994"/>
            <a:ext cx="438048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Rectangle 152"/>
          <p:cNvSpPr/>
          <p:nvPr/>
        </p:nvSpPr>
        <p:spPr>
          <a:xfrm>
            <a:off x="3273042" y="1433994"/>
            <a:ext cx="438048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Rectangle 153"/>
          <p:cNvSpPr/>
          <p:nvPr/>
        </p:nvSpPr>
        <p:spPr>
          <a:xfrm>
            <a:off x="3698441" y="1433994"/>
            <a:ext cx="438048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Rectangle 154"/>
          <p:cNvSpPr/>
          <p:nvPr/>
        </p:nvSpPr>
        <p:spPr>
          <a:xfrm>
            <a:off x="4123840" y="1433994"/>
            <a:ext cx="438048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Rectangle 155"/>
          <p:cNvSpPr/>
          <p:nvPr/>
        </p:nvSpPr>
        <p:spPr>
          <a:xfrm>
            <a:off x="4549227" y="1433994"/>
            <a:ext cx="438048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4974626" y="1433994"/>
            <a:ext cx="425399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Rectangle 157"/>
          <p:cNvSpPr/>
          <p:nvPr/>
        </p:nvSpPr>
        <p:spPr>
          <a:xfrm>
            <a:off x="1158721" y="1719935"/>
            <a:ext cx="425399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Rectangle 158"/>
          <p:cNvSpPr/>
          <p:nvPr/>
        </p:nvSpPr>
        <p:spPr>
          <a:xfrm>
            <a:off x="1571471" y="1719935"/>
            <a:ext cx="438048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Rectangle 159"/>
          <p:cNvSpPr/>
          <p:nvPr/>
        </p:nvSpPr>
        <p:spPr>
          <a:xfrm>
            <a:off x="1996857" y="1719935"/>
            <a:ext cx="438048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Rectangle 160"/>
          <p:cNvSpPr/>
          <p:nvPr/>
        </p:nvSpPr>
        <p:spPr>
          <a:xfrm>
            <a:off x="2422256" y="1719935"/>
            <a:ext cx="438048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Rectangle 161"/>
          <p:cNvSpPr/>
          <p:nvPr/>
        </p:nvSpPr>
        <p:spPr>
          <a:xfrm>
            <a:off x="2847656" y="1719935"/>
            <a:ext cx="438048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Rectangle 162"/>
          <p:cNvSpPr/>
          <p:nvPr/>
        </p:nvSpPr>
        <p:spPr>
          <a:xfrm>
            <a:off x="3273042" y="1719935"/>
            <a:ext cx="438048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Rectangle 163"/>
          <p:cNvSpPr/>
          <p:nvPr/>
        </p:nvSpPr>
        <p:spPr>
          <a:xfrm>
            <a:off x="3698441" y="1719935"/>
            <a:ext cx="438048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4123840" y="1719935"/>
            <a:ext cx="438048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Rectangle 165"/>
          <p:cNvSpPr/>
          <p:nvPr/>
        </p:nvSpPr>
        <p:spPr>
          <a:xfrm>
            <a:off x="4549227" y="1719935"/>
            <a:ext cx="438048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Rectangle 166"/>
          <p:cNvSpPr/>
          <p:nvPr/>
        </p:nvSpPr>
        <p:spPr>
          <a:xfrm>
            <a:off x="4974626" y="1719935"/>
            <a:ext cx="425399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Rectangle 167"/>
          <p:cNvSpPr/>
          <p:nvPr/>
        </p:nvSpPr>
        <p:spPr>
          <a:xfrm>
            <a:off x="1158721" y="2005888"/>
            <a:ext cx="425399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Rectangle 168"/>
          <p:cNvSpPr/>
          <p:nvPr/>
        </p:nvSpPr>
        <p:spPr>
          <a:xfrm>
            <a:off x="1571471" y="2005888"/>
            <a:ext cx="438048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Rectangle 169"/>
          <p:cNvSpPr/>
          <p:nvPr/>
        </p:nvSpPr>
        <p:spPr>
          <a:xfrm>
            <a:off x="1996857" y="2005888"/>
            <a:ext cx="438048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Rectangle 170"/>
          <p:cNvSpPr/>
          <p:nvPr/>
        </p:nvSpPr>
        <p:spPr>
          <a:xfrm>
            <a:off x="2422256" y="2005888"/>
            <a:ext cx="438048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Rectangle 171"/>
          <p:cNvSpPr/>
          <p:nvPr/>
        </p:nvSpPr>
        <p:spPr>
          <a:xfrm>
            <a:off x="2847656" y="2005888"/>
            <a:ext cx="438048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3273042" y="2005888"/>
            <a:ext cx="438048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Rectangle 173"/>
          <p:cNvSpPr/>
          <p:nvPr/>
        </p:nvSpPr>
        <p:spPr>
          <a:xfrm>
            <a:off x="3698441" y="2005888"/>
            <a:ext cx="438048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Rectangle 174"/>
          <p:cNvSpPr/>
          <p:nvPr/>
        </p:nvSpPr>
        <p:spPr>
          <a:xfrm>
            <a:off x="4123840" y="2005888"/>
            <a:ext cx="438048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Rectangle 175"/>
          <p:cNvSpPr/>
          <p:nvPr/>
        </p:nvSpPr>
        <p:spPr>
          <a:xfrm>
            <a:off x="4549227" y="2005888"/>
            <a:ext cx="438048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Rectangle 176"/>
          <p:cNvSpPr/>
          <p:nvPr/>
        </p:nvSpPr>
        <p:spPr>
          <a:xfrm>
            <a:off x="4974626" y="2005888"/>
            <a:ext cx="425399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Rectangle 177"/>
          <p:cNvSpPr/>
          <p:nvPr/>
        </p:nvSpPr>
        <p:spPr>
          <a:xfrm>
            <a:off x="1158721" y="2291829"/>
            <a:ext cx="425399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Rectangle 178"/>
          <p:cNvSpPr/>
          <p:nvPr/>
        </p:nvSpPr>
        <p:spPr>
          <a:xfrm>
            <a:off x="1571471" y="2291829"/>
            <a:ext cx="438048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Rectangle 179"/>
          <p:cNvSpPr/>
          <p:nvPr/>
        </p:nvSpPr>
        <p:spPr>
          <a:xfrm>
            <a:off x="1996857" y="2291829"/>
            <a:ext cx="438048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2422256" y="2291829"/>
            <a:ext cx="438048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Rectangle 181"/>
          <p:cNvSpPr/>
          <p:nvPr/>
        </p:nvSpPr>
        <p:spPr>
          <a:xfrm>
            <a:off x="2847656" y="2291829"/>
            <a:ext cx="438048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Rectangle 182"/>
          <p:cNvSpPr/>
          <p:nvPr/>
        </p:nvSpPr>
        <p:spPr>
          <a:xfrm>
            <a:off x="3273042" y="2291829"/>
            <a:ext cx="438048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Rectangle 183"/>
          <p:cNvSpPr/>
          <p:nvPr/>
        </p:nvSpPr>
        <p:spPr>
          <a:xfrm>
            <a:off x="3698441" y="2291829"/>
            <a:ext cx="438048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Rectangle 184"/>
          <p:cNvSpPr/>
          <p:nvPr/>
        </p:nvSpPr>
        <p:spPr>
          <a:xfrm>
            <a:off x="4123840" y="2291829"/>
            <a:ext cx="438048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Rectangle 185"/>
          <p:cNvSpPr/>
          <p:nvPr/>
        </p:nvSpPr>
        <p:spPr>
          <a:xfrm>
            <a:off x="4549227" y="2291829"/>
            <a:ext cx="438048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Rectangle 186"/>
          <p:cNvSpPr/>
          <p:nvPr/>
        </p:nvSpPr>
        <p:spPr>
          <a:xfrm>
            <a:off x="4974626" y="2291829"/>
            <a:ext cx="425399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Rectangle 187"/>
          <p:cNvSpPr/>
          <p:nvPr/>
        </p:nvSpPr>
        <p:spPr>
          <a:xfrm>
            <a:off x="1158721" y="2577782"/>
            <a:ext cx="425399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Rectangle 188"/>
          <p:cNvSpPr/>
          <p:nvPr/>
        </p:nvSpPr>
        <p:spPr>
          <a:xfrm>
            <a:off x="1571471" y="2577782"/>
            <a:ext cx="438048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Rectangle 189"/>
          <p:cNvSpPr/>
          <p:nvPr/>
        </p:nvSpPr>
        <p:spPr>
          <a:xfrm>
            <a:off x="1996857" y="2577782"/>
            <a:ext cx="438048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Rectangle 190"/>
          <p:cNvSpPr/>
          <p:nvPr/>
        </p:nvSpPr>
        <p:spPr>
          <a:xfrm>
            <a:off x="2422256" y="2577782"/>
            <a:ext cx="438048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Rectangle 191"/>
          <p:cNvSpPr/>
          <p:nvPr/>
        </p:nvSpPr>
        <p:spPr>
          <a:xfrm>
            <a:off x="2847656" y="2577782"/>
            <a:ext cx="438048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Rectangle 192"/>
          <p:cNvSpPr/>
          <p:nvPr/>
        </p:nvSpPr>
        <p:spPr>
          <a:xfrm>
            <a:off x="3273042" y="2577782"/>
            <a:ext cx="438048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Rectangle 193"/>
          <p:cNvSpPr/>
          <p:nvPr/>
        </p:nvSpPr>
        <p:spPr>
          <a:xfrm>
            <a:off x="3698441" y="2577782"/>
            <a:ext cx="438048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Rectangle 194"/>
          <p:cNvSpPr/>
          <p:nvPr/>
        </p:nvSpPr>
        <p:spPr>
          <a:xfrm>
            <a:off x="4123840" y="2577782"/>
            <a:ext cx="438048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Rectangle 195"/>
          <p:cNvSpPr/>
          <p:nvPr/>
        </p:nvSpPr>
        <p:spPr>
          <a:xfrm>
            <a:off x="4549227" y="2577782"/>
            <a:ext cx="438048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Rectangle 196"/>
          <p:cNvSpPr/>
          <p:nvPr/>
        </p:nvSpPr>
        <p:spPr>
          <a:xfrm>
            <a:off x="4974626" y="2577782"/>
            <a:ext cx="425399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Rectangle 197"/>
          <p:cNvSpPr/>
          <p:nvPr/>
        </p:nvSpPr>
        <p:spPr>
          <a:xfrm>
            <a:off x="1158721" y="2863722"/>
            <a:ext cx="425399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Rectangle 198"/>
          <p:cNvSpPr/>
          <p:nvPr/>
        </p:nvSpPr>
        <p:spPr>
          <a:xfrm>
            <a:off x="1571471" y="2863722"/>
            <a:ext cx="438048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Rectangle 199"/>
          <p:cNvSpPr/>
          <p:nvPr/>
        </p:nvSpPr>
        <p:spPr>
          <a:xfrm>
            <a:off x="1996857" y="2863722"/>
            <a:ext cx="438048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Rectangle 200"/>
          <p:cNvSpPr/>
          <p:nvPr/>
        </p:nvSpPr>
        <p:spPr>
          <a:xfrm>
            <a:off x="2422256" y="2863722"/>
            <a:ext cx="438048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Rectangle 201"/>
          <p:cNvSpPr/>
          <p:nvPr/>
        </p:nvSpPr>
        <p:spPr>
          <a:xfrm>
            <a:off x="2847656" y="2863722"/>
            <a:ext cx="438048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Rectangle 202"/>
          <p:cNvSpPr/>
          <p:nvPr/>
        </p:nvSpPr>
        <p:spPr>
          <a:xfrm>
            <a:off x="3273042" y="2863722"/>
            <a:ext cx="438048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Rectangle 203"/>
          <p:cNvSpPr/>
          <p:nvPr/>
        </p:nvSpPr>
        <p:spPr>
          <a:xfrm>
            <a:off x="3698441" y="2863722"/>
            <a:ext cx="438048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Rectangle 204"/>
          <p:cNvSpPr/>
          <p:nvPr/>
        </p:nvSpPr>
        <p:spPr>
          <a:xfrm>
            <a:off x="4123840" y="2863722"/>
            <a:ext cx="438048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Rectangle 205"/>
          <p:cNvSpPr/>
          <p:nvPr/>
        </p:nvSpPr>
        <p:spPr>
          <a:xfrm>
            <a:off x="4549227" y="2863722"/>
            <a:ext cx="438048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Rectangle 206"/>
          <p:cNvSpPr/>
          <p:nvPr/>
        </p:nvSpPr>
        <p:spPr>
          <a:xfrm>
            <a:off x="4974626" y="2863722"/>
            <a:ext cx="425399" cy="63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Rectangle 207"/>
          <p:cNvSpPr/>
          <p:nvPr/>
        </p:nvSpPr>
        <p:spPr>
          <a:xfrm>
            <a:off x="24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Rectangle 208"/>
          <p:cNvSpPr/>
          <p:nvPr/>
        </p:nvSpPr>
        <p:spPr>
          <a:xfrm>
            <a:off x="2880028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0" name="Picture 20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211" name="Picture 21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212" name="TextBox 211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Crossover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108000" y="359888"/>
            <a:ext cx="567739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1">
                <a:solidFill>
                  <a:srgbClr val="003373"/>
                </a:solidFill>
                <a:latin typeface="Josefin Sans"/>
              </a:rPr>
              <a:t>Multi-recombination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crossover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359993" y="624742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n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-point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crossover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–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parents,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n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1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crossover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points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selected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613803" y="960505"/>
            <a:ext cx="517159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Parent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587209" y="1246458"/>
            <a:ext cx="519818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Parent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585406" y="1532399"/>
            <a:ext cx="519998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Parent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766342" y="1818352"/>
            <a:ext cx="501905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Mask</a:t>
            </a:r>
          </a:p>
        </p:txBody>
      </p:sp>
      <p:sp>
        <p:nvSpPr>
          <p:cNvPr id="219" name="TextBox 218"/>
          <p:cNvSpPr txBox="1"/>
          <p:nvPr/>
        </p:nvSpPr>
        <p:spPr>
          <a:xfrm>
            <a:off x="1322181" y="1818352"/>
            <a:ext cx="446321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1747578" y="1818352"/>
            <a:ext cx="403781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2194035" y="1818352"/>
            <a:ext cx="359136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2619435" y="1818352"/>
            <a:ext cx="316596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223" name="TextBox 222"/>
          <p:cNvSpPr txBox="1"/>
          <p:nvPr/>
        </p:nvSpPr>
        <p:spPr>
          <a:xfrm>
            <a:off x="3044823" y="1818352"/>
            <a:ext cx="274057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224" name="TextBox 223"/>
          <p:cNvSpPr txBox="1"/>
          <p:nvPr/>
        </p:nvSpPr>
        <p:spPr>
          <a:xfrm>
            <a:off x="3470223" y="1818352"/>
            <a:ext cx="231517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3882325" y="1818352"/>
            <a:ext cx="190307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4307713" y="1818352"/>
            <a:ext cx="147768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4733114" y="1818352"/>
            <a:ext cx="105228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5158511" y="1818352"/>
            <a:ext cx="62688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1962212" y="2104831"/>
            <a:ext cx="382318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Cambria Math"/>
              </a:rPr>
              <a:t>↑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3663796" y="2104831"/>
            <a:ext cx="212159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Cambria Math"/>
              </a:rPr>
              <a:t>↑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3237025" y="2390772"/>
            <a:ext cx="254837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⇓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435926" y="2676199"/>
            <a:ext cx="534946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Offspring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4898795" y="3150917"/>
            <a:ext cx="88660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5640234" y="3150693"/>
            <a:ext cx="14516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21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H="1">
            <a:off x="1125379" y="927276"/>
            <a:ext cx="1050046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074768" y="977887"/>
            <a:ext cx="0" cy="15966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1125379" y="1188162"/>
            <a:ext cx="1050046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2226036" y="977887"/>
            <a:ext cx="0" cy="15966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H="1">
            <a:off x="2410841" y="917028"/>
            <a:ext cx="132960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2360231" y="967638"/>
            <a:ext cx="0" cy="18016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2410841" y="1198410"/>
            <a:ext cx="132960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3791060" y="967638"/>
            <a:ext cx="0" cy="18016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H="1">
            <a:off x="2720978" y="1332605"/>
            <a:ext cx="709335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2670367" y="1383216"/>
            <a:ext cx="0" cy="17771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2720978" y="1611540"/>
            <a:ext cx="709335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3480923" y="1383216"/>
            <a:ext cx="0" cy="17771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Freeform 47"/>
          <p:cNvSpPr/>
          <p:nvPr/>
        </p:nvSpPr>
        <p:spPr>
          <a:xfrm>
            <a:off x="2768600" y="1739900"/>
            <a:ext cx="609600" cy="266700"/>
          </a:xfrm>
          <a:custGeom>
            <a:avLst/>
            <a:gdLst/>
            <a:ahLst/>
            <a:cxnLst/>
            <a:rect l="l" t="t" r="r" b="b"/>
            <a:pathLst>
              <a:path w="48" h="21">
                <a:moveTo>
                  <a:pt x="44" y="0"/>
                </a:moveTo>
                <a:lnTo>
                  <a:pt x="4" y="0"/>
                </a:lnTo>
                <a:lnTo>
                  <a:pt x="3" y="1"/>
                </a:lnTo>
                <a:lnTo>
                  <a:pt x="2" y="1"/>
                </a:lnTo>
                <a:lnTo>
                  <a:pt x="2" y="1"/>
                </a:lnTo>
                <a:lnTo>
                  <a:pt x="1" y="2"/>
                </a:lnTo>
                <a:lnTo>
                  <a:pt x="1" y="2"/>
                </a:lnTo>
                <a:lnTo>
                  <a:pt x="0" y="3"/>
                </a:lnTo>
                <a:lnTo>
                  <a:pt x="0" y="4"/>
                </a:lnTo>
                <a:lnTo>
                  <a:pt x="0" y="4"/>
                </a:lnTo>
                <a:lnTo>
                  <a:pt x="0" y="17"/>
                </a:lnTo>
                <a:lnTo>
                  <a:pt x="0" y="17"/>
                </a:lnTo>
                <a:lnTo>
                  <a:pt x="0" y="18"/>
                </a:lnTo>
                <a:lnTo>
                  <a:pt x="1" y="19"/>
                </a:lnTo>
                <a:lnTo>
                  <a:pt x="1" y="19"/>
                </a:lnTo>
                <a:lnTo>
                  <a:pt x="2" y="20"/>
                </a:lnTo>
                <a:lnTo>
                  <a:pt x="2" y="20"/>
                </a:lnTo>
                <a:lnTo>
                  <a:pt x="3" y="20"/>
                </a:lnTo>
                <a:lnTo>
                  <a:pt x="4" y="21"/>
                </a:lnTo>
                <a:lnTo>
                  <a:pt x="44" y="21"/>
                </a:lnTo>
                <a:lnTo>
                  <a:pt x="45" y="20"/>
                </a:lnTo>
                <a:lnTo>
                  <a:pt x="46" y="20"/>
                </a:lnTo>
                <a:lnTo>
                  <a:pt x="47" y="20"/>
                </a:lnTo>
                <a:lnTo>
                  <a:pt x="47" y="19"/>
                </a:lnTo>
                <a:lnTo>
                  <a:pt x="48" y="19"/>
                </a:lnTo>
                <a:lnTo>
                  <a:pt x="48" y="18"/>
                </a:lnTo>
                <a:lnTo>
                  <a:pt x="48" y="17"/>
                </a:lnTo>
                <a:lnTo>
                  <a:pt x="48" y="17"/>
                </a:lnTo>
                <a:lnTo>
                  <a:pt x="48" y="4"/>
                </a:lnTo>
                <a:lnTo>
                  <a:pt x="48" y="4"/>
                </a:lnTo>
                <a:lnTo>
                  <a:pt x="48" y="3"/>
                </a:lnTo>
                <a:lnTo>
                  <a:pt x="48" y="2"/>
                </a:lnTo>
                <a:lnTo>
                  <a:pt x="47" y="2"/>
                </a:lnTo>
                <a:lnTo>
                  <a:pt x="47" y="1"/>
                </a:lnTo>
                <a:lnTo>
                  <a:pt x="46" y="1"/>
                </a:lnTo>
                <a:lnTo>
                  <a:pt x="45" y="1"/>
                </a:lnTo>
                <a:lnTo>
                  <a:pt x="44" y="0"/>
                </a:lnTo>
                <a:close/>
              </a:path>
            </a:pathLst>
          </a:custGeom>
          <a:solidFill>
            <a:srgbClr val="003373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9" name="Connector 48"/>
          <p:cNvCxnSpPr/>
          <p:nvPr/>
        </p:nvCxnSpPr>
        <p:spPr>
          <a:xfrm flipH="1">
            <a:off x="2387383" y="2135234"/>
            <a:ext cx="137652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2336772" y="2185845"/>
            <a:ext cx="0" cy="18016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2387383" y="2416617"/>
            <a:ext cx="137652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3814518" y="2185845"/>
            <a:ext cx="0" cy="18016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H="1">
            <a:off x="3999324" y="2148273"/>
            <a:ext cx="635316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3948713" y="2198883"/>
            <a:ext cx="0" cy="154085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3999324" y="2403579"/>
            <a:ext cx="635316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4685251" y="2198883"/>
            <a:ext cx="0" cy="154085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2228567" y="1057719"/>
            <a:ext cx="10382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Freeform 57"/>
          <p:cNvSpPr/>
          <p:nvPr/>
        </p:nvSpPr>
        <p:spPr>
          <a:xfrm>
            <a:off x="2311400" y="10414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1"/>
                </a:moveTo>
                <a:lnTo>
                  <a:pt x="0" y="0"/>
                </a:lnTo>
                <a:lnTo>
                  <a:pt x="2" y="1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9" name="Connector 58"/>
          <p:cNvCxnSpPr/>
          <p:nvPr/>
        </p:nvCxnSpPr>
        <p:spPr>
          <a:xfrm>
            <a:off x="3075645" y="1200941"/>
            <a:ext cx="0" cy="10382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Freeform 59"/>
          <p:cNvSpPr/>
          <p:nvPr/>
        </p:nvSpPr>
        <p:spPr>
          <a:xfrm>
            <a:off x="3060700" y="12954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0"/>
                </a:lnTo>
                <a:lnTo>
                  <a:pt x="1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1" name="Connector 60"/>
          <p:cNvCxnSpPr/>
          <p:nvPr/>
        </p:nvCxnSpPr>
        <p:spPr>
          <a:xfrm>
            <a:off x="3075645" y="1614070"/>
            <a:ext cx="0" cy="10382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Freeform 61"/>
          <p:cNvSpPr/>
          <p:nvPr/>
        </p:nvSpPr>
        <p:spPr>
          <a:xfrm>
            <a:off x="3060700" y="17018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0"/>
                </a:lnTo>
                <a:lnTo>
                  <a:pt x="1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3" name="Connector 62"/>
          <p:cNvCxnSpPr/>
          <p:nvPr/>
        </p:nvCxnSpPr>
        <p:spPr>
          <a:xfrm>
            <a:off x="3075645" y="2003570"/>
            <a:ext cx="0" cy="10382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Freeform 63"/>
          <p:cNvSpPr/>
          <p:nvPr/>
        </p:nvSpPr>
        <p:spPr>
          <a:xfrm>
            <a:off x="3060700" y="20955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0"/>
                </a:lnTo>
                <a:lnTo>
                  <a:pt x="1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5" name="Connector 64"/>
          <p:cNvCxnSpPr/>
          <p:nvPr/>
        </p:nvCxnSpPr>
        <p:spPr>
          <a:xfrm>
            <a:off x="3817049" y="2275926"/>
            <a:ext cx="10382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Freeform 65"/>
          <p:cNvSpPr/>
          <p:nvPr/>
        </p:nvSpPr>
        <p:spPr>
          <a:xfrm>
            <a:off x="3911600" y="22606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7" name="Connector 66"/>
          <p:cNvCxnSpPr/>
          <p:nvPr/>
        </p:nvCxnSpPr>
        <p:spPr>
          <a:xfrm flipH="1">
            <a:off x="2154240" y="2275926"/>
            <a:ext cx="180002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V="1">
            <a:off x="2154240" y="1472072"/>
            <a:ext cx="0" cy="80385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2154240" y="1472072"/>
            <a:ext cx="488291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Freeform 69"/>
          <p:cNvSpPr/>
          <p:nvPr/>
        </p:nvSpPr>
        <p:spPr>
          <a:xfrm>
            <a:off x="2628900" y="14478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3" y="2"/>
                </a:moveTo>
                <a:lnTo>
                  <a:pt x="0" y="0"/>
                </a:lnTo>
                <a:lnTo>
                  <a:pt x="1" y="2"/>
                </a:lnTo>
                <a:lnTo>
                  <a:pt x="0" y="4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1" name="Connector 70"/>
          <p:cNvCxnSpPr/>
          <p:nvPr/>
        </p:nvCxnSpPr>
        <p:spPr>
          <a:xfrm flipH="1">
            <a:off x="4083989" y="1744168"/>
            <a:ext cx="50299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4033378" y="1794779"/>
            <a:ext cx="0" cy="157216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4083989" y="2002606"/>
            <a:ext cx="50299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 flipV="1">
            <a:off x="4637594" y="1794779"/>
            <a:ext cx="0" cy="157216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Freeform 74"/>
          <p:cNvSpPr/>
          <p:nvPr/>
        </p:nvSpPr>
        <p:spPr>
          <a:xfrm>
            <a:off x="3987800" y="17907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1" y="0"/>
                </a:lnTo>
                <a:lnTo>
                  <a:pt x="1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Freeform 75"/>
          <p:cNvSpPr/>
          <p:nvPr/>
        </p:nvSpPr>
        <p:spPr>
          <a:xfrm>
            <a:off x="3987800" y="18542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0" y="0"/>
                </a:lnTo>
                <a:lnTo>
                  <a:pt x="1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Freeform 76"/>
          <p:cNvSpPr/>
          <p:nvPr/>
        </p:nvSpPr>
        <p:spPr>
          <a:xfrm>
            <a:off x="3987800" y="19177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8" name="Connector 77"/>
          <p:cNvCxnSpPr/>
          <p:nvPr/>
        </p:nvCxnSpPr>
        <p:spPr>
          <a:xfrm flipH="1">
            <a:off x="3967040" y="1176926"/>
            <a:ext cx="655586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3916429" y="1227537"/>
            <a:ext cx="0" cy="31689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3967040" y="1595041"/>
            <a:ext cx="655586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 flipV="1">
            <a:off x="4673237" y="1227537"/>
            <a:ext cx="0" cy="31689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 flipH="1">
            <a:off x="4028304" y="1729235"/>
            <a:ext cx="533057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3977693" y="1779846"/>
            <a:ext cx="0" cy="15482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4028304" y="1985281"/>
            <a:ext cx="533057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 flipV="1">
            <a:off x="4611972" y="1779846"/>
            <a:ext cx="0" cy="15482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4294833" y="1597571"/>
            <a:ext cx="0" cy="10382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Freeform 86"/>
          <p:cNvSpPr/>
          <p:nvPr/>
        </p:nvSpPr>
        <p:spPr>
          <a:xfrm>
            <a:off x="4279900" y="16891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0"/>
                </a:lnTo>
                <a:lnTo>
                  <a:pt x="1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8" name="Connector 87"/>
          <p:cNvCxnSpPr/>
          <p:nvPr/>
        </p:nvCxnSpPr>
        <p:spPr>
          <a:xfrm flipV="1">
            <a:off x="3483454" y="1143260"/>
            <a:ext cx="516532" cy="18681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>
            <a:off x="3483454" y="1614070"/>
            <a:ext cx="590049" cy="44848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Rectangle 89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2880004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2" name="Picture 9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93" name="Picture 9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94" name="TextBox 93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Genetic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algorithm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160868" y="1010084"/>
            <a:ext cx="4624527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Problem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formulation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2446311" y="999835"/>
            <a:ext cx="3339084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Initialisation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population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2756445" y="1412953"/>
            <a:ext cx="3028950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Reproduction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854718" y="1822948"/>
            <a:ext cx="2930677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FFFFFF"/>
                </a:solidFill>
                <a:latin typeface="Josefin Sans"/>
              </a:rPr>
              <a:t>Mutation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2422854" y="2218019"/>
            <a:ext cx="3362541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Replacement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population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034776" y="2225487"/>
            <a:ext cx="1750619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Termination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119435" y="1824522"/>
            <a:ext cx="1665960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Selection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008525" y="1257277"/>
            <a:ext cx="1776870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Selection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as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4002493" y="1396456"/>
            <a:ext cx="1782902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parent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pairs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4063758" y="1806450"/>
            <a:ext cx="1721637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Crossover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4898770" y="3150917"/>
            <a:ext cx="8866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625629" y="3150693"/>
            <a:ext cx="15976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22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407566" y="1124432"/>
            <a:ext cx="108432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509674" y="1124432"/>
            <a:ext cx="168427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1671764" y="1124432"/>
            <a:ext cx="282168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1950770" y="1124432"/>
            <a:ext cx="42532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1990140" y="1124432"/>
            <a:ext cx="235763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2222740" y="1124432"/>
            <a:ext cx="42533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2262110" y="1124432"/>
            <a:ext cx="151943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2407716" y="1124432"/>
            <a:ext cx="280924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2685478" y="1124432"/>
            <a:ext cx="42532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2724848" y="1124432"/>
            <a:ext cx="192811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2911334" y="1124432"/>
            <a:ext cx="118822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3023831" y="1124432"/>
            <a:ext cx="193497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356831" y="1296504"/>
            <a:ext cx="108433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458939" y="1296504"/>
            <a:ext cx="425844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881620" y="1296504"/>
            <a:ext cx="42533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920990" y="1296504"/>
            <a:ext cx="189764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1107591" y="1296504"/>
            <a:ext cx="42533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1146961" y="1296504"/>
            <a:ext cx="115367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1255991" y="1296504"/>
            <a:ext cx="183388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1433054" y="1296504"/>
            <a:ext cx="196406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Rectangle 55"/>
          <p:cNvSpPr/>
          <p:nvPr/>
        </p:nvSpPr>
        <p:spPr>
          <a:xfrm>
            <a:off x="0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2880003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8" name="Picture 5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59" name="Picture 5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60" name="TextBox 5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Mutation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59993" y="977167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Mutation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aims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introduce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new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genetic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material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existing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individual,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thus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59993" y="1149240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increases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diversity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population.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98770" y="3150917"/>
            <a:ext cx="8866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624638" y="3150693"/>
            <a:ext cx="16075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23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407566" y="1124432"/>
            <a:ext cx="108432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509674" y="1124432"/>
            <a:ext cx="168427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1671764" y="1124432"/>
            <a:ext cx="282168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1950770" y="1124432"/>
            <a:ext cx="42532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1990140" y="1124432"/>
            <a:ext cx="235763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2222740" y="1124432"/>
            <a:ext cx="42533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2262110" y="1124432"/>
            <a:ext cx="151943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2407716" y="1124432"/>
            <a:ext cx="280924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2685478" y="1124432"/>
            <a:ext cx="42532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2724848" y="1124432"/>
            <a:ext cx="192811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2911334" y="1124432"/>
            <a:ext cx="118822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3023831" y="1124432"/>
            <a:ext cx="193497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356831" y="1296504"/>
            <a:ext cx="108433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458939" y="1296504"/>
            <a:ext cx="425844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881620" y="1296504"/>
            <a:ext cx="42533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920990" y="1296504"/>
            <a:ext cx="189764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1107591" y="1296504"/>
            <a:ext cx="42533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1146961" y="1296504"/>
            <a:ext cx="115367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1255991" y="1296504"/>
            <a:ext cx="183388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1433054" y="1296504"/>
            <a:ext cx="196406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Rectangle 55"/>
          <p:cNvSpPr/>
          <p:nvPr/>
        </p:nvSpPr>
        <p:spPr>
          <a:xfrm>
            <a:off x="0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2880003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8" name="Picture 5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59" name="Picture 5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60" name="TextBox 5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Mutation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59993" y="977167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Mutation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aims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introduce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new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genetic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material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existing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individual,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thus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59993" y="1149240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increases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diversity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population.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59993" y="1459729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mutation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probability/mutation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rate,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p</a:t>
            </a:r>
            <a:r>
              <a:rPr sz="797" b="0">
                <a:solidFill>
                  <a:srgbClr val="000000"/>
                </a:solidFill>
                <a:latin typeface="Cambria Math"/>
              </a:rPr>
              <a:t>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usually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small.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898770" y="3150917"/>
            <a:ext cx="8866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624638" y="3150693"/>
            <a:ext cx="16075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23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407566" y="1124432"/>
            <a:ext cx="108432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509674" y="1124432"/>
            <a:ext cx="168427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1671764" y="1124432"/>
            <a:ext cx="282168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1950770" y="1124432"/>
            <a:ext cx="42532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1990140" y="1124432"/>
            <a:ext cx="235763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2222740" y="1124432"/>
            <a:ext cx="42533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2262110" y="1124432"/>
            <a:ext cx="151943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2407716" y="1124432"/>
            <a:ext cx="280924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2685478" y="1124432"/>
            <a:ext cx="42532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2724848" y="1124432"/>
            <a:ext cx="192811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2911334" y="1124432"/>
            <a:ext cx="118822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3023831" y="1124432"/>
            <a:ext cx="193497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356831" y="1296504"/>
            <a:ext cx="108433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458939" y="1296504"/>
            <a:ext cx="425844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881620" y="1296504"/>
            <a:ext cx="42533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920990" y="1296504"/>
            <a:ext cx="189764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1107591" y="1296504"/>
            <a:ext cx="42533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1146961" y="1296504"/>
            <a:ext cx="115367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1255991" y="1296504"/>
            <a:ext cx="183388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1433054" y="1296504"/>
            <a:ext cx="196406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Rectangle 55"/>
          <p:cNvSpPr/>
          <p:nvPr/>
        </p:nvSpPr>
        <p:spPr>
          <a:xfrm>
            <a:off x="0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2880003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8" name="Picture 5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59" name="Picture 5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60" name="TextBox 5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Mutation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59993" y="977167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Mutation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aims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introduce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new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genetic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material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existing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individual,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thus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59993" y="1149240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increases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diversity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population.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59993" y="1459729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mutation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probability/mutation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rate,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p</a:t>
            </a:r>
            <a:r>
              <a:rPr sz="797" b="0">
                <a:solidFill>
                  <a:srgbClr val="000000"/>
                </a:solidFill>
                <a:latin typeface="Cambria Math"/>
              </a:rPr>
              <a:t>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usually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small.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59992" y="1770205"/>
            <a:ext cx="542540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Mutation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implemented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using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898770" y="3150917"/>
            <a:ext cx="8866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624638" y="3150693"/>
            <a:ext cx="16075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23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407566" y="1124432"/>
            <a:ext cx="108432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509674" y="1124432"/>
            <a:ext cx="168427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1671764" y="1124432"/>
            <a:ext cx="282168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1950770" y="1124432"/>
            <a:ext cx="42532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1990140" y="1124432"/>
            <a:ext cx="235763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2222740" y="1124432"/>
            <a:ext cx="42533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2262110" y="1124432"/>
            <a:ext cx="151943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2407716" y="1124432"/>
            <a:ext cx="280924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2685478" y="1124432"/>
            <a:ext cx="42532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2724848" y="1124432"/>
            <a:ext cx="192811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2911334" y="1124432"/>
            <a:ext cx="118822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3023831" y="1124432"/>
            <a:ext cx="193497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356831" y="1296504"/>
            <a:ext cx="108433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458939" y="1296504"/>
            <a:ext cx="425844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881620" y="1296504"/>
            <a:ext cx="42533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920990" y="1296504"/>
            <a:ext cx="189764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1107591" y="1296504"/>
            <a:ext cx="42533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1146961" y="1296504"/>
            <a:ext cx="115367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1255991" y="1296504"/>
            <a:ext cx="183388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1433054" y="1296504"/>
            <a:ext cx="196406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Rectangle 55"/>
          <p:cNvSpPr/>
          <p:nvPr/>
        </p:nvSpPr>
        <p:spPr>
          <a:xfrm>
            <a:off x="0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2880003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8" name="Picture 5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59" name="Picture 5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60" name="TextBox 5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Mutation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59993" y="977167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Mutation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aims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introduce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new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genetic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material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existing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individual,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thus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59993" y="1149240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increases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diversity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population.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59993" y="1459729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mutation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probability/mutation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rate,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p</a:t>
            </a:r>
            <a:r>
              <a:rPr sz="797" b="0">
                <a:solidFill>
                  <a:srgbClr val="000000"/>
                </a:solidFill>
                <a:latin typeface="Cambria Math"/>
              </a:rPr>
              <a:t>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usually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small.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59992" y="1770205"/>
            <a:ext cx="542540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Mutation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implemented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using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60057" y="1984563"/>
            <a:ext cx="532533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uniform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(random)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mutation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898770" y="3150917"/>
            <a:ext cx="8866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624638" y="3150693"/>
            <a:ext cx="16075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23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407566" y="1124432"/>
            <a:ext cx="108432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509674" y="1124432"/>
            <a:ext cx="168427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1671764" y="1124432"/>
            <a:ext cx="282168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1950770" y="1124432"/>
            <a:ext cx="42532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1990140" y="1124432"/>
            <a:ext cx="235763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2222740" y="1124432"/>
            <a:ext cx="42533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2262110" y="1124432"/>
            <a:ext cx="151943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2407716" y="1124432"/>
            <a:ext cx="280924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2685478" y="1124432"/>
            <a:ext cx="42532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2724848" y="1124432"/>
            <a:ext cx="192811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2911334" y="1124432"/>
            <a:ext cx="118822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3023831" y="1124432"/>
            <a:ext cx="193497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356831" y="1296504"/>
            <a:ext cx="108433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458939" y="1296504"/>
            <a:ext cx="425844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881620" y="1296504"/>
            <a:ext cx="42533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920990" y="1296504"/>
            <a:ext cx="189764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1107591" y="1296504"/>
            <a:ext cx="42533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1146961" y="1296504"/>
            <a:ext cx="115367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1255991" y="1296504"/>
            <a:ext cx="183388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1433054" y="1296504"/>
            <a:ext cx="196406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Rectangle 55"/>
          <p:cNvSpPr/>
          <p:nvPr/>
        </p:nvSpPr>
        <p:spPr>
          <a:xfrm>
            <a:off x="0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2880003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8" name="Picture 5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59" name="Picture 5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60" name="TextBox 5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Mutation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59993" y="977167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Mutation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aims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introduce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new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genetic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material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existing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individual,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thus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59993" y="1149240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increases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diversity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population.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59993" y="1459729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mutation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probability/mutation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rate,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p</a:t>
            </a:r>
            <a:r>
              <a:rPr sz="797" b="0">
                <a:solidFill>
                  <a:srgbClr val="000000"/>
                </a:solidFill>
                <a:latin typeface="Cambria Math"/>
              </a:rPr>
              <a:t>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usually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small.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59992" y="1770205"/>
            <a:ext cx="542540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Mutation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implemented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using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60057" y="1984563"/>
            <a:ext cx="532533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uniform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(random)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mutation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60056" y="2242665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inorder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mutation.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898770" y="3150917"/>
            <a:ext cx="8866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624638" y="3150693"/>
            <a:ext cx="16075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23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25762860" y="-24030745"/>
            <a:ext cx="0" cy="394754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26639744" y="-24030745"/>
            <a:ext cx="0" cy="394754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27055554" y="-24030745"/>
            <a:ext cx="0" cy="394754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27471352" y="-24030745"/>
            <a:ext cx="0" cy="394754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27887162" y="-24030745"/>
            <a:ext cx="0" cy="394754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28302960" y="-24030745"/>
            <a:ext cx="0" cy="394754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28718771" y="-24030745"/>
            <a:ext cx="0" cy="394754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29134568" y="-24030745"/>
            <a:ext cx="0" cy="394754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29550382" y="-24030745"/>
            <a:ext cx="0" cy="394754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29966192" y="-24030745"/>
            <a:ext cx="0" cy="394754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30381990" y="-24030745"/>
            <a:ext cx="0" cy="394754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30797800" y="-24030745"/>
            <a:ext cx="0" cy="394754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25762827" y="-23635989"/>
            <a:ext cx="0" cy="222682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26639710" y="-23635989"/>
            <a:ext cx="0" cy="222682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V="1">
            <a:off x="27055520" y="-23635989"/>
            <a:ext cx="0" cy="222682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27471318" y="-23635989"/>
            <a:ext cx="0" cy="222682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27887128" y="-23635989"/>
            <a:ext cx="0" cy="222682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28302929" y="-23635989"/>
            <a:ext cx="0" cy="222682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V="1">
            <a:off x="28718740" y="-23635989"/>
            <a:ext cx="0" cy="222682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V="1">
            <a:off x="29134537" y="-23635989"/>
            <a:ext cx="0" cy="222682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29550348" y="-23635989"/>
            <a:ext cx="0" cy="222682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V="1">
            <a:off x="29966158" y="-23635989"/>
            <a:ext cx="0" cy="222682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V="1">
            <a:off x="30381956" y="-23635989"/>
            <a:ext cx="0" cy="222682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30797766" y="-23635989"/>
            <a:ext cx="0" cy="222682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V="1">
            <a:off x="25762777" y="-23413294"/>
            <a:ext cx="0" cy="394754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26639660" y="-23413294"/>
            <a:ext cx="0" cy="394754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27055471" y="-23413294"/>
            <a:ext cx="0" cy="394754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27471268" y="-23413294"/>
            <a:ext cx="0" cy="394754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27887079" y="-23413294"/>
            <a:ext cx="0" cy="394754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28302880" y="-23413294"/>
            <a:ext cx="0" cy="394754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28718690" y="-23413294"/>
            <a:ext cx="0" cy="394754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V="1">
            <a:off x="29134488" y="-23413294"/>
            <a:ext cx="0" cy="394754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V="1">
            <a:off x="29550298" y="-23413294"/>
            <a:ext cx="0" cy="394754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V="1">
            <a:off x="29966108" y="-23413294"/>
            <a:ext cx="0" cy="394754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 flipV="1">
            <a:off x="30381906" y="-23413294"/>
            <a:ext cx="0" cy="394754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V="1">
            <a:off x="30797717" y="-23413294"/>
            <a:ext cx="0" cy="394754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Rectangle 71"/>
          <p:cNvSpPr/>
          <p:nvPr/>
        </p:nvSpPr>
        <p:spPr>
          <a:xfrm>
            <a:off x="-84" y="3146745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2879919" y="3146745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4" name="Picture 7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75" name="Picture 7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76" name="TextBox 75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Uniform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mutation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59993" y="988216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All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bits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have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equal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mutation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probability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p</a:t>
            </a:r>
            <a:r>
              <a:rPr sz="797" b="0">
                <a:solidFill>
                  <a:srgbClr val="000000"/>
                </a:solidFill>
                <a:latin typeface="Cambria Math"/>
              </a:rPr>
              <a:t>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.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898686" y="3150920"/>
            <a:ext cx="88670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625850" y="3150696"/>
            <a:ext cx="15954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24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362533" y="1369580"/>
            <a:ext cx="0" cy="394754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1239417" y="1369580"/>
            <a:ext cx="0" cy="394754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1655227" y="1369580"/>
            <a:ext cx="0" cy="394754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2071025" y="1369580"/>
            <a:ext cx="0" cy="394754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2486836" y="1369580"/>
            <a:ext cx="0" cy="394754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2902634" y="1369580"/>
            <a:ext cx="0" cy="394754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3318445" y="1369580"/>
            <a:ext cx="0" cy="394754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3734243" y="1369580"/>
            <a:ext cx="0" cy="394754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4150054" y="1369580"/>
            <a:ext cx="0" cy="394754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4565864" y="1369580"/>
            <a:ext cx="0" cy="394754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4981662" y="1369580"/>
            <a:ext cx="0" cy="394754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5397473" y="1369580"/>
            <a:ext cx="0" cy="394754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362530" y="1764335"/>
            <a:ext cx="0" cy="222681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1239414" y="1764335"/>
            <a:ext cx="0" cy="222681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V="1">
            <a:off x="1655225" y="1764335"/>
            <a:ext cx="0" cy="222681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2071023" y="1764335"/>
            <a:ext cx="0" cy="222681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2486834" y="1764335"/>
            <a:ext cx="0" cy="222681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2902632" y="1764335"/>
            <a:ext cx="0" cy="222681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V="1">
            <a:off x="3318442" y="1764335"/>
            <a:ext cx="0" cy="222681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V="1">
            <a:off x="3734241" y="1764335"/>
            <a:ext cx="0" cy="222681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4150051" y="1764335"/>
            <a:ext cx="0" cy="222681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V="1">
            <a:off x="4565862" y="1764335"/>
            <a:ext cx="0" cy="222681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V="1">
            <a:off x="4981660" y="1764335"/>
            <a:ext cx="0" cy="222681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5397470" y="1764335"/>
            <a:ext cx="0" cy="222681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V="1">
            <a:off x="362530" y="1987028"/>
            <a:ext cx="0" cy="394754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1239414" y="1987028"/>
            <a:ext cx="0" cy="394754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1655225" y="1987028"/>
            <a:ext cx="0" cy="394754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2071023" y="1987028"/>
            <a:ext cx="0" cy="394754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2486834" y="1987028"/>
            <a:ext cx="0" cy="394754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2902632" y="1987028"/>
            <a:ext cx="0" cy="394754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3318442" y="1987028"/>
            <a:ext cx="0" cy="394754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V="1">
            <a:off x="3734241" y="1987028"/>
            <a:ext cx="0" cy="394754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V="1">
            <a:off x="4150051" y="1987028"/>
            <a:ext cx="0" cy="394754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V="1">
            <a:off x="4565862" y="1987028"/>
            <a:ext cx="0" cy="394754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 flipV="1">
            <a:off x="4981660" y="1987028"/>
            <a:ext cx="0" cy="394754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V="1">
            <a:off x="5397470" y="1987028"/>
            <a:ext cx="0" cy="394754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Rectangle 71"/>
          <p:cNvSpPr/>
          <p:nvPr/>
        </p:nvSpPr>
        <p:spPr>
          <a:xfrm>
            <a:off x="-3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2880000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4" name="Picture 7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75" name="Picture 7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76" name="TextBox 75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Uniform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mutation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59993" y="988216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All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bits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have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equal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mutation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probability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p</a:t>
            </a:r>
            <a:r>
              <a:rPr sz="797" b="0">
                <a:solidFill>
                  <a:srgbClr val="000000"/>
                </a:solidFill>
                <a:latin typeface="Cambria Math"/>
              </a:rPr>
              <a:t>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.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84414" y="1404738"/>
            <a:ext cx="500098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Before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39901" y="1576810"/>
            <a:ext cx="514549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mutation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404441" y="1490768"/>
            <a:ext cx="438095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841275" y="1490768"/>
            <a:ext cx="394412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2257050" y="1490768"/>
            <a:ext cx="352834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2651905" y="1490768"/>
            <a:ext cx="313349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088739" y="1490768"/>
            <a:ext cx="269665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3504515" y="1490768"/>
            <a:ext cx="228088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920290" y="1490768"/>
            <a:ext cx="186510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315145" y="1490768"/>
            <a:ext cx="147025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730920" y="1490768"/>
            <a:ext cx="105447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5146696" y="1490768"/>
            <a:ext cx="63869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4898767" y="3150917"/>
            <a:ext cx="88662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5625931" y="3150693"/>
            <a:ext cx="15946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24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362533" y="1369580"/>
            <a:ext cx="0" cy="394754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1239417" y="1369580"/>
            <a:ext cx="0" cy="394754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1655227" y="1369580"/>
            <a:ext cx="0" cy="394754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2071025" y="1369580"/>
            <a:ext cx="0" cy="394754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2486836" y="1369580"/>
            <a:ext cx="0" cy="394754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2902634" y="1369580"/>
            <a:ext cx="0" cy="394754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3318445" y="1369580"/>
            <a:ext cx="0" cy="394754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3734243" y="1369580"/>
            <a:ext cx="0" cy="394754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4150054" y="1369580"/>
            <a:ext cx="0" cy="394754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4565864" y="1369580"/>
            <a:ext cx="0" cy="394754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4981662" y="1369580"/>
            <a:ext cx="0" cy="394754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5397473" y="1369580"/>
            <a:ext cx="0" cy="394754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362530" y="1764335"/>
            <a:ext cx="0" cy="222681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1239414" y="1764335"/>
            <a:ext cx="0" cy="222681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V="1">
            <a:off x="1655225" y="1764335"/>
            <a:ext cx="0" cy="222681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2071023" y="1764335"/>
            <a:ext cx="0" cy="222681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2486834" y="1764335"/>
            <a:ext cx="0" cy="222681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2902632" y="1764335"/>
            <a:ext cx="0" cy="222681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V="1">
            <a:off x="3318442" y="1764335"/>
            <a:ext cx="0" cy="222681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V="1">
            <a:off x="3734241" y="1764335"/>
            <a:ext cx="0" cy="222681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4150051" y="1764335"/>
            <a:ext cx="0" cy="222681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V="1">
            <a:off x="4565862" y="1764335"/>
            <a:ext cx="0" cy="222681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V="1">
            <a:off x="4981660" y="1764335"/>
            <a:ext cx="0" cy="222681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5397470" y="1764335"/>
            <a:ext cx="0" cy="222681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V="1">
            <a:off x="362530" y="1987028"/>
            <a:ext cx="0" cy="394754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1239414" y="1987028"/>
            <a:ext cx="0" cy="394754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1655225" y="1987028"/>
            <a:ext cx="0" cy="394754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2071023" y="1987028"/>
            <a:ext cx="0" cy="394754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2486834" y="1987028"/>
            <a:ext cx="0" cy="394754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2902632" y="1987028"/>
            <a:ext cx="0" cy="394754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3318442" y="1987028"/>
            <a:ext cx="0" cy="394754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V="1">
            <a:off x="3734241" y="1987028"/>
            <a:ext cx="0" cy="394754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V="1">
            <a:off x="4150051" y="1987028"/>
            <a:ext cx="0" cy="394754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V="1">
            <a:off x="4565862" y="1987028"/>
            <a:ext cx="0" cy="394754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 flipV="1">
            <a:off x="4981660" y="1987028"/>
            <a:ext cx="0" cy="394754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V="1">
            <a:off x="5397470" y="1987028"/>
            <a:ext cx="0" cy="394754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Rectangle 71"/>
          <p:cNvSpPr/>
          <p:nvPr/>
        </p:nvSpPr>
        <p:spPr>
          <a:xfrm>
            <a:off x="-3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2880000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4" name="Picture 7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75" name="Picture 7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76" name="TextBox 75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Uniform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mutation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59993" y="988216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All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bits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have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equal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mutation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probability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p</a:t>
            </a:r>
            <a:r>
              <a:rPr sz="797" b="0">
                <a:solidFill>
                  <a:srgbClr val="000000"/>
                </a:solidFill>
                <a:latin typeface="Cambria Math"/>
              </a:rPr>
              <a:t>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.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84414" y="1404738"/>
            <a:ext cx="500098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Before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39901" y="1576810"/>
            <a:ext cx="514549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mutation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404441" y="1490768"/>
            <a:ext cx="438095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841275" y="1490768"/>
            <a:ext cx="394412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2257050" y="1490768"/>
            <a:ext cx="352834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2651905" y="1490768"/>
            <a:ext cx="313349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088739" y="1490768"/>
            <a:ext cx="269665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3504515" y="1490768"/>
            <a:ext cx="228088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920290" y="1490768"/>
            <a:ext cx="186510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315145" y="1490768"/>
            <a:ext cx="147025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730920" y="1490768"/>
            <a:ext cx="105447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5146696" y="1490768"/>
            <a:ext cx="63869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732701" y="1819188"/>
            <a:ext cx="505269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mutation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665475" y="1819621"/>
            <a:ext cx="3119920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3373"/>
                </a:solidFill>
                <a:latin typeface="Cambria Math"/>
              </a:rPr>
              <a:t>↑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3081285" y="1819621"/>
            <a:ext cx="2704110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3373"/>
                </a:solidFill>
                <a:latin typeface="Cambria Math"/>
              </a:rPr>
              <a:t>↑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160299" y="1819621"/>
            <a:ext cx="625096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3373"/>
                </a:solidFill>
                <a:latin typeface="Cambria Math"/>
              </a:rPr>
              <a:t>↑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898767" y="3150917"/>
            <a:ext cx="88662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625931" y="3150693"/>
            <a:ext cx="15946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24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362533" y="1369580"/>
            <a:ext cx="0" cy="394754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1239417" y="1369580"/>
            <a:ext cx="0" cy="394754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1655227" y="1369580"/>
            <a:ext cx="0" cy="394754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2071025" y="1369580"/>
            <a:ext cx="0" cy="394754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2486836" y="1369580"/>
            <a:ext cx="0" cy="394754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2902634" y="1369580"/>
            <a:ext cx="0" cy="394754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3318445" y="1369580"/>
            <a:ext cx="0" cy="394754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3734243" y="1369580"/>
            <a:ext cx="0" cy="394754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4150054" y="1369580"/>
            <a:ext cx="0" cy="394754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4565864" y="1369580"/>
            <a:ext cx="0" cy="394754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4981662" y="1369580"/>
            <a:ext cx="0" cy="394754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5397473" y="1369580"/>
            <a:ext cx="0" cy="394754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362530" y="1764335"/>
            <a:ext cx="0" cy="222681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1239414" y="1764335"/>
            <a:ext cx="0" cy="222681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V="1">
            <a:off x="1655225" y="1764335"/>
            <a:ext cx="0" cy="222681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2071023" y="1764335"/>
            <a:ext cx="0" cy="222681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2486834" y="1764335"/>
            <a:ext cx="0" cy="222681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2902632" y="1764335"/>
            <a:ext cx="0" cy="222681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V="1">
            <a:off x="3318442" y="1764335"/>
            <a:ext cx="0" cy="222681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V="1">
            <a:off x="3734241" y="1764335"/>
            <a:ext cx="0" cy="222681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4150051" y="1764335"/>
            <a:ext cx="0" cy="222681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V="1">
            <a:off x="4565862" y="1764335"/>
            <a:ext cx="0" cy="222681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V="1">
            <a:off x="4981660" y="1764335"/>
            <a:ext cx="0" cy="222681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5397470" y="1764335"/>
            <a:ext cx="0" cy="222681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Rectangle 59"/>
          <p:cNvSpPr/>
          <p:nvPr/>
        </p:nvSpPr>
        <p:spPr>
          <a:xfrm>
            <a:off x="2489360" y="1987028"/>
            <a:ext cx="410743" cy="394754"/>
          </a:xfrm>
          <a:prstGeom prst="rect">
            <a:avLst/>
          </a:prstGeom>
          <a:solidFill>
            <a:srgbClr val="FED9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2905173" y="1987028"/>
            <a:ext cx="410743" cy="394754"/>
          </a:xfrm>
          <a:prstGeom prst="rect">
            <a:avLst/>
          </a:prstGeom>
          <a:solidFill>
            <a:srgbClr val="FED9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4984188" y="1987028"/>
            <a:ext cx="410743" cy="394754"/>
          </a:xfrm>
          <a:prstGeom prst="rect">
            <a:avLst/>
          </a:prstGeom>
          <a:solidFill>
            <a:srgbClr val="FED9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3" name="Connector 62"/>
          <p:cNvCxnSpPr/>
          <p:nvPr/>
        </p:nvCxnSpPr>
        <p:spPr>
          <a:xfrm flipV="1">
            <a:off x="362530" y="1987028"/>
            <a:ext cx="0" cy="394754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1239414" y="1987028"/>
            <a:ext cx="0" cy="394754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1655225" y="1987028"/>
            <a:ext cx="0" cy="394754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2071023" y="1987028"/>
            <a:ext cx="0" cy="394754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V="1">
            <a:off x="2486834" y="1987028"/>
            <a:ext cx="0" cy="394754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V="1">
            <a:off x="2902632" y="1987028"/>
            <a:ext cx="0" cy="394754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V="1">
            <a:off x="3318442" y="1987028"/>
            <a:ext cx="0" cy="394754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 flipV="1">
            <a:off x="3734241" y="1987028"/>
            <a:ext cx="0" cy="394754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V="1">
            <a:off x="4150051" y="1987028"/>
            <a:ext cx="0" cy="394754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V="1">
            <a:off x="4565862" y="1987028"/>
            <a:ext cx="0" cy="394754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 flipV="1">
            <a:off x="4981660" y="1987028"/>
            <a:ext cx="0" cy="394754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 flipV="1">
            <a:off x="5397470" y="1987028"/>
            <a:ext cx="0" cy="394754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Rectangle 74"/>
          <p:cNvSpPr/>
          <p:nvPr/>
        </p:nvSpPr>
        <p:spPr>
          <a:xfrm>
            <a:off x="-3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2880000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7" name="Picture 7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78" name="Picture 7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79" name="TextBox 78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Uniform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mutation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59993" y="988216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All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bits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have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equal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mutation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probability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p</a:t>
            </a:r>
            <a:r>
              <a:rPr sz="797" b="0">
                <a:solidFill>
                  <a:srgbClr val="000000"/>
                </a:solidFill>
                <a:latin typeface="Cambria Math"/>
              </a:rPr>
              <a:t>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.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784414" y="1404738"/>
            <a:ext cx="500098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Before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39901" y="1576810"/>
            <a:ext cx="514549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mutation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404441" y="1490768"/>
            <a:ext cx="438095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841275" y="1490768"/>
            <a:ext cx="394412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2257050" y="1490768"/>
            <a:ext cx="352834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2651905" y="1490768"/>
            <a:ext cx="313349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088739" y="1490768"/>
            <a:ext cx="269665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504515" y="1490768"/>
            <a:ext cx="228088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3920290" y="1490768"/>
            <a:ext cx="186510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4315145" y="1490768"/>
            <a:ext cx="147025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730920" y="1490768"/>
            <a:ext cx="105447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146696" y="1490768"/>
            <a:ext cx="63869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32701" y="1819188"/>
            <a:ext cx="505269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mutation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2665475" y="1819621"/>
            <a:ext cx="3119920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3373"/>
                </a:solidFill>
                <a:latin typeface="Cambria Math"/>
              </a:rPr>
              <a:t>↑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081285" y="1819621"/>
            <a:ext cx="2704110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3373"/>
                </a:solidFill>
                <a:latin typeface="Cambria Math"/>
              </a:rPr>
              <a:t>↑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160299" y="1819621"/>
            <a:ext cx="625096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3373"/>
                </a:solidFill>
                <a:latin typeface="Cambria Math"/>
              </a:rPr>
              <a:t>↑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858947" y="2022175"/>
            <a:ext cx="492644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After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639897" y="2194260"/>
            <a:ext cx="514549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mutation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404436" y="2108216"/>
            <a:ext cx="438095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841303" y="2108216"/>
            <a:ext cx="394409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2257104" y="2108216"/>
            <a:ext cx="352829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2672914" y="2108216"/>
            <a:ext cx="311248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3067659" y="2108216"/>
            <a:ext cx="271773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3504525" y="2108216"/>
            <a:ext cx="228087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920335" y="2108216"/>
            <a:ext cx="186506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315080" y="2108216"/>
            <a:ext cx="147031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730875" y="2108216"/>
            <a:ext cx="105452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5167741" y="2108216"/>
            <a:ext cx="61765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4898767" y="3150917"/>
            <a:ext cx="88662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5625931" y="3150693"/>
            <a:ext cx="15946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24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27473895" y="-23927494"/>
            <a:ext cx="410743" cy="394754"/>
          </a:xfrm>
          <a:prstGeom prst="rect">
            <a:avLst/>
          </a:prstGeom>
          <a:solidFill>
            <a:srgbClr val="FFFF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7889692" y="-23927494"/>
            <a:ext cx="410743" cy="394754"/>
          </a:xfrm>
          <a:prstGeom prst="rect">
            <a:avLst/>
          </a:prstGeom>
          <a:solidFill>
            <a:srgbClr val="FFFF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8305503" y="-23927494"/>
            <a:ext cx="410743" cy="394754"/>
          </a:xfrm>
          <a:prstGeom prst="rect">
            <a:avLst/>
          </a:prstGeom>
          <a:solidFill>
            <a:srgbClr val="FFFF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8721301" y="-23927494"/>
            <a:ext cx="410743" cy="394754"/>
          </a:xfrm>
          <a:prstGeom prst="rect">
            <a:avLst/>
          </a:prstGeom>
          <a:solidFill>
            <a:srgbClr val="FFFF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9137111" y="-23927494"/>
            <a:ext cx="410743" cy="394754"/>
          </a:xfrm>
          <a:prstGeom prst="rect">
            <a:avLst/>
          </a:prstGeom>
          <a:solidFill>
            <a:srgbClr val="FFFF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1" name="Connector 40"/>
          <p:cNvCxnSpPr/>
          <p:nvPr/>
        </p:nvCxnSpPr>
        <p:spPr>
          <a:xfrm flipV="1">
            <a:off x="25762863" y="-23927494"/>
            <a:ext cx="0" cy="394754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26639747" y="-23927494"/>
            <a:ext cx="0" cy="394754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27055557" y="-23927494"/>
            <a:ext cx="0" cy="394754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27471355" y="-23927494"/>
            <a:ext cx="0" cy="394754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27887166" y="-23927494"/>
            <a:ext cx="0" cy="394754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28302963" y="-23927494"/>
            <a:ext cx="0" cy="394754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28718774" y="-23927494"/>
            <a:ext cx="0" cy="394754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29134572" y="-23927494"/>
            <a:ext cx="0" cy="394754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29550382" y="-23927494"/>
            <a:ext cx="0" cy="394754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V="1">
            <a:off x="29966195" y="-23927494"/>
            <a:ext cx="0" cy="394754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30381993" y="-23927494"/>
            <a:ext cx="0" cy="394754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30797803" y="-23927494"/>
            <a:ext cx="0" cy="394754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25762827" y="-23532741"/>
            <a:ext cx="0" cy="222682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V="1">
            <a:off x="26639710" y="-23532741"/>
            <a:ext cx="0" cy="222682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V="1">
            <a:off x="27055520" y="-23532741"/>
            <a:ext cx="0" cy="222682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27471318" y="-23532741"/>
            <a:ext cx="0" cy="222682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V="1">
            <a:off x="27887128" y="-23532741"/>
            <a:ext cx="0" cy="222682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V="1">
            <a:off x="28302929" y="-23532741"/>
            <a:ext cx="0" cy="222682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28718740" y="-23532741"/>
            <a:ext cx="0" cy="222682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V="1">
            <a:off x="29134537" y="-23532741"/>
            <a:ext cx="0" cy="222682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29550348" y="-23532741"/>
            <a:ext cx="0" cy="222682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29966158" y="-23532741"/>
            <a:ext cx="0" cy="222682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30381956" y="-23532741"/>
            <a:ext cx="0" cy="222682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30797766" y="-23532741"/>
            <a:ext cx="0" cy="222682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25762777" y="-23310048"/>
            <a:ext cx="0" cy="394754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26639660" y="-23310048"/>
            <a:ext cx="0" cy="394754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V="1">
            <a:off x="27055471" y="-23310048"/>
            <a:ext cx="0" cy="394754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V="1">
            <a:off x="27471268" y="-23310048"/>
            <a:ext cx="0" cy="394754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V="1">
            <a:off x="27887079" y="-23310048"/>
            <a:ext cx="0" cy="394754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 flipV="1">
            <a:off x="28302880" y="-23310048"/>
            <a:ext cx="0" cy="394754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V="1">
            <a:off x="28718690" y="-23310048"/>
            <a:ext cx="0" cy="394754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V="1">
            <a:off x="29134488" y="-23310048"/>
            <a:ext cx="0" cy="394754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 flipV="1">
            <a:off x="29550298" y="-23310048"/>
            <a:ext cx="0" cy="394754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 flipV="1">
            <a:off x="29966108" y="-23310048"/>
            <a:ext cx="0" cy="394754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 flipV="1">
            <a:off x="30381906" y="-23310048"/>
            <a:ext cx="0" cy="394754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 flipV="1">
            <a:off x="30797717" y="-23310048"/>
            <a:ext cx="0" cy="394754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Rectangle 76"/>
          <p:cNvSpPr/>
          <p:nvPr/>
        </p:nvSpPr>
        <p:spPr>
          <a:xfrm>
            <a:off x="-84" y="3146740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2879919" y="3146740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9" name="Picture 78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80" name="Picture 7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81" name="TextBox 80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Inorder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mutation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59993" y="919382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Two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mutation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points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randomly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selected.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Uniform/random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mutation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performed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59993" y="1091455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within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these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points.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898686" y="3150928"/>
            <a:ext cx="88670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624021" y="3150704"/>
            <a:ext cx="16137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25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2073567" y="1472831"/>
            <a:ext cx="410743" cy="394754"/>
          </a:xfrm>
          <a:prstGeom prst="rect">
            <a:avLst/>
          </a:prstGeom>
          <a:solidFill>
            <a:srgbClr val="FFFF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489365" y="1472831"/>
            <a:ext cx="410743" cy="394754"/>
          </a:xfrm>
          <a:prstGeom prst="rect">
            <a:avLst/>
          </a:prstGeom>
          <a:solidFill>
            <a:srgbClr val="FFFF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905176" y="1472831"/>
            <a:ext cx="410743" cy="394754"/>
          </a:xfrm>
          <a:prstGeom prst="rect">
            <a:avLst/>
          </a:prstGeom>
          <a:solidFill>
            <a:srgbClr val="FFFF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320974" y="1472831"/>
            <a:ext cx="410743" cy="394754"/>
          </a:xfrm>
          <a:prstGeom prst="rect">
            <a:avLst/>
          </a:prstGeom>
          <a:solidFill>
            <a:srgbClr val="FFFF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736785" y="1472831"/>
            <a:ext cx="410743" cy="394754"/>
          </a:xfrm>
          <a:prstGeom prst="rect">
            <a:avLst/>
          </a:prstGeom>
          <a:solidFill>
            <a:srgbClr val="FFFF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1" name="Connector 40"/>
          <p:cNvCxnSpPr/>
          <p:nvPr/>
        </p:nvCxnSpPr>
        <p:spPr>
          <a:xfrm flipV="1">
            <a:off x="362534" y="1472831"/>
            <a:ext cx="0" cy="394755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1239419" y="1472831"/>
            <a:ext cx="0" cy="394755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1655229" y="1472831"/>
            <a:ext cx="0" cy="394755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2071027" y="1472831"/>
            <a:ext cx="0" cy="394755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2486838" y="1472831"/>
            <a:ext cx="0" cy="394755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2902636" y="1472831"/>
            <a:ext cx="0" cy="394755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3318447" y="1472831"/>
            <a:ext cx="0" cy="394755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3734245" y="1472831"/>
            <a:ext cx="0" cy="394755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4150055" y="1472831"/>
            <a:ext cx="0" cy="394755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V="1">
            <a:off x="4565866" y="1472831"/>
            <a:ext cx="0" cy="394755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4981664" y="1472831"/>
            <a:ext cx="0" cy="394755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5397475" y="1472831"/>
            <a:ext cx="0" cy="394755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362530" y="1867586"/>
            <a:ext cx="0" cy="222681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V="1">
            <a:off x="1239414" y="1867586"/>
            <a:ext cx="0" cy="222681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V="1">
            <a:off x="1655225" y="1867586"/>
            <a:ext cx="0" cy="222681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2071023" y="1867586"/>
            <a:ext cx="0" cy="222681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V="1">
            <a:off x="2486834" y="1867586"/>
            <a:ext cx="0" cy="222681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V="1">
            <a:off x="2902632" y="1867586"/>
            <a:ext cx="0" cy="222681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3318442" y="1867586"/>
            <a:ext cx="0" cy="222681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V="1">
            <a:off x="3734241" y="1867586"/>
            <a:ext cx="0" cy="222681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4150051" y="1867586"/>
            <a:ext cx="0" cy="222681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4565862" y="1867586"/>
            <a:ext cx="0" cy="222681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4981660" y="1867586"/>
            <a:ext cx="0" cy="222681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5397470" y="1867586"/>
            <a:ext cx="0" cy="222681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362527" y="2090279"/>
            <a:ext cx="0" cy="394754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1239411" y="2090279"/>
            <a:ext cx="0" cy="394754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V="1">
            <a:off x="1655222" y="2090279"/>
            <a:ext cx="0" cy="394754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V="1">
            <a:off x="2071020" y="2090279"/>
            <a:ext cx="0" cy="394754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V="1">
            <a:off x="2486831" y="2090279"/>
            <a:ext cx="0" cy="394754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 flipV="1">
            <a:off x="2902629" y="2090279"/>
            <a:ext cx="0" cy="394754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V="1">
            <a:off x="3318439" y="2090279"/>
            <a:ext cx="0" cy="394754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V="1">
            <a:off x="3734237" y="2090279"/>
            <a:ext cx="0" cy="394754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 flipV="1">
            <a:off x="4150048" y="2090279"/>
            <a:ext cx="0" cy="394754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 flipV="1">
            <a:off x="4565859" y="2090279"/>
            <a:ext cx="0" cy="394754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 flipV="1">
            <a:off x="4981657" y="2090279"/>
            <a:ext cx="0" cy="394754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 flipV="1">
            <a:off x="5397467" y="2090279"/>
            <a:ext cx="0" cy="394754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Rectangle 76"/>
          <p:cNvSpPr/>
          <p:nvPr/>
        </p:nvSpPr>
        <p:spPr>
          <a:xfrm>
            <a:off x="-6" y="3146740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2879997" y="3146740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9" name="Picture 78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80" name="Picture 7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81" name="TextBox 80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Inorder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mutation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59993" y="919382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Two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mutation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points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randomly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selected.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Uniform/random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mutation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performed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59993" y="1091455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within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these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points.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84416" y="1507977"/>
            <a:ext cx="500097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Before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39902" y="1680049"/>
            <a:ext cx="514549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mutation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404442" y="1594019"/>
            <a:ext cx="438095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841277" y="1594019"/>
            <a:ext cx="394411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2257108" y="1594019"/>
            <a:ext cx="352828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651862" y="1594019"/>
            <a:ext cx="313353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088729" y="1594019"/>
            <a:ext cx="269666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504527" y="1594019"/>
            <a:ext cx="228086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3920338" y="1594019"/>
            <a:ext cx="186505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315054" y="1594019"/>
            <a:ext cx="147034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730829" y="1594019"/>
            <a:ext cx="105456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146743" y="1594019"/>
            <a:ext cx="63865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4898764" y="3150928"/>
            <a:ext cx="88663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5624099" y="3150704"/>
            <a:ext cx="16129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25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2073567" y="1472831"/>
            <a:ext cx="410743" cy="394754"/>
          </a:xfrm>
          <a:prstGeom prst="rect">
            <a:avLst/>
          </a:prstGeom>
          <a:solidFill>
            <a:srgbClr val="FFFF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489365" y="1472831"/>
            <a:ext cx="410743" cy="394754"/>
          </a:xfrm>
          <a:prstGeom prst="rect">
            <a:avLst/>
          </a:prstGeom>
          <a:solidFill>
            <a:srgbClr val="FFFF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905176" y="1472831"/>
            <a:ext cx="410743" cy="394754"/>
          </a:xfrm>
          <a:prstGeom prst="rect">
            <a:avLst/>
          </a:prstGeom>
          <a:solidFill>
            <a:srgbClr val="FFFF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320974" y="1472831"/>
            <a:ext cx="410743" cy="394754"/>
          </a:xfrm>
          <a:prstGeom prst="rect">
            <a:avLst/>
          </a:prstGeom>
          <a:solidFill>
            <a:srgbClr val="FFFF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736785" y="1472831"/>
            <a:ext cx="410743" cy="394754"/>
          </a:xfrm>
          <a:prstGeom prst="rect">
            <a:avLst/>
          </a:prstGeom>
          <a:solidFill>
            <a:srgbClr val="FFFF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1" name="Connector 40"/>
          <p:cNvCxnSpPr/>
          <p:nvPr/>
        </p:nvCxnSpPr>
        <p:spPr>
          <a:xfrm flipV="1">
            <a:off x="362534" y="1472831"/>
            <a:ext cx="0" cy="394755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1239419" y="1472831"/>
            <a:ext cx="0" cy="394755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1655229" y="1472831"/>
            <a:ext cx="0" cy="394755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2071027" y="1472831"/>
            <a:ext cx="0" cy="394755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2486838" y="1472831"/>
            <a:ext cx="0" cy="394755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2902636" y="1472831"/>
            <a:ext cx="0" cy="394755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3318447" y="1472831"/>
            <a:ext cx="0" cy="394755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3734245" y="1472831"/>
            <a:ext cx="0" cy="394755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4150055" y="1472831"/>
            <a:ext cx="0" cy="394755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V="1">
            <a:off x="4565866" y="1472831"/>
            <a:ext cx="0" cy="394755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4981664" y="1472831"/>
            <a:ext cx="0" cy="394755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5397475" y="1472831"/>
            <a:ext cx="0" cy="394755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362530" y="1867586"/>
            <a:ext cx="0" cy="222681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V="1">
            <a:off x="1239414" y="1867586"/>
            <a:ext cx="0" cy="222681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V="1">
            <a:off x="1655225" y="1867586"/>
            <a:ext cx="0" cy="222681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2071023" y="1867586"/>
            <a:ext cx="0" cy="222681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V="1">
            <a:off x="2486834" y="1867586"/>
            <a:ext cx="0" cy="222681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V="1">
            <a:off x="2902632" y="1867586"/>
            <a:ext cx="0" cy="222681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3318442" y="1867586"/>
            <a:ext cx="0" cy="222681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V="1">
            <a:off x="3734241" y="1867586"/>
            <a:ext cx="0" cy="222681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4150051" y="1867586"/>
            <a:ext cx="0" cy="222681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4565862" y="1867586"/>
            <a:ext cx="0" cy="222681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4981660" y="1867586"/>
            <a:ext cx="0" cy="222681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5397470" y="1867586"/>
            <a:ext cx="0" cy="222681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362527" y="2090279"/>
            <a:ext cx="0" cy="394754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1239411" y="2090279"/>
            <a:ext cx="0" cy="394754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V="1">
            <a:off x="1655222" y="2090279"/>
            <a:ext cx="0" cy="394754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V="1">
            <a:off x="2071020" y="2090279"/>
            <a:ext cx="0" cy="394754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V="1">
            <a:off x="2486831" y="2090279"/>
            <a:ext cx="0" cy="394754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 flipV="1">
            <a:off x="2902629" y="2090279"/>
            <a:ext cx="0" cy="394754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V="1">
            <a:off x="3318439" y="2090279"/>
            <a:ext cx="0" cy="394754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V="1">
            <a:off x="3734237" y="2090279"/>
            <a:ext cx="0" cy="394754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 flipV="1">
            <a:off x="4150048" y="2090279"/>
            <a:ext cx="0" cy="394754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 flipV="1">
            <a:off x="4565859" y="2090279"/>
            <a:ext cx="0" cy="394754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 flipV="1">
            <a:off x="4981657" y="2090279"/>
            <a:ext cx="0" cy="394754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 flipV="1">
            <a:off x="5397467" y="2090279"/>
            <a:ext cx="0" cy="394754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Rectangle 76"/>
          <p:cNvSpPr/>
          <p:nvPr/>
        </p:nvSpPr>
        <p:spPr>
          <a:xfrm>
            <a:off x="-6" y="3146740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2879997" y="3146740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9" name="Picture 78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80" name="Picture 7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81" name="TextBox 80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Inorder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mutation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59993" y="919382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Two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mutation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points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randomly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selected.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Uniform/random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mutation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performed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59993" y="1091455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within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these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points.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84416" y="1507977"/>
            <a:ext cx="500097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Before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39902" y="1680049"/>
            <a:ext cx="514549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mutation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404442" y="1594019"/>
            <a:ext cx="438095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841277" y="1594019"/>
            <a:ext cx="394411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2257108" y="1594019"/>
            <a:ext cx="352828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651862" y="1594019"/>
            <a:ext cx="313353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088729" y="1594019"/>
            <a:ext cx="269666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504527" y="1594019"/>
            <a:ext cx="228086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3920338" y="1594019"/>
            <a:ext cx="186505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315054" y="1594019"/>
            <a:ext cx="147034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730829" y="1594019"/>
            <a:ext cx="105456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146743" y="1594019"/>
            <a:ext cx="63865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732701" y="1922439"/>
            <a:ext cx="505269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mutation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2665475" y="1922872"/>
            <a:ext cx="3119920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3373"/>
                </a:solidFill>
                <a:latin typeface="Cambria Math"/>
              </a:rPr>
              <a:t>↑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3081285" y="1922872"/>
            <a:ext cx="2704110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3373"/>
                </a:solidFill>
                <a:latin typeface="Cambria Math"/>
              </a:rPr>
              <a:t>↑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898764" y="3150928"/>
            <a:ext cx="88663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5624099" y="3150704"/>
            <a:ext cx="16129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25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2073567" y="1472831"/>
            <a:ext cx="410743" cy="394754"/>
          </a:xfrm>
          <a:prstGeom prst="rect">
            <a:avLst/>
          </a:prstGeom>
          <a:solidFill>
            <a:srgbClr val="FFFF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489365" y="1472831"/>
            <a:ext cx="410743" cy="394754"/>
          </a:xfrm>
          <a:prstGeom prst="rect">
            <a:avLst/>
          </a:prstGeom>
          <a:solidFill>
            <a:srgbClr val="FFFF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905176" y="1472831"/>
            <a:ext cx="410743" cy="394754"/>
          </a:xfrm>
          <a:prstGeom prst="rect">
            <a:avLst/>
          </a:prstGeom>
          <a:solidFill>
            <a:srgbClr val="FFFF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320974" y="1472831"/>
            <a:ext cx="410743" cy="394754"/>
          </a:xfrm>
          <a:prstGeom prst="rect">
            <a:avLst/>
          </a:prstGeom>
          <a:solidFill>
            <a:srgbClr val="FFFF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736785" y="1472831"/>
            <a:ext cx="410743" cy="394754"/>
          </a:xfrm>
          <a:prstGeom prst="rect">
            <a:avLst/>
          </a:prstGeom>
          <a:solidFill>
            <a:srgbClr val="FFFF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1" name="Connector 40"/>
          <p:cNvCxnSpPr/>
          <p:nvPr/>
        </p:nvCxnSpPr>
        <p:spPr>
          <a:xfrm flipV="1">
            <a:off x="362534" y="1472831"/>
            <a:ext cx="0" cy="394755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1239419" y="1472831"/>
            <a:ext cx="0" cy="394755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1655229" y="1472831"/>
            <a:ext cx="0" cy="394755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2071027" y="1472831"/>
            <a:ext cx="0" cy="394755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2486838" y="1472831"/>
            <a:ext cx="0" cy="394755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2902636" y="1472831"/>
            <a:ext cx="0" cy="394755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3318447" y="1472831"/>
            <a:ext cx="0" cy="394755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3734245" y="1472831"/>
            <a:ext cx="0" cy="394755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4150055" y="1472831"/>
            <a:ext cx="0" cy="394755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V="1">
            <a:off x="4565866" y="1472831"/>
            <a:ext cx="0" cy="394755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4981664" y="1472831"/>
            <a:ext cx="0" cy="394755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5397475" y="1472831"/>
            <a:ext cx="0" cy="394755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362530" y="1867586"/>
            <a:ext cx="0" cy="222681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V="1">
            <a:off x="1239414" y="1867586"/>
            <a:ext cx="0" cy="222681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V="1">
            <a:off x="1655225" y="1867586"/>
            <a:ext cx="0" cy="222681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2071023" y="1867586"/>
            <a:ext cx="0" cy="222681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V="1">
            <a:off x="2486834" y="1867586"/>
            <a:ext cx="0" cy="222681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V="1">
            <a:off x="2902632" y="1867586"/>
            <a:ext cx="0" cy="222681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3318442" y="1867586"/>
            <a:ext cx="0" cy="222681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V="1">
            <a:off x="3734241" y="1867586"/>
            <a:ext cx="0" cy="222681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4150051" y="1867586"/>
            <a:ext cx="0" cy="222681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4565862" y="1867586"/>
            <a:ext cx="0" cy="222681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4981660" y="1867586"/>
            <a:ext cx="0" cy="222681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5397470" y="1867586"/>
            <a:ext cx="0" cy="222681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Rectangle 64"/>
          <p:cNvSpPr/>
          <p:nvPr/>
        </p:nvSpPr>
        <p:spPr>
          <a:xfrm>
            <a:off x="2073562" y="2090268"/>
            <a:ext cx="410743" cy="394754"/>
          </a:xfrm>
          <a:prstGeom prst="rect">
            <a:avLst/>
          </a:prstGeom>
          <a:solidFill>
            <a:srgbClr val="FFFF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2489360" y="2090268"/>
            <a:ext cx="410743" cy="394754"/>
          </a:xfrm>
          <a:prstGeom prst="rect">
            <a:avLst/>
          </a:prstGeom>
          <a:solidFill>
            <a:srgbClr val="FED9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2905173" y="2090268"/>
            <a:ext cx="410743" cy="394754"/>
          </a:xfrm>
          <a:prstGeom prst="rect">
            <a:avLst/>
          </a:prstGeom>
          <a:solidFill>
            <a:srgbClr val="FED9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3320971" y="2090268"/>
            <a:ext cx="410743" cy="394754"/>
          </a:xfrm>
          <a:prstGeom prst="rect">
            <a:avLst/>
          </a:prstGeom>
          <a:solidFill>
            <a:srgbClr val="FFFF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3736781" y="2090268"/>
            <a:ext cx="410743" cy="394754"/>
          </a:xfrm>
          <a:prstGeom prst="rect">
            <a:avLst/>
          </a:prstGeom>
          <a:solidFill>
            <a:srgbClr val="FFFF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0" name="Connector 69"/>
          <p:cNvCxnSpPr/>
          <p:nvPr/>
        </p:nvCxnSpPr>
        <p:spPr>
          <a:xfrm flipV="1">
            <a:off x="362527" y="2090280"/>
            <a:ext cx="0" cy="394754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V="1">
            <a:off x="1239411" y="2090280"/>
            <a:ext cx="0" cy="394754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V="1">
            <a:off x="1655222" y="2090280"/>
            <a:ext cx="0" cy="394754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 flipV="1">
            <a:off x="2071020" y="2090280"/>
            <a:ext cx="0" cy="394754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 flipV="1">
            <a:off x="2486831" y="2090280"/>
            <a:ext cx="0" cy="394754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 flipV="1">
            <a:off x="2902629" y="2090280"/>
            <a:ext cx="0" cy="394754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 flipV="1">
            <a:off x="3318439" y="2090280"/>
            <a:ext cx="0" cy="394754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V="1">
            <a:off x="3734237" y="2090280"/>
            <a:ext cx="0" cy="394754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 flipV="1">
            <a:off x="4150048" y="2090280"/>
            <a:ext cx="0" cy="394754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 flipV="1">
            <a:off x="4565859" y="2090280"/>
            <a:ext cx="0" cy="394754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 flipV="1">
            <a:off x="4981657" y="2090280"/>
            <a:ext cx="0" cy="394754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 flipV="1">
            <a:off x="5397467" y="2090280"/>
            <a:ext cx="0" cy="394754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Rectangle 81"/>
          <p:cNvSpPr/>
          <p:nvPr/>
        </p:nvSpPr>
        <p:spPr>
          <a:xfrm>
            <a:off x="-6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2879997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4" name="Picture 8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85" name="Picture 8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86" name="TextBox 85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Inorder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mutation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59993" y="919382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Two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mutation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points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randomly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selected.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Uniform/random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mutation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performed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59993" y="1091455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within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these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points.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784416" y="1507977"/>
            <a:ext cx="500097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Before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39902" y="1680049"/>
            <a:ext cx="514549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mutation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404442" y="1594019"/>
            <a:ext cx="438095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841277" y="1594019"/>
            <a:ext cx="394411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257108" y="1594019"/>
            <a:ext cx="352828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2651862" y="1594019"/>
            <a:ext cx="313353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088729" y="1594019"/>
            <a:ext cx="269666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504527" y="1594019"/>
            <a:ext cx="228086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920338" y="1594019"/>
            <a:ext cx="186505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4315054" y="1594019"/>
            <a:ext cx="147034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730829" y="1594019"/>
            <a:ext cx="105456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5146743" y="1594019"/>
            <a:ext cx="63865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32701" y="1922439"/>
            <a:ext cx="505269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mutation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2665475" y="1922872"/>
            <a:ext cx="3119920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3373"/>
                </a:solidFill>
                <a:latin typeface="Cambria Math"/>
              </a:rPr>
              <a:t>↑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3081285" y="1922872"/>
            <a:ext cx="2704110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3373"/>
                </a:solidFill>
                <a:latin typeface="Cambria Math"/>
              </a:rPr>
              <a:t>↑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858947" y="2125426"/>
            <a:ext cx="492644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After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639897" y="2297498"/>
            <a:ext cx="514549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mutation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404436" y="2211469"/>
            <a:ext cx="438095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841303" y="2211469"/>
            <a:ext cx="394409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2257104" y="2211469"/>
            <a:ext cx="352829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2672914" y="2211469"/>
            <a:ext cx="311248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3067659" y="2211469"/>
            <a:ext cx="271773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3504525" y="2211469"/>
            <a:ext cx="228087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3920335" y="2211469"/>
            <a:ext cx="186506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4315080" y="2211469"/>
            <a:ext cx="147031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730875" y="2211469"/>
            <a:ext cx="105452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5146682" y="2211469"/>
            <a:ext cx="63871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4898764" y="3150930"/>
            <a:ext cx="88663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624099" y="3150706"/>
            <a:ext cx="16129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25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H="1">
            <a:off x="1125379" y="927276"/>
            <a:ext cx="1050046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074768" y="977887"/>
            <a:ext cx="0" cy="15966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1125379" y="1188162"/>
            <a:ext cx="1050046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2226036" y="977887"/>
            <a:ext cx="0" cy="15966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H="1">
            <a:off x="2410841" y="917028"/>
            <a:ext cx="132960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2360231" y="967638"/>
            <a:ext cx="0" cy="18016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2410841" y="1198410"/>
            <a:ext cx="132960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3791060" y="967638"/>
            <a:ext cx="0" cy="18016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H="1">
            <a:off x="2720978" y="1332605"/>
            <a:ext cx="709335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2670367" y="1383216"/>
            <a:ext cx="0" cy="17771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2720978" y="1611540"/>
            <a:ext cx="709335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3480923" y="1383216"/>
            <a:ext cx="0" cy="17771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H="1">
            <a:off x="2819251" y="1745734"/>
            <a:ext cx="51278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2768640" y="1796345"/>
            <a:ext cx="0" cy="15408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2819251" y="2001040"/>
            <a:ext cx="51278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3382650" y="1796345"/>
            <a:ext cx="0" cy="15408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Freeform 51"/>
          <p:cNvSpPr/>
          <p:nvPr/>
        </p:nvSpPr>
        <p:spPr>
          <a:xfrm>
            <a:off x="2336800" y="2133600"/>
            <a:ext cx="1473200" cy="279400"/>
          </a:xfrm>
          <a:custGeom>
            <a:avLst/>
            <a:gdLst/>
            <a:ahLst/>
            <a:cxnLst/>
            <a:rect l="l" t="t" r="r" b="b"/>
            <a:pathLst>
              <a:path w="116" h="22">
                <a:moveTo>
                  <a:pt x="112" y="0"/>
                </a:moveTo>
                <a:lnTo>
                  <a:pt x="4" y="0"/>
                </a:lnTo>
                <a:lnTo>
                  <a:pt x="3" y="0"/>
                </a:lnTo>
                <a:lnTo>
                  <a:pt x="2" y="0"/>
                </a:lnTo>
                <a:lnTo>
                  <a:pt x="2" y="1"/>
                </a:lnTo>
                <a:lnTo>
                  <a:pt x="1" y="1"/>
                </a:lnTo>
                <a:lnTo>
                  <a:pt x="1" y="2"/>
                </a:lnTo>
                <a:lnTo>
                  <a:pt x="0" y="3"/>
                </a:lnTo>
                <a:lnTo>
                  <a:pt x="0" y="3"/>
                </a:lnTo>
                <a:lnTo>
                  <a:pt x="0" y="4"/>
                </a:lnTo>
                <a:lnTo>
                  <a:pt x="0" y="18"/>
                </a:lnTo>
                <a:lnTo>
                  <a:pt x="0" y="19"/>
                </a:lnTo>
                <a:lnTo>
                  <a:pt x="0" y="20"/>
                </a:lnTo>
                <a:lnTo>
                  <a:pt x="1" y="21"/>
                </a:lnTo>
                <a:lnTo>
                  <a:pt x="1" y="21"/>
                </a:lnTo>
                <a:lnTo>
                  <a:pt x="2" y="22"/>
                </a:lnTo>
                <a:lnTo>
                  <a:pt x="2" y="22"/>
                </a:lnTo>
                <a:lnTo>
                  <a:pt x="3" y="22"/>
                </a:lnTo>
                <a:lnTo>
                  <a:pt x="4" y="22"/>
                </a:lnTo>
                <a:lnTo>
                  <a:pt x="112" y="22"/>
                </a:lnTo>
                <a:lnTo>
                  <a:pt x="113" y="22"/>
                </a:lnTo>
                <a:lnTo>
                  <a:pt x="114" y="22"/>
                </a:lnTo>
                <a:lnTo>
                  <a:pt x="115" y="22"/>
                </a:lnTo>
                <a:lnTo>
                  <a:pt x="115" y="21"/>
                </a:lnTo>
                <a:lnTo>
                  <a:pt x="116" y="21"/>
                </a:lnTo>
                <a:lnTo>
                  <a:pt x="116" y="20"/>
                </a:lnTo>
                <a:lnTo>
                  <a:pt x="116" y="19"/>
                </a:lnTo>
                <a:lnTo>
                  <a:pt x="116" y="18"/>
                </a:lnTo>
                <a:lnTo>
                  <a:pt x="116" y="4"/>
                </a:lnTo>
                <a:lnTo>
                  <a:pt x="116" y="3"/>
                </a:lnTo>
                <a:lnTo>
                  <a:pt x="116" y="3"/>
                </a:lnTo>
                <a:lnTo>
                  <a:pt x="116" y="2"/>
                </a:lnTo>
                <a:lnTo>
                  <a:pt x="115" y="1"/>
                </a:lnTo>
                <a:lnTo>
                  <a:pt x="115" y="1"/>
                </a:lnTo>
                <a:lnTo>
                  <a:pt x="114" y="0"/>
                </a:lnTo>
                <a:lnTo>
                  <a:pt x="113" y="0"/>
                </a:lnTo>
                <a:lnTo>
                  <a:pt x="112" y="0"/>
                </a:lnTo>
                <a:close/>
              </a:path>
            </a:pathLst>
          </a:custGeom>
          <a:solidFill>
            <a:srgbClr val="003373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3" name="Connector 52"/>
          <p:cNvCxnSpPr/>
          <p:nvPr/>
        </p:nvCxnSpPr>
        <p:spPr>
          <a:xfrm flipH="1">
            <a:off x="3999324" y="2148273"/>
            <a:ext cx="635316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3948713" y="2198883"/>
            <a:ext cx="0" cy="154085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3999324" y="2403579"/>
            <a:ext cx="635316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4685251" y="2198883"/>
            <a:ext cx="0" cy="154085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2228567" y="1057719"/>
            <a:ext cx="10382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Freeform 57"/>
          <p:cNvSpPr/>
          <p:nvPr/>
        </p:nvSpPr>
        <p:spPr>
          <a:xfrm>
            <a:off x="2311400" y="10414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1"/>
                </a:moveTo>
                <a:lnTo>
                  <a:pt x="0" y="0"/>
                </a:lnTo>
                <a:lnTo>
                  <a:pt x="2" y="1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9" name="Connector 58"/>
          <p:cNvCxnSpPr/>
          <p:nvPr/>
        </p:nvCxnSpPr>
        <p:spPr>
          <a:xfrm>
            <a:off x="3075645" y="1200941"/>
            <a:ext cx="0" cy="10382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Freeform 59"/>
          <p:cNvSpPr/>
          <p:nvPr/>
        </p:nvSpPr>
        <p:spPr>
          <a:xfrm>
            <a:off x="3060700" y="12954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0"/>
                </a:lnTo>
                <a:lnTo>
                  <a:pt x="1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1" name="Connector 60"/>
          <p:cNvCxnSpPr/>
          <p:nvPr/>
        </p:nvCxnSpPr>
        <p:spPr>
          <a:xfrm>
            <a:off x="3075645" y="1614070"/>
            <a:ext cx="0" cy="10382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Freeform 61"/>
          <p:cNvSpPr/>
          <p:nvPr/>
        </p:nvSpPr>
        <p:spPr>
          <a:xfrm>
            <a:off x="3060700" y="17018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0"/>
                </a:lnTo>
                <a:lnTo>
                  <a:pt x="1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3" name="Connector 62"/>
          <p:cNvCxnSpPr/>
          <p:nvPr/>
        </p:nvCxnSpPr>
        <p:spPr>
          <a:xfrm>
            <a:off x="3075645" y="2003570"/>
            <a:ext cx="0" cy="10382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Freeform 63"/>
          <p:cNvSpPr/>
          <p:nvPr/>
        </p:nvSpPr>
        <p:spPr>
          <a:xfrm>
            <a:off x="3060700" y="20955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0"/>
                </a:lnTo>
                <a:lnTo>
                  <a:pt x="1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5" name="Connector 64"/>
          <p:cNvCxnSpPr/>
          <p:nvPr/>
        </p:nvCxnSpPr>
        <p:spPr>
          <a:xfrm>
            <a:off x="3817049" y="2275926"/>
            <a:ext cx="10382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Freeform 65"/>
          <p:cNvSpPr/>
          <p:nvPr/>
        </p:nvSpPr>
        <p:spPr>
          <a:xfrm>
            <a:off x="3911600" y="22606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7" name="Connector 66"/>
          <p:cNvCxnSpPr/>
          <p:nvPr/>
        </p:nvCxnSpPr>
        <p:spPr>
          <a:xfrm flipH="1">
            <a:off x="2154240" y="2275926"/>
            <a:ext cx="180002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V="1">
            <a:off x="2154240" y="1472072"/>
            <a:ext cx="0" cy="80385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2154240" y="1472072"/>
            <a:ext cx="488291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Freeform 69"/>
          <p:cNvSpPr/>
          <p:nvPr/>
        </p:nvSpPr>
        <p:spPr>
          <a:xfrm>
            <a:off x="2628900" y="14478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3" y="2"/>
                </a:moveTo>
                <a:lnTo>
                  <a:pt x="0" y="0"/>
                </a:lnTo>
                <a:lnTo>
                  <a:pt x="1" y="2"/>
                </a:lnTo>
                <a:lnTo>
                  <a:pt x="0" y="4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1" name="Connector 70"/>
          <p:cNvCxnSpPr/>
          <p:nvPr/>
        </p:nvCxnSpPr>
        <p:spPr>
          <a:xfrm flipH="1">
            <a:off x="4083989" y="1744168"/>
            <a:ext cx="50299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4033378" y="1794779"/>
            <a:ext cx="0" cy="157216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4083989" y="2002606"/>
            <a:ext cx="50299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 flipV="1">
            <a:off x="4637594" y="1794779"/>
            <a:ext cx="0" cy="157216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Freeform 74"/>
          <p:cNvSpPr/>
          <p:nvPr/>
        </p:nvSpPr>
        <p:spPr>
          <a:xfrm>
            <a:off x="3987800" y="17907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1" y="0"/>
                </a:lnTo>
                <a:lnTo>
                  <a:pt x="1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Freeform 75"/>
          <p:cNvSpPr/>
          <p:nvPr/>
        </p:nvSpPr>
        <p:spPr>
          <a:xfrm>
            <a:off x="3987800" y="18542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0" y="0"/>
                </a:lnTo>
                <a:lnTo>
                  <a:pt x="1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Freeform 76"/>
          <p:cNvSpPr/>
          <p:nvPr/>
        </p:nvSpPr>
        <p:spPr>
          <a:xfrm>
            <a:off x="3987800" y="19177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8" name="Connector 77"/>
          <p:cNvCxnSpPr/>
          <p:nvPr/>
        </p:nvCxnSpPr>
        <p:spPr>
          <a:xfrm flipH="1">
            <a:off x="3967040" y="1176926"/>
            <a:ext cx="655586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3916429" y="1227537"/>
            <a:ext cx="0" cy="31689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3967040" y="1595041"/>
            <a:ext cx="655586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 flipV="1">
            <a:off x="4673237" y="1227537"/>
            <a:ext cx="0" cy="31689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 flipH="1">
            <a:off x="4028304" y="1729235"/>
            <a:ext cx="533057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3977693" y="1779846"/>
            <a:ext cx="0" cy="15482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4028304" y="1985281"/>
            <a:ext cx="533057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 flipV="1">
            <a:off x="4611972" y="1779846"/>
            <a:ext cx="0" cy="15482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4294833" y="1597571"/>
            <a:ext cx="0" cy="10382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Freeform 86"/>
          <p:cNvSpPr/>
          <p:nvPr/>
        </p:nvSpPr>
        <p:spPr>
          <a:xfrm>
            <a:off x="4279900" y="16891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0"/>
                </a:lnTo>
                <a:lnTo>
                  <a:pt x="1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8" name="Connector 87"/>
          <p:cNvCxnSpPr/>
          <p:nvPr/>
        </p:nvCxnSpPr>
        <p:spPr>
          <a:xfrm flipV="1">
            <a:off x="3483454" y="1143260"/>
            <a:ext cx="516532" cy="18681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>
            <a:off x="3483454" y="1614070"/>
            <a:ext cx="590049" cy="44848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Rectangle 89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2880004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2" name="Picture 9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93" name="Picture 9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94" name="TextBox 93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Genetic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algorithm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160868" y="1010084"/>
            <a:ext cx="4624527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Problem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formulation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2446311" y="999835"/>
            <a:ext cx="3339084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Initialisation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population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2756445" y="1412953"/>
            <a:ext cx="3028950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Reproduction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854718" y="1822948"/>
            <a:ext cx="2930677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Mutation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2422854" y="2218019"/>
            <a:ext cx="3362541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FFFFFF"/>
                </a:solidFill>
                <a:latin typeface="Josefin Sans"/>
              </a:rPr>
              <a:t>Replacement</a:t>
            </a:r>
            <a:r>
              <a:rPr sz="896" b="0">
                <a:solidFill>
                  <a:srgbClr val="FFFFFF"/>
                </a:solidFill>
                <a:latin typeface="Josefin Sans"/>
              </a:rPr>
              <a:t> </a:t>
            </a:r>
            <a:r>
              <a:rPr sz="896" b="0">
                <a:solidFill>
                  <a:srgbClr val="FFFFFF"/>
                </a:solidFill>
                <a:latin typeface="Josefin Sans"/>
              </a:rPr>
              <a:t>of</a:t>
            </a:r>
            <a:r>
              <a:rPr sz="896" b="0">
                <a:solidFill>
                  <a:srgbClr val="FFFFFF"/>
                </a:solidFill>
                <a:latin typeface="Josefin Sans"/>
              </a:rPr>
              <a:t> </a:t>
            </a:r>
            <a:r>
              <a:rPr sz="896" b="0">
                <a:solidFill>
                  <a:srgbClr val="FFFFFF"/>
                </a:solidFill>
                <a:latin typeface="Josefin Sans"/>
              </a:rPr>
              <a:t>population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034776" y="2225487"/>
            <a:ext cx="1750619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Termination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119435" y="1824522"/>
            <a:ext cx="1665960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Selection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008525" y="1257277"/>
            <a:ext cx="1776870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Selection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as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4002493" y="1396456"/>
            <a:ext cx="1782902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parent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pairs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4063758" y="1806450"/>
            <a:ext cx="1721637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Crossover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4898770" y="3150917"/>
            <a:ext cx="8866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623953" y="3150693"/>
            <a:ext cx="16144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26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3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Replacement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of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Population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1319" y="1318823"/>
            <a:ext cx="528407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Josefin Sans"/>
              </a:rPr>
              <a:t>1.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All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children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selected;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all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parents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discarded;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All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children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used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7095" y="1490895"/>
            <a:ext cx="514830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current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generation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replace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population.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98770" y="3150916"/>
            <a:ext cx="8866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27978" y="3150692"/>
            <a:ext cx="15741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27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5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Replacement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of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Population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1319" y="1318823"/>
            <a:ext cx="528407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Josefin Sans"/>
              </a:rPr>
              <a:t>1.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All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children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selected;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all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parents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discarded;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All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children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used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7095" y="1490895"/>
            <a:ext cx="514830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current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generation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replace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population.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74713" y="1749009"/>
            <a:ext cx="531068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Josefin Sans"/>
              </a:rPr>
              <a:t>2.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Children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parents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selected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based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fitness.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898771" y="3150916"/>
            <a:ext cx="88662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27980" y="3150692"/>
            <a:ext cx="15741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27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H="1">
            <a:off x="1125379" y="927276"/>
            <a:ext cx="1050046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074768" y="977887"/>
            <a:ext cx="0" cy="15966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1125379" y="1188162"/>
            <a:ext cx="1050046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2226036" y="977887"/>
            <a:ext cx="0" cy="15966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H="1">
            <a:off x="2410841" y="917028"/>
            <a:ext cx="132960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2360231" y="967638"/>
            <a:ext cx="0" cy="18016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2410841" y="1198410"/>
            <a:ext cx="132960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3791060" y="967638"/>
            <a:ext cx="0" cy="18016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H="1">
            <a:off x="2720978" y="1332605"/>
            <a:ext cx="709335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2670367" y="1383216"/>
            <a:ext cx="0" cy="17771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2720978" y="1611540"/>
            <a:ext cx="709335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3480923" y="1383216"/>
            <a:ext cx="0" cy="17771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H="1">
            <a:off x="2819251" y="1745734"/>
            <a:ext cx="51278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2768640" y="1796345"/>
            <a:ext cx="0" cy="15408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2819251" y="2001040"/>
            <a:ext cx="51278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3382650" y="1796345"/>
            <a:ext cx="0" cy="15408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H="1">
            <a:off x="2387383" y="2135234"/>
            <a:ext cx="137652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2336772" y="2185845"/>
            <a:ext cx="0" cy="18016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2387383" y="2416617"/>
            <a:ext cx="137652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V="1">
            <a:off x="3814518" y="2185845"/>
            <a:ext cx="0" cy="18016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Freeform 55"/>
          <p:cNvSpPr/>
          <p:nvPr/>
        </p:nvSpPr>
        <p:spPr>
          <a:xfrm>
            <a:off x="3949700" y="2146300"/>
            <a:ext cx="736600" cy="254000"/>
          </a:xfrm>
          <a:custGeom>
            <a:avLst/>
            <a:gdLst/>
            <a:ahLst/>
            <a:cxnLst/>
            <a:rect l="l" t="t" r="r" b="b"/>
            <a:pathLst>
              <a:path w="58" h="20">
                <a:moveTo>
                  <a:pt x="54" y="0"/>
                </a:moveTo>
                <a:lnTo>
                  <a:pt x="4" y="0"/>
                </a:lnTo>
                <a:lnTo>
                  <a:pt x="3" y="0"/>
                </a:lnTo>
                <a:lnTo>
                  <a:pt x="2" y="0"/>
                </a:lnTo>
                <a:lnTo>
                  <a:pt x="2" y="1"/>
                </a:lnTo>
                <a:lnTo>
                  <a:pt x="1" y="1"/>
                </a:lnTo>
                <a:lnTo>
                  <a:pt x="1" y="2"/>
                </a:lnTo>
                <a:lnTo>
                  <a:pt x="0" y="3"/>
                </a:lnTo>
                <a:lnTo>
                  <a:pt x="0" y="3"/>
                </a:lnTo>
                <a:lnTo>
                  <a:pt x="0" y="4"/>
                </a:lnTo>
                <a:lnTo>
                  <a:pt x="0" y="16"/>
                </a:lnTo>
                <a:lnTo>
                  <a:pt x="0" y="17"/>
                </a:lnTo>
                <a:lnTo>
                  <a:pt x="0" y="18"/>
                </a:lnTo>
                <a:lnTo>
                  <a:pt x="1" y="19"/>
                </a:lnTo>
                <a:lnTo>
                  <a:pt x="1" y="19"/>
                </a:lnTo>
                <a:lnTo>
                  <a:pt x="2" y="20"/>
                </a:lnTo>
                <a:lnTo>
                  <a:pt x="2" y="20"/>
                </a:lnTo>
                <a:lnTo>
                  <a:pt x="3" y="20"/>
                </a:lnTo>
                <a:lnTo>
                  <a:pt x="4" y="20"/>
                </a:lnTo>
                <a:lnTo>
                  <a:pt x="54" y="20"/>
                </a:lnTo>
                <a:lnTo>
                  <a:pt x="55" y="20"/>
                </a:lnTo>
                <a:lnTo>
                  <a:pt x="55" y="20"/>
                </a:lnTo>
                <a:lnTo>
                  <a:pt x="56" y="20"/>
                </a:lnTo>
                <a:lnTo>
                  <a:pt x="57" y="19"/>
                </a:lnTo>
                <a:lnTo>
                  <a:pt x="57" y="19"/>
                </a:lnTo>
                <a:lnTo>
                  <a:pt x="58" y="18"/>
                </a:lnTo>
                <a:lnTo>
                  <a:pt x="58" y="17"/>
                </a:lnTo>
                <a:lnTo>
                  <a:pt x="58" y="16"/>
                </a:lnTo>
                <a:lnTo>
                  <a:pt x="58" y="4"/>
                </a:lnTo>
                <a:lnTo>
                  <a:pt x="58" y="3"/>
                </a:lnTo>
                <a:lnTo>
                  <a:pt x="58" y="3"/>
                </a:lnTo>
                <a:lnTo>
                  <a:pt x="57" y="2"/>
                </a:lnTo>
                <a:lnTo>
                  <a:pt x="57" y="1"/>
                </a:lnTo>
                <a:lnTo>
                  <a:pt x="56" y="1"/>
                </a:lnTo>
                <a:lnTo>
                  <a:pt x="55" y="0"/>
                </a:lnTo>
                <a:lnTo>
                  <a:pt x="55" y="0"/>
                </a:lnTo>
                <a:lnTo>
                  <a:pt x="54" y="0"/>
                </a:lnTo>
                <a:close/>
              </a:path>
            </a:pathLst>
          </a:custGeom>
          <a:solidFill>
            <a:srgbClr val="003373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7" name="Connector 56"/>
          <p:cNvCxnSpPr/>
          <p:nvPr/>
        </p:nvCxnSpPr>
        <p:spPr>
          <a:xfrm>
            <a:off x="2228567" y="1057719"/>
            <a:ext cx="10382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Freeform 57"/>
          <p:cNvSpPr/>
          <p:nvPr/>
        </p:nvSpPr>
        <p:spPr>
          <a:xfrm>
            <a:off x="2311400" y="10414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1"/>
                </a:moveTo>
                <a:lnTo>
                  <a:pt x="0" y="0"/>
                </a:lnTo>
                <a:lnTo>
                  <a:pt x="2" y="1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9" name="Connector 58"/>
          <p:cNvCxnSpPr/>
          <p:nvPr/>
        </p:nvCxnSpPr>
        <p:spPr>
          <a:xfrm>
            <a:off x="3075645" y="1200941"/>
            <a:ext cx="0" cy="10382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Freeform 59"/>
          <p:cNvSpPr/>
          <p:nvPr/>
        </p:nvSpPr>
        <p:spPr>
          <a:xfrm>
            <a:off x="3060700" y="12954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0"/>
                </a:lnTo>
                <a:lnTo>
                  <a:pt x="1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1" name="Connector 60"/>
          <p:cNvCxnSpPr/>
          <p:nvPr/>
        </p:nvCxnSpPr>
        <p:spPr>
          <a:xfrm>
            <a:off x="3075645" y="1614070"/>
            <a:ext cx="0" cy="10382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Freeform 61"/>
          <p:cNvSpPr/>
          <p:nvPr/>
        </p:nvSpPr>
        <p:spPr>
          <a:xfrm>
            <a:off x="3060700" y="17018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0"/>
                </a:lnTo>
                <a:lnTo>
                  <a:pt x="1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3" name="Connector 62"/>
          <p:cNvCxnSpPr/>
          <p:nvPr/>
        </p:nvCxnSpPr>
        <p:spPr>
          <a:xfrm>
            <a:off x="3075645" y="2003570"/>
            <a:ext cx="0" cy="10382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Freeform 63"/>
          <p:cNvSpPr/>
          <p:nvPr/>
        </p:nvSpPr>
        <p:spPr>
          <a:xfrm>
            <a:off x="3060700" y="20955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0"/>
                </a:lnTo>
                <a:lnTo>
                  <a:pt x="1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5" name="Connector 64"/>
          <p:cNvCxnSpPr/>
          <p:nvPr/>
        </p:nvCxnSpPr>
        <p:spPr>
          <a:xfrm>
            <a:off x="3817049" y="2275926"/>
            <a:ext cx="10382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Freeform 65"/>
          <p:cNvSpPr/>
          <p:nvPr/>
        </p:nvSpPr>
        <p:spPr>
          <a:xfrm>
            <a:off x="3911600" y="22606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7" name="Connector 66"/>
          <p:cNvCxnSpPr/>
          <p:nvPr/>
        </p:nvCxnSpPr>
        <p:spPr>
          <a:xfrm flipH="1">
            <a:off x="2154240" y="2275926"/>
            <a:ext cx="180002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V="1">
            <a:off x="2154240" y="1472072"/>
            <a:ext cx="0" cy="80385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2154240" y="1472072"/>
            <a:ext cx="488291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Freeform 69"/>
          <p:cNvSpPr/>
          <p:nvPr/>
        </p:nvSpPr>
        <p:spPr>
          <a:xfrm>
            <a:off x="2628900" y="14478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3" y="2"/>
                </a:moveTo>
                <a:lnTo>
                  <a:pt x="0" y="0"/>
                </a:lnTo>
                <a:lnTo>
                  <a:pt x="1" y="2"/>
                </a:lnTo>
                <a:lnTo>
                  <a:pt x="0" y="4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1" name="Connector 70"/>
          <p:cNvCxnSpPr/>
          <p:nvPr/>
        </p:nvCxnSpPr>
        <p:spPr>
          <a:xfrm flipH="1">
            <a:off x="4083989" y="1744168"/>
            <a:ext cx="50299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4033378" y="1794779"/>
            <a:ext cx="0" cy="157216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4083989" y="2002606"/>
            <a:ext cx="50299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 flipV="1">
            <a:off x="4637594" y="1794779"/>
            <a:ext cx="0" cy="157216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Freeform 74"/>
          <p:cNvSpPr/>
          <p:nvPr/>
        </p:nvSpPr>
        <p:spPr>
          <a:xfrm>
            <a:off x="3987800" y="17907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1" y="0"/>
                </a:lnTo>
                <a:lnTo>
                  <a:pt x="1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Freeform 75"/>
          <p:cNvSpPr/>
          <p:nvPr/>
        </p:nvSpPr>
        <p:spPr>
          <a:xfrm>
            <a:off x="3987800" y="18542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0" y="0"/>
                </a:lnTo>
                <a:lnTo>
                  <a:pt x="1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Freeform 76"/>
          <p:cNvSpPr/>
          <p:nvPr/>
        </p:nvSpPr>
        <p:spPr>
          <a:xfrm>
            <a:off x="3987800" y="19177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8" name="Connector 77"/>
          <p:cNvCxnSpPr/>
          <p:nvPr/>
        </p:nvCxnSpPr>
        <p:spPr>
          <a:xfrm flipH="1">
            <a:off x="3967040" y="1176926"/>
            <a:ext cx="655586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3916429" y="1227537"/>
            <a:ext cx="0" cy="31689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3967040" y="1595041"/>
            <a:ext cx="655586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 flipV="1">
            <a:off x="4673237" y="1227537"/>
            <a:ext cx="0" cy="31689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 flipH="1">
            <a:off x="4028304" y="1729235"/>
            <a:ext cx="533057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3977693" y="1779846"/>
            <a:ext cx="0" cy="15482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4028304" y="1985281"/>
            <a:ext cx="533057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 flipV="1">
            <a:off x="4611972" y="1779846"/>
            <a:ext cx="0" cy="15482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4294833" y="1597571"/>
            <a:ext cx="0" cy="10382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Freeform 86"/>
          <p:cNvSpPr/>
          <p:nvPr/>
        </p:nvSpPr>
        <p:spPr>
          <a:xfrm>
            <a:off x="4279900" y="16891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0"/>
                </a:lnTo>
                <a:lnTo>
                  <a:pt x="1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8" name="Connector 87"/>
          <p:cNvCxnSpPr/>
          <p:nvPr/>
        </p:nvCxnSpPr>
        <p:spPr>
          <a:xfrm flipV="1">
            <a:off x="3483454" y="1143260"/>
            <a:ext cx="516532" cy="18681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>
            <a:off x="3483454" y="1614070"/>
            <a:ext cx="590049" cy="44848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Rectangle 89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2880004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2" name="Picture 9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93" name="Picture 9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94" name="TextBox 93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Genetic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algorithm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160868" y="1010084"/>
            <a:ext cx="4624527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Problem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formulation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2446311" y="999835"/>
            <a:ext cx="3339084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Initialisation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population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2756445" y="1412953"/>
            <a:ext cx="3028950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Reproduction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854718" y="1822948"/>
            <a:ext cx="2930677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Mutation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2422854" y="2218019"/>
            <a:ext cx="3362541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Replacement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population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034776" y="2225487"/>
            <a:ext cx="1750619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FFFFFF"/>
                </a:solidFill>
                <a:latin typeface="Josefin Sans"/>
              </a:rPr>
              <a:t>Termination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119435" y="1824522"/>
            <a:ext cx="1665960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Selection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008525" y="1257277"/>
            <a:ext cx="1776870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Selection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as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4002493" y="1396456"/>
            <a:ext cx="1782902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parent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pairs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4063758" y="1806450"/>
            <a:ext cx="1721637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Crossover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4898770" y="3150917"/>
            <a:ext cx="8866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625096" y="3150693"/>
            <a:ext cx="16029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28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3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Termination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1009095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Four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common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convergence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criteria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used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termination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condition.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898770" y="3150916"/>
            <a:ext cx="8866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23966" y="3150692"/>
            <a:ext cx="16143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29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3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Termination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1009095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Four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common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convergence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criteria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used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termination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condition.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0057" y="1223441"/>
            <a:ext cx="532533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termination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due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improvement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observed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over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number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consecutive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7095" y="1439283"/>
            <a:ext cx="51483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generations.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898770" y="3150916"/>
            <a:ext cx="8866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23966" y="3150692"/>
            <a:ext cx="16143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29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3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Termination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1009095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Four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common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convergence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criteria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used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termination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condition.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0057" y="1223441"/>
            <a:ext cx="532533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termination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due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improvement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observed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over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number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consecutive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7095" y="1439283"/>
            <a:ext cx="51483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generations.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0055" y="1653628"/>
            <a:ext cx="532534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termination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due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change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population.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898770" y="3150916"/>
            <a:ext cx="8866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23966" y="3150692"/>
            <a:ext cx="16143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29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3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Termination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1009095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Four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common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convergence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criteria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used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termination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condition.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0057" y="1223441"/>
            <a:ext cx="532533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termination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due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improvement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observed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over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number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consecutive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7095" y="1439283"/>
            <a:ext cx="51483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generations.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0055" y="1653628"/>
            <a:ext cx="532534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termination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due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change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population.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0055" y="1911743"/>
            <a:ext cx="532534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termination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due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finding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acceptable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solution.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98770" y="3150916"/>
            <a:ext cx="8866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623966" y="3150692"/>
            <a:ext cx="16143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29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-2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2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Termination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1009095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Four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common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convergence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criteria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used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termination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condition.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0057" y="1223441"/>
            <a:ext cx="532533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termination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due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improvement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observed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over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number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consecutive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7095" y="1439283"/>
            <a:ext cx="51483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generations.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0055" y="1653628"/>
            <a:ext cx="532534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termination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due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change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population.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0055" y="1911743"/>
            <a:ext cx="532534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termination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due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finding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acceptable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solution.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60055" y="2169858"/>
            <a:ext cx="532534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termination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due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exceeding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maximum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number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iterations.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898768" y="3150918"/>
            <a:ext cx="88662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23964" y="3150694"/>
            <a:ext cx="16143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29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H="1">
            <a:off x="1125379" y="927276"/>
            <a:ext cx="1050046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074768" y="977887"/>
            <a:ext cx="0" cy="15966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1125379" y="1188162"/>
            <a:ext cx="1050046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2226036" y="977887"/>
            <a:ext cx="0" cy="15966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H="1">
            <a:off x="2410841" y="917028"/>
            <a:ext cx="132960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2360231" y="967638"/>
            <a:ext cx="0" cy="18016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2410841" y="1198410"/>
            <a:ext cx="132960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3791060" y="967638"/>
            <a:ext cx="0" cy="18016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H="1">
            <a:off x="2720978" y="1332605"/>
            <a:ext cx="709335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2670367" y="1383216"/>
            <a:ext cx="0" cy="17771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2720978" y="1611540"/>
            <a:ext cx="709335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3480923" y="1383216"/>
            <a:ext cx="0" cy="17771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H="1">
            <a:off x="2819251" y="1745734"/>
            <a:ext cx="51278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2768640" y="1796345"/>
            <a:ext cx="0" cy="15408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2819251" y="2001040"/>
            <a:ext cx="51278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3382650" y="1796345"/>
            <a:ext cx="0" cy="15408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H="1">
            <a:off x="2387383" y="2135234"/>
            <a:ext cx="137652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2336772" y="2185845"/>
            <a:ext cx="0" cy="18016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2387383" y="2416617"/>
            <a:ext cx="137652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V="1">
            <a:off x="3814518" y="2185845"/>
            <a:ext cx="0" cy="18016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H="1">
            <a:off x="3999324" y="2148273"/>
            <a:ext cx="635316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3948713" y="2198883"/>
            <a:ext cx="0" cy="154085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3999324" y="2403579"/>
            <a:ext cx="635316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4685251" y="2198883"/>
            <a:ext cx="0" cy="154085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2228567" y="1057719"/>
            <a:ext cx="10382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Freeform 60"/>
          <p:cNvSpPr/>
          <p:nvPr/>
        </p:nvSpPr>
        <p:spPr>
          <a:xfrm>
            <a:off x="2311400" y="10414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1"/>
                </a:moveTo>
                <a:lnTo>
                  <a:pt x="0" y="0"/>
                </a:lnTo>
                <a:lnTo>
                  <a:pt x="2" y="1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2" name="Connector 61"/>
          <p:cNvCxnSpPr/>
          <p:nvPr/>
        </p:nvCxnSpPr>
        <p:spPr>
          <a:xfrm>
            <a:off x="3075645" y="1200941"/>
            <a:ext cx="0" cy="10382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Freeform 62"/>
          <p:cNvSpPr/>
          <p:nvPr/>
        </p:nvSpPr>
        <p:spPr>
          <a:xfrm>
            <a:off x="3060700" y="12954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0"/>
                </a:lnTo>
                <a:lnTo>
                  <a:pt x="1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>
            <a:off x="3075645" y="1614070"/>
            <a:ext cx="0" cy="10382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Freeform 64"/>
          <p:cNvSpPr/>
          <p:nvPr/>
        </p:nvSpPr>
        <p:spPr>
          <a:xfrm>
            <a:off x="3060700" y="17018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0"/>
                </a:lnTo>
                <a:lnTo>
                  <a:pt x="1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6" name="Connector 65"/>
          <p:cNvCxnSpPr/>
          <p:nvPr/>
        </p:nvCxnSpPr>
        <p:spPr>
          <a:xfrm>
            <a:off x="3075645" y="2003570"/>
            <a:ext cx="0" cy="10382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Freeform 66"/>
          <p:cNvSpPr/>
          <p:nvPr/>
        </p:nvSpPr>
        <p:spPr>
          <a:xfrm>
            <a:off x="3060700" y="20955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0"/>
                </a:lnTo>
                <a:lnTo>
                  <a:pt x="1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8" name="Connector 67"/>
          <p:cNvCxnSpPr/>
          <p:nvPr/>
        </p:nvCxnSpPr>
        <p:spPr>
          <a:xfrm>
            <a:off x="3817049" y="2275926"/>
            <a:ext cx="10382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Freeform 68"/>
          <p:cNvSpPr/>
          <p:nvPr/>
        </p:nvSpPr>
        <p:spPr>
          <a:xfrm>
            <a:off x="3911600" y="22606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0" name="Connector 69"/>
          <p:cNvCxnSpPr/>
          <p:nvPr/>
        </p:nvCxnSpPr>
        <p:spPr>
          <a:xfrm flipH="1">
            <a:off x="2154240" y="2275926"/>
            <a:ext cx="180002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V="1">
            <a:off x="2154240" y="1472072"/>
            <a:ext cx="0" cy="80385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2154240" y="1472072"/>
            <a:ext cx="488291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Freeform 72"/>
          <p:cNvSpPr/>
          <p:nvPr/>
        </p:nvSpPr>
        <p:spPr>
          <a:xfrm>
            <a:off x="2628900" y="14478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3" y="2"/>
                </a:moveTo>
                <a:lnTo>
                  <a:pt x="0" y="0"/>
                </a:lnTo>
                <a:lnTo>
                  <a:pt x="1" y="2"/>
                </a:lnTo>
                <a:lnTo>
                  <a:pt x="0" y="4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Freeform 73"/>
          <p:cNvSpPr/>
          <p:nvPr/>
        </p:nvSpPr>
        <p:spPr>
          <a:xfrm>
            <a:off x="4038600" y="1739900"/>
            <a:ext cx="596900" cy="266700"/>
          </a:xfrm>
          <a:custGeom>
            <a:avLst/>
            <a:gdLst/>
            <a:ahLst/>
            <a:cxnLst/>
            <a:rect l="l" t="t" r="r" b="b"/>
            <a:pathLst>
              <a:path w="47" h="21">
                <a:moveTo>
                  <a:pt x="43" y="0"/>
                </a:moveTo>
                <a:lnTo>
                  <a:pt x="4" y="0"/>
                </a:lnTo>
                <a:lnTo>
                  <a:pt x="3" y="0"/>
                </a:lnTo>
                <a:lnTo>
                  <a:pt x="2" y="1"/>
                </a:lnTo>
                <a:lnTo>
                  <a:pt x="1" y="1"/>
                </a:lnTo>
                <a:lnTo>
                  <a:pt x="1" y="2"/>
                </a:lnTo>
                <a:lnTo>
                  <a:pt x="0" y="2"/>
                </a:lnTo>
                <a:lnTo>
                  <a:pt x="0" y="3"/>
                </a:lnTo>
                <a:lnTo>
                  <a:pt x="0" y="4"/>
                </a:lnTo>
                <a:lnTo>
                  <a:pt x="0" y="4"/>
                </a:lnTo>
                <a:lnTo>
                  <a:pt x="0" y="17"/>
                </a:lnTo>
                <a:lnTo>
                  <a:pt x="0" y="18"/>
                </a:lnTo>
                <a:lnTo>
                  <a:pt x="0" y="18"/>
                </a:lnTo>
                <a:lnTo>
                  <a:pt x="0" y="19"/>
                </a:lnTo>
                <a:lnTo>
                  <a:pt x="1" y="20"/>
                </a:lnTo>
                <a:lnTo>
                  <a:pt x="1" y="20"/>
                </a:lnTo>
                <a:lnTo>
                  <a:pt x="2" y="20"/>
                </a:lnTo>
                <a:lnTo>
                  <a:pt x="3" y="21"/>
                </a:lnTo>
                <a:lnTo>
                  <a:pt x="4" y="21"/>
                </a:lnTo>
                <a:lnTo>
                  <a:pt x="43" y="21"/>
                </a:lnTo>
                <a:lnTo>
                  <a:pt x="44" y="21"/>
                </a:lnTo>
                <a:lnTo>
                  <a:pt x="45" y="20"/>
                </a:lnTo>
                <a:lnTo>
                  <a:pt x="45" y="20"/>
                </a:lnTo>
                <a:lnTo>
                  <a:pt x="46" y="20"/>
                </a:lnTo>
                <a:lnTo>
                  <a:pt x="46" y="19"/>
                </a:lnTo>
                <a:lnTo>
                  <a:pt x="47" y="18"/>
                </a:lnTo>
                <a:lnTo>
                  <a:pt x="47" y="18"/>
                </a:lnTo>
                <a:lnTo>
                  <a:pt x="47" y="17"/>
                </a:lnTo>
                <a:lnTo>
                  <a:pt x="47" y="4"/>
                </a:lnTo>
                <a:lnTo>
                  <a:pt x="47" y="4"/>
                </a:lnTo>
                <a:lnTo>
                  <a:pt x="47" y="3"/>
                </a:lnTo>
                <a:lnTo>
                  <a:pt x="46" y="2"/>
                </a:lnTo>
                <a:lnTo>
                  <a:pt x="46" y="2"/>
                </a:lnTo>
                <a:lnTo>
                  <a:pt x="45" y="1"/>
                </a:lnTo>
                <a:lnTo>
                  <a:pt x="45" y="1"/>
                </a:lnTo>
                <a:lnTo>
                  <a:pt x="44" y="0"/>
                </a:lnTo>
                <a:lnTo>
                  <a:pt x="43" y="0"/>
                </a:lnTo>
                <a:close/>
              </a:path>
            </a:pathLst>
          </a:custGeom>
          <a:solidFill>
            <a:srgbClr val="003373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Freeform 74"/>
          <p:cNvSpPr/>
          <p:nvPr/>
        </p:nvSpPr>
        <p:spPr>
          <a:xfrm>
            <a:off x="3987800" y="17907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1" y="0"/>
                </a:lnTo>
                <a:lnTo>
                  <a:pt x="1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Freeform 75"/>
          <p:cNvSpPr/>
          <p:nvPr/>
        </p:nvSpPr>
        <p:spPr>
          <a:xfrm>
            <a:off x="3987800" y="18542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0" y="0"/>
                </a:lnTo>
                <a:lnTo>
                  <a:pt x="1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Freeform 76"/>
          <p:cNvSpPr/>
          <p:nvPr/>
        </p:nvSpPr>
        <p:spPr>
          <a:xfrm>
            <a:off x="3987800" y="19177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8" name="Connector 77"/>
          <p:cNvCxnSpPr/>
          <p:nvPr/>
        </p:nvCxnSpPr>
        <p:spPr>
          <a:xfrm flipH="1">
            <a:off x="3967040" y="1176926"/>
            <a:ext cx="655586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3916429" y="1227537"/>
            <a:ext cx="0" cy="31689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3967040" y="1595041"/>
            <a:ext cx="655586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 flipV="1">
            <a:off x="4673237" y="1227537"/>
            <a:ext cx="0" cy="31689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 flipH="1">
            <a:off x="4028304" y="1729235"/>
            <a:ext cx="533057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3977693" y="1779846"/>
            <a:ext cx="0" cy="15482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4028304" y="1985281"/>
            <a:ext cx="533057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 flipV="1">
            <a:off x="4611972" y="1779846"/>
            <a:ext cx="0" cy="15482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4294833" y="1597571"/>
            <a:ext cx="0" cy="10382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Freeform 86"/>
          <p:cNvSpPr/>
          <p:nvPr/>
        </p:nvSpPr>
        <p:spPr>
          <a:xfrm>
            <a:off x="4279900" y="16891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0"/>
                </a:lnTo>
                <a:lnTo>
                  <a:pt x="1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8" name="Connector 87"/>
          <p:cNvCxnSpPr/>
          <p:nvPr/>
        </p:nvCxnSpPr>
        <p:spPr>
          <a:xfrm flipV="1">
            <a:off x="3483454" y="1143260"/>
            <a:ext cx="516532" cy="18681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>
            <a:off x="3483454" y="1614070"/>
            <a:ext cx="590049" cy="44848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Rectangle 89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2880004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2" name="Picture 9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93" name="Picture 9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94" name="TextBox 93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Genetic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algorithm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160868" y="1010084"/>
            <a:ext cx="4624527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Problem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formulation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2446311" y="999835"/>
            <a:ext cx="3339084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Initialisation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population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2756445" y="1412953"/>
            <a:ext cx="3028950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Reproduction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854718" y="1822948"/>
            <a:ext cx="2930677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Mutation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2422854" y="2218019"/>
            <a:ext cx="3362541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Replacement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population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034776" y="2225487"/>
            <a:ext cx="1750619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Termination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119435" y="1824522"/>
            <a:ext cx="1665960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FFFFFF"/>
                </a:solidFill>
                <a:latin typeface="Josefin Sans"/>
              </a:rPr>
              <a:t>Selection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008525" y="1257277"/>
            <a:ext cx="1776870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Selection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as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4002493" y="1396456"/>
            <a:ext cx="1782902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parent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pairs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4063758" y="1806450"/>
            <a:ext cx="1721637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Crossover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4898770" y="3150917"/>
            <a:ext cx="8866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616142" y="3150693"/>
            <a:ext cx="16925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30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H="1">
            <a:off x="2234447" y="997965"/>
            <a:ext cx="1233125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2183836" y="1048576"/>
            <a:ext cx="0" cy="23814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2234447" y="1337336"/>
            <a:ext cx="1233125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3518182" y="1048576"/>
            <a:ext cx="0" cy="23814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H="1">
            <a:off x="937714" y="1808673"/>
            <a:ext cx="684341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887103" y="1859284"/>
            <a:ext cx="0" cy="38528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937714" y="2295183"/>
            <a:ext cx="684341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1672665" y="1859284"/>
            <a:ext cx="0" cy="38528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H="1">
            <a:off x="1913849" y="1808673"/>
            <a:ext cx="826905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1863238" y="1859284"/>
            <a:ext cx="0" cy="38528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1913849" y="2295183"/>
            <a:ext cx="826905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2791364" y="1859284"/>
            <a:ext cx="0" cy="38528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H="1">
            <a:off x="2973181" y="1808673"/>
            <a:ext cx="80307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2922570" y="1859284"/>
            <a:ext cx="0" cy="38147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2973181" y="2291373"/>
            <a:ext cx="80307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3826866" y="1859284"/>
            <a:ext cx="0" cy="38147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H="1">
            <a:off x="4021982" y="1808673"/>
            <a:ext cx="800305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3971372" y="1859284"/>
            <a:ext cx="0" cy="38528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4021982" y="2295183"/>
            <a:ext cx="800305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V="1">
            <a:off x="4872898" y="1859284"/>
            <a:ext cx="0" cy="38528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Freeform 55"/>
          <p:cNvSpPr/>
          <p:nvPr/>
        </p:nvSpPr>
        <p:spPr>
          <a:xfrm>
            <a:off x="1320800" y="17399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0"/>
                </a:lnTo>
                <a:lnTo>
                  <a:pt x="1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2387600" y="17399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1"/>
                </a:lnTo>
                <a:lnTo>
                  <a:pt x="1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3276600" y="17399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2" y="3"/>
                </a:moveTo>
                <a:lnTo>
                  <a:pt x="3" y="0"/>
                </a:lnTo>
                <a:lnTo>
                  <a:pt x="2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4343400" y="17399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2" y="3"/>
                </a:moveTo>
                <a:lnTo>
                  <a:pt x="3" y="0"/>
                </a:ln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2880004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2" name="Picture 6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63" name="Picture 6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64" name="TextBox 63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Selection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288590" y="1095747"/>
            <a:ext cx="349680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Selection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operators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32458" y="1906439"/>
            <a:ext cx="475293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Random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31836" y="2078524"/>
            <a:ext cx="475355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selection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967991" y="1906439"/>
            <a:ext cx="381740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Proportional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079243" y="2078524"/>
            <a:ext cx="370615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selection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027311" y="1902629"/>
            <a:ext cx="275808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Tournament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126650" y="2074714"/>
            <a:ext cx="265874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selection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076102" y="1906439"/>
            <a:ext cx="170929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Rank-based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174045" y="2078524"/>
            <a:ext cx="161135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selection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898770" y="3150917"/>
            <a:ext cx="8866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639218" y="3150693"/>
            <a:ext cx="14617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31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H="1">
            <a:off x="2234447" y="997965"/>
            <a:ext cx="1233125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2183836" y="1048576"/>
            <a:ext cx="0" cy="23814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2234447" y="1337336"/>
            <a:ext cx="1233125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3518182" y="1048576"/>
            <a:ext cx="0" cy="23814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H="1">
            <a:off x="937714" y="1808673"/>
            <a:ext cx="684341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887103" y="1859284"/>
            <a:ext cx="0" cy="38528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937714" y="2295183"/>
            <a:ext cx="684341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1672665" y="1859284"/>
            <a:ext cx="0" cy="38528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H="1">
            <a:off x="1913849" y="1808673"/>
            <a:ext cx="826905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1863238" y="1859284"/>
            <a:ext cx="0" cy="38528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1913849" y="2295183"/>
            <a:ext cx="826905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2791364" y="1859284"/>
            <a:ext cx="0" cy="38528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H="1">
            <a:off x="2973181" y="1808673"/>
            <a:ext cx="80307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2922570" y="1859284"/>
            <a:ext cx="0" cy="38147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2973181" y="2291373"/>
            <a:ext cx="80307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3826866" y="1859284"/>
            <a:ext cx="0" cy="38147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H="1">
            <a:off x="4021982" y="1808673"/>
            <a:ext cx="800305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3971372" y="1859284"/>
            <a:ext cx="0" cy="38528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4021982" y="2295183"/>
            <a:ext cx="800305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V="1">
            <a:off x="4872898" y="1859284"/>
            <a:ext cx="0" cy="38528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Freeform 55"/>
          <p:cNvSpPr/>
          <p:nvPr/>
        </p:nvSpPr>
        <p:spPr>
          <a:xfrm>
            <a:off x="1320800" y="17399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0"/>
                </a:lnTo>
                <a:lnTo>
                  <a:pt x="1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2387600" y="17399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1"/>
                </a:lnTo>
                <a:lnTo>
                  <a:pt x="1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3276600" y="17399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2" y="3"/>
                </a:moveTo>
                <a:lnTo>
                  <a:pt x="3" y="0"/>
                </a:lnTo>
                <a:lnTo>
                  <a:pt x="2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4343400" y="17399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2" y="3"/>
                </a:moveTo>
                <a:lnTo>
                  <a:pt x="3" y="0"/>
                </a:ln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2880004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2" name="Picture 6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63" name="Picture 6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64" name="TextBox 63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Selection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288590" y="1095747"/>
            <a:ext cx="349680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Selection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operators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32458" y="1906439"/>
            <a:ext cx="475293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Random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31836" y="2078524"/>
            <a:ext cx="475355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selection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967991" y="1906439"/>
            <a:ext cx="381740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Proportional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079243" y="2078524"/>
            <a:ext cx="370615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selection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027311" y="1902629"/>
            <a:ext cx="275808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Tournament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126650" y="2074714"/>
            <a:ext cx="265874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selection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076102" y="1906439"/>
            <a:ext cx="170929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Rank-based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174045" y="2078524"/>
            <a:ext cx="161135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selection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898770" y="3150917"/>
            <a:ext cx="8866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639218" y="3150693"/>
            <a:ext cx="14617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31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H="1">
            <a:off x="2234447" y="997965"/>
            <a:ext cx="1233125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2183836" y="1048576"/>
            <a:ext cx="0" cy="23814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2234447" y="1337336"/>
            <a:ext cx="1233125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3518182" y="1048576"/>
            <a:ext cx="0" cy="23814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H="1">
            <a:off x="937714" y="1808673"/>
            <a:ext cx="684341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887103" y="1859284"/>
            <a:ext cx="0" cy="38528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937714" y="2295183"/>
            <a:ext cx="684341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1672665" y="1859284"/>
            <a:ext cx="0" cy="38528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H="1">
            <a:off x="1913849" y="1808673"/>
            <a:ext cx="826905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1863238" y="1859284"/>
            <a:ext cx="0" cy="38528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1913849" y="2295183"/>
            <a:ext cx="826905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2791364" y="1859284"/>
            <a:ext cx="0" cy="38528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H="1">
            <a:off x="2973181" y="1808673"/>
            <a:ext cx="80307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2922570" y="1859284"/>
            <a:ext cx="0" cy="38147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2973181" y="2291373"/>
            <a:ext cx="80307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3826866" y="1859284"/>
            <a:ext cx="0" cy="38147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H="1">
            <a:off x="4021982" y="1808673"/>
            <a:ext cx="800305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3971372" y="1859284"/>
            <a:ext cx="0" cy="38528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4021982" y="2295183"/>
            <a:ext cx="800305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V="1">
            <a:off x="4872898" y="1859284"/>
            <a:ext cx="0" cy="38528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Freeform 55"/>
          <p:cNvSpPr/>
          <p:nvPr/>
        </p:nvSpPr>
        <p:spPr>
          <a:xfrm>
            <a:off x="1320800" y="17399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0"/>
                </a:lnTo>
                <a:lnTo>
                  <a:pt x="1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2387600" y="17399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1"/>
                </a:lnTo>
                <a:lnTo>
                  <a:pt x="1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3276600" y="17399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2" y="3"/>
                </a:moveTo>
                <a:lnTo>
                  <a:pt x="3" y="0"/>
                </a:lnTo>
                <a:lnTo>
                  <a:pt x="2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4343400" y="17399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2" y="3"/>
                </a:moveTo>
                <a:lnTo>
                  <a:pt x="3" y="0"/>
                </a:ln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2880004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2" name="Picture 6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63" name="Picture 6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64" name="TextBox 63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Selection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288590" y="1095747"/>
            <a:ext cx="349680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Selection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operators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32458" y="1906439"/>
            <a:ext cx="475293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Random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31836" y="2078524"/>
            <a:ext cx="475355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selection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967991" y="1906439"/>
            <a:ext cx="381740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Proportional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079243" y="2078524"/>
            <a:ext cx="370615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selection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027311" y="1902629"/>
            <a:ext cx="275808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Tournament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126650" y="2074714"/>
            <a:ext cx="265874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selection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076102" y="1906439"/>
            <a:ext cx="170929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Rank-based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174045" y="2078524"/>
            <a:ext cx="161135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selection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898770" y="3150917"/>
            <a:ext cx="8866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639218" y="3150693"/>
            <a:ext cx="14617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31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H="1">
            <a:off x="2234447" y="997965"/>
            <a:ext cx="1233125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2183836" y="1048576"/>
            <a:ext cx="0" cy="23814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2234447" y="1337336"/>
            <a:ext cx="1233125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3518182" y="1048576"/>
            <a:ext cx="0" cy="23814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H="1">
            <a:off x="937714" y="1808673"/>
            <a:ext cx="684341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887103" y="1859284"/>
            <a:ext cx="0" cy="38528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937714" y="2295183"/>
            <a:ext cx="684341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1672665" y="1859284"/>
            <a:ext cx="0" cy="38528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H="1">
            <a:off x="1913849" y="1808673"/>
            <a:ext cx="826905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1863238" y="1859284"/>
            <a:ext cx="0" cy="38528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1913849" y="2295183"/>
            <a:ext cx="826905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2791364" y="1859284"/>
            <a:ext cx="0" cy="38528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H="1">
            <a:off x="2973181" y="1808673"/>
            <a:ext cx="80307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2922570" y="1859284"/>
            <a:ext cx="0" cy="38147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2973181" y="2291373"/>
            <a:ext cx="80307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3826866" y="1859284"/>
            <a:ext cx="0" cy="38147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H="1">
            <a:off x="4021982" y="1808673"/>
            <a:ext cx="800305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3971372" y="1859284"/>
            <a:ext cx="0" cy="38528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4021982" y="2295183"/>
            <a:ext cx="800305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V="1">
            <a:off x="4872898" y="1859284"/>
            <a:ext cx="0" cy="38528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Freeform 55"/>
          <p:cNvSpPr/>
          <p:nvPr/>
        </p:nvSpPr>
        <p:spPr>
          <a:xfrm>
            <a:off x="1320800" y="17399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0"/>
                </a:lnTo>
                <a:lnTo>
                  <a:pt x="1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2387600" y="17399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1"/>
                </a:lnTo>
                <a:lnTo>
                  <a:pt x="1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3276600" y="17399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2" y="3"/>
                </a:moveTo>
                <a:lnTo>
                  <a:pt x="3" y="0"/>
                </a:lnTo>
                <a:lnTo>
                  <a:pt x="2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4343400" y="17399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2" y="3"/>
                </a:moveTo>
                <a:lnTo>
                  <a:pt x="3" y="0"/>
                </a:ln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2880004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2" name="Picture 6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63" name="Picture 6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64" name="TextBox 63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Selection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288590" y="1095747"/>
            <a:ext cx="349680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Selection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operators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32458" y="1906439"/>
            <a:ext cx="475293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Random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31836" y="2078524"/>
            <a:ext cx="475355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selection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967991" y="1906439"/>
            <a:ext cx="381740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Proportional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079243" y="2078524"/>
            <a:ext cx="370615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selection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027311" y="1902629"/>
            <a:ext cx="275808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Tournament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126650" y="2074714"/>
            <a:ext cx="265874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selection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076102" y="1906439"/>
            <a:ext cx="170929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Rank-based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174045" y="2078524"/>
            <a:ext cx="161135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selection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898770" y="3150917"/>
            <a:ext cx="8866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639218" y="3150693"/>
            <a:ext cx="14617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31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H="1">
            <a:off x="2234447" y="997965"/>
            <a:ext cx="1233125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2183836" y="1048576"/>
            <a:ext cx="0" cy="23814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2234447" y="1337336"/>
            <a:ext cx="1233125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3518182" y="1048576"/>
            <a:ext cx="0" cy="23814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H="1">
            <a:off x="937714" y="1808673"/>
            <a:ext cx="684341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887103" y="1859284"/>
            <a:ext cx="0" cy="38528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937714" y="2295183"/>
            <a:ext cx="684341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1672665" y="1859284"/>
            <a:ext cx="0" cy="38528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H="1">
            <a:off x="1913849" y="1808673"/>
            <a:ext cx="826905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1863238" y="1859284"/>
            <a:ext cx="0" cy="38528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1913849" y="2295183"/>
            <a:ext cx="826905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2791364" y="1859284"/>
            <a:ext cx="0" cy="38528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H="1">
            <a:off x="2973181" y="1808673"/>
            <a:ext cx="80307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2922570" y="1859284"/>
            <a:ext cx="0" cy="38147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2973181" y="2291373"/>
            <a:ext cx="80307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3826866" y="1859284"/>
            <a:ext cx="0" cy="38147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H="1">
            <a:off x="4021982" y="1808673"/>
            <a:ext cx="800305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3971372" y="1859284"/>
            <a:ext cx="0" cy="38528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4021982" y="2295183"/>
            <a:ext cx="800305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V="1">
            <a:off x="4872898" y="1859284"/>
            <a:ext cx="0" cy="38528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Freeform 55"/>
          <p:cNvSpPr/>
          <p:nvPr/>
        </p:nvSpPr>
        <p:spPr>
          <a:xfrm>
            <a:off x="1320800" y="17399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0"/>
                </a:lnTo>
                <a:lnTo>
                  <a:pt x="1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2387600" y="17399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1"/>
                </a:lnTo>
                <a:lnTo>
                  <a:pt x="1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3276600" y="17399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2" y="3"/>
                </a:moveTo>
                <a:lnTo>
                  <a:pt x="3" y="0"/>
                </a:lnTo>
                <a:lnTo>
                  <a:pt x="2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4343400" y="17399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2" y="3"/>
                </a:moveTo>
                <a:lnTo>
                  <a:pt x="3" y="0"/>
                </a:ln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2880004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2" name="Picture 6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63" name="Picture 6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64" name="TextBox 63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Selection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288590" y="1095747"/>
            <a:ext cx="349680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Selection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operators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32458" y="1906439"/>
            <a:ext cx="475293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Random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31836" y="2078524"/>
            <a:ext cx="475355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selection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967991" y="1906439"/>
            <a:ext cx="381740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Proportional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079243" y="2078524"/>
            <a:ext cx="370615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selection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027311" y="1902629"/>
            <a:ext cx="275808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Tournament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126650" y="2074714"/>
            <a:ext cx="265874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selection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076102" y="1906439"/>
            <a:ext cx="170929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Rank-based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174045" y="2078524"/>
            <a:ext cx="161135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selection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898770" y="3150917"/>
            <a:ext cx="8866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639218" y="3150693"/>
            <a:ext cx="14617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31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28684990" y="-23772224"/>
            <a:ext cx="115949" cy="0"/>
          </a:xfrm>
          <a:prstGeom prst="line">
            <a:avLst/>
          </a:prstGeom>
          <a:ln w="553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tangle 36"/>
          <p:cNvSpPr/>
          <p:nvPr/>
        </p:nvSpPr>
        <p:spPr>
          <a:xfrm>
            <a:off x="0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880005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0" name="Picture 3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Selection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8000" y="359888"/>
            <a:ext cx="567739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1">
                <a:solidFill>
                  <a:srgbClr val="003373"/>
                </a:solidFill>
                <a:latin typeface="Josefin Sans"/>
              </a:rPr>
              <a:t>Random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selection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0056" y="1250262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simplest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operator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898771" y="3150919"/>
            <a:ext cx="88662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25021" y="3150695"/>
            <a:ext cx="16037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32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3284662" y="1628101"/>
            <a:ext cx="115951" cy="0"/>
          </a:xfrm>
          <a:prstGeom prst="line">
            <a:avLst/>
          </a:prstGeom>
          <a:ln w="553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tangle 36"/>
          <p:cNvSpPr/>
          <p:nvPr/>
        </p:nvSpPr>
        <p:spPr>
          <a:xfrm>
            <a:off x="-5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879999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0" name="Picture 3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Selection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8000" y="359888"/>
            <a:ext cx="567739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1">
                <a:solidFill>
                  <a:srgbClr val="003373"/>
                </a:solidFill>
                <a:latin typeface="Josefin Sans"/>
              </a:rPr>
              <a:t>Random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selection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0056" y="1250262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simplest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operator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0055" y="1508377"/>
            <a:ext cx="532534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each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individual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has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same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probability,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i.e.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315752" y="1529081"/>
            <a:ext cx="246964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284662" y="1552134"/>
            <a:ext cx="250073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n</a:t>
            </a:r>
            <a:r>
              <a:rPr sz="597" b="0">
                <a:solidFill>
                  <a:srgbClr val="000000"/>
                </a:solidFill>
                <a:latin typeface="Cambria Math"/>
              </a:rPr>
              <a:t>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where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n</a:t>
            </a:r>
            <a:r>
              <a:rPr sz="797" b="0">
                <a:solidFill>
                  <a:srgbClr val="000000"/>
                </a:solidFill>
                <a:latin typeface="Cambria Math"/>
              </a:rPr>
              <a:t>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population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size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898765" y="3150917"/>
            <a:ext cx="88663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25015" y="3150693"/>
            <a:ext cx="16038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32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3284662" y="1628101"/>
            <a:ext cx="115951" cy="0"/>
          </a:xfrm>
          <a:prstGeom prst="line">
            <a:avLst/>
          </a:prstGeom>
          <a:ln w="553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tangle 36"/>
          <p:cNvSpPr/>
          <p:nvPr/>
        </p:nvSpPr>
        <p:spPr>
          <a:xfrm>
            <a:off x="-5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879999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0" name="Picture 3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Selection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8000" y="359888"/>
            <a:ext cx="567739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1">
                <a:solidFill>
                  <a:srgbClr val="003373"/>
                </a:solidFill>
                <a:latin typeface="Josefin Sans"/>
              </a:rPr>
              <a:t>Random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selection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0056" y="1250262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simplest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operator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0055" y="1508377"/>
            <a:ext cx="532534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each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individual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has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same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probability,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i.e.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315752" y="1529081"/>
            <a:ext cx="246964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284662" y="1552134"/>
            <a:ext cx="250073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n</a:t>
            </a:r>
            <a:r>
              <a:rPr sz="597" b="0">
                <a:solidFill>
                  <a:srgbClr val="000000"/>
                </a:solidFill>
                <a:latin typeface="Cambria Math"/>
              </a:rPr>
              <a:t>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where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n</a:t>
            </a:r>
            <a:r>
              <a:rPr sz="797" b="0">
                <a:solidFill>
                  <a:srgbClr val="000000"/>
                </a:solidFill>
                <a:latin typeface="Cambria Math"/>
              </a:rPr>
              <a:t>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population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size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0054" y="1766491"/>
            <a:ext cx="532534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fitness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information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involved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898765" y="3150917"/>
            <a:ext cx="88663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625015" y="3150693"/>
            <a:ext cx="16038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32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28399888" y="-24306131"/>
            <a:ext cx="560769" cy="0"/>
          </a:xfrm>
          <a:prstGeom prst="line">
            <a:avLst/>
          </a:prstGeom>
          <a:ln w="553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tangle 36"/>
          <p:cNvSpPr/>
          <p:nvPr/>
        </p:nvSpPr>
        <p:spPr>
          <a:xfrm>
            <a:off x="0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880003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0" name="Picture 3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Selection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8000" y="359888"/>
            <a:ext cx="567739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1">
                <a:solidFill>
                  <a:srgbClr val="003373"/>
                </a:solidFill>
                <a:latin typeface="Josefin Sans"/>
              </a:rPr>
              <a:t>Proportional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selection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0056" y="590789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uses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fitness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each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individual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calculate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probability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that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individual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7094" y="806619"/>
            <a:ext cx="51483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selected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898770" y="3150919"/>
            <a:ext cx="8866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24257" y="3150695"/>
            <a:ext cx="16113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33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2999561" y="1094194"/>
            <a:ext cx="560768" cy="0"/>
          </a:xfrm>
          <a:prstGeom prst="line">
            <a:avLst/>
          </a:prstGeom>
          <a:ln w="553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tangle 36"/>
          <p:cNvSpPr/>
          <p:nvPr/>
        </p:nvSpPr>
        <p:spPr>
          <a:xfrm>
            <a:off x="0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880003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0" name="Picture 3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Selection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8000" y="359888"/>
            <a:ext cx="567739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1">
                <a:solidFill>
                  <a:srgbClr val="003373"/>
                </a:solidFill>
                <a:latin typeface="Josefin Sans"/>
              </a:rPr>
              <a:t>Proportional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selection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0056" y="590789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uses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fitness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each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individual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calculate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probability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that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individual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7094" y="806619"/>
            <a:ext cx="51483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selected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461576" y="1020549"/>
            <a:ext cx="332381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P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i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 =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110838" y="926823"/>
            <a:ext cx="267455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F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i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034956" y="1091909"/>
            <a:ext cx="275043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n</a:t>
            </a:r>
            <a:r>
              <a:rPr sz="597" b="0">
                <a:solidFill>
                  <a:srgbClr val="000000"/>
                </a:solidFill>
                <a:latin typeface="Cambria Math"/>
              </a:rPr>
              <a:t>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019817" y="1190411"/>
            <a:ext cx="276557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P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999561" y="1348513"/>
            <a:ext cx="278583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j</a:t>
            </a:r>
            <a:r>
              <a:rPr sz="797" b="0">
                <a:solidFill>
                  <a:srgbClr val="000000"/>
                </a:solidFill>
                <a:latin typeface="Cambria Math"/>
              </a:rPr>
              <a:t>=1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209403" y="1194704"/>
            <a:ext cx="257599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F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j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7094" y="1549087"/>
            <a:ext cx="51483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where,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369287" y="1860339"/>
            <a:ext cx="441610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P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probability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that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selected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369148" y="2070371"/>
            <a:ext cx="441624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F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scaled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fitness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706955" y="2280404"/>
            <a:ext cx="407844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(to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have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positive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value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fitness)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525205" y="2490437"/>
            <a:ext cx="426019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n</a:t>
            </a:r>
            <a:r>
              <a:rPr sz="797" b="0">
                <a:solidFill>
                  <a:srgbClr val="000000"/>
                </a:solidFill>
                <a:latin typeface="Cambria Math"/>
              </a:rPr>
              <a:t>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total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number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individuals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population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898770" y="3150919"/>
            <a:ext cx="8866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624257" y="3150695"/>
            <a:ext cx="16113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33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3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Selection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8000" y="359888"/>
            <a:ext cx="567739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1">
                <a:solidFill>
                  <a:srgbClr val="003373"/>
                </a:solidFill>
                <a:latin typeface="Josefin Sans"/>
              </a:rPr>
              <a:t>Tournament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selection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0056" y="1174011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selects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group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n</a:t>
            </a:r>
            <a:r>
              <a:rPr sz="797" b="0">
                <a:solidFill>
                  <a:srgbClr val="000000"/>
                </a:solidFill>
                <a:latin typeface="Cambria Math"/>
              </a:rPr>
              <a:t>ts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individuals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randomly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from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population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pick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best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7094" y="1389841"/>
            <a:ext cx="51483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individual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(individual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highest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fitness)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898770" y="3150917"/>
            <a:ext cx="8866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23813" y="3150693"/>
            <a:ext cx="16158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34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3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Selection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8000" y="359888"/>
            <a:ext cx="567739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1">
                <a:solidFill>
                  <a:srgbClr val="003373"/>
                </a:solidFill>
                <a:latin typeface="Josefin Sans"/>
              </a:rPr>
              <a:t>Tournament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selection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0056" y="1174011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selects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group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n</a:t>
            </a:r>
            <a:r>
              <a:rPr sz="797" b="0">
                <a:solidFill>
                  <a:srgbClr val="000000"/>
                </a:solidFill>
                <a:latin typeface="Cambria Math"/>
              </a:rPr>
              <a:t>ts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individuals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randomly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from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population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pick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best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7094" y="1389841"/>
            <a:ext cx="51483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individual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(individual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highest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fitness)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0056" y="1604198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repeats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until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desired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number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individuals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achieved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898770" y="3150917"/>
            <a:ext cx="8866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23813" y="3150693"/>
            <a:ext cx="16158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34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0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3" y="3146740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Selection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8000" y="359888"/>
            <a:ext cx="567739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1">
                <a:solidFill>
                  <a:srgbClr val="003373"/>
                </a:solidFill>
                <a:latin typeface="Josefin Sans"/>
              </a:rPr>
              <a:t>Tournament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selection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0056" y="1174011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selects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group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n</a:t>
            </a:r>
            <a:r>
              <a:rPr sz="797" b="0">
                <a:solidFill>
                  <a:srgbClr val="000000"/>
                </a:solidFill>
                <a:latin typeface="Cambria Math"/>
              </a:rPr>
              <a:t>ts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individuals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randomly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from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population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pick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best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7094" y="1389841"/>
            <a:ext cx="51483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individual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(individual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highest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fitness)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0056" y="1604198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repeats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until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desired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number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individuals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achieved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0057" y="1862299"/>
            <a:ext cx="532533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n</a:t>
            </a:r>
            <a:r>
              <a:rPr sz="797" b="0">
                <a:solidFill>
                  <a:srgbClr val="000000"/>
                </a:solidFill>
                <a:latin typeface="Cambria Math"/>
              </a:rPr>
              <a:t>ts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affects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how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much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best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individual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dominates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selection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result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98770" y="3150915"/>
            <a:ext cx="8866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623813" y="3150691"/>
            <a:ext cx="16158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34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39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3" y="3146739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Selection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8000" y="359888"/>
            <a:ext cx="567739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1">
                <a:solidFill>
                  <a:srgbClr val="003373"/>
                </a:solidFill>
                <a:latin typeface="Josefin Sans"/>
              </a:rPr>
              <a:t>Rank-based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selection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0056" y="1276474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individuals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ranked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according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their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fitness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(in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decreasing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order)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98770" y="3150915"/>
            <a:ext cx="8866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23127" y="3150691"/>
            <a:ext cx="16226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35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3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Selection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8000" y="359888"/>
            <a:ext cx="567739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1">
                <a:solidFill>
                  <a:srgbClr val="003373"/>
                </a:solidFill>
                <a:latin typeface="Josefin Sans"/>
              </a:rPr>
              <a:t>Rank-based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selection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0056" y="1276474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individuals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ranked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according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their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fitness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(in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decreasing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order)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0055" y="1534589"/>
            <a:ext cx="532534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probability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selecting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individual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calculated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based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its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rank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(instead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7093" y="1750419"/>
            <a:ext cx="51483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its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actual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fitness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value)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898770" y="3150918"/>
            <a:ext cx="8866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23127" y="3150694"/>
            <a:ext cx="16226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35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27603000" y="-24078536"/>
            <a:ext cx="189762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27789602" y="-24078536"/>
            <a:ext cx="42534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27828971" y="-24078536"/>
            <a:ext cx="347978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28173777" y="-24078536"/>
            <a:ext cx="42534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28213158" y="-24078536"/>
            <a:ext cx="128805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28338788" y="-24078536"/>
            <a:ext cx="42533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28378159" y="-24078536"/>
            <a:ext cx="331496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28706489" y="-24078536"/>
            <a:ext cx="42534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28745860" y="-24078536"/>
            <a:ext cx="189762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28932463" y="-24078536"/>
            <a:ext cx="42534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28971831" y="-24078536"/>
            <a:ext cx="247675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29216331" y="-24078536"/>
            <a:ext cx="42534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29255702" y="-24078536"/>
            <a:ext cx="129211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29378600" y="-24078536"/>
            <a:ext cx="108012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29480290" y="-24078536"/>
            <a:ext cx="225363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29702487" y="-24078536"/>
            <a:ext cx="42534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29741859" y="-24078536"/>
            <a:ext cx="191972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29930669" y="-24078536"/>
            <a:ext cx="42534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29970040" y="-24078536"/>
            <a:ext cx="138227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30101942" y="-24078536"/>
            <a:ext cx="276073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30374852" y="-24078536"/>
            <a:ext cx="42534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30414221" y="-24078536"/>
            <a:ext cx="189762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25757158" y="-23906450"/>
            <a:ext cx="144729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25895574" y="-23906450"/>
            <a:ext cx="195162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26087573" y="-23906450"/>
            <a:ext cx="42534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26126944" y="-23906450"/>
            <a:ext cx="233961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26354564" y="-23906450"/>
            <a:ext cx="76849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26425087" y="-23906450"/>
            <a:ext cx="114948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26533710" y="-23906450"/>
            <a:ext cx="225363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Freeform 64"/>
          <p:cNvSpPr/>
          <p:nvPr/>
        </p:nvSpPr>
        <p:spPr>
          <a:xfrm>
            <a:off x="28219400" y="-23418800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0" h="10">
                <a:moveTo>
                  <a:pt x="10" y="5"/>
                </a:moveTo>
                <a:lnTo>
                  <a:pt x="10" y="4"/>
                </a:lnTo>
                <a:lnTo>
                  <a:pt x="10" y="3"/>
                </a:lnTo>
                <a:lnTo>
                  <a:pt x="9" y="2"/>
                </a:lnTo>
                <a:lnTo>
                  <a:pt x="8" y="1"/>
                </a:lnTo>
                <a:lnTo>
                  <a:pt x="8" y="1"/>
                </a:lnTo>
                <a:lnTo>
                  <a:pt x="7" y="0"/>
                </a:lnTo>
                <a:lnTo>
                  <a:pt x="6" y="0"/>
                </a:lnTo>
                <a:lnTo>
                  <a:pt x="5" y="0"/>
                </a:lnTo>
                <a:lnTo>
                  <a:pt x="4" y="0"/>
                </a:lnTo>
                <a:lnTo>
                  <a:pt x="3" y="0"/>
                </a:lnTo>
                <a:lnTo>
                  <a:pt x="2" y="1"/>
                </a:lnTo>
                <a:lnTo>
                  <a:pt x="1" y="1"/>
                </a:lnTo>
                <a:lnTo>
                  <a:pt x="1" y="2"/>
                </a:lnTo>
                <a:lnTo>
                  <a:pt x="0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0" y="7"/>
                </a:lnTo>
                <a:lnTo>
                  <a:pt x="1" y="8"/>
                </a:lnTo>
                <a:lnTo>
                  <a:pt x="1" y="8"/>
                </a:lnTo>
                <a:lnTo>
                  <a:pt x="2" y="9"/>
                </a:lnTo>
                <a:lnTo>
                  <a:pt x="3" y="10"/>
                </a:lnTo>
                <a:lnTo>
                  <a:pt x="4" y="10"/>
                </a:lnTo>
                <a:lnTo>
                  <a:pt x="5" y="10"/>
                </a:lnTo>
                <a:lnTo>
                  <a:pt x="6" y="10"/>
                </a:lnTo>
                <a:lnTo>
                  <a:pt x="7" y="10"/>
                </a:lnTo>
                <a:lnTo>
                  <a:pt x="8" y="9"/>
                </a:lnTo>
                <a:lnTo>
                  <a:pt x="8" y="8"/>
                </a:lnTo>
                <a:lnTo>
                  <a:pt x="9" y="8"/>
                </a:lnTo>
                <a:lnTo>
                  <a:pt x="10" y="7"/>
                </a:lnTo>
                <a:lnTo>
                  <a:pt x="10" y="6"/>
                </a:lnTo>
                <a:lnTo>
                  <a:pt x="10" y="5"/>
                </a:lnTo>
                <a:close/>
              </a:path>
            </a:pathLst>
          </a:custGeom>
          <a:solidFill>
            <a:srgbClr val="F443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Freeform 65"/>
          <p:cNvSpPr/>
          <p:nvPr/>
        </p:nvSpPr>
        <p:spPr>
          <a:xfrm>
            <a:off x="28524200" y="-23609300"/>
            <a:ext cx="127000" cy="139700"/>
          </a:xfrm>
          <a:custGeom>
            <a:avLst/>
            <a:gdLst/>
            <a:ahLst/>
            <a:cxnLst/>
            <a:rect l="l" t="t" r="r" b="b"/>
            <a:pathLst>
              <a:path w="10" h="11">
                <a:moveTo>
                  <a:pt x="10" y="6"/>
                </a:moveTo>
                <a:lnTo>
                  <a:pt x="10" y="5"/>
                </a:lnTo>
                <a:lnTo>
                  <a:pt x="10" y="4"/>
                </a:lnTo>
                <a:lnTo>
                  <a:pt x="10" y="3"/>
                </a:lnTo>
                <a:lnTo>
                  <a:pt x="9" y="2"/>
                </a:lnTo>
                <a:lnTo>
                  <a:pt x="8" y="1"/>
                </a:lnTo>
                <a:lnTo>
                  <a:pt x="7" y="1"/>
                </a:lnTo>
                <a:lnTo>
                  <a:pt x="6" y="1"/>
                </a:lnTo>
                <a:lnTo>
                  <a:pt x="5" y="0"/>
                </a:lnTo>
                <a:lnTo>
                  <a:pt x="4" y="1"/>
                </a:lnTo>
                <a:lnTo>
                  <a:pt x="3" y="1"/>
                </a:lnTo>
                <a:lnTo>
                  <a:pt x="2" y="1"/>
                </a:lnTo>
                <a:lnTo>
                  <a:pt x="2" y="2"/>
                </a:lnTo>
                <a:lnTo>
                  <a:pt x="1" y="3"/>
                </a:lnTo>
                <a:lnTo>
                  <a:pt x="1" y="4"/>
                </a:lnTo>
                <a:lnTo>
                  <a:pt x="0" y="5"/>
                </a:lnTo>
                <a:lnTo>
                  <a:pt x="0" y="6"/>
                </a:lnTo>
                <a:lnTo>
                  <a:pt x="0" y="7"/>
                </a:lnTo>
                <a:lnTo>
                  <a:pt x="1" y="8"/>
                </a:lnTo>
                <a:lnTo>
                  <a:pt x="1" y="8"/>
                </a:lnTo>
                <a:lnTo>
                  <a:pt x="2" y="9"/>
                </a:lnTo>
                <a:lnTo>
                  <a:pt x="2" y="10"/>
                </a:lnTo>
                <a:lnTo>
                  <a:pt x="3" y="10"/>
                </a:lnTo>
                <a:lnTo>
                  <a:pt x="4" y="11"/>
                </a:lnTo>
                <a:lnTo>
                  <a:pt x="5" y="11"/>
                </a:lnTo>
                <a:lnTo>
                  <a:pt x="6" y="11"/>
                </a:lnTo>
                <a:lnTo>
                  <a:pt x="7" y="10"/>
                </a:lnTo>
                <a:lnTo>
                  <a:pt x="8" y="10"/>
                </a:lnTo>
                <a:lnTo>
                  <a:pt x="9" y="9"/>
                </a:lnTo>
                <a:lnTo>
                  <a:pt x="10" y="8"/>
                </a:lnTo>
                <a:lnTo>
                  <a:pt x="10" y="8"/>
                </a:lnTo>
                <a:lnTo>
                  <a:pt x="10" y="7"/>
                </a:lnTo>
                <a:lnTo>
                  <a:pt x="10" y="6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Freeform 66"/>
          <p:cNvSpPr/>
          <p:nvPr/>
        </p:nvSpPr>
        <p:spPr>
          <a:xfrm>
            <a:off x="28219400" y="-23787100"/>
            <a:ext cx="127000" cy="139700"/>
          </a:xfrm>
          <a:custGeom>
            <a:avLst/>
            <a:gdLst/>
            <a:ahLst/>
            <a:cxnLst/>
            <a:rect l="l" t="t" r="r" b="b"/>
            <a:pathLst>
              <a:path w="10" h="11">
                <a:moveTo>
                  <a:pt x="10" y="5"/>
                </a:moveTo>
                <a:lnTo>
                  <a:pt x="10" y="4"/>
                </a:lnTo>
                <a:lnTo>
                  <a:pt x="10" y="3"/>
                </a:lnTo>
                <a:lnTo>
                  <a:pt x="9" y="3"/>
                </a:lnTo>
                <a:lnTo>
                  <a:pt x="8" y="2"/>
                </a:lnTo>
                <a:lnTo>
                  <a:pt x="8" y="1"/>
                </a:lnTo>
                <a:lnTo>
                  <a:pt x="7" y="1"/>
                </a:lnTo>
                <a:lnTo>
                  <a:pt x="6" y="0"/>
                </a:lnTo>
                <a:lnTo>
                  <a:pt x="5" y="0"/>
                </a:lnTo>
                <a:lnTo>
                  <a:pt x="4" y="0"/>
                </a:lnTo>
                <a:lnTo>
                  <a:pt x="3" y="1"/>
                </a:lnTo>
                <a:lnTo>
                  <a:pt x="2" y="1"/>
                </a:lnTo>
                <a:lnTo>
                  <a:pt x="1" y="2"/>
                </a:lnTo>
                <a:lnTo>
                  <a:pt x="1" y="3"/>
                </a:lnTo>
                <a:lnTo>
                  <a:pt x="0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0" y="7"/>
                </a:lnTo>
                <a:lnTo>
                  <a:pt x="1" y="8"/>
                </a:lnTo>
                <a:lnTo>
                  <a:pt x="1" y="9"/>
                </a:lnTo>
                <a:lnTo>
                  <a:pt x="2" y="10"/>
                </a:lnTo>
                <a:lnTo>
                  <a:pt x="3" y="10"/>
                </a:lnTo>
                <a:lnTo>
                  <a:pt x="4" y="10"/>
                </a:lnTo>
                <a:lnTo>
                  <a:pt x="5" y="11"/>
                </a:lnTo>
                <a:lnTo>
                  <a:pt x="6" y="10"/>
                </a:lnTo>
                <a:lnTo>
                  <a:pt x="7" y="10"/>
                </a:lnTo>
                <a:lnTo>
                  <a:pt x="8" y="10"/>
                </a:lnTo>
                <a:lnTo>
                  <a:pt x="8" y="9"/>
                </a:lnTo>
                <a:lnTo>
                  <a:pt x="9" y="8"/>
                </a:lnTo>
                <a:lnTo>
                  <a:pt x="10" y="7"/>
                </a:lnTo>
                <a:lnTo>
                  <a:pt x="10" y="6"/>
                </a:lnTo>
                <a:lnTo>
                  <a:pt x="10" y="5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Freeform 67"/>
          <p:cNvSpPr/>
          <p:nvPr/>
        </p:nvSpPr>
        <p:spPr>
          <a:xfrm>
            <a:off x="27901900" y="-23609300"/>
            <a:ext cx="127000" cy="139700"/>
          </a:xfrm>
          <a:custGeom>
            <a:avLst/>
            <a:gdLst/>
            <a:ahLst/>
            <a:cxnLst/>
            <a:rect l="l" t="t" r="r" b="b"/>
            <a:pathLst>
              <a:path w="10" h="11">
                <a:moveTo>
                  <a:pt x="10" y="6"/>
                </a:moveTo>
                <a:lnTo>
                  <a:pt x="10" y="5"/>
                </a:lnTo>
                <a:lnTo>
                  <a:pt x="10" y="4"/>
                </a:lnTo>
                <a:lnTo>
                  <a:pt x="10" y="3"/>
                </a:lnTo>
                <a:lnTo>
                  <a:pt x="9" y="2"/>
                </a:lnTo>
                <a:lnTo>
                  <a:pt x="8" y="1"/>
                </a:lnTo>
                <a:lnTo>
                  <a:pt x="7" y="1"/>
                </a:lnTo>
                <a:lnTo>
                  <a:pt x="6" y="1"/>
                </a:lnTo>
                <a:lnTo>
                  <a:pt x="5" y="0"/>
                </a:lnTo>
                <a:lnTo>
                  <a:pt x="4" y="1"/>
                </a:lnTo>
                <a:lnTo>
                  <a:pt x="3" y="1"/>
                </a:lnTo>
                <a:lnTo>
                  <a:pt x="2" y="1"/>
                </a:lnTo>
                <a:lnTo>
                  <a:pt x="2" y="2"/>
                </a:lnTo>
                <a:lnTo>
                  <a:pt x="1" y="3"/>
                </a:lnTo>
                <a:lnTo>
                  <a:pt x="1" y="4"/>
                </a:lnTo>
                <a:lnTo>
                  <a:pt x="0" y="5"/>
                </a:lnTo>
                <a:lnTo>
                  <a:pt x="0" y="6"/>
                </a:lnTo>
                <a:lnTo>
                  <a:pt x="0" y="7"/>
                </a:lnTo>
                <a:lnTo>
                  <a:pt x="1" y="8"/>
                </a:lnTo>
                <a:lnTo>
                  <a:pt x="1" y="8"/>
                </a:lnTo>
                <a:lnTo>
                  <a:pt x="2" y="9"/>
                </a:lnTo>
                <a:lnTo>
                  <a:pt x="2" y="10"/>
                </a:lnTo>
                <a:lnTo>
                  <a:pt x="3" y="10"/>
                </a:lnTo>
                <a:lnTo>
                  <a:pt x="4" y="11"/>
                </a:lnTo>
                <a:lnTo>
                  <a:pt x="5" y="11"/>
                </a:lnTo>
                <a:lnTo>
                  <a:pt x="6" y="11"/>
                </a:lnTo>
                <a:lnTo>
                  <a:pt x="7" y="10"/>
                </a:lnTo>
                <a:lnTo>
                  <a:pt x="8" y="10"/>
                </a:lnTo>
                <a:lnTo>
                  <a:pt x="9" y="9"/>
                </a:lnTo>
                <a:lnTo>
                  <a:pt x="10" y="8"/>
                </a:lnTo>
                <a:lnTo>
                  <a:pt x="10" y="8"/>
                </a:lnTo>
                <a:lnTo>
                  <a:pt x="10" y="7"/>
                </a:lnTo>
                <a:lnTo>
                  <a:pt x="10" y="6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Freeform 68"/>
          <p:cNvSpPr/>
          <p:nvPr/>
        </p:nvSpPr>
        <p:spPr>
          <a:xfrm>
            <a:off x="27901900" y="-23241000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0" h="10">
                <a:moveTo>
                  <a:pt x="10" y="5"/>
                </a:moveTo>
                <a:lnTo>
                  <a:pt x="10" y="4"/>
                </a:lnTo>
                <a:lnTo>
                  <a:pt x="10" y="3"/>
                </a:lnTo>
                <a:lnTo>
                  <a:pt x="10" y="2"/>
                </a:lnTo>
                <a:lnTo>
                  <a:pt x="9" y="1"/>
                </a:lnTo>
                <a:lnTo>
                  <a:pt x="8" y="1"/>
                </a:lnTo>
                <a:lnTo>
                  <a:pt x="7" y="0"/>
                </a:lnTo>
                <a:lnTo>
                  <a:pt x="6" y="0"/>
                </a:lnTo>
                <a:lnTo>
                  <a:pt x="5" y="0"/>
                </a:lnTo>
                <a:lnTo>
                  <a:pt x="4" y="0"/>
                </a:lnTo>
                <a:lnTo>
                  <a:pt x="3" y="0"/>
                </a:lnTo>
                <a:lnTo>
                  <a:pt x="2" y="1"/>
                </a:lnTo>
                <a:lnTo>
                  <a:pt x="2" y="1"/>
                </a:lnTo>
                <a:lnTo>
                  <a:pt x="1" y="2"/>
                </a:lnTo>
                <a:lnTo>
                  <a:pt x="1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1" y="7"/>
                </a:lnTo>
                <a:lnTo>
                  <a:pt x="1" y="8"/>
                </a:lnTo>
                <a:lnTo>
                  <a:pt x="2" y="9"/>
                </a:lnTo>
                <a:lnTo>
                  <a:pt x="2" y="9"/>
                </a:lnTo>
                <a:lnTo>
                  <a:pt x="3" y="10"/>
                </a:lnTo>
                <a:lnTo>
                  <a:pt x="4" y="10"/>
                </a:lnTo>
                <a:lnTo>
                  <a:pt x="5" y="10"/>
                </a:lnTo>
                <a:lnTo>
                  <a:pt x="6" y="10"/>
                </a:lnTo>
                <a:lnTo>
                  <a:pt x="7" y="10"/>
                </a:lnTo>
                <a:lnTo>
                  <a:pt x="8" y="9"/>
                </a:lnTo>
                <a:lnTo>
                  <a:pt x="9" y="9"/>
                </a:lnTo>
                <a:lnTo>
                  <a:pt x="10" y="8"/>
                </a:lnTo>
                <a:lnTo>
                  <a:pt x="10" y="7"/>
                </a:lnTo>
                <a:lnTo>
                  <a:pt x="10" y="6"/>
                </a:lnTo>
                <a:lnTo>
                  <a:pt x="10" y="5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Freeform 69"/>
          <p:cNvSpPr/>
          <p:nvPr/>
        </p:nvSpPr>
        <p:spPr>
          <a:xfrm>
            <a:off x="28219400" y="-23063200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0" h="10">
                <a:moveTo>
                  <a:pt x="10" y="5"/>
                </a:moveTo>
                <a:lnTo>
                  <a:pt x="10" y="4"/>
                </a:lnTo>
                <a:lnTo>
                  <a:pt x="10" y="3"/>
                </a:lnTo>
                <a:lnTo>
                  <a:pt x="9" y="2"/>
                </a:lnTo>
                <a:lnTo>
                  <a:pt x="8" y="1"/>
                </a:lnTo>
                <a:lnTo>
                  <a:pt x="8" y="1"/>
                </a:lnTo>
                <a:lnTo>
                  <a:pt x="7" y="0"/>
                </a:lnTo>
                <a:lnTo>
                  <a:pt x="6" y="0"/>
                </a:lnTo>
                <a:lnTo>
                  <a:pt x="5" y="0"/>
                </a:lnTo>
                <a:lnTo>
                  <a:pt x="4" y="0"/>
                </a:lnTo>
                <a:lnTo>
                  <a:pt x="3" y="0"/>
                </a:lnTo>
                <a:lnTo>
                  <a:pt x="2" y="1"/>
                </a:lnTo>
                <a:lnTo>
                  <a:pt x="1" y="1"/>
                </a:lnTo>
                <a:lnTo>
                  <a:pt x="1" y="2"/>
                </a:lnTo>
                <a:lnTo>
                  <a:pt x="0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0" y="7"/>
                </a:lnTo>
                <a:lnTo>
                  <a:pt x="1" y="8"/>
                </a:lnTo>
                <a:lnTo>
                  <a:pt x="1" y="9"/>
                </a:lnTo>
                <a:lnTo>
                  <a:pt x="2" y="9"/>
                </a:lnTo>
                <a:lnTo>
                  <a:pt x="3" y="10"/>
                </a:lnTo>
                <a:lnTo>
                  <a:pt x="4" y="10"/>
                </a:lnTo>
                <a:lnTo>
                  <a:pt x="5" y="10"/>
                </a:lnTo>
                <a:lnTo>
                  <a:pt x="6" y="10"/>
                </a:lnTo>
                <a:lnTo>
                  <a:pt x="7" y="10"/>
                </a:lnTo>
                <a:lnTo>
                  <a:pt x="8" y="9"/>
                </a:lnTo>
                <a:lnTo>
                  <a:pt x="8" y="9"/>
                </a:lnTo>
                <a:lnTo>
                  <a:pt x="9" y="8"/>
                </a:lnTo>
                <a:lnTo>
                  <a:pt x="10" y="7"/>
                </a:lnTo>
                <a:lnTo>
                  <a:pt x="10" y="6"/>
                </a:lnTo>
                <a:lnTo>
                  <a:pt x="10" y="5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Freeform 70"/>
          <p:cNvSpPr/>
          <p:nvPr/>
        </p:nvSpPr>
        <p:spPr>
          <a:xfrm>
            <a:off x="28524200" y="-23241000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0" h="10">
                <a:moveTo>
                  <a:pt x="10" y="5"/>
                </a:moveTo>
                <a:lnTo>
                  <a:pt x="10" y="4"/>
                </a:lnTo>
                <a:lnTo>
                  <a:pt x="10" y="3"/>
                </a:lnTo>
                <a:lnTo>
                  <a:pt x="10" y="2"/>
                </a:lnTo>
                <a:lnTo>
                  <a:pt x="9" y="1"/>
                </a:lnTo>
                <a:lnTo>
                  <a:pt x="8" y="1"/>
                </a:lnTo>
                <a:lnTo>
                  <a:pt x="7" y="0"/>
                </a:lnTo>
                <a:lnTo>
                  <a:pt x="6" y="0"/>
                </a:lnTo>
                <a:lnTo>
                  <a:pt x="5" y="0"/>
                </a:lnTo>
                <a:lnTo>
                  <a:pt x="4" y="0"/>
                </a:lnTo>
                <a:lnTo>
                  <a:pt x="3" y="0"/>
                </a:lnTo>
                <a:lnTo>
                  <a:pt x="2" y="1"/>
                </a:lnTo>
                <a:lnTo>
                  <a:pt x="2" y="1"/>
                </a:lnTo>
                <a:lnTo>
                  <a:pt x="1" y="2"/>
                </a:lnTo>
                <a:lnTo>
                  <a:pt x="1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1" y="7"/>
                </a:lnTo>
                <a:lnTo>
                  <a:pt x="1" y="8"/>
                </a:lnTo>
                <a:lnTo>
                  <a:pt x="2" y="9"/>
                </a:lnTo>
                <a:lnTo>
                  <a:pt x="2" y="9"/>
                </a:lnTo>
                <a:lnTo>
                  <a:pt x="3" y="10"/>
                </a:lnTo>
                <a:lnTo>
                  <a:pt x="4" y="10"/>
                </a:lnTo>
                <a:lnTo>
                  <a:pt x="5" y="10"/>
                </a:lnTo>
                <a:lnTo>
                  <a:pt x="6" y="10"/>
                </a:lnTo>
                <a:lnTo>
                  <a:pt x="7" y="10"/>
                </a:lnTo>
                <a:lnTo>
                  <a:pt x="8" y="9"/>
                </a:lnTo>
                <a:lnTo>
                  <a:pt x="9" y="9"/>
                </a:lnTo>
                <a:lnTo>
                  <a:pt x="10" y="8"/>
                </a:lnTo>
                <a:lnTo>
                  <a:pt x="10" y="7"/>
                </a:lnTo>
                <a:lnTo>
                  <a:pt x="10" y="6"/>
                </a:lnTo>
                <a:lnTo>
                  <a:pt x="10" y="5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Freeform 71"/>
          <p:cNvSpPr/>
          <p:nvPr/>
        </p:nvSpPr>
        <p:spPr>
          <a:xfrm>
            <a:off x="28600400" y="-23799800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0" h="10">
                <a:moveTo>
                  <a:pt x="10" y="5"/>
                </a:moveTo>
                <a:lnTo>
                  <a:pt x="10" y="4"/>
                </a:lnTo>
                <a:lnTo>
                  <a:pt x="10" y="3"/>
                </a:lnTo>
                <a:lnTo>
                  <a:pt x="9" y="2"/>
                </a:lnTo>
                <a:lnTo>
                  <a:pt x="8" y="1"/>
                </a:lnTo>
                <a:lnTo>
                  <a:pt x="8" y="0"/>
                </a:lnTo>
                <a:lnTo>
                  <a:pt x="7" y="0"/>
                </a:lnTo>
                <a:lnTo>
                  <a:pt x="6" y="0"/>
                </a:lnTo>
                <a:lnTo>
                  <a:pt x="5" y="0"/>
                </a:lnTo>
                <a:lnTo>
                  <a:pt x="4" y="0"/>
                </a:lnTo>
                <a:lnTo>
                  <a:pt x="3" y="0"/>
                </a:lnTo>
                <a:lnTo>
                  <a:pt x="2" y="0"/>
                </a:lnTo>
                <a:lnTo>
                  <a:pt x="1" y="1"/>
                </a:lnTo>
                <a:lnTo>
                  <a:pt x="1" y="2"/>
                </a:lnTo>
                <a:lnTo>
                  <a:pt x="0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0" y="7"/>
                </a:lnTo>
                <a:lnTo>
                  <a:pt x="1" y="8"/>
                </a:lnTo>
                <a:lnTo>
                  <a:pt x="1" y="8"/>
                </a:lnTo>
                <a:lnTo>
                  <a:pt x="2" y="9"/>
                </a:lnTo>
                <a:lnTo>
                  <a:pt x="3" y="9"/>
                </a:lnTo>
                <a:lnTo>
                  <a:pt x="4" y="10"/>
                </a:lnTo>
                <a:lnTo>
                  <a:pt x="5" y="10"/>
                </a:lnTo>
                <a:lnTo>
                  <a:pt x="6" y="10"/>
                </a:lnTo>
                <a:lnTo>
                  <a:pt x="7" y="9"/>
                </a:lnTo>
                <a:lnTo>
                  <a:pt x="8" y="9"/>
                </a:lnTo>
                <a:lnTo>
                  <a:pt x="8" y="8"/>
                </a:lnTo>
                <a:lnTo>
                  <a:pt x="9" y="8"/>
                </a:lnTo>
                <a:lnTo>
                  <a:pt x="10" y="7"/>
                </a:lnTo>
                <a:lnTo>
                  <a:pt x="10" y="6"/>
                </a:lnTo>
                <a:lnTo>
                  <a:pt x="10" y="5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Freeform 72"/>
          <p:cNvSpPr/>
          <p:nvPr/>
        </p:nvSpPr>
        <p:spPr>
          <a:xfrm>
            <a:off x="27838400" y="-23799800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0" h="10">
                <a:moveTo>
                  <a:pt x="10" y="5"/>
                </a:moveTo>
                <a:lnTo>
                  <a:pt x="10" y="4"/>
                </a:lnTo>
                <a:lnTo>
                  <a:pt x="9" y="3"/>
                </a:lnTo>
                <a:lnTo>
                  <a:pt x="9" y="2"/>
                </a:lnTo>
                <a:lnTo>
                  <a:pt x="8" y="1"/>
                </a:lnTo>
                <a:lnTo>
                  <a:pt x="8" y="0"/>
                </a:lnTo>
                <a:lnTo>
                  <a:pt x="7" y="0"/>
                </a:lnTo>
                <a:lnTo>
                  <a:pt x="6" y="0"/>
                </a:lnTo>
                <a:lnTo>
                  <a:pt x="5" y="0"/>
                </a:lnTo>
                <a:lnTo>
                  <a:pt x="4" y="0"/>
                </a:lnTo>
                <a:lnTo>
                  <a:pt x="3" y="0"/>
                </a:lnTo>
                <a:lnTo>
                  <a:pt x="2" y="0"/>
                </a:lnTo>
                <a:lnTo>
                  <a:pt x="1" y="1"/>
                </a:lnTo>
                <a:lnTo>
                  <a:pt x="0" y="2"/>
                </a:lnTo>
                <a:lnTo>
                  <a:pt x="0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0" y="7"/>
                </a:lnTo>
                <a:lnTo>
                  <a:pt x="0" y="8"/>
                </a:lnTo>
                <a:lnTo>
                  <a:pt x="1" y="8"/>
                </a:lnTo>
                <a:lnTo>
                  <a:pt x="2" y="9"/>
                </a:lnTo>
                <a:lnTo>
                  <a:pt x="3" y="9"/>
                </a:lnTo>
                <a:lnTo>
                  <a:pt x="4" y="10"/>
                </a:lnTo>
                <a:lnTo>
                  <a:pt x="5" y="10"/>
                </a:lnTo>
                <a:lnTo>
                  <a:pt x="6" y="10"/>
                </a:lnTo>
                <a:lnTo>
                  <a:pt x="7" y="9"/>
                </a:lnTo>
                <a:lnTo>
                  <a:pt x="8" y="9"/>
                </a:lnTo>
                <a:lnTo>
                  <a:pt x="8" y="8"/>
                </a:lnTo>
                <a:lnTo>
                  <a:pt x="9" y="8"/>
                </a:lnTo>
                <a:lnTo>
                  <a:pt x="9" y="7"/>
                </a:lnTo>
                <a:lnTo>
                  <a:pt x="10" y="6"/>
                </a:lnTo>
                <a:lnTo>
                  <a:pt x="10" y="5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Freeform 73"/>
          <p:cNvSpPr/>
          <p:nvPr/>
        </p:nvSpPr>
        <p:spPr>
          <a:xfrm>
            <a:off x="27838400" y="-23037800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0" h="10">
                <a:moveTo>
                  <a:pt x="10" y="5"/>
                </a:moveTo>
                <a:lnTo>
                  <a:pt x="10" y="4"/>
                </a:lnTo>
                <a:lnTo>
                  <a:pt x="9" y="3"/>
                </a:lnTo>
                <a:lnTo>
                  <a:pt x="9" y="2"/>
                </a:lnTo>
                <a:lnTo>
                  <a:pt x="8" y="1"/>
                </a:lnTo>
                <a:lnTo>
                  <a:pt x="8" y="1"/>
                </a:lnTo>
                <a:lnTo>
                  <a:pt x="7" y="0"/>
                </a:lnTo>
                <a:lnTo>
                  <a:pt x="6" y="0"/>
                </a:lnTo>
                <a:lnTo>
                  <a:pt x="5" y="0"/>
                </a:lnTo>
                <a:lnTo>
                  <a:pt x="4" y="0"/>
                </a:lnTo>
                <a:lnTo>
                  <a:pt x="3" y="0"/>
                </a:lnTo>
                <a:lnTo>
                  <a:pt x="2" y="1"/>
                </a:lnTo>
                <a:lnTo>
                  <a:pt x="1" y="1"/>
                </a:lnTo>
                <a:lnTo>
                  <a:pt x="0" y="2"/>
                </a:lnTo>
                <a:lnTo>
                  <a:pt x="0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0" y="7"/>
                </a:lnTo>
                <a:lnTo>
                  <a:pt x="0" y="8"/>
                </a:lnTo>
                <a:lnTo>
                  <a:pt x="1" y="8"/>
                </a:lnTo>
                <a:lnTo>
                  <a:pt x="2" y="9"/>
                </a:lnTo>
                <a:lnTo>
                  <a:pt x="3" y="10"/>
                </a:lnTo>
                <a:lnTo>
                  <a:pt x="4" y="10"/>
                </a:lnTo>
                <a:lnTo>
                  <a:pt x="5" y="10"/>
                </a:lnTo>
                <a:lnTo>
                  <a:pt x="6" y="10"/>
                </a:lnTo>
                <a:lnTo>
                  <a:pt x="7" y="10"/>
                </a:lnTo>
                <a:lnTo>
                  <a:pt x="8" y="9"/>
                </a:lnTo>
                <a:lnTo>
                  <a:pt x="8" y="8"/>
                </a:lnTo>
                <a:lnTo>
                  <a:pt x="9" y="8"/>
                </a:lnTo>
                <a:lnTo>
                  <a:pt x="9" y="7"/>
                </a:lnTo>
                <a:lnTo>
                  <a:pt x="10" y="6"/>
                </a:lnTo>
                <a:lnTo>
                  <a:pt x="10" y="5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Freeform 74"/>
          <p:cNvSpPr/>
          <p:nvPr/>
        </p:nvSpPr>
        <p:spPr>
          <a:xfrm>
            <a:off x="28600400" y="-23037800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0" h="10">
                <a:moveTo>
                  <a:pt x="10" y="5"/>
                </a:moveTo>
                <a:lnTo>
                  <a:pt x="10" y="4"/>
                </a:lnTo>
                <a:lnTo>
                  <a:pt x="10" y="3"/>
                </a:lnTo>
                <a:lnTo>
                  <a:pt x="9" y="2"/>
                </a:lnTo>
                <a:lnTo>
                  <a:pt x="8" y="1"/>
                </a:lnTo>
                <a:lnTo>
                  <a:pt x="8" y="1"/>
                </a:lnTo>
                <a:lnTo>
                  <a:pt x="7" y="0"/>
                </a:lnTo>
                <a:lnTo>
                  <a:pt x="6" y="0"/>
                </a:lnTo>
                <a:lnTo>
                  <a:pt x="5" y="0"/>
                </a:lnTo>
                <a:lnTo>
                  <a:pt x="4" y="0"/>
                </a:lnTo>
                <a:lnTo>
                  <a:pt x="3" y="0"/>
                </a:lnTo>
                <a:lnTo>
                  <a:pt x="2" y="1"/>
                </a:lnTo>
                <a:lnTo>
                  <a:pt x="1" y="1"/>
                </a:lnTo>
                <a:lnTo>
                  <a:pt x="1" y="2"/>
                </a:lnTo>
                <a:lnTo>
                  <a:pt x="0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0" y="7"/>
                </a:lnTo>
                <a:lnTo>
                  <a:pt x="1" y="8"/>
                </a:lnTo>
                <a:lnTo>
                  <a:pt x="1" y="8"/>
                </a:lnTo>
                <a:lnTo>
                  <a:pt x="2" y="9"/>
                </a:lnTo>
                <a:lnTo>
                  <a:pt x="3" y="10"/>
                </a:lnTo>
                <a:lnTo>
                  <a:pt x="4" y="10"/>
                </a:lnTo>
                <a:lnTo>
                  <a:pt x="5" y="10"/>
                </a:lnTo>
                <a:lnTo>
                  <a:pt x="6" y="10"/>
                </a:lnTo>
                <a:lnTo>
                  <a:pt x="7" y="10"/>
                </a:lnTo>
                <a:lnTo>
                  <a:pt x="8" y="9"/>
                </a:lnTo>
                <a:lnTo>
                  <a:pt x="8" y="8"/>
                </a:lnTo>
                <a:lnTo>
                  <a:pt x="9" y="8"/>
                </a:lnTo>
                <a:lnTo>
                  <a:pt x="10" y="7"/>
                </a:lnTo>
                <a:lnTo>
                  <a:pt x="10" y="6"/>
                </a:lnTo>
                <a:lnTo>
                  <a:pt x="10" y="5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6" name="Connector 75"/>
          <p:cNvCxnSpPr/>
          <p:nvPr/>
        </p:nvCxnSpPr>
        <p:spPr>
          <a:xfrm flipH="1">
            <a:off x="28380717" y="-23492699"/>
            <a:ext cx="132913" cy="76740"/>
          </a:xfrm>
          <a:prstGeom prst="line">
            <a:avLst/>
          </a:prstGeom>
          <a:ln w="5060">
            <a:solidFill>
              <a:srgbClr val="008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Freeform 76"/>
          <p:cNvSpPr/>
          <p:nvPr/>
        </p:nvSpPr>
        <p:spPr>
          <a:xfrm>
            <a:off x="28359100" y="-234442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0" y="3"/>
                </a:moveTo>
                <a:lnTo>
                  <a:pt x="4" y="3"/>
                </a:lnTo>
                <a:lnTo>
                  <a:pt x="2" y="2"/>
                </a:lnTo>
                <a:lnTo>
                  <a:pt x="2" y="0"/>
                </a:lnTo>
                <a:close/>
              </a:path>
            </a:pathLst>
          </a:cu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8" name="Connector 77"/>
          <p:cNvCxnSpPr/>
          <p:nvPr/>
        </p:nvCxnSpPr>
        <p:spPr>
          <a:xfrm>
            <a:off x="28280329" y="-23627391"/>
            <a:ext cx="0" cy="153471"/>
          </a:xfrm>
          <a:prstGeom prst="line">
            <a:avLst/>
          </a:prstGeom>
          <a:ln w="5060">
            <a:solidFill>
              <a:srgbClr val="008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Freeform 78"/>
          <p:cNvSpPr/>
          <p:nvPr/>
        </p:nvSpPr>
        <p:spPr>
          <a:xfrm>
            <a:off x="28257500" y="-234950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2" y="4"/>
                </a:moveTo>
                <a:lnTo>
                  <a:pt x="3" y="0"/>
                </a:lnTo>
                <a:lnTo>
                  <a:pt x="2" y="2"/>
                </a:lnTo>
                <a:lnTo>
                  <a:pt x="0" y="0"/>
                </a:lnTo>
                <a:close/>
              </a:path>
            </a:pathLst>
          </a:cu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0" name="Connector 79"/>
          <p:cNvCxnSpPr/>
          <p:nvPr/>
        </p:nvCxnSpPr>
        <p:spPr>
          <a:xfrm>
            <a:off x="28047029" y="-23492699"/>
            <a:ext cx="132912" cy="76740"/>
          </a:xfrm>
          <a:prstGeom prst="line">
            <a:avLst/>
          </a:prstGeom>
          <a:ln w="5060">
            <a:solidFill>
              <a:srgbClr val="008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Freeform 80"/>
          <p:cNvSpPr/>
          <p:nvPr/>
        </p:nvSpPr>
        <p:spPr>
          <a:xfrm>
            <a:off x="28155900" y="-234442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3"/>
                </a:moveTo>
                <a:lnTo>
                  <a:pt x="2" y="0"/>
                </a:lnTo>
                <a:lnTo>
                  <a:pt x="2" y="2"/>
                </a:lnTo>
                <a:lnTo>
                  <a:pt x="0" y="3"/>
                </a:lnTo>
                <a:close/>
              </a:path>
            </a:pathLst>
          </a:cu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2" name="Connector 81"/>
          <p:cNvCxnSpPr/>
          <p:nvPr/>
        </p:nvCxnSpPr>
        <p:spPr>
          <a:xfrm flipV="1">
            <a:off x="28047029" y="-23300044"/>
            <a:ext cx="132912" cy="76740"/>
          </a:xfrm>
          <a:prstGeom prst="line">
            <a:avLst/>
          </a:prstGeom>
          <a:ln w="5060">
            <a:solidFill>
              <a:srgbClr val="008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Freeform 82"/>
          <p:cNvSpPr/>
          <p:nvPr/>
        </p:nvSpPr>
        <p:spPr>
          <a:xfrm>
            <a:off x="28155900" y="-233172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0"/>
                </a:moveTo>
                <a:lnTo>
                  <a:pt x="0" y="1"/>
                </a:lnTo>
                <a:lnTo>
                  <a:pt x="2" y="1"/>
                </a:lnTo>
                <a:lnTo>
                  <a:pt x="2" y="3"/>
                </a:lnTo>
                <a:close/>
              </a:path>
            </a:pathLst>
          </a:cu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4" name="Connector 83"/>
          <p:cNvCxnSpPr/>
          <p:nvPr/>
        </p:nvCxnSpPr>
        <p:spPr>
          <a:xfrm flipV="1">
            <a:off x="28280329" y="-23242083"/>
            <a:ext cx="0" cy="153471"/>
          </a:xfrm>
          <a:prstGeom prst="line">
            <a:avLst/>
          </a:prstGeom>
          <a:ln w="5060">
            <a:solidFill>
              <a:srgbClr val="008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Freeform 84"/>
          <p:cNvSpPr/>
          <p:nvPr/>
        </p:nvSpPr>
        <p:spPr>
          <a:xfrm>
            <a:off x="28257500" y="-232664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2" y="0"/>
                </a:moveTo>
                <a:lnTo>
                  <a:pt x="0" y="3"/>
                </a:lnTo>
                <a:lnTo>
                  <a:pt x="2" y="2"/>
                </a:lnTo>
                <a:lnTo>
                  <a:pt x="3" y="3"/>
                </a:lnTo>
                <a:close/>
              </a:path>
            </a:pathLst>
          </a:cu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6" name="Connector 85"/>
          <p:cNvCxnSpPr/>
          <p:nvPr/>
        </p:nvCxnSpPr>
        <p:spPr>
          <a:xfrm flipH="1" flipV="1">
            <a:off x="28380717" y="-23300044"/>
            <a:ext cx="132913" cy="76740"/>
          </a:xfrm>
          <a:prstGeom prst="line">
            <a:avLst/>
          </a:prstGeom>
          <a:ln w="5060">
            <a:solidFill>
              <a:srgbClr val="008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Freeform 86"/>
          <p:cNvSpPr/>
          <p:nvPr/>
        </p:nvSpPr>
        <p:spPr>
          <a:xfrm>
            <a:off x="28359100" y="-233172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0" y="0"/>
                </a:moveTo>
                <a:lnTo>
                  <a:pt x="2" y="3"/>
                </a:lnTo>
                <a:lnTo>
                  <a:pt x="2" y="1"/>
                </a:lnTo>
                <a:lnTo>
                  <a:pt x="4" y="1"/>
                </a:lnTo>
                <a:close/>
              </a:path>
            </a:pathLst>
          </a:cu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8" name="Connector 87"/>
          <p:cNvCxnSpPr/>
          <p:nvPr/>
        </p:nvCxnSpPr>
        <p:spPr>
          <a:xfrm flipH="1">
            <a:off x="28362296" y="-23675768"/>
            <a:ext cx="235800" cy="235799"/>
          </a:xfrm>
          <a:prstGeom prst="line">
            <a:avLst/>
          </a:prstGeom>
          <a:ln w="5060">
            <a:solidFill>
              <a:srgbClr val="008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Freeform 88"/>
          <p:cNvSpPr/>
          <p:nvPr/>
        </p:nvSpPr>
        <p:spPr>
          <a:xfrm>
            <a:off x="28346400" y="-234696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0" y="4"/>
                </a:moveTo>
                <a:lnTo>
                  <a:pt x="3" y="3"/>
                </a:lnTo>
                <a:lnTo>
                  <a:pt x="1" y="2"/>
                </a:lnTo>
                <a:lnTo>
                  <a:pt x="1" y="0"/>
                </a:lnTo>
                <a:close/>
              </a:path>
            </a:pathLst>
          </a:cu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0" name="Connector 89"/>
          <p:cNvCxnSpPr/>
          <p:nvPr/>
        </p:nvCxnSpPr>
        <p:spPr>
          <a:xfrm>
            <a:off x="27962562" y="-23675768"/>
            <a:ext cx="235800" cy="235799"/>
          </a:xfrm>
          <a:prstGeom prst="line">
            <a:avLst/>
          </a:prstGeom>
          <a:ln w="5060">
            <a:solidFill>
              <a:srgbClr val="008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Freeform 90"/>
          <p:cNvSpPr/>
          <p:nvPr/>
        </p:nvSpPr>
        <p:spPr>
          <a:xfrm>
            <a:off x="28168600" y="-234696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4" y="4"/>
                </a:moveTo>
                <a:lnTo>
                  <a:pt x="3" y="0"/>
                </a:lnTo>
                <a:lnTo>
                  <a:pt x="2" y="2"/>
                </a:lnTo>
                <a:lnTo>
                  <a:pt x="0" y="3"/>
                </a:lnTo>
                <a:close/>
              </a:path>
            </a:pathLst>
          </a:cu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2" name="Connector 91"/>
          <p:cNvCxnSpPr/>
          <p:nvPr/>
        </p:nvCxnSpPr>
        <p:spPr>
          <a:xfrm flipV="1">
            <a:off x="27962562" y="-23276035"/>
            <a:ext cx="235800" cy="235800"/>
          </a:xfrm>
          <a:prstGeom prst="line">
            <a:avLst/>
          </a:prstGeom>
          <a:ln w="5060">
            <a:solidFill>
              <a:srgbClr val="008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Freeform 92"/>
          <p:cNvSpPr/>
          <p:nvPr/>
        </p:nvSpPr>
        <p:spPr>
          <a:xfrm>
            <a:off x="28168600" y="-232918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0"/>
                </a:moveTo>
                <a:lnTo>
                  <a:pt x="0" y="1"/>
                </a:lnTo>
                <a:lnTo>
                  <a:pt x="2" y="1"/>
                </a:lnTo>
                <a:lnTo>
                  <a:pt x="3" y="3"/>
                </a:lnTo>
                <a:close/>
              </a:path>
            </a:pathLst>
          </a:cu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4" name="Connector 93"/>
          <p:cNvCxnSpPr/>
          <p:nvPr/>
        </p:nvCxnSpPr>
        <p:spPr>
          <a:xfrm flipH="1" flipV="1">
            <a:off x="28362296" y="-23276035"/>
            <a:ext cx="235800" cy="235800"/>
          </a:xfrm>
          <a:prstGeom prst="line">
            <a:avLst/>
          </a:prstGeom>
          <a:ln w="5060">
            <a:solidFill>
              <a:srgbClr val="008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Freeform 94"/>
          <p:cNvSpPr/>
          <p:nvPr/>
        </p:nvSpPr>
        <p:spPr>
          <a:xfrm>
            <a:off x="28346400" y="-232918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0" y="0"/>
                </a:moveTo>
                <a:lnTo>
                  <a:pt x="1" y="3"/>
                </a:lnTo>
                <a:lnTo>
                  <a:pt x="1" y="1"/>
                </a:lnTo>
                <a:lnTo>
                  <a:pt x="3" y="1"/>
                </a:lnTo>
                <a:close/>
              </a:path>
            </a:pathLst>
          </a:cu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-2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2880001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8" name="Picture 9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99" name="Picture 9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100" name="TextBox 9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Selection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8000" y="359888"/>
            <a:ext cx="567739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1">
                <a:solidFill>
                  <a:srgbClr val="003373"/>
                </a:solidFill>
                <a:latin typeface="Josefin Sans"/>
              </a:rPr>
              <a:t>Selective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pressure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359993" y="916423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selection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operators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characterised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their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selective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pressure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.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4898768" y="3150930"/>
            <a:ext cx="88662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5622973" y="3150706"/>
            <a:ext cx="16242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36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2202673" y="1321791"/>
            <a:ext cx="189763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2389274" y="1321791"/>
            <a:ext cx="42532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2428644" y="1321791"/>
            <a:ext cx="347980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2773449" y="1321791"/>
            <a:ext cx="42532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2812832" y="1321791"/>
            <a:ext cx="128803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2938460" y="1321791"/>
            <a:ext cx="42532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2977830" y="1321791"/>
            <a:ext cx="331495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3306163" y="1321791"/>
            <a:ext cx="42532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3345533" y="1321791"/>
            <a:ext cx="189764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3532134" y="1321791"/>
            <a:ext cx="42533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3571504" y="1321791"/>
            <a:ext cx="247676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3816005" y="1321791"/>
            <a:ext cx="42532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3855375" y="1321791"/>
            <a:ext cx="129210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3978273" y="1321791"/>
            <a:ext cx="108013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4079961" y="1321791"/>
            <a:ext cx="225362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4302161" y="1321791"/>
            <a:ext cx="42532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4341531" y="1321791"/>
            <a:ext cx="191973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4530342" y="1321791"/>
            <a:ext cx="42532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4569712" y="1321791"/>
            <a:ext cx="138226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4701614" y="1321791"/>
            <a:ext cx="276072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4974524" y="1321791"/>
            <a:ext cx="42532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5013894" y="1321791"/>
            <a:ext cx="189763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356829" y="1493876"/>
            <a:ext cx="144730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495247" y="1493876"/>
            <a:ext cx="195161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687245" y="1493876"/>
            <a:ext cx="42533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726615" y="1493876"/>
            <a:ext cx="233960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954237" y="1493876"/>
            <a:ext cx="76848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1024761" y="1493876"/>
            <a:ext cx="114947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1133384" y="1493876"/>
            <a:ext cx="225361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Freeform 64"/>
          <p:cNvSpPr/>
          <p:nvPr/>
        </p:nvSpPr>
        <p:spPr>
          <a:xfrm>
            <a:off x="2819400" y="1981200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0" h="10">
                <a:moveTo>
                  <a:pt x="10" y="5"/>
                </a:moveTo>
                <a:lnTo>
                  <a:pt x="10" y="4"/>
                </a:lnTo>
                <a:lnTo>
                  <a:pt x="10" y="3"/>
                </a:lnTo>
                <a:lnTo>
                  <a:pt x="9" y="2"/>
                </a:lnTo>
                <a:lnTo>
                  <a:pt x="8" y="1"/>
                </a:lnTo>
                <a:lnTo>
                  <a:pt x="8" y="1"/>
                </a:lnTo>
                <a:lnTo>
                  <a:pt x="7" y="0"/>
                </a:lnTo>
                <a:lnTo>
                  <a:pt x="6" y="0"/>
                </a:lnTo>
                <a:lnTo>
                  <a:pt x="5" y="0"/>
                </a:lnTo>
                <a:lnTo>
                  <a:pt x="4" y="0"/>
                </a:lnTo>
                <a:lnTo>
                  <a:pt x="3" y="0"/>
                </a:lnTo>
                <a:lnTo>
                  <a:pt x="2" y="1"/>
                </a:lnTo>
                <a:lnTo>
                  <a:pt x="1" y="1"/>
                </a:lnTo>
                <a:lnTo>
                  <a:pt x="1" y="2"/>
                </a:lnTo>
                <a:lnTo>
                  <a:pt x="0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0" y="7"/>
                </a:lnTo>
                <a:lnTo>
                  <a:pt x="1" y="8"/>
                </a:lnTo>
                <a:lnTo>
                  <a:pt x="1" y="8"/>
                </a:lnTo>
                <a:lnTo>
                  <a:pt x="2" y="9"/>
                </a:lnTo>
                <a:lnTo>
                  <a:pt x="3" y="10"/>
                </a:lnTo>
                <a:lnTo>
                  <a:pt x="4" y="10"/>
                </a:lnTo>
                <a:lnTo>
                  <a:pt x="5" y="10"/>
                </a:lnTo>
                <a:lnTo>
                  <a:pt x="6" y="10"/>
                </a:lnTo>
                <a:lnTo>
                  <a:pt x="7" y="10"/>
                </a:lnTo>
                <a:lnTo>
                  <a:pt x="8" y="9"/>
                </a:lnTo>
                <a:lnTo>
                  <a:pt x="8" y="8"/>
                </a:lnTo>
                <a:lnTo>
                  <a:pt x="9" y="8"/>
                </a:lnTo>
                <a:lnTo>
                  <a:pt x="10" y="7"/>
                </a:lnTo>
                <a:lnTo>
                  <a:pt x="10" y="6"/>
                </a:lnTo>
                <a:lnTo>
                  <a:pt x="10" y="5"/>
                </a:lnTo>
                <a:close/>
              </a:path>
            </a:pathLst>
          </a:custGeom>
          <a:solidFill>
            <a:srgbClr val="F443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Freeform 65"/>
          <p:cNvSpPr/>
          <p:nvPr/>
        </p:nvSpPr>
        <p:spPr>
          <a:xfrm>
            <a:off x="3124200" y="1790700"/>
            <a:ext cx="127000" cy="139700"/>
          </a:xfrm>
          <a:custGeom>
            <a:avLst/>
            <a:gdLst/>
            <a:ahLst/>
            <a:cxnLst/>
            <a:rect l="l" t="t" r="r" b="b"/>
            <a:pathLst>
              <a:path w="10" h="11">
                <a:moveTo>
                  <a:pt x="10" y="6"/>
                </a:moveTo>
                <a:lnTo>
                  <a:pt x="10" y="5"/>
                </a:lnTo>
                <a:lnTo>
                  <a:pt x="10" y="4"/>
                </a:lnTo>
                <a:lnTo>
                  <a:pt x="10" y="3"/>
                </a:lnTo>
                <a:lnTo>
                  <a:pt x="9" y="2"/>
                </a:lnTo>
                <a:lnTo>
                  <a:pt x="8" y="1"/>
                </a:lnTo>
                <a:lnTo>
                  <a:pt x="7" y="1"/>
                </a:lnTo>
                <a:lnTo>
                  <a:pt x="6" y="1"/>
                </a:lnTo>
                <a:lnTo>
                  <a:pt x="5" y="0"/>
                </a:lnTo>
                <a:lnTo>
                  <a:pt x="4" y="1"/>
                </a:lnTo>
                <a:lnTo>
                  <a:pt x="3" y="1"/>
                </a:lnTo>
                <a:lnTo>
                  <a:pt x="2" y="1"/>
                </a:lnTo>
                <a:lnTo>
                  <a:pt x="2" y="2"/>
                </a:lnTo>
                <a:lnTo>
                  <a:pt x="1" y="3"/>
                </a:lnTo>
                <a:lnTo>
                  <a:pt x="1" y="4"/>
                </a:lnTo>
                <a:lnTo>
                  <a:pt x="0" y="5"/>
                </a:lnTo>
                <a:lnTo>
                  <a:pt x="0" y="6"/>
                </a:lnTo>
                <a:lnTo>
                  <a:pt x="0" y="7"/>
                </a:lnTo>
                <a:lnTo>
                  <a:pt x="1" y="8"/>
                </a:lnTo>
                <a:lnTo>
                  <a:pt x="1" y="9"/>
                </a:lnTo>
                <a:lnTo>
                  <a:pt x="2" y="9"/>
                </a:lnTo>
                <a:lnTo>
                  <a:pt x="2" y="10"/>
                </a:lnTo>
                <a:lnTo>
                  <a:pt x="3" y="10"/>
                </a:lnTo>
                <a:lnTo>
                  <a:pt x="4" y="11"/>
                </a:lnTo>
                <a:lnTo>
                  <a:pt x="5" y="11"/>
                </a:lnTo>
                <a:lnTo>
                  <a:pt x="6" y="11"/>
                </a:lnTo>
                <a:lnTo>
                  <a:pt x="7" y="10"/>
                </a:lnTo>
                <a:lnTo>
                  <a:pt x="8" y="10"/>
                </a:lnTo>
                <a:lnTo>
                  <a:pt x="9" y="9"/>
                </a:lnTo>
                <a:lnTo>
                  <a:pt x="10" y="9"/>
                </a:lnTo>
                <a:lnTo>
                  <a:pt x="10" y="8"/>
                </a:lnTo>
                <a:lnTo>
                  <a:pt x="10" y="7"/>
                </a:lnTo>
                <a:lnTo>
                  <a:pt x="10" y="6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Freeform 66"/>
          <p:cNvSpPr/>
          <p:nvPr/>
        </p:nvSpPr>
        <p:spPr>
          <a:xfrm>
            <a:off x="2819400" y="1612900"/>
            <a:ext cx="127000" cy="139700"/>
          </a:xfrm>
          <a:custGeom>
            <a:avLst/>
            <a:gdLst/>
            <a:ahLst/>
            <a:cxnLst/>
            <a:rect l="l" t="t" r="r" b="b"/>
            <a:pathLst>
              <a:path w="10" h="11">
                <a:moveTo>
                  <a:pt x="10" y="5"/>
                </a:moveTo>
                <a:lnTo>
                  <a:pt x="10" y="4"/>
                </a:lnTo>
                <a:lnTo>
                  <a:pt x="10" y="3"/>
                </a:lnTo>
                <a:lnTo>
                  <a:pt x="9" y="3"/>
                </a:lnTo>
                <a:lnTo>
                  <a:pt x="8" y="2"/>
                </a:lnTo>
                <a:lnTo>
                  <a:pt x="8" y="1"/>
                </a:lnTo>
                <a:lnTo>
                  <a:pt x="7" y="1"/>
                </a:lnTo>
                <a:lnTo>
                  <a:pt x="6" y="0"/>
                </a:lnTo>
                <a:lnTo>
                  <a:pt x="5" y="0"/>
                </a:lnTo>
                <a:lnTo>
                  <a:pt x="4" y="0"/>
                </a:lnTo>
                <a:lnTo>
                  <a:pt x="3" y="1"/>
                </a:lnTo>
                <a:lnTo>
                  <a:pt x="2" y="1"/>
                </a:lnTo>
                <a:lnTo>
                  <a:pt x="1" y="2"/>
                </a:lnTo>
                <a:lnTo>
                  <a:pt x="1" y="3"/>
                </a:lnTo>
                <a:lnTo>
                  <a:pt x="0" y="3"/>
                </a:lnTo>
                <a:lnTo>
                  <a:pt x="0" y="4"/>
                </a:lnTo>
                <a:lnTo>
                  <a:pt x="0" y="5"/>
                </a:lnTo>
                <a:lnTo>
                  <a:pt x="0" y="7"/>
                </a:lnTo>
                <a:lnTo>
                  <a:pt x="0" y="7"/>
                </a:lnTo>
                <a:lnTo>
                  <a:pt x="1" y="8"/>
                </a:lnTo>
                <a:lnTo>
                  <a:pt x="1" y="9"/>
                </a:lnTo>
                <a:lnTo>
                  <a:pt x="2" y="10"/>
                </a:lnTo>
                <a:lnTo>
                  <a:pt x="3" y="10"/>
                </a:lnTo>
                <a:lnTo>
                  <a:pt x="4" y="11"/>
                </a:lnTo>
                <a:lnTo>
                  <a:pt x="5" y="11"/>
                </a:lnTo>
                <a:lnTo>
                  <a:pt x="6" y="11"/>
                </a:lnTo>
                <a:lnTo>
                  <a:pt x="7" y="10"/>
                </a:lnTo>
                <a:lnTo>
                  <a:pt x="8" y="10"/>
                </a:lnTo>
                <a:lnTo>
                  <a:pt x="8" y="9"/>
                </a:lnTo>
                <a:lnTo>
                  <a:pt x="9" y="8"/>
                </a:lnTo>
                <a:lnTo>
                  <a:pt x="10" y="7"/>
                </a:lnTo>
                <a:lnTo>
                  <a:pt x="10" y="7"/>
                </a:lnTo>
                <a:lnTo>
                  <a:pt x="10" y="5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Freeform 67"/>
          <p:cNvSpPr/>
          <p:nvPr/>
        </p:nvSpPr>
        <p:spPr>
          <a:xfrm>
            <a:off x="2501900" y="1790700"/>
            <a:ext cx="127000" cy="139700"/>
          </a:xfrm>
          <a:custGeom>
            <a:avLst/>
            <a:gdLst/>
            <a:ahLst/>
            <a:cxnLst/>
            <a:rect l="l" t="t" r="r" b="b"/>
            <a:pathLst>
              <a:path w="10" h="11">
                <a:moveTo>
                  <a:pt x="10" y="6"/>
                </a:moveTo>
                <a:lnTo>
                  <a:pt x="10" y="5"/>
                </a:lnTo>
                <a:lnTo>
                  <a:pt x="10" y="4"/>
                </a:lnTo>
                <a:lnTo>
                  <a:pt x="9" y="3"/>
                </a:lnTo>
                <a:lnTo>
                  <a:pt x="9" y="2"/>
                </a:lnTo>
                <a:lnTo>
                  <a:pt x="8" y="1"/>
                </a:lnTo>
                <a:lnTo>
                  <a:pt x="7" y="1"/>
                </a:lnTo>
                <a:lnTo>
                  <a:pt x="6" y="1"/>
                </a:lnTo>
                <a:lnTo>
                  <a:pt x="5" y="0"/>
                </a:lnTo>
                <a:lnTo>
                  <a:pt x="4" y="1"/>
                </a:lnTo>
                <a:lnTo>
                  <a:pt x="3" y="1"/>
                </a:lnTo>
                <a:lnTo>
                  <a:pt x="2" y="1"/>
                </a:lnTo>
                <a:lnTo>
                  <a:pt x="2" y="2"/>
                </a:lnTo>
                <a:lnTo>
                  <a:pt x="1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0" y="7"/>
                </a:lnTo>
                <a:lnTo>
                  <a:pt x="0" y="8"/>
                </a:lnTo>
                <a:lnTo>
                  <a:pt x="1" y="9"/>
                </a:lnTo>
                <a:lnTo>
                  <a:pt x="2" y="9"/>
                </a:lnTo>
                <a:lnTo>
                  <a:pt x="2" y="10"/>
                </a:lnTo>
                <a:lnTo>
                  <a:pt x="3" y="10"/>
                </a:lnTo>
                <a:lnTo>
                  <a:pt x="4" y="11"/>
                </a:lnTo>
                <a:lnTo>
                  <a:pt x="5" y="11"/>
                </a:lnTo>
                <a:lnTo>
                  <a:pt x="6" y="11"/>
                </a:lnTo>
                <a:lnTo>
                  <a:pt x="7" y="10"/>
                </a:lnTo>
                <a:lnTo>
                  <a:pt x="8" y="10"/>
                </a:lnTo>
                <a:lnTo>
                  <a:pt x="9" y="9"/>
                </a:lnTo>
                <a:lnTo>
                  <a:pt x="9" y="9"/>
                </a:lnTo>
                <a:lnTo>
                  <a:pt x="10" y="8"/>
                </a:lnTo>
                <a:lnTo>
                  <a:pt x="10" y="7"/>
                </a:lnTo>
                <a:lnTo>
                  <a:pt x="10" y="6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Freeform 68"/>
          <p:cNvSpPr/>
          <p:nvPr/>
        </p:nvSpPr>
        <p:spPr>
          <a:xfrm>
            <a:off x="2501900" y="2159000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0" h="10">
                <a:moveTo>
                  <a:pt x="10" y="5"/>
                </a:moveTo>
                <a:lnTo>
                  <a:pt x="10" y="4"/>
                </a:lnTo>
                <a:lnTo>
                  <a:pt x="10" y="3"/>
                </a:lnTo>
                <a:lnTo>
                  <a:pt x="9" y="2"/>
                </a:lnTo>
                <a:lnTo>
                  <a:pt x="9" y="1"/>
                </a:lnTo>
                <a:lnTo>
                  <a:pt x="8" y="1"/>
                </a:lnTo>
                <a:lnTo>
                  <a:pt x="7" y="0"/>
                </a:lnTo>
                <a:lnTo>
                  <a:pt x="6" y="0"/>
                </a:lnTo>
                <a:lnTo>
                  <a:pt x="5" y="0"/>
                </a:lnTo>
                <a:lnTo>
                  <a:pt x="4" y="0"/>
                </a:lnTo>
                <a:lnTo>
                  <a:pt x="3" y="0"/>
                </a:lnTo>
                <a:lnTo>
                  <a:pt x="2" y="1"/>
                </a:lnTo>
                <a:lnTo>
                  <a:pt x="2" y="1"/>
                </a:lnTo>
                <a:lnTo>
                  <a:pt x="1" y="2"/>
                </a:lnTo>
                <a:lnTo>
                  <a:pt x="0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0" y="7"/>
                </a:lnTo>
                <a:lnTo>
                  <a:pt x="1" y="8"/>
                </a:lnTo>
                <a:lnTo>
                  <a:pt x="2" y="9"/>
                </a:lnTo>
                <a:lnTo>
                  <a:pt x="2" y="9"/>
                </a:lnTo>
                <a:lnTo>
                  <a:pt x="3" y="10"/>
                </a:lnTo>
                <a:lnTo>
                  <a:pt x="4" y="10"/>
                </a:lnTo>
                <a:lnTo>
                  <a:pt x="5" y="10"/>
                </a:lnTo>
                <a:lnTo>
                  <a:pt x="6" y="10"/>
                </a:lnTo>
                <a:lnTo>
                  <a:pt x="7" y="10"/>
                </a:lnTo>
                <a:lnTo>
                  <a:pt x="8" y="9"/>
                </a:lnTo>
                <a:lnTo>
                  <a:pt x="9" y="9"/>
                </a:lnTo>
                <a:lnTo>
                  <a:pt x="9" y="8"/>
                </a:lnTo>
                <a:lnTo>
                  <a:pt x="10" y="7"/>
                </a:lnTo>
                <a:lnTo>
                  <a:pt x="10" y="6"/>
                </a:lnTo>
                <a:lnTo>
                  <a:pt x="10" y="5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Freeform 69"/>
          <p:cNvSpPr/>
          <p:nvPr/>
        </p:nvSpPr>
        <p:spPr>
          <a:xfrm>
            <a:off x="2819400" y="2336800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0" h="10">
                <a:moveTo>
                  <a:pt x="10" y="5"/>
                </a:moveTo>
                <a:lnTo>
                  <a:pt x="10" y="4"/>
                </a:lnTo>
                <a:lnTo>
                  <a:pt x="10" y="3"/>
                </a:lnTo>
                <a:lnTo>
                  <a:pt x="9" y="2"/>
                </a:lnTo>
                <a:lnTo>
                  <a:pt x="8" y="2"/>
                </a:lnTo>
                <a:lnTo>
                  <a:pt x="8" y="1"/>
                </a:lnTo>
                <a:lnTo>
                  <a:pt x="7" y="0"/>
                </a:lnTo>
                <a:lnTo>
                  <a:pt x="6" y="0"/>
                </a:lnTo>
                <a:lnTo>
                  <a:pt x="5" y="0"/>
                </a:lnTo>
                <a:lnTo>
                  <a:pt x="4" y="0"/>
                </a:lnTo>
                <a:lnTo>
                  <a:pt x="3" y="0"/>
                </a:lnTo>
                <a:lnTo>
                  <a:pt x="2" y="1"/>
                </a:lnTo>
                <a:lnTo>
                  <a:pt x="1" y="2"/>
                </a:lnTo>
                <a:lnTo>
                  <a:pt x="1" y="2"/>
                </a:lnTo>
                <a:lnTo>
                  <a:pt x="0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0" y="7"/>
                </a:lnTo>
                <a:lnTo>
                  <a:pt x="1" y="8"/>
                </a:lnTo>
                <a:lnTo>
                  <a:pt x="1" y="9"/>
                </a:lnTo>
                <a:lnTo>
                  <a:pt x="2" y="9"/>
                </a:lnTo>
                <a:lnTo>
                  <a:pt x="3" y="10"/>
                </a:lnTo>
                <a:lnTo>
                  <a:pt x="4" y="10"/>
                </a:lnTo>
                <a:lnTo>
                  <a:pt x="5" y="10"/>
                </a:lnTo>
                <a:lnTo>
                  <a:pt x="6" y="10"/>
                </a:lnTo>
                <a:lnTo>
                  <a:pt x="7" y="10"/>
                </a:lnTo>
                <a:lnTo>
                  <a:pt x="8" y="9"/>
                </a:lnTo>
                <a:lnTo>
                  <a:pt x="8" y="9"/>
                </a:lnTo>
                <a:lnTo>
                  <a:pt x="9" y="8"/>
                </a:lnTo>
                <a:lnTo>
                  <a:pt x="10" y="7"/>
                </a:lnTo>
                <a:lnTo>
                  <a:pt x="10" y="6"/>
                </a:lnTo>
                <a:lnTo>
                  <a:pt x="10" y="5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Freeform 70"/>
          <p:cNvSpPr/>
          <p:nvPr/>
        </p:nvSpPr>
        <p:spPr>
          <a:xfrm>
            <a:off x="3124200" y="2159000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0" h="10">
                <a:moveTo>
                  <a:pt x="10" y="5"/>
                </a:moveTo>
                <a:lnTo>
                  <a:pt x="10" y="4"/>
                </a:lnTo>
                <a:lnTo>
                  <a:pt x="10" y="3"/>
                </a:lnTo>
                <a:lnTo>
                  <a:pt x="10" y="2"/>
                </a:lnTo>
                <a:lnTo>
                  <a:pt x="9" y="1"/>
                </a:lnTo>
                <a:lnTo>
                  <a:pt x="8" y="1"/>
                </a:lnTo>
                <a:lnTo>
                  <a:pt x="7" y="0"/>
                </a:lnTo>
                <a:lnTo>
                  <a:pt x="6" y="0"/>
                </a:lnTo>
                <a:lnTo>
                  <a:pt x="5" y="0"/>
                </a:lnTo>
                <a:lnTo>
                  <a:pt x="4" y="0"/>
                </a:lnTo>
                <a:lnTo>
                  <a:pt x="3" y="0"/>
                </a:lnTo>
                <a:lnTo>
                  <a:pt x="2" y="1"/>
                </a:lnTo>
                <a:lnTo>
                  <a:pt x="2" y="1"/>
                </a:lnTo>
                <a:lnTo>
                  <a:pt x="1" y="2"/>
                </a:lnTo>
                <a:lnTo>
                  <a:pt x="1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1" y="7"/>
                </a:lnTo>
                <a:lnTo>
                  <a:pt x="1" y="8"/>
                </a:lnTo>
                <a:lnTo>
                  <a:pt x="2" y="9"/>
                </a:lnTo>
                <a:lnTo>
                  <a:pt x="2" y="9"/>
                </a:lnTo>
                <a:lnTo>
                  <a:pt x="3" y="10"/>
                </a:lnTo>
                <a:lnTo>
                  <a:pt x="4" y="10"/>
                </a:lnTo>
                <a:lnTo>
                  <a:pt x="5" y="10"/>
                </a:lnTo>
                <a:lnTo>
                  <a:pt x="6" y="10"/>
                </a:lnTo>
                <a:lnTo>
                  <a:pt x="7" y="10"/>
                </a:lnTo>
                <a:lnTo>
                  <a:pt x="8" y="9"/>
                </a:lnTo>
                <a:lnTo>
                  <a:pt x="9" y="9"/>
                </a:lnTo>
                <a:lnTo>
                  <a:pt x="10" y="8"/>
                </a:lnTo>
                <a:lnTo>
                  <a:pt x="10" y="7"/>
                </a:lnTo>
                <a:lnTo>
                  <a:pt x="10" y="6"/>
                </a:lnTo>
                <a:lnTo>
                  <a:pt x="10" y="5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Freeform 71"/>
          <p:cNvSpPr/>
          <p:nvPr/>
        </p:nvSpPr>
        <p:spPr>
          <a:xfrm>
            <a:off x="3200400" y="1600200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0" h="10">
                <a:moveTo>
                  <a:pt x="10" y="5"/>
                </a:moveTo>
                <a:lnTo>
                  <a:pt x="10" y="4"/>
                </a:lnTo>
                <a:lnTo>
                  <a:pt x="10" y="3"/>
                </a:lnTo>
                <a:lnTo>
                  <a:pt x="9" y="2"/>
                </a:lnTo>
                <a:lnTo>
                  <a:pt x="8" y="1"/>
                </a:lnTo>
                <a:lnTo>
                  <a:pt x="8" y="0"/>
                </a:lnTo>
                <a:lnTo>
                  <a:pt x="7" y="0"/>
                </a:lnTo>
                <a:lnTo>
                  <a:pt x="6" y="0"/>
                </a:lnTo>
                <a:lnTo>
                  <a:pt x="5" y="0"/>
                </a:lnTo>
                <a:lnTo>
                  <a:pt x="4" y="0"/>
                </a:lnTo>
                <a:lnTo>
                  <a:pt x="3" y="0"/>
                </a:lnTo>
                <a:lnTo>
                  <a:pt x="2" y="0"/>
                </a:lnTo>
                <a:lnTo>
                  <a:pt x="1" y="1"/>
                </a:lnTo>
                <a:lnTo>
                  <a:pt x="1" y="2"/>
                </a:lnTo>
                <a:lnTo>
                  <a:pt x="0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0" y="7"/>
                </a:lnTo>
                <a:lnTo>
                  <a:pt x="1" y="8"/>
                </a:lnTo>
                <a:lnTo>
                  <a:pt x="1" y="8"/>
                </a:lnTo>
                <a:lnTo>
                  <a:pt x="2" y="9"/>
                </a:lnTo>
                <a:lnTo>
                  <a:pt x="3" y="9"/>
                </a:lnTo>
                <a:lnTo>
                  <a:pt x="4" y="10"/>
                </a:lnTo>
                <a:lnTo>
                  <a:pt x="5" y="10"/>
                </a:lnTo>
                <a:lnTo>
                  <a:pt x="6" y="10"/>
                </a:lnTo>
                <a:lnTo>
                  <a:pt x="7" y="9"/>
                </a:lnTo>
                <a:lnTo>
                  <a:pt x="8" y="9"/>
                </a:lnTo>
                <a:lnTo>
                  <a:pt x="8" y="8"/>
                </a:lnTo>
                <a:lnTo>
                  <a:pt x="9" y="8"/>
                </a:lnTo>
                <a:lnTo>
                  <a:pt x="10" y="7"/>
                </a:lnTo>
                <a:lnTo>
                  <a:pt x="10" y="6"/>
                </a:lnTo>
                <a:lnTo>
                  <a:pt x="10" y="5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Freeform 72"/>
          <p:cNvSpPr/>
          <p:nvPr/>
        </p:nvSpPr>
        <p:spPr>
          <a:xfrm>
            <a:off x="2438400" y="1600200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0" h="10">
                <a:moveTo>
                  <a:pt x="10" y="5"/>
                </a:moveTo>
                <a:lnTo>
                  <a:pt x="10" y="4"/>
                </a:lnTo>
                <a:lnTo>
                  <a:pt x="9" y="3"/>
                </a:lnTo>
                <a:lnTo>
                  <a:pt x="9" y="2"/>
                </a:lnTo>
                <a:lnTo>
                  <a:pt x="8" y="1"/>
                </a:lnTo>
                <a:lnTo>
                  <a:pt x="8" y="0"/>
                </a:lnTo>
                <a:lnTo>
                  <a:pt x="7" y="0"/>
                </a:lnTo>
                <a:lnTo>
                  <a:pt x="6" y="0"/>
                </a:lnTo>
                <a:lnTo>
                  <a:pt x="5" y="0"/>
                </a:lnTo>
                <a:lnTo>
                  <a:pt x="4" y="0"/>
                </a:lnTo>
                <a:lnTo>
                  <a:pt x="3" y="0"/>
                </a:lnTo>
                <a:lnTo>
                  <a:pt x="2" y="0"/>
                </a:lnTo>
                <a:lnTo>
                  <a:pt x="1" y="1"/>
                </a:lnTo>
                <a:lnTo>
                  <a:pt x="0" y="2"/>
                </a:lnTo>
                <a:lnTo>
                  <a:pt x="0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0" y="7"/>
                </a:lnTo>
                <a:lnTo>
                  <a:pt x="0" y="8"/>
                </a:lnTo>
                <a:lnTo>
                  <a:pt x="1" y="8"/>
                </a:lnTo>
                <a:lnTo>
                  <a:pt x="2" y="9"/>
                </a:lnTo>
                <a:lnTo>
                  <a:pt x="3" y="9"/>
                </a:lnTo>
                <a:lnTo>
                  <a:pt x="4" y="10"/>
                </a:lnTo>
                <a:lnTo>
                  <a:pt x="5" y="10"/>
                </a:lnTo>
                <a:lnTo>
                  <a:pt x="6" y="10"/>
                </a:lnTo>
                <a:lnTo>
                  <a:pt x="7" y="9"/>
                </a:lnTo>
                <a:lnTo>
                  <a:pt x="8" y="9"/>
                </a:lnTo>
                <a:lnTo>
                  <a:pt x="8" y="8"/>
                </a:lnTo>
                <a:lnTo>
                  <a:pt x="9" y="8"/>
                </a:lnTo>
                <a:lnTo>
                  <a:pt x="9" y="7"/>
                </a:lnTo>
                <a:lnTo>
                  <a:pt x="10" y="6"/>
                </a:lnTo>
                <a:lnTo>
                  <a:pt x="10" y="5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Freeform 73"/>
          <p:cNvSpPr/>
          <p:nvPr/>
        </p:nvSpPr>
        <p:spPr>
          <a:xfrm>
            <a:off x="2438400" y="2362200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0" h="10">
                <a:moveTo>
                  <a:pt x="10" y="5"/>
                </a:moveTo>
                <a:lnTo>
                  <a:pt x="10" y="4"/>
                </a:lnTo>
                <a:lnTo>
                  <a:pt x="9" y="3"/>
                </a:lnTo>
                <a:lnTo>
                  <a:pt x="9" y="2"/>
                </a:lnTo>
                <a:lnTo>
                  <a:pt x="8" y="1"/>
                </a:lnTo>
                <a:lnTo>
                  <a:pt x="8" y="1"/>
                </a:lnTo>
                <a:lnTo>
                  <a:pt x="7" y="0"/>
                </a:lnTo>
                <a:lnTo>
                  <a:pt x="6" y="0"/>
                </a:lnTo>
                <a:lnTo>
                  <a:pt x="5" y="0"/>
                </a:lnTo>
                <a:lnTo>
                  <a:pt x="4" y="0"/>
                </a:lnTo>
                <a:lnTo>
                  <a:pt x="3" y="0"/>
                </a:lnTo>
                <a:lnTo>
                  <a:pt x="2" y="1"/>
                </a:lnTo>
                <a:lnTo>
                  <a:pt x="1" y="1"/>
                </a:lnTo>
                <a:lnTo>
                  <a:pt x="0" y="2"/>
                </a:lnTo>
                <a:lnTo>
                  <a:pt x="0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0" y="7"/>
                </a:lnTo>
                <a:lnTo>
                  <a:pt x="0" y="8"/>
                </a:lnTo>
                <a:lnTo>
                  <a:pt x="1" y="9"/>
                </a:lnTo>
                <a:lnTo>
                  <a:pt x="2" y="9"/>
                </a:lnTo>
                <a:lnTo>
                  <a:pt x="3" y="10"/>
                </a:lnTo>
                <a:lnTo>
                  <a:pt x="4" y="10"/>
                </a:lnTo>
                <a:lnTo>
                  <a:pt x="5" y="10"/>
                </a:lnTo>
                <a:lnTo>
                  <a:pt x="6" y="10"/>
                </a:lnTo>
                <a:lnTo>
                  <a:pt x="7" y="10"/>
                </a:lnTo>
                <a:lnTo>
                  <a:pt x="8" y="9"/>
                </a:lnTo>
                <a:lnTo>
                  <a:pt x="8" y="9"/>
                </a:lnTo>
                <a:lnTo>
                  <a:pt x="9" y="8"/>
                </a:lnTo>
                <a:lnTo>
                  <a:pt x="9" y="7"/>
                </a:lnTo>
                <a:lnTo>
                  <a:pt x="10" y="6"/>
                </a:lnTo>
                <a:lnTo>
                  <a:pt x="10" y="5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Freeform 74"/>
          <p:cNvSpPr/>
          <p:nvPr/>
        </p:nvSpPr>
        <p:spPr>
          <a:xfrm>
            <a:off x="3200400" y="2362200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0" h="10">
                <a:moveTo>
                  <a:pt x="10" y="5"/>
                </a:moveTo>
                <a:lnTo>
                  <a:pt x="10" y="4"/>
                </a:lnTo>
                <a:lnTo>
                  <a:pt x="10" y="3"/>
                </a:lnTo>
                <a:lnTo>
                  <a:pt x="9" y="2"/>
                </a:lnTo>
                <a:lnTo>
                  <a:pt x="8" y="1"/>
                </a:lnTo>
                <a:lnTo>
                  <a:pt x="8" y="1"/>
                </a:lnTo>
                <a:lnTo>
                  <a:pt x="7" y="0"/>
                </a:lnTo>
                <a:lnTo>
                  <a:pt x="6" y="0"/>
                </a:lnTo>
                <a:lnTo>
                  <a:pt x="5" y="0"/>
                </a:lnTo>
                <a:lnTo>
                  <a:pt x="4" y="0"/>
                </a:lnTo>
                <a:lnTo>
                  <a:pt x="3" y="0"/>
                </a:lnTo>
                <a:lnTo>
                  <a:pt x="2" y="1"/>
                </a:lnTo>
                <a:lnTo>
                  <a:pt x="1" y="1"/>
                </a:lnTo>
                <a:lnTo>
                  <a:pt x="1" y="2"/>
                </a:lnTo>
                <a:lnTo>
                  <a:pt x="0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0" y="7"/>
                </a:lnTo>
                <a:lnTo>
                  <a:pt x="1" y="8"/>
                </a:lnTo>
                <a:lnTo>
                  <a:pt x="1" y="9"/>
                </a:lnTo>
                <a:lnTo>
                  <a:pt x="2" y="9"/>
                </a:lnTo>
                <a:lnTo>
                  <a:pt x="3" y="10"/>
                </a:lnTo>
                <a:lnTo>
                  <a:pt x="4" y="10"/>
                </a:lnTo>
                <a:lnTo>
                  <a:pt x="5" y="10"/>
                </a:lnTo>
                <a:lnTo>
                  <a:pt x="6" y="10"/>
                </a:lnTo>
                <a:lnTo>
                  <a:pt x="7" y="10"/>
                </a:lnTo>
                <a:lnTo>
                  <a:pt x="8" y="9"/>
                </a:lnTo>
                <a:lnTo>
                  <a:pt x="8" y="9"/>
                </a:lnTo>
                <a:lnTo>
                  <a:pt x="9" y="8"/>
                </a:lnTo>
                <a:lnTo>
                  <a:pt x="10" y="7"/>
                </a:lnTo>
                <a:lnTo>
                  <a:pt x="10" y="6"/>
                </a:lnTo>
                <a:lnTo>
                  <a:pt x="10" y="5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6" name="Connector 75"/>
          <p:cNvCxnSpPr/>
          <p:nvPr/>
        </p:nvCxnSpPr>
        <p:spPr>
          <a:xfrm flipH="1">
            <a:off x="2980389" y="1907629"/>
            <a:ext cx="132914" cy="76739"/>
          </a:xfrm>
          <a:prstGeom prst="line">
            <a:avLst/>
          </a:prstGeom>
          <a:ln w="5060">
            <a:solidFill>
              <a:srgbClr val="008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Freeform 76"/>
          <p:cNvSpPr/>
          <p:nvPr/>
        </p:nvSpPr>
        <p:spPr>
          <a:xfrm>
            <a:off x="2959100" y="19558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0" y="3"/>
                </a:moveTo>
                <a:lnTo>
                  <a:pt x="4" y="3"/>
                </a:lnTo>
                <a:lnTo>
                  <a:pt x="2" y="2"/>
                </a:lnTo>
                <a:lnTo>
                  <a:pt x="2" y="0"/>
                </a:lnTo>
                <a:close/>
              </a:path>
            </a:pathLst>
          </a:cu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8" name="Connector 77"/>
          <p:cNvCxnSpPr/>
          <p:nvPr/>
        </p:nvCxnSpPr>
        <p:spPr>
          <a:xfrm>
            <a:off x="2880002" y="1772935"/>
            <a:ext cx="0" cy="153471"/>
          </a:xfrm>
          <a:prstGeom prst="line">
            <a:avLst/>
          </a:prstGeom>
          <a:ln w="5060">
            <a:solidFill>
              <a:srgbClr val="008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Freeform 78"/>
          <p:cNvSpPr/>
          <p:nvPr/>
        </p:nvSpPr>
        <p:spPr>
          <a:xfrm>
            <a:off x="2857500" y="19050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2" y="4"/>
                </a:moveTo>
                <a:lnTo>
                  <a:pt x="3" y="0"/>
                </a:lnTo>
                <a:lnTo>
                  <a:pt x="2" y="2"/>
                </a:lnTo>
                <a:lnTo>
                  <a:pt x="0" y="0"/>
                </a:lnTo>
                <a:close/>
              </a:path>
            </a:pathLst>
          </a:cu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0" name="Connector 79"/>
          <p:cNvCxnSpPr/>
          <p:nvPr/>
        </p:nvCxnSpPr>
        <p:spPr>
          <a:xfrm>
            <a:off x="2646701" y="1907629"/>
            <a:ext cx="132914" cy="76739"/>
          </a:xfrm>
          <a:prstGeom prst="line">
            <a:avLst/>
          </a:prstGeom>
          <a:ln w="5060">
            <a:solidFill>
              <a:srgbClr val="008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Freeform 80"/>
          <p:cNvSpPr/>
          <p:nvPr/>
        </p:nvSpPr>
        <p:spPr>
          <a:xfrm>
            <a:off x="2755900" y="19558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3"/>
                </a:moveTo>
                <a:lnTo>
                  <a:pt x="2" y="0"/>
                </a:lnTo>
                <a:lnTo>
                  <a:pt x="2" y="2"/>
                </a:lnTo>
                <a:lnTo>
                  <a:pt x="0" y="3"/>
                </a:lnTo>
                <a:close/>
              </a:path>
            </a:pathLst>
          </a:cu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2" name="Connector 81"/>
          <p:cNvCxnSpPr/>
          <p:nvPr/>
        </p:nvCxnSpPr>
        <p:spPr>
          <a:xfrm flipV="1">
            <a:off x="2646701" y="2100283"/>
            <a:ext cx="132914" cy="76739"/>
          </a:xfrm>
          <a:prstGeom prst="line">
            <a:avLst/>
          </a:prstGeom>
          <a:ln w="5060">
            <a:solidFill>
              <a:srgbClr val="008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Freeform 82"/>
          <p:cNvSpPr/>
          <p:nvPr/>
        </p:nvSpPr>
        <p:spPr>
          <a:xfrm>
            <a:off x="2755900" y="20828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0"/>
                </a:moveTo>
                <a:lnTo>
                  <a:pt x="0" y="1"/>
                </a:lnTo>
                <a:lnTo>
                  <a:pt x="2" y="1"/>
                </a:lnTo>
                <a:lnTo>
                  <a:pt x="2" y="3"/>
                </a:lnTo>
                <a:close/>
              </a:path>
            </a:pathLst>
          </a:cu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4" name="Connector 83"/>
          <p:cNvCxnSpPr/>
          <p:nvPr/>
        </p:nvCxnSpPr>
        <p:spPr>
          <a:xfrm flipV="1">
            <a:off x="2880002" y="2158244"/>
            <a:ext cx="0" cy="153472"/>
          </a:xfrm>
          <a:prstGeom prst="line">
            <a:avLst/>
          </a:prstGeom>
          <a:ln w="5060">
            <a:solidFill>
              <a:srgbClr val="008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Freeform 84"/>
          <p:cNvSpPr/>
          <p:nvPr/>
        </p:nvSpPr>
        <p:spPr>
          <a:xfrm>
            <a:off x="2857500" y="21336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2" y="0"/>
                </a:moveTo>
                <a:lnTo>
                  <a:pt x="0" y="3"/>
                </a:lnTo>
                <a:lnTo>
                  <a:pt x="2" y="2"/>
                </a:lnTo>
                <a:lnTo>
                  <a:pt x="3" y="3"/>
                </a:lnTo>
                <a:close/>
              </a:path>
            </a:pathLst>
          </a:cu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6" name="Connector 85"/>
          <p:cNvCxnSpPr/>
          <p:nvPr/>
        </p:nvCxnSpPr>
        <p:spPr>
          <a:xfrm flipH="1" flipV="1">
            <a:off x="2980389" y="2100283"/>
            <a:ext cx="132914" cy="76739"/>
          </a:xfrm>
          <a:prstGeom prst="line">
            <a:avLst/>
          </a:prstGeom>
          <a:ln w="5060">
            <a:solidFill>
              <a:srgbClr val="008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Freeform 86"/>
          <p:cNvSpPr/>
          <p:nvPr/>
        </p:nvSpPr>
        <p:spPr>
          <a:xfrm>
            <a:off x="2959100" y="20828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0" y="0"/>
                </a:moveTo>
                <a:lnTo>
                  <a:pt x="2" y="3"/>
                </a:lnTo>
                <a:lnTo>
                  <a:pt x="2" y="1"/>
                </a:lnTo>
                <a:lnTo>
                  <a:pt x="4" y="1"/>
                </a:lnTo>
                <a:close/>
              </a:path>
            </a:pathLst>
          </a:cu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8" name="Connector 87"/>
          <p:cNvCxnSpPr/>
          <p:nvPr/>
        </p:nvCxnSpPr>
        <p:spPr>
          <a:xfrm flipH="1">
            <a:off x="2961969" y="1724559"/>
            <a:ext cx="235799" cy="235799"/>
          </a:xfrm>
          <a:prstGeom prst="line">
            <a:avLst/>
          </a:prstGeom>
          <a:ln w="5060">
            <a:solidFill>
              <a:srgbClr val="008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Freeform 88"/>
          <p:cNvSpPr/>
          <p:nvPr/>
        </p:nvSpPr>
        <p:spPr>
          <a:xfrm>
            <a:off x="2946400" y="19304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0" y="4"/>
                </a:moveTo>
                <a:lnTo>
                  <a:pt x="3" y="3"/>
                </a:lnTo>
                <a:lnTo>
                  <a:pt x="1" y="2"/>
                </a:lnTo>
                <a:lnTo>
                  <a:pt x="1" y="0"/>
                </a:lnTo>
                <a:close/>
              </a:path>
            </a:pathLst>
          </a:cu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0" name="Connector 89"/>
          <p:cNvCxnSpPr/>
          <p:nvPr/>
        </p:nvCxnSpPr>
        <p:spPr>
          <a:xfrm>
            <a:off x="2562236" y="1724559"/>
            <a:ext cx="235799" cy="235799"/>
          </a:xfrm>
          <a:prstGeom prst="line">
            <a:avLst/>
          </a:prstGeom>
          <a:ln w="5060">
            <a:solidFill>
              <a:srgbClr val="008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Freeform 90"/>
          <p:cNvSpPr/>
          <p:nvPr/>
        </p:nvSpPr>
        <p:spPr>
          <a:xfrm>
            <a:off x="2768600" y="19304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4" y="4"/>
                </a:moveTo>
                <a:lnTo>
                  <a:pt x="3" y="0"/>
                </a:lnTo>
                <a:lnTo>
                  <a:pt x="2" y="2"/>
                </a:lnTo>
                <a:lnTo>
                  <a:pt x="0" y="3"/>
                </a:lnTo>
                <a:close/>
              </a:path>
            </a:pathLst>
          </a:cu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2" name="Connector 91"/>
          <p:cNvCxnSpPr/>
          <p:nvPr/>
        </p:nvCxnSpPr>
        <p:spPr>
          <a:xfrm flipV="1">
            <a:off x="2562236" y="2124292"/>
            <a:ext cx="235799" cy="235799"/>
          </a:xfrm>
          <a:prstGeom prst="line">
            <a:avLst/>
          </a:prstGeom>
          <a:ln w="5060">
            <a:solidFill>
              <a:srgbClr val="008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Freeform 92"/>
          <p:cNvSpPr/>
          <p:nvPr/>
        </p:nvSpPr>
        <p:spPr>
          <a:xfrm>
            <a:off x="2768600" y="21082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0"/>
                </a:moveTo>
                <a:lnTo>
                  <a:pt x="0" y="1"/>
                </a:lnTo>
                <a:lnTo>
                  <a:pt x="2" y="1"/>
                </a:lnTo>
                <a:lnTo>
                  <a:pt x="3" y="3"/>
                </a:lnTo>
                <a:close/>
              </a:path>
            </a:pathLst>
          </a:cu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4" name="Connector 93"/>
          <p:cNvCxnSpPr/>
          <p:nvPr/>
        </p:nvCxnSpPr>
        <p:spPr>
          <a:xfrm flipH="1" flipV="1">
            <a:off x="2961969" y="2124292"/>
            <a:ext cx="235799" cy="235799"/>
          </a:xfrm>
          <a:prstGeom prst="line">
            <a:avLst/>
          </a:prstGeom>
          <a:ln w="5060">
            <a:solidFill>
              <a:srgbClr val="008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Freeform 94"/>
          <p:cNvSpPr/>
          <p:nvPr/>
        </p:nvSpPr>
        <p:spPr>
          <a:xfrm>
            <a:off x="2946400" y="21082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0" y="0"/>
                </a:moveTo>
                <a:lnTo>
                  <a:pt x="1" y="3"/>
                </a:lnTo>
                <a:lnTo>
                  <a:pt x="1" y="1"/>
                </a:lnTo>
                <a:lnTo>
                  <a:pt x="3" y="1"/>
                </a:lnTo>
                <a:close/>
              </a:path>
            </a:pathLst>
          </a:cu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-2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2880001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8" name="Picture 9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99" name="Picture 9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100" name="TextBox 9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Selection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8000" y="359888"/>
            <a:ext cx="567739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1">
                <a:solidFill>
                  <a:srgbClr val="003373"/>
                </a:solidFill>
                <a:latin typeface="Josefin Sans"/>
              </a:rPr>
              <a:t>Selective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pressure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359993" y="916423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selection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operators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characterised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their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selective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pressure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.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359992" y="1174539"/>
            <a:ext cx="542540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Selective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pressure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defined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speed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which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best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solution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will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occupy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359992" y="1346611"/>
            <a:ext cx="542540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entire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population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repeated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application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selection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operator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alone.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4898768" y="3150932"/>
            <a:ext cx="88662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622973" y="3150708"/>
            <a:ext cx="16242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36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749488" y="1460868"/>
            <a:ext cx="151663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894826" y="1460868"/>
            <a:ext cx="425844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2317508" y="1460868"/>
            <a:ext cx="42532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2356878" y="1460868"/>
            <a:ext cx="115367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2465907" y="1460868"/>
            <a:ext cx="183388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2642971" y="1460868"/>
            <a:ext cx="196405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27098141" y="-23509271"/>
            <a:ext cx="108434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27200249" y="-23509271"/>
            <a:ext cx="425844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27888269" y="-23509271"/>
            <a:ext cx="259029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ectangle 44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2880005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7" name="Picture 4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8" name="Picture 4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Selection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8000" y="359888"/>
            <a:ext cx="567739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1">
                <a:solidFill>
                  <a:srgbClr val="003373"/>
                </a:solidFill>
                <a:latin typeface="Josefin Sans"/>
              </a:rPr>
              <a:t>Selective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pressure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59993" y="1313616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High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selective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pressure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decreases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diversity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(thus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limiting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exploration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abilities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59993" y="1485688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population),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may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lead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premature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convergence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suboptimal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solutions.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898771" y="3150918"/>
            <a:ext cx="88662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627002" y="3150694"/>
            <a:ext cx="15839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37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749488" y="1460868"/>
            <a:ext cx="151663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894826" y="1460868"/>
            <a:ext cx="425844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2317508" y="1460868"/>
            <a:ext cx="42532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2356878" y="1460868"/>
            <a:ext cx="115367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2465907" y="1460868"/>
            <a:ext cx="183388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2642971" y="1460868"/>
            <a:ext cx="196405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1697813" y="1891055"/>
            <a:ext cx="108432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1799920" y="1891055"/>
            <a:ext cx="425844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2487943" y="1891055"/>
            <a:ext cx="259029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ectangle 44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2880005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7" name="Picture 4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8" name="Picture 4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Selection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8000" y="359888"/>
            <a:ext cx="567739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1">
                <a:solidFill>
                  <a:srgbClr val="003373"/>
                </a:solidFill>
                <a:latin typeface="Josefin Sans"/>
              </a:rPr>
              <a:t>Selective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pressure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59993" y="1313616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High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selective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pressure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decreases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diversity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(thus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limiting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exploration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abilities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59993" y="1485688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population),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may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lead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premature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convergence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suboptimal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solutions.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59994" y="1743803"/>
            <a:ext cx="54254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Low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selective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pressure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increases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time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convergence.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898771" y="3150918"/>
            <a:ext cx="88662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627002" y="3150694"/>
            <a:ext cx="15839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37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H="1">
            <a:off x="2234447" y="884224"/>
            <a:ext cx="1233125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2183836" y="934834"/>
            <a:ext cx="0" cy="23815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2234447" y="1223594"/>
            <a:ext cx="1233125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3518182" y="934834"/>
            <a:ext cx="0" cy="23815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H="1">
            <a:off x="937714" y="1694932"/>
            <a:ext cx="684341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887103" y="1745543"/>
            <a:ext cx="0" cy="38528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937714" y="2181442"/>
            <a:ext cx="684341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1672665" y="1745543"/>
            <a:ext cx="0" cy="38528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H="1">
            <a:off x="1913849" y="1694932"/>
            <a:ext cx="826905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1863238" y="1745543"/>
            <a:ext cx="0" cy="38528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1913849" y="2181442"/>
            <a:ext cx="826905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2791364" y="1745543"/>
            <a:ext cx="0" cy="38528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H="1">
            <a:off x="2973181" y="1694932"/>
            <a:ext cx="80307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2922570" y="1745543"/>
            <a:ext cx="0" cy="38147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2973181" y="2177632"/>
            <a:ext cx="80307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3826866" y="1745543"/>
            <a:ext cx="0" cy="38147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H="1">
            <a:off x="4021982" y="1694932"/>
            <a:ext cx="800305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3971372" y="1745543"/>
            <a:ext cx="0" cy="38528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4021982" y="2181442"/>
            <a:ext cx="800305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V="1">
            <a:off x="4872898" y="1745543"/>
            <a:ext cx="0" cy="38528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Freeform 55"/>
          <p:cNvSpPr/>
          <p:nvPr/>
        </p:nvSpPr>
        <p:spPr>
          <a:xfrm>
            <a:off x="1320800" y="16256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1"/>
                </a:lnTo>
                <a:lnTo>
                  <a:pt x="1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2387600" y="16256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1"/>
                </a:lnTo>
                <a:lnTo>
                  <a:pt x="1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3276600" y="16256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2" y="3"/>
                </a:moveTo>
                <a:lnTo>
                  <a:pt x="3" y="0"/>
                </a:lnTo>
                <a:lnTo>
                  <a:pt x="2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4343400" y="16256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2" y="3"/>
                </a:moveTo>
                <a:lnTo>
                  <a:pt x="3" y="0"/>
                </a:lnTo>
                <a:lnTo>
                  <a:pt x="2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2880004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2" name="Picture 6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63" name="Picture 6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64" name="TextBox 63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Selection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8000" y="359888"/>
            <a:ext cx="567739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1">
                <a:solidFill>
                  <a:srgbClr val="003373"/>
                </a:solidFill>
                <a:latin typeface="Josefin Sans"/>
              </a:rPr>
              <a:t>Selective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pressure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288590" y="981993"/>
            <a:ext cx="349680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Selection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operators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32458" y="1792698"/>
            <a:ext cx="475293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Random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31836" y="1964770"/>
            <a:ext cx="475355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selection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967991" y="1792698"/>
            <a:ext cx="381740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Proportional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079243" y="1964770"/>
            <a:ext cx="370615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selection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027311" y="1788888"/>
            <a:ext cx="275808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Tournament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126650" y="1960960"/>
            <a:ext cx="265874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selection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076102" y="1792698"/>
            <a:ext cx="170929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Rank-based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174045" y="1964770"/>
            <a:ext cx="161135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selection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45082" y="2331470"/>
            <a:ext cx="484031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Compare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selective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pressure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different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selection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operators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98770" y="3150917"/>
            <a:ext cx="8866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624118" y="3150693"/>
            <a:ext cx="16127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38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Freeform 35"/>
          <p:cNvSpPr/>
          <p:nvPr/>
        </p:nvSpPr>
        <p:spPr>
          <a:xfrm>
            <a:off x="1079500" y="927100"/>
            <a:ext cx="1143000" cy="266700"/>
          </a:xfrm>
          <a:custGeom>
            <a:avLst/>
            <a:gdLst/>
            <a:ahLst/>
            <a:cxnLst/>
            <a:rect l="l" t="t" r="r" b="b"/>
            <a:pathLst>
              <a:path w="90" h="21">
                <a:moveTo>
                  <a:pt x="86" y="0"/>
                </a:moveTo>
                <a:lnTo>
                  <a:pt x="4" y="0"/>
                </a:lnTo>
                <a:lnTo>
                  <a:pt x="3" y="0"/>
                </a:lnTo>
                <a:lnTo>
                  <a:pt x="2" y="0"/>
                </a:lnTo>
                <a:lnTo>
                  <a:pt x="1" y="1"/>
                </a:lnTo>
                <a:lnTo>
                  <a:pt x="1" y="1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0" y="4"/>
                </a:lnTo>
                <a:lnTo>
                  <a:pt x="0" y="17"/>
                </a:lnTo>
                <a:lnTo>
                  <a:pt x="0" y="17"/>
                </a:lnTo>
                <a:lnTo>
                  <a:pt x="0" y="18"/>
                </a:lnTo>
                <a:lnTo>
                  <a:pt x="0" y="19"/>
                </a:lnTo>
                <a:lnTo>
                  <a:pt x="1" y="19"/>
                </a:lnTo>
                <a:lnTo>
                  <a:pt x="1" y="20"/>
                </a:lnTo>
                <a:lnTo>
                  <a:pt x="2" y="20"/>
                </a:lnTo>
                <a:lnTo>
                  <a:pt x="3" y="20"/>
                </a:lnTo>
                <a:lnTo>
                  <a:pt x="4" y="21"/>
                </a:lnTo>
                <a:lnTo>
                  <a:pt x="86" y="21"/>
                </a:lnTo>
                <a:lnTo>
                  <a:pt x="87" y="20"/>
                </a:lnTo>
                <a:lnTo>
                  <a:pt x="88" y="20"/>
                </a:lnTo>
                <a:lnTo>
                  <a:pt x="89" y="20"/>
                </a:lnTo>
                <a:lnTo>
                  <a:pt x="89" y="19"/>
                </a:lnTo>
                <a:lnTo>
                  <a:pt x="90" y="19"/>
                </a:lnTo>
                <a:lnTo>
                  <a:pt x="90" y="18"/>
                </a:lnTo>
                <a:lnTo>
                  <a:pt x="90" y="17"/>
                </a:lnTo>
                <a:lnTo>
                  <a:pt x="90" y="17"/>
                </a:lnTo>
                <a:lnTo>
                  <a:pt x="90" y="4"/>
                </a:lnTo>
                <a:lnTo>
                  <a:pt x="90" y="3"/>
                </a:lnTo>
                <a:lnTo>
                  <a:pt x="90" y="2"/>
                </a:lnTo>
                <a:lnTo>
                  <a:pt x="90" y="2"/>
                </a:lnTo>
                <a:lnTo>
                  <a:pt x="89" y="1"/>
                </a:lnTo>
                <a:lnTo>
                  <a:pt x="89" y="1"/>
                </a:lnTo>
                <a:lnTo>
                  <a:pt x="88" y="0"/>
                </a:lnTo>
                <a:lnTo>
                  <a:pt x="87" y="0"/>
                </a:lnTo>
                <a:lnTo>
                  <a:pt x="86" y="0"/>
                </a:lnTo>
                <a:close/>
              </a:path>
            </a:pathLst>
          </a:custGeom>
          <a:solidFill>
            <a:srgbClr val="003373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7" name="Connector 36"/>
          <p:cNvCxnSpPr/>
          <p:nvPr/>
        </p:nvCxnSpPr>
        <p:spPr>
          <a:xfrm flipH="1">
            <a:off x="2410841" y="917028"/>
            <a:ext cx="132960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2360231" y="967638"/>
            <a:ext cx="0" cy="18016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2410841" y="1198410"/>
            <a:ext cx="132960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3791060" y="967638"/>
            <a:ext cx="0" cy="18016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H="1">
            <a:off x="2720978" y="1332605"/>
            <a:ext cx="709335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2670367" y="1383216"/>
            <a:ext cx="0" cy="17771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2720978" y="1611540"/>
            <a:ext cx="709335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3480923" y="1383216"/>
            <a:ext cx="0" cy="17771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H="1">
            <a:off x="2819251" y="1745734"/>
            <a:ext cx="51278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2768640" y="1796345"/>
            <a:ext cx="0" cy="15408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2819251" y="2001040"/>
            <a:ext cx="51278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3382650" y="1796345"/>
            <a:ext cx="0" cy="15408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H="1">
            <a:off x="2387383" y="2135234"/>
            <a:ext cx="137652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2336772" y="2185845"/>
            <a:ext cx="0" cy="18016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2387383" y="2416617"/>
            <a:ext cx="137652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3814518" y="2185845"/>
            <a:ext cx="0" cy="18016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H="1">
            <a:off x="3999324" y="2148273"/>
            <a:ext cx="635316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3948713" y="2198883"/>
            <a:ext cx="0" cy="154085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3999324" y="2403579"/>
            <a:ext cx="635316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4685251" y="2198883"/>
            <a:ext cx="0" cy="154085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2228567" y="1057719"/>
            <a:ext cx="10382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Freeform 57"/>
          <p:cNvSpPr/>
          <p:nvPr/>
        </p:nvSpPr>
        <p:spPr>
          <a:xfrm>
            <a:off x="2311400" y="10414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1"/>
                </a:moveTo>
                <a:lnTo>
                  <a:pt x="0" y="0"/>
                </a:lnTo>
                <a:lnTo>
                  <a:pt x="2" y="1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9" name="Connector 58"/>
          <p:cNvCxnSpPr/>
          <p:nvPr/>
        </p:nvCxnSpPr>
        <p:spPr>
          <a:xfrm>
            <a:off x="3075645" y="1200941"/>
            <a:ext cx="0" cy="10382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Freeform 59"/>
          <p:cNvSpPr/>
          <p:nvPr/>
        </p:nvSpPr>
        <p:spPr>
          <a:xfrm>
            <a:off x="3060700" y="12954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0"/>
                </a:lnTo>
                <a:lnTo>
                  <a:pt x="1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1" name="Connector 60"/>
          <p:cNvCxnSpPr/>
          <p:nvPr/>
        </p:nvCxnSpPr>
        <p:spPr>
          <a:xfrm>
            <a:off x="3075645" y="1614070"/>
            <a:ext cx="0" cy="10382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Freeform 61"/>
          <p:cNvSpPr/>
          <p:nvPr/>
        </p:nvSpPr>
        <p:spPr>
          <a:xfrm>
            <a:off x="3060700" y="17018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0"/>
                </a:lnTo>
                <a:lnTo>
                  <a:pt x="1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3" name="Connector 62"/>
          <p:cNvCxnSpPr/>
          <p:nvPr/>
        </p:nvCxnSpPr>
        <p:spPr>
          <a:xfrm>
            <a:off x="3075645" y="2003570"/>
            <a:ext cx="0" cy="10382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Freeform 63"/>
          <p:cNvSpPr/>
          <p:nvPr/>
        </p:nvSpPr>
        <p:spPr>
          <a:xfrm>
            <a:off x="3060700" y="20955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0"/>
                </a:lnTo>
                <a:lnTo>
                  <a:pt x="1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5" name="Connector 64"/>
          <p:cNvCxnSpPr/>
          <p:nvPr/>
        </p:nvCxnSpPr>
        <p:spPr>
          <a:xfrm>
            <a:off x="3817049" y="2275926"/>
            <a:ext cx="10382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Freeform 65"/>
          <p:cNvSpPr/>
          <p:nvPr/>
        </p:nvSpPr>
        <p:spPr>
          <a:xfrm>
            <a:off x="3911600" y="22606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7" name="Connector 66"/>
          <p:cNvCxnSpPr/>
          <p:nvPr/>
        </p:nvCxnSpPr>
        <p:spPr>
          <a:xfrm flipH="1">
            <a:off x="2154240" y="2275926"/>
            <a:ext cx="180002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V="1">
            <a:off x="2154240" y="1472072"/>
            <a:ext cx="0" cy="80385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2154240" y="1472072"/>
            <a:ext cx="488291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Freeform 69"/>
          <p:cNvSpPr/>
          <p:nvPr/>
        </p:nvSpPr>
        <p:spPr>
          <a:xfrm>
            <a:off x="2628900" y="14478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3" y="2"/>
                </a:moveTo>
                <a:lnTo>
                  <a:pt x="0" y="0"/>
                </a:lnTo>
                <a:lnTo>
                  <a:pt x="1" y="2"/>
                </a:lnTo>
                <a:lnTo>
                  <a:pt x="0" y="4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1" name="Connector 70"/>
          <p:cNvCxnSpPr/>
          <p:nvPr/>
        </p:nvCxnSpPr>
        <p:spPr>
          <a:xfrm flipH="1">
            <a:off x="4083989" y="1744168"/>
            <a:ext cx="50299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4033378" y="1794779"/>
            <a:ext cx="0" cy="157216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4083989" y="2002606"/>
            <a:ext cx="50299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 flipV="1">
            <a:off x="4637594" y="1794779"/>
            <a:ext cx="0" cy="157216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Freeform 74"/>
          <p:cNvSpPr/>
          <p:nvPr/>
        </p:nvSpPr>
        <p:spPr>
          <a:xfrm>
            <a:off x="3987800" y="17907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1" y="0"/>
                </a:lnTo>
                <a:lnTo>
                  <a:pt x="1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Freeform 75"/>
          <p:cNvSpPr/>
          <p:nvPr/>
        </p:nvSpPr>
        <p:spPr>
          <a:xfrm>
            <a:off x="3987800" y="18542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0" y="0"/>
                </a:lnTo>
                <a:lnTo>
                  <a:pt x="1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Freeform 76"/>
          <p:cNvSpPr/>
          <p:nvPr/>
        </p:nvSpPr>
        <p:spPr>
          <a:xfrm>
            <a:off x="3987800" y="19177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8" name="Connector 77"/>
          <p:cNvCxnSpPr/>
          <p:nvPr/>
        </p:nvCxnSpPr>
        <p:spPr>
          <a:xfrm flipH="1">
            <a:off x="3967040" y="1176926"/>
            <a:ext cx="655586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3916429" y="1227537"/>
            <a:ext cx="0" cy="31689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3967040" y="1595041"/>
            <a:ext cx="655586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 flipV="1">
            <a:off x="4673237" y="1227537"/>
            <a:ext cx="0" cy="31689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 flipH="1">
            <a:off x="4028304" y="1729235"/>
            <a:ext cx="533057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3977693" y="1779846"/>
            <a:ext cx="0" cy="15482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4028304" y="1985281"/>
            <a:ext cx="533057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 flipV="1">
            <a:off x="4611972" y="1779846"/>
            <a:ext cx="0" cy="15482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4294833" y="1597571"/>
            <a:ext cx="0" cy="10382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Freeform 86"/>
          <p:cNvSpPr/>
          <p:nvPr/>
        </p:nvSpPr>
        <p:spPr>
          <a:xfrm>
            <a:off x="4279900" y="16891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0"/>
                </a:lnTo>
                <a:lnTo>
                  <a:pt x="1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8" name="Connector 87"/>
          <p:cNvCxnSpPr/>
          <p:nvPr/>
        </p:nvCxnSpPr>
        <p:spPr>
          <a:xfrm flipV="1">
            <a:off x="3483454" y="1143260"/>
            <a:ext cx="516532" cy="18681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>
            <a:off x="3483454" y="1614070"/>
            <a:ext cx="590049" cy="44848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Rectangle 89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2880004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2" name="Picture 9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93" name="Picture 9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94" name="TextBox 93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Genetic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algorithm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160868" y="1010084"/>
            <a:ext cx="4624527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FFFFFF"/>
                </a:solidFill>
                <a:latin typeface="Josefin Sans"/>
              </a:rPr>
              <a:t>Problem</a:t>
            </a:r>
            <a:r>
              <a:rPr sz="896" b="0">
                <a:solidFill>
                  <a:srgbClr val="FFFFFF"/>
                </a:solidFill>
                <a:latin typeface="Josefin Sans"/>
              </a:rPr>
              <a:t> </a:t>
            </a:r>
            <a:r>
              <a:rPr sz="896" b="0">
                <a:solidFill>
                  <a:srgbClr val="FFFFFF"/>
                </a:solidFill>
                <a:latin typeface="Josefin Sans"/>
              </a:rPr>
              <a:t>formulation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2446311" y="999835"/>
            <a:ext cx="3339084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Initialisation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population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2756445" y="1412953"/>
            <a:ext cx="3028950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Reproduction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854718" y="1822948"/>
            <a:ext cx="2930677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Mutation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2422854" y="2218019"/>
            <a:ext cx="3362541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Replacement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population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034776" y="2225487"/>
            <a:ext cx="1750619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Termination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119435" y="1824522"/>
            <a:ext cx="1665960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Selection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008525" y="1257277"/>
            <a:ext cx="1776870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Selection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as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4002493" y="1396456"/>
            <a:ext cx="1782902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parent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pairs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4063758" y="1806450"/>
            <a:ext cx="1721637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Crossover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4898770" y="3150917"/>
            <a:ext cx="8866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622975" y="3150693"/>
            <a:ext cx="16242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39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4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Problem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formulation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60057" y="1353869"/>
            <a:ext cx="532533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Encoding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0057" y="1611984"/>
            <a:ext cx="532533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Fitness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function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98770" y="3150917"/>
            <a:ext cx="8866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16295" y="3150693"/>
            <a:ext cx="16910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40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27618078" y="-22999227"/>
            <a:ext cx="237591" cy="222682"/>
          </a:xfrm>
          <a:prstGeom prst="rect">
            <a:avLst/>
          </a:prstGeom>
          <a:solidFill>
            <a:srgbClr val="DADA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7860736" y="-22999227"/>
            <a:ext cx="195479" cy="222682"/>
          </a:xfrm>
          <a:prstGeom prst="rect">
            <a:avLst/>
          </a:prstGeom>
          <a:solidFill>
            <a:srgbClr val="DADA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8061270" y="-22999227"/>
            <a:ext cx="195479" cy="222682"/>
          </a:xfrm>
          <a:prstGeom prst="rect">
            <a:avLst/>
          </a:prstGeom>
          <a:solidFill>
            <a:srgbClr val="DADA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8261803" y="-22999227"/>
            <a:ext cx="237591" cy="222682"/>
          </a:xfrm>
          <a:prstGeom prst="rect">
            <a:avLst/>
          </a:prstGeom>
          <a:solidFill>
            <a:srgbClr val="DADA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8504449" y="-22999227"/>
            <a:ext cx="195479" cy="222682"/>
          </a:xfrm>
          <a:prstGeom prst="rect">
            <a:avLst/>
          </a:prstGeom>
          <a:solidFill>
            <a:srgbClr val="DADA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8704982" y="-22999227"/>
            <a:ext cx="237591" cy="222682"/>
          </a:xfrm>
          <a:prstGeom prst="rect">
            <a:avLst/>
          </a:prstGeom>
          <a:solidFill>
            <a:srgbClr val="DADA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2" name="Connector 41"/>
          <p:cNvCxnSpPr/>
          <p:nvPr/>
        </p:nvCxnSpPr>
        <p:spPr>
          <a:xfrm flipV="1">
            <a:off x="27615548" y="-22999227"/>
            <a:ext cx="0" cy="222683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27858197" y="-22999227"/>
            <a:ext cx="0" cy="222683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28058727" y="-22999227"/>
            <a:ext cx="0" cy="222683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28259261" y="-22999227"/>
            <a:ext cx="0" cy="222683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28501922" y="-22999227"/>
            <a:ext cx="0" cy="222683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28702452" y="-22999227"/>
            <a:ext cx="0" cy="222683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28945101" y="-22999227"/>
            <a:ext cx="0" cy="222683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ectangle 48"/>
          <p:cNvSpPr/>
          <p:nvPr/>
        </p:nvSpPr>
        <p:spPr>
          <a:xfrm>
            <a:off x="0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2880003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1" name="Picture 5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52" name="Picture 5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Encoding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59993" y="826876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As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mentioned,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37094" y="959684"/>
            <a:ext cx="51483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genetic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algorithm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algorithm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solve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optimisation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problem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which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37094" y="1131769"/>
            <a:ext cx="51483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we are optimising the values of the chromosome to maximise the fitness of the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37094" y="1303841"/>
            <a:ext cx="51483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chromosome.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898770" y="3150918"/>
            <a:ext cx="8866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639370" y="3150694"/>
            <a:ext cx="1460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41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27618078" y="-22999227"/>
            <a:ext cx="237591" cy="222682"/>
          </a:xfrm>
          <a:prstGeom prst="rect">
            <a:avLst/>
          </a:prstGeom>
          <a:solidFill>
            <a:srgbClr val="DADA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7860736" y="-22999227"/>
            <a:ext cx="195479" cy="222682"/>
          </a:xfrm>
          <a:prstGeom prst="rect">
            <a:avLst/>
          </a:prstGeom>
          <a:solidFill>
            <a:srgbClr val="DADA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8061270" y="-22999227"/>
            <a:ext cx="195479" cy="222682"/>
          </a:xfrm>
          <a:prstGeom prst="rect">
            <a:avLst/>
          </a:prstGeom>
          <a:solidFill>
            <a:srgbClr val="DADA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8261803" y="-22999227"/>
            <a:ext cx="237591" cy="222682"/>
          </a:xfrm>
          <a:prstGeom prst="rect">
            <a:avLst/>
          </a:prstGeom>
          <a:solidFill>
            <a:srgbClr val="DADA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8504449" y="-22999227"/>
            <a:ext cx="195479" cy="222682"/>
          </a:xfrm>
          <a:prstGeom prst="rect">
            <a:avLst/>
          </a:prstGeom>
          <a:solidFill>
            <a:srgbClr val="DADA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8704982" y="-22999227"/>
            <a:ext cx="237591" cy="222682"/>
          </a:xfrm>
          <a:prstGeom prst="rect">
            <a:avLst/>
          </a:prstGeom>
          <a:solidFill>
            <a:srgbClr val="DADA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2" name="Connector 41"/>
          <p:cNvCxnSpPr/>
          <p:nvPr/>
        </p:nvCxnSpPr>
        <p:spPr>
          <a:xfrm flipV="1">
            <a:off x="27615548" y="-22999227"/>
            <a:ext cx="0" cy="222683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27858197" y="-22999227"/>
            <a:ext cx="0" cy="222683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28058727" y="-22999227"/>
            <a:ext cx="0" cy="222683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28259261" y="-22999227"/>
            <a:ext cx="0" cy="222683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28501922" y="-22999227"/>
            <a:ext cx="0" cy="222683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28702452" y="-22999227"/>
            <a:ext cx="0" cy="222683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28945101" y="-22999227"/>
            <a:ext cx="0" cy="222683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ectangle 48"/>
          <p:cNvSpPr/>
          <p:nvPr/>
        </p:nvSpPr>
        <p:spPr>
          <a:xfrm>
            <a:off x="0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2880003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1" name="Picture 5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52" name="Picture 5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Encoding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59993" y="826876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As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mentioned,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37094" y="959684"/>
            <a:ext cx="51483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genetic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algorithm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algorithm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solve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optimisation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problem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which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37094" y="1131769"/>
            <a:ext cx="51483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we are optimising the values of the chromosome to maximise the fitness of the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37094" y="1303841"/>
            <a:ext cx="51483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chromosome.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59993" y="1563298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individual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chromosome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potential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solution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optimisation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problem.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59993" y="1735370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variables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optimised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genes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chromosome.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898770" y="3150918"/>
            <a:ext cx="8866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639370" y="3150694"/>
            <a:ext cx="1460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41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2217749" y="2401101"/>
            <a:ext cx="237591" cy="222681"/>
          </a:xfrm>
          <a:prstGeom prst="rect">
            <a:avLst/>
          </a:prstGeom>
          <a:solidFill>
            <a:srgbClr val="DADA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460408" y="2401101"/>
            <a:ext cx="195478" cy="222681"/>
          </a:xfrm>
          <a:prstGeom prst="rect">
            <a:avLst/>
          </a:prstGeom>
          <a:solidFill>
            <a:srgbClr val="DADA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660941" y="2401101"/>
            <a:ext cx="195478" cy="222681"/>
          </a:xfrm>
          <a:prstGeom prst="rect">
            <a:avLst/>
          </a:prstGeom>
          <a:solidFill>
            <a:srgbClr val="DADA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861474" y="2401101"/>
            <a:ext cx="237591" cy="222681"/>
          </a:xfrm>
          <a:prstGeom prst="rect">
            <a:avLst/>
          </a:prstGeom>
          <a:solidFill>
            <a:srgbClr val="DADA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104120" y="2401101"/>
            <a:ext cx="195478" cy="222681"/>
          </a:xfrm>
          <a:prstGeom prst="rect">
            <a:avLst/>
          </a:prstGeom>
          <a:solidFill>
            <a:srgbClr val="DADA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304653" y="2401101"/>
            <a:ext cx="237591" cy="222681"/>
          </a:xfrm>
          <a:prstGeom prst="rect">
            <a:avLst/>
          </a:prstGeom>
          <a:solidFill>
            <a:srgbClr val="DADA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2" name="Connector 41"/>
          <p:cNvCxnSpPr/>
          <p:nvPr/>
        </p:nvCxnSpPr>
        <p:spPr>
          <a:xfrm flipV="1">
            <a:off x="2215222" y="2401101"/>
            <a:ext cx="0" cy="222681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2457868" y="2401101"/>
            <a:ext cx="0" cy="222681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2658401" y="2401101"/>
            <a:ext cx="0" cy="222681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2858934" y="2401101"/>
            <a:ext cx="0" cy="222681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3101593" y="2401101"/>
            <a:ext cx="0" cy="222681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3302126" y="2401101"/>
            <a:ext cx="0" cy="222681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3544772" y="2401101"/>
            <a:ext cx="0" cy="222681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ectangle 48"/>
          <p:cNvSpPr/>
          <p:nvPr/>
        </p:nvSpPr>
        <p:spPr>
          <a:xfrm>
            <a:off x="0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2880003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1" name="Picture 5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52" name="Picture 5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Encoding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59993" y="826876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As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mentioned,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37094" y="959684"/>
            <a:ext cx="51483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genetic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algorithm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algorithm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solve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optimisation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problem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which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37094" y="1131769"/>
            <a:ext cx="51483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we are optimising the values of the chromosome to maximise the fitness of the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37094" y="1303841"/>
            <a:ext cx="51483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chromosome.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59993" y="1563298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individual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chromosome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potential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solution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optimisation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problem.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59993" y="1735370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variables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optimised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genes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chromosome.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59993" y="1993486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classic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representation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scheme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chromosomes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binary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vectors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fixed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59993" y="2165558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length.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293670" y="2436259"/>
            <a:ext cx="349172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536316" y="2436259"/>
            <a:ext cx="324907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736849" y="2436259"/>
            <a:ext cx="304854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937382" y="2436259"/>
            <a:ext cx="284801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180041" y="2436259"/>
            <a:ext cx="260535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380574" y="2436259"/>
            <a:ext cx="240482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898770" y="3150918"/>
            <a:ext cx="8866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639370" y="3150694"/>
            <a:ext cx="1460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41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H="1">
            <a:off x="2162225" y="1247072"/>
            <a:ext cx="115747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2111614" y="1297683"/>
            <a:ext cx="0" cy="241127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2162225" y="1589421"/>
            <a:ext cx="115747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3370314" y="1297683"/>
            <a:ext cx="0" cy="241127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H="1">
            <a:off x="709488" y="1864888"/>
            <a:ext cx="907263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658877" y="1915499"/>
            <a:ext cx="0" cy="23814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709488" y="2204259"/>
            <a:ext cx="907263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1667362" y="1915499"/>
            <a:ext cx="0" cy="23814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H="1">
            <a:off x="2220345" y="2060759"/>
            <a:ext cx="104123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2169735" y="2111370"/>
            <a:ext cx="0" cy="214111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2220345" y="2376092"/>
            <a:ext cx="104123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3312193" y="2111370"/>
            <a:ext cx="0" cy="214111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H="1">
            <a:off x="3865177" y="1876907"/>
            <a:ext cx="1185326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3814566" y="1927518"/>
            <a:ext cx="0" cy="214111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3865177" y="2192240"/>
            <a:ext cx="1185326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5101114" y="1927518"/>
            <a:ext cx="0" cy="214111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Freeform 51"/>
          <p:cNvSpPr/>
          <p:nvPr/>
        </p:nvSpPr>
        <p:spPr>
          <a:xfrm>
            <a:off x="1181100" y="17907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1"/>
                </a:lnTo>
                <a:lnTo>
                  <a:pt x="2" y="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2781300" y="19939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1"/>
                </a:lnTo>
                <a:lnTo>
                  <a:pt x="1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Freeform 53"/>
          <p:cNvSpPr/>
          <p:nvPr/>
        </p:nvSpPr>
        <p:spPr>
          <a:xfrm>
            <a:off x="4381500" y="18034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2" y="4"/>
                </a:moveTo>
                <a:lnTo>
                  <a:pt x="3" y="0"/>
                </a:lnTo>
                <a:lnTo>
                  <a:pt x="2" y="2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2880004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7" name="Picture 5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58" name="Picture 5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59" name="TextBox 58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Encoding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59993" y="990325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chromosome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used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represent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different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types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variables.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216365" y="1347817"/>
            <a:ext cx="356903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Types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variables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63650" y="1962649"/>
            <a:ext cx="502174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Binary-valued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274493" y="2158521"/>
            <a:ext cx="35109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Nominal-valued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919295" y="1974676"/>
            <a:ext cx="186610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Continuous-valued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898770" y="3150930"/>
            <a:ext cx="8866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624791" y="3150706"/>
            <a:ext cx="16060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42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27678034" y="-23594933"/>
            <a:ext cx="237591" cy="222682"/>
          </a:xfrm>
          <a:prstGeom prst="rect">
            <a:avLst/>
          </a:prstGeom>
          <a:solidFill>
            <a:srgbClr val="DADA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7" name="Connector 36"/>
          <p:cNvCxnSpPr/>
          <p:nvPr/>
        </p:nvCxnSpPr>
        <p:spPr>
          <a:xfrm flipV="1">
            <a:off x="27675507" y="-23594933"/>
            <a:ext cx="0" cy="222683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27918153" y="-23594933"/>
            <a:ext cx="0" cy="222683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ectangle 38"/>
          <p:cNvSpPr/>
          <p:nvPr/>
        </p:nvSpPr>
        <p:spPr>
          <a:xfrm>
            <a:off x="27727082" y="-23273559"/>
            <a:ext cx="237591" cy="222682"/>
          </a:xfrm>
          <a:prstGeom prst="rect">
            <a:avLst/>
          </a:prstGeom>
          <a:solidFill>
            <a:srgbClr val="DADA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7969728" y="-23273559"/>
            <a:ext cx="237591" cy="222682"/>
          </a:xfrm>
          <a:prstGeom prst="rect">
            <a:avLst/>
          </a:prstGeom>
          <a:solidFill>
            <a:srgbClr val="DADA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1" name="Connector 40"/>
          <p:cNvCxnSpPr/>
          <p:nvPr/>
        </p:nvCxnSpPr>
        <p:spPr>
          <a:xfrm flipV="1">
            <a:off x="27724552" y="-23273559"/>
            <a:ext cx="0" cy="222683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27967201" y="-23273559"/>
            <a:ext cx="0" cy="222683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28209847" y="-23273559"/>
            <a:ext cx="0" cy="222683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ectangle 43"/>
          <p:cNvSpPr/>
          <p:nvPr/>
        </p:nvSpPr>
        <p:spPr>
          <a:xfrm>
            <a:off x="27814773" y="-22952174"/>
            <a:ext cx="237591" cy="222682"/>
          </a:xfrm>
          <a:prstGeom prst="rect">
            <a:avLst/>
          </a:prstGeom>
          <a:solidFill>
            <a:srgbClr val="DADA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28057434" y="-22952174"/>
            <a:ext cx="237591" cy="222682"/>
          </a:xfrm>
          <a:prstGeom prst="rect">
            <a:avLst/>
          </a:prstGeom>
          <a:solidFill>
            <a:srgbClr val="DADA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28300080" y="-22952174"/>
            <a:ext cx="237591" cy="222682"/>
          </a:xfrm>
          <a:prstGeom prst="rect">
            <a:avLst/>
          </a:prstGeom>
          <a:solidFill>
            <a:srgbClr val="DADA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7" name="Connector 46"/>
          <p:cNvCxnSpPr/>
          <p:nvPr/>
        </p:nvCxnSpPr>
        <p:spPr>
          <a:xfrm flipV="1">
            <a:off x="27812246" y="-22952174"/>
            <a:ext cx="0" cy="222683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28054895" y="-22952174"/>
            <a:ext cx="0" cy="222683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28297553" y="-22952174"/>
            <a:ext cx="0" cy="222683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V="1">
            <a:off x="28540199" y="-22952174"/>
            <a:ext cx="0" cy="222683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Rectangle 50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2880003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3" name="Picture 5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54" name="Picture 5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Encoding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8000" y="359888"/>
            <a:ext cx="567739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1">
                <a:solidFill>
                  <a:srgbClr val="003373"/>
                </a:solidFill>
                <a:latin typeface="Josefin Sans"/>
              </a:rPr>
              <a:t>Binary-valued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variables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59993" y="795928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Binary-valued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variables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60057" y="1009864"/>
            <a:ext cx="532533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boolean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data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60057" y="1267979"/>
            <a:ext cx="532533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each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variable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occupies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only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bit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898770" y="3150918"/>
            <a:ext cx="8866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623813" y="3150694"/>
            <a:ext cx="16158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43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2277706" y="1805394"/>
            <a:ext cx="237591" cy="222681"/>
          </a:xfrm>
          <a:prstGeom prst="rect">
            <a:avLst/>
          </a:prstGeom>
          <a:solidFill>
            <a:srgbClr val="DADA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7" name="Connector 36"/>
          <p:cNvCxnSpPr/>
          <p:nvPr/>
        </p:nvCxnSpPr>
        <p:spPr>
          <a:xfrm flipV="1">
            <a:off x="2275178" y="1805394"/>
            <a:ext cx="0" cy="222681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2517824" y="1805394"/>
            <a:ext cx="0" cy="222681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ectangle 38"/>
          <p:cNvSpPr/>
          <p:nvPr/>
        </p:nvSpPr>
        <p:spPr>
          <a:xfrm>
            <a:off x="2326753" y="2126767"/>
            <a:ext cx="237591" cy="222681"/>
          </a:xfrm>
          <a:prstGeom prst="rect">
            <a:avLst/>
          </a:prstGeom>
          <a:solidFill>
            <a:srgbClr val="DADA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569399" y="2126767"/>
            <a:ext cx="237591" cy="222681"/>
          </a:xfrm>
          <a:prstGeom prst="rect">
            <a:avLst/>
          </a:prstGeom>
          <a:solidFill>
            <a:srgbClr val="DADA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1" name="Connector 40"/>
          <p:cNvCxnSpPr/>
          <p:nvPr/>
        </p:nvCxnSpPr>
        <p:spPr>
          <a:xfrm flipV="1">
            <a:off x="2324226" y="2126767"/>
            <a:ext cx="0" cy="222682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2566872" y="2126767"/>
            <a:ext cx="0" cy="222682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2809518" y="2126767"/>
            <a:ext cx="0" cy="222682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ectangle 43"/>
          <p:cNvSpPr/>
          <p:nvPr/>
        </p:nvSpPr>
        <p:spPr>
          <a:xfrm>
            <a:off x="2414447" y="2448153"/>
            <a:ext cx="237591" cy="222681"/>
          </a:xfrm>
          <a:prstGeom prst="rect">
            <a:avLst/>
          </a:prstGeom>
          <a:solidFill>
            <a:srgbClr val="DADA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2657106" y="2448153"/>
            <a:ext cx="237591" cy="222681"/>
          </a:xfrm>
          <a:prstGeom prst="rect">
            <a:avLst/>
          </a:prstGeom>
          <a:solidFill>
            <a:srgbClr val="DADA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2899752" y="2448153"/>
            <a:ext cx="237591" cy="222681"/>
          </a:xfrm>
          <a:prstGeom prst="rect">
            <a:avLst/>
          </a:prstGeom>
          <a:solidFill>
            <a:srgbClr val="DADA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7" name="Connector 46"/>
          <p:cNvCxnSpPr/>
          <p:nvPr/>
        </p:nvCxnSpPr>
        <p:spPr>
          <a:xfrm flipV="1">
            <a:off x="2411919" y="2448153"/>
            <a:ext cx="0" cy="222682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2654565" y="2448153"/>
            <a:ext cx="0" cy="222682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2897225" y="2448153"/>
            <a:ext cx="0" cy="222682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V="1">
            <a:off x="3139871" y="2448153"/>
            <a:ext cx="0" cy="222682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Rectangle 50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2880003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3" name="Picture 5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54" name="Picture 5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Encoding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8000" y="359888"/>
            <a:ext cx="567739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1">
                <a:solidFill>
                  <a:srgbClr val="003373"/>
                </a:solidFill>
                <a:latin typeface="Josefin Sans"/>
              </a:rPr>
              <a:t>Binary-valued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variables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59993" y="795928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Binary-valued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variables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60057" y="1009864"/>
            <a:ext cx="532533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boolean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data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60057" y="1267979"/>
            <a:ext cx="532533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each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variable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occupies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only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bit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59993" y="1569851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Example,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60056" y="1797010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one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binary-valued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variable: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353626" y="1840551"/>
            <a:ext cx="343176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60056" y="2118384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two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binary-valued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variables: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402661" y="2161925"/>
            <a:ext cx="338273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645320" y="2161925"/>
            <a:ext cx="314007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60056" y="2439757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three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binary-valued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variables: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490367" y="2483299"/>
            <a:ext cx="329502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733013" y="2483299"/>
            <a:ext cx="305238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975672" y="2483299"/>
            <a:ext cx="280972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898770" y="3150918"/>
            <a:ext cx="8866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623813" y="3150694"/>
            <a:ext cx="16158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43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27671799" y="-23023064"/>
            <a:ext cx="237591" cy="222682"/>
          </a:xfrm>
          <a:prstGeom prst="rect">
            <a:avLst/>
          </a:prstGeom>
          <a:solidFill>
            <a:srgbClr val="DADA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7914444" y="-23023064"/>
            <a:ext cx="195479" cy="222682"/>
          </a:xfrm>
          <a:prstGeom prst="rect">
            <a:avLst/>
          </a:prstGeom>
          <a:solidFill>
            <a:srgbClr val="DADA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8114978" y="-23023064"/>
            <a:ext cx="237591" cy="222682"/>
          </a:xfrm>
          <a:prstGeom prst="rect">
            <a:avLst/>
          </a:prstGeom>
          <a:solidFill>
            <a:srgbClr val="DADA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8357636" y="-23023064"/>
            <a:ext cx="237591" cy="222682"/>
          </a:xfrm>
          <a:prstGeom prst="rect">
            <a:avLst/>
          </a:prstGeom>
          <a:solidFill>
            <a:srgbClr val="DADA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8600282" y="-23023064"/>
            <a:ext cx="237591" cy="222682"/>
          </a:xfrm>
          <a:prstGeom prst="rect">
            <a:avLst/>
          </a:prstGeom>
          <a:solidFill>
            <a:srgbClr val="DADA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1" name="Connector 40"/>
          <p:cNvCxnSpPr/>
          <p:nvPr/>
        </p:nvCxnSpPr>
        <p:spPr>
          <a:xfrm flipV="1">
            <a:off x="27669272" y="-23023064"/>
            <a:ext cx="0" cy="222683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27911917" y="-23023064"/>
            <a:ext cx="0" cy="222683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28112451" y="-23023064"/>
            <a:ext cx="0" cy="222683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28355109" y="-23023064"/>
            <a:ext cx="0" cy="222683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28597755" y="-23023064"/>
            <a:ext cx="0" cy="222683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28840400" y="-23023064"/>
            <a:ext cx="0" cy="222683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ectangle 46"/>
          <p:cNvSpPr/>
          <p:nvPr/>
        </p:nvSpPr>
        <p:spPr>
          <a:xfrm>
            <a:off x="0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2880003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9" name="Picture 48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50" name="Picture 4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Encoding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8000" y="359888"/>
            <a:ext cx="567739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1">
                <a:solidFill>
                  <a:srgbClr val="003373"/>
                </a:solidFill>
                <a:latin typeface="Josefin Sans"/>
              </a:rPr>
              <a:t>Nominal-valued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variables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59993" y="843185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Nominal-valued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variables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60057" y="1057121"/>
            <a:ext cx="532533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categorical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data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60057" y="1315235"/>
            <a:ext cx="532533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one-hot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encoding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898770" y="3150919"/>
            <a:ext cx="8866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623966" y="3150695"/>
            <a:ext cx="16143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44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2271470" y="2377263"/>
            <a:ext cx="237591" cy="222681"/>
          </a:xfrm>
          <a:prstGeom prst="rect">
            <a:avLst/>
          </a:prstGeom>
          <a:solidFill>
            <a:srgbClr val="DADA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514116" y="2377263"/>
            <a:ext cx="195478" cy="222681"/>
          </a:xfrm>
          <a:prstGeom prst="rect">
            <a:avLst/>
          </a:prstGeom>
          <a:solidFill>
            <a:srgbClr val="DADA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714649" y="2377263"/>
            <a:ext cx="237591" cy="222681"/>
          </a:xfrm>
          <a:prstGeom prst="rect">
            <a:avLst/>
          </a:prstGeom>
          <a:solidFill>
            <a:srgbClr val="DADA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957308" y="2377263"/>
            <a:ext cx="237591" cy="222681"/>
          </a:xfrm>
          <a:prstGeom prst="rect">
            <a:avLst/>
          </a:prstGeom>
          <a:solidFill>
            <a:srgbClr val="DADA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199954" y="2377263"/>
            <a:ext cx="237591" cy="222681"/>
          </a:xfrm>
          <a:prstGeom prst="rect">
            <a:avLst/>
          </a:prstGeom>
          <a:solidFill>
            <a:srgbClr val="DADA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1" name="Connector 40"/>
          <p:cNvCxnSpPr/>
          <p:nvPr/>
        </p:nvCxnSpPr>
        <p:spPr>
          <a:xfrm flipV="1">
            <a:off x="2268943" y="2377263"/>
            <a:ext cx="0" cy="222681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2511589" y="2377263"/>
            <a:ext cx="0" cy="222681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2712122" y="2377263"/>
            <a:ext cx="0" cy="222681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2954781" y="2377263"/>
            <a:ext cx="0" cy="222681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3197427" y="2377263"/>
            <a:ext cx="0" cy="222681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3440073" y="2377263"/>
            <a:ext cx="0" cy="222681"/>
          </a:xfrm>
          <a:prstGeom prst="line">
            <a:avLst/>
          </a:prstGeom>
          <a:ln w="5054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ectangle 46"/>
          <p:cNvSpPr/>
          <p:nvPr/>
        </p:nvSpPr>
        <p:spPr>
          <a:xfrm>
            <a:off x="0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2880003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9" name="Picture 48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50" name="Picture 4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Encoding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8000" y="359888"/>
            <a:ext cx="567739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1">
                <a:solidFill>
                  <a:srgbClr val="003373"/>
                </a:solidFill>
                <a:latin typeface="Josefin Sans"/>
              </a:rPr>
              <a:t>Nominal-valued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variables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59993" y="843185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Nominal-valued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variables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60057" y="1057121"/>
            <a:ext cx="532533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categorical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data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60057" y="1315235"/>
            <a:ext cx="532533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one-hot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encoding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59993" y="1617108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Example,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60056" y="1831466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variable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containing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information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weather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60056" y="2089568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possible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values: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{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hot,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windy,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cloudy,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rain,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thunderstorm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}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60056" y="2368879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encoded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chromosome: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347391" y="2412420"/>
            <a:ext cx="343800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590037" y="2412420"/>
            <a:ext cx="319535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790570" y="2412420"/>
            <a:ext cx="299482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033216" y="2412420"/>
            <a:ext cx="275217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275875" y="2412420"/>
            <a:ext cx="250952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898770" y="3150919"/>
            <a:ext cx="8866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623966" y="3150695"/>
            <a:ext cx="16143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44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4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Encoding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8000" y="359888"/>
            <a:ext cx="567739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1">
                <a:solidFill>
                  <a:srgbClr val="003373"/>
                </a:solidFill>
                <a:latin typeface="Josefin Sans"/>
              </a:rPr>
              <a:t>Nominal-valued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variables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9993" y="1318823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nominal-valued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variable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2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possible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states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represented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1-bit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binary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9993" y="1490895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string.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830780" y="1749010"/>
            <a:ext cx="395461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statement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true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false?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why?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898770" y="3150917"/>
            <a:ext cx="8866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23280" y="3150693"/>
            <a:ext cx="16211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45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3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Encoding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8000" y="359888"/>
            <a:ext cx="567739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1">
                <a:solidFill>
                  <a:srgbClr val="003373"/>
                </a:solidFill>
                <a:latin typeface="Josefin Sans"/>
              </a:rPr>
              <a:t>Continuous-valued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variables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9993" y="809085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Continuous-valued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variables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0057" y="1002777"/>
            <a:ext cx="532533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mapped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binary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string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using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binary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coding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84173" y="1294002"/>
            <a:ext cx="500122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Josefin Sans"/>
              </a:rPr>
              <a:t>1.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defining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finite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range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for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continuous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value,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[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Josefin Sans"/>
              </a:rPr>
              <a:t>min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 x</a:t>
            </a:r>
            <a:r>
              <a:rPr sz="697" b="0">
                <a:solidFill>
                  <a:srgbClr val="000000"/>
                </a:solidFill>
                <a:latin typeface="Josefin Sans"/>
              </a:rPr>
              <a:t>max</a:t>
            </a:r>
            <a:r>
              <a:rPr sz="996" b="0">
                <a:solidFill>
                  <a:srgbClr val="000000"/>
                </a:solidFill>
                <a:latin typeface="Cambria Math"/>
              </a:rPr>
              <a:t>]</a:t>
            </a:r>
            <a:r>
              <a:rPr sz="996" b="0">
                <a:solidFill>
                  <a:srgbClr val="000000"/>
                </a:solidFill>
                <a:latin typeface="Josefin Sans"/>
              </a:rPr>
              <a:t>,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898770" y="3150918"/>
            <a:ext cx="8866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23127" y="3150694"/>
            <a:ext cx="16226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46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3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Encoding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8000" y="359888"/>
            <a:ext cx="567739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1">
                <a:solidFill>
                  <a:srgbClr val="003373"/>
                </a:solidFill>
                <a:latin typeface="Josefin Sans"/>
              </a:rPr>
              <a:t>Continuous-valued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variables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9993" y="809085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Continuous-valued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variables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0057" y="1002777"/>
            <a:ext cx="532533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mapped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binary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string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using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binary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coding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84173" y="1294002"/>
            <a:ext cx="500122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Josefin Sans"/>
              </a:rPr>
              <a:t>1.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defining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finite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range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for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continuous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value,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[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Josefin Sans"/>
              </a:rPr>
              <a:t>min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 x</a:t>
            </a:r>
            <a:r>
              <a:rPr sz="697" b="0">
                <a:solidFill>
                  <a:srgbClr val="000000"/>
                </a:solidFill>
                <a:latin typeface="Josefin Sans"/>
              </a:rPr>
              <a:t>max</a:t>
            </a:r>
            <a:r>
              <a:rPr sz="996" b="0">
                <a:solidFill>
                  <a:srgbClr val="000000"/>
                </a:solidFill>
                <a:latin typeface="Cambria Math"/>
              </a:rPr>
              <a:t>]</a:t>
            </a:r>
            <a:r>
              <a:rPr sz="996" b="0">
                <a:solidFill>
                  <a:srgbClr val="000000"/>
                </a:solidFill>
                <a:latin typeface="Josefin Sans"/>
              </a:rPr>
              <a:t>,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59879" y="1531873"/>
            <a:ext cx="5025516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Josefin Sans"/>
              </a:rPr>
              <a:t>2.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defining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number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bits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for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binary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string,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n</a:t>
            </a:r>
            <a:r>
              <a:rPr sz="697" b="0">
                <a:solidFill>
                  <a:srgbClr val="000000"/>
                </a:solidFill>
                <a:latin typeface="Cambria Math"/>
              </a:rPr>
              <a:t>b</a:t>
            </a:r>
            <a:r>
              <a:rPr sz="996" b="0">
                <a:solidFill>
                  <a:srgbClr val="000000"/>
                </a:solidFill>
                <a:latin typeface="Josefin Sans"/>
              </a:rPr>
              <a:t>,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and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98770" y="3150918"/>
            <a:ext cx="8866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623127" y="3150694"/>
            <a:ext cx="16226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46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0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3" y="3146740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Encoding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8000" y="359888"/>
            <a:ext cx="567739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1">
                <a:solidFill>
                  <a:srgbClr val="003373"/>
                </a:solidFill>
                <a:latin typeface="Josefin Sans"/>
              </a:rPr>
              <a:t>Continuous-valued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variables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9993" y="809085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Continuous-valued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variables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0057" y="1002777"/>
            <a:ext cx="532533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mapped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binary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string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using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binary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coding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84173" y="1294002"/>
            <a:ext cx="500122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Josefin Sans"/>
              </a:rPr>
              <a:t>1.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defining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finite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range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for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continuous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value,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[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Josefin Sans"/>
              </a:rPr>
              <a:t>min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 x</a:t>
            </a:r>
            <a:r>
              <a:rPr sz="697" b="0">
                <a:solidFill>
                  <a:srgbClr val="000000"/>
                </a:solidFill>
                <a:latin typeface="Josefin Sans"/>
              </a:rPr>
              <a:t>max</a:t>
            </a:r>
            <a:r>
              <a:rPr sz="996" b="0">
                <a:solidFill>
                  <a:srgbClr val="000000"/>
                </a:solidFill>
                <a:latin typeface="Cambria Math"/>
              </a:rPr>
              <a:t>]</a:t>
            </a:r>
            <a:r>
              <a:rPr sz="996" b="0">
                <a:solidFill>
                  <a:srgbClr val="000000"/>
                </a:solidFill>
                <a:latin typeface="Josefin Sans"/>
              </a:rPr>
              <a:t>,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59879" y="1531873"/>
            <a:ext cx="5025516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Josefin Sans"/>
              </a:rPr>
              <a:t>2.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defining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number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bits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for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binary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string,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n</a:t>
            </a:r>
            <a:r>
              <a:rPr sz="697" b="0">
                <a:solidFill>
                  <a:srgbClr val="000000"/>
                </a:solidFill>
                <a:latin typeface="Cambria Math"/>
              </a:rPr>
              <a:t>b</a:t>
            </a:r>
            <a:r>
              <a:rPr sz="996" b="0">
                <a:solidFill>
                  <a:srgbClr val="000000"/>
                </a:solidFill>
                <a:latin typeface="Josefin Sans"/>
              </a:rPr>
              <a:t>,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and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58240" y="1769744"/>
            <a:ext cx="5027156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Josefin Sans"/>
              </a:rPr>
              <a:t>3.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convert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continuous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value,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from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range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[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Josefin Sans"/>
              </a:rPr>
              <a:t>min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 x</a:t>
            </a:r>
            <a:r>
              <a:rPr sz="697" b="0">
                <a:solidFill>
                  <a:srgbClr val="000000"/>
                </a:solidFill>
                <a:latin typeface="Josefin Sans"/>
              </a:rPr>
              <a:t>max</a:t>
            </a:r>
            <a:r>
              <a:rPr sz="996" b="0">
                <a:solidFill>
                  <a:srgbClr val="000000"/>
                </a:solidFill>
                <a:latin typeface="Cambria Math"/>
              </a:rPr>
              <a:t>]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to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value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b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14183" y="1889566"/>
            <a:ext cx="487121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(rounded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to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whole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number)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range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[0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2</a:t>
            </a:r>
            <a:r>
              <a:rPr sz="697" b="0">
                <a:solidFill>
                  <a:srgbClr val="000000"/>
                </a:solidFill>
                <a:latin typeface="Cambria Math"/>
              </a:rPr>
              <a:t>n</a:t>
            </a:r>
            <a:r>
              <a:rPr sz="498" b="0">
                <a:solidFill>
                  <a:srgbClr val="000000"/>
                </a:solidFill>
                <a:latin typeface="Cambria Math"/>
              </a:rPr>
              <a:t>b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−</a:t>
            </a:r>
            <a:r>
              <a:rPr sz="996" b="0">
                <a:solidFill>
                  <a:srgbClr val="000000"/>
                </a:solidFill>
                <a:latin typeface="Cambria Math"/>
              </a:rPr>
              <a:t>1]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898770" y="3150915"/>
            <a:ext cx="8866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623127" y="3150691"/>
            <a:ext cx="16226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46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2" y="3146740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6" y="3146740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Encoding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8000" y="359888"/>
            <a:ext cx="567739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1">
                <a:solidFill>
                  <a:srgbClr val="003373"/>
                </a:solidFill>
                <a:latin typeface="Josefin Sans"/>
              </a:rPr>
              <a:t>Continuous-valued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variables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9993" y="809085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Continuous-valued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variables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0057" y="1002777"/>
            <a:ext cx="532533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mapped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binary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string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using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binary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coding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84173" y="1294002"/>
            <a:ext cx="500122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Josefin Sans"/>
              </a:rPr>
              <a:t>1.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defining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finite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range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for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continuous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value,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[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Josefin Sans"/>
              </a:rPr>
              <a:t>min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 x</a:t>
            </a:r>
            <a:r>
              <a:rPr sz="697" b="0">
                <a:solidFill>
                  <a:srgbClr val="000000"/>
                </a:solidFill>
                <a:latin typeface="Josefin Sans"/>
              </a:rPr>
              <a:t>max</a:t>
            </a:r>
            <a:r>
              <a:rPr sz="996" b="0">
                <a:solidFill>
                  <a:srgbClr val="000000"/>
                </a:solidFill>
                <a:latin typeface="Cambria Math"/>
              </a:rPr>
              <a:t>]</a:t>
            </a:r>
            <a:r>
              <a:rPr sz="996" b="0">
                <a:solidFill>
                  <a:srgbClr val="000000"/>
                </a:solidFill>
                <a:latin typeface="Josefin Sans"/>
              </a:rPr>
              <a:t>,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59879" y="1531873"/>
            <a:ext cx="5025516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Josefin Sans"/>
              </a:rPr>
              <a:t>2.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defining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number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bits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for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binary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string,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n</a:t>
            </a:r>
            <a:r>
              <a:rPr sz="697" b="0">
                <a:solidFill>
                  <a:srgbClr val="000000"/>
                </a:solidFill>
                <a:latin typeface="Cambria Math"/>
              </a:rPr>
              <a:t>b</a:t>
            </a:r>
            <a:r>
              <a:rPr sz="996" b="0">
                <a:solidFill>
                  <a:srgbClr val="000000"/>
                </a:solidFill>
                <a:latin typeface="Josefin Sans"/>
              </a:rPr>
              <a:t>,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and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58240" y="1769744"/>
            <a:ext cx="5027156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Josefin Sans"/>
              </a:rPr>
              <a:t>3.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convert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continuous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value,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from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range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[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Josefin Sans"/>
              </a:rPr>
              <a:t>min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 x</a:t>
            </a:r>
            <a:r>
              <a:rPr sz="697" b="0">
                <a:solidFill>
                  <a:srgbClr val="000000"/>
                </a:solidFill>
                <a:latin typeface="Josefin Sans"/>
              </a:rPr>
              <a:t>max</a:t>
            </a:r>
            <a:r>
              <a:rPr sz="996" b="0">
                <a:solidFill>
                  <a:srgbClr val="000000"/>
                </a:solidFill>
                <a:latin typeface="Cambria Math"/>
              </a:rPr>
              <a:t>]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to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value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b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14183" y="1889566"/>
            <a:ext cx="487121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(rounded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to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whole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number)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range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[0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2</a:t>
            </a:r>
            <a:r>
              <a:rPr sz="697" b="0">
                <a:solidFill>
                  <a:srgbClr val="000000"/>
                </a:solidFill>
                <a:latin typeface="Cambria Math"/>
              </a:rPr>
              <a:t>n</a:t>
            </a:r>
            <a:r>
              <a:rPr sz="498" b="0">
                <a:solidFill>
                  <a:srgbClr val="000000"/>
                </a:solidFill>
                <a:latin typeface="Cambria Math"/>
              </a:rPr>
              <a:t>b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−</a:t>
            </a:r>
            <a:r>
              <a:rPr sz="996" b="0">
                <a:solidFill>
                  <a:srgbClr val="000000"/>
                </a:solidFill>
                <a:latin typeface="Cambria Math"/>
              </a:rPr>
              <a:t>1]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59995" y="2170090"/>
            <a:ext cx="54254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For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example,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taking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range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10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100,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what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4-bit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binary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string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59995" y="2342162"/>
            <a:ext cx="54254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representation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value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16?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98773" y="3150915"/>
            <a:ext cx="88662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623130" y="3150691"/>
            <a:ext cx="16226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46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2" y="3146740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6" y="3146740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Encoding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8000" y="359888"/>
            <a:ext cx="567739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1">
                <a:solidFill>
                  <a:srgbClr val="003373"/>
                </a:solidFill>
                <a:latin typeface="Josefin Sans"/>
              </a:rPr>
              <a:t>Continuous-valued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variables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9993" y="809085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Continuous-valued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variables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0057" y="1002777"/>
            <a:ext cx="532533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mapped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binary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string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using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binary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coding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84173" y="1294002"/>
            <a:ext cx="500122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Josefin Sans"/>
              </a:rPr>
              <a:t>1.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defining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finite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range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for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continuous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value,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[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Josefin Sans"/>
              </a:rPr>
              <a:t>min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 x</a:t>
            </a:r>
            <a:r>
              <a:rPr sz="697" b="0">
                <a:solidFill>
                  <a:srgbClr val="000000"/>
                </a:solidFill>
                <a:latin typeface="Josefin Sans"/>
              </a:rPr>
              <a:t>max</a:t>
            </a:r>
            <a:r>
              <a:rPr sz="996" b="0">
                <a:solidFill>
                  <a:srgbClr val="000000"/>
                </a:solidFill>
                <a:latin typeface="Cambria Math"/>
              </a:rPr>
              <a:t>]</a:t>
            </a:r>
            <a:r>
              <a:rPr sz="996" b="0">
                <a:solidFill>
                  <a:srgbClr val="000000"/>
                </a:solidFill>
                <a:latin typeface="Josefin Sans"/>
              </a:rPr>
              <a:t>,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59879" y="1531873"/>
            <a:ext cx="5025516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Josefin Sans"/>
              </a:rPr>
              <a:t>2.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defining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number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bits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for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binary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string,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n</a:t>
            </a:r>
            <a:r>
              <a:rPr sz="697" b="0">
                <a:solidFill>
                  <a:srgbClr val="000000"/>
                </a:solidFill>
                <a:latin typeface="Cambria Math"/>
              </a:rPr>
              <a:t>b</a:t>
            </a:r>
            <a:r>
              <a:rPr sz="996" b="0">
                <a:solidFill>
                  <a:srgbClr val="000000"/>
                </a:solidFill>
                <a:latin typeface="Josefin Sans"/>
              </a:rPr>
              <a:t>,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and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58240" y="1769744"/>
            <a:ext cx="5027156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Josefin Sans"/>
              </a:rPr>
              <a:t>3.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convert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continuous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value,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from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range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[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Josefin Sans"/>
              </a:rPr>
              <a:t>min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 x</a:t>
            </a:r>
            <a:r>
              <a:rPr sz="697" b="0">
                <a:solidFill>
                  <a:srgbClr val="000000"/>
                </a:solidFill>
                <a:latin typeface="Josefin Sans"/>
              </a:rPr>
              <a:t>max</a:t>
            </a:r>
            <a:r>
              <a:rPr sz="996" b="0">
                <a:solidFill>
                  <a:srgbClr val="000000"/>
                </a:solidFill>
                <a:latin typeface="Cambria Math"/>
              </a:rPr>
              <a:t>]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to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value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b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14183" y="1889566"/>
            <a:ext cx="487121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(rounded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to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whole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number)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range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[0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2</a:t>
            </a:r>
            <a:r>
              <a:rPr sz="697" b="0">
                <a:solidFill>
                  <a:srgbClr val="000000"/>
                </a:solidFill>
                <a:latin typeface="Cambria Math"/>
              </a:rPr>
              <a:t>n</a:t>
            </a:r>
            <a:r>
              <a:rPr sz="498" b="0">
                <a:solidFill>
                  <a:srgbClr val="000000"/>
                </a:solidFill>
                <a:latin typeface="Cambria Math"/>
              </a:rPr>
              <a:t>b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−</a:t>
            </a:r>
            <a:r>
              <a:rPr sz="996" b="0">
                <a:solidFill>
                  <a:srgbClr val="000000"/>
                </a:solidFill>
                <a:latin typeface="Cambria Math"/>
              </a:rPr>
              <a:t>1]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59995" y="2170090"/>
            <a:ext cx="54254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For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example,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taking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range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10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100,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what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4-bit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binary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string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59995" y="2342162"/>
            <a:ext cx="54254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representation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value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16?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What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5-bit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binary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string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representation?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98773" y="3150915"/>
            <a:ext cx="88662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623130" y="3150691"/>
            <a:ext cx="16226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46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2" y="3146740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6" y="3146740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Encoding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8000" y="359888"/>
            <a:ext cx="567739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1">
                <a:solidFill>
                  <a:srgbClr val="003373"/>
                </a:solidFill>
                <a:latin typeface="Josefin Sans"/>
              </a:rPr>
              <a:t>Continuous-valued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variables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9993" y="809085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Continuous-valued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variables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0057" y="1002777"/>
            <a:ext cx="532533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mapped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binary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string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using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binary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coding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84173" y="1294002"/>
            <a:ext cx="500122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Josefin Sans"/>
              </a:rPr>
              <a:t>1.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defining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finite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range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for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continuous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value,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[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Josefin Sans"/>
              </a:rPr>
              <a:t>min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 x</a:t>
            </a:r>
            <a:r>
              <a:rPr sz="697" b="0">
                <a:solidFill>
                  <a:srgbClr val="000000"/>
                </a:solidFill>
                <a:latin typeface="Josefin Sans"/>
              </a:rPr>
              <a:t>max</a:t>
            </a:r>
            <a:r>
              <a:rPr sz="996" b="0">
                <a:solidFill>
                  <a:srgbClr val="000000"/>
                </a:solidFill>
                <a:latin typeface="Cambria Math"/>
              </a:rPr>
              <a:t>]</a:t>
            </a:r>
            <a:r>
              <a:rPr sz="996" b="0">
                <a:solidFill>
                  <a:srgbClr val="000000"/>
                </a:solidFill>
                <a:latin typeface="Josefin Sans"/>
              </a:rPr>
              <a:t>,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59879" y="1531873"/>
            <a:ext cx="5025516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Josefin Sans"/>
              </a:rPr>
              <a:t>2.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defining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number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bits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for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binary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string,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n</a:t>
            </a:r>
            <a:r>
              <a:rPr sz="697" b="0">
                <a:solidFill>
                  <a:srgbClr val="000000"/>
                </a:solidFill>
                <a:latin typeface="Cambria Math"/>
              </a:rPr>
              <a:t>b</a:t>
            </a:r>
            <a:r>
              <a:rPr sz="996" b="0">
                <a:solidFill>
                  <a:srgbClr val="000000"/>
                </a:solidFill>
                <a:latin typeface="Josefin Sans"/>
              </a:rPr>
              <a:t>,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and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58240" y="1769744"/>
            <a:ext cx="5027156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Josefin Sans"/>
              </a:rPr>
              <a:t>3.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convert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continuous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value,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from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range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[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Josefin Sans"/>
              </a:rPr>
              <a:t>min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 x</a:t>
            </a:r>
            <a:r>
              <a:rPr sz="697" b="0">
                <a:solidFill>
                  <a:srgbClr val="000000"/>
                </a:solidFill>
                <a:latin typeface="Josefin Sans"/>
              </a:rPr>
              <a:t>max</a:t>
            </a:r>
            <a:r>
              <a:rPr sz="996" b="0">
                <a:solidFill>
                  <a:srgbClr val="000000"/>
                </a:solidFill>
                <a:latin typeface="Cambria Math"/>
              </a:rPr>
              <a:t>]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to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value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b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14183" y="1889566"/>
            <a:ext cx="487121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(rounded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to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whole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number)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range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[0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2</a:t>
            </a:r>
            <a:r>
              <a:rPr sz="697" b="0">
                <a:solidFill>
                  <a:srgbClr val="000000"/>
                </a:solidFill>
                <a:latin typeface="Cambria Math"/>
              </a:rPr>
              <a:t>n</a:t>
            </a:r>
            <a:r>
              <a:rPr sz="498" b="0">
                <a:solidFill>
                  <a:srgbClr val="000000"/>
                </a:solidFill>
                <a:latin typeface="Cambria Math"/>
              </a:rPr>
              <a:t>b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−</a:t>
            </a:r>
            <a:r>
              <a:rPr sz="996" b="0">
                <a:solidFill>
                  <a:srgbClr val="000000"/>
                </a:solidFill>
                <a:latin typeface="Cambria Math"/>
              </a:rPr>
              <a:t>1]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59995" y="2170090"/>
            <a:ext cx="54254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For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example,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taking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range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10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100,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what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4-bit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binary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string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59995" y="2342162"/>
            <a:ext cx="54254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representation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value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16?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What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5-bit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binary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string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representation?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What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59997" y="2514234"/>
            <a:ext cx="542539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has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changed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when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number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bits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changed?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898773" y="3150915"/>
            <a:ext cx="88662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623130" y="3150691"/>
            <a:ext cx="16226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46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27944405" y="-23554825"/>
            <a:ext cx="671845" cy="0"/>
          </a:xfrm>
          <a:prstGeom prst="line">
            <a:avLst/>
          </a:prstGeom>
          <a:ln w="553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tangle 36"/>
          <p:cNvSpPr/>
          <p:nvPr/>
        </p:nvSpPr>
        <p:spPr>
          <a:xfrm>
            <a:off x="0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880005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0" name="Picture 3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Encoding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8000" y="359888"/>
            <a:ext cx="567739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1">
                <a:solidFill>
                  <a:srgbClr val="003373"/>
                </a:solidFill>
                <a:latin typeface="Josefin Sans"/>
              </a:rPr>
              <a:t>Continuous-valued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variables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9993" y="1158803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accuracy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conversion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depends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number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bits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used.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898771" y="3150918"/>
            <a:ext cx="88662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27154" y="3150694"/>
            <a:ext cx="15824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47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2544077" y="1845500"/>
            <a:ext cx="671843" cy="0"/>
          </a:xfrm>
          <a:prstGeom prst="line">
            <a:avLst/>
          </a:prstGeom>
          <a:ln w="553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tangle 36"/>
          <p:cNvSpPr/>
          <p:nvPr/>
        </p:nvSpPr>
        <p:spPr>
          <a:xfrm>
            <a:off x="0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880005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0" name="Picture 3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Encoding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8000" y="359888"/>
            <a:ext cx="567739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1">
                <a:solidFill>
                  <a:srgbClr val="003373"/>
                </a:solidFill>
                <a:latin typeface="Josefin Sans"/>
              </a:rPr>
              <a:t>Continuous-valued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variables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9993" y="1158803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accuracy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conversion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depends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number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bits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used.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9995" y="1416917"/>
            <a:ext cx="542540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maximum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attainable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accuracy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binary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string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544078" y="1676346"/>
            <a:ext cx="324131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Josefin Sans"/>
              </a:rPr>
              <a:t>max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Josefin Sans"/>
              </a:rPr>
              <a:t>min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666315" y="1842932"/>
            <a:ext cx="311908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2</a:t>
            </a:r>
            <a:r>
              <a:rPr sz="797" b="0">
                <a:solidFill>
                  <a:srgbClr val="000000"/>
                </a:solidFill>
                <a:latin typeface="Cambria Math"/>
              </a:rPr>
              <a:t>n</a:t>
            </a:r>
            <a:r>
              <a:rPr sz="597" b="0">
                <a:solidFill>
                  <a:srgbClr val="000000"/>
                </a:solidFill>
                <a:latin typeface="Cambria Math"/>
              </a:rPr>
              <a:t>b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−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898771" y="3150917"/>
            <a:ext cx="88662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27154" y="3150693"/>
            <a:ext cx="15824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47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1070467" y="1288881"/>
            <a:ext cx="0" cy="97980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Freeform 36"/>
          <p:cNvSpPr/>
          <p:nvPr/>
        </p:nvSpPr>
        <p:spPr>
          <a:xfrm>
            <a:off x="1054100" y="12700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1" y="0"/>
                </a:moveTo>
                <a:lnTo>
                  <a:pt x="0" y="2"/>
                </a:lnTo>
                <a:lnTo>
                  <a:pt x="1" y="1"/>
                </a:lnTo>
                <a:lnTo>
                  <a:pt x="2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8" name="Connector 37"/>
          <p:cNvCxnSpPr/>
          <p:nvPr/>
        </p:nvCxnSpPr>
        <p:spPr>
          <a:xfrm>
            <a:off x="1070467" y="2268690"/>
            <a:ext cx="352349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Freeform 38"/>
          <p:cNvSpPr/>
          <p:nvPr/>
        </p:nvSpPr>
        <p:spPr>
          <a:xfrm>
            <a:off x="4584700" y="22606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0" name="Connector 39"/>
          <p:cNvCxnSpPr/>
          <p:nvPr/>
        </p:nvCxnSpPr>
        <p:spPr>
          <a:xfrm flipV="1">
            <a:off x="1070467" y="2257630"/>
            <a:ext cx="0" cy="2212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1291657" y="2257630"/>
            <a:ext cx="0" cy="2212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1512848" y="2257630"/>
            <a:ext cx="0" cy="2212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1734038" y="2257630"/>
            <a:ext cx="0" cy="2212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1955229" y="2257630"/>
            <a:ext cx="0" cy="2212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2176419" y="2257630"/>
            <a:ext cx="0" cy="2212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2397609" y="2257630"/>
            <a:ext cx="0" cy="2212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2618799" y="2257630"/>
            <a:ext cx="0" cy="2212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2839990" y="2257630"/>
            <a:ext cx="0" cy="2212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3061180" y="2257630"/>
            <a:ext cx="0" cy="2212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V="1">
            <a:off x="3282370" y="2257630"/>
            <a:ext cx="0" cy="2212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3503561" y="2257630"/>
            <a:ext cx="0" cy="2212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3724751" y="2257630"/>
            <a:ext cx="0" cy="2212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3945942" y="2257630"/>
            <a:ext cx="0" cy="2212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V="1">
            <a:off x="4167132" y="2257630"/>
            <a:ext cx="0" cy="2212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V="1">
            <a:off x="4388322" y="2257630"/>
            <a:ext cx="0" cy="2212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1059407" y="2268690"/>
            <a:ext cx="22120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1059407" y="2047500"/>
            <a:ext cx="22120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1059407" y="1826309"/>
            <a:ext cx="22120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1059407" y="1605119"/>
            <a:ext cx="22120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1059407" y="1383929"/>
            <a:ext cx="22120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1291657" y="1826309"/>
            <a:ext cx="221191" cy="221191"/>
          </a:xfrm>
          <a:prstGeom prst="line">
            <a:avLst/>
          </a:prstGeom>
          <a:ln w="6219">
            <a:solidFill>
              <a:srgbClr val="0033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1512848" y="1826309"/>
            <a:ext cx="221190" cy="221191"/>
          </a:xfrm>
          <a:prstGeom prst="line">
            <a:avLst/>
          </a:prstGeom>
          <a:ln w="6219">
            <a:solidFill>
              <a:srgbClr val="0033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1734038" y="1605119"/>
            <a:ext cx="221191" cy="442381"/>
          </a:xfrm>
          <a:prstGeom prst="line">
            <a:avLst/>
          </a:prstGeom>
          <a:ln w="6219">
            <a:solidFill>
              <a:srgbClr val="0033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1955229" y="1605119"/>
            <a:ext cx="221190" cy="442381"/>
          </a:xfrm>
          <a:prstGeom prst="line">
            <a:avLst/>
          </a:prstGeom>
          <a:ln w="6219">
            <a:solidFill>
              <a:srgbClr val="0033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2176419" y="1826309"/>
            <a:ext cx="221190" cy="221191"/>
          </a:xfrm>
          <a:prstGeom prst="line">
            <a:avLst/>
          </a:prstGeom>
          <a:ln w="6219">
            <a:solidFill>
              <a:srgbClr val="0033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2397609" y="1826309"/>
            <a:ext cx="221190" cy="221191"/>
          </a:xfrm>
          <a:prstGeom prst="line">
            <a:avLst/>
          </a:prstGeom>
          <a:ln w="6219">
            <a:solidFill>
              <a:srgbClr val="0033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V="1">
            <a:off x="2618799" y="1383929"/>
            <a:ext cx="221191" cy="663571"/>
          </a:xfrm>
          <a:prstGeom prst="line">
            <a:avLst/>
          </a:prstGeom>
          <a:ln w="6219">
            <a:solidFill>
              <a:srgbClr val="0033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2839990" y="1383929"/>
            <a:ext cx="221190" cy="663571"/>
          </a:xfrm>
          <a:prstGeom prst="line">
            <a:avLst/>
          </a:prstGeom>
          <a:ln w="6219">
            <a:solidFill>
              <a:srgbClr val="0033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V="1">
            <a:off x="3061180" y="1826309"/>
            <a:ext cx="221190" cy="221191"/>
          </a:xfrm>
          <a:prstGeom prst="line">
            <a:avLst/>
          </a:prstGeom>
          <a:ln w="6219">
            <a:solidFill>
              <a:srgbClr val="0033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3282370" y="1826309"/>
            <a:ext cx="221191" cy="221191"/>
          </a:xfrm>
          <a:prstGeom prst="line">
            <a:avLst/>
          </a:prstGeom>
          <a:ln w="6219">
            <a:solidFill>
              <a:srgbClr val="0033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V="1">
            <a:off x="3503561" y="1605119"/>
            <a:ext cx="221190" cy="442381"/>
          </a:xfrm>
          <a:prstGeom prst="line">
            <a:avLst/>
          </a:prstGeom>
          <a:ln w="6219">
            <a:solidFill>
              <a:srgbClr val="0033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3724751" y="1605119"/>
            <a:ext cx="221191" cy="442381"/>
          </a:xfrm>
          <a:prstGeom prst="line">
            <a:avLst/>
          </a:prstGeom>
          <a:ln w="6219">
            <a:solidFill>
              <a:srgbClr val="0033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 flipV="1">
            <a:off x="3945942" y="1826309"/>
            <a:ext cx="221190" cy="221191"/>
          </a:xfrm>
          <a:prstGeom prst="line">
            <a:avLst/>
          </a:prstGeom>
          <a:ln w="6219">
            <a:solidFill>
              <a:srgbClr val="0033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4167132" y="1826309"/>
            <a:ext cx="221190" cy="221191"/>
          </a:xfrm>
          <a:prstGeom prst="line">
            <a:avLst/>
          </a:prstGeom>
          <a:ln w="6219">
            <a:solidFill>
              <a:srgbClr val="0033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Rectangle 74"/>
          <p:cNvSpPr/>
          <p:nvPr/>
        </p:nvSpPr>
        <p:spPr>
          <a:xfrm>
            <a:off x="0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2880003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7" name="Picture 7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78" name="Picture 7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79" name="TextBox 78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Encoding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08000" y="359888"/>
            <a:ext cx="567739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1">
                <a:solidFill>
                  <a:srgbClr val="003373"/>
                </a:solidFill>
                <a:latin typeface="Josefin Sans"/>
              </a:rPr>
              <a:t>Problem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with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binary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coding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59993" y="809070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Binary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coding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causes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hamming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cliff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.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92301" y="1068934"/>
            <a:ext cx="4893094" cy="13194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70" b="0">
                <a:solidFill>
                  <a:srgbClr val="000000"/>
                </a:solidFill>
                <a:latin typeface="Josefin Sans"/>
              </a:rPr>
              <a:t>Hamming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22733" y="1174657"/>
            <a:ext cx="4862662" cy="13194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70" b="0">
                <a:solidFill>
                  <a:srgbClr val="000000"/>
                </a:solidFill>
                <a:latin typeface="Josefin Sans"/>
              </a:rPr>
              <a:t>distance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639391" y="2170469"/>
            <a:ext cx="1146004" cy="13194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70" b="0">
                <a:solidFill>
                  <a:srgbClr val="000000"/>
                </a:solidFill>
                <a:latin typeface="Josefin Sans"/>
              </a:rPr>
              <a:t>Binary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654115" y="2276199"/>
            <a:ext cx="1131280" cy="13194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70" b="0">
                <a:solidFill>
                  <a:srgbClr val="000000"/>
                </a:solidFill>
                <a:latin typeface="Josefin Sans"/>
              </a:rPr>
              <a:t>string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83846" y="2288269"/>
            <a:ext cx="4801549" cy="10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0" b="0">
                <a:solidFill>
                  <a:srgbClr val="000000"/>
                </a:solidFill>
                <a:latin typeface="Josefin Sans"/>
              </a:rPr>
              <a:t>0000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215673" y="2288269"/>
            <a:ext cx="4569722" cy="10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0" b="0">
                <a:solidFill>
                  <a:srgbClr val="000000"/>
                </a:solidFill>
                <a:latin typeface="Josefin Sans"/>
              </a:rPr>
              <a:t>0001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436857" y="2288269"/>
            <a:ext cx="4348538" cy="10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0" b="0">
                <a:solidFill>
                  <a:srgbClr val="000000"/>
                </a:solidFill>
                <a:latin typeface="Josefin Sans"/>
              </a:rPr>
              <a:t>0010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668685" y="2288269"/>
            <a:ext cx="4116710" cy="10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0" b="0">
                <a:solidFill>
                  <a:srgbClr val="000000"/>
                </a:solidFill>
                <a:latin typeface="Josefin Sans"/>
              </a:rPr>
              <a:t>0011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879233" y="2288269"/>
            <a:ext cx="3906162" cy="10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0" b="0">
                <a:solidFill>
                  <a:srgbClr val="000000"/>
                </a:solidFill>
                <a:latin typeface="Josefin Sans"/>
              </a:rPr>
              <a:t>0100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111053" y="2288269"/>
            <a:ext cx="3674342" cy="10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0" b="0">
                <a:solidFill>
                  <a:srgbClr val="000000"/>
                </a:solidFill>
                <a:latin typeface="Josefin Sans"/>
              </a:rPr>
              <a:t>0101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2332244" y="2288269"/>
            <a:ext cx="3453151" cy="10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0" b="0">
                <a:solidFill>
                  <a:srgbClr val="000000"/>
                </a:solidFill>
                <a:latin typeface="Josefin Sans"/>
              </a:rPr>
              <a:t>0110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564064" y="2288269"/>
            <a:ext cx="3221331" cy="10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0" b="0">
                <a:solidFill>
                  <a:srgbClr val="000000"/>
                </a:solidFill>
                <a:latin typeface="Josefin Sans"/>
              </a:rPr>
              <a:t>0111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2763985" y="2288269"/>
            <a:ext cx="3021410" cy="10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0" b="0">
                <a:solidFill>
                  <a:srgbClr val="000000"/>
                </a:solidFill>
                <a:latin typeface="Josefin Sans"/>
              </a:rPr>
              <a:t>1000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995804" y="2288269"/>
            <a:ext cx="2789591" cy="10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0" b="0">
                <a:solidFill>
                  <a:srgbClr val="000000"/>
                </a:solidFill>
                <a:latin typeface="Josefin Sans"/>
              </a:rPr>
              <a:t>1001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216996" y="2288269"/>
            <a:ext cx="2568399" cy="10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0" b="0">
                <a:solidFill>
                  <a:srgbClr val="000000"/>
                </a:solidFill>
                <a:latin typeface="Josefin Sans"/>
              </a:rPr>
              <a:t>1010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448816" y="2288269"/>
            <a:ext cx="2336579" cy="10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0" b="0">
                <a:solidFill>
                  <a:srgbClr val="000000"/>
                </a:solidFill>
                <a:latin typeface="Josefin Sans"/>
              </a:rPr>
              <a:t>1011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3659372" y="2288269"/>
            <a:ext cx="2126023" cy="10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0" b="0">
                <a:solidFill>
                  <a:srgbClr val="000000"/>
                </a:solidFill>
                <a:latin typeface="Josefin Sans"/>
              </a:rPr>
              <a:t>1100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891191" y="2288269"/>
            <a:ext cx="1894204" cy="10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0" b="0">
                <a:solidFill>
                  <a:srgbClr val="000000"/>
                </a:solidFill>
                <a:latin typeface="Josefin Sans"/>
              </a:rPr>
              <a:t>1101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112376" y="2288269"/>
            <a:ext cx="1673019" cy="10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0" b="0">
                <a:solidFill>
                  <a:srgbClr val="000000"/>
                </a:solidFill>
                <a:latin typeface="Josefin Sans"/>
              </a:rPr>
              <a:t>1110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344203" y="2288269"/>
            <a:ext cx="1441192" cy="10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0" b="0">
                <a:solidFill>
                  <a:srgbClr val="000000"/>
                </a:solidFill>
                <a:latin typeface="Josefin Sans"/>
              </a:rPr>
              <a:t>1111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97228" y="2235435"/>
            <a:ext cx="4788167" cy="10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18499" y="2014399"/>
            <a:ext cx="4766896" cy="10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05070" y="1793215"/>
            <a:ext cx="4780325" cy="10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0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04157" y="1571696"/>
            <a:ext cx="4781238" cy="10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0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04298" y="1350839"/>
            <a:ext cx="4781097" cy="10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0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898770" y="3150918"/>
            <a:ext cx="8866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5624257" y="3150694"/>
            <a:ext cx="16113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48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1070467" y="1288881"/>
            <a:ext cx="0" cy="97980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Freeform 36"/>
          <p:cNvSpPr/>
          <p:nvPr/>
        </p:nvSpPr>
        <p:spPr>
          <a:xfrm>
            <a:off x="1054100" y="12700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1" y="0"/>
                </a:moveTo>
                <a:lnTo>
                  <a:pt x="0" y="2"/>
                </a:lnTo>
                <a:lnTo>
                  <a:pt x="1" y="1"/>
                </a:lnTo>
                <a:lnTo>
                  <a:pt x="2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8" name="Connector 37"/>
          <p:cNvCxnSpPr/>
          <p:nvPr/>
        </p:nvCxnSpPr>
        <p:spPr>
          <a:xfrm>
            <a:off x="1070467" y="2268690"/>
            <a:ext cx="352349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Freeform 38"/>
          <p:cNvSpPr/>
          <p:nvPr/>
        </p:nvSpPr>
        <p:spPr>
          <a:xfrm>
            <a:off x="4584700" y="22606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0" name="Connector 39"/>
          <p:cNvCxnSpPr/>
          <p:nvPr/>
        </p:nvCxnSpPr>
        <p:spPr>
          <a:xfrm flipV="1">
            <a:off x="1070467" y="2257630"/>
            <a:ext cx="0" cy="2212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1291657" y="2257630"/>
            <a:ext cx="0" cy="2212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1512848" y="2257630"/>
            <a:ext cx="0" cy="2212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1734038" y="2257630"/>
            <a:ext cx="0" cy="2212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1955229" y="2257630"/>
            <a:ext cx="0" cy="2212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2176419" y="2257630"/>
            <a:ext cx="0" cy="2212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2397609" y="2257630"/>
            <a:ext cx="0" cy="2212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2618799" y="2257630"/>
            <a:ext cx="0" cy="2212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2839990" y="2257630"/>
            <a:ext cx="0" cy="2212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3061180" y="2257630"/>
            <a:ext cx="0" cy="2212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V="1">
            <a:off x="3282370" y="2257630"/>
            <a:ext cx="0" cy="2212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3503561" y="2257630"/>
            <a:ext cx="0" cy="2212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3724751" y="2257630"/>
            <a:ext cx="0" cy="2212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3945942" y="2257630"/>
            <a:ext cx="0" cy="2212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V="1">
            <a:off x="4167132" y="2257630"/>
            <a:ext cx="0" cy="2212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V="1">
            <a:off x="4388322" y="2257630"/>
            <a:ext cx="0" cy="2212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1059407" y="2268690"/>
            <a:ext cx="22120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1059407" y="2047500"/>
            <a:ext cx="22120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1059407" y="1826309"/>
            <a:ext cx="22120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1059407" y="1605119"/>
            <a:ext cx="22120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1059407" y="1383929"/>
            <a:ext cx="22120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1291657" y="1826309"/>
            <a:ext cx="221191" cy="221191"/>
          </a:xfrm>
          <a:prstGeom prst="line">
            <a:avLst/>
          </a:prstGeom>
          <a:ln w="6219">
            <a:solidFill>
              <a:srgbClr val="0033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1512848" y="1826309"/>
            <a:ext cx="221190" cy="221191"/>
          </a:xfrm>
          <a:prstGeom prst="line">
            <a:avLst/>
          </a:prstGeom>
          <a:ln w="6219">
            <a:solidFill>
              <a:srgbClr val="0033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1734038" y="1605119"/>
            <a:ext cx="221191" cy="442381"/>
          </a:xfrm>
          <a:prstGeom prst="line">
            <a:avLst/>
          </a:prstGeom>
          <a:ln w="6219">
            <a:solidFill>
              <a:srgbClr val="0033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1955229" y="1605119"/>
            <a:ext cx="221190" cy="442381"/>
          </a:xfrm>
          <a:prstGeom prst="line">
            <a:avLst/>
          </a:prstGeom>
          <a:ln w="6219">
            <a:solidFill>
              <a:srgbClr val="0033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2176419" y="1826309"/>
            <a:ext cx="221190" cy="221191"/>
          </a:xfrm>
          <a:prstGeom prst="line">
            <a:avLst/>
          </a:prstGeom>
          <a:ln w="6219">
            <a:solidFill>
              <a:srgbClr val="0033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2397609" y="1826309"/>
            <a:ext cx="221190" cy="221191"/>
          </a:xfrm>
          <a:prstGeom prst="line">
            <a:avLst/>
          </a:prstGeom>
          <a:ln w="6219">
            <a:solidFill>
              <a:srgbClr val="0033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V="1">
            <a:off x="2618799" y="1383929"/>
            <a:ext cx="221191" cy="663571"/>
          </a:xfrm>
          <a:prstGeom prst="line">
            <a:avLst/>
          </a:prstGeom>
          <a:ln w="6219">
            <a:solidFill>
              <a:srgbClr val="0033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2839990" y="1383929"/>
            <a:ext cx="221190" cy="663571"/>
          </a:xfrm>
          <a:prstGeom prst="line">
            <a:avLst/>
          </a:prstGeom>
          <a:ln w="6219">
            <a:solidFill>
              <a:srgbClr val="0033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V="1">
            <a:off x="3061180" y="1826309"/>
            <a:ext cx="221190" cy="221191"/>
          </a:xfrm>
          <a:prstGeom prst="line">
            <a:avLst/>
          </a:prstGeom>
          <a:ln w="6219">
            <a:solidFill>
              <a:srgbClr val="0033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3282370" y="1826309"/>
            <a:ext cx="221191" cy="221191"/>
          </a:xfrm>
          <a:prstGeom prst="line">
            <a:avLst/>
          </a:prstGeom>
          <a:ln w="6219">
            <a:solidFill>
              <a:srgbClr val="0033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V="1">
            <a:off x="3503561" y="1605119"/>
            <a:ext cx="221190" cy="442381"/>
          </a:xfrm>
          <a:prstGeom prst="line">
            <a:avLst/>
          </a:prstGeom>
          <a:ln w="6219">
            <a:solidFill>
              <a:srgbClr val="0033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3724751" y="1605119"/>
            <a:ext cx="221191" cy="442381"/>
          </a:xfrm>
          <a:prstGeom prst="line">
            <a:avLst/>
          </a:prstGeom>
          <a:ln w="6219">
            <a:solidFill>
              <a:srgbClr val="0033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 flipV="1">
            <a:off x="3945942" y="1826309"/>
            <a:ext cx="221190" cy="221191"/>
          </a:xfrm>
          <a:prstGeom prst="line">
            <a:avLst/>
          </a:prstGeom>
          <a:ln w="6219">
            <a:solidFill>
              <a:srgbClr val="0033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4167132" y="1826309"/>
            <a:ext cx="221190" cy="221191"/>
          </a:xfrm>
          <a:prstGeom prst="line">
            <a:avLst/>
          </a:prstGeom>
          <a:ln w="6219">
            <a:solidFill>
              <a:srgbClr val="0033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Rectangle 74"/>
          <p:cNvSpPr/>
          <p:nvPr/>
        </p:nvSpPr>
        <p:spPr>
          <a:xfrm>
            <a:off x="0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2880003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7" name="Picture 7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78" name="Picture 7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79" name="TextBox 78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Encoding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08000" y="359888"/>
            <a:ext cx="567739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1">
                <a:solidFill>
                  <a:srgbClr val="003373"/>
                </a:solidFill>
                <a:latin typeface="Josefin Sans"/>
              </a:rPr>
              <a:t>Problem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with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binary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coding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59993" y="809070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Binary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coding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causes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hamming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cliff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.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92301" y="1068934"/>
            <a:ext cx="4893094" cy="13194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70" b="0">
                <a:solidFill>
                  <a:srgbClr val="000000"/>
                </a:solidFill>
                <a:latin typeface="Josefin Sans"/>
              </a:rPr>
              <a:t>Hamming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22733" y="1174657"/>
            <a:ext cx="4862662" cy="13194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70" b="0">
                <a:solidFill>
                  <a:srgbClr val="000000"/>
                </a:solidFill>
                <a:latin typeface="Josefin Sans"/>
              </a:rPr>
              <a:t>distance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639391" y="2170469"/>
            <a:ext cx="1146004" cy="13194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70" b="0">
                <a:solidFill>
                  <a:srgbClr val="000000"/>
                </a:solidFill>
                <a:latin typeface="Josefin Sans"/>
              </a:rPr>
              <a:t>Binary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654115" y="2276199"/>
            <a:ext cx="1131280" cy="13194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70" b="0">
                <a:solidFill>
                  <a:srgbClr val="000000"/>
                </a:solidFill>
                <a:latin typeface="Josefin Sans"/>
              </a:rPr>
              <a:t>string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83846" y="2288269"/>
            <a:ext cx="4801549" cy="10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0" b="0">
                <a:solidFill>
                  <a:srgbClr val="000000"/>
                </a:solidFill>
                <a:latin typeface="Josefin Sans"/>
              </a:rPr>
              <a:t>0000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215673" y="2288269"/>
            <a:ext cx="4569722" cy="10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0" b="0">
                <a:solidFill>
                  <a:srgbClr val="000000"/>
                </a:solidFill>
                <a:latin typeface="Josefin Sans"/>
              </a:rPr>
              <a:t>0001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436857" y="2288269"/>
            <a:ext cx="4348538" cy="10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0" b="0">
                <a:solidFill>
                  <a:srgbClr val="000000"/>
                </a:solidFill>
                <a:latin typeface="Josefin Sans"/>
              </a:rPr>
              <a:t>0010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668685" y="2288269"/>
            <a:ext cx="4116710" cy="10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0" b="0">
                <a:solidFill>
                  <a:srgbClr val="000000"/>
                </a:solidFill>
                <a:latin typeface="Josefin Sans"/>
              </a:rPr>
              <a:t>0011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879233" y="2288269"/>
            <a:ext cx="3906162" cy="10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0" b="0">
                <a:solidFill>
                  <a:srgbClr val="000000"/>
                </a:solidFill>
                <a:latin typeface="Josefin Sans"/>
              </a:rPr>
              <a:t>0100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111053" y="2288269"/>
            <a:ext cx="3674342" cy="10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0" b="0">
                <a:solidFill>
                  <a:srgbClr val="000000"/>
                </a:solidFill>
                <a:latin typeface="Josefin Sans"/>
              </a:rPr>
              <a:t>0101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2332244" y="2288269"/>
            <a:ext cx="3453151" cy="10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0" b="0">
                <a:solidFill>
                  <a:srgbClr val="000000"/>
                </a:solidFill>
                <a:latin typeface="Josefin Sans"/>
              </a:rPr>
              <a:t>0110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564064" y="2288269"/>
            <a:ext cx="3221331" cy="10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0" b="0">
                <a:solidFill>
                  <a:srgbClr val="000000"/>
                </a:solidFill>
                <a:latin typeface="Josefin Sans"/>
              </a:rPr>
              <a:t>0111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2763985" y="2288269"/>
            <a:ext cx="3021410" cy="10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0" b="0">
                <a:solidFill>
                  <a:srgbClr val="000000"/>
                </a:solidFill>
                <a:latin typeface="Josefin Sans"/>
              </a:rPr>
              <a:t>1000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995804" y="2288269"/>
            <a:ext cx="2789591" cy="10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0" b="0">
                <a:solidFill>
                  <a:srgbClr val="000000"/>
                </a:solidFill>
                <a:latin typeface="Josefin Sans"/>
              </a:rPr>
              <a:t>1001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216996" y="2288269"/>
            <a:ext cx="2568399" cy="10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0" b="0">
                <a:solidFill>
                  <a:srgbClr val="000000"/>
                </a:solidFill>
                <a:latin typeface="Josefin Sans"/>
              </a:rPr>
              <a:t>1010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448816" y="2288269"/>
            <a:ext cx="2336579" cy="10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0" b="0">
                <a:solidFill>
                  <a:srgbClr val="000000"/>
                </a:solidFill>
                <a:latin typeface="Josefin Sans"/>
              </a:rPr>
              <a:t>1011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3659372" y="2288269"/>
            <a:ext cx="2126023" cy="10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0" b="0">
                <a:solidFill>
                  <a:srgbClr val="000000"/>
                </a:solidFill>
                <a:latin typeface="Josefin Sans"/>
              </a:rPr>
              <a:t>1100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891191" y="2288269"/>
            <a:ext cx="1894204" cy="10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0" b="0">
                <a:solidFill>
                  <a:srgbClr val="000000"/>
                </a:solidFill>
                <a:latin typeface="Josefin Sans"/>
              </a:rPr>
              <a:t>1101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112376" y="2288269"/>
            <a:ext cx="1673019" cy="10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0" b="0">
                <a:solidFill>
                  <a:srgbClr val="000000"/>
                </a:solidFill>
                <a:latin typeface="Josefin Sans"/>
              </a:rPr>
              <a:t>1110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344203" y="2288269"/>
            <a:ext cx="1441192" cy="10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0" b="0">
                <a:solidFill>
                  <a:srgbClr val="000000"/>
                </a:solidFill>
                <a:latin typeface="Josefin Sans"/>
              </a:rPr>
              <a:t>1111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97228" y="2235435"/>
            <a:ext cx="4788167" cy="10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18499" y="2014399"/>
            <a:ext cx="4766896" cy="10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05070" y="1793215"/>
            <a:ext cx="4780325" cy="10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0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04157" y="1571696"/>
            <a:ext cx="4781238" cy="10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0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04298" y="1350839"/>
            <a:ext cx="4781097" cy="10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0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59993" y="2525508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Hamming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distance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number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changing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bits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going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from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one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binary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string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to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another.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98770" y="3150918"/>
            <a:ext cx="8866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624257" y="3150694"/>
            <a:ext cx="16113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48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1070467" y="865692"/>
            <a:ext cx="0" cy="97980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Freeform 36"/>
          <p:cNvSpPr/>
          <p:nvPr/>
        </p:nvSpPr>
        <p:spPr>
          <a:xfrm>
            <a:off x="1054100" y="8509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1" y="0"/>
                </a:moveTo>
                <a:lnTo>
                  <a:pt x="0" y="2"/>
                </a:lnTo>
                <a:lnTo>
                  <a:pt x="1" y="1"/>
                </a:lnTo>
                <a:lnTo>
                  <a:pt x="2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8" name="Connector 37"/>
          <p:cNvCxnSpPr/>
          <p:nvPr/>
        </p:nvCxnSpPr>
        <p:spPr>
          <a:xfrm>
            <a:off x="1070467" y="1845501"/>
            <a:ext cx="352349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Freeform 38"/>
          <p:cNvSpPr/>
          <p:nvPr/>
        </p:nvSpPr>
        <p:spPr>
          <a:xfrm>
            <a:off x="4584700" y="1828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0" name="Connector 39"/>
          <p:cNvCxnSpPr/>
          <p:nvPr/>
        </p:nvCxnSpPr>
        <p:spPr>
          <a:xfrm flipV="1">
            <a:off x="1070467" y="1834440"/>
            <a:ext cx="0" cy="2212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1291657" y="1834440"/>
            <a:ext cx="0" cy="2212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1512848" y="1834440"/>
            <a:ext cx="0" cy="2212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1734038" y="1834440"/>
            <a:ext cx="0" cy="2212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1955229" y="1834440"/>
            <a:ext cx="0" cy="2212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2176419" y="1834440"/>
            <a:ext cx="0" cy="2212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2397609" y="1834440"/>
            <a:ext cx="0" cy="2212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2618799" y="1834440"/>
            <a:ext cx="0" cy="2212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2839990" y="1834440"/>
            <a:ext cx="0" cy="2212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3061180" y="1834440"/>
            <a:ext cx="0" cy="2212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V="1">
            <a:off x="3282370" y="1834440"/>
            <a:ext cx="0" cy="2212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3503561" y="1834440"/>
            <a:ext cx="0" cy="2212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3724751" y="1834440"/>
            <a:ext cx="0" cy="2212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3945942" y="1834440"/>
            <a:ext cx="0" cy="2212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V="1">
            <a:off x="4167132" y="1834440"/>
            <a:ext cx="0" cy="2212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V="1">
            <a:off x="4388322" y="1834440"/>
            <a:ext cx="0" cy="2212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1059407" y="1845501"/>
            <a:ext cx="22120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1059407" y="1624310"/>
            <a:ext cx="22120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1059407" y="1403120"/>
            <a:ext cx="22120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1059407" y="1181930"/>
            <a:ext cx="22120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1059407" y="960739"/>
            <a:ext cx="22120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1291657" y="1403120"/>
            <a:ext cx="221191" cy="221190"/>
          </a:xfrm>
          <a:prstGeom prst="line">
            <a:avLst/>
          </a:prstGeom>
          <a:ln w="6219">
            <a:solidFill>
              <a:srgbClr val="0033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1512848" y="1403120"/>
            <a:ext cx="221190" cy="221190"/>
          </a:xfrm>
          <a:prstGeom prst="line">
            <a:avLst/>
          </a:prstGeom>
          <a:ln w="6219">
            <a:solidFill>
              <a:srgbClr val="0033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1734038" y="1181930"/>
            <a:ext cx="221191" cy="442380"/>
          </a:xfrm>
          <a:prstGeom prst="line">
            <a:avLst/>
          </a:prstGeom>
          <a:ln w="6219">
            <a:solidFill>
              <a:srgbClr val="0033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1955229" y="1181930"/>
            <a:ext cx="221190" cy="442380"/>
          </a:xfrm>
          <a:prstGeom prst="line">
            <a:avLst/>
          </a:prstGeom>
          <a:ln w="6219">
            <a:solidFill>
              <a:srgbClr val="0033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2176419" y="1403120"/>
            <a:ext cx="221190" cy="221190"/>
          </a:xfrm>
          <a:prstGeom prst="line">
            <a:avLst/>
          </a:prstGeom>
          <a:ln w="6219">
            <a:solidFill>
              <a:srgbClr val="0033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2397609" y="1403120"/>
            <a:ext cx="221190" cy="221190"/>
          </a:xfrm>
          <a:prstGeom prst="line">
            <a:avLst/>
          </a:prstGeom>
          <a:ln w="6219">
            <a:solidFill>
              <a:srgbClr val="0033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V="1">
            <a:off x="2618799" y="960739"/>
            <a:ext cx="221191" cy="663571"/>
          </a:xfrm>
          <a:prstGeom prst="line">
            <a:avLst/>
          </a:prstGeom>
          <a:ln w="6219">
            <a:solidFill>
              <a:srgbClr val="0033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2839990" y="960739"/>
            <a:ext cx="221190" cy="663571"/>
          </a:xfrm>
          <a:prstGeom prst="line">
            <a:avLst/>
          </a:prstGeom>
          <a:ln w="6219">
            <a:solidFill>
              <a:srgbClr val="0033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V="1">
            <a:off x="3061180" y="1403120"/>
            <a:ext cx="221190" cy="221190"/>
          </a:xfrm>
          <a:prstGeom prst="line">
            <a:avLst/>
          </a:prstGeom>
          <a:ln w="6219">
            <a:solidFill>
              <a:srgbClr val="0033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3282370" y="1403120"/>
            <a:ext cx="221191" cy="221190"/>
          </a:xfrm>
          <a:prstGeom prst="line">
            <a:avLst/>
          </a:prstGeom>
          <a:ln w="6219">
            <a:solidFill>
              <a:srgbClr val="0033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V="1">
            <a:off x="3503561" y="1181930"/>
            <a:ext cx="221190" cy="442380"/>
          </a:xfrm>
          <a:prstGeom prst="line">
            <a:avLst/>
          </a:prstGeom>
          <a:ln w="6219">
            <a:solidFill>
              <a:srgbClr val="0033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3724751" y="1181930"/>
            <a:ext cx="221191" cy="442380"/>
          </a:xfrm>
          <a:prstGeom prst="line">
            <a:avLst/>
          </a:prstGeom>
          <a:ln w="6219">
            <a:solidFill>
              <a:srgbClr val="0033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 flipV="1">
            <a:off x="3945942" y="1403120"/>
            <a:ext cx="221190" cy="221190"/>
          </a:xfrm>
          <a:prstGeom prst="line">
            <a:avLst/>
          </a:prstGeom>
          <a:ln w="6219">
            <a:solidFill>
              <a:srgbClr val="0033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4167132" y="1403120"/>
            <a:ext cx="221190" cy="221190"/>
          </a:xfrm>
          <a:prstGeom prst="line">
            <a:avLst/>
          </a:prstGeom>
          <a:ln w="6219">
            <a:solidFill>
              <a:srgbClr val="0033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Rectangle 74"/>
          <p:cNvSpPr/>
          <p:nvPr/>
        </p:nvSpPr>
        <p:spPr>
          <a:xfrm>
            <a:off x="0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2880003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7" name="Picture 7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78" name="Picture 7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79" name="TextBox 78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Encoding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08000" y="359888"/>
            <a:ext cx="567739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1">
                <a:solidFill>
                  <a:srgbClr val="003373"/>
                </a:solidFill>
                <a:latin typeface="Josefin Sans"/>
              </a:rPr>
              <a:t>Problem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with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binary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coding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92301" y="645744"/>
            <a:ext cx="4893094" cy="13194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70" b="0">
                <a:solidFill>
                  <a:srgbClr val="000000"/>
                </a:solidFill>
                <a:latin typeface="Josefin Sans"/>
              </a:rPr>
              <a:t>Hamming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22733" y="751467"/>
            <a:ext cx="4862662" cy="13194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70" b="0">
                <a:solidFill>
                  <a:srgbClr val="000000"/>
                </a:solidFill>
                <a:latin typeface="Josefin Sans"/>
              </a:rPr>
              <a:t>distance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639391" y="1747287"/>
            <a:ext cx="1146004" cy="13194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70" b="0">
                <a:solidFill>
                  <a:srgbClr val="000000"/>
                </a:solidFill>
                <a:latin typeface="Josefin Sans"/>
              </a:rPr>
              <a:t>Binary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654115" y="1853010"/>
            <a:ext cx="1131280" cy="13194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70" b="0">
                <a:solidFill>
                  <a:srgbClr val="000000"/>
                </a:solidFill>
                <a:latin typeface="Josefin Sans"/>
              </a:rPr>
              <a:t>string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983846" y="1865088"/>
            <a:ext cx="4801549" cy="10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0" b="0">
                <a:solidFill>
                  <a:srgbClr val="000000"/>
                </a:solidFill>
                <a:latin typeface="Josefin Sans"/>
              </a:rPr>
              <a:t>0000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215673" y="1865088"/>
            <a:ext cx="4569722" cy="10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0" b="0">
                <a:solidFill>
                  <a:srgbClr val="000000"/>
                </a:solidFill>
                <a:latin typeface="Josefin Sans"/>
              </a:rPr>
              <a:t>0001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436857" y="1865088"/>
            <a:ext cx="4348538" cy="10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0" b="0">
                <a:solidFill>
                  <a:srgbClr val="000000"/>
                </a:solidFill>
                <a:latin typeface="Josefin Sans"/>
              </a:rPr>
              <a:t>0010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668685" y="1865088"/>
            <a:ext cx="4116710" cy="10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0" b="0">
                <a:solidFill>
                  <a:srgbClr val="000000"/>
                </a:solidFill>
                <a:latin typeface="Josefin Sans"/>
              </a:rPr>
              <a:t>0011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879233" y="1865088"/>
            <a:ext cx="3906162" cy="10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0" b="0">
                <a:solidFill>
                  <a:srgbClr val="000000"/>
                </a:solidFill>
                <a:latin typeface="Josefin Sans"/>
              </a:rPr>
              <a:t>0100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111053" y="1865088"/>
            <a:ext cx="3674342" cy="10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0" b="0">
                <a:solidFill>
                  <a:srgbClr val="000000"/>
                </a:solidFill>
                <a:latin typeface="Josefin Sans"/>
              </a:rPr>
              <a:t>0101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332244" y="1865088"/>
            <a:ext cx="3453151" cy="10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0" b="0">
                <a:solidFill>
                  <a:srgbClr val="000000"/>
                </a:solidFill>
                <a:latin typeface="Josefin Sans"/>
              </a:rPr>
              <a:t>0110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2564064" y="1865088"/>
            <a:ext cx="3221331" cy="10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0" b="0">
                <a:solidFill>
                  <a:srgbClr val="000000"/>
                </a:solidFill>
                <a:latin typeface="Josefin Sans"/>
              </a:rPr>
              <a:t>0111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763985" y="1865088"/>
            <a:ext cx="3021410" cy="10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0" b="0">
                <a:solidFill>
                  <a:srgbClr val="000000"/>
                </a:solidFill>
                <a:latin typeface="Josefin Sans"/>
              </a:rPr>
              <a:t>1000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2995804" y="1865088"/>
            <a:ext cx="2789591" cy="10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0" b="0">
                <a:solidFill>
                  <a:srgbClr val="000000"/>
                </a:solidFill>
                <a:latin typeface="Josefin Sans"/>
              </a:rPr>
              <a:t>1001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216996" y="1865088"/>
            <a:ext cx="2568399" cy="10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0" b="0">
                <a:solidFill>
                  <a:srgbClr val="000000"/>
                </a:solidFill>
                <a:latin typeface="Josefin Sans"/>
              </a:rPr>
              <a:t>1010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448816" y="1865088"/>
            <a:ext cx="2336579" cy="10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0" b="0">
                <a:solidFill>
                  <a:srgbClr val="000000"/>
                </a:solidFill>
                <a:latin typeface="Josefin Sans"/>
              </a:rPr>
              <a:t>1011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659372" y="1865088"/>
            <a:ext cx="2126023" cy="10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0" b="0">
                <a:solidFill>
                  <a:srgbClr val="000000"/>
                </a:solidFill>
                <a:latin typeface="Josefin Sans"/>
              </a:rPr>
              <a:t>1100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3891191" y="1865088"/>
            <a:ext cx="1894204" cy="10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0" b="0">
                <a:solidFill>
                  <a:srgbClr val="000000"/>
                </a:solidFill>
                <a:latin typeface="Josefin Sans"/>
              </a:rPr>
              <a:t>1101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112376" y="1865088"/>
            <a:ext cx="1673019" cy="10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0" b="0">
                <a:solidFill>
                  <a:srgbClr val="000000"/>
                </a:solidFill>
                <a:latin typeface="Josefin Sans"/>
              </a:rPr>
              <a:t>1110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344203" y="1865088"/>
            <a:ext cx="1441192" cy="10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0" b="0">
                <a:solidFill>
                  <a:srgbClr val="000000"/>
                </a:solidFill>
                <a:latin typeface="Josefin Sans"/>
              </a:rPr>
              <a:t>1111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997228" y="1812246"/>
            <a:ext cx="4788167" cy="10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018499" y="1591218"/>
            <a:ext cx="4766896" cy="10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05070" y="1370026"/>
            <a:ext cx="4780325" cy="10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0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04157" y="1148506"/>
            <a:ext cx="4781238" cy="10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0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04298" y="927658"/>
            <a:ext cx="4781097" cy="10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0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69404" y="2060998"/>
            <a:ext cx="531599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MSAM10"/>
              </a:rPr>
              <a:t>▶</a:t>
            </a:r>
            <a:r>
              <a:rPr sz="996" b="1">
                <a:solidFill>
                  <a:srgbClr val="000000"/>
                </a:solidFill>
                <a:latin typeface="Josefin Sans"/>
              </a:rPr>
              <a:t>Hamming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cliff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formed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when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two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numerical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adjacent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values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have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bit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representations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637095" y="2254160"/>
            <a:ext cx="5148300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that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are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far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apart.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98770" y="3150917"/>
            <a:ext cx="8866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623127" y="3150693"/>
            <a:ext cx="16226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49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1070467" y="865692"/>
            <a:ext cx="0" cy="97980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Freeform 36"/>
          <p:cNvSpPr/>
          <p:nvPr/>
        </p:nvSpPr>
        <p:spPr>
          <a:xfrm>
            <a:off x="1054100" y="8509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1" y="0"/>
                </a:moveTo>
                <a:lnTo>
                  <a:pt x="0" y="2"/>
                </a:lnTo>
                <a:lnTo>
                  <a:pt x="1" y="1"/>
                </a:lnTo>
                <a:lnTo>
                  <a:pt x="2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8" name="Connector 37"/>
          <p:cNvCxnSpPr/>
          <p:nvPr/>
        </p:nvCxnSpPr>
        <p:spPr>
          <a:xfrm>
            <a:off x="1070467" y="1845501"/>
            <a:ext cx="352349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Freeform 38"/>
          <p:cNvSpPr/>
          <p:nvPr/>
        </p:nvSpPr>
        <p:spPr>
          <a:xfrm>
            <a:off x="4584700" y="1828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0" name="Connector 39"/>
          <p:cNvCxnSpPr/>
          <p:nvPr/>
        </p:nvCxnSpPr>
        <p:spPr>
          <a:xfrm flipV="1">
            <a:off x="1070467" y="1834440"/>
            <a:ext cx="0" cy="2212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1291657" y="1834440"/>
            <a:ext cx="0" cy="2212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1512848" y="1834440"/>
            <a:ext cx="0" cy="2212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1734038" y="1834440"/>
            <a:ext cx="0" cy="2212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1955229" y="1834440"/>
            <a:ext cx="0" cy="2212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2176419" y="1834440"/>
            <a:ext cx="0" cy="2212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2397609" y="1834440"/>
            <a:ext cx="0" cy="2212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2618799" y="1834440"/>
            <a:ext cx="0" cy="2212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2839990" y="1834440"/>
            <a:ext cx="0" cy="2212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3061180" y="1834440"/>
            <a:ext cx="0" cy="2212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V="1">
            <a:off x="3282370" y="1834440"/>
            <a:ext cx="0" cy="2212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3503561" y="1834440"/>
            <a:ext cx="0" cy="2212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3724751" y="1834440"/>
            <a:ext cx="0" cy="2212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3945942" y="1834440"/>
            <a:ext cx="0" cy="2212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V="1">
            <a:off x="4167132" y="1834440"/>
            <a:ext cx="0" cy="2212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V="1">
            <a:off x="4388322" y="1834440"/>
            <a:ext cx="0" cy="2212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1059407" y="1845501"/>
            <a:ext cx="22120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1059407" y="1624310"/>
            <a:ext cx="22120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1059407" y="1403120"/>
            <a:ext cx="22120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1059407" y="1181930"/>
            <a:ext cx="22120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1059407" y="960739"/>
            <a:ext cx="22120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1291657" y="1403120"/>
            <a:ext cx="221191" cy="221190"/>
          </a:xfrm>
          <a:prstGeom prst="line">
            <a:avLst/>
          </a:prstGeom>
          <a:ln w="6219">
            <a:solidFill>
              <a:srgbClr val="0033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1512848" y="1403120"/>
            <a:ext cx="221190" cy="221190"/>
          </a:xfrm>
          <a:prstGeom prst="line">
            <a:avLst/>
          </a:prstGeom>
          <a:ln w="6219">
            <a:solidFill>
              <a:srgbClr val="0033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1734038" y="1181930"/>
            <a:ext cx="221191" cy="442380"/>
          </a:xfrm>
          <a:prstGeom prst="line">
            <a:avLst/>
          </a:prstGeom>
          <a:ln w="6219">
            <a:solidFill>
              <a:srgbClr val="0033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1955229" y="1181930"/>
            <a:ext cx="221190" cy="442380"/>
          </a:xfrm>
          <a:prstGeom prst="line">
            <a:avLst/>
          </a:prstGeom>
          <a:ln w="6219">
            <a:solidFill>
              <a:srgbClr val="0033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2176419" y="1403120"/>
            <a:ext cx="221190" cy="221190"/>
          </a:xfrm>
          <a:prstGeom prst="line">
            <a:avLst/>
          </a:prstGeom>
          <a:ln w="6219">
            <a:solidFill>
              <a:srgbClr val="0033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2397609" y="1403120"/>
            <a:ext cx="221190" cy="221190"/>
          </a:xfrm>
          <a:prstGeom prst="line">
            <a:avLst/>
          </a:prstGeom>
          <a:ln w="6219">
            <a:solidFill>
              <a:srgbClr val="0033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V="1">
            <a:off x="2618799" y="960739"/>
            <a:ext cx="221191" cy="663571"/>
          </a:xfrm>
          <a:prstGeom prst="line">
            <a:avLst/>
          </a:prstGeom>
          <a:ln w="6219">
            <a:solidFill>
              <a:srgbClr val="0033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2839990" y="960739"/>
            <a:ext cx="221190" cy="663571"/>
          </a:xfrm>
          <a:prstGeom prst="line">
            <a:avLst/>
          </a:prstGeom>
          <a:ln w="6219">
            <a:solidFill>
              <a:srgbClr val="0033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V="1">
            <a:off x="3061180" y="1403120"/>
            <a:ext cx="221190" cy="221190"/>
          </a:xfrm>
          <a:prstGeom prst="line">
            <a:avLst/>
          </a:prstGeom>
          <a:ln w="6219">
            <a:solidFill>
              <a:srgbClr val="0033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3282370" y="1403120"/>
            <a:ext cx="221191" cy="221190"/>
          </a:xfrm>
          <a:prstGeom prst="line">
            <a:avLst/>
          </a:prstGeom>
          <a:ln w="6219">
            <a:solidFill>
              <a:srgbClr val="0033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V="1">
            <a:off x="3503561" y="1181930"/>
            <a:ext cx="221190" cy="442380"/>
          </a:xfrm>
          <a:prstGeom prst="line">
            <a:avLst/>
          </a:prstGeom>
          <a:ln w="6219">
            <a:solidFill>
              <a:srgbClr val="0033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3724751" y="1181930"/>
            <a:ext cx="221191" cy="442380"/>
          </a:xfrm>
          <a:prstGeom prst="line">
            <a:avLst/>
          </a:prstGeom>
          <a:ln w="6219">
            <a:solidFill>
              <a:srgbClr val="0033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 flipV="1">
            <a:off x="3945942" y="1403120"/>
            <a:ext cx="221190" cy="221190"/>
          </a:xfrm>
          <a:prstGeom prst="line">
            <a:avLst/>
          </a:prstGeom>
          <a:ln w="6219">
            <a:solidFill>
              <a:srgbClr val="0033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4167132" y="1403120"/>
            <a:ext cx="221190" cy="221190"/>
          </a:xfrm>
          <a:prstGeom prst="line">
            <a:avLst/>
          </a:prstGeom>
          <a:ln w="6219">
            <a:solidFill>
              <a:srgbClr val="0033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Rectangle 74"/>
          <p:cNvSpPr/>
          <p:nvPr/>
        </p:nvSpPr>
        <p:spPr>
          <a:xfrm>
            <a:off x="0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2880003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7" name="Picture 7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78" name="Picture 7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79" name="TextBox 78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Encoding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08000" y="359888"/>
            <a:ext cx="567739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1">
                <a:solidFill>
                  <a:srgbClr val="003373"/>
                </a:solidFill>
                <a:latin typeface="Josefin Sans"/>
              </a:rPr>
              <a:t>Problem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with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binary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coding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92301" y="645744"/>
            <a:ext cx="4893094" cy="13194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70" b="0">
                <a:solidFill>
                  <a:srgbClr val="000000"/>
                </a:solidFill>
                <a:latin typeface="Josefin Sans"/>
              </a:rPr>
              <a:t>Hamming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22733" y="751467"/>
            <a:ext cx="4862662" cy="13194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70" b="0">
                <a:solidFill>
                  <a:srgbClr val="000000"/>
                </a:solidFill>
                <a:latin typeface="Josefin Sans"/>
              </a:rPr>
              <a:t>distance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639391" y="1747287"/>
            <a:ext cx="1146004" cy="13194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70" b="0">
                <a:solidFill>
                  <a:srgbClr val="000000"/>
                </a:solidFill>
                <a:latin typeface="Josefin Sans"/>
              </a:rPr>
              <a:t>Binary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654115" y="1853010"/>
            <a:ext cx="1131280" cy="13194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70" b="0">
                <a:solidFill>
                  <a:srgbClr val="000000"/>
                </a:solidFill>
                <a:latin typeface="Josefin Sans"/>
              </a:rPr>
              <a:t>string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983846" y="1865088"/>
            <a:ext cx="4801549" cy="10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0" b="0">
                <a:solidFill>
                  <a:srgbClr val="000000"/>
                </a:solidFill>
                <a:latin typeface="Josefin Sans"/>
              </a:rPr>
              <a:t>0000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215673" y="1865088"/>
            <a:ext cx="4569722" cy="10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0" b="0">
                <a:solidFill>
                  <a:srgbClr val="000000"/>
                </a:solidFill>
                <a:latin typeface="Josefin Sans"/>
              </a:rPr>
              <a:t>0001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436857" y="1865088"/>
            <a:ext cx="4348538" cy="10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0" b="0">
                <a:solidFill>
                  <a:srgbClr val="000000"/>
                </a:solidFill>
                <a:latin typeface="Josefin Sans"/>
              </a:rPr>
              <a:t>0010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668685" y="1865088"/>
            <a:ext cx="4116710" cy="10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0" b="0">
                <a:solidFill>
                  <a:srgbClr val="000000"/>
                </a:solidFill>
                <a:latin typeface="Josefin Sans"/>
              </a:rPr>
              <a:t>0011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879233" y="1865088"/>
            <a:ext cx="3906162" cy="10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0" b="0">
                <a:solidFill>
                  <a:srgbClr val="000000"/>
                </a:solidFill>
                <a:latin typeface="Josefin Sans"/>
              </a:rPr>
              <a:t>0100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111053" y="1865088"/>
            <a:ext cx="3674342" cy="10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0" b="0">
                <a:solidFill>
                  <a:srgbClr val="000000"/>
                </a:solidFill>
                <a:latin typeface="Josefin Sans"/>
              </a:rPr>
              <a:t>0101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332244" y="1865088"/>
            <a:ext cx="3453151" cy="10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0" b="0">
                <a:solidFill>
                  <a:srgbClr val="000000"/>
                </a:solidFill>
                <a:latin typeface="Josefin Sans"/>
              </a:rPr>
              <a:t>0110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2564064" y="1865088"/>
            <a:ext cx="3221331" cy="10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0" b="0">
                <a:solidFill>
                  <a:srgbClr val="000000"/>
                </a:solidFill>
                <a:latin typeface="Josefin Sans"/>
              </a:rPr>
              <a:t>0111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763985" y="1865088"/>
            <a:ext cx="3021410" cy="10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0" b="0">
                <a:solidFill>
                  <a:srgbClr val="000000"/>
                </a:solidFill>
                <a:latin typeface="Josefin Sans"/>
              </a:rPr>
              <a:t>1000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2995804" y="1865088"/>
            <a:ext cx="2789591" cy="10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0" b="0">
                <a:solidFill>
                  <a:srgbClr val="000000"/>
                </a:solidFill>
                <a:latin typeface="Josefin Sans"/>
              </a:rPr>
              <a:t>1001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216996" y="1865088"/>
            <a:ext cx="2568399" cy="10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0" b="0">
                <a:solidFill>
                  <a:srgbClr val="000000"/>
                </a:solidFill>
                <a:latin typeface="Josefin Sans"/>
              </a:rPr>
              <a:t>1010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448816" y="1865088"/>
            <a:ext cx="2336579" cy="10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0" b="0">
                <a:solidFill>
                  <a:srgbClr val="000000"/>
                </a:solidFill>
                <a:latin typeface="Josefin Sans"/>
              </a:rPr>
              <a:t>1011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659372" y="1865088"/>
            <a:ext cx="2126023" cy="10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0" b="0">
                <a:solidFill>
                  <a:srgbClr val="000000"/>
                </a:solidFill>
                <a:latin typeface="Josefin Sans"/>
              </a:rPr>
              <a:t>1100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3891191" y="1865088"/>
            <a:ext cx="1894204" cy="10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0" b="0">
                <a:solidFill>
                  <a:srgbClr val="000000"/>
                </a:solidFill>
                <a:latin typeface="Josefin Sans"/>
              </a:rPr>
              <a:t>1101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112376" y="1865088"/>
            <a:ext cx="1673019" cy="10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0" b="0">
                <a:solidFill>
                  <a:srgbClr val="000000"/>
                </a:solidFill>
                <a:latin typeface="Josefin Sans"/>
              </a:rPr>
              <a:t>1110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344203" y="1865088"/>
            <a:ext cx="1441192" cy="10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0" b="0">
                <a:solidFill>
                  <a:srgbClr val="000000"/>
                </a:solidFill>
                <a:latin typeface="Josefin Sans"/>
              </a:rPr>
              <a:t>1111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997228" y="1812246"/>
            <a:ext cx="4788167" cy="10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018499" y="1591218"/>
            <a:ext cx="4766896" cy="10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05070" y="1370026"/>
            <a:ext cx="4780325" cy="10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0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04157" y="1148506"/>
            <a:ext cx="4781238" cy="10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0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04298" y="927658"/>
            <a:ext cx="4781097" cy="10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0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69404" y="2060998"/>
            <a:ext cx="531599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MSAM10"/>
              </a:rPr>
              <a:t>▶</a:t>
            </a:r>
            <a:r>
              <a:rPr sz="996" b="1">
                <a:solidFill>
                  <a:srgbClr val="000000"/>
                </a:solidFill>
                <a:latin typeface="Josefin Sans"/>
              </a:rPr>
              <a:t>Hamming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cliff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formed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when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two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numerical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adjacent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values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have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bit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representations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637095" y="2254160"/>
            <a:ext cx="5148300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that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are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far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apart.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69403" y="2450697"/>
            <a:ext cx="531599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MSAM10"/>
              </a:rPr>
              <a:t>▶</a:t>
            </a:r>
            <a:r>
              <a:rPr sz="996" b="0">
                <a:solidFill>
                  <a:srgbClr val="000000"/>
                </a:solidFill>
                <a:latin typeface="Josefin Sans"/>
              </a:rPr>
              <a:t>Going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from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one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value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to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nearest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value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means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modification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multiple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bits.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4898770" y="3150917"/>
            <a:ext cx="8866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5623127" y="3150693"/>
            <a:ext cx="16226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49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1070467" y="865692"/>
            <a:ext cx="0" cy="97980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Freeform 36"/>
          <p:cNvSpPr/>
          <p:nvPr/>
        </p:nvSpPr>
        <p:spPr>
          <a:xfrm>
            <a:off x="1054100" y="8509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1" y="0"/>
                </a:moveTo>
                <a:lnTo>
                  <a:pt x="0" y="2"/>
                </a:lnTo>
                <a:lnTo>
                  <a:pt x="1" y="1"/>
                </a:lnTo>
                <a:lnTo>
                  <a:pt x="2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8" name="Connector 37"/>
          <p:cNvCxnSpPr/>
          <p:nvPr/>
        </p:nvCxnSpPr>
        <p:spPr>
          <a:xfrm>
            <a:off x="1070467" y="1845501"/>
            <a:ext cx="352349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Freeform 38"/>
          <p:cNvSpPr/>
          <p:nvPr/>
        </p:nvSpPr>
        <p:spPr>
          <a:xfrm>
            <a:off x="4584700" y="1828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0" name="Connector 39"/>
          <p:cNvCxnSpPr/>
          <p:nvPr/>
        </p:nvCxnSpPr>
        <p:spPr>
          <a:xfrm flipV="1">
            <a:off x="1070467" y="1834440"/>
            <a:ext cx="0" cy="2212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1291657" y="1834440"/>
            <a:ext cx="0" cy="2212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1512848" y="1834440"/>
            <a:ext cx="0" cy="2212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1734038" y="1834440"/>
            <a:ext cx="0" cy="2212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1955229" y="1834440"/>
            <a:ext cx="0" cy="2212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2176419" y="1834440"/>
            <a:ext cx="0" cy="2212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2397609" y="1834440"/>
            <a:ext cx="0" cy="2212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2618799" y="1834440"/>
            <a:ext cx="0" cy="2212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2839990" y="1834440"/>
            <a:ext cx="0" cy="2212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3061180" y="1834440"/>
            <a:ext cx="0" cy="2212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V="1">
            <a:off x="3282370" y="1834440"/>
            <a:ext cx="0" cy="2212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3503561" y="1834440"/>
            <a:ext cx="0" cy="2212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3724751" y="1834440"/>
            <a:ext cx="0" cy="2212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3945942" y="1834440"/>
            <a:ext cx="0" cy="2212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V="1">
            <a:off x="4167132" y="1834440"/>
            <a:ext cx="0" cy="2212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V="1">
            <a:off x="4388322" y="1834440"/>
            <a:ext cx="0" cy="2212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1059407" y="1845501"/>
            <a:ext cx="22120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1059407" y="1624310"/>
            <a:ext cx="22120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1059407" y="1403120"/>
            <a:ext cx="22120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1059407" y="1181930"/>
            <a:ext cx="22120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1059407" y="960739"/>
            <a:ext cx="22120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1291657" y="1403120"/>
            <a:ext cx="221191" cy="221190"/>
          </a:xfrm>
          <a:prstGeom prst="line">
            <a:avLst/>
          </a:prstGeom>
          <a:ln w="6219">
            <a:solidFill>
              <a:srgbClr val="0033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1512848" y="1403120"/>
            <a:ext cx="221190" cy="221190"/>
          </a:xfrm>
          <a:prstGeom prst="line">
            <a:avLst/>
          </a:prstGeom>
          <a:ln w="6219">
            <a:solidFill>
              <a:srgbClr val="0033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1734038" y="1181930"/>
            <a:ext cx="221191" cy="442380"/>
          </a:xfrm>
          <a:prstGeom prst="line">
            <a:avLst/>
          </a:prstGeom>
          <a:ln w="6219">
            <a:solidFill>
              <a:srgbClr val="0033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1955229" y="1181930"/>
            <a:ext cx="221190" cy="442380"/>
          </a:xfrm>
          <a:prstGeom prst="line">
            <a:avLst/>
          </a:prstGeom>
          <a:ln w="6219">
            <a:solidFill>
              <a:srgbClr val="0033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2176419" y="1403120"/>
            <a:ext cx="221190" cy="221190"/>
          </a:xfrm>
          <a:prstGeom prst="line">
            <a:avLst/>
          </a:prstGeom>
          <a:ln w="6219">
            <a:solidFill>
              <a:srgbClr val="0033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2397609" y="1403120"/>
            <a:ext cx="221190" cy="221190"/>
          </a:xfrm>
          <a:prstGeom prst="line">
            <a:avLst/>
          </a:prstGeom>
          <a:ln w="6219">
            <a:solidFill>
              <a:srgbClr val="0033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V="1">
            <a:off x="2618799" y="960739"/>
            <a:ext cx="221191" cy="663571"/>
          </a:xfrm>
          <a:prstGeom prst="line">
            <a:avLst/>
          </a:prstGeom>
          <a:ln w="6219">
            <a:solidFill>
              <a:srgbClr val="0033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2839990" y="960739"/>
            <a:ext cx="221190" cy="663571"/>
          </a:xfrm>
          <a:prstGeom prst="line">
            <a:avLst/>
          </a:prstGeom>
          <a:ln w="6219">
            <a:solidFill>
              <a:srgbClr val="0033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V="1">
            <a:off x="3061180" y="1403120"/>
            <a:ext cx="221190" cy="221190"/>
          </a:xfrm>
          <a:prstGeom prst="line">
            <a:avLst/>
          </a:prstGeom>
          <a:ln w="6219">
            <a:solidFill>
              <a:srgbClr val="0033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3282370" y="1403120"/>
            <a:ext cx="221191" cy="221190"/>
          </a:xfrm>
          <a:prstGeom prst="line">
            <a:avLst/>
          </a:prstGeom>
          <a:ln w="6219">
            <a:solidFill>
              <a:srgbClr val="0033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V="1">
            <a:off x="3503561" y="1181930"/>
            <a:ext cx="221190" cy="442380"/>
          </a:xfrm>
          <a:prstGeom prst="line">
            <a:avLst/>
          </a:prstGeom>
          <a:ln w="6219">
            <a:solidFill>
              <a:srgbClr val="0033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3724751" y="1181930"/>
            <a:ext cx="221191" cy="442380"/>
          </a:xfrm>
          <a:prstGeom prst="line">
            <a:avLst/>
          </a:prstGeom>
          <a:ln w="6219">
            <a:solidFill>
              <a:srgbClr val="0033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 flipV="1">
            <a:off x="3945942" y="1403120"/>
            <a:ext cx="221190" cy="221190"/>
          </a:xfrm>
          <a:prstGeom prst="line">
            <a:avLst/>
          </a:prstGeom>
          <a:ln w="6219">
            <a:solidFill>
              <a:srgbClr val="0033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4167132" y="1403120"/>
            <a:ext cx="221190" cy="221190"/>
          </a:xfrm>
          <a:prstGeom prst="line">
            <a:avLst/>
          </a:prstGeom>
          <a:ln w="6219">
            <a:solidFill>
              <a:srgbClr val="0033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Rectangle 74"/>
          <p:cNvSpPr/>
          <p:nvPr/>
        </p:nvSpPr>
        <p:spPr>
          <a:xfrm>
            <a:off x="0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2880003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7" name="Picture 7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78" name="Picture 7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79" name="TextBox 78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Encoding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08000" y="359888"/>
            <a:ext cx="567739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1">
                <a:solidFill>
                  <a:srgbClr val="003373"/>
                </a:solidFill>
                <a:latin typeface="Josefin Sans"/>
              </a:rPr>
              <a:t>Problem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with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binary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coding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92301" y="645744"/>
            <a:ext cx="4893094" cy="13194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70" b="0">
                <a:solidFill>
                  <a:srgbClr val="000000"/>
                </a:solidFill>
                <a:latin typeface="Josefin Sans"/>
              </a:rPr>
              <a:t>Hamming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22733" y="751467"/>
            <a:ext cx="4862662" cy="13194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70" b="0">
                <a:solidFill>
                  <a:srgbClr val="000000"/>
                </a:solidFill>
                <a:latin typeface="Josefin Sans"/>
              </a:rPr>
              <a:t>distance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639391" y="1747287"/>
            <a:ext cx="1146004" cy="13194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70" b="0">
                <a:solidFill>
                  <a:srgbClr val="000000"/>
                </a:solidFill>
                <a:latin typeface="Josefin Sans"/>
              </a:rPr>
              <a:t>Binary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654115" y="1853010"/>
            <a:ext cx="1131280" cy="13194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70" b="0">
                <a:solidFill>
                  <a:srgbClr val="000000"/>
                </a:solidFill>
                <a:latin typeface="Josefin Sans"/>
              </a:rPr>
              <a:t>string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983846" y="1865088"/>
            <a:ext cx="4801549" cy="10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0" b="0">
                <a:solidFill>
                  <a:srgbClr val="000000"/>
                </a:solidFill>
                <a:latin typeface="Josefin Sans"/>
              </a:rPr>
              <a:t>0000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215673" y="1865088"/>
            <a:ext cx="4569722" cy="10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0" b="0">
                <a:solidFill>
                  <a:srgbClr val="000000"/>
                </a:solidFill>
                <a:latin typeface="Josefin Sans"/>
              </a:rPr>
              <a:t>0001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436857" y="1865088"/>
            <a:ext cx="4348538" cy="10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0" b="0">
                <a:solidFill>
                  <a:srgbClr val="000000"/>
                </a:solidFill>
                <a:latin typeface="Josefin Sans"/>
              </a:rPr>
              <a:t>0010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668685" y="1865088"/>
            <a:ext cx="4116710" cy="10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0" b="0">
                <a:solidFill>
                  <a:srgbClr val="000000"/>
                </a:solidFill>
                <a:latin typeface="Josefin Sans"/>
              </a:rPr>
              <a:t>0011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879233" y="1865088"/>
            <a:ext cx="3906162" cy="10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0" b="0">
                <a:solidFill>
                  <a:srgbClr val="000000"/>
                </a:solidFill>
                <a:latin typeface="Josefin Sans"/>
              </a:rPr>
              <a:t>0100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111053" y="1865088"/>
            <a:ext cx="3674342" cy="10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0" b="0">
                <a:solidFill>
                  <a:srgbClr val="000000"/>
                </a:solidFill>
                <a:latin typeface="Josefin Sans"/>
              </a:rPr>
              <a:t>0101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332244" y="1865088"/>
            <a:ext cx="3453151" cy="10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0" b="0">
                <a:solidFill>
                  <a:srgbClr val="000000"/>
                </a:solidFill>
                <a:latin typeface="Josefin Sans"/>
              </a:rPr>
              <a:t>0110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2564064" y="1865088"/>
            <a:ext cx="3221331" cy="10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0" b="0">
                <a:solidFill>
                  <a:srgbClr val="000000"/>
                </a:solidFill>
                <a:latin typeface="Josefin Sans"/>
              </a:rPr>
              <a:t>0111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763985" y="1865088"/>
            <a:ext cx="3021410" cy="10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0" b="0">
                <a:solidFill>
                  <a:srgbClr val="000000"/>
                </a:solidFill>
                <a:latin typeface="Josefin Sans"/>
              </a:rPr>
              <a:t>1000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2995804" y="1865088"/>
            <a:ext cx="2789591" cy="10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0" b="0">
                <a:solidFill>
                  <a:srgbClr val="000000"/>
                </a:solidFill>
                <a:latin typeface="Josefin Sans"/>
              </a:rPr>
              <a:t>1001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216996" y="1865088"/>
            <a:ext cx="2568399" cy="10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0" b="0">
                <a:solidFill>
                  <a:srgbClr val="000000"/>
                </a:solidFill>
                <a:latin typeface="Josefin Sans"/>
              </a:rPr>
              <a:t>1010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448816" y="1865088"/>
            <a:ext cx="2336579" cy="10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0" b="0">
                <a:solidFill>
                  <a:srgbClr val="000000"/>
                </a:solidFill>
                <a:latin typeface="Josefin Sans"/>
              </a:rPr>
              <a:t>1011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659372" y="1865088"/>
            <a:ext cx="2126023" cy="10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0" b="0">
                <a:solidFill>
                  <a:srgbClr val="000000"/>
                </a:solidFill>
                <a:latin typeface="Josefin Sans"/>
              </a:rPr>
              <a:t>1100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3891191" y="1865088"/>
            <a:ext cx="1894204" cy="10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0" b="0">
                <a:solidFill>
                  <a:srgbClr val="000000"/>
                </a:solidFill>
                <a:latin typeface="Josefin Sans"/>
              </a:rPr>
              <a:t>1101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112376" y="1865088"/>
            <a:ext cx="1673019" cy="10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0" b="0">
                <a:solidFill>
                  <a:srgbClr val="000000"/>
                </a:solidFill>
                <a:latin typeface="Josefin Sans"/>
              </a:rPr>
              <a:t>1110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344203" y="1865088"/>
            <a:ext cx="1441192" cy="10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0" b="0">
                <a:solidFill>
                  <a:srgbClr val="000000"/>
                </a:solidFill>
                <a:latin typeface="Josefin Sans"/>
              </a:rPr>
              <a:t>1111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997228" y="1812246"/>
            <a:ext cx="4788167" cy="10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018499" y="1591218"/>
            <a:ext cx="4766896" cy="10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05070" y="1370026"/>
            <a:ext cx="4780325" cy="10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0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04157" y="1148506"/>
            <a:ext cx="4781238" cy="10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0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04298" y="927658"/>
            <a:ext cx="4781097" cy="10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0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69404" y="2060998"/>
            <a:ext cx="531599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MSAM10"/>
              </a:rPr>
              <a:t>▶</a:t>
            </a:r>
            <a:r>
              <a:rPr sz="996" b="1">
                <a:solidFill>
                  <a:srgbClr val="000000"/>
                </a:solidFill>
                <a:latin typeface="Josefin Sans"/>
              </a:rPr>
              <a:t>Hamming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cliff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formed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when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two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numerical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adjacent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values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have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bit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representations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637095" y="2254160"/>
            <a:ext cx="5148300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that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are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far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apart.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69403" y="2450697"/>
            <a:ext cx="531599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MSAM10"/>
              </a:rPr>
              <a:t>▶</a:t>
            </a:r>
            <a:r>
              <a:rPr sz="996" b="0">
                <a:solidFill>
                  <a:srgbClr val="000000"/>
                </a:solidFill>
                <a:latin typeface="Josefin Sans"/>
              </a:rPr>
              <a:t>Going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from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one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value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to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nearest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value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means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modification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multiple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bits.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469404" y="2688555"/>
            <a:ext cx="531599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MSAM10"/>
              </a:rPr>
              <a:t>▶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This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increases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difficulty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for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algorithm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to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identify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optimal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solution.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4898770" y="3150917"/>
            <a:ext cx="8866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5623127" y="3150693"/>
            <a:ext cx="16226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49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26266192" y="-23383831"/>
            <a:ext cx="65751" cy="6719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Freeform 36"/>
          <p:cNvSpPr/>
          <p:nvPr/>
        </p:nvSpPr>
        <p:spPr>
          <a:xfrm>
            <a:off x="26301700" y="-233426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3"/>
                </a:moveTo>
                <a:lnTo>
                  <a:pt x="3" y="0"/>
                </a:lnTo>
                <a:lnTo>
                  <a:pt x="2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8" name="Connector 37"/>
          <p:cNvCxnSpPr/>
          <p:nvPr/>
        </p:nvCxnSpPr>
        <p:spPr>
          <a:xfrm>
            <a:off x="26533524" y="-23383519"/>
            <a:ext cx="64926" cy="66276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Freeform 38"/>
          <p:cNvSpPr/>
          <p:nvPr/>
        </p:nvSpPr>
        <p:spPr>
          <a:xfrm>
            <a:off x="26568400" y="-233426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3"/>
                </a:moveTo>
                <a:lnTo>
                  <a:pt x="3" y="0"/>
                </a:lnTo>
                <a:lnTo>
                  <a:pt x="2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0" name="Connector 39"/>
          <p:cNvCxnSpPr/>
          <p:nvPr/>
        </p:nvCxnSpPr>
        <p:spPr>
          <a:xfrm>
            <a:off x="26800023" y="-23383831"/>
            <a:ext cx="65747" cy="6719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Freeform 40"/>
          <p:cNvSpPr/>
          <p:nvPr/>
        </p:nvSpPr>
        <p:spPr>
          <a:xfrm>
            <a:off x="26835100" y="-233426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3"/>
                </a:moveTo>
                <a:lnTo>
                  <a:pt x="3" y="0"/>
                </a:lnTo>
                <a:lnTo>
                  <a:pt x="2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2" name="Connector 41"/>
          <p:cNvCxnSpPr/>
          <p:nvPr/>
        </p:nvCxnSpPr>
        <p:spPr>
          <a:xfrm>
            <a:off x="26174451" y="-23383831"/>
            <a:ext cx="0" cy="40463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Freeform 42"/>
          <p:cNvSpPr/>
          <p:nvPr/>
        </p:nvSpPr>
        <p:spPr>
          <a:xfrm>
            <a:off x="26149300" y="-229997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2" y="4"/>
                </a:moveTo>
                <a:lnTo>
                  <a:pt x="4" y="0"/>
                </a:lnTo>
                <a:lnTo>
                  <a:pt x="2" y="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4" name="Connector 43"/>
          <p:cNvCxnSpPr/>
          <p:nvPr/>
        </p:nvCxnSpPr>
        <p:spPr>
          <a:xfrm>
            <a:off x="26441365" y="-23111004"/>
            <a:ext cx="0" cy="131807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Freeform 44"/>
          <p:cNvSpPr/>
          <p:nvPr/>
        </p:nvSpPr>
        <p:spPr>
          <a:xfrm>
            <a:off x="26416000" y="-229997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2" y="4"/>
                </a:moveTo>
                <a:lnTo>
                  <a:pt x="4" y="0"/>
                </a:lnTo>
                <a:lnTo>
                  <a:pt x="2" y="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>
            <a:off x="26708279" y="-23111004"/>
            <a:ext cx="0" cy="131807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Freeform 46"/>
          <p:cNvSpPr/>
          <p:nvPr/>
        </p:nvSpPr>
        <p:spPr>
          <a:xfrm>
            <a:off x="26682700" y="-229997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2" y="4"/>
                </a:moveTo>
                <a:lnTo>
                  <a:pt x="4" y="0"/>
                </a:lnTo>
                <a:lnTo>
                  <a:pt x="2" y="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>
            <a:off x="26975196" y="-23111004"/>
            <a:ext cx="0" cy="131807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Freeform 48"/>
          <p:cNvSpPr/>
          <p:nvPr/>
        </p:nvSpPr>
        <p:spPr>
          <a:xfrm>
            <a:off x="26949400" y="-229997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2" y="4"/>
                </a:moveTo>
                <a:lnTo>
                  <a:pt x="4" y="0"/>
                </a:lnTo>
                <a:lnTo>
                  <a:pt x="2" y="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0" name="Connector 49"/>
          <p:cNvCxnSpPr/>
          <p:nvPr/>
        </p:nvCxnSpPr>
        <p:spPr>
          <a:xfrm flipH="1">
            <a:off x="28191150" y="-24004485"/>
            <a:ext cx="2098353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28140539" y="-23953874"/>
            <a:ext cx="0" cy="30548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28191150" y="-23597779"/>
            <a:ext cx="2098353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30340113" y="-23953874"/>
            <a:ext cx="0" cy="30548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H="1">
            <a:off x="28191150" y="-23388296"/>
            <a:ext cx="2098353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28140539" y="-23337685"/>
            <a:ext cx="0" cy="305485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28191150" y="-22981589"/>
            <a:ext cx="2098353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V="1">
            <a:off x="30340113" y="-23337685"/>
            <a:ext cx="0" cy="305485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H="1">
            <a:off x="28191150" y="-22772106"/>
            <a:ext cx="2098353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28140539" y="-22721495"/>
            <a:ext cx="0" cy="11144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28191150" y="-22559436"/>
            <a:ext cx="2098353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30340113" y="-22721495"/>
            <a:ext cx="0" cy="11144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29240326" y="-23545407"/>
            <a:ext cx="0" cy="79435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Freeform 62"/>
          <p:cNvSpPr/>
          <p:nvPr/>
        </p:nvSpPr>
        <p:spPr>
          <a:xfrm>
            <a:off x="29222700" y="-234823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0"/>
                </a:lnTo>
                <a:lnTo>
                  <a:pt x="1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>
            <a:off x="29240326" y="-22929219"/>
            <a:ext cx="0" cy="79437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Freeform 64"/>
          <p:cNvSpPr/>
          <p:nvPr/>
        </p:nvSpPr>
        <p:spPr>
          <a:xfrm>
            <a:off x="29222700" y="-228600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0"/>
                </a:lnTo>
                <a:lnTo>
                  <a:pt x="1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0" y="3146728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2880003" y="3146728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8" name="Picture 6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69" name="Picture 6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70" name="TextBox 6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Encoding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8000" y="359888"/>
            <a:ext cx="567739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1">
                <a:solidFill>
                  <a:srgbClr val="003373"/>
                </a:solidFill>
                <a:latin typeface="Josefin Sans"/>
              </a:rPr>
              <a:t>Gray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code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59993" y="680457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alternative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representation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solve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problem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Gray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coding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which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makes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59993" y="852529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adjacent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values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have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Hamming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distance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1.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898770" y="3150903"/>
            <a:ext cx="8866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615609" y="3150679"/>
            <a:ext cx="16978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50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865865" y="2016498"/>
            <a:ext cx="65749" cy="6719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Freeform 36"/>
          <p:cNvSpPr/>
          <p:nvPr/>
        </p:nvSpPr>
        <p:spPr>
          <a:xfrm>
            <a:off x="901700" y="20574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3"/>
                </a:moveTo>
                <a:lnTo>
                  <a:pt x="3" y="0"/>
                </a:lnTo>
                <a:lnTo>
                  <a:pt x="2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8" name="Connector 37"/>
          <p:cNvCxnSpPr/>
          <p:nvPr/>
        </p:nvCxnSpPr>
        <p:spPr>
          <a:xfrm>
            <a:off x="1133196" y="2016810"/>
            <a:ext cx="64926" cy="66275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Freeform 38"/>
          <p:cNvSpPr/>
          <p:nvPr/>
        </p:nvSpPr>
        <p:spPr>
          <a:xfrm>
            <a:off x="1168400" y="20574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3"/>
                </a:moveTo>
                <a:lnTo>
                  <a:pt x="3" y="0"/>
                </a:lnTo>
                <a:lnTo>
                  <a:pt x="2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0" name="Connector 39"/>
          <p:cNvCxnSpPr/>
          <p:nvPr/>
        </p:nvCxnSpPr>
        <p:spPr>
          <a:xfrm>
            <a:off x="1399696" y="2016498"/>
            <a:ext cx="65748" cy="6719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Freeform 40"/>
          <p:cNvSpPr/>
          <p:nvPr/>
        </p:nvSpPr>
        <p:spPr>
          <a:xfrm>
            <a:off x="1435100" y="20574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3"/>
                </a:moveTo>
                <a:lnTo>
                  <a:pt x="3" y="0"/>
                </a:lnTo>
                <a:lnTo>
                  <a:pt x="2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2" name="Connector 41"/>
          <p:cNvCxnSpPr/>
          <p:nvPr/>
        </p:nvCxnSpPr>
        <p:spPr>
          <a:xfrm>
            <a:off x="774123" y="2016498"/>
            <a:ext cx="0" cy="40463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Freeform 42"/>
          <p:cNvSpPr/>
          <p:nvPr/>
        </p:nvSpPr>
        <p:spPr>
          <a:xfrm>
            <a:off x="749300" y="24003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2" y="4"/>
                </a:moveTo>
                <a:lnTo>
                  <a:pt x="4" y="0"/>
                </a:lnTo>
                <a:lnTo>
                  <a:pt x="2" y="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4" name="Connector 43"/>
          <p:cNvCxnSpPr/>
          <p:nvPr/>
        </p:nvCxnSpPr>
        <p:spPr>
          <a:xfrm>
            <a:off x="1041038" y="2289324"/>
            <a:ext cx="0" cy="13180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Freeform 44"/>
          <p:cNvSpPr/>
          <p:nvPr/>
        </p:nvSpPr>
        <p:spPr>
          <a:xfrm>
            <a:off x="1016000" y="24003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2" y="4"/>
                </a:moveTo>
                <a:lnTo>
                  <a:pt x="4" y="0"/>
                </a:lnTo>
                <a:lnTo>
                  <a:pt x="2" y="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>
            <a:off x="1307953" y="2289324"/>
            <a:ext cx="0" cy="13180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Freeform 46"/>
          <p:cNvSpPr/>
          <p:nvPr/>
        </p:nvSpPr>
        <p:spPr>
          <a:xfrm>
            <a:off x="1282700" y="24003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2" y="4"/>
                </a:moveTo>
                <a:lnTo>
                  <a:pt x="4" y="0"/>
                </a:lnTo>
                <a:lnTo>
                  <a:pt x="2" y="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>
            <a:off x="1574868" y="2289324"/>
            <a:ext cx="0" cy="13180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Freeform 48"/>
          <p:cNvSpPr/>
          <p:nvPr/>
        </p:nvSpPr>
        <p:spPr>
          <a:xfrm>
            <a:off x="1549400" y="24003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2" y="4"/>
                </a:moveTo>
                <a:lnTo>
                  <a:pt x="4" y="0"/>
                </a:lnTo>
                <a:lnTo>
                  <a:pt x="2" y="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0" name="Connector 49"/>
          <p:cNvCxnSpPr/>
          <p:nvPr/>
        </p:nvCxnSpPr>
        <p:spPr>
          <a:xfrm flipH="1">
            <a:off x="2790820" y="1395844"/>
            <a:ext cx="209835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2740210" y="1446455"/>
            <a:ext cx="0" cy="305485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2790820" y="1802551"/>
            <a:ext cx="209835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4939785" y="1446455"/>
            <a:ext cx="0" cy="305485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H="1">
            <a:off x="2790820" y="2012034"/>
            <a:ext cx="209835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2740210" y="2062645"/>
            <a:ext cx="0" cy="305485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2790820" y="2418741"/>
            <a:ext cx="209835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V="1">
            <a:off x="4939785" y="2062645"/>
            <a:ext cx="0" cy="305485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H="1">
            <a:off x="2790820" y="2628224"/>
            <a:ext cx="209835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2740210" y="2678835"/>
            <a:ext cx="0" cy="11144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2790820" y="2840894"/>
            <a:ext cx="209835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4939785" y="2678835"/>
            <a:ext cx="0" cy="11144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3839997" y="1854922"/>
            <a:ext cx="0" cy="79436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Freeform 62"/>
          <p:cNvSpPr/>
          <p:nvPr/>
        </p:nvSpPr>
        <p:spPr>
          <a:xfrm>
            <a:off x="3822700" y="19177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0"/>
                </a:lnTo>
                <a:lnTo>
                  <a:pt x="1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>
            <a:off x="3839997" y="2471111"/>
            <a:ext cx="0" cy="79437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Freeform 64"/>
          <p:cNvSpPr/>
          <p:nvPr/>
        </p:nvSpPr>
        <p:spPr>
          <a:xfrm>
            <a:off x="3822700" y="25400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0"/>
                </a:lnTo>
                <a:lnTo>
                  <a:pt x="1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0" y="3146730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2880005" y="3146730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8" name="Picture 6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69" name="Picture 6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70" name="TextBox 6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Encoding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8000" y="359888"/>
            <a:ext cx="567739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1">
                <a:solidFill>
                  <a:srgbClr val="003373"/>
                </a:solidFill>
                <a:latin typeface="Josefin Sans"/>
              </a:rPr>
              <a:t>Gray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code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59993" y="680457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alternative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representation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solve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problem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Gray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coding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which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makes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59993" y="852529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adjacent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values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have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Hamming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distance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1.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897570" y="1111054"/>
            <a:ext cx="388782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Binary-to-Gray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code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conversion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52298" y="1857200"/>
            <a:ext cx="503309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98158" y="1856870"/>
            <a:ext cx="478723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286117" y="1857188"/>
            <a:ext cx="449927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553033" y="1857188"/>
            <a:ext cx="423236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14338" y="1651192"/>
            <a:ext cx="507105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b</a:t>
            </a:r>
            <a:r>
              <a:rPr sz="797" b="0">
                <a:solidFill>
                  <a:srgbClr val="000000"/>
                </a:solidFill>
                <a:latin typeface="Cambria Math"/>
              </a:rP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81254" y="1650875"/>
            <a:ext cx="480414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b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248170" y="1651192"/>
            <a:ext cx="453722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b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515073" y="1651192"/>
            <a:ext cx="427032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b</a:t>
            </a:r>
            <a:r>
              <a:rPr sz="797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74828" y="1432513"/>
            <a:ext cx="521056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(MSB)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396544" y="1432513"/>
            <a:ext cx="438885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(LSB)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52298" y="2474649"/>
            <a:ext cx="503309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19214" y="2474649"/>
            <a:ext cx="476618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286117" y="2474662"/>
            <a:ext cx="449927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531977" y="2474662"/>
            <a:ext cx="425341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19214" y="2130022"/>
            <a:ext cx="476618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265061" y="2129400"/>
            <a:ext cx="452033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553033" y="2130009"/>
            <a:ext cx="423236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87159" y="1983851"/>
            <a:ext cx="479823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⊕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254062" y="1983381"/>
            <a:ext cx="453133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⊕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520978" y="1983699"/>
            <a:ext cx="426441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⊕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298799" y="1441238"/>
            <a:ext cx="248659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Maintain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most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223158" y="1613310"/>
            <a:ext cx="256223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significant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bit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(MSB)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2867393" y="2057417"/>
            <a:ext cx="29180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Exclusive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(X-OR)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current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845562" y="2229502"/>
            <a:ext cx="293983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bit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left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bit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get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next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bit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2799905" y="2676580"/>
            <a:ext cx="298549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Continue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until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all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bits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identified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898771" y="3150905"/>
            <a:ext cx="88662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615610" y="3150681"/>
            <a:ext cx="16978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50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865865" y="2016498"/>
            <a:ext cx="65749" cy="6719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Freeform 36"/>
          <p:cNvSpPr/>
          <p:nvPr/>
        </p:nvSpPr>
        <p:spPr>
          <a:xfrm>
            <a:off x="901700" y="20574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3"/>
                </a:moveTo>
                <a:lnTo>
                  <a:pt x="3" y="0"/>
                </a:lnTo>
                <a:lnTo>
                  <a:pt x="2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8" name="Connector 37"/>
          <p:cNvCxnSpPr/>
          <p:nvPr/>
        </p:nvCxnSpPr>
        <p:spPr>
          <a:xfrm>
            <a:off x="1133196" y="2016810"/>
            <a:ext cx="64926" cy="66275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Freeform 38"/>
          <p:cNvSpPr/>
          <p:nvPr/>
        </p:nvSpPr>
        <p:spPr>
          <a:xfrm>
            <a:off x="1168400" y="20574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3"/>
                </a:moveTo>
                <a:lnTo>
                  <a:pt x="3" y="0"/>
                </a:lnTo>
                <a:lnTo>
                  <a:pt x="2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0" name="Connector 39"/>
          <p:cNvCxnSpPr/>
          <p:nvPr/>
        </p:nvCxnSpPr>
        <p:spPr>
          <a:xfrm>
            <a:off x="1399696" y="2016498"/>
            <a:ext cx="65748" cy="6719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Freeform 40"/>
          <p:cNvSpPr/>
          <p:nvPr/>
        </p:nvSpPr>
        <p:spPr>
          <a:xfrm>
            <a:off x="1435100" y="20574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3"/>
                </a:moveTo>
                <a:lnTo>
                  <a:pt x="3" y="0"/>
                </a:lnTo>
                <a:lnTo>
                  <a:pt x="2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2" name="Connector 41"/>
          <p:cNvCxnSpPr/>
          <p:nvPr/>
        </p:nvCxnSpPr>
        <p:spPr>
          <a:xfrm>
            <a:off x="774123" y="2016498"/>
            <a:ext cx="0" cy="40463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Freeform 42"/>
          <p:cNvSpPr/>
          <p:nvPr/>
        </p:nvSpPr>
        <p:spPr>
          <a:xfrm>
            <a:off x="749300" y="24003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2" y="4"/>
                </a:moveTo>
                <a:lnTo>
                  <a:pt x="4" y="0"/>
                </a:lnTo>
                <a:lnTo>
                  <a:pt x="2" y="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4" name="Connector 43"/>
          <p:cNvCxnSpPr/>
          <p:nvPr/>
        </p:nvCxnSpPr>
        <p:spPr>
          <a:xfrm>
            <a:off x="1041038" y="2289324"/>
            <a:ext cx="0" cy="13180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Freeform 44"/>
          <p:cNvSpPr/>
          <p:nvPr/>
        </p:nvSpPr>
        <p:spPr>
          <a:xfrm>
            <a:off x="1016000" y="24003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2" y="4"/>
                </a:moveTo>
                <a:lnTo>
                  <a:pt x="4" y="0"/>
                </a:lnTo>
                <a:lnTo>
                  <a:pt x="2" y="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>
            <a:off x="1307953" y="2289324"/>
            <a:ext cx="0" cy="13180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Freeform 46"/>
          <p:cNvSpPr/>
          <p:nvPr/>
        </p:nvSpPr>
        <p:spPr>
          <a:xfrm>
            <a:off x="1282700" y="24003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2" y="4"/>
                </a:moveTo>
                <a:lnTo>
                  <a:pt x="4" y="0"/>
                </a:lnTo>
                <a:lnTo>
                  <a:pt x="2" y="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>
            <a:off x="1574868" y="2289324"/>
            <a:ext cx="0" cy="13180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Freeform 48"/>
          <p:cNvSpPr/>
          <p:nvPr/>
        </p:nvSpPr>
        <p:spPr>
          <a:xfrm>
            <a:off x="1549400" y="24003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2" y="4"/>
                </a:moveTo>
                <a:lnTo>
                  <a:pt x="4" y="0"/>
                </a:lnTo>
                <a:lnTo>
                  <a:pt x="2" y="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0" name="Connector 49"/>
          <p:cNvCxnSpPr/>
          <p:nvPr/>
        </p:nvCxnSpPr>
        <p:spPr>
          <a:xfrm flipH="1">
            <a:off x="2790820" y="1395844"/>
            <a:ext cx="209835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2740210" y="1446455"/>
            <a:ext cx="0" cy="305485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2790820" y="1802551"/>
            <a:ext cx="209835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4939785" y="1446455"/>
            <a:ext cx="0" cy="305485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H="1">
            <a:off x="2790820" y="2012034"/>
            <a:ext cx="209835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2740210" y="2062645"/>
            <a:ext cx="0" cy="305485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2790820" y="2418741"/>
            <a:ext cx="209835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V="1">
            <a:off x="4939785" y="2062645"/>
            <a:ext cx="0" cy="305485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H="1">
            <a:off x="2790820" y="2628224"/>
            <a:ext cx="209835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2740210" y="2678835"/>
            <a:ext cx="0" cy="11144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2790820" y="2840894"/>
            <a:ext cx="209835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4939785" y="2678835"/>
            <a:ext cx="0" cy="11144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3839997" y="1854922"/>
            <a:ext cx="0" cy="79436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Freeform 62"/>
          <p:cNvSpPr/>
          <p:nvPr/>
        </p:nvSpPr>
        <p:spPr>
          <a:xfrm>
            <a:off x="3822700" y="19177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0"/>
                </a:lnTo>
                <a:lnTo>
                  <a:pt x="1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>
            <a:off x="3839997" y="2471111"/>
            <a:ext cx="0" cy="79437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Freeform 64"/>
          <p:cNvSpPr/>
          <p:nvPr/>
        </p:nvSpPr>
        <p:spPr>
          <a:xfrm>
            <a:off x="3822700" y="25400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0"/>
                </a:lnTo>
                <a:lnTo>
                  <a:pt x="1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0" y="3146730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2880005" y="3146730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8" name="Picture 6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69" name="Picture 6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70" name="TextBox 6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Encoding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8000" y="359888"/>
            <a:ext cx="567739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1">
                <a:solidFill>
                  <a:srgbClr val="003373"/>
                </a:solidFill>
                <a:latin typeface="Josefin Sans"/>
              </a:rPr>
              <a:t>Gray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code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59993" y="680457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alternative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representation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solve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problem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Gray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coding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which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makes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59993" y="852529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adjacent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values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have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Hamming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distance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1.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897570" y="1111054"/>
            <a:ext cx="388782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Binary-to-Gray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code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conversion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52298" y="1857200"/>
            <a:ext cx="503309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98158" y="1856870"/>
            <a:ext cx="478723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286117" y="1857188"/>
            <a:ext cx="449927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553033" y="1857188"/>
            <a:ext cx="423236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14338" y="1651192"/>
            <a:ext cx="507105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b</a:t>
            </a:r>
            <a:r>
              <a:rPr sz="797" b="0">
                <a:solidFill>
                  <a:srgbClr val="000000"/>
                </a:solidFill>
                <a:latin typeface="Cambria Math"/>
              </a:rP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81254" y="1650875"/>
            <a:ext cx="480414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b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248170" y="1651192"/>
            <a:ext cx="453722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b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515073" y="1651192"/>
            <a:ext cx="427032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b</a:t>
            </a:r>
            <a:r>
              <a:rPr sz="797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74828" y="1432513"/>
            <a:ext cx="521056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(MSB)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396544" y="1432513"/>
            <a:ext cx="438885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(LSB)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52298" y="2474649"/>
            <a:ext cx="503309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19214" y="2474649"/>
            <a:ext cx="476618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286117" y="2474662"/>
            <a:ext cx="449927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531977" y="2474662"/>
            <a:ext cx="425341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19214" y="2130022"/>
            <a:ext cx="476618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265061" y="2129400"/>
            <a:ext cx="452033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553033" y="2130009"/>
            <a:ext cx="423236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87159" y="1983851"/>
            <a:ext cx="479823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⊕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254062" y="1983381"/>
            <a:ext cx="453133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⊕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520978" y="1983699"/>
            <a:ext cx="426441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⊕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298799" y="1441238"/>
            <a:ext cx="248659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Maintain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most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223158" y="1613310"/>
            <a:ext cx="256223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significant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bit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(MSB)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2867393" y="2057417"/>
            <a:ext cx="29180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Exclusive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(X-OR)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current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845562" y="2229502"/>
            <a:ext cx="293983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bit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left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bit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get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next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bit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2799905" y="2676580"/>
            <a:ext cx="298549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Continue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until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all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bits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identified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898771" y="3150905"/>
            <a:ext cx="88662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615610" y="3150681"/>
            <a:ext cx="16978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50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865865" y="2016498"/>
            <a:ext cx="65749" cy="6719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Freeform 36"/>
          <p:cNvSpPr/>
          <p:nvPr/>
        </p:nvSpPr>
        <p:spPr>
          <a:xfrm>
            <a:off x="901700" y="20574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3"/>
                </a:moveTo>
                <a:lnTo>
                  <a:pt x="3" y="0"/>
                </a:lnTo>
                <a:lnTo>
                  <a:pt x="2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8" name="Connector 37"/>
          <p:cNvCxnSpPr/>
          <p:nvPr/>
        </p:nvCxnSpPr>
        <p:spPr>
          <a:xfrm>
            <a:off x="1133196" y="2016810"/>
            <a:ext cx="64926" cy="66275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Freeform 38"/>
          <p:cNvSpPr/>
          <p:nvPr/>
        </p:nvSpPr>
        <p:spPr>
          <a:xfrm>
            <a:off x="1168400" y="20574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3"/>
                </a:moveTo>
                <a:lnTo>
                  <a:pt x="3" y="0"/>
                </a:lnTo>
                <a:lnTo>
                  <a:pt x="2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0" name="Connector 39"/>
          <p:cNvCxnSpPr/>
          <p:nvPr/>
        </p:nvCxnSpPr>
        <p:spPr>
          <a:xfrm>
            <a:off x="1399696" y="2016498"/>
            <a:ext cx="65748" cy="6719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Freeform 40"/>
          <p:cNvSpPr/>
          <p:nvPr/>
        </p:nvSpPr>
        <p:spPr>
          <a:xfrm>
            <a:off x="1435100" y="20574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3"/>
                </a:moveTo>
                <a:lnTo>
                  <a:pt x="3" y="0"/>
                </a:lnTo>
                <a:lnTo>
                  <a:pt x="2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2" name="Connector 41"/>
          <p:cNvCxnSpPr/>
          <p:nvPr/>
        </p:nvCxnSpPr>
        <p:spPr>
          <a:xfrm>
            <a:off x="774123" y="2016498"/>
            <a:ext cx="0" cy="40463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Freeform 42"/>
          <p:cNvSpPr/>
          <p:nvPr/>
        </p:nvSpPr>
        <p:spPr>
          <a:xfrm>
            <a:off x="749300" y="24003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2" y="4"/>
                </a:moveTo>
                <a:lnTo>
                  <a:pt x="4" y="0"/>
                </a:lnTo>
                <a:lnTo>
                  <a:pt x="2" y="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4" name="Connector 43"/>
          <p:cNvCxnSpPr/>
          <p:nvPr/>
        </p:nvCxnSpPr>
        <p:spPr>
          <a:xfrm>
            <a:off x="1041038" y="2289324"/>
            <a:ext cx="0" cy="13180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Freeform 44"/>
          <p:cNvSpPr/>
          <p:nvPr/>
        </p:nvSpPr>
        <p:spPr>
          <a:xfrm>
            <a:off x="1016000" y="24003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2" y="4"/>
                </a:moveTo>
                <a:lnTo>
                  <a:pt x="4" y="0"/>
                </a:lnTo>
                <a:lnTo>
                  <a:pt x="2" y="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>
            <a:off x="1307953" y="2289324"/>
            <a:ext cx="0" cy="13180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Freeform 46"/>
          <p:cNvSpPr/>
          <p:nvPr/>
        </p:nvSpPr>
        <p:spPr>
          <a:xfrm>
            <a:off x="1282700" y="24003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2" y="4"/>
                </a:moveTo>
                <a:lnTo>
                  <a:pt x="4" y="0"/>
                </a:lnTo>
                <a:lnTo>
                  <a:pt x="2" y="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>
            <a:off x="1574868" y="2289324"/>
            <a:ext cx="0" cy="13180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Freeform 48"/>
          <p:cNvSpPr/>
          <p:nvPr/>
        </p:nvSpPr>
        <p:spPr>
          <a:xfrm>
            <a:off x="1549400" y="24003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2" y="4"/>
                </a:moveTo>
                <a:lnTo>
                  <a:pt x="4" y="0"/>
                </a:lnTo>
                <a:lnTo>
                  <a:pt x="2" y="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0" name="Connector 49"/>
          <p:cNvCxnSpPr/>
          <p:nvPr/>
        </p:nvCxnSpPr>
        <p:spPr>
          <a:xfrm flipH="1">
            <a:off x="2790820" y="1395844"/>
            <a:ext cx="209835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2740210" y="1446455"/>
            <a:ext cx="0" cy="305485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2790820" y="1802551"/>
            <a:ext cx="209835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4939785" y="1446455"/>
            <a:ext cx="0" cy="305485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H="1">
            <a:off x="2790820" y="2012034"/>
            <a:ext cx="209835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2740210" y="2062645"/>
            <a:ext cx="0" cy="305485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2790820" y="2418741"/>
            <a:ext cx="209835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V="1">
            <a:off x="4939785" y="2062645"/>
            <a:ext cx="0" cy="305485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H="1">
            <a:off x="2790820" y="2628224"/>
            <a:ext cx="209835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2740210" y="2678835"/>
            <a:ext cx="0" cy="11144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2790820" y="2840894"/>
            <a:ext cx="209835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4939785" y="2678835"/>
            <a:ext cx="0" cy="11144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3839997" y="1854922"/>
            <a:ext cx="0" cy="79436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Freeform 62"/>
          <p:cNvSpPr/>
          <p:nvPr/>
        </p:nvSpPr>
        <p:spPr>
          <a:xfrm>
            <a:off x="3822700" y="19177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0"/>
                </a:lnTo>
                <a:lnTo>
                  <a:pt x="1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>
            <a:off x="3839997" y="2471111"/>
            <a:ext cx="0" cy="79437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Freeform 64"/>
          <p:cNvSpPr/>
          <p:nvPr/>
        </p:nvSpPr>
        <p:spPr>
          <a:xfrm>
            <a:off x="3822700" y="25400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0"/>
                </a:lnTo>
                <a:lnTo>
                  <a:pt x="1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0" y="3146730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2880005" y="3146730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8" name="Picture 6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69" name="Picture 6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70" name="TextBox 6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Encoding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8000" y="359888"/>
            <a:ext cx="567739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1">
                <a:solidFill>
                  <a:srgbClr val="003373"/>
                </a:solidFill>
                <a:latin typeface="Josefin Sans"/>
              </a:rPr>
              <a:t>Gray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code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59993" y="680457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alternative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representation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solve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problem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Gray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coding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which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makes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59993" y="852529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adjacent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values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have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Hamming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distance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1.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897570" y="1111054"/>
            <a:ext cx="388782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Binary-to-Gray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code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conversion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52298" y="1857200"/>
            <a:ext cx="503309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98158" y="1856870"/>
            <a:ext cx="478723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286117" y="1857188"/>
            <a:ext cx="449927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553033" y="1857188"/>
            <a:ext cx="423236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14338" y="1651192"/>
            <a:ext cx="507105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b</a:t>
            </a:r>
            <a:r>
              <a:rPr sz="797" b="0">
                <a:solidFill>
                  <a:srgbClr val="000000"/>
                </a:solidFill>
                <a:latin typeface="Cambria Math"/>
              </a:rP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81254" y="1650875"/>
            <a:ext cx="480414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b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248170" y="1651192"/>
            <a:ext cx="453722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b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515073" y="1651192"/>
            <a:ext cx="427032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b</a:t>
            </a:r>
            <a:r>
              <a:rPr sz="797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74828" y="1432513"/>
            <a:ext cx="521056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(MSB)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396544" y="1432513"/>
            <a:ext cx="438885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(LSB)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52298" y="2474649"/>
            <a:ext cx="503309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19214" y="2474649"/>
            <a:ext cx="476618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286117" y="2474662"/>
            <a:ext cx="449927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531977" y="2474662"/>
            <a:ext cx="425341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19214" y="2130022"/>
            <a:ext cx="476618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265061" y="2129400"/>
            <a:ext cx="452033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553033" y="2130009"/>
            <a:ext cx="423236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87159" y="1983851"/>
            <a:ext cx="479823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⊕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254062" y="1983381"/>
            <a:ext cx="453133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⊕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520978" y="1983699"/>
            <a:ext cx="426441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⊕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298799" y="1441238"/>
            <a:ext cx="248659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Maintain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most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223158" y="1613310"/>
            <a:ext cx="256223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significant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bit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(MSB)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2867393" y="2057417"/>
            <a:ext cx="29180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Exclusive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(X-OR)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current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845562" y="2229502"/>
            <a:ext cx="293983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bit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left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bit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get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next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bit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2799905" y="2676580"/>
            <a:ext cx="298549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Continue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until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all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bits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identified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898771" y="3150905"/>
            <a:ext cx="88662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615610" y="3150681"/>
            <a:ext cx="16978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50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865865" y="2016498"/>
            <a:ext cx="65749" cy="6719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Freeform 36"/>
          <p:cNvSpPr/>
          <p:nvPr/>
        </p:nvSpPr>
        <p:spPr>
          <a:xfrm>
            <a:off x="901700" y="20574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3"/>
                </a:moveTo>
                <a:lnTo>
                  <a:pt x="3" y="0"/>
                </a:lnTo>
                <a:lnTo>
                  <a:pt x="2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8" name="Connector 37"/>
          <p:cNvCxnSpPr/>
          <p:nvPr/>
        </p:nvCxnSpPr>
        <p:spPr>
          <a:xfrm>
            <a:off x="1133196" y="2016810"/>
            <a:ext cx="64926" cy="66275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Freeform 38"/>
          <p:cNvSpPr/>
          <p:nvPr/>
        </p:nvSpPr>
        <p:spPr>
          <a:xfrm>
            <a:off x="1168400" y="20574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3"/>
                </a:moveTo>
                <a:lnTo>
                  <a:pt x="3" y="0"/>
                </a:lnTo>
                <a:lnTo>
                  <a:pt x="2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0" name="Connector 39"/>
          <p:cNvCxnSpPr/>
          <p:nvPr/>
        </p:nvCxnSpPr>
        <p:spPr>
          <a:xfrm>
            <a:off x="1399696" y="2016498"/>
            <a:ext cx="65748" cy="6719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Freeform 40"/>
          <p:cNvSpPr/>
          <p:nvPr/>
        </p:nvSpPr>
        <p:spPr>
          <a:xfrm>
            <a:off x="1435100" y="20574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3"/>
                </a:moveTo>
                <a:lnTo>
                  <a:pt x="3" y="0"/>
                </a:lnTo>
                <a:lnTo>
                  <a:pt x="2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2" name="Connector 41"/>
          <p:cNvCxnSpPr/>
          <p:nvPr/>
        </p:nvCxnSpPr>
        <p:spPr>
          <a:xfrm>
            <a:off x="774123" y="2016498"/>
            <a:ext cx="0" cy="40463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Freeform 42"/>
          <p:cNvSpPr/>
          <p:nvPr/>
        </p:nvSpPr>
        <p:spPr>
          <a:xfrm>
            <a:off x="749300" y="24003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2" y="4"/>
                </a:moveTo>
                <a:lnTo>
                  <a:pt x="4" y="0"/>
                </a:lnTo>
                <a:lnTo>
                  <a:pt x="2" y="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4" name="Connector 43"/>
          <p:cNvCxnSpPr/>
          <p:nvPr/>
        </p:nvCxnSpPr>
        <p:spPr>
          <a:xfrm>
            <a:off x="1041038" y="2289324"/>
            <a:ext cx="0" cy="13180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Freeform 44"/>
          <p:cNvSpPr/>
          <p:nvPr/>
        </p:nvSpPr>
        <p:spPr>
          <a:xfrm>
            <a:off x="1016000" y="24003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2" y="4"/>
                </a:moveTo>
                <a:lnTo>
                  <a:pt x="4" y="0"/>
                </a:lnTo>
                <a:lnTo>
                  <a:pt x="2" y="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>
            <a:off x="1307953" y="2289324"/>
            <a:ext cx="0" cy="13180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Freeform 46"/>
          <p:cNvSpPr/>
          <p:nvPr/>
        </p:nvSpPr>
        <p:spPr>
          <a:xfrm>
            <a:off x="1282700" y="24003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2" y="4"/>
                </a:moveTo>
                <a:lnTo>
                  <a:pt x="4" y="0"/>
                </a:lnTo>
                <a:lnTo>
                  <a:pt x="2" y="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>
            <a:off x="1574868" y="2289324"/>
            <a:ext cx="0" cy="13180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Freeform 48"/>
          <p:cNvSpPr/>
          <p:nvPr/>
        </p:nvSpPr>
        <p:spPr>
          <a:xfrm>
            <a:off x="1549400" y="24003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2" y="4"/>
                </a:moveTo>
                <a:lnTo>
                  <a:pt x="4" y="0"/>
                </a:lnTo>
                <a:lnTo>
                  <a:pt x="2" y="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0" name="Connector 49"/>
          <p:cNvCxnSpPr/>
          <p:nvPr/>
        </p:nvCxnSpPr>
        <p:spPr>
          <a:xfrm flipH="1">
            <a:off x="2790820" y="1395844"/>
            <a:ext cx="209835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2740210" y="1446455"/>
            <a:ext cx="0" cy="305485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2790820" y="1802551"/>
            <a:ext cx="209835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4939785" y="1446455"/>
            <a:ext cx="0" cy="305485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H="1">
            <a:off x="2790820" y="2012034"/>
            <a:ext cx="209835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2740210" y="2062645"/>
            <a:ext cx="0" cy="305485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2790820" y="2418741"/>
            <a:ext cx="209835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V="1">
            <a:off x="4939785" y="2062645"/>
            <a:ext cx="0" cy="305485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H="1">
            <a:off x="2790820" y="2628224"/>
            <a:ext cx="209835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2740210" y="2678835"/>
            <a:ext cx="0" cy="11144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2790820" y="2840894"/>
            <a:ext cx="209835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4939785" y="2678835"/>
            <a:ext cx="0" cy="11144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3839997" y="1854922"/>
            <a:ext cx="0" cy="79436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Freeform 62"/>
          <p:cNvSpPr/>
          <p:nvPr/>
        </p:nvSpPr>
        <p:spPr>
          <a:xfrm>
            <a:off x="3822700" y="19177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0"/>
                </a:lnTo>
                <a:lnTo>
                  <a:pt x="1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>
            <a:off x="3839997" y="2471111"/>
            <a:ext cx="0" cy="79437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Freeform 64"/>
          <p:cNvSpPr/>
          <p:nvPr/>
        </p:nvSpPr>
        <p:spPr>
          <a:xfrm>
            <a:off x="3822700" y="25400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0"/>
                </a:lnTo>
                <a:lnTo>
                  <a:pt x="1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0" y="3146730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2880005" y="3146730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8" name="Picture 6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69" name="Picture 6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70" name="TextBox 6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Encoding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8000" y="359888"/>
            <a:ext cx="567739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1">
                <a:solidFill>
                  <a:srgbClr val="003373"/>
                </a:solidFill>
                <a:latin typeface="Josefin Sans"/>
              </a:rPr>
              <a:t>Gray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code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59993" y="680457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alternative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representation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solve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problem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Gray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coding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which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makes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59993" y="852529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adjacent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values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have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Hamming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distance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1.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897570" y="1111054"/>
            <a:ext cx="388782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Binary-to-Gray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code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conversion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52298" y="1857200"/>
            <a:ext cx="503309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98158" y="1856870"/>
            <a:ext cx="478723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286117" y="1857188"/>
            <a:ext cx="449927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553033" y="1857188"/>
            <a:ext cx="423236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14338" y="1651192"/>
            <a:ext cx="507105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b</a:t>
            </a:r>
            <a:r>
              <a:rPr sz="797" b="0">
                <a:solidFill>
                  <a:srgbClr val="000000"/>
                </a:solidFill>
                <a:latin typeface="Cambria Math"/>
              </a:rP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81254" y="1650875"/>
            <a:ext cx="480414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b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248170" y="1651192"/>
            <a:ext cx="453722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b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515073" y="1651192"/>
            <a:ext cx="427032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b</a:t>
            </a:r>
            <a:r>
              <a:rPr sz="797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74828" y="1432513"/>
            <a:ext cx="521056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(MSB)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396544" y="1432513"/>
            <a:ext cx="438885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(LSB)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52298" y="2474649"/>
            <a:ext cx="503309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19214" y="2474649"/>
            <a:ext cx="476618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286117" y="2474662"/>
            <a:ext cx="449927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531977" y="2474662"/>
            <a:ext cx="425341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19214" y="2130022"/>
            <a:ext cx="476618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265061" y="2129400"/>
            <a:ext cx="452033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553033" y="2130009"/>
            <a:ext cx="423236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87159" y="1983851"/>
            <a:ext cx="479823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⊕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254062" y="1983381"/>
            <a:ext cx="453133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⊕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520978" y="1983699"/>
            <a:ext cx="426441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⊕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298799" y="1441238"/>
            <a:ext cx="248659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Maintain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most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223158" y="1613310"/>
            <a:ext cx="256223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significant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bit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(MSB)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2867393" y="2057417"/>
            <a:ext cx="29180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Exclusive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(X-OR)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current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845562" y="2229502"/>
            <a:ext cx="293983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bit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left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bit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get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next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bit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2799905" y="2676580"/>
            <a:ext cx="298549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Continue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until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all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bits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identified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898771" y="3150905"/>
            <a:ext cx="88662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615610" y="3150681"/>
            <a:ext cx="16978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50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865865" y="2016498"/>
            <a:ext cx="65749" cy="6719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Freeform 36"/>
          <p:cNvSpPr/>
          <p:nvPr/>
        </p:nvSpPr>
        <p:spPr>
          <a:xfrm>
            <a:off x="901700" y="20574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3"/>
                </a:moveTo>
                <a:lnTo>
                  <a:pt x="3" y="0"/>
                </a:lnTo>
                <a:lnTo>
                  <a:pt x="2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8" name="Connector 37"/>
          <p:cNvCxnSpPr/>
          <p:nvPr/>
        </p:nvCxnSpPr>
        <p:spPr>
          <a:xfrm>
            <a:off x="1133196" y="2016810"/>
            <a:ext cx="64926" cy="66275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Freeform 38"/>
          <p:cNvSpPr/>
          <p:nvPr/>
        </p:nvSpPr>
        <p:spPr>
          <a:xfrm>
            <a:off x="1168400" y="20574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3"/>
                </a:moveTo>
                <a:lnTo>
                  <a:pt x="3" y="0"/>
                </a:lnTo>
                <a:lnTo>
                  <a:pt x="2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0" name="Connector 39"/>
          <p:cNvCxnSpPr/>
          <p:nvPr/>
        </p:nvCxnSpPr>
        <p:spPr>
          <a:xfrm>
            <a:off x="1399696" y="2016498"/>
            <a:ext cx="65748" cy="6719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Freeform 40"/>
          <p:cNvSpPr/>
          <p:nvPr/>
        </p:nvSpPr>
        <p:spPr>
          <a:xfrm>
            <a:off x="1435100" y="20574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3"/>
                </a:moveTo>
                <a:lnTo>
                  <a:pt x="3" y="0"/>
                </a:lnTo>
                <a:lnTo>
                  <a:pt x="2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2" name="Connector 41"/>
          <p:cNvCxnSpPr/>
          <p:nvPr/>
        </p:nvCxnSpPr>
        <p:spPr>
          <a:xfrm>
            <a:off x="774123" y="2016498"/>
            <a:ext cx="0" cy="40463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Freeform 42"/>
          <p:cNvSpPr/>
          <p:nvPr/>
        </p:nvSpPr>
        <p:spPr>
          <a:xfrm>
            <a:off x="749300" y="24003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2" y="4"/>
                </a:moveTo>
                <a:lnTo>
                  <a:pt x="4" y="0"/>
                </a:lnTo>
                <a:lnTo>
                  <a:pt x="2" y="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4" name="Connector 43"/>
          <p:cNvCxnSpPr/>
          <p:nvPr/>
        </p:nvCxnSpPr>
        <p:spPr>
          <a:xfrm>
            <a:off x="1041038" y="2289324"/>
            <a:ext cx="0" cy="13180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Freeform 44"/>
          <p:cNvSpPr/>
          <p:nvPr/>
        </p:nvSpPr>
        <p:spPr>
          <a:xfrm>
            <a:off x="1016000" y="24003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2" y="4"/>
                </a:moveTo>
                <a:lnTo>
                  <a:pt x="4" y="0"/>
                </a:lnTo>
                <a:lnTo>
                  <a:pt x="2" y="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>
            <a:off x="1307953" y="2289324"/>
            <a:ext cx="0" cy="13180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Freeform 46"/>
          <p:cNvSpPr/>
          <p:nvPr/>
        </p:nvSpPr>
        <p:spPr>
          <a:xfrm>
            <a:off x="1282700" y="24003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2" y="4"/>
                </a:moveTo>
                <a:lnTo>
                  <a:pt x="4" y="0"/>
                </a:lnTo>
                <a:lnTo>
                  <a:pt x="2" y="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>
            <a:off x="1574868" y="2289324"/>
            <a:ext cx="0" cy="13180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Freeform 48"/>
          <p:cNvSpPr/>
          <p:nvPr/>
        </p:nvSpPr>
        <p:spPr>
          <a:xfrm>
            <a:off x="1549400" y="24003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2" y="4"/>
                </a:moveTo>
                <a:lnTo>
                  <a:pt x="4" y="0"/>
                </a:lnTo>
                <a:lnTo>
                  <a:pt x="2" y="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0" name="Connector 49"/>
          <p:cNvCxnSpPr/>
          <p:nvPr/>
        </p:nvCxnSpPr>
        <p:spPr>
          <a:xfrm flipH="1">
            <a:off x="2790820" y="1395844"/>
            <a:ext cx="209835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2740210" y="1446455"/>
            <a:ext cx="0" cy="305485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2790820" y="1802551"/>
            <a:ext cx="209835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4939785" y="1446455"/>
            <a:ext cx="0" cy="305485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H="1">
            <a:off x="2790820" y="2012034"/>
            <a:ext cx="209835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2740210" y="2062645"/>
            <a:ext cx="0" cy="305485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2790820" y="2418741"/>
            <a:ext cx="209835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V="1">
            <a:off x="4939785" y="2062645"/>
            <a:ext cx="0" cy="305485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H="1">
            <a:off x="2790820" y="2628224"/>
            <a:ext cx="209835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2740210" y="2678835"/>
            <a:ext cx="0" cy="11144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2790820" y="2840894"/>
            <a:ext cx="209835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4939785" y="2678835"/>
            <a:ext cx="0" cy="11144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3839997" y="1854922"/>
            <a:ext cx="0" cy="79436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Freeform 62"/>
          <p:cNvSpPr/>
          <p:nvPr/>
        </p:nvSpPr>
        <p:spPr>
          <a:xfrm>
            <a:off x="3822700" y="19177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0"/>
                </a:lnTo>
                <a:lnTo>
                  <a:pt x="1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>
            <a:off x="3839997" y="2471111"/>
            <a:ext cx="0" cy="79437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Freeform 64"/>
          <p:cNvSpPr/>
          <p:nvPr/>
        </p:nvSpPr>
        <p:spPr>
          <a:xfrm>
            <a:off x="3822700" y="25400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0"/>
                </a:lnTo>
                <a:lnTo>
                  <a:pt x="1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0" y="3146730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2880005" y="3146730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8" name="Picture 6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69" name="Picture 6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70" name="TextBox 6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Encoding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8000" y="359888"/>
            <a:ext cx="567739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1">
                <a:solidFill>
                  <a:srgbClr val="003373"/>
                </a:solidFill>
                <a:latin typeface="Josefin Sans"/>
              </a:rPr>
              <a:t>Gray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code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59993" y="680457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alternative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representation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solve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problem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Gray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coding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which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makes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59993" y="852529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adjacent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values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have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Hamming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distance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1.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897570" y="1111054"/>
            <a:ext cx="388782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Binary-to-Gray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code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conversion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52298" y="1857200"/>
            <a:ext cx="503309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98158" y="1856870"/>
            <a:ext cx="478723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286117" y="1857188"/>
            <a:ext cx="449927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553033" y="1857188"/>
            <a:ext cx="423236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14338" y="1651192"/>
            <a:ext cx="507105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b</a:t>
            </a:r>
            <a:r>
              <a:rPr sz="797" b="0">
                <a:solidFill>
                  <a:srgbClr val="000000"/>
                </a:solidFill>
                <a:latin typeface="Cambria Math"/>
              </a:rP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81254" y="1650875"/>
            <a:ext cx="480414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b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248170" y="1651192"/>
            <a:ext cx="453722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b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515073" y="1651192"/>
            <a:ext cx="427032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b</a:t>
            </a:r>
            <a:r>
              <a:rPr sz="797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74828" y="1432513"/>
            <a:ext cx="521056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(MSB)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396544" y="1432513"/>
            <a:ext cx="438885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(LSB)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52298" y="2474649"/>
            <a:ext cx="503309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19214" y="2474649"/>
            <a:ext cx="476618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286117" y="2474662"/>
            <a:ext cx="449927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531977" y="2474662"/>
            <a:ext cx="425341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19214" y="2130022"/>
            <a:ext cx="476618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265061" y="2129400"/>
            <a:ext cx="452033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553033" y="2130009"/>
            <a:ext cx="423236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87159" y="1983851"/>
            <a:ext cx="479823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⊕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254062" y="1983381"/>
            <a:ext cx="453133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⊕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520978" y="1983699"/>
            <a:ext cx="426441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⊕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298799" y="1441238"/>
            <a:ext cx="248659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Maintain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most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223158" y="1613310"/>
            <a:ext cx="256223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significant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bit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(MSB)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2867393" y="2057417"/>
            <a:ext cx="29180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Exclusive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(X-OR)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current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845562" y="2229502"/>
            <a:ext cx="293983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bit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left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bit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get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next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bit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2799905" y="2676580"/>
            <a:ext cx="298549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Continue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until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all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bits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identified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898771" y="3150905"/>
            <a:ext cx="88662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615610" y="3150681"/>
            <a:ext cx="16978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50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618161" y="1203615"/>
            <a:ext cx="0" cy="1224741"/>
          </a:xfrm>
          <a:prstGeom prst="line">
            <a:avLst/>
          </a:prstGeom>
          <a:ln w="3886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Freeform 36"/>
          <p:cNvSpPr/>
          <p:nvPr/>
        </p:nvSpPr>
        <p:spPr>
          <a:xfrm>
            <a:off x="596900" y="11811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2" y="0"/>
                </a:moveTo>
                <a:lnTo>
                  <a:pt x="0" y="3"/>
                </a:lnTo>
                <a:lnTo>
                  <a:pt x="2" y="2"/>
                </a:lnTo>
                <a:lnTo>
                  <a:pt x="3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8" name="Connector 37"/>
          <p:cNvCxnSpPr/>
          <p:nvPr/>
        </p:nvCxnSpPr>
        <p:spPr>
          <a:xfrm>
            <a:off x="618161" y="2428356"/>
            <a:ext cx="4404301" cy="0"/>
          </a:xfrm>
          <a:prstGeom prst="line">
            <a:avLst/>
          </a:prstGeom>
          <a:ln w="3886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Freeform 38"/>
          <p:cNvSpPr/>
          <p:nvPr/>
        </p:nvSpPr>
        <p:spPr>
          <a:xfrm>
            <a:off x="5016500" y="24130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0" name="Connector 39"/>
          <p:cNvCxnSpPr/>
          <p:nvPr/>
        </p:nvCxnSpPr>
        <p:spPr>
          <a:xfrm flipV="1">
            <a:off x="618161" y="2414531"/>
            <a:ext cx="0" cy="27650"/>
          </a:xfrm>
          <a:prstGeom prst="line">
            <a:avLst/>
          </a:prstGeom>
          <a:ln w="3886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894645" y="2414531"/>
            <a:ext cx="0" cy="27650"/>
          </a:xfrm>
          <a:prstGeom prst="line">
            <a:avLst/>
          </a:prstGeom>
          <a:ln w="3886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1171128" y="2414531"/>
            <a:ext cx="0" cy="27650"/>
          </a:xfrm>
          <a:prstGeom prst="line">
            <a:avLst/>
          </a:prstGeom>
          <a:ln w="3886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1447612" y="2414531"/>
            <a:ext cx="0" cy="27650"/>
          </a:xfrm>
          <a:prstGeom prst="line">
            <a:avLst/>
          </a:prstGeom>
          <a:ln w="3886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1724095" y="2414531"/>
            <a:ext cx="0" cy="27650"/>
          </a:xfrm>
          <a:prstGeom prst="line">
            <a:avLst/>
          </a:prstGeom>
          <a:ln w="3886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2000579" y="2414531"/>
            <a:ext cx="0" cy="27650"/>
          </a:xfrm>
          <a:prstGeom prst="line">
            <a:avLst/>
          </a:prstGeom>
          <a:ln w="3886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2277062" y="2414531"/>
            <a:ext cx="0" cy="27650"/>
          </a:xfrm>
          <a:prstGeom prst="line">
            <a:avLst/>
          </a:prstGeom>
          <a:ln w="3886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2553545" y="2414531"/>
            <a:ext cx="0" cy="27650"/>
          </a:xfrm>
          <a:prstGeom prst="line">
            <a:avLst/>
          </a:prstGeom>
          <a:ln w="3886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2830029" y="2414531"/>
            <a:ext cx="0" cy="27650"/>
          </a:xfrm>
          <a:prstGeom prst="line">
            <a:avLst/>
          </a:prstGeom>
          <a:ln w="3886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3106512" y="2414531"/>
            <a:ext cx="0" cy="27650"/>
          </a:xfrm>
          <a:prstGeom prst="line">
            <a:avLst/>
          </a:prstGeom>
          <a:ln w="3886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V="1">
            <a:off x="3382996" y="2414531"/>
            <a:ext cx="0" cy="27650"/>
          </a:xfrm>
          <a:prstGeom prst="line">
            <a:avLst/>
          </a:prstGeom>
          <a:ln w="3886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3659479" y="2414531"/>
            <a:ext cx="0" cy="27650"/>
          </a:xfrm>
          <a:prstGeom prst="line">
            <a:avLst/>
          </a:prstGeom>
          <a:ln w="3886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3935963" y="2414531"/>
            <a:ext cx="0" cy="27650"/>
          </a:xfrm>
          <a:prstGeom prst="line">
            <a:avLst/>
          </a:prstGeom>
          <a:ln w="3886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4212446" y="2414531"/>
            <a:ext cx="0" cy="27650"/>
          </a:xfrm>
          <a:prstGeom prst="line">
            <a:avLst/>
          </a:prstGeom>
          <a:ln w="3886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V="1">
            <a:off x="4488929" y="2414531"/>
            <a:ext cx="0" cy="27650"/>
          </a:xfrm>
          <a:prstGeom prst="line">
            <a:avLst/>
          </a:prstGeom>
          <a:ln w="3886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V="1">
            <a:off x="4765413" y="2414531"/>
            <a:ext cx="0" cy="27650"/>
          </a:xfrm>
          <a:prstGeom prst="line">
            <a:avLst/>
          </a:prstGeom>
          <a:ln w="3886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604337" y="2428356"/>
            <a:ext cx="27649" cy="0"/>
          </a:xfrm>
          <a:prstGeom prst="line">
            <a:avLst/>
          </a:prstGeom>
          <a:ln w="3886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604337" y="2151873"/>
            <a:ext cx="27649" cy="0"/>
          </a:xfrm>
          <a:prstGeom prst="line">
            <a:avLst/>
          </a:prstGeom>
          <a:ln w="3886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604337" y="1875389"/>
            <a:ext cx="27649" cy="0"/>
          </a:xfrm>
          <a:prstGeom prst="line">
            <a:avLst/>
          </a:prstGeom>
          <a:ln w="3886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604337" y="1598906"/>
            <a:ext cx="27649" cy="0"/>
          </a:xfrm>
          <a:prstGeom prst="line">
            <a:avLst/>
          </a:prstGeom>
          <a:ln w="3886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604337" y="1322422"/>
            <a:ext cx="27649" cy="0"/>
          </a:xfrm>
          <a:prstGeom prst="line">
            <a:avLst/>
          </a:prstGeom>
          <a:ln w="3886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894645" y="1875389"/>
            <a:ext cx="276483" cy="276484"/>
          </a:xfrm>
          <a:prstGeom prst="line">
            <a:avLst/>
          </a:prstGeom>
          <a:ln w="7773">
            <a:solidFill>
              <a:srgbClr val="0033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1171128" y="1875389"/>
            <a:ext cx="276484" cy="276484"/>
          </a:xfrm>
          <a:prstGeom prst="line">
            <a:avLst/>
          </a:prstGeom>
          <a:ln w="7773">
            <a:solidFill>
              <a:srgbClr val="0033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1447612" y="1598906"/>
            <a:ext cx="276483" cy="552967"/>
          </a:xfrm>
          <a:prstGeom prst="line">
            <a:avLst/>
          </a:prstGeom>
          <a:ln w="7773">
            <a:solidFill>
              <a:srgbClr val="0033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1724095" y="1598906"/>
            <a:ext cx="276484" cy="552967"/>
          </a:xfrm>
          <a:prstGeom prst="line">
            <a:avLst/>
          </a:prstGeom>
          <a:ln w="7773">
            <a:solidFill>
              <a:srgbClr val="0033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2000579" y="1875389"/>
            <a:ext cx="276483" cy="276484"/>
          </a:xfrm>
          <a:prstGeom prst="line">
            <a:avLst/>
          </a:prstGeom>
          <a:ln w="7773">
            <a:solidFill>
              <a:srgbClr val="0033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2277062" y="1875389"/>
            <a:ext cx="276483" cy="276484"/>
          </a:xfrm>
          <a:prstGeom prst="line">
            <a:avLst/>
          </a:prstGeom>
          <a:ln w="7773">
            <a:solidFill>
              <a:srgbClr val="0033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V="1">
            <a:off x="2553545" y="1322422"/>
            <a:ext cx="276484" cy="829451"/>
          </a:xfrm>
          <a:prstGeom prst="line">
            <a:avLst/>
          </a:prstGeom>
          <a:ln w="7773">
            <a:solidFill>
              <a:srgbClr val="0033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2830029" y="1322422"/>
            <a:ext cx="276483" cy="829451"/>
          </a:xfrm>
          <a:prstGeom prst="line">
            <a:avLst/>
          </a:prstGeom>
          <a:ln w="7773">
            <a:solidFill>
              <a:srgbClr val="0033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V="1">
            <a:off x="3106512" y="1875389"/>
            <a:ext cx="276484" cy="276484"/>
          </a:xfrm>
          <a:prstGeom prst="line">
            <a:avLst/>
          </a:prstGeom>
          <a:ln w="7773">
            <a:solidFill>
              <a:srgbClr val="0033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3382996" y="1875389"/>
            <a:ext cx="276483" cy="276484"/>
          </a:xfrm>
          <a:prstGeom prst="line">
            <a:avLst/>
          </a:prstGeom>
          <a:ln w="7773">
            <a:solidFill>
              <a:srgbClr val="0033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V="1">
            <a:off x="3659479" y="1598906"/>
            <a:ext cx="276484" cy="552967"/>
          </a:xfrm>
          <a:prstGeom prst="line">
            <a:avLst/>
          </a:prstGeom>
          <a:ln w="7773">
            <a:solidFill>
              <a:srgbClr val="0033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3935963" y="1598906"/>
            <a:ext cx="276483" cy="552967"/>
          </a:xfrm>
          <a:prstGeom prst="line">
            <a:avLst/>
          </a:prstGeom>
          <a:ln w="7773">
            <a:solidFill>
              <a:srgbClr val="0033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 flipV="1">
            <a:off x="4212446" y="1875389"/>
            <a:ext cx="276483" cy="276484"/>
          </a:xfrm>
          <a:prstGeom prst="line">
            <a:avLst/>
          </a:prstGeom>
          <a:ln w="7773">
            <a:solidFill>
              <a:srgbClr val="0033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4488929" y="1875389"/>
            <a:ext cx="276484" cy="276484"/>
          </a:xfrm>
          <a:prstGeom prst="line">
            <a:avLst/>
          </a:prstGeom>
          <a:ln w="7773">
            <a:solidFill>
              <a:srgbClr val="0033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894645" y="2151873"/>
            <a:ext cx="3870768" cy="0"/>
          </a:xfrm>
          <a:prstGeom prst="line">
            <a:avLst/>
          </a:prstGeom>
          <a:ln w="7773">
            <a:solidFill>
              <a:srgbClr val="F443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Rectangle 75"/>
          <p:cNvSpPr/>
          <p:nvPr/>
        </p:nvSpPr>
        <p:spPr>
          <a:xfrm>
            <a:off x="0" y="3146755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2880004" y="3146755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8" name="Picture 7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79" name="Picture 7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80" name="TextBox 7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Encoding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8000" y="359888"/>
            <a:ext cx="567739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1">
                <a:solidFill>
                  <a:srgbClr val="003373"/>
                </a:solidFill>
                <a:latin typeface="Josefin Sans"/>
              </a:rPr>
              <a:t>Gray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code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5457" y="928685"/>
            <a:ext cx="5389938" cy="16492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37" b="0">
                <a:solidFill>
                  <a:srgbClr val="000000"/>
                </a:solidFill>
                <a:latin typeface="Josefin Sans"/>
              </a:rPr>
              <a:t>Hamming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33496" y="1060836"/>
            <a:ext cx="5351899" cy="16492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37" b="0">
                <a:solidFill>
                  <a:srgbClr val="000000"/>
                </a:solidFill>
                <a:latin typeface="Josefin Sans"/>
              </a:rPr>
              <a:t>distance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079243" y="2305591"/>
            <a:ext cx="706152" cy="16492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37" b="0">
                <a:solidFill>
                  <a:srgbClr val="000000"/>
                </a:solidFill>
                <a:latin typeface="Josefin Sans"/>
              </a:rPr>
              <a:t>Binary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097658" y="2437742"/>
            <a:ext cx="687737" cy="16492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37" b="0">
                <a:solidFill>
                  <a:srgbClr val="000000"/>
                </a:solidFill>
                <a:latin typeface="Josefin Sans"/>
              </a:rPr>
              <a:t>string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09896" y="2452839"/>
            <a:ext cx="5275499" cy="13555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8" b="0">
                <a:solidFill>
                  <a:srgbClr val="000000"/>
                </a:solidFill>
                <a:latin typeface="Josefin Sans"/>
              </a:rPr>
              <a:t>0000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99666" y="2452839"/>
            <a:ext cx="4985729" cy="13555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8" b="0">
                <a:solidFill>
                  <a:srgbClr val="000000"/>
                </a:solidFill>
                <a:latin typeface="Josefin Sans"/>
              </a:rPr>
              <a:t>0001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76142" y="2452839"/>
            <a:ext cx="4709253" cy="13555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8" b="0">
                <a:solidFill>
                  <a:srgbClr val="000000"/>
                </a:solidFill>
                <a:latin typeface="Josefin Sans"/>
              </a:rPr>
              <a:t>0010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365921" y="2452839"/>
            <a:ext cx="4419474" cy="13555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8" b="0">
                <a:solidFill>
                  <a:srgbClr val="000000"/>
                </a:solidFill>
                <a:latin typeface="Josefin Sans"/>
              </a:rPr>
              <a:t>0011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629103" y="2452839"/>
            <a:ext cx="4156293" cy="13555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8" b="0">
                <a:solidFill>
                  <a:srgbClr val="000000"/>
                </a:solidFill>
                <a:latin typeface="Josefin Sans"/>
              </a:rPr>
              <a:t>0100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918882" y="2452839"/>
            <a:ext cx="3866513" cy="13555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8" b="0">
                <a:solidFill>
                  <a:srgbClr val="000000"/>
                </a:solidFill>
                <a:latin typeface="Josefin Sans"/>
              </a:rPr>
              <a:t>0101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2195357" y="2452839"/>
            <a:ext cx="3590038" cy="13555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8" b="0">
                <a:solidFill>
                  <a:srgbClr val="000000"/>
                </a:solidFill>
                <a:latin typeface="Josefin Sans"/>
              </a:rPr>
              <a:t>0110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485127" y="2452839"/>
            <a:ext cx="3300268" cy="13555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8" b="0">
                <a:solidFill>
                  <a:srgbClr val="000000"/>
                </a:solidFill>
                <a:latin typeface="Josefin Sans"/>
              </a:rPr>
              <a:t>0111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2735024" y="2452839"/>
            <a:ext cx="3050371" cy="13555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8" b="0">
                <a:solidFill>
                  <a:srgbClr val="000000"/>
                </a:solidFill>
                <a:latin typeface="Josefin Sans"/>
              </a:rPr>
              <a:t>1000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024794" y="2452839"/>
            <a:ext cx="2760601" cy="13555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8" b="0">
                <a:solidFill>
                  <a:srgbClr val="000000"/>
                </a:solidFill>
                <a:latin typeface="Josefin Sans"/>
              </a:rPr>
              <a:t>1001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301279" y="2452839"/>
            <a:ext cx="2484116" cy="13555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8" b="0">
                <a:solidFill>
                  <a:srgbClr val="000000"/>
                </a:solidFill>
                <a:latin typeface="Josefin Sans"/>
              </a:rPr>
              <a:t>1010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591049" y="2452839"/>
            <a:ext cx="2194346" cy="13555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8" b="0">
                <a:solidFill>
                  <a:srgbClr val="000000"/>
                </a:solidFill>
                <a:latin typeface="Josefin Sans"/>
              </a:rPr>
              <a:t>1011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3854240" y="2452839"/>
            <a:ext cx="1931155" cy="13555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8" b="0">
                <a:solidFill>
                  <a:srgbClr val="000000"/>
                </a:solidFill>
                <a:latin typeface="Josefin Sans"/>
              </a:rPr>
              <a:t>1100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144010" y="2452839"/>
            <a:ext cx="1641385" cy="13555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8" b="0">
                <a:solidFill>
                  <a:srgbClr val="000000"/>
                </a:solidFill>
                <a:latin typeface="Josefin Sans"/>
              </a:rPr>
              <a:t>1101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420495" y="2452839"/>
            <a:ext cx="1364900" cy="13555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8" b="0">
                <a:solidFill>
                  <a:srgbClr val="000000"/>
                </a:solidFill>
                <a:latin typeface="Josefin Sans"/>
              </a:rPr>
              <a:t>1110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710265" y="2452839"/>
            <a:ext cx="1075130" cy="13555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8" b="0">
                <a:solidFill>
                  <a:srgbClr val="000000"/>
                </a:solidFill>
                <a:latin typeface="Josefin Sans"/>
              </a:rPr>
              <a:t>1111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526624" y="2386788"/>
            <a:ext cx="5258771" cy="13555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8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53202" y="2110507"/>
            <a:ext cx="5232193" cy="13555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8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536416" y="1834032"/>
            <a:ext cx="5248979" cy="13555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8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535275" y="1557137"/>
            <a:ext cx="5250120" cy="13555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8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35451" y="1281071"/>
            <a:ext cx="5249944" cy="13555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8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246433" y="1742004"/>
            <a:ext cx="1538963" cy="15061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65" b="0">
                <a:solidFill>
                  <a:srgbClr val="003373"/>
                </a:solidFill>
                <a:latin typeface="Josefin Sans"/>
              </a:rPr>
              <a:t>Binary</a:t>
            </a:r>
            <a:r>
              <a:rPr sz="765" b="0">
                <a:solidFill>
                  <a:srgbClr val="003373"/>
                </a:solidFill>
                <a:latin typeface="Josefin Sans"/>
              </a:rPr>
              <a:t> </a:t>
            </a:r>
            <a:r>
              <a:rPr sz="765" b="0">
                <a:solidFill>
                  <a:srgbClr val="003373"/>
                </a:solidFill>
                <a:latin typeface="Josefin Sans"/>
              </a:rPr>
              <a:t>code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509896" y="2591077"/>
            <a:ext cx="5275499" cy="13555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8" b="0">
                <a:solidFill>
                  <a:srgbClr val="000000"/>
                </a:solidFill>
                <a:latin typeface="Josefin Sans"/>
              </a:rPr>
              <a:t>0000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799666" y="2591077"/>
            <a:ext cx="4985729" cy="13555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8" b="0">
                <a:solidFill>
                  <a:srgbClr val="000000"/>
                </a:solidFill>
                <a:latin typeface="Josefin Sans"/>
              </a:rPr>
              <a:t>0001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89436" y="2591077"/>
            <a:ext cx="4695959" cy="13555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8" b="0">
                <a:solidFill>
                  <a:srgbClr val="000000"/>
                </a:solidFill>
                <a:latin typeface="Josefin Sans"/>
              </a:rPr>
              <a:t>0011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1352627" y="2591077"/>
            <a:ext cx="4432768" cy="13555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8" b="0">
                <a:solidFill>
                  <a:srgbClr val="000000"/>
                </a:solidFill>
                <a:latin typeface="Josefin Sans"/>
              </a:rPr>
              <a:t>0010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642397" y="2591077"/>
            <a:ext cx="4142998" cy="13555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8" b="0">
                <a:solidFill>
                  <a:srgbClr val="000000"/>
                </a:solidFill>
                <a:latin typeface="Josefin Sans"/>
              </a:rPr>
              <a:t>0110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932176" y="2591077"/>
            <a:ext cx="3853219" cy="13555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8" b="0">
                <a:solidFill>
                  <a:srgbClr val="000000"/>
                </a:solidFill>
                <a:latin typeface="Josefin Sans"/>
              </a:rPr>
              <a:t>0111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2195357" y="2591077"/>
            <a:ext cx="3590038" cy="13555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8" b="0">
                <a:solidFill>
                  <a:srgbClr val="000000"/>
                </a:solidFill>
                <a:latin typeface="Josefin Sans"/>
              </a:rPr>
              <a:t>0101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458549" y="2591077"/>
            <a:ext cx="3326846" cy="13555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8" b="0">
                <a:solidFill>
                  <a:srgbClr val="000000"/>
                </a:solidFill>
                <a:latin typeface="Josefin Sans"/>
              </a:rPr>
              <a:t>0100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2748318" y="2591077"/>
            <a:ext cx="3037077" cy="13555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8" b="0">
                <a:solidFill>
                  <a:srgbClr val="000000"/>
                </a:solidFill>
                <a:latin typeface="Josefin Sans"/>
              </a:rPr>
              <a:t>1100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3038088" y="2591077"/>
            <a:ext cx="2747307" cy="13555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8" b="0">
                <a:solidFill>
                  <a:srgbClr val="000000"/>
                </a:solidFill>
                <a:latin typeface="Josefin Sans"/>
              </a:rPr>
              <a:t>1101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3327868" y="2591077"/>
            <a:ext cx="2457527" cy="13555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8" b="0">
                <a:solidFill>
                  <a:srgbClr val="000000"/>
                </a:solidFill>
                <a:latin typeface="Josefin Sans"/>
              </a:rPr>
              <a:t>1111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3591049" y="2591077"/>
            <a:ext cx="2194346" cy="13555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8" b="0">
                <a:solidFill>
                  <a:srgbClr val="000000"/>
                </a:solidFill>
                <a:latin typeface="Josefin Sans"/>
              </a:rPr>
              <a:t>1110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854240" y="2591077"/>
            <a:ext cx="1931155" cy="13555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8" b="0">
                <a:solidFill>
                  <a:srgbClr val="000000"/>
                </a:solidFill>
                <a:latin typeface="Josefin Sans"/>
              </a:rPr>
              <a:t>1010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144010" y="2591077"/>
            <a:ext cx="1641385" cy="13555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8" b="0">
                <a:solidFill>
                  <a:srgbClr val="000000"/>
                </a:solidFill>
                <a:latin typeface="Josefin Sans"/>
              </a:rPr>
              <a:t>1011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4407201" y="2591077"/>
            <a:ext cx="1378194" cy="13555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8" b="0">
                <a:solidFill>
                  <a:srgbClr val="000000"/>
                </a:solidFill>
                <a:latin typeface="Josefin Sans"/>
              </a:rPr>
              <a:t>1001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4670383" y="2591077"/>
            <a:ext cx="1115012" cy="13555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8" b="0">
                <a:solidFill>
                  <a:srgbClr val="000000"/>
                </a:solidFill>
                <a:latin typeface="Josefin Sans"/>
              </a:rPr>
              <a:t>1000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4275147" y="2184398"/>
            <a:ext cx="1510248" cy="15061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65" b="0">
                <a:solidFill>
                  <a:srgbClr val="F44336"/>
                </a:solidFill>
                <a:latin typeface="Josefin Sans"/>
              </a:rPr>
              <a:t>Gray</a:t>
            </a:r>
            <a:r>
              <a:rPr sz="765" b="0">
                <a:solidFill>
                  <a:srgbClr val="F44336"/>
                </a:solidFill>
                <a:latin typeface="Josefin Sans"/>
              </a:rPr>
              <a:t> </a:t>
            </a:r>
            <a:r>
              <a:rPr sz="765" b="0">
                <a:solidFill>
                  <a:srgbClr val="F44336"/>
                </a:solidFill>
                <a:latin typeface="Josefin Sans"/>
              </a:rPr>
              <a:t>code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898770" y="3150930"/>
            <a:ext cx="8866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5638685" y="3150706"/>
            <a:ext cx="14671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51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3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Fitness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function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60057" y="862087"/>
            <a:ext cx="532533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fitness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individual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represents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how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well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individual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survive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7095" y="1077916"/>
            <a:ext cx="51483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reproduce.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98770" y="3150918"/>
            <a:ext cx="8866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24105" y="3150694"/>
            <a:ext cx="16129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52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3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Fitness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function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60057" y="862087"/>
            <a:ext cx="532533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fitness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individual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represents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how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well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individual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survive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7095" y="1077916"/>
            <a:ext cx="51483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reproduce.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0056" y="1292274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Therefore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fitness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function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has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carefully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designed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meaningful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7094" y="1508103"/>
            <a:ext cx="51483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comparison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fitness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between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different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individuals.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898770" y="3150918"/>
            <a:ext cx="8866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24105" y="3150694"/>
            <a:ext cx="16129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52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3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Fitness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function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60057" y="862087"/>
            <a:ext cx="532533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fitness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individual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represents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how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well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individual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survive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7095" y="1077916"/>
            <a:ext cx="51483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reproduce.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0056" y="1292274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Therefore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fitness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function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has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carefully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designed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meaningful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7094" y="1508103"/>
            <a:ext cx="51483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comparison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fitness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between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different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individuals.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0058" y="1722462"/>
            <a:ext cx="532533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fitness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function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takes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input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chromosome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representation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produces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7096" y="1938291"/>
            <a:ext cx="514829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scalar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value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which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represents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fitness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chromosome.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898770" y="3150918"/>
            <a:ext cx="8866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24105" y="3150694"/>
            <a:ext cx="16129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52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2" y="3146744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6" y="3146744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Fitness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function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60057" y="862087"/>
            <a:ext cx="532533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fitness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individual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represents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how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well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individual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survive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7095" y="1077916"/>
            <a:ext cx="51483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reproduce.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0056" y="1292274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Therefore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fitness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function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has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carefully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designed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meaningful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7094" y="1508103"/>
            <a:ext cx="51483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comparison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fitness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between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different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individuals.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0058" y="1722462"/>
            <a:ext cx="532533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fitness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function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takes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input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chromosome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representation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produces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7096" y="1938291"/>
            <a:ext cx="514829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scalar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value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which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represents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fitness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chromosome.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0059" y="2152649"/>
            <a:ext cx="532533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higher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fitness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value,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higher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chance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chromosome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will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survive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37097" y="2368479"/>
            <a:ext cx="514829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be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selected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reproduction.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98773" y="3150919"/>
            <a:ext cx="88662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24108" y="3150695"/>
            <a:ext cx="16128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52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26007428" y="-23987121"/>
            <a:ext cx="483832" cy="170814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6491260" y="-23987120"/>
            <a:ext cx="696087" cy="170814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7187348" y="-23987120"/>
            <a:ext cx="625031" cy="170814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6007428" y="-23645503"/>
            <a:ext cx="483832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6491260" y="-23645503"/>
            <a:ext cx="696087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7187348" y="-23645503"/>
            <a:ext cx="625031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6007428" y="-23303886"/>
            <a:ext cx="483832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6491260" y="-23303886"/>
            <a:ext cx="696087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27187348" y="-23303886"/>
            <a:ext cx="625031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26007428" y="-22962268"/>
            <a:ext cx="483832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26491260" y="-22962268"/>
            <a:ext cx="696087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27187348" y="-22962268"/>
            <a:ext cx="625031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26007428" y="-22620651"/>
            <a:ext cx="483832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26491260" y="-22620651"/>
            <a:ext cx="696087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27187348" y="-22620651"/>
            <a:ext cx="625031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28599407" y="-23987121"/>
            <a:ext cx="483830" cy="170814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29083251" y="-23987120"/>
            <a:ext cx="696087" cy="170814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29779338" y="-23987120"/>
            <a:ext cx="625031" cy="170814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28599407" y="-23645503"/>
            <a:ext cx="483830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29083251" y="-23645503"/>
            <a:ext cx="696087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29779338" y="-23645503"/>
            <a:ext cx="625031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28599407" y="-23303886"/>
            <a:ext cx="483830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29083251" y="-23303886"/>
            <a:ext cx="696087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29779338" y="-23303886"/>
            <a:ext cx="625031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28599407" y="-22962268"/>
            <a:ext cx="483830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29083251" y="-22962268"/>
            <a:ext cx="696087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29779338" y="-22962268"/>
            <a:ext cx="625031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28599407" y="-22620651"/>
            <a:ext cx="483830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29083251" y="-22620651"/>
            <a:ext cx="696087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29779338" y="-22620651"/>
            <a:ext cx="625031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2880005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8" name="Picture 6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69" name="Picture 6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70" name="TextBox 6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Example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1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59993" y="590284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Problem: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What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maximum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value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f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 = 15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assuming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only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59992" y="781143"/>
            <a:ext cx="542540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integers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between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0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15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?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898771" y="3150918"/>
            <a:ext cx="88662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623129" y="3150694"/>
            <a:ext cx="16226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53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26007424" y="-23987121"/>
            <a:ext cx="483832" cy="170814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6491257" y="-23987120"/>
            <a:ext cx="696087" cy="170814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7187345" y="-23987120"/>
            <a:ext cx="625031" cy="170814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6007424" y="-23645503"/>
            <a:ext cx="483832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6491257" y="-23645503"/>
            <a:ext cx="696087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7187345" y="-23645503"/>
            <a:ext cx="625031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6007424" y="-23303886"/>
            <a:ext cx="483832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6491257" y="-23303886"/>
            <a:ext cx="696087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27187345" y="-23303886"/>
            <a:ext cx="625031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26007424" y="-22962268"/>
            <a:ext cx="483832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26491257" y="-22962268"/>
            <a:ext cx="696087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27187345" y="-22962268"/>
            <a:ext cx="625031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26007424" y="-22620651"/>
            <a:ext cx="483832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26491257" y="-22620651"/>
            <a:ext cx="696087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27187345" y="-22620651"/>
            <a:ext cx="625031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28599404" y="-23987121"/>
            <a:ext cx="483830" cy="170814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29083248" y="-23987120"/>
            <a:ext cx="696087" cy="170814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29779335" y="-23987120"/>
            <a:ext cx="625031" cy="170814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28599404" y="-23645503"/>
            <a:ext cx="483830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29083248" y="-23645503"/>
            <a:ext cx="696087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29779335" y="-23645503"/>
            <a:ext cx="625031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28599404" y="-23303886"/>
            <a:ext cx="483830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29083248" y="-23303886"/>
            <a:ext cx="696087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29779335" y="-23303886"/>
            <a:ext cx="625031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28599404" y="-22962268"/>
            <a:ext cx="483830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29083248" y="-22962268"/>
            <a:ext cx="696087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29779335" y="-22962268"/>
            <a:ext cx="625031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28599404" y="-22620651"/>
            <a:ext cx="483830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29083248" y="-22620651"/>
            <a:ext cx="696087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29779335" y="-22620651"/>
            <a:ext cx="625031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-2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2880002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8" name="Picture 6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69" name="Picture 6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70" name="TextBox 6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Example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1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59993" y="590284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Problem: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What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maximum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value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f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 = 15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assuming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only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59992" y="781143"/>
            <a:ext cx="542540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integers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between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0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15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?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59993" y="1092043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Encoding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solution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898768" y="3150918"/>
            <a:ext cx="88662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623126" y="3150694"/>
            <a:ext cx="16226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53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26007421" y="-23987121"/>
            <a:ext cx="483832" cy="170814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6491254" y="-23987120"/>
            <a:ext cx="696087" cy="170814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7187342" y="-23987120"/>
            <a:ext cx="625031" cy="170814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6007421" y="-23645503"/>
            <a:ext cx="483832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6491254" y="-23645503"/>
            <a:ext cx="696087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7187342" y="-23645503"/>
            <a:ext cx="625031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6007421" y="-23303886"/>
            <a:ext cx="483832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6491254" y="-23303886"/>
            <a:ext cx="696087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27187342" y="-23303886"/>
            <a:ext cx="625031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26007421" y="-22962268"/>
            <a:ext cx="483832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26491254" y="-22962268"/>
            <a:ext cx="696087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27187342" y="-22962268"/>
            <a:ext cx="625031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26007421" y="-22620651"/>
            <a:ext cx="483832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26491254" y="-22620651"/>
            <a:ext cx="696087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27187342" y="-22620651"/>
            <a:ext cx="625031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28599401" y="-23987121"/>
            <a:ext cx="483830" cy="170814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29083244" y="-23987120"/>
            <a:ext cx="696087" cy="170814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29779332" y="-23987120"/>
            <a:ext cx="625031" cy="170814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28599401" y="-23645503"/>
            <a:ext cx="483830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29083244" y="-23645503"/>
            <a:ext cx="696087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29779332" y="-23645503"/>
            <a:ext cx="625031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28599401" y="-23303886"/>
            <a:ext cx="483830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29083244" y="-23303886"/>
            <a:ext cx="696087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29779332" y="-23303886"/>
            <a:ext cx="625031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28599401" y="-22962268"/>
            <a:ext cx="483830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29083244" y="-22962268"/>
            <a:ext cx="696087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29779332" y="-22962268"/>
            <a:ext cx="625031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28599401" y="-22620651"/>
            <a:ext cx="483830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29083244" y="-22620651"/>
            <a:ext cx="696087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29779332" y="-22620651"/>
            <a:ext cx="625031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-5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2879999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8" name="Picture 6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69" name="Picture 6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70" name="TextBox 6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Example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1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59993" y="590284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Problem: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What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maximum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value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f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 = 15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assuming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only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59992" y="781143"/>
            <a:ext cx="542540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integers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between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0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15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?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59993" y="1091633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Encoding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solution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As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only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integer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between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0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15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use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59992" y="1263706"/>
            <a:ext cx="542540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4-bit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binary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string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represent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solution.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898765" y="3150918"/>
            <a:ext cx="88663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623123" y="3150694"/>
            <a:ext cx="16227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53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607094" y="1413205"/>
            <a:ext cx="483831" cy="170814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090926" y="1413205"/>
            <a:ext cx="696086" cy="170814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787013" y="1413205"/>
            <a:ext cx="625030" cy="170814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07094" y="1754822"/>
            <a:ext cx="483831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090926" y="1754822"/>
            <a:ext cx="696086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787013" y="1754822"/>
            <a:ext cx="625030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07094" y="2096439"/>
            <a:ext cx="483831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090926" y="2096439"/>
            <a:ext cx="696086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787013" y="2096439"/>
            <a:ext cx="625030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07094" y="2438056"/>
            <a:ext cx="483831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090926" y="2438056"/>
            <a:ext cx="696086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787013" y="2438056"/>
            <a:ext cx="625030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07094" y="2779674"/>
            <a:ext cx="483831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1090926" y="2779674"/>
            <a:ext cx="696086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787013" y="2779674"/>
            <a:ext cx="625030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28599401" y="-23987121"/>
            <a:ext cx="483830" cy="170814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29083244" y="-23987120"/>
            <a:ext cx="696087" cy="170814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29779332" y="-23987120"/>
            <a:ext cx="625031" cy="170814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28599401" y="-23645503"/>
            <a:ext cx="483830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29083244" y="-23645503"/>
            <a:ext cx="696087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29779332" y="-23645503"/>
            <a:ext cx="625031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28599401" y="-23303886"/>
            <a:ext cx="483830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29083244" y="-23303886"/>
            <a:ext cx="696087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29779332" y="-23303886"/>
            <a:ext cx="625031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28599401" y="-22962268"/>
            <a:ext cx="483830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29083244" y="-22962268"/>
            <a:ext cx="696087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29779332" y="-22962268"/>
            <a:ext cx="625031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28599401" y="-22620651"/>
            <a:ext cx="483830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29083244" y="-22620651"/>
            <a:ext cx="696087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29779332" y="-22620651"/>
            <a:ext cx="625031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-5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2879999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8" name="Picture 6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69" name="Picture 6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70" name="TextBox 6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Example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1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59993" y="590284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Problem: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What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maximum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value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f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 = 15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assuming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only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59992" y="781143"/>
            <a:ext cx="542540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integers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between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0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15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?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59993" y="1091633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Encoding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solution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As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only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integer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between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0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15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use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59992" y="1263706"/>
            <a:ext cx="542540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4-bit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binary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string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represent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solution.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83002" y="1442149"/>
            <a:ext cx="510239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1">
                <a:solidFill>
                  <a:srgbClr val="FFFFFF"/>
                </a:solidFill>
                <a:latin typeface="Josefin Sans"/>
              </a:rPr>
              <a:t>Integer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166834" y="1442149"/>
            <a:ext cx="461856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1">
                <a:solidFill>
                  <a:srgbClr val="FFFFFF"/>
                </a:solidFill>
                <a:latin typeface="Josefin Sans"/>
              </a:rPr>
              <a:t>Binary</a:t>
            </a:r>
            <a:r>
              <a:rPr sz="797" b="1">
                <a:solidFill>
                  <a:srgbClr val="FFFFFF"/>
                </a:solidFill>
                <a:latin typeface="Josefin Sans"/>
              </a:rPr>
              <a:t> </a:t>
            </a:r>
            <a:r>
              <a:rPr sz="797" b="1">
                <a:solidFill>
                  <a:srgbClr val="FFFFFF"/>
                </a:solidFill>
                <a:latin typeface="Josefin Sans"/>
              </a:rPr>
              <a:t>code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862933" y="1442149"/>
            <a:ext cx="392246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1">
                <a:solidFill>
                  <a:srgbClr val="FFFFFF"/>
                </a:solidFill>
                <a:latin typeface="Josefin Sans"/>
              </a:rPr>
              <a:t>Gray</a:t>
            </a:r>
            <a:r>
              <a:rPr sz="797" b="1">
                <a:solidFill>
                  <a:srgbClr val="FFFFFF"/>
                </a:solidFill>
                <a:latin typeface="Josefin Sans"/>
              </a:rPr>
              <a:t> </a:t>
            </a:r>
            <a:r>
              <a:rPr sz="797" b="1">
                <a:solidFill>
                  <a:srgbClr val="FFFFFF"/>
                </a:solidFill>
                <a:latin typeface="Josefin Sans"/>
              </a:rPr>
              <a:t>code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7685" y="1612665"/>
            <a:ext cx="496771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313665" y="1612665"/>
            <a:ext cx="447173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0000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974228" y="1612665"/>
            <a:ext cx="381116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0000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33065" y="1783467"/>
            <a:ext cx="495233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329051" y="1783467"/>
            <a:ext cx="445634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0001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989603" y="1783467"/>
            <a:ext cx="379579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0001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23350" y="1954282"/>
            <a:ext cx="496204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329046" y="1954282"/>
            <a:ext cx="445634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0010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2004995" y="1954282"/>
            <a:ext cx="378040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0011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22689" y="2125084"/>
            <a:ext cx="4962706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344431" y="2125084"/>
            <a:ext cx="444096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0011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989603" y="2125084"/>
            <a:ext cx="379579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0010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822791" y="2295899"/>
            <a:ext cx="496260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329095" y="2295899"/>
            <a:ext cx="445630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0100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2005044" y="2295899"/>
            <a:ext cx="378035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0110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22334" y="2466701"/>
            <a:ext cx="496306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344431" y="2466701"/>
            <a:ext cx="444096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0101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020375" y="2466701"/>
            <a:ext cx="376502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0111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22232" y="2637517"/>
            <a:ext cx="496316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6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344428" y="2637517"/>
            <a:ext cx="444096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0110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004991" y="2637517"/>
            <a:ext cx="378040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0101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24912" y="2808319"/>
            <a:ext cx="496048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359810" y="2808319"/>
            <a:ext cx="442558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0111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989603" y="2808319"/>
            <a:ext cx="379579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0100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898765" y="3150918"/>
            <a:ext cx="88663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623123" y="3150694"/>
            <a:ext cx="16227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53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607094" y="1413205"/>
            <a:ext cx="483831" cy="170814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090926" y="1413205"/>
            <a:ext cx="696086" cy="170814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787013" y="1413205"/>
            <a:ext cx="625030" cy="170814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07094" y="1754822"/>
            <a:ext cx="483831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090926" y="1754822"/>
            <a:ext cx="696086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787013" y="1754822"/>
            <a:ext cx="625030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07094" y="2096439"/>
            <a:ext cx="483831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090926" y="2096439"/>
            <a:ext cx="696086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787013" y="2096439"/>
            <a:ext cx="625030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07094" y="2438056"/>
            <a:ext cx="483831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090926" y="2438056"/>
            <a:ext cx="696086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787013" y="2438056"/>
            <a:ext cx="625030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07094" y="2779674"/>
            <a:ext cx="483831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1090926" y="2779674"/>
            <a:ext cx="696086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787013" y="2779674"/>
            <a:ext cx="625030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3199073" y="1413205"/>
            <a:ext cx="483831" cy="170814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3682918" y="1413205"/>
            <a:ext cx="696086" cy="170814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4379005" y="1413205"/>
            <a:ext cx="625030" cy="170814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3199073" y="1754822"/>
            <a:ext cx="483831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3682918" y="1754822"/>
            <a:ext cx="696086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4379005" y="1754822"/>
            <a:ext cx="625030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3199073" y="2096439"/>
            <a:ext cx="483831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3682918" y="2096439"/>
            <a:ext cx="696086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4379005" y="2096439"/>
            <a:ext cx="625030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3199073" y="2438056"/>
            <a:ext cx="483831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3682918" y="2438056"/>
            <a:ext cx="696086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4379005" y="2438056"/>
            <a:ext cx="625030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3199073" y="2779674"/>
            <a:ext cx="483831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3682918" y="2779674"/>
            <a:ext cx="696086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4379005" y="2779674"/>
            <a:ext cx="625030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-5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2879999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8" name="Picture 6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69" name="Picture 6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70" name="TextBox 6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Example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1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59993" y="590284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Problem: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What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maximum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value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f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 = 15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assuming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only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59992" y="781143"/>
            <a:ext cx="542540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integers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between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0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15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?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59993" y="1091633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Encoding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solution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As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only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integer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between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0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15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use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59992" y="1263706"/>
            <a:ext cx="542540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4-bit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binary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string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represent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solution.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83002" y="1442149"/>
            <a:ext cx="510239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1">
                <a:solidFill>
                  <a:srgbClr val="FFFFFF"/>
                </a:solidFill>
                <a:latin typeface="Josefin Sans"/>
              </a:rPr>
              <a:t>Integer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166834" y="1442149"/>
            <a:ext cx="461856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1">
                <a:solidFill>
                  <a:srgbClr val="FFFFFF"/>
                </a:solidFill>
                <a:latin typeface="Josefin Sans"/>
              </a:rPr>
              <a:t>Binary</a:t>
            </a:r>
            <a:r>
              <a:rPr sz="797" b="1">
                <a:solidFill>
                  <a:srgbClr val="FFFFFF"/>
                </a:solidFill>
                <a:latin typeface="Josefin Sans"/>
              </a:rPr>
              <a:t> </a:t>
            </a:r>
            <a:r>
              <a:rPr sz="797" b="1">
                <a:solidFill>
                  <a:srgbClr val="FFFFFF"/>
                </a:solidFill>
                <a:latin typeface="Josefin Sans"/>
              </a:rPr>
              <a:t>code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862933" y="1442149"/>
            <a:ext cx="392246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1">
                <a:solidFill>
                  <a:srgbClr val="FFFFFF"/>
                </a:solidFill>
                <a:latin typeface="Josefin Sans"/>
              </a:rPr>
              <a:t>Gray</a:t>
            </a:r>
            <a:r>
              <a:rPr sz="797" b="1">
                <a:solidFill>
                  <a:srgbClr val="FFFFFF"/>
                </a:solidFill>
                <a:latin typeface="Josefin Sans"/>
              </a:rPr>
              <a:t> </a:t>
            </a:r>
            <a:r>
              <a:rPr sz="797" b="1">
                <a:solidFill>
                  <a:srgbClr val="FFFFFF"/>
                </a:solidFill>
                <a:latin typeface="Josefin Sans"/>
              </a:rPr>
              <a:t>code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7685" y="1612665"/>
            <a:ext cx="496771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313665" y="1612665"/>
            <a:ext cx="447173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0000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974228" y="1612665"/>
            <a:ext cx="381116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0000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33065" y="1783467"/>
            <a:ext cx="495233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329051" y="1783467"/>
            <a:ext cx="445634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0001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989603" y="1783467"/>
            <a:ext cx="379579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0001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23350" y="1954282"/>
            <a:ext cx="496204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329046" y="1954282"/>
            <a:ext cx="445634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0010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2004995" y="1954282"/>
            <a:ext cx="378040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0011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22689" y="2125084"/>
            <a:ext cx="4962706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344431" y="2125084"/>
            <a:ext cx="444096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0011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989603" y="2125084"/>
            <a:ext cx="379579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0010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822791" y="2295899"/>
            <a:ext cx="496260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329095" y="2295899"/>
            <a:ext cx="445630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0100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2005044" y="2295899"/>
            <a:ext cx="378035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0110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22334" y="2466701"/>
            <a:ext cx="496306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344431" y="2466701"/>
            <a:ext cx="444096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0101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020375" y="2466701"/>
            <a:ext cx="376502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0111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22232" y="2637517"/>
            <a:ext cx="496316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6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344428" y="2637517"/>
            <a:ext cx="444096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0110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004991" y="2637517"/>
            <a:ext cx="378040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0101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24912" y="2808319"/>
            <a:ext cx="496048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359810" y="2808319"/>
            <a:ext cx="442558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0111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989603" y="2808319"/>
            <a:ext cx="379579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0100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3274994" y="1442149"/>
            <a:ext cx="251040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1">
                <a:solidFill>
                  <a:srgbClr val="FFFFFF"/>
                </a:solidFill>
                <a:latin typeface="Josefin Sans"/>
              </a:rPr>
              <a:t>Integer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3758826" y="1442149"/>
            <a:ext cx="202656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1">
                <a:solidFill>
                  <a:srgbClr val="FFFFFF"/>
                </a:solidFill>
                <a:latin typeface="Josefin Sans"/>
              </a:rPr>
              <a:t>Binary</a:t>
            </a:r>
            <a:r>
              <a:rPr sz="797" b="1">
                <a:solidFill>
                  <a:srgbClr val="FFFFFF"/>
                </a:solidFill>
                <a:latin typeface="Josefin Sans"/>
              </a:rPr>
              <a:t> </a:t>
            </a:r>
            <a:r>
              <a:rPr sz="797" b="1">
                <a:solidFill>
                  <a:srgbClr val="FFFFFF"/>
                </a:solidFill>
                <a:latin typeface="Josefin Sans"/>
              </a:rPr>
              <a:t>code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4454926" y="1442149"/>
            <a:ext cx="133046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1">
                <a:solidFill>
                  <a:srgbClr val="FFFFFF"/>
                </a:solidFill>
                <a:latin typeface="Josefin Sans"/>
              </a:rPr>
              <a:t>Gray</a:t>
            </a:r>
            <a:r>
              <a:rPr sz="797" b="1">
                <a:solidFill>
                  <a:srgbClr val="FFFFFF"/>
                </a:solidFill>
                <a:latin typeface="Josefin Sans"/>
              </a:rPr>
              <a:t> </a:t>
            </a:r>
            <a:r>
              <a:rPr sz="797" b="1">
                <a:solidFill>
                  <a:srgbClr val="FFFFFF"/>
                </a:solidFill>
                <a:latin typeface="Josefin Sans"/>
              </a:rPr>
              <a:t>code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414986" y="1612665"/>
            <a:ext cx="237040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8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920987" y="1612665"/>
            <a:ext cx="186440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1000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596936" y="1612665"/>
            <a:ext cx="118845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1100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3414224" y="1783467"/>
            <a:ext cx="237117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3936423" y="1783467"/>
            <a:ext cx="184897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1001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4612368" y="1783467"/>
            <a:ext cx="117302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1101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3393726" y="1954282"/>
            <a:ext cx="239166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10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3936369" y="1954282"/>
            <a:ext cx="184902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1010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4627703" y="1954282"/>
            <a:ext cx="115769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1111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3409106" y="2125084"/>
            <a:ext cx="237628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11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3951802" y="2125084"/>
            <a:ext cx="183359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1011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4612368" y="2125084"/>
            <a:ext cx="117302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1110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3399390" y="2295899"/>
            <a:ext cx="238600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12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3936465" y="2295899"/>
            <a:ext cx="184893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1100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4597029" y="2295899"/>
            <a:ext cx="1188366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1010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398743" y="2466701"/>
            <a:ext cx="238665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13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3951802" y="2466701"/>
            <a:ext cx="183359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1101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4612368" y="2466701"/>
            <a:ext cx="117302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1011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3398832" y="2637517"/>
            <a:ext cx="238656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14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951798" y="2637517"/>
            <a:ext cx="183359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1110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596976" y="2637517"/>
            <a:ext cx="118841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1001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398387" y="2808319"/>
            <a:ext cx="238700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15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3967195" y="2808319"/>
            <a:ext cx="181820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1111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4581596" y="2808319"/>
            <a:ext cx="120379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1000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898765" y="3150918"/>
            <a:ext cx="88663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5623123" y="3150694"/>
            <a:ext cx="16227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53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H="1">
            <a:off x="1125379" y="927276"/>
            <a:ext cx="1050046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074768" y="977887"/>
            <a:ext cx="0" cy="15966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1125379" y="1188162"/>
            <a:ext cx="1050046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2226036" y="977887"/>
            <a:ext cx="0" cy="15966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Freeform 39"/>
          <p:cNvSpPr/>
          <p:nvPr/>
        </p:nvSpPr>
        <p:spPr>
          <a:xfrm>
            <a:off x="2362200" y="914400"/>
            <a:ext cx="1435100" cy="279400"/>
          </a:xfrm>
          <a:custGeom>
            <a:avLst/>
            <a:gdLst/>
            <a:ahLst/>
            <a:cxnLst/>
            <a:rect l="l" t="t" r="r" b="b"/>
            <a:pathLst>
              <a:path w="113" h="22">
                <a:moveTo>
                  <a:pt x="109" y="0"/>
                </a:moveTo>
                <a:lnTo>
                  <a:pt x="4" y="0"/>
                </a:lnTo>
                <a:lnTo>
                  <a:pt x="3" y="0"/>
                </a:lnTo>
                <a:lnTo>
                  <a:pt x="2" y="1"/>
                </a:lnTo>
                <a:lnTo>
                  <a:pt x="2" y="1"/>
                </a:lnTo>
                <a:lnTo>
                  <a:pt x="1" y="1"/>
                </a:lnTo>
                <a:lnTo>
                  <a:pt x="1" y="2"/>
                </a:lnTo>
                <a:lnTo>
                  <a:pt x="0" y="3"/>
                </a:lnTo>
                <a:lnTo>
                  <a:pt x="0" y="3"/>
                </a:lnTo>
                <a:lnTo>
                  <a:pt x="0" y="4"/>
                </a:lnTo>
                <a:lnTo>
                  <a:pt x="0" y="18"/>
                </a:lnTo>
                <a:lnTo>
                  <a:pt x="0" y="19"/>
                </a:lnTo>
                <a:lnTo>
                  <a:pt x="0" y="20"/>
                </a:lnTo>
                <a:lnTo>
                  <a:pt x="1" y="21"/>
                </a:lnTo>
                <a:lnTo>
                  <a:pt x="1" y="21"/>
                </a:lnTo>
                <a:lnTo>
                  <a:pt x="2" y="22"/>
                </a:lnTo>
                <a:lnTo>
                  <a:pt x="2" y="22"/>
                </a:lnTo>
                <a:lnTo>
                  <a:pt x="3" y="22"/>
                </a:lnTo>
                <a:lnTo>
                  <a:pt x="4" y="22"/>
                </a:lnTo>
                <a:lnTo>
                  <a:pt x="109" y="22"/>
                </a:lnTo>
                <a:lnTo>
                  <a:pt x="109" y="22"/>
                </a:lnTo>
                <a:lnTo>
                  <a:pt x="110" y="22"/>
                </a:lnTo>
                <a:lnTo>
                  <a:pt x="111" y="22"/>
                </a:lnTo>
                <a:lnTo>
                  <a:pt x="111" y="21"/>
                </a:lnTo>
                <a:lnTo>
                  <a:pt x="112" y="21"/>
                </a:lnTo>
                <a:lnTo>
                  <a:pt x="112" y="20"/>
                </a:lnTo>
                <a:lnTo>
                  <a:pt x="112" y="19"/>
                </a:lnTo>
                <a:lnTo>
                  <a:pt x="113" y="18"/>
                </a:lnTo>
                <a:lnTo>
                  <a:pt x="113" y="4"/>
                </a:lnTo>
                <a:lnTo>
                  <a:pt x="112" y="3"/>
                </a:lnTo>
                <a:lnTo>
                  <a:pt x="112" y="3"/>
                </a:lnTo>
                <a:lnTo>
                  <a:pt x="112" y="2"/>
                </a:lnTo>
                <a:lnTo>
                  <a:pt x="111" y="1"/>
                </a:lnTo>
                <a:lnTo>
                  <a:pt x="111" y="1"/>
                </a:lnTo>
                <a:lnTo>
                  <a:pt x="110" y="1"/>
                </a:lnTo>
                <a:lnTo>
                  <a:pt x="109" y="0"/>
                </a:lnTo>
                <a:lnTo>
                  <a:pt x="109" y="0"/>
                </a:lnTo>
                <a:close/>
              </a:path>
            </a:pathLst>
          </a:custGeom>
          <a:solidFill>
            <a:srgbClr val="003373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1" name="Connector 40"/>
          <p:cNvCxnSpPr/>
          <p:nvPr/>
        </p:nvCxnSpPr>
        <p:spPr>
          <a:xfrm flipH="1">
            <a:off x="2720978" y="1332605"/>
            <a:ext cx="709335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2670367" y="1383216"/>
            <a:ext cx="0" cy="17771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2720978" y="1611540"/>
            <a:ext cx="709335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3480923" y="1383216"/>
            <a:ext cx="0" cy="17771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H="1">
            <a:off x="2819251" y="1745734"/>
            <a:ext cx="51278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2768640" y="1796345"/>
            <a:ext cx="0" cy="15408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2819251" y="2001040"/>
            <a:ext cx="51278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3382650" y="1796345"/>
            <a:ext cx="0" cy="15408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H="1">
            <a:off x="2387383" y="2135234"/>
            <a:ext cx="137652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2336772" y="2185845"/>
            <a:ext cx="0" cy="18016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2387383" y="2416617"/>
            <a:ext cx="137652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3814518" y="2185845"/>
            <a:ext cx="0" cy="18016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H="1">
            <a:off x="3999324" y="2148273"/>
            <a:ext cx="635316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3948713" y="2198883"/>
            <a:ext cx="0" cy="154085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3999324" y="2403579"/>
            <a:ext cx="635316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4685251" y="2198883"/>
            <a:ext cx="0" cy="154085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2228567" y="1057719"/>
            <a:ext cx="10382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Freeform 57"/>
          <p:cNvSpPr/>
          <p:nvPr/>
        </p:nvSpPr>
        <p:spPr>
          <a:xfrm>
            <a:off x="2311400" y="10414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1"/>
                </a:moveTo>
                <a:lnTo>
                  <a:pt x="0" y="0"/>
                </a:lnTo>
                <a:lnTo>
                  <a:pt x="2" y="1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9" name="Connector 58"/>
          <p:cNvCxnSpPr/>
          <p:nvPr/>
        </p:nvCxnSpPr>
        <p:spPr>
          <a:xfrm>
            <a:off x="3075645" y="1200941"/>
            <a:ext cx="0" cy="10382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Freeform 59"/>
          <p:cNvSpPr/>
          <p:nvPr/>
        </p:nvSpPr>
        <p:spPr>
          <a:xfrm>
            <a:off x="3060700" y="12954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0"/>
                </a:lnTo>
                <a:lnTo>
                  <a:pt x="1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1" name="Connector 60"/>
          <p:cNvCxnSpPr/>
          <p:nvPr/>
        </p:nvCxnSpPr>
        <p:spPr>
          <a:xfrm>
            <a:off x="3075645" y="1614070"/>
            <a:ext cx="0" cy="10382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Freeform 61"/>
          <p:cNvSpPr/>
          <p:nvPr/>
        </p:nvSpPr>
        <p:spPr>
          <a:xfrm>
            <a:off x="3060700" y="17018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0"/>
                </a:lnTo>
                <a:lnTo>
                  <a:pt x="1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3" name="Connector 62"/>
          <p:cNvCxnSpPr/>
          <p:nvPr/>
        </p:nvCxnSpPr>
        <p:spPr>
          <a:xfrm>
            <a:off x="3075645" y="2003570"/>
            <a:ext cx="0" cy="10382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Freeform 63"/>
          <p:cNvSpPr/>
          <p:nvPr/>
        </p:nvSpPr>
        <p:spPr>
          <a:xfrm>
            <a:off x="3060700" y="20955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0"/>
                </a:lnTo>
                <a:lnTo>
                  <a:pt x="1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5" name="Connector 64"/>
          <p:cNvCxnSpPr/>
          <p:nvPr/>
        </p:nvCxnSpPr>
        <p:spPr>
          <a:xfrm>
            <a:off x="3817049" y="2275926"/>
            <a:ext cx="10382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Freeform 65"/>
          <p:cNvSpPr/>
          <p:nvPr/>
        </p:nvSpPr>
        <p:spPr>
          <a:xfrm>
            <a:off x="3911600" y="22606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7" name="Connector 66"/>
          <p:cNvCxnSpPr/>
          <p:nvPr/>
        </p:nvCxnSpPr>
        <p:spPr>
          <a:xfrm flipH="1">
            <a:off x="2154240" y="2275926"/>
            <a:ext cx="180002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V="1">
            <a:off x="2154240" y="1472072"/>
            <a:ext cx="0" cy="80385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2154240" y="1472072"/>
            <a:ext cx="488291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Freeform 69"/>
          <p:cNvSpPr/>
          <p:nvPr/>
        </p:nvSpPr>
        <p:spPr>
          <a:xfrm>
            <a:off x="2628900" y="14478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3" y="2"/>
                </a:moveTo>
                <a:lnTo>
                  <a:pt x="0" y="0"/>
                </a:lnTo>
                <a:lnTo>
                  <a:pt x="1" y="2"/>
                </a:lnTo>
                <a:lnTo>
                  <a:pt x="0" y="4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1" name="Connector 70"/>
          <p:cNvCxnSpPr/>
          <p:nvPr/>
        </p:nvCxnSpPr>
        <p:spPr>
          <a:xfrm flipH="1">
            <a:off x="4083989" y="1744168"/>
            <a:ext cx="50299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4033378" y="1794779"/>
            <a:ext cx="0" cy="157216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4083989" y="2002606"/>
            <a:ext cx="50299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 flipV="1">
            <a:off x="4637594" y="1794779"/>
            <a:ext cx="0" cy="157216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Freeform 74"/>
          <p:cNvSpPr/>
          <p:nvPr/>
        </p:nvSpPr>
        <p:spPr>
          <a:xfrm>
            <a:off x="3987800" y="17907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1" y="0"/>
                </a:lnTo>
                <a:lnTo>
                  <a:pt x="1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Freeform 75"/>
          <p:cNvSpPr/>
          <p:nvPr/>
        </p:nvSpPr>
        <p:spPr>
          <a:xfrm>
            <a:off x="3987800" y="18542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0" y="0"/>
                </a:lnTo>
                <a:lnTo>
                  <a:pt x="1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Freeform 76"/>
          <p:cNvSpPr/>
          <p:nvPr/>
        </p:nvSpPr>
        <p:spPr>
          <a:xfrm>
            <a:off x="3987800" y="19177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8" name="Connector 77"/>
          <p:cNvCxnSpPr/>
          <p:nvPr/>
        </p:nvCxnSpPr>
        <p:spPr>
          <a:xfrm flipH="1">
            <a:off x="3967040" y="1176926"/>
            <a:ext cx="655586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3916429" y="1227537"/>
            <a:ext cx="0" cy="31689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3967040" y="1595041"/>
            <a:ext cx="655586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 flipV="1">
            <a:off x="4673237" y="1227537"/>
            <a:ext cx="0" cy="31689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 flipH="1">
            <a:off x="4028304" y="1729235"/>
            <a:ext cx="533057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3977693" y="1779846"/>
            <a:ext cx="0" cy="15482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4028304" y="1985281"/>
            <a:ext cx="533057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 flipV="1">
            <a:off x="4611972" y="1779846"/>
            <a:ext cx="0" cy="15482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4294833" y="1597571"/>
            <a:ext cx="0" cy="10382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Freeform 86"/>
          <p:cNvSpPr/>
          <p:nvPr/>
        </p:nvSpPr>
        <p:spPr>
          <a:xfrm>
            <a:off x="4279900" y="16891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0"/>
                </a:lnTo>
                <a:lnTo>
                  <a:pt x="1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8" name="Connector 87"/>
          <p:cNvCxnSpPr/>
          <p:nvPr/>
        </p:nvCxnSpPr>
        <p:spPr>
          <a:xfrm flipV="1">
            <a:off x="3483454" y="1143260"/>
            <a:ext cx="516532" cy="18681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>
            <a:off x="3483454" y="1614070"/>
            <a:ext cx="590049" cy="44848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Rectangle 89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2880004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2" name="Picture 9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93" name="Picture 9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94" name="TextBox 93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Genetic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algorithm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160868" y="1010084"/>
            <a:ext cx="4624527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Problem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formulation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2446311" y="999835"/>
            <a:ext cx="3339084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FFFFFF"/>
                </a:solidFill>
                <a:latin typeface="Josefin Sans"/>
              </a:rPr>
              <a:t>Initialisation</a:t>
            </a:r>
            <a:r>
              <a:rPr sz="896" b="0">
                <a:solidFill>
                  <a:srgbClr val="FFFFFF"/>
                </a:solidFill>
                <a:latin typeface="Josefin Sans"/>
              </a:rPr>
              <a:t> </a:t>
            </a:r>
            <a:r>
              <a:rPr sz="896" b="0">
                <a:solidFill>
                  <a:srgbClr val="FFFFFF"/>
                </a:solidFill>
                <a:latin typeface="Josefin Sans"/>
              </a:rPr>
              <a:t>of</a:t>
            </a:r>
            <a:r>
              <a:rPr sz="896" b="0">
                <a:solidFill>
                  <a:srgbClr val="FFFFFF"/>
                </a:solidFill>
                <a:latin typeface="Josefin Sans"/>
              </a:rPr>
              <a:t> </a:t>
            </a:r>
            <a:r>
              <a:rPr sz="896" b="0">
                <a:solidFill>
                  <a:srgbClr val="FFFFFF"/>
                </a:solidFill>
                <a:latin typeface="Josefin Sans"/>
              </a:rPr>
              <a:t>population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2756445" y="1412953"/>
            <a:ext cx="3028950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Reproduction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854718" y="1822948"/>
            <a:ext cx="2930677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Mutation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2422854" y="2218019"/>
            <a:ext cx="3362541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Replacement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population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034776" y="2225487"/>
            <a:ext cx="1750619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Termination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119435" y="1824522"/>
            <a:ext cx="1665960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Selection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008525" y="1257277"/>
            <a:ext cx="1776870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Selection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as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4002493" y="1396456"/>
            <a:ext cx="1782902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parent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pairs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4063758" y="1806450"/>
            <a:ext cx="1721637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Crossover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4898770" y="3150917"/>
            <a:ext cx="8866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623280" y="3150693"/>
            <a:ext cx="16211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54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2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6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Example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743350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Initialisation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population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898773" y="3150917"/>
            <a:ext cx="88662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22597" y="3150693"/>
            <a:ext cx="16279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55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2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6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Example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743350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Initialisation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population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9994" y="1001056"/>
            <a:ext cx="54254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Let’s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define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population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size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10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98773" y="3150917"/>
            <a:ext cx="88662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22597" y="3150693"/>
            <a:ext cx="16279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55</a:t>
            </a:r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0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3" y="3146740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Example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743350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Initialisation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population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9994" y="1001056"/>
            <a:ext cx="54254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Let’s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define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population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size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10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.The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initialisation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performed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randomly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9995" y="1173128"/>
            <a:ext cx="542540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generating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10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chromosomes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from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solution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space.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898770" y="3150916"/>
            <a:ext cx="8866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22594" y="3150692"/>
            <a:ext cx="16280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55</a:t>
            </a:r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0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3" y="3146740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Example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743350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Initialisation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population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9994" y="1001056"/>
            <a:ext cx="54254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Let’s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define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population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size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10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.The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initialisation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performed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randomly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9995" y="1173128"/>
            <a:ext cx="542540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generating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10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chromosomes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from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solution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space.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373085" y="1486701"/>
            <a:ext cx="441231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= 0110</a:t>
            </a:r>
            <a:r>
              <a:rPr sz="797" b="0">
                <a:solidFill>
                  <a:srgbClr val="000000"/>
                </a:solidFill>
                <a:latin typeface="Cambria Math"/>
              </a:rPr>
              <a:t>g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= 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413429" y="1486701"/>
            <a:ext cx="237196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6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= 1100</a:t>
            </a:r>
            <a:r>
              <a:rPr sz="797" b="0">
                <a:solidFill>
                  <a:srgbClr val="000000"/>
                </a:solidFill>
                <a:latin typeface="Cambria Math"/>
              </a:rPr>
              <a:t>g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= 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373085" y="1696734"/>
            <a:ext cx="441231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= 1111</a:t>
            </a:r>
            <a:r>
              <a:rPr sz="797" b="0">
                <a:solidFill>
                  <a:srgbClr val="000000"/>
                </a:solidFill>
                <a:latin typeface="Cambria Math"/>
              </a:rPr>
              <a:t>g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= 10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413429" y="1696734"/>
            <a:ext cx="237196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7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= 1000</a:t>
            </a:r>
            <a:r>
              <a:rPr sz="797" b="0">
                <a:solidFill>
                  <a:srgbClr val="000000"/>
                </a:solidFill>
                <a:latin typeface="Cambria Math"/>
              </a:rPr>
              <a:t>g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= 15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373085" y="1906766"/>
            <a:ext cx="441231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3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= 0000</a:t>
            </a:r>
            <a:r>
              <a:rPr sz="797" b="0">
                <a:solidFill>
                  <a:srgbClr val="000000"/>
                </a:solidFill>
                <a:latin typeface="Cambria Math"/>
              </a:rPr>
              <a:t>g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= 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413429" y="1906766"/>
            <a:ext cx="237196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8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= 1011</a:t>
            </a:r>
            <a:r>
              <a:rPr sz="797" b="0">
                <a:solidFill>
                  <a:srgbClr val="000000"/>
                </a:solidFill>
                <a:latin typeface="Cambria Math"/>
              </a:rPr>
              <a:t>g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= 13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373085" y="2116799"/>
            <a:ext cx="441231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4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= 1010</a:t>
            </a:r>
            <a:r>
              <a:rPr sz="797" b="0">
                <a:solidFill>
                  <a:srgbClr val="000000"/>
                </a:solidFill>
                <a:latin typeface="Cambria Math"/>
              </a:rPr>
              <a:t>g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= 12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413429" y="2116799"/>
            <a:ext cx="237196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9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= 0011</a:t>
            </a:r>
            <a:r>
              <a:rPr sz="797" b="0">
                <a:solidFill>
                  <a:srgbClr val="000000"/>
                </a:solidFill>
                <a:latin typeface="Cambria Math"/>
              </a:rPr>
              <a:t>g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= 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373085" y="2326832"/>
            <a:ext cx="441231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5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= 0010</a:t>
            </a:r>
            <a:r>
              <a:rPr sz="797" b="0">
                <a:solidFill>
                  <a:srgbClr val="000000"/>
                </a:solidFill>
                <a:latin typeface="Cambria Math"/>
              </a:rPr>
              <a:t>g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= 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359657" y="2326832"/>
            <a:ext cx="242573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10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= 0001</a:t>
            </a:r>
            <a:r>
              <a:rPr sz="797" b="0">
                <a:solidFill>
                  <a:srgbClr val="000000"/>
                </a:solidFill>
                <a:latin typeface="Cambria Math"/>
              </a:rPr>
              <a:t>g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= 1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898770" y="3150916"/>
            <a:ext cx="8866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622594" y="3150692"/>
            <a:ext cx="16280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55</a:t>
            </a:r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0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3" y="3146740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Example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743350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Initialisation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population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9994" y="1001056"/>
            <a:ext cx="54254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Let’s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define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population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size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10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.The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initialisation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performed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randomly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9995" y="1173128"/>
            <a:ext cx="542540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generating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10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chromosomes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from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solution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space.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373085" y="1486701"/>
            <a:ext cx="441231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= 0110</a:t>
            </a:r>
            <a:r>
              <a:rPr sz="797" b="0">
                <a:solidFill>
                  <a:srgbClr val="000000"/>
                </a:solidFill>
                <a:latin typeface="Cambria Math"/>
              </a:rPr>
              <a:t>g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= 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413429" y="1486701"/>
            <a:ext cx="237196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6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= 1100</a:t>
            </a:r>
            <a:r>
              <a:rPr sz="797" b="0">
                <a:solidFill>
                  <a:srgbClr val="000000"/>
                </a:solidFill>
                <a:latin typeface="Cambria Math"/>
              </a:rPr>
              <a:t>g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= 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373085" y="1696734"/>
            <a:ext cx="441231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= 1111</a:t>
            </a:r>
            <a:r>
              <a:rPr sz="797" b="0">
                <a:solidFill>
                  <a:srgbClr val="000000"/>
                </a:solidFill>
                <a:latin typeface="Cambria Math"/>
              </a:rPr>
              <a:t>g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= 10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413429" y="1696734"/>
            <a:ext cx="237196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7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= 1000</a:t>
            </a:r>
            <a:r>
              <a:rPr sz="797" b="0">
                <a:solidFill>
                  <a:srgbClr val="000000"/>
                </a:solidFill>
                <a:latin typeface="Cambria Math"/>
              </a:rPr>
              <a:t>g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= 15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373085" y="1906766"/>
            <a:ext cx="441231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3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= 0000</a:t>
            </a:r>
            <a:r>
              <a:rPr sz="797" b="0">
                <a:solidFill>
                  <a:srgbClr val="000000"/>
                </a:solidFill>
                <a:latin typeface="Cambria Math"/>
              </a:rPr>
              <a:t>g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= 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413429" y="1906766"/>
            <a:ext cx="237196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8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= 1011</a:t>
            </a:r>
            <a:r>
              <a:rPr sz="797" b="0">
                <a:solidFill>
                  <a:srgbClr val="000000"/>
                </a:solidFill>
                <a:latin typeface="Cambria Math"/>
              </a:rPr>
              <a:t>g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= 13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373085" y="2116799"/>
            <a:ext cx="441231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4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= 1010</a:t>
            </a:r>
            <a:r>
              <a:rPr sz="797" b="0">
                <a:solidFill>
                  <a:srgbClr val="000000"/>
                </a:solidFill>
                <a:latin typeface="Cambria Math"/>
              </a:rPr>
              <a:t>g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= 12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413429" y="2116799"/>
            <a:ext cx="237196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9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= 0011</a:t>
            </a:r>
            <a:r>
              <a:rPr sz="797" b="0">
                <a:solidFill>
                  <a:srgbClr val="000000"/>
                </a:solidFill>
                <a:latin typeface="Cambria Math"/>
              </a:rPr>
              <a:t>g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= 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373085" y="2326832"/>
            <a:ext cx="441231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5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= 0010</a:t>
            </a:r>
            <a:r>
              <a:rPr sz="797" b="0">
                <a:solidFill>
                  <a:srgbClr val="000000"/>
                </a:solidFill>
                <a:latin typeface="Cambria Math"/>
              </a:rPr>
              <a:t>g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= 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359657" y="2326832"/>
            <a:ext cx="242573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10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= 0001</a:t>
            </a:r>
            <a:r>
              <a:rPr sz="797" b="0">
                <a:solidFill>
                  <a:srgbClr val="000000"/>
                </a:solidFill>
                <a:latin typeface="Cambria Math"/>
              </a:rPr>
              <a:t>g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= 1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650961" y="2635761"/>
            <a:ext cx="413443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Can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two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individuals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have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same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value?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898770" y="3150916"/>
            <a:ext cx="8866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622594" y="3150692"/>
            <a:ext cx="16280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55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2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6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Example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1181577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Formulation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fitness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function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898773" y="3150917"/>
            <a:ext cx="88662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22444" y="3150693"/>
            <a:ext cx="16295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56</a:t>
            </a:r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3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Example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1181577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Formulation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fitness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function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9995" y="1420495"/>
            <a:ext cx="54254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Since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solving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problem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finding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maximum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value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f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 = 15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,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9995" y="1611354"/>
            <a:ext cx="542540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we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use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f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our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fitness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function.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898770" y="3150917"/>
            <a:ext cx="8866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22441" y="3150693"/>
            <a:ext cx="16295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56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3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Example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1181577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Formulation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fitness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function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9995" y="1420495"/>
            <a:ext cx="54254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Since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solving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problem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finding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maximum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value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f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 = 15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,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9995" y="1611353"/>
            <a:ext cx="542540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we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use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f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our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fitness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function.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because,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larger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value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f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9994" y="1783426"/>
            <a:ext cx="54254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for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potential solution,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closer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potential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solution 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towards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 desired solution,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9994" y="1955498"/>
            <a:ext cx="54254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thus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should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higher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fitness.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98770" y="3150917"/>
            <a:ext cx="8866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622441" y="3150693"/>
            <a:ext cx="16295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56</a:t>
            </a:r>
          </a:p>
        </p:txBody>
      </p:sp>
    </p:spTree>
  </p:cSld>
  <p:clrMapOvr>
    <a:masterClrMapping/>
  </p:clrMapOvr>
</p:sld>
</file>

<file path=ppt/slides/slide1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27102925" y="-24459891"/>
            <a:ext cx="415404" cy="170814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7518345" y="-24459891"/>
            <a:ext cx="741945" cy="170814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8260290" y="-24459891"/>
            <a:ext cx="760769" cy="170814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9021059" y="-24459891"/>
            <a:ext cx="467741" cy="170814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7102928" y="-24118273"/>
            <a:ext cx="415404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7518345" y="-24118273"/>
            <a:ext cx="741945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8260290" y="-24118273"/>
            <a:ext cx="760769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9021059" y="-24118273"/>
            <a:ext cx="467741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27102928" y="-23776655"/>
            <a:ext cx="415404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27518345" y="-23776655"/>
            <a:ext cx="741945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28260290" y="-23776655"/>
            <a:ext cx="760769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29021059" y="-23776655"/>
            <a:ext cx="467741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27102928" y="-23435039"/>
            <a:ext cx="415404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27518345" y="-23435039"/>
            <a:ext cx="741945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28260290" y="-23435039"/>
            <a:ext cx="760769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29021059" y="-23435039"/>
            <a:ext cx="467741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27102928" y="-23093421"/>
            <a:ext cx="415404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27518345" y="-23093421"/>
            <a:ext cx="741945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28260290" y="-23093421"/>
            <a:ext cx="760769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29021059" y="-23093421"/>
            <a:ext cx="467741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27102928" y="-22751805"/>
            <a:ext cx="415404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27518345" y="-22751805"/>
            <a:ext cx="741945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28260290" y="-22751805"/>
            <a:ext cx="760769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29021059" y="-22751805"/>
            <a:ext cx="467741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2880003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2" name="Picture 6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63" name="Picture 6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64" name="TextBox 63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Example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59993" y="677724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Calculating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fitness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each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individuals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using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fitness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function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f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 = 15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898770" y="3150917"/>
            <a:ext cx="8866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626467" y="3150693"/>
            <a:ext cx="15892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57</a:t>
            </a:r>
          </a:p>
        </p:txBody>
      </p:sp>
    </p:spTree>
  </p:cSld>
  <p:clrMapOvr>
    <a:masterClrMapping/>
  </p:clrMapOvr>
</p:sld>
</file>

<file path=ppt/slides/slide1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1702599" y="940435"/>
            <a:ext cx="415404" cy="170814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118016" y="940435"/>
            <a:ext cx="741946" cy="170814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859963" y="940435"/>
            <a:ext cx="760768" cy="170814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620731" y="940435"/>
            <a:ext cx="467740" cy="170814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702599" y="1282052"/>
            <a:ext cx="415404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118016" y="1282052"/>
            <a:ext cx="741946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859963" y="1282052"/>
            <a:ext cx="760768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620731" y="1282052"/>
            <a:ext cx="467740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702599" y="1623669"/>
            <a:ext cx="415404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2118016" y="1623669"/>
            <a:ext cx="741946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2859963" y="1623669"/>
            <a:ext cx="760768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3620731" y="1623669"/>
            <a:ext cx="467740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702599" y="1965286"/>
            <a:ext cx="415404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2118016" y="1965286"/>
            <a:ext cx="741946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2859963" y="1965286"/>
            <a:ext cx="760768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3620731" y="1965286"/>
            <a:ext cx="467740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702599" y="2306904"/>
            <a:ext cx="415404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2118016" y="2306904"/>
            <a:ext cx="741946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2859963" y="2306904"/>
            <a:ext cx="760768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3620731" y="2306904"/>
            <a:ext cx="467740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1702599" y="2648521"/>
            <a:ext cx="415404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2118016" y="2648521"/>
            <a:ext cx="741946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2859963" y="2648521"/>
            <a:ext cx="760768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3620731" y="2648521"/>
            <a:ext cx="467740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2880003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2" name="Picture 6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63" name="Picture 6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64" name="TextBox 63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Example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59993" y="677724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Calculating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fitness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each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individuals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using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fitness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function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f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 = 15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778520" y="969379"/>
            <a:ext cx="400687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1">
                <a:solidFill>
                  <a:srgbClr val="FFFFFF"/>
                </a:solidFill>
                <a:latin typeface="Josefin Sans"/>
              </a:rPr>
              <a:t>Label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193924" y="969379"/>
            <a:ext cx="359147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1">
                <a:solidFill>
                  <a:srgbClr val="FFFFFF"/>
                </a:solidFill>
                <a:latin typeface="Josefin Sans"/>
              </a:rPr>
              <a:t>Binary</a:t>
            </a:r>
            <a:r>
              <a:rPr sz="797" b="1">
                <a:solidFill>
                  <a:srgbClr val="FFFFFF"/>
                </a:solidFill>
                <a:latin typeface="Josefin Sans"/>
              </a:rPr>
              <a:t> </a:t>
            </a:r>
            <a:r>
              <a:rPr sz="797" b="1">
                <a:solidFill>
                  <a:srgbClr val="FFFFFF"/>
                </a:solidFill>
                <a:latin typeface="Josefin Sans"/>
              </a:rPr>
              <a:t>string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935871" y="969379"/>
            <a:ext cx="284952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1">
                <a:solidFill>
                  <a:srgbClr val="FFFFFF"/>
                </a:solidFill>
                <a:latin typeface="Josefin Sans"/>
              </a:rPr>
              <a:t>Integer</a:t>
            </a:r>
            <a:r>
              <a:rPr sz="797" b="1">
                <a:solidFill>
                  <a:srgbClr val="FFFFFF"/>
                </a:solidFill>
                <a:latin typeface="Josefin Sans"/>
              </a:rPr>
              <a:t> </a:t>
            </a:r>
            <a:r>
              <a:rPr sz="797" b="1">
                <a:solidFill>
                  <a:srgbClr val="FFFFFF"/>
                </a:solidFill>
                <a:latin typeface="Josefin Sans"/>
              </a:rPr>
              <a:t>value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696639" y="969379"/>
            <a:ext cx="2088756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1">
                <a:solidFill>
                  <a:srgbClr val="FFFFFF"/>
                </a:solidFill>
                <a:latin typeface="Josefin Sans"/>
              </a:rPr>
              <a:t>Fitness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857768" y="1141579"/>
            <a:ext cx="392762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v</a:t>
            </a:r>
            <a:r>
              <a:rPr sz="5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81440" y="1141579"/>
            <a:ext cx="340395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0110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213369" y="1141579"/>
            <a:ext cx="2572026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4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800649" y="1141579"/>
            <a:ext cx="1984746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44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857768" y="1312394"/>
            <a:ext cx="392762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v</a:t>
            </a:r>
            <a:r>
              <a:rPr sz="59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381440" y="1312394"/>
            <a:ext cx="340395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1111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186569" y="1312394"/>
            <a:ext cx="2598826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10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800830" y="1312394"/>
            <a:ext cx="198456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50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857768" y="1483196"/>
            <a:ext cx="392762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v</a:t>
            </a:r>
            <a:r>
              <a:rPr sz="597" b="0">
                <a:solidFill>
                  <a:srgbClr val="000000"/>
                </a:solidFill>
                <a:latin typeface="Cambria Math"/>
              </a:rPr>
              <a:t>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381440" y="1483196"/>
            <a:ext cx="340395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0000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213369" y="1483196"/>
            <a:ext cx="2572026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827573" y="1483196"/>
            <a:ext cx="195782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857768" y="1654011"/>
            <a:ext cx="392762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v</a:t>
            </a:r>
            <a:r>
              <a:rPr sz="597" b="0">
                <a:solidFill>
                  <a:srgbClr val="000000"/>
                </a:solidFill>
                <a:latin typeface="Cambria Math"/>
              </a:rPr>
              <a:t>4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2381440" y="1654011"/>
            <a:ext cx="340395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1010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186569" y="1654011"/>
            <a:ext cx="2598826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12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3800830" y="1654011"/>
            <a:ext cx="198456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36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57768" y="1824813"/>
            <a:ext cx="392762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v</a:t>
            </a:r>
            <a:r>
              <a:rPr sz="597" b="0">
                <a:solidFill>
                  <a:srgbClr val="000000"/>
                </a:solidFill>
                <a:latin typeface="Cambria Math"/>
              </a:rPr>
              <a:t>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381440" y="1824813"/>
            <a:ext cx="340395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0010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213369" y="1824813"/>
            <a:ext cx="2572026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3800649" y="1824813"/>
            <a:ext cx="1984746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36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857768" y="1995628"/>
            <a:ext cx="392762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v</a:t>
            </a:r>
            <a:r>
              <a:rPr sz="597" b="0">
                <a:solidFill>
                  <a:srgbClr val="000000"/>
                </a:solidFill>
                <a:latin typeface="Cambria Math"/>
              </a:rPr>
              <a:t>6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381440" y="1995628"/>
            <a:ext cx="340395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1100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3213455" y="1995628"/>
            <a:ext cx="257194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800830" y="1995628"/>
            <a:ext cx="198456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56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857768" y="2166443"/>
            <a:ext cx="392762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v</a:t>
            </a:r>
            <a:r>
              <a:rPr sz="597" b="0">
                <a:solidFill>
                  <a:srgbClr val="000000"/>
                </a:solidFill>
                <a:latin typeface="Cambria Math"/>
              </a:rPr>
              <a:t>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381440" y="2166443"/>
            <a:ext cx="340395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1000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186444" y="2166443"/>
            <a:ext cx="259895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15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827574" y="2166443"/>
            <a:ext cx="195782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857768" y="2337246"/>
            <a:ext cx="392762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v</a:t>
            </a:r>
            <a:r>
              <a:rPr sz="597" b="0">
                <a:solidFill>
                  <a:srgbClr val="000000"/>
                </a:solidFill>
                <a:latin typeface="Cambria Math"/>
              </a:rPr>
              <a:t>8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2381440" y="2337246"/>
            <a:ext cx="340395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1011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186569" y="2337246"/>
            <a:ext cx="2598826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3800830" y="2337246"/>
            <a:ext cx="198456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26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857768" y="2508061"/>
            <a:ext cx="392762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v</a:t>
            </a:r>
            <a:r>
              <a:rPr sz="597" b="0">
                <a:solidFill>
                  <a:srgbClr val="000000"/>
                </a:solidFill>
                <a:latin typeface="Cambria Math"/>
              </a:rPr>
              <a:t>9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2381440" y="2508061"/>
            <a:ext cx="340395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0011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3213369" y="2508061"/>
            <a:ext cx="2572026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800649" y="2508061"/>
            <a:ext cx="1984746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26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834565" y="2678863"/>
            <a:ext cx="395083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v</a:t>
            </a:r>
            <a:r>
              <a:rPr sz="597" b="0">
                <a:solidFill>
                  <a:srgbClr val="000000"/>
                </a:solidFill>
                <a:latin typeface="Cambria Math"/>
              </a:rPr>
              <a:t>10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381440" y="2678863"/>
            <a:ext cx="340395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0001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3213455" y="2678863"/>
            <a:ext cx="257194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3800830" y="2678863"/>
            <a:ext cx="198456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4898770" y="3150917"/>
            <a:ext cx="8866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5626467" y="3150693"/>
            <a:ext cx="15892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57</a:t>
            </a:r>
          </a:p>
        </p:txBody>
      </p:sp>
    </p:spTree>
  </p:cSld>
  <p:clrMapOvr>
    <a:masterClrMapping/>
  </p:clrMapOvr>
</p:sld>
</file>

<file path=ppt/slides/slide1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H="1">
            <a:off x="1125379" y="927276"/>
            <a:ext cx="1050046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074768" y="977887"/>
            <a:ext cx="0" cy="15966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1125379" y="1188162"/>
            <a:ext cx="1050046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2226036" y="977887"/>
            <a:ext cx="0" cy="15966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H="1">
            <a:off x="2410841" y="917028"/>
            <a:ext cx="132960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2360231" y="967638"/>
            <a:ext cx="0" cy="18016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2410841" y="1198410"/>
            <a:ext cx="132960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3791060" y="967638"/>
            <a:ext cx="0" cy="18016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H="1">
            <a:off x="2720978" y="1332605"/>
            <a:ext cx="709335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2670367" y="1383216"/>
            <a:ext cx="0" cy="17771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2720978" y="1611540"/>
            <a:ext cx="709335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3480923" y="1383216"/>
            <a:ext cx="0" cy="17771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H="1">
            <a:off x="2819251" y="1745734"/>
            <a:ext cx="51278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2768640" y="1796345"/>
            <a:ext cx="0" cy="15408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2819251" y="2001040"/>
            <a:ext cx="51278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3382650" y="1796345"/>
            <a:ext cx="0" cy="15408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H="1">
            <a:off x="2387383" y="2135234"/>
            <a:ext cx="137652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2336772" y="2185845"/>
            <a:ext cx="0" cy="18016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2387383" y="2416617"/>
            <a:ext cx="137652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V="1">
            <a:off x="3814518" y="2185845"/>
            <a:ext cx="0" cy="18016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H="1">
            <a:off x="3999324" y="2148273"/>
            <a:ext cx="635316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3948713" y="2198883"/>
            <a:ext cx="0" cy="154085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3999324" y="2403579"/>
            <a:ext cx="635316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4685251" y="2198883"/>
            <a:ext cx="0" cy="154085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2228567" y="1057719"/>
            <a:ext cx="10382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Freeform 60"/>
          <p:cNvSpPr/>
          <p:nvPr/>
        </p:nvSpPr>
        <p:spPr>
          <a:xfrm>
            <a:off x="2311400" y="10414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1"/>
                </a:moveTo>
                <a:lnTo>
                  <a:pt x="0" y="0"/>
                </a:lnTo>
                <a:lnTo>
                  <a:pt x="2" y="1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2" name="Connector 61"/>
          <p:cNvCxnSpPr/>
          <p:nvPr/>
        </p:nvCxnSpPr>
        <p:spPr>
          <a:xfrm>
            <a:off x="3075645" y="1200941"/>
            <a:ext cx="0" cy="10382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Freeform 62"/>
          <p:cNvSpPr/>
          <p:nvPr/>
        </p:nvSpPr>
        <p:spPr>
          <a:xfrm>
            <a:off x="3060700" y="12954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0"/>
                </a:lnTo>
                <a:lnTo>
                  <a:pt x="1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>
            <a:off x="3075645" y="1614070"/>
            <a:ext cx="0" cy="10382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Freeform 64"/>
          <p:cNvSpPr/>
          <p:nvPr/>
        </p:nvSpPr>
        <p:spPr>
          <a:xfrm>
            <a:off x="3060700" y="17018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0"/>
                </a:lnTo>
                <a:lnTo>
                  <a:pt x="1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6" name="Connector 65"/>
          <p:cNvCxnSpPr/>
          <p:nvPr/>
        </p:nvCxnSpPr>
        <p:spPr>
          <a:xfrm>
            <a:off x="3075645" y="2003570"/>
            <a:ext cx="0" cy="10382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Freeform 66"/>
          <p:cNvSpPr/>
          <p:nvPr/>
        </p:nvSpPr>
        <p:spPr>
          <a:xfrm>
            <a:off x="3060700" y="20955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0"/>
                </a:lnTo>
                <a:lnTo>
                  <a:pt x="1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8" name="Connector 67"/>
          <p:cNvCxnSpPr/>
          <p:nvPr/>
        </p:nvCxnSpPr>
        <p:spPr>
          <a:xfrm>
            <a:off x="3817049" y="2275926"/>
            <a:ext cx="10382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Freeform 68"/>
          <p:cNvSpPr/>
          <p:nvPr/>
        </p:nvSpPr>
        <p:spPr>
          <a:xfrm>
            <a:off x="3911600" y="22606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0" name="Connector 69"/>
          <p:cNvCxnSpPr/>
          <p:nvPr/>
        </p:nvCxnSpPr>
        <p:spPr>
          <a:xfrm flipH="1">
            <a:off x="2154240" y="2275926"/>
            <a:ext cx="180002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V="1">
            <a:off x="2154240" y="1472072"/>
            <a:ext cx="0" cy="80385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2154240" y="1472072"/>
            <a:ext cx="488291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Freeform 72"/>
          <p:cNvSpPr/>
          <p:nvPr/>
        </p:nvSpPr>
        <p:spPr>
          <a:xfrm>
            <a:off x="2628900" y="14478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3" y="2"/>
                </a:moveTo>
                <a:lnTo>
                  <a:pt x="0" y="0"/>
                </a:lnTo>
                <a:lnTo>
                  <a:pt x="1" y="2"/>
                </a:lnTo>
                <a:lnTo>
                  <a:pt x="0" y="4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4" name="Connector 73"/>
          <p:cNvCxnSpPr/>
          <p:nvPr/>
        </p:nvCxnSpPr>
        <p:spPr>
          <a:xfrm flipH="1">
            <a:off x="4083989" y="1744168"/>
            <a:ext cx="50299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4033378" y="1794779"/>
            <a:ext cx="0" cy="157216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4083989" y="2002606"/>
            <a:ext cx="50299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V="1">
            <a:off x="4637594" y="1794779"/>
            <a:ext cx="0" cy="157216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Freeform 77"/>
          <p:cNvSpPr/>
          <p:nvPr/>
        </p:nvSpPr>
        <p:spPr>
          <a:xfrm>
            <a:off x="3987800" y="17907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1" y="0"/>
                </a:lnTo>
                <a:lnTo>
                  <a:pt x="1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Freeform 78"/>
          <p:cNvSpPr/>
          <p:nvPr/>
        </p:nvSpPr>
        <p:spPr>
          <a:xfrm>
            <a:off x="3987800" y="18542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0" y="0"/>
                </a:lnTo>
                <a:lnTo>
                  <a:pt x="1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Freeform 79"/>
          <p:cNvSpPr/>
          <p:nvPr/>
        </p:nvSpPr>
        <p:spPr>
          <a:xfrm>
            <a:off x="3987800" y="19177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Freeform 80"/>
          <p:cNvSpPr/>
          <p:nvPr/>
        </p:nvSpPr>
        <p:spPr>
          <a:xfrm>
            <a:off x="3911600" y="1181100"/>
            <a:ext cx="762000" cy="419100"/>
          </a:xfrm>
          <a:custGeom>
            <a:avLst/>
            <a:gdLst/>
            <a:ahLst/>
            <a:cxnLst/>
            <a:rect l="l" t="t" r="r" b="b"/>
            <a:pathLst>
              <a:path w="60" h="33">
                <a:moveTo>
                  <a:pt x="56" y="0"/>
                </a:moveTo>
                <a:lnTo>
                  <a:pt x="4" y="0"/>
                </a:lnTo>
                <a:lnTo>
                  <a:pt x="4" y="0"/>
                </a:lnTo>
                <a:lnTo>
                  <a:pt x="3" y="0"/>
                </a:lnTo>
                <a:lnTo>
                  <a:pt x="2" y="0"/>
                </a:lnTo>
                <a:lnTo>
                  <a:pt x="2" y="1"/>
                </a:lnTo>
                <a:lnTo>
                  <a:pt x="1" y="1"/>
                </a:lnTo>
                <a:lnTo>
                  <a:pt x="1" y="2"/>
                </a:lnTo>
                <a:lnTo>
                  <a:pt x="0" y="3"/>
                </a:lnTo>
                <a:lnTo>
                  <a:pt x="0" y="4"/>
                </a:lnTo>
                <a:lnTo>
                  <a:pt x="0" y="29"/>
                </a:lnTo>
                <a:lnTo>
                  <a:pt x="0" y="29"/>
                </a:lnTo>
                <a:lnTo>
                  <a:pt x="1" y="30"/>
                </a:lnTo>
                <a:lnTo>
                  <a:pt x="1" y="31"/>
                </a:lnTo>
                <a:lnTo>
                  <a:pt x="2" y="31"/>
                </a:lnTo>
                <a:lnTo>
                  <a:pt x="2" y="32"/>
                </a:lnTo>
                <a:lnTo>
                  <a:pt x="3" y="32"/>
                </a:lnTo>
                <a:lnTo>
                  <a:pt x="4" y="33"/>
                </a:lnTo>
                <a:lnTo>
                  <a:pt x="4" y="33"/>
                </a:lnTo>
                <a:lnTo>
                  <a:pt x="56" y="33"/>
                </a:lnTo>
                <a:lnTo>
                  <a:pt x="57" y="33"/>
                </a:lnTo>
                <a:lnTo>
                  <a:pt x="58" y="32"/>
                </a:lnTo>
                <a:lnTo>
                  <a:pt x="58" y="32"/>
                </a:lnTo>
                <a:lnTo>
                  <a:pt x="59" y="31"/>
                </a:lnTo>
                <a:lnTo>
                  <a:pt x="59" y="31"/>
                </a:lnTo>
                <a:lnTo>
                  <a:pt x="60" y="30"/>
                </a:lnTo>
                <a:lnTo>
                  <a:pt x="60" y="29"/>
                </a:lnTo>
                <a:lnTo>
                  <a:pt x="60" y="29"/>
                </a:lnTo>
                <a:lnTo>
                  <a:pt x="60" y="4"/>
                </a:lnTo>
                <a:lnTo>
                  <a:pt x="60" y="3"/>
                </a:lnTo>
                <a:lnTo>
                  <a:pt x="60" y="2"/>
                </a:lnTo>
                <a:lnTo>
                  <a:pt x="59" y="1"/>
                </a:lnTo>
                <a:lnTo>
                  <a:pt x="59" y="1"/>
                </a:lnTo>
                <a:lnTo>
                  <a:pt x="58" y="0"/>
                </a:lnTo>
                <a:lnTo>
                  <a:pt x="58" y="0"/>
                </a:lnTo>
                <a:lnTo>
                  <a:pt x="57" y="0"/>
                </a:lnTo>
                <a:lnTo>
                  <a:pt x="56" y="0"/>
                </a:lnTo>
                <a:close/>
              </a:path>
            </a:pathLst>
          </a:custGeom>
          <a:solidFill>
            <a:srgbClr val="003373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2" name="Connector 81"/>
          <p:cNvCxnSpPr/>
          <p:nvPr/>
        </p:nvCxnSpPr>
        <p:spPr>
          <a:xfrm flipH="1">
            <a:off x="4028304" y="1729235"/>
            <a:ext cx="533057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3977693" y="1779846"/>
            <a:ext cx="0" cy="15482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4028304" y="1985281"/>
            <a:ext cx="533057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 flipV="1">
            <a:off x="4611972" y="1779846"/>
            <a:ext cx="0" cy="15482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4294833" y="1597571"/>
            <a:ext cx="0" cy="10382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Freeform 86"/>
          <p:cNvSpPr/>
          <p:nvPr/>
        </p:nvSpPr>
        <p:spPr>
          <a:xfrm>
            <a:off x="4279900" y="16891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0"/>
                </a:lnTo>
                <a:lnTo>
                  <a:pt x="1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8" name="Connector 87"/>
          <p:cNvCxnSpPr/>
          <p:nvPr/>
        </p:nvCxnSpPr>
        <p:spPr>
          <a:xfrm flipV="1">
            <a:off x="3483454" y="1143260"/>
            <a:ext cx="516532" cy="18681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>
            <a:off x="3483454" y="1614070"/>
            <a:ext cx="590049" cy="44848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Rectangle 89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2880004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2" name="Picture 9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93" name="Picture 9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94" name="TextBox 93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Genetic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algorithm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160868" y="1010084"/>
            <a:ext cx="4624527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Problem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formulation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2446311" y="999835"/>
            <a:ext cx="3339084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Initialisation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population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2756445" y="1412953"/>
            <a:ext cx="3028950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Reproduction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854718" y="1822948"/>
            <a:ext cx="2930677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Mutation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2422854" y="2218019"/>
            <a:ext cx="3362541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Replacement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population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034776" y="2225487"/>
            <a:ext cx="1750619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Termination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119435" y="1824522"/>
            <a:ext cx="1665960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Selection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008525" y="1257277"/>
            <a:ext cx="1776870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FFFFFF"/>
                </a:solidFill>
                <a:latin typeface="Josefin Sans"/>
              </a:rPr>
              <a:t>Selection</a:t>
            </a:r>
            <a:r>
              <a:rPr sz="896" b="0">
                <a:solidFill>
                  <a:srgbClr val="FFFFFF"/>
                </a:solidFill>
                <a:latin typeface="Josefin Sans"/>
              </a:rPr>
              <a:t> </a:t>
            </a:r>
            <a:r>
              <a:rPr sz="896" b="0">
                <a:solidFill>
                  <a:srgbClr val="FFFFFF"/>
                </a:solidFill>
                <a:latin typeface="Josefin Sans"/>
              </a:rPr>
              <a:t>as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4002493" y="1396456"/>
            <a:ext cx="1782902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FFFFFF"/>
                </a:solidFill>
                <a:latin typeface="Josefin Sans"/>
              </a:rPr>
              <a:t>parent</a:t>
            </a:r>
            <a:r>
              <a:rPr sz="896" b="0">
                <a:solidFill>
                  <a:srgbClr val="FFFFFF"/>
                </a:solidFill>
                <a:latin typeface="Josefin Sans"/>
              </a:rPr>
              <a:t> </a:t>
            </a:r>
            <a:r>
              <a:rPr sz="896" b="0">
                <a:solidFill>
                  <a:srgbClr val="FFFFFF"/>
                </a:solidFill>
                <a:latin typeface="Josefin Sans"/>
              </a:rPr>
              <a:t>pairs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4063758" y="1806450"/>
            <a:ext cx="1721637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Crossover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4898770" y="3150917"/>
            <a:ext cx="8866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623585" y="3150693"/>
            <a:ext cx="16181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58</a:t>
            </a:r>
          </a:p>
        </p:txBody>
      </p:sp>
    </p:spTree>
  </p:cSld>
  <p:clrMapOvr>
    <a:masterClrMapping/>
  </p:clrMapOvr>
</p:sld>
</file>

<file path=ppt/slides/slide1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26900364" y="-24304139"/>
            <a:ext cx="388023" cy="0"/>
          </a:xfrm>
          <a:prstGeom prst="line">
            <a:avLst/>
          </a:prstGeom>
          <a:ln w="553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tangle 36"/>
          <p:cNvSpPr/>
          <p:nvPr/>
        </p:nvSpPr>
        <p:spPr>
          <a:xfrm>
            <a:off x="27302380" y="-23998918"/>
            <a:ext cx="348797" cy="14342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7651189" y="-23998918"/>
            <a:ext cx="638785" cy="14342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8289975" y="-23998918"/>
            <a:ext cx="392741" cy="14342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8682720" y="-23998918"/>
            <a:ext cx="601643" cy="14342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7302380" y="-23712075"/>
            <a:ext cx="348797" cy="143426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7651189" y="-23712075"/>
            <a:ext cx="638785" cy="143426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8289975" y="-23712075"/>
            <a:ext cx="392741" cy="143426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28682720" y="-23712075"/>
            <a:ext cx="601643" cy="143426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27302380" y="-23425233"/>
            <a:ext cx="348797" cy="143426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27651189" y="-23425233"/>
            <a:ext cx="638785" cy="143426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28289975" y="-23425233"/>
            <a:ext cx="392741" cy="143426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28682720" y="-23425233"/>
            <a:ext cx="601643" cy="143426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27302380" y="-23138390"/>
            <a:ext cx="348797" cy="143426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27651189" y="-23138390"/>
            <a:ext cx="638785" cy="143426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28289975" y="-23138390"/>
            <a:ext cx="392741" cy="143426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28682720" y="-23138390"/>
            <a:ext cx="601643" cy="143426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27302380" y="-22851547"/>
            <a:ext cx="348797" cy="143426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27651189" y="-22851547"/>
            <a:ext cx="638785" cy="143426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28289975" y="-22851547"/>
            <a:ext cx="392741" cy="143426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28682720" y="-22851547"/>
            <a:ext cx="601643" cy="143426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27302380" y="-22564706"/>
            <a:ext cx="348797" cy="143426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27651189" y="-22564706"/>
            <a:ext cx="638785" cy="143426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28289975" y="-22564706"/>
            <a:ext cx="392741" cy="143426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28682720" y="-22564706"/>
            <a:ext cx="601643" cy="143426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2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2880006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3" name="Picture 6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64" name="Picture 6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65" name="TextBox 64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Example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59993" y="590442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Selection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as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parent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pairs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898773" y="3150916"/>
            <a:ext cx="88662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622444" y="3150692"/>
            <a:ext cx="16295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59</a:t>
            </a:r>
          </a:p>
        </p:txBody>
      </p:sp>
    </p:spTree>
  </p:cSld>
  <p:clrMapOvr>
    <a:masterClrMapping/>
  </p:clrMapOvr>
</p:sld>
</file>

<file path=ppt/slides/slide1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500036" y="1096187"/>
            <a:ext cx="388023" cy="0"/>
          </a:xfrm>
          <a:prstGeom prst="line">
            <a:avLst/>
          </a:prstGeom>
          <a:ln w="553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tangle 36"/>
          <p:cNvSpPr/>
          <p:nvPr/>
        </p:nvSpPr>
        <p:spPr>
          <a:xfrm>
            <a:off x="27302376" y="-23998918"/>
            <a:ext cx="348797" cy="14342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7651186" y="-23998918"/>
            <a:ext cx="638785" cy="14342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8289972" y="-23998918"/>
            <a:ext cx="392741" cy="14342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8682717" y="-23998918"/>
            <a:ext cx="601643" cy="14342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7302376" y="-23712075"/>
            <a:ext cx="348797" cy="143426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7651186" y="-23712075"/>
            <a:ext cx="638785" cy="143426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8289972" y="-23712075"/>
            <a:ext cx="392741" cy="143426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28682717" y="-23712075"/>
            <a:ext cx="601643" cy="143426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27302376" y="-23425233"/>
            <a:ext cx="348797" cy="143426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27651186" y="-23425233"/>
            <a:ext cx="638785" cy="143426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28289972" y="-23425233"/>
            <a:ext cx="392741" cy="143426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28682717" y="-23425233"/>
            <a:ext cx="601643" cy="143426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27302376" y="-23138390"/>
            <a:ext cx="348797" cy="143426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27651186" y="-23138390"/>
            <a:ext cx="638785" cy="143426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28289972" y="-23138390"/>
            <a:ext cx="392741" cy="143426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28682717" y="-23138390"/>
            <a:ext cx="601643" cy="143426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27302376" y="-22851547"/>
            <a:ext cx="348797" cy="143426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27651186" y="-22851547"/>
            <a:ext cx="638785" cy="143426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28289972" y="-22851547"/>
            <a:ext cx="392741" cy="143426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28682717" y="-22851547"/>
            <a:ext cx="601643" cy="143426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27302376" y="-22564706"/>
            <a:ext cx="348797" cy="143426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27651186" y="-22564706"/>
            <a:ext cx="638785" cy="143426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28289972" y="-22564706"/>
            <a:ext cx="392741" cy="143426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28682717" y="-22564706"/>
            <a:ext cx="601643" cy="143426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0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2880003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3" name="Picture 6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64" name="Picture 6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65" name="TextBox 64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Example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59993" y="590442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Selection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as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parent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pairs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59995" y="848148"/>
            <a:ext cx="542540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Using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proportional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selection,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probability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selection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individual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given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59995" y="1020220"/>
            <a:ext cx="542540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by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fitness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ratio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570457" y="983463"/>
            <a:ext cx="421493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f</a:t>
            </a:r>
            <a:r>
              <a:rPr sz="797" b="0">
                <a:solidFill>
                  <a:srgbClr val="000000"/>
                </a:solidFill>
                <a:latin typeface="Cambria Math"/>
              </a:rPr>
              <a:t>(</a:t>
            </a:r>
            <a:r>
              <a:rPr sz="797" b="0">
                <a:solidFill>
                  <a:srgbClr val="000000"/>
                </a:solidFill>
                <a:latin typeface="Cambria Math"/>
              </a:rPr>
              <a:t>x</a:t>
            </a:r>
            <a:r>
              <a:rPr sz="597" b="0">
                <a:solidFill>
                  <a:srgbClr val="000000"/>
                </a:solidFill>
                <a:latin typeface="Cambria Math"/>
              </a:rPr>
              <a:t>i</a:t>
            </a:r>
            <a:r>
              <a:rPr sz="797" b="0">
                <a:solidFill>
                  <a:srgbClr val="000000"/>
                </a:solidFill>
                <a:latin typeface="Cambria Math"/>
              </a:rPr>
              <a:t>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500036" y="1097431"/>
            <a:ext cx="428535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P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508469" y="1214993"/>
            <a:ext cx="427692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∀</a:t>
            </a:r>
            <a:r>
              <a:rPr sz="597" b="0">
                <a:solidFill>
                  <a:srgbClr val="000000"/>
                </a:solidFill>
                <a:latin typeface="Cambria Math"/>
              </a:rPr>
              <a:t>j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631481" y="1101307"/>
            <a:ext cx="415391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f</a:t>
            </a:r>
            <a:r>
              <a:rPr sz="797" b="0">
                <a:solidFill>
                  <a:srgbClr val="000000"/>
                </a:solidFill>
                <a:latin typeface="Cambria Math"/>
              </a:rPr>
              <a:t>(</a:t>
            </a:r>
            <a:r>
              <a:rPr sz="797" b="0">
                <a:solidFill>
                  <a:srgbClr val="000000"/>
                </a:solidFill>
                <a:latin typeface="Cambria Math"/>
              </a:rPr>
              <a:t>x</a:t>
            </a:r>
            <a:r>
              <a:rPr sz="597" b="0">
                <a:solidFill>
                  <a:srgbClr val="000000"/>
                </a:solidFill>
                <a:latin typeface="Cambria Math"/>
              </a:rPr>
              <a:t>j</a:t>
            </a:r>
            <a:r>
              <a:rPr sz="797" b="0">
                <a:solidFill>
                  <a:srgbClr val="000000"/>
                </a:solidFill>
                <a:latin typeface="Cambria Math"/>
              </a:rPr>
              <a:t>)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898770" y="3150916"/>
            <a:ext cx="8866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622441" y="3150692"/>
            <a:ext cx="16295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59</a:t>
            </a:r>
          </a:p>
        </p:txBody>
      </p:sp>
    </p:spTree>
  </p:cSld>
  <p:clrMapOvr>
    <a:masterClrMapping/>
  </p:clrMapOvr>
</p:sld>
</file>

<file path=ppt/slides/slide1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500036" y="1096187"/>
            <a:ext cx="388023" cy="0"/>
          </a:xfrm>
          <a:prstGeom prst="line">
            <a:avLst/>
          </a:prstGeom>
          <a:ln w="553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tangle 36"/>
          <p:cNvSpPr/>
          <p:nvPr/>
        </p:nvSpPr>
        <p:spPr>
          <a:xfrm>
            <a:off x="1902050" y="1401410"/>
            <a:ext cx="348798" cy="14342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250859" y="1401409"/>
            <a:ext cx="638786" cy="14342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889646" y="1401409"/>
            <a:ext cx="392743" cy="14342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282389" y="1401409"/>
            <a:ext cx="601645" cy="14342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902050" y="1688252"/>
            <a:ext cx="348798" cy="143426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250859" y="1688252"/>
            <a:ext cx="638786" cy="143426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889646" y="1688252"/>
            <a:ext cx="392743" cy="143426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282389" y="1688252"/>
            <a:ext cx="601645" cy="143426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902050" y="1975094"/>
            <a:ext cx="348798" cy="143426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2250859" y="1975094"/>
            <a:ext cx="638786" cy="143426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2889646" y="1975094"/>
            <a:ext cx="392743" cy="143426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3282389" y="1975094"/>
            <a:ext cx="601645" cy="143426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1902050" y="2261937"/>
            <a:ext cx="348798" cy="143426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2250859" y="2261937"/>
            <a:ext cx="638786" cy="143426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2889646" y="2261937"/>
            <a:ext cx="392743" cy="143426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3282389" y="2261937"/>
            <a:ext cx="601645" cy="143426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1902050" y="2548779"/>
            <a:ext cx="348798" cy="143426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2250859" y="2548779"/>
            <a:ext cx="638786" cy="143426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2889646" y="2548779"/>
            <a:ext cx="392743" cy="143426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3282389" y="2548779"/>
            <a:ext cx="601645" cy="143426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1902050" y="2835621"/>
            <a:ext cx="348798" cy="143426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2250859" y="2835621"/>
            <a:ext cx="638786" cy="143426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2889646" y="2835621"/>
            <a:ext cx="392743" cy="143426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3282389" y="2835621"/>
            <a:ext cx="601645" cy="143426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0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2880003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3" name="Picture 6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64" name="Picture 6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65" name="TextBox 64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Example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59993" y="590442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Selection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as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parent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pairs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59995" y="848148"/>
            <a:ext cx="542540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Using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proportional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selection,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probability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selection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individual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given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59995" y="1020220"/>
            <a:ext cx="542540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by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fitness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ratio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570457" y="983463"/>
            <a:ext cx="421493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f</a:t>
            </a:r>
            <a:r>
              <a:rPr sz="797" b="0">
                <a:solidFill>
                  <a:srgbClr val="000000"/>
                </a:solidFill>
                <a:latin typeface="Cambria Math"/>
              </a:rPr>
              <a:t>(</a:t>
            </a:r>
            <a:r>
              <a:rPr sz="797" b="0">
                <a:solidFill>
                  <a:srgbClr val="000000"/>
                </a:solidFill>
                <a:latin typeface="Cambria Math"/>
              </a:rPr>
              <a:t>x</a:t>
            </a:r>
            <a:r>
              <a:rPr sz="597" b="0">
                <a:solidFill>
                  <a:srgbClr val="000000"/>
                </a:solidFill>
                <a:latin typeface="Cambria Math"/>
              </a:rPr>
              <a:t>i</a:t>
            </a:r>
            <a:r>
              <a:rPr sz="797" b="0">
                <a:solidFill>
                  <a:srgbClr val="000000"/>
                </a:solidFill>
                <a:latin typeface="Cambria Math"/>
              </a:rPr>
              <a:t>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500036" y="1097431"/>
            <a:ext cx="428535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P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508469" y="1214993"/>
            <a:ext cx="427692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∀</a:t>
            </a:r>
            <a:r>
              <a:rPr sz="597" b="0">
                <a:solidFill>
                  <a:srgbClr val="000000"/>
                </a:solidFill>
                <a:latin typeface="Cambria Math"/>
              </a:rPr>
              <a:t>j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631481" y="1101307"/>
            <a:ext cx="415391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f</a:t>
            </a:r>
            <a:r>
              <a:rPr sz="797" b="0">
                <a:solidFill>
                  <a:srgbClr val="000000"/>
                </a:solidFill>
                <a:latin typeface="Cambria Math"/>
              </a:rPr>
              <a:t>(</a:t>
            </a:r>
            <a:r>
              <a:rPr sz="797" b="0">
                <a:solidFill>
                  <a:srgbClr val="000000"/>
                </a:solidFill>
                <a:latin typeface="Cambria Math"/>
              </a:rPr>
              <a:t>x</a:t>
            </a:r>
            <a:r>
              <a:rPr sz="597" b="0">
                <a:solidFill>
                  <a:srgbClr val="000000"/>
                </a:solidFill>
                <a:latin typeface="Cambria Math"/>
              </a:rPr>
              <a:t>j</a:t>
            </a:r>
            <a:r>
              <a:rPr sz="797" b="0">
                <a:solidFill>
                  <a:srgbClr val="000000"/>
                </a:solidFill>
                <a:latin typeface="Cambria Math"/>
              </a:rPr>
              <a:t>)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965798" y="1425713"/>
            <a:ext cx="3819598" cy="1317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9" b="1">
                <a:solidFill>
                  <a:srgbClr val="FFFFFF"/>
                </a:solidFill>
                <a:latin typeface="Josefin Sans"/>
              </a:rPr>
              <a:t>Label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314596" y="1425713"/>
            <a:ext cx="3470799" cy="1317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9" b="1">
                <a:solidFill>
                  <a:srgbClr val="FFFFFF"/>
                </a:solidFill>
                <a:latin typeface="Josefin Sans"/>
              </a:rPr>
              <a:t>Integer</a:t>
            </a:r>
            <a:r>
              <a:rPr sz="669" b="1">
                <a:solidFill>
                  <a:srgbClr val="FFFFFF"/>
                </a:solidFill>
                <a:latin typeface="Josefin Sans"/>
              </a:rPr>
              <a:t> </a:t>
            </a:r>
            <a:r>
              <a:rPr sz="669" b="1">
                <a:solidFill>
                  <a:srgbClr val="FFFFFF"/>
                </a:solidFill>
                <a:latin typeface="Josefin Sans"/>
              </a:rPr>
              <a:t>value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953393" y="1425713"/>
            <a:ext cx="2832002" cy="1317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9" b="1">
                <a:solidFill>
                  <a:srgbClr val="FFFFFF"/>
                </a:solidFill>
                <a:latin typeface="Josefin Sans"/>
              </a:rPr>
              <a:t>Fitness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346125" y="1425713"/>
            <a:ext cx="2439270" cy="1317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9" b="1">
                <a:solidFill>
                  <a:srgbClr val="FFFFFF"/>
                </a:solidFill>
                <a:latin typeface="Josefin Sans"/>
              </a:rPr>
              <a:t>Fitness</a:t>
            </a:r>
            <a:r>
              <a:rPr sz="669" b="1">
                <a:solidFill>
                  <a:srgbClr val="FFFFFF"/>
                </a:solidFill>
                <a:latin typeface="Josefin Sans"/>
              </a:rPr>
              <a:t> </a:t>
            </a:r>
            <a:r>
              <a:rPr sz="669" b="1">
                <a:solidFill>
                  <a:srgbClr val="FFFFFF"/>
                </a:solidFill>
                <a:latin typeface="Josefin Sans"/>
              </a:rPr>
              <a:t>ratio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032339" y="1570302"/>
            <a:ext cx="3753056" cy="1317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9" b="0">
                <a:solidFill>
                  <a:srgbClr val="000000"/>
                </a:solidFill>
                <a:latin typeface="Cambria Math"/>
              </a:rPr>
              <a:t>v</a:t>
            </a:r>
            <a:r>
              <a:rPr sz="501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547672" y="1570302"/>
            <a:ext cx="3237723" cy="1317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9" b="0">
                <a:solidFill>
                  <a:srgbClr val="000000"/>
                </a:solidFill>
                <a:latin typeface="Cambria Math"/>
              </a:rPr>
              <a:t>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040872" y="1570302"/>
            <a:ext cx="2744523" cy="1317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9" b="0">
                <a:solidFill>
                  <a:srgbClr val="000000"/>
                </a:solidFill>
                <a:latin typeface="Cambria Math"/>
              </a:rPr>
              <a:t>44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457751" y="1570302"/>
            <a:ext cx="2327644" cy="1317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9" b="0">
                <a:solidFill>
                  <a:srgbClr val="000000"/>
                </a:solidFill>
                <a:latin typeface="Cambria Math"/>
              </a:rPr>
              <a:t>0</a:t>
            </a:r>
            <a:r>
              <a:rPr sz="669" b="0">
                <a:solidFill>
                  <a:srgbClr val="000000"/>
                </a:solidFill>
                <a:latin typeface="Cambria Math"/>
              </a:rPr>
              <a:t>.</a:t>
            </a:r>
            <a:r>
              <a:rPr sz="669" b="0">
                <a:solidFill>
                  <a:srgbClr val="000000"/>
                </a:solidFill>
                <a:latin typeface="Cambria Math"/>
              </a:rPr>
              <a:t>1528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032339" y="1713729"/>
            <a:ext cx="3753056" cy="1317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9" b="0">
                <a:solidFill>
                  <a:srgbClr val="000000"/>
                </a:solidFill>
                <a:latin typeface="Cambria Math"/>
              </a:rPr>
              <a:t>v</a:t>
            </a:r>
            <a:r>
              <a:rPr sz="501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2525097" y="1713729"/>
            <a:ext cx="3260298" cy="1317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9" b="0">
                <a:solidFill>
                  <a:srgbClr val="000000"/>
                </a:solidFill>
                <a:latin typeface="Cambria Math"/>
              </a:rPr>
              <a:t>10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040867" y="1713729"/>
            <a:ext cx="2744528" cy="1317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9" b="0">
                <a:solidFill>
                  <a:srgbClr val="000000"/>
                </a:solidFill>
                <a:latin typeface="Cambria Math"/>
              </a:rPr>
              <a:t>50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457785" y="1713729"/>
            <a:ext cx="2327610" cy="1317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9" b="0">
                <a:solidFill>
                  <a:srgbClr val="000000"/>
                </a:solidFill>
                <a:latin typeface="Cambria Math"/>
              </a:rPr>
              <a:t>0</a:t>
            </a:r>
            <a:r>
              <a:rPr sz="669" b="0">
                <a:solidFill>
                  <a:srgbClr val="000000"/>
                </a:solidFill>
                <a:latin typeface="Cambria Math"/>
              </a:rPr>
              <a:t>.</a:t>
            </a:r>
            <a:r>
              <a:rPr sz="669" b="0">
                <a:solidFill>
                  <a:srgbClr val="000000"/>
                </a:solidFill>
                <a:latin typeface="Cambria Math"/>
              </a:rPr>
              <a:t>1736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2032339" y="1857155"/>
            <a:ext cx="3753056" cy="1317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9" b="0">
                <a:solidFill>
                  <a:srgbClr val="000000"/>
                </a:solidFill>
                <a:latin typeface="Cambria Math"/>
              </a:rPr>
              <a:t>v</a:t>
            </a:r>
            <a:r>
              <a:rPr sz="501" b="0">
                <a:solidFill>
                  <a:srgbClr val="000000"/>
                </a:solidFill>
                <a:latin typeface="Cambria Math"/>
              </a:rP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2547672" y="1857155"/>
            <a:ext cx="3237723" cy="1317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9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063395" y="1857155"/>
            <a:ext cx="2722000" cy="1317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9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560590" y="1857155"/>
            <a:ext cx="2224805" cy="1317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9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032339" y="2000571"/>
            <a:ext cx="3753056" cy="1317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9" b="0">
                <a:solidFill>
                  <a:srgbClr val="000000"/>
                </a:solidFill>
                <a:latin typeface="Cambria Math"/>
              </a:rPr>
              <a:t>v</a:t>
            </a:r>
            <a:r>
              <a:rPr sz="501" b="0">
                <a:solidFill>
                  <a:srgbClr val="000000"/>
                </a:solidFill>
                <a:latin typeface="Cambria Math"/>
              </a:rPr>
              <a:t>4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525097" y="2000571"/>
            <a:ext cx="3260298" cy="1317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9" b="0">
                <a:solidFill>
                  <a:srgbClr val="000000"/>
                </a:solidFill>
                <a:latin typeface="Cambria Math"/>
              </a:rPr>
              <a:t>12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040867" y="2000571"/>
            <a:ext cx="2744528" cy="1317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9" b="0">
                <a:solidFill>
                  <a:srgbClr val="000000"/>
                </a:solidFill>
                <a:latin typeface="Cambria Math"/>
              </a:rPr>
              <a:t>36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3480371" y="2000571"/>
            <a:ext cx="2305024" cy="1317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9" b="0">
                <a:solidFill>
                  <a:srgbClr val="000000"/>
                </a:solidFill>
                <a:latin typeface="Cambria Math"/>
              </a:rPr>
              <a:t>0</a:t>
            </a:r>
            <a:r>
              <a:rPr sz="669" b="0">
                <a:solidFill>
                  <a:srgbClr val="000000"/>
                </a:solidFill>
                <a:latin typeface="Cambria Math"/>
              </a:rPr>
              <a:t>.</a:t>
            </a:r>
            <a:r>
              <a:rPr sz="669" b="0">
                <a:solidFill>
                  <a:srgbClr val="000000"/>
                </a:solidFill>
                <a:latin typeface="Cambria Math"/>
              </a:rPr>
              <a:t>125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032339" y="2143998"/>
            <a:ext cx="3753056" cy="1317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9" b="0">
                <a:solidFill>
                  <a:srgbClr val="000000"/>
                </a:solidFill>
                <a:latin typeface="Cambria Math"/>
              </a:rPr>
              <a:t>v</a:t>
            </a:r>
            <a:r>
              <a:rPr sz="501" b="0">
                <a:solidFill>
                  <a:srgbClr val="000000"/>
                </a:solidFill>
                <a:latin typeface="Cambria Math"/>
              </a:rPr>
              <a:t>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2547672" y="2143998"/>
            <a:ext cx="3237723" cy="1317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9" b="0">
                <a:solidFill>
                  <a:srgbClr val="000000"/>
                </a:solidFill>
                <a:latin typeface="Cambria Math"/>
              </a:rP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040873" y="2143998"/>
            <a:ext cx="2744522" cy="1317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9" b="0">
                <a:solidFill>
                  <a:srgbClr val="000000"/>
                </a:solidFill>
                <a:latin typeface="Cambria Math"/>
              </a:rPr>
              <a:t>36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480274" y="2143998"/>
            <a:ext cx="2305121" cy="1317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9" b="0">
                <a:solidFill>
                  <a:srgbClr val="000000"/>
                </a:solidFill>
                <a:latin typeface="Cambria Math"/>
              </a:rPr>
              <a:t>0</a:t>
            </a:r>
            <a:r>
              <a:rPr sz="669" b="0">
                <a:solidFill>
                  <a:srgbClr val="000000"/>
                </a:solidFill>
                <a:latin typeface="Cambria Math"/>
              </a:rPr>
              <a:t>.</a:t>
            </a:r>
            <a:r>
              <a:rPr sz="669" b="0">
                <a:solidFill>
                  <a:srgbClr val="000000"/>
                </a:solidFill>
                <a:latin typeface="Cambria Math"/>
              </a:rPr>
              <a:t>125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2032339" y="2287413"/>
            <a:ext cx="3753056" cy="1317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9" b="0">
                <a:solidFill>
                  <a:srgbClr val="000000"/>
                </a:solidFill>
                <a:latin typeface="Cambria Math"/>
              </a:rPr>
              <a:t>v</a:t>
            </a:r>
            <a:r>
              <a:rPr sz="501" b="0">
                <a:solidFill>
                  <a:srgbClr val="000000"/>
                </a:solidFill>
                <a:latin typeface="Cambria Math"/>
              </a:rPr>
              <a:t>6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547672" y="2287413"/>
            <a:ext cx="3237723" cy="1317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9" b="0">
                <a:solidFill>
                  <a:srgbClr val="000000"/>
                </a:solidFill>
                <a:latin typeface="Cambria Math"/>
              </a:rPr>
              <a:t>8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040867" y="2287413"/>
            <a:ext cx="2744528" cy="1317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9" b="0">
                <a:solidFill>
                  <a:srgbClr val="000000"/>
                </a:solidFill>
                <a:latin typeface="Cambria Math"/>
              </a:rPr>
              <a:t>56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457785" y="2287413"/>
            <a:ext cx="2327610" cy="1317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9" b="0">
                <a:solidFill>
                  <a:srgbClr val="000000"/>
                </a:solidFill>
                <a:latin typeface="Cambria Math"/>
              </a:rPr>
              <a:t>0</a:t>
            </a:r>
            <a:r>
              <a:rPr sz="669" b="0">
                <a:solidFill>
                  <a:srgbClr val="000000"/>
                </a:solidFill>
                <a:latin typeface="Cambria Math"/>
              </a:rPr>
              <a:t>.</a:t>
            </a:r>
            <a:r>
              <a:rPr sz="669" b="0">
                <a:solidFill>
                  <a:srgbClr val="000000"/>
                </a:solidFill>
                <a:latin typeface="Cambria Math"/>
              </a:rPr>
              <a:t>1944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2032339" y="2430840"/>
            <a:ext cx="3753056" cy="1317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9" b="0">
                <a:solidFill>
                  <a:srgbClr val="000000"/>
                </a:solidFill>
                <a:latin typeface="Cambria Math"/>
              </a:rPr>
              <a:t>v</a:t>
            </a:r>
            <a:r>
              <a:rPr sz="501" b="0">
                <a:solidFill>
                  <a:srgbClr val="000000"/>
                </a:solidFill>
                <a:latin typeface="Cambria Math"/>
              </a:rPr>
              <a:t>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2525097" y="2430840"/>
            <a:ext cx="3260298" cy="1317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9" b="0">
                <a:solidFill>
                  <a:srgbClr val="000000"/>
                </a:solidFill>
                <a:latin typeface="Cambria Math"/>
              </a:rPr>
              <a:t>15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3063427" y="2430840"/>
            <a:ext cx="2721968" cy="1317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9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3560537" y="2430840"/>
            <a:ext cx="2224858" cy="1317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9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2032339" y="2574256"/>
            <a:ext cx="3753056" cy="1317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9" b="0">
                <a:solidFill>
                  <a:srgbClr val="000000"/>
                </a:solidFill>
                <a:latin typeface="Cambria Math"/>
              </a:rPr>
              <a:t>v</a:t>
            </a:r>
            <a:r>
              <a:rPr sz="501" b="0">
                <a:solidFill>
                  <a:srgbClr val="000000"/>
                </a:solidFill>
                <a:latin typeface="Cambria Math"/>
              </a:rPr>
              <a:t>8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2525097" y="2574256"/>
            <a:ext cx="3260298" cy="1317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9" b="0">
                <a:solidFill>
                  <a:srgbClr val="000000"/>
                </a:solidFill>
                <a:latin typeface="Cambria Math"/>
              </a:rPr>
              <a:t>13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040867" y="2574256"/>
            <a:ext cx="2744528" cy="1317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9" b="0">
                <a:solidFill>
                  <a:srgbClr val="000000"/>
                </a:solidFill>
                <a:latin typeface="Cambria Math"/>
              </a:rPr>
              <a:t>26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3457785" y="2574256"/>
            <a:ext cx="2327610" cy="1317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9" b="0">
                <a:solidFill>
                  <a:srgbClr val="000000"/>
                </a:solidFill>
                <a:latin typeface="Cambria Math"/>
              </a:rPr>
              <a:t>0</a:t>
            </a:r>
            <a:r>
              <a:rPr sz="669" b="0">
                <a:solidFill>
                  <a:srgbClr val="000000"/>
                </a:solidFill>
                <a:latin typeface="Cambria Math"/>
              </a:rPr>
              <a:t>.</a:t>
            </a:r>
            <a:r>
              <a:rPr sz="669" b="0">
                <a:solidFill>
                  <a:srgbClr val="000000"/>
                </a:solidFill>
                <a:latin typeface="Cambria Math"/>
              </a:rPr>
              <a:t>0903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2032339" y="2717682"/>
            <a:ext cx="3753056" cy="1317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9" b="0">
                <a:solidFill>
                  <a:srgbClr val="000000"/>
                </a:solidFill>
                <a:latin typeface="Cambria Math"/>
              </a:rPr>
              <a:t>v</a:t>
            </a:r>
            <a:r>
              <a:rPr sz="501" b="0">
                <a:solidFill>
                  <a:srgbClr val="000000"/>
                </a:solidFill>
                <a:latin typeface="Cambria Math"/>
              </a:rPr>
              <a:t>9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2547672" y="2717682"/>
            <a:ext cx="3237723" cy="1317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9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3040872" y="2717682"/>
            <a:ext cx="2744523" cy="1317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9" b="0">
                <a:solidFill>
                  <a:srgbClr val="000000"/>
                </a:solidFill>
                <a:latin typeface="Cambria Math"/>
              </a:rPr>
              <a:t>26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3457751" y="2717682"/>
            <a:ext cx="2327644" cy="1317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9" b="0">
                <a:solidFill>
                  <a:srgbClr val="000000"/>
                </a:solidFill>
                <a:latin typeface="Cambria Math"/>
              </a:rPr>
              <a:t>0</a:t>
            </a:r>
            <a:r>
              <a:rPr sz="669" b="0">
                <a:solidFill>
                  <a:srgbClr val="000000"/>
                </a:solidFill>
                <a:latin typeface="Cambria Math"/>
              </a:rPr>
              <a:t>.</a:t>
            </a:r>
            <a:r>
              <a:rPr sz="669" b="0">
                <a:solidFill>
                  <a:srgbClr val="000000"/>
                </a:solidFill>
                <a:latin typeface="Cambria Math"/>
              </a:rPr>
              <a:t>0903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2012856" y="2861098"/>
            <a:ext cx="3772539" cy="1317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9" b="0">
                <a:solidFill>
                  <a:srgbClr val="000000"/>
                </a:solidFill>
                <a:latin typeface="Cambria Math"/>
              </a:rPr>
              <a:t>v</a:t>
            </a:r>
            <a:r>
              <a:rPr sz="501" b="0">
                <a:solidFill>
                  <a:srgbClr val="000000"/>
                </a:solidFill>
                <a:latin typeface="Cambria Math"/>
              </a:rPr>
              <a:t>10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2547672" y="2861098"/>
            <a:ext cx="3237723" cy="1317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9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3040867" y="2861098"/>
            <a:ext cx="2744528" cy="1317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9" b="0">
                <a:solidFill>
                  <a:srgbClr val="000000"/>
                </a:solidFill>
                <a:latin typeface="Cambria Math"/>
              </a:rPr>
              <a:t>14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457785" y="2861098"/>
            <a:ext cx="2327610" cy="1317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9" b="0">
                <a:solidFill>
                  <a:srgbClr val="000000"/>
                </a:solidFill>
                <a:latin typeface="Cambria Math"/>
              </a:rPr>
              <a:t>0</a:t>
            </a:r>
            <a:r>
              <a:rPr sz="669" b="0">
                <a:solidFill>
                  <a:srgbClr val="000000"/>
                </a:solidFill>
                <a:latin typeface="Cambria Math"/>
              </a:rPr>
              <a:t>.</a:t>
            </a:r>
            <a:r>
              <a:rPr sz="669" b="0">
                <a:solidFill>
                  <a:srgbClr val="000000"/>
                </a:solidFill>
                <a:latin typeface="Cambria Math"/>
              </a:rPr>
              <a:t>0486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898770" y="3150918"/>
            <a:ext cx="8866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622441" y="3150694"/>
            <a:ext cx="16295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59</a:t>
            </a:r>
          </a:p>
        </p:txBody>
      </p:sp>
    </p:spTree>
  </p:cSld>
  <p:clrMapOvr>
    <a:masterClrMapping/>
  </p:clrMapOvr>
</p:sld>
</file>

<file path=ppt/slides/slide1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-2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2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Example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1259171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Proportional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selection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also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known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roulette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wheel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selection.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898768" y="3150916"/>
            <a:ext cx="88662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15455" y="3150692"/>
            <a:ext cx="16994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60</a:t>
            </a:r>
          </a:p>
        </p:txBody>
      </p:sp>
    </p:spTree>
  </p:cSld>
  <p:clrMapOvr>
    <a:masterClrMapping/>
  </p:clrMapOvr>
</p:sld>
</file>

<file path=ppt/slides/slide1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3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Example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1259171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Proportional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selection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also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known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roulette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wheel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selection.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9993" y="1517272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Visually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can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arrange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individuals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on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roulette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wheel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according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their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9993" y="1689357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fitness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ratios.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selection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process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carried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out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simulating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turning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9993" y="1861430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roulette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wheel.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898770" y="3150916"/>
            <a:ext cx="8866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15456" y="3150692"/>
            <a:ext cx="16993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60</a:t>
            </a:r>
          </a:p>
        </p:txBody>
      </p:sp>
    </p:spTree>
  </p:cSld>
  <p:clrMapOvr>
    <a:masterClrMapping/>
  </p:clrMapOvr>
</p:sld>
</file>

<file path=ppt/slides/slide1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27108246" y="-24376643"/>
            <a:ext cx="415404" cy="170814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7523650" y="-24376643"/>
            <a:ext cx="716533" cy="170814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8240198" y="-24376643"/>
            <a:ext cx="1243291" cy="170814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7108246" y="-24035025"/>
            <a:ext cx="415404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7523650" y="-24035025"/>
            <a:ext cx="716533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8240198" y="-24035025"/>
            <a:ext cx="1243291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7108246" y="-23693409"/>
            <a:ext cx="415404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7523650" y="-23693409"/>
            <a:ext cx="716533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28240198" y="-23693409"/>
            <a:ext cx="1243291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27108246" y="-23351791"/>
            <a:ext cx="415404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27523650" y="-23351791"/>
            <a:ext cx="716533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28240198" y="-23351791"/>
            <a:ext cx="1243291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27108246" y="-23010175"/>
            <a:ext cx="415404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27523650" y="-23010175"/>
            <a:ext cx="716533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28240198" y="-23010175"/>
            <a:ext cx="1243291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27108246" y="-22668557"/>
            <a:ext cx="415404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27523650" y="-22668557"/>
            <a:ext cx="716533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28240198" y="-22668557"/>
            <a:ext cx="1243291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-2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2880002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6" name="Picture 5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57" name="Picture 5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58" name="TextBox 57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Example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1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59993" y="641011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Starting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from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first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individual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cumulative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fitness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ratio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each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individual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59993" y="813083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calculated.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898768" y="3150916"/>
            <a:ext cx="88662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638531" y="3150692"/>
            <a:ext cx="14686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61</a:t>
            </a:r>
          </a:p>
        </p:txBody>
      </p:sp>
    </p:spTree>
  </p:cSld>
  <p:clrMapOvr>
    <a:masterClrMapping/>
  </p:clrMapOvr>
</p:sld>
</file>

<file path=ppt/slides/slide1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1707919" y="1023682"/>
            <a:ext cx="415404" cy="170814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123323" y="1023682"/>
            <a:ext cx="716533" cy="170814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839870" y="1023682"/>
            <a:ext cx="1243291" cy="170814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707919" y="1365300"/>
            <a:ext cx="415404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123323" y="1365300"/>
            <a:ext cx="716533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839870" y="1365300"/>
            <a:ext cx="1243291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707919" y="1706917"/>
            <a:ext cx="415404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123323" y="1706917"/>
            <a:ext cx="716533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2839870" y="1706917"/>
            <a:ext cx="1243291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707919" y="2048534"/>
            <a:ext cx="415404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2123323" y="2048534"/>
            <a:ext cx="716533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2839870" y="2048534"/>
            <a:ext cx="1243291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707919" y="2390152"/>
            <a:ext cx="415404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2123323" y="2390152"/>
            <a:ext cx="716533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2839870" y="2390152"/>
            <a:ext cx="1243291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1707919" y="2731769"/>
            <a:ext cx="415404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2123323" y="2731769"/>
            <a:ext cx="716533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2839870" y="2731769"/>
            <a:ext cx="1243291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-2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2880002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6" name="Picture 5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57" name="Picture 5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58" name="TextBox 57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Example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1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59993" y="641011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Starting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from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first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individual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cumulative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fitness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ratio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each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individual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59993" y="813083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calculated.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783827" y="1052626"/>
            <a:ext cx="400156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1">
                <a:solidFill>
                  <a:srgbClr val="FFFFFF"/>
                </a:solidFill>
                <a:latin typeface="Josefin Sans"/>
              </a:rPr>
              <a:t>Label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199244" y="1052626"/>
            <a:ext cx="358615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1">
                <a:solidFill>
                  <a:srgbClr val="FFFFFF"/>
                </a:solidFill>
                <a:latin typeface="Josefin Sans"/>
              </a:rPr>
              <a:t>Fitness</a:t>
            </a:r>
            <a:r>
              <a:rPr sz="797" b="1">
                <a:solidFill>
                  <a:srgbClr val="FFFFFF"/>
                </a:solidFill>
                <a:latin typeface="Josefin Sans"/>
              </a:rPr>
              <a:t> </a:t>
            </a:r>
            <a:r>
              <a:rPr sz="797" b="1">
                <a:solidFill>
                  <a:srgbClr val="FFFFFF"/>
                </a:solidFill>
                <a:latin typeface="Josefin Sans"/>
              </a:rPr>
              <a:t>ratio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915778" y="1052626"/>
            <a:ext cx="286961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1">
                <a:solidFill>
                  <a:srgbClr val="FFFFFF"/>
                </a:solidFill>
                <a:latin typeface="Josefin Sans"/>
              </a:rPr>
              <a:t>Cumulative</a:t>
            </a:r>
            <a:r>
              <a:rPr sz="797" b="1">
                <a:solidFill>
                  <a:srgbClr val="FFFFFF"/>
                </a:solidFill>
                <a:latin typeface="Josefin Sans"/>
              </a:rPr>
              <a:t> </a:t>
            </a:r>
            <a:r>
              <a:rPr sz="797" b="1">
                <a:solidFill>
                  <a:srgbClr val="FFFFFF"/>
                </a:solidFill>
                <a:latin typeface="Josefin Sans"/>
              </a:rPr>
              <a:t>fitness</a:t>
            </a:r>
            <a:r>
              <a:rPr sz="797" b="1">
                <a:solidFill>
                  <a:srgbClr val="FFFFFF"/>
                </a:solidFill>
                <a:latin typeface="Josefin Sans"/>
              </a:rPr>
              <a:t> </a:t>
            </a:r>
            <a:r>
              <a:rPr sz="797" b="1">
                <a:solidFill>
                  <a:srgbClr val="FFFFFF"/>
                </a:solidFill>
                <a:latin typeface="Josefin Sans"/>
              </a:rPr>
              <a:t>ratio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863075" y="1224839"/>
            <a:ext cx="392232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v</a:t>
            </a:r>
            <a:r>
              <a:rPr sz="5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332226" y="1224839"/>
            <a:ext cx="345317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0</a:t>
            </a:r>
            <a:r>
              <a:rPr sz="797" b="0">
                <a:solidFill>
                  <a:srgbClr val="000000"/>
                </a:solidFill>
                <a:latin typeface="Cambria Math"/>
              </a:rPr>
              <a:t>.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1528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311971" y="1224839"/>
            <a:ext cx="247342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0</a:t>
            </a:r>
            <a:r>
              <a:rPr sz="797" b="0">
                <a:solidFill>
                  <a:srgbClr val="000000"/>
                </a:solidFill>
                <a:latin typeface="Cambria Math"/>
              </a:rPr>
              <a:t>.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1528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863075" y="1395641"/>
            <a:ext cx="392232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v</a:t>
            </a:r>
            <a:r>
              <a:rPr sz="59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332226" y="1395641"/>
            <a:ext cx="345317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0</a:t>
            </a:r>
            <a:r>
              <a:rPr sz="797" b="0">
                <a:solidFill>
                  <a:srgbClr val="000000"/>
                </a:solidFill>
                <a:latin typeface="Cambria Math"/>
              </a:rPr>
              <a:t>.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1736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312132" y="1395641"/>
            <a:ext cx="247326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0</a:t>
            </a:r>
            <a:r>
              <a:rPr sz="797" b="0">
                <a:solidFill>
                  <a:srgbClr val="000000"/>
                </a:solidFill>
                <a:latin typeface="Cambria Math"/>
              </a:rPr>
              <a:t>.</a:t>
            </a:r>
            <a:r>
              <a:rPr sz="797" b="0">
                <a:solidFill>
                  <a:srgbClr val="000000"/>
                </a:solidFill>
                <a:latin typeface="Cambria Math"/>
              </a:rPr>
              <a:t>3264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863075" y="1566456"/>
            <a:ext cx="392232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v</a:t>
            </a:r>
            <a:r>
              <a:rPr sz="597" b="0">
                <a:solidFill>
                  <a:srgbClr val="000000"/>
                </a:solidFill>
                <a:latin typeface="Cambria Math"/>
              </a:rPr>
              <a:t>3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454704" y="1566456"/>
            <a:ext cx="333069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12141" y="1566456"/>
            <a:ext cx="247325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0</a:t>
            </a:r>
            <a:r>
              <a:rPr sz="797" b="0">
                <a:solidFill>
                  <a:srgbClr val="000000"/>
                </a:solidFill>
                <a:latin typeface="Cambria Math"/>
              </a:rPr>
              <a:t>.</a:t>
            </a:r>
            <a:r>
              <a:rPr sz="797" b="0">
                <a:solidFill>
                  <a:srgbClr val="000000"/>
                </a:solidFill>
                <a:latin typeface="Cambria Math"/>
              </a:rPr>
              <a:t>3264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863075" y="1737259"/>
            <a:ext cx="392232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v</a:t>
            </a:r>
            <a:r>
              <a:rPr sz="597" b="0">
                <a:solidFill>
                  <a:srgbClr val="000000"/>
                </a:solidFill>
                <a:latin typeface="Cambria Math"/>
              </a:rPr>
              <a:t>4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359112" y="1737259"/>
            <a:ext cx="342628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0</a:t>
            </a:r>
            <a:r>
              <a:rPr sz="797" b="0">
                <a:solidFill>
                  <a:srgbClr val="000000"/>
                </a:solidFill>
                <a:latin typeface="Cambria Math"/>
              </a:rPr>
              <a:t>.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125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312132" y="1737259"/>
            <a:ext cx="247326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0</a:t>
            </a:r>
            <a:r>
              <a:rPr sz="797" b="0">
                <a:solidFill>
                  <a:srgbClr val="000000"/>
                </a:solidFill>
                <a:latin typeface="Cambria Math"/>
              </a:rPr>
              <a:t>.</a:t>
            </a:r>
            <a:r>
              <a:rPr sz="797" b="0">
                <a:solidFill>
                  <a:srgbClr val="000000"/>
                </a:solidFill>
                <a:latin typeface="Cambria Math"/>
              </a:rPr>
              <a:t>4514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863075" y="1908074"/>
            <a:ext cx="392232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v</a:t>
            </a:r>
            <a:r>
              <a:rPr sz="597" b="0">
                <a:solidFill>
                  <a:srgbClr val="000000"/>
                </a:solidFill>
                <a:latin typeface="Cambria Math"/>
              </a:rPr>
              <a:t>5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359111" y="1908074"/>
            <a:ext cx="342628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0</a:t>
            </a:r>
            <a:r>
              <a:rPr sz="797" b="0">
                <a:solidFill>
                  <a:srgbClr val="000000"/>
                </a:solidFill>
                <a:latin typeface="Cambria Math"/>
              </a:rPr>
              <a:t>.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125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3312033" y="1908074"/>
            <a:ext cx="247336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0</a:t>
            </a:r>
            <a:r>
              <a:rPr sz="797" b="0">
                <a:solidFill>
                  <a:srgbClr val="000000"/>
                </a:solidFill>
                <a:latin typeface="Cambria Math"/>
              </a:rPr>
              <a:t>.</a:t>
            </a:r>
            <a:r>
              <a:rPr sz="797" b="0">
                <a:solidFill>
                  <a:srgbClr val="000000"/>
                </a:solidFill>
                <a:latin typeface="Cambria Math"/>
              </a:rPr>
              <a:t>5764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863075" y="2078876"/>
            <a:ext cx="392232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v</a:t>
            </a:r>
            <a:r>
              <a:rPr sz="597" b="0">
                <a:solidFill>
                  <a:srgbClr val="000000"/>
                </a:solidFill>
                <a:latin typeface="Cambria Math"/>
              </a:rPr>
              <a:t>6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2332226" y="2078876"/>
            <a:ext cx="345317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0</a:t>
            </a:r>
            <a:r>
              <a:rPr sz="797" b="0">
                <a:solidFill>
                  <a:srgbClr val="000000"/>
                </a:solidFill>
                <a:latin typeface="Cambria Math"/>
              </a:rPr>
              <a:t>.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1944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312132" y="2078876"/>
            <a:ext cx="247326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0</a:t>
            </a:r>
            <a:r>
              <a:rPr sz="797" b="0">
                <a:solidFill>
                  <a:srgbClr val="000000"/>
                </a:solidFill>
                <a:latin typeface="Cambria Math"/>
              </a:rPr>
              <a:t>.</a:t>
            </a:r>
            <a:r>
              <a:rPr sz="797" b="0">
                <a:solidFill>
                  <a:srgbClr val="000000"/>
                </a:solidFill>
                <a:latin typeface="Cambria Math"/>
              </a:rPr>
              <a:t>7708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863075" y="2249691"/>
            <a:ext cx="392232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v</a:t>
            </a:r>
            <a:r>
              <a:rPr sz="597" b="0">
                <a:solidFill>
                  <a:srgbClr val="000000"/>
                </a:solidFill>
                <a:latin typeface="Cambria Math"/>
              </a:rPr>
              <a:t>7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2454704" y="2249691"/>
            <a:ext cx="333069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312141" y="2249691"/>
            <a:ext cx="247325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0</a:t>
            </a:r>
            <a:r>
              <a:rPr sz="797" b="0">
                <a:solidFill>
                  <a:srgbClr val="000000"/>
                </a:solidFill>
                <a:latin typeface="Cambria Math"/>
              </a:rPr>
              <a:t>.</a:t>
            </a:r>
            <a:r>
              <a:rPr sz="797" b="0">
                <a:solidFill>
                  <a:srgbClr val="000000"/>
                </a:solidFill>
                <a:latin typeface="Cambria Math"/>
              </a:rPr>
              <a:t>7708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863075" y="2420493"/>
            <a:ext cx="392232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v</a:t>
            </a:r>
            <a:r>
              <a:rPr sz="597" b="0">
                <a:solidFill>
                  <a:srgbClr val="000000"/>
                </a:solidFill>
                <a:latin typeface="Cambria Math"/>
              </a:rPr>
              <a:t>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2332226" y="2420493"/>
            <a:ext cx="345317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0</a:t>
            </a:r>
            <a:r>
              <a:rPr sz="797" b="0">
                <a:solidFill>
                  <a:srgbClr val="000000"/>
                </a:solidFill>
                <a:latin typeface="Cambria Math"/>
              </a:rPr>
              <a:t>.</a:t>
            </a:r>
            <a:r>
              <a:rPr sz="797" b="0">
                <a:solidFill>
                  <a:srgbClr val="000000"/>
                </a:solidFill>
                <a:latin typeface="Cambria Math"/>
              </a:rPr>
              <a:t>0903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312132" y="2420493"/>
            <a:ext cx="247326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0</a:t>
            </a:r>
            <a:r>
              <a:rPr sz="797" b="0">
                <a:solidFill>
                  <a:srgbClr val="000000"/>
                </a:solidFill>
                <a:latin typeface="Cambria Math"/>
              </a:rPr>
              <a:t>.</a:t>
            </a:r>
            <a:r>
              <a:rPr sz="797" b="0">
                <a:solidFill>
                  <a:srgbClr val="000000"/>
                </a:solidFill>
                <a:latin typeface="Cambria Math"/>
              </a:rPr>
              <a:t>8611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863075" y="2591308"/>
            <a:ext cx="392232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v</a:t>
            </a:r>
            <a:r>
              <a:rPr sz="597" b="0">
                <a:solidFill>
                  <a:srgbClr val="000000"/>
                </a:solidFill>
                <a:latin typeface="Cambria Math"/>
              </a:rPr>
              <a:t>9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332226" y="2591308"/>
            <a:ext cx="345317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0</a:t>
            </a:r>
            <a:r>
              <a:rPr sz="797" b="0">
                <a:solidFill>
                  <a:srgbClr val="000000"/>
                </a:solidFill>
                <a:latin typeface="Cambria Math"/>
              </a:rPr>
              <a:t>.</a:t>
            </a:r>
            <a:r>
              <a:rPr sz="797" b="0">
                <a:solidFill>
                  <a:srgbClr val="000000"/>
                </a:solidFill>
                <a:latin typeface="Cambria Math"/>
              </a:rPr>
              <a:t>0903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311971" y="2591308"/>
            <a:ext cx="247342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0</a:t>
            </a:r>
            <a:r>
              <a:rPr sz="797" b="0">
                <a:solidFill>
                  <a:srgbClr val="000000"/>
                </a:solidFill>
                <a:latin typeface="Cambria Math"/>
              </a:rPr>
              <a:t>.</a:t>
            </a:r>
            <a:r>
              <a:rPr sz="797" b="0">
                <a:solidFill>
                  <a:srgbClr val="000000"/>
                </a:solidFill>
                <a:latin typeface="Cambria Math"/>
              </a:rPr>
              <a:t>9514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839885" y="2762123"/>
            <a:ext cx="394551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v</a:t>
            </a:r>
            <a:r>
              <a:rPr sz="597" b="0">
                <a:solidFill>
                  <a:srgbClr val="000000"/>
                </a:solidFill>
                <a:latin typeface="Cambria Math"/>
              </a:rPr>
              <a:t>10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2332226" y="2762123"/>
            <a:ext cx="345317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0</a:t>
            </a:r>
            <a:r>
              <a:rPr sz="797" b="0">
                <a:solidFill>
                  <a:srgbClr val="000000"/>
                </a:solidFill>
                <a:latin typeface="Cambria Math"/>
              </a:rPr>
              <a:t>.</a:t>
            </a:r>
            <a:r>
              <a:rPr sz="797" b="0">
                <a:solidFill>
                  <a:srgbClr val="000000"/>
                </a:solidFill>
                <a:latin typeface="Cambria Math"/>
              </a:rPr>
              <a:t>0486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392802" y="2762123"/>
            <a:ext cx="239259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  <a:r>
              <a:rPr sz="797" b="0">
                <a:solidFill>
                  <a:srgbClr val="000000"/>
                </a:solidFill>
                <a:latin typeface="Cambria Math"/>
              </a:rPr>
              <a:t>.</a:t>
            </a:r>
            <a:r>
              <a:rPr sz="797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898768" y="3150916"/>
            <a:ext cx="88662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638531" y="3150692"/>
            <a:ext cx="14686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61</a:t>
            </a:r>
          </a:p>
        </p:txBody>
      </p:sp>
    </p:spTree>
  </p:cSld>
  <p:clrMapOvr>
    <a:masterClrMapping/>
  </p:clrMapOvr>
</p:sld>
</file>

<file path=ppt/slides/slide1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Freeform 35"/>
          <p:cNvSpPr/>
          <p:nvPr/>
        </p:nvSpPr>
        <p:spPr>
          <a:xfrm>
            <a:off x="1562100" y="1447800"/>
            <a:ext cx="355600" cy="292100"/>
          </a:xfrm>
          <a:custGeom>
            <a:avLst/>
            <a:gdLst/>
            <a:ahLst/>
            <a:cxnLst/>
            <a:rect l="l" t="t" r="r" b="b"/>
            <a:pathLst>
              <a:path w="28" h="23">
                <a:moveTo>
                  <a:pt x="0" y="23"/>
                </a:moveTo>
                <a:lnTo>
                  <a:pt x="28" y="23"/>
                </a:lnTo>
                <a:lnTo>
                  <a:pt x="28" y="20"/>
                </a:lnTo>
                <a:lnTo>
                  <a:pt x="28" y="16"/>
                </a:lnTo>
                <a:lnTo>
                  <a:pt x="27" y="13"/>
                </a:lnTo>
                <a:lnTo>
                  <a:pt x="25" y="10"/>
                </a:lnTo>
                <a:lnTo>
                  <a:pt x="24" y="7"/>
                </a:lnTo>
                <a:lnTo>
                  <a:pt x="21" y="5"/>
                </a:lnTo>
                <a:lnTo>
                  <a:pt x="19" y="2"/>
                </a:lnTo>
                <a:lnTo>
                  <a:pt x="16" y="0"/>
                </a:lnTo>
                <a:close/>
              </a:path>
            </a:pathLst>
          </a:custGeom>
          <a:solidFill>
            <a:srgbClr val="A6CEE3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7" name="Connector 36"/>
          <p:cNvCxnSpPr/>
          <p:nvPr/>
        </p:nvCxnSpPr>
        <p:spPr>
          <a:xfrm flipV="1">
            <a:off x="1770177" y="1241406"/>
            <a:ext cx="144543" cy="20642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Freeform 37"/>
          <p:cNvSpPr/>
          <p:nvPr/>
        </p:nvSpPr>
        <p:spPr>
          <a:xfrm>
            <a:off x="1397000" y="1384300"/>
            <a:ext cx="368300" cy="355600"/>
          </a:xfrm>
          <a:custGeom>
            <a:avLst/>
            <a:gdLst/>
            <a:ahLst/>
            <a:cxnLst/>
            <a:rect l="l" t="t" r="r" b="b"/>
            <a:pathLst>
              <a:path w="29" h="28">
                <a:moveTo>
                  <a:pt x="13" y="28"/>
                </a:moveTo>
                <a:lnTo>
                  <a:pt x="29" y="5"/>
                </a:lnTo>
                <a:lnTo>
                  <a:pt x="26" y="3"/>
                </a:lnTo>
                <a:lnTo>
                  <a:pt x="22" y="1"/>
                </a:lnTo>
                <a:lnTo>
                  <a:pt x="19" y="0"/>
                </a:lnTo>
                <a:lnTo>
                  <a:pt x="15" y="0"/>
                </a:lnTo>
                <a:lnTo>
                  <a:pt x="11" y="0"/>
                </a:lnTo>
                <a:lnTo>
                  <a:pt x="7" y="0"/>
                </a:lnTo>
                <a:lnTo>
                  <a:pt x="4" y="2"/>
                </a:lnTo>
                <a:lnTo>
                  <a:pt x="0" y="3"/>
                </a:lnTo>
                <a:close/>
              </a:path>
            </a:pathLst>
          </a:custGeom>
          <a:solidFill>
            <a:srgbClr val="1F78B4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9" name="Connector 38"/>
          <p:cNvCxnSpPr/>
          <p:nvPr/>
        </p:nvCxnSpPr>
        <p:spPr>
          <a:xfrm flipH="1" flipV="1">
            <a:off x="1281114" y="1199906"/>
            <a:ext cx="116353" cy="223516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H="1" flipV="1">
            <a:off x="1281114" y="1199906"/>
            <a:ext cx="116353" cy="223516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1314358" y="1263767"/>
            <a:ext cx="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Freeform 41"/>
          <p:cNvSpPr/>
          <p:nvPr/>
        </p:nvSpPr>
        <p:spPr>
          <a:xfrm>
            <a:off x="1219200" y="1422400"/>
            <a:ext cx="342900" cy="317500"/>
          </a:xfrm>
          <a:custGeom>
            <a:avLst/>
            <a:gdLst/>
            <a:ahLst/>
            <a:cxnLst/>
            <a:rect l="l" t="t" r="r" b="b"/>
            <a:pathLst>
              <a:path w="27" h="25">
                <a:moveTo>
                  <a:pt x="27" y="25"/>
                </a:moveTo>
                <a:lnTo>
                  <a:pt x="14" y="0"/>
                </a:lnTo>
                <a:lnTo>
                  <a:pt x="12" y="1"/>
                </a:lnTo>
                <a:lnTo>
                  <a:pt x="9" y="3"/>
                </a:lnTo>
                <a:lnTo>
                  <a:pt x="7" y="5"/>
                </a:lnTo>
                <a:lnTo>
                  <a:pt x="5" y="7"/>
                </a:lnTo>
                <a:lnTo>
                  <a:pt x="4" y="9"/>
                </a:lnTo>
                <a:lnTo>
                  <a:pt x="2" y="12"/>
                </a:lnTo>
                <a:lnTo>
                  <a:pt x="1" y="14"/>
                </a:lnTo>
                <a:lnTo>
                  <a:pt x="0" y="17"/>
                </a:lnTo>
                <a:close/>
              </a:path>
            </a:pathLst>
          </a:custGeom>
          <a:solidFill>
            <a:srgbClr val="33A02C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3" name="Connector 42"/>
          <p:cNvCxnSpPr/>
          <p:nvPr/>
        </p:nvCxnSpPr>
        <p:spPr>
          <a:xfrm flipH="1" flipV="1">
            <a:off x="980032" y="1558709"/>
            <a:ext cx="240328" cy="7577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Freeform 43"/>
          <p:cNvSpPr/>
          <p:nvPr/>
        </p:nvSpPr>
        <p:spPr>
          <a:xfrm>
            <a:off x="1206500" y="1638300"/>
            <a:ext cx="355600" cy="266700"/>
          </a:xfrm>
          <a:custGeom>
            <a:avLst/>
            <a:gdLst/>
            <a:ahLst/>
            <a:cxnLst/>
            <a:rect l="l" t="t" r="r" b="b"/>
            <a:pathLst>
              <a:path w="28" h="21">
                <a:moveTo>
                  <a:pt x="28" y="8"/>
                </a:moveTo>
                <a:lnTo>
                  <a:pt x="1" y="0"/>
                </a:lnTo>
                <a:lnTo>
                  <a:pt x="0" y="2"/>
                </a:lnTo>
                <a:lnTo>
                  <a:pt x="0" y="5"/>
                </a:lnTo>
                <a:lnTo>
                  <a:pt x="0" y="8"/>
                </a:lnTo>
                <a:lnTo>
                  <a:pt x="0" y="11"/>
                </a:lnTo>
                <a:lnTo>
                  <a:pt x="0" y="13"/>
                </a:lnTo>
                <a:lnTo>
                  <a:pt x="1" y="16"/>
                </a:lnTo>
                <a:lnTo>
                  <a:pt x="2" y="19"/>
                </a:lnTo>
                <a:lnTo>
                  <a:pt x="3" y="21"/>
                </a:lnTo>
                <a:close/>
              </a:path>
            </a:pathLst>
          </a:custGeom>
          <a:solidFill>
            <a:srgbClr val="FB9A99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5" name="Connector 44"/>
          <p:cNvCxnSpPr/>
          <p:nvPr/>
        </p:nvCxnSpPr>
        <p:spPr>
          <a:xfrm flipH="1">
            <a:off x="1020860" y="1908952"/>
            <a:ext cx="223516" cy="11635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Freeform 45"/>
          <p:cNvSpPr/>
          <p:nvPr/>
        </p:nvSpPr>
        <p:spPr>
          <a:xfrm>
            <a:off x="1244600" y="1739900"/>
            <a:ext cx="368300" cy="368300"/>
          </a:xfrm>
          <a:custGeom>
            <a:avLst/>
            <a:gdLst/>
            <a:ahLst/>
            <a:cxnLst/>
            <a:rect l="l" t="t" r="r" b="b"/>
            <a:pathLst>
              <a:path w="29" h="29">
                <a:moveTo>
                  <a:pt x="25" y="0"/>
                </a:moveTo>
                <a:lnTo>
                  <a:pt x="0" y="13"/>
                </a:lnTo>
                <a:lnTo>
                  <a:pt x="2" y="17"/>
                </a:lnTo>
                <a:lnTo>
                  <a:pt x="5" y="20"/>
                </a:lnTo>
                <a:lnTo>
                  <a:pt x="8" y="23"/>
                </a:lnTo>
                <a:lnTo>
                  <a:pt x="12" y="25"/>
                </a:lnTo>
                <a:lnTo>
                  <a:pt x="16" y="27"/>
                </a:lnTo>
                <a:lnTo>
                  <a:pt x="20" y="28"/>
                </a:lnTo>
                <a:lnTo>
                  <a:pt x="24" y="29"/>
                </a:lnTo>
                <a:lnTo>
                  <a:pt x="29" y="28"/>
                </a:lnTo>
                <a:close/>
              </a:path>
            </a:pathLst>
          </a:custGeom>
          <a:solidFill>
            <a:srgbClr val="E31A1C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7" name="Connector 46"/>
          <p:cNvCxnSpPr/>
          <p:nvPr/>
        </p:nvCxnSpPr>
        <p:spPr>
          <a:xfrm>
            <a:off x="1610670" y="2099644"/>
            <a:ext cx="32889" cy="249837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1610670" y="2099644"/>
            <a:ext cx="32889" cy="249837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1634162" y="2278100"/>
            <a:ext cx="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Freeform 49"/>
          <p:cNvSpPr/>
          <p:nvPr/>
        </p:nvSpPr>
        <p:spPr>
          <a:xfrm>
            <a:off x="1562100" y="1739900"/>
            <a:ext cx="228600" cy="355600"/>
          </a:xfrm>
          <a:custGeom>
            <a:avLst/>
            <a:gdLst/>
            <a:ahLst/>
            <a:cxnLst/>
            <a:rect l="l" t="t" r="r" b="b"/>
            <a:pathLst>
              <a:path w="18" h="28">
                <a:moveTo>
                  <a:pt x="0" y="0"/>
                </a:moveTo>
                <a:lnTo>
                  <a:pt x="4" y="28"/>
                </a:lnTo>
                <a:lnTo>
                  <a:pt x="6" y="28"/>
                </a:lnTo>
                <a:lnTo>
                  <a:pt x="8" y="28"/>
                </a:lnTo>
                <a:lnTo>
                  <a:pt x="10" y="27"/>
                </a:lnTo>
                <a:lnTo>
                  <a:pt x="12" y="26"/>
                </a:lnTo>
                <a:lnTo>
                  <a:pt x="13" y="25"/>
                </a:lnTo>
                <a:lnTo>
                  <a:pt x="15" y="24"/>
                </a:lnTo>
                <a:lnTo>
                  <a:pt x="17" y="23"/>
                </a:lnTo>
                <a:lnTo>
                  <a:pt x="18" y="22"/>
                </a:lnTo>
                <a:close/>
              </a:path>
            </a:pathLst>
          </a:custGeom>
          <a:solidFill>
            <a:srgbClr val="FF7F00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1" name="Connector 50"/>
          <p:cNvCxnSpPr/>
          <p:nvPr/>
        </p:nvCxnSpPr>
        <p:spPr>
          <a:xfrm>
            <a:off x="1795095" y="2018509"/>
            <a:ext cx="161984" cy="19304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Freeform 51"/>
          <p:cNvSpPr/>
          <p:nvPr/>
        </p:nvSpPr>
        <p:spPr>
          <a:xfrm>
            <a:off x="1562100" y="1739900"/>
            <a:ext cx="342900" cy="279400"/>
          </a:xfrm>
          <a:custGeom>
            <a:avLst/>
            <a:gdLst/>
            <a:ahLst/>
            <a:cxnLst/>
            <a:rect l="l" t="t" r="r" b="b"/>
            <a:pathLst>
              <a:path w="27" h="22">
                <a:moveTo>
                  <a:pt x="0" y="0"/>
                </a:moveTo>
                <a:lnTo>
                  <a:pt x="18" y="22"/>
                </a:lnTo>
                <a:lnTo>
                  <a:pt x="20" y="21"/>
                </a:lnTo>
                <a:lnTo>
                  <a:pt x="21" y="19"/>
                </a:lnTo>
                <a:lnTo>
                  <a:pt x="23" y="18"/>
                </a:lnTo>
                <a:lnTo>
                  <a:pt x="24" y="16"/>
                </a:lnTo>
                <a:lnTo>
                  <a:pt x="25" y="14"/>
                </a:lnTo>
                <a:lnTo>
                  <a:pt x="26" y="12"/>
                </a:lnTo>
                <a:lnTo>
                  <a:pt x="26" y="11"/>
                </a:lnTo>
                <a:lnTo>
                  <a:pt x="27" y="9"/>
                </a:lnTo>
                <a:close/>
              </a:path>
            </a:pathLst>
          </a:custGeom>
          <a:solidFill>
            <a:srgbClr val="CAB2D6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3" name="Connector 52"/>
          <p:cNvCxnSpPr/>
          <p:nvPr/>
        </p:nvCxnSpPr>
        <p:spPr>
          <a:xfrm>
            <a:off x="1907014" y="1850982"/>
            <a:ext cx="240328" cy="75775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Freeform 53"/>
          <p:cNvSpPr/>
          <p:nvPr/>
        </p:nvSpPr>
        <p:spPr>
          <a:xfrm>
            <a:off x="1562100" y="1739900"/>
            <a:ext cx="355600" cy="114300"/>
          </a:xfrm>
          <a:custGeom>
            <a:avLst/>
            <a:gdLst/>
            <a:ahLst/>
            <a:cxnLst/>
            <a:rect l="l" t="t" r="r" b="b"/>
            <a:pathLst>
              <a:path w="28" h="9">
                <a:moveTo>
                  <a:pt x="0" y="0"/>
                </a:moveTo>
                <a:lnTo>
                  <a:pt x="27" y="9"/>
                </a:lnTo>
                <a:lnTo>
                  <a:pt x="27" y="8"/>
                </a:lnTo>
                <a:lnTo>
                  <a:pt x="28" y="7"/>
                </a:lnTo>
                <a:lnTo>
                  <a:pt x="28" y="6"/>
                </a:lnTo>
                <a:lnTo>
                  <a:pt x="28" y="5"/>
                </a:lnTo>
                <a:lnTo>
                  <a:pt x="28" y="3"/>
                </a:lnTo>
                <a:lnTo>
                  <a:pt x="28" y="2"/>
                </a:lnTo>
                <a:lnTo>
                  <a:pt x="28" y="1"/>
                </a:lnTo>
                <a:lnTo>
                  <a:pt x="28" y="0"/>
                </a:lnTo>
                <a:close/>
              </a:path>
            </a:pathLst>
          </a:custGeom>
          <a:solidFill>
            <a:srgbClr val="6A3D9A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5" name="Connector 54"/>
          <p:cNvCxnSpPr/>
          <p:nvPr/>
        </p:nvCxnSpPr>
        <p:spPr>
          <a:xfrm>
            <a:off x="1923691" y="1742733"/>
            <a:ext cx="252002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Rectangle 55"/>
          <p:cNvSpPr/>
          <p:nvPr/>
        </p:nvSpPr>
        <p:spPr>
          <a:xfrm>
            <a:off x="-6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2879997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8" name="Picture 5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59" name="Picture 5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60" name="TextBox 5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Example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1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59993" y="885308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Roulette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wheel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all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individuals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842693" y="1104590"/>
            <a:ext cx="394270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0.1528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979015" y="1404572"/>
            <a:ext cx="380638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86853" y="1055758"/>
            <a:ext cx="469854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0.3264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535366" y="1115076"/>
            <a:ext cx="425002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250734" y="1174931"/>
            <a:ext cx="453466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86345" y="1477881"/>
            <a:ext cx="499905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0.45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86396" y="1306782"/>
            <a:ext cx="469900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4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82396" y="2026813"/>
            <a:ext cx="500299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0.5764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62113" y="1700965"/>
            <a:ext cx="482328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5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512442" y="2408194"/>
            <a:ext cx="427295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0.7708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250734" y="2132854"/>
            <a:ext cx="453466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570532" y="2189254"/>
            <a:ext cx="421486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7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902142" y="2245926"/>
            <a:ext cx="388325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0.8611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717522" y="2148145"/>
            <a:ext cx="406787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8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115045" y="1910875"/>
            <a:ext cx="367035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0.9514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949030" y="1953885"/>
            <a:ext cx="383636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9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267737" y="1694860"/>
            <a:ext cx="351765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006854" y="1736042"/>
            <a:ext cx="377854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898764" y="3150918"/>
            <a:ext cx="88663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623947" y="3150694"/>
            <a:ext cx="16144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62</a:t>
            </a:r>
          </a:p>
        </p:txBody>
      </p:sp>
    </p:spTree>
  </p:cSld>
  <p:clrMapOvr>
    <a:masterClrMapping/>
  </p:clrMapOvr>
</p:sld>
</file>

<file path=ppt/slides/slide1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Freeform 35"/>
          <p:cNvSpPr/>
          <p:nvPr/>
        </p:nvSpPr>
        <p:spPr>
          <a:xfrm>
            <a:off x="1562100" y="1447800"/>
            <a:ext cx="355600" cy="292100"/>
          </a:xfrm>
          <a:custGeom>
            <a:avLst/>
            <a:gdLst/>
            <a:ahLst/>
            <a:cxnLst/>
            <a:rect l="l" t="t" r="r" b="b"/>
            <a:pathLst>
              <a:path w="28" h="23">
                <a:moveTo>
                  <a:pt x="0" y="23"/>
                </a:moveTo>
                <a:lnTo>
                  <a:pt x="28" y="23"/>
                </a:lnTo>
                <a:lnTo>
                  <a:pt x="28" y="20"/>
                </a:lnTo>
                <a:lnTo>
                  <a:pt x="28" y="16"/>
                </a:lnTo>
                <a:lnTo>
                  <a:pt x="27" y="13"/>
                </a:lnTo>
                <a:lnTo>
                  <a:pt x="25" y="10"/>
                </a:lnTo>
                <a:lnTo>
                  <a:pt x="24" y="7"/>
                </a:lnTo>
                <a:lnTo>
                  <a:pt x="21" y="5"/>
                </a:lnTo>
                <a:lnTo>
                  <a:pt x="19" y="2"/>
                </a:lnTo>
                <a:lnTo>
                  <a:pt x="16" y="0"/>
                </a:lnTo>
                <a:close/>
              </a:path>
            </a:pathLst>
          </a:custGeom>
          <a:solidFill>
            <a:srgbClr val="A6CEE3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7" name="Connector 36"/>
          <p:cNvCxnSpPr/>
          <p:nvPr/>
        </p:nvCxnSpPr>
        <p:spPr>
          <a:xfrm flipV="1">
            <a:off x="1770177" y="1241406"/>
            <a:ext cx="144543" cy="20642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Freeform 37"/>
          <p:cNvSpPr/>
          <p:nvPr/>
        </p:nvSpPr>
        <p:spPr>
          <a:xfrm>
            <a:off x="1397000" y="1384300"/>
            <a:ext cx="368300" cy="355600"/>
          </a:xfrm>
          <a:custGeom>
            <a:avLst/>
            <a:gdLst/>
            <a:ahLst/>
            <a:cxnLst/>
            <a:rect l="l" t="t" r="r" b="b"/>
            <a:pathLst>
              <a:path w="29" h="28">
                <a:moveTo>
                  <a:pt x="13" y="28"/>
                </a:moveTo>
                <a:lnTo>
                  <a:pt x="29" y="5"/>
                </a:lnTo>
                <a:lnTo>
                  <a:pt x="26" y="3"/>
                </a:lnTo>
                <a:lnTo>
                  <a:pt x="22" y="1"/>
                </a:lnTo>
                <a:lnTo>
                  <a:pt x="19" y="0"/>
                </a:lnTo>
                <a:lnTo>
                  <a:pt x="15" y="0"/>
                </a:lnTo>
                <a:lnTo>
                  <a:pt x="11" y="0"/>
                </a:lnTo>
                <a:lnTo>
                  <a:pt x="7" y="0"/>
                </a:lnTo>
                <a:lnTo>
                  <a:pt x="4" y="2"/>
                </a:lnTo>
                <a:lnTo>
                  <a:pt x="0" y="3"/>
                </a:lnTo>
                <a:close/>
              </a:path>
            </a:pathLst>
          </a:custGeom>
          <a:solidFill>
            <a:srgbClr val="1F78B4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9" name="Connector 38"/>
          <p:cNvCxnSpPr/>
          <p:nvPr/>
        </p:nvCxnSpPr>
        <p:spPr>
          <a:xfrm flipH="1" flipV="1">
            <a:off x="1281114" y="1199906"/>
            <a:ext cx="116353" cy="223516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H="1" flipV="1">
            <a:off x="1281114" y="1199906"/>
            <a:ext cx="116353" cy="223516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1314358" y="1263767"/>
            <a:ext cx="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Freeform 41"/>
          <p:cNvSpPr/>
          <p:nvPr/>
        </p:nvSpPr>
        <p:spPr>
          <a:xfrm>
            <a:off x="1219200" y="1422400"/>
            <a:ext cx="342900" cy="317500"/>
          </a:xfrm>
          <a:custGeom>
            <a:avLst/>
            <a:gdLst/>
            <a:ahLst/>
            <a:cxnLst/>
            <a:rect l="l" t="t" r="r" b="b"/>
            <a:pathLst>
              <a:path w="27" h="25">
                <a:moveTo>
                  <a:pt x="27" y="25"/>
                </a:moveTo>
                <a:lnTo>
                  <a:pt x="14" y="0"/>
                </a:lnTo>
                <a:lnTo>
                  <a:pt x="12" y="1"/>
                </a:lnTo>
                <a:lnTo>
                  <a:pt x="9" y="3"/>
                </a:lnTo>
                <a:lnTo>
                  <a:pt x="7" y="5"/>
                </a:lnTo>
                <a:lnTo>
                  <a:pt x="5" y="7"/>
                </a:lnTo>
                <a:lnTo>
                  <a:pt x="4" y="9"/>
                </a:lnTo>
                <a:lnTo>
                  <a:pt x="2" y="12"/>
                </a:lnTo>
                <a:lnTo>
                  <a:pt x="1" y="14"/>
                </a:lnTo>
                <a:lnTo>
                  <a:pt x="0" y="17"/>
                </a:lnTo>
                <a:close/>
              </a:path>
            </a:pathLst>
          </a:custGeom>
          <a:solidFill>
            <a:srgbClr val="33A02C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3" name="Connector 42"/>
          <p:cNvCxnSpPr/>
          <p:nvPr/>
        </p:nvCxnSpPr>
        <p:spPr>
          <a:xfrm flipH="1" flipV="1">
            <a:off x="980032" y="1558709"/>
            <a:ext cx="240328" cy="7577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Freeform 43"/>
          <p:cNvSpPr/>
          <p:nvPr/>
        </p:nvSpPr>
        <p:spPr>
          <a:xfrm>
            <a:off x="1206500" y="1638300"/>
            <a:ext cx="355600" cy="266700"/>
          </a:xfrm>
          <a:custGeom>
            <a:avLst/>
            <a:gdLst/>
            <a:ahLst/>
            <a:cxnLst/>
            <a:rect l="l" t="t" r="r" b="b"/>
            <a:pathLst>
              <a:path w="28" h="21">
                <a:moveTo>
                  <a:pt x="28" y="8"/>
                </a:moveTo>
                <a:lnTo>
                  <a:pt x="1" y="0"/>
                </a:lnTo>
                <a:lnTo>
                  <a:pt x="0" y="2"/>
                </a:lnTo>
                <a:lnTo>
                  <a:pt x="0" y="5"/>
                </a:lnTo>
                <a:lnTo>
                  <a:pt x="0" y="8"/>
                </a:lnTo>
                <a:lnTo>
                  <a:pt x="0" y="11"/>
                </a:lnTo>
                <a:lnTo>
                  <a:pt x="0" y="13"/>
                </a:lnTo>
                <a:lnTo>
                  <a:pt x="1" y="16"/>
                </a:lnTo>
                <a:lnTo>
                  <a:pt x="2" y="19"/>
                </a:lnTo>
                <a:lnTo>
                  <a:pt x="3" y="21"/>
                </a:lnTo>
                <a:close/>
              </a:path>
            </a:pathLst>
          </a:custGeom>
          <a:solidFill>
            <a:srgbClr val="FB9A99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5" name="Connector 44"/>
          <p:cNvCxnSpPr/>
          <p:nvPr/>
        </p:nvCxnSpPr>
        <p:spPr>
          <a:xfrm flipH="1">
            <a:off x="1020860" y="1908952"/>
            <a:ext cx="223516" cy="11635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Freeform 45"/>
          <p:cNvSpPr/>
          <p:nvPr/>
        </p:nvSpPr>
        <p:spPr>
          <a:xfrm>
            <a:off x="1244600" y="1739900"/>
            <a:ext cx="368300" cy="368300"/>
          </a:xfrm>
          <a:custGeom>
            <a:avLst/>
            <a:gdLst/>
            <a:ahLst/>
            <a:cxnLst/>
            <a:rect l="l" t="t" r="r" b="b"/>
            <a:pathLst>
              <a:path w="29" h="29">
                <a:moveTo>
                  <a:pt x="25" y="0"/>
                </a:moveTo>
                <a:lnTo>
                  <a:pt x="0" y="13"/>
                </a:lnTo>
                <a:lnTo>
                  <a:pt x="2" y="17"/>
                </a:lnTo>
                <a:lnTo>
                  <a:pt x="5" y="20"/>
                </a:lnTo>
                <a:lnTo>
                  <a:pt x="8" y="23"/>
                </a:lnTo>
                <a:lnTo>
                  <a:pt x="12" y="25"/>
                </a:lnTo>
                <a:lnTo>
                  <a:pt x="16" y="27"/>
                </a:lnTo>
                <a:lnTo>
                  <a:pt x="20" y="28"/>
                </a:lnTo>
                <a:lnTo>
                  <a:pt x="24" y="29"/>
                </a:lnTo>
                <a:lnTo>
                  <a:pt x="29" y="28"/>
                </a:lnTo>
                <a:close/>
              </a:path>
            </a:pathLst>
          </a:custGeom>
          <a:solidFill>
            <a:srgbClr val="E31A1C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7" name="Connector 46"/>
          <p:cNvCxnSpPr/>
          <p:nvPr/>
        </p:nvCxnSpPr>
        <p:spPr>
          <a:xfrm>
            <a:off x="1610670" y="2099644"/>
            <a:ext cx="32889" cy="249837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1610670" y="2099644"/>
            <a:ext cx="32889" cy="249837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1634162" y="2278100"/>
            <a:ext cx="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Freeform 49"/>
          <p:cNvSpPr/>
          <p:nvPr/>
        </p:nvSpPr>
        <p:spPr>
          <a:xfrm>
            <a:off x="1562100" y="1739900"/>
            <a:ext cx="228600" cy="355600"/>
          </a:xfrm>
          <a:custGeom>
            <a:avLst/>
            <a:gdLst/>
            <a:ahLst/>
            <a:cxnLst/>
            <a:rect l="l" t="t" r="r" b="b"/>
            <a:pathLst>
              <a:path w="18" h="28">
                <a:moveTo>
                  <a:pt x="0" y="0"/>
                </a:moveTo>
                <a:lnTo>
                  <a:pt x="4" y="28"/>
                </a:lnTo>
                <a:lnTo>
                  <a:pt x="6" y="28"/>
                </a:lnTo>
                <a:lnTo>
                  <a:pt x="8" y="28"/>
                </a:lnTo>
                <a:lnTo>
                  <a:pt x="10" y="27"/>
                </a:lnTo>
                <a:lnTo>
                  <a:pt x="12" y="26"/>
                </a:lnTo>
                <a:lnTo>
                  <a:pt x="13" y="25"/>
                </a:lnTo>
                <a:lnTo>
                  <a:pt x="15" y="24"/>
                </a:lnTo>
                <a:lnTo>
                  <a:pt x="17" y="23"/>
                </a:lnTo>
                <a:lnTo>
                  <a:pt x="18" y="22"/>
                </a:lnTo>
                <a:close/>
              </a:path>
            </a:pathLst>
          </a:custGeom>
          <a:solidFill>
            <a:srgbClr val="FF7F00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1" name="Connector 50"/>
          <p:cNvCxnSpPr/>
          <p:nvPr/>
        </p:nvCxnSpPr>
        <p:spPr>
          <a:xfrm>
            <a:off x="1795095" y="2018509"/>
            <a:ext cx="161984" cy="19304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Freeform 51"/>
          <p:cNvSpPr/>
          <p:nvPr/>
        </p:nvSpPr>
        <p:spPr>
          <a:xfrm>
            <a:off x="1562100" y="1739900"/>
            <a:ext cx="342900" cy="279400"/>
          </a:xfrm>
          <a:custGeom>
            <a:avLst/>
            <a:gdLst/>
            <a:ahLst/>
            <a:cxnLst/>
            <a:rect l="l" t="t" r="r" b="b"/>
            <a:pathLst>
              <a:path w="27" h="22">
                <a:moveTo>
                  <a:pt x="0" y="0"/>
                </a:moveTo>
                <a:lnTo>
                  <a:pt x="18" y="22"/>
                </a:lnTo>
                <a:lnTo>
                  <a:pt x="20" y="21"/>
                </a:lnTo>
                <a:lnTo>
                  <a:pt x="21" y="19"/>
                </a:lnTo>
                <a:lnTo>
                  <a:pt x="23" y="18"/>
                </a:lnTo>
                <a:lnTo>
                  <a:pt x="24" y="16"/>
                </a:lnTo>
                <a:lnTo>
                  <a:pt x="25" y="14"/>
                </a:lnTo>
                <a:lnTo>
                  <a:pt x="26" y="12"/>
                </a:lnTo>
                <a:lnTo>
                  <a:pt x="26" y="11"/>
                </a:lnTo>
                <a:lnTo>
                  <a:pt x="27" y="9"/>
                </a:lnTo>
                <a:close/>
              </a:path>
            </a:pathLst>
          </a:custGeom>
          <a:solidFill>
            <a:srgbClr val="CAB2D6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3" name="Connector 52"/>
          <p:cNvCxnSpPr/>
          <p:nvPr/>
        </p:nvCxnSpPr>
        <p:spPr>
          <a:xfrm>
            <a:off x="1907014" y="1850982"/>
            <a:ext cx="240328" cy="75775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Freeform 53"/>
          <p:cNvSpPr/>
          <p:nvPr/>
        </p:nvSpPr>
        <p:spPr>
          <a:xfrm>
            <a:off x="1562100" y="1739900"/>
            <a:ext cx="355600" cy="114300"/>
          </a:xfrm>
          <a:custGeom>
            <a:avLst/>
            <a:gdLst/>
            <a:ahLst/>
            <a:cxnLst/>
            <a:rect l="l" t="t" r="r" b="b"/>
            <a:pathLst>
              <a:path w="28" h="9">
                <a:moveTo>
                  <a:pt x="0" y="0"/>
                </a:moveTo>
                <a:lnTo>
                  <a:pt x="27" y="9"/>
                </a:lnTo>
                <a:lnTo>
                  <a:pt x="27" y="8"/>
                </a:lnTo>
                <a:lnTo>
                  <a:pt x="28" y="7"/>
                </a:lnTo>
                <a:lnTo>
                  <a:pt x="28" y="6"/>
                </a:lnTo>
                <a:lnTo>
                  <a:pt x="28" y="5"/>
                </a:lnTo>
                <a:lnTo>
                  <a:pt x="28" y="3"/>
                </a:lnTo>
                <a:lnTo>
                  <a:pt x="28" y="2"/>
                </a:lnTo>
                <a:lnTo>
                  <a:pt x="28" y="1"/>
                </a:lnTo>
                <a:lnTo>
                  <a:pt x="28" y="0"/>
                </a:lnTo>
                <a:close/>
              </a:path>
            </a:pathLst>
          </a:custGeom>
          <a:solidFill>
            <a:srgbClr val="6A3D9A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5" name="Connector 54"/>
          <p:cNvCxnSpPr/>
          <p:nvPr/>
        </p:nvCxnSpPr>
        <p:spPr>
          <a:xfrm>
            <a:off x="1923691" y="1742733"/>
            <a:ext cx="252002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Rectangle 55"/>
          <p:cNvSpPr/>
          <p:nvPr/>
        </p:nvSpPr>
        <p:spPr>
          <a:xfrm>
            <a:off x="-6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2879997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8" name="Picture 5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59" name="Picture 5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60" name="TextBox 5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Example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1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59993" y="885308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Roulette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wheel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all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individuals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842693" y="1104590"/>
            <a:ext cx="394270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0.1528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979015" y="1404572"/>
            <a:ext cx="380638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86853" y="1055758"/>
            <a:ext cx="469854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0.3264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535366" y="1115076"/>
            <a:ext cx="425002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250734" y="1174931"/>
            <a:ext cx="453466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86345" y="1477881"/>
            <a:ext cx="499905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0.45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86396" y="1306782"/>
            <a:ext cx="469900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4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82396" y="2026813"/>
            <a:ext cx="500299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0.5764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62113" y="1700965"/>
            <a:ext cx="482328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5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512442" y="2408194"/>
            <a:ext cx="427295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0.7708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250734" y="2132854"/>
            <a:ext cx="453466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570532" y="2189254"/>
            <a:ext cx="421486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7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902142" y="2245926"/>
            <a:ext cx="388325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0.8611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717522" y="2148145"/>
            <a:ext cx="406787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8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115045" y="1910875"/>
            <a:ext cx="367035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0.9514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949030" y="1953885"/>
            <a:ext cx="383636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9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267737" y="1694860"/>
            <a:ext cx="351765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006854" y="1736042"/>
            <a:ext cx="377854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168013" y="1249012"/>
            <a:ext cx="261738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simulate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selecting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individual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168013" y="1421084"/>
            <a:ext cx="261738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by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turning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roulette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wheel,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898764" y="3150918"/>
            <a:ext cx="88663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623947" y="3150694"/>
            <a:ext cx="16144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62</a:t>
            </a:r>
          </a:p>
        </p:txBody>
      </p:sp>
    </p:spTree>
  </p:cSld>
  <p:clrMapOvr>
    <a:masterClrMapping/>
  </p:clrMapOvr>
</p:sld>
</file>

<file path=ppt/slides/slide1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Freeform 35"/>
          <p:cNvSpPr/>
          <p:nvPr/>
        </p:nvSpPr>
        <p:spPr>
          <a:xfrm>
            <a:off x="1562100" y="1447800"/>
            <a:ext cx="355600" cy="292100"/>
          </a:xfrm>
          <a:custGeom>
            <a:avLst/>
            <a:gdLst/>
            <a:ahLst/>
            <a:cxnLst/>
            <a:rect l="l" t="t" r="r" b="b"/>
            <a:pathLst>
              <a:path w="28" h="23">
                <a:moveTo>
                  <a:pt x="0" y="23"/>
                </a:moveTo>
                <a:lnTo>
                  <a:pt x="28" y="23"/>
                </a:lnTo>
                <a:lnTo>
                  <a:pt x="28" y="20"/>
                </a:lnTo>
                <a:lnTo>
                  <a:pt x="28" y="16"/>
                </a:lnTo>
                <a:lnTo>
                  <a:pt x="27" y="13"/>
                </a:lnTo>
                <a:lnTo>
                  <a:pt x="25" y="10"/>
                </a:lnTo>
                <a:lnTo>
                  <a:pt x="24" y="7"/>
                </a:lnTo>
                <a:lnTo>
                  <a:pt x="21" y="5"/>
                </a:lnTo>
                <a:lnTo>
                  <a:pt x="19" y="2"/>
                </a:lnTo>
                <a:lnTo>
                  <a:pt x="16" y="0"/>
                </a:lnTo>
                <a:close/>
              </a:path>
            </a:pathLst>
          </a:custGeom>
          <a:solidFill>
            <a:srgbClr val="A6CEE3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7" name="Connector 36"/>
          <p:cNvCxnSpPr/>
          <p:nvPr/>
        </p:nvCxnSpPr>
        <p:spPr>
          <a:xfrm flipV="1">
            <a:off x="1770177" y="1241406"/>
            <a:ext cx="144543" cy="20642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Freeform 37"/>
          <p:cNvSpPr/>
          <p:nvPr/>
        </p:nvSpPr>
        <p:spPr>
          <a:xfrm>
            <a:off x="1397000" y="1384300"/>
            <a:ext cx="368300" cy="355600"/>
          </a:xfrm>
          <a:custGeom>
            <a:avLst/>
            <a:gdLst/>
            <a:ahLst/>
            <a:cxnLst/>
            <a:rect l="l" t="t" r="r" b="b"/>
            <a:pathLst>
              <a:path w="29" h="28">
                <a:moveTo>
                  <a:pt x="13" y="28"/>
                </a:moveTo>
                <a:lnTo>
                  <a:pt x="29" y="5"/>
                </a:lnTo>
                <a:lnTo>
                  <a:pt x="26" y="3"/>
                </a:lnTo>
                <a:lnTo>
                  <a:pt x="22" y="1"/>
                </a:lnTo>
                <a:lnTo>
                  <a:pt x="19" y="0"/>
                </a:lnTo>
                <a:lnTo>
                  <a:pt x="15" y="0"/>
                </a:lnTo>
                <a:lnTo>
                  <a:pt x="11" y="0"/>
                </a:lnTo>
                <a:lnTo>
                  <a:pt x="7" y="0"/>
                </a:lnTo>
                <a:lnTo>
                  <a:pt x="4" y="2"/>
                </a:lnTo>
                <a:lnTo>
                  <a:pt x="0" y="3"/>
                </a:lnTo>
                <a:close/>
              </a:path>
            </a:pathLst>
          </a:custGeom>
          <a:solidFill>
            <a:srgbClr val="1F78B4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9" name="Connector 38"/>
          <p:cNvCxnSpPr/>
          <p:nvPr/>
        </p:nvCxnSpPr>
        <p:spPr>
          <a:xfrm flipH="1" flipV="1">
            <a:off x="1281114" y="1199906"/>
            <a:ext cx="116353" cy="223516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H="1" flipV="1">
            <a:off x="1281114" y="1199906"/>
            <a:ext cx="116353" cy="223516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1314358" y="1263767"/>
            <a:ext cx="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Freeform 41"/>
          <p:cNvSpPr/>
          <p:nvPr/>
        </p:nvSpPr>
        <p:spPr>
          <a:xfrm>
            <a:off x="1219200" y="1422400"/>
            <a:ext cx="342900" cy="317500"/>
          </a:xfrm>
          <a:custGeom>
            <a:avLst/>
            <a:gdLst/>
            <a:ahLst/>
            <a:cxnLst/>
            <a:rect l="l" t="t" r="r" b="b"/>
            <a:pathLst>
              <a:path w="27" h="25">
                <a:moveTo>
                  <a:pt x="27" y="25"/>
                </a:moveTo>
                <a:lnTo>
                  <a:pt x="14" y="0"/>
                </a:lnTo>
                <a:lnTo>
                  <a:pt x="12" y="1"/>
                </a:lnTo>
                <a:lnTo>
                  <a:pt x="9" y="3"/>
                </a:lnTo>
                <a:lnTo>
                  <a:pt x="7" y="5"/>
                </a:lnTo>
                <a:lnTo>
                  <a:pt x="5" y="7"/>
                </a:lnTo>
                <a:lnTo>
                  <a:pt x="4" y="9"/>
                </a:lnTo>
                <a:lnTo>
                  <a:pt x="2" y="12"/>
                </a:lnTo>
                <a:lnTo>
                  <a:pt x="1" y="14"/>
                </a:lnTo>
                <a:lnTo>
                  <a:pt x="0" y="17"/>
                </a:lnTo>
                <a:close/>
              </a:path>
            </a:pathLst>
          </a:custGeom>
          <a:solidFill>
            <a:srgbClr val="33A02C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3" name="Connector 42"/>
          <p:cNvCxnSpPr/>
          <p:nvPr/>
        </p:nvCxnSpPr>
        <p:spPr>
          <a:xfrm flipH="1" flipV="1">
            <a:off x="980032" y="1558709"/>
            <a:ext cx="240328" cy="7577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Freeform 43"/>
          <p:cNvSpPr/>
          <p:nvPr/>
        </p:nvSpPr>
        <p:spPr>
          <a:xfrm>
            <a:off x="1206500" y="1638300"/>
            <a:ext cx="355600" cy="266700"/>
          </a:xfrm>
          <a:custGeom>
            <a:avLst/>
            <a:gdLst/>
            <a:ahLst/>
            <a:cxnLst/>
            <a:rect l="l" t="t" r="r" b="b"/>
            <a:pathLst>
              <a:path w="28" h="21">
                <a:moveTo>
                  <a:pt x="28" y="8"/>
                </a:moveTo>
                <a:lnTo>
                  <a:pt x="1" y="0"/>
                </a:lnTo>
                <a:lnTo>
                  <a:pt x="0" y="2"/>
                </a:lnTo>
                <a:lnTo>
                  <a:pt x="0" y="5"/>
                </a:lnTo>
                <a:lnTo>
                  <a:pt x="0" y="8"/>
                </a:lnTo>
                <a:lnTo>
                  <a:pt x="0" y="11"/>
                </a:lnTo>
                <a:lnTo>
                  <a:pt x="0" y="13"/>
                </a:lnTo>
                <a:lnTo>
                  <a:pt x="1" y="16"/>
                </a:lnTo>
                <a:lnTo>
                  <a:pt x="2" y="19"/>
                </a:lnTo>
                <a:lnTo>
                  <a:pt x="3" y="21"/>
                </a:lnTo>
                <a:close/>
              </a:path>
            </a:pathLst>
          </a:custGeom>
          <a:solidFill>
            <a:srgbClr val="FB9A99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5" name="Connector 44"/>
          <p:cNvCxnSpPr/>
          <p:nvPr/>
        </p:nvCxnSpPr>
        <p:spPr>
          <a:xfrm flipH="1">
            <a:off x="1020860" y="1908952"/>
            <a:ext cx="223516" cy="11635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Freeform 45"/>
          <p:cNvSpPr/>
          <p:nvPr/>
        </p:nvSpPr>
        <p:spPr>
          <a:xfrm>
            <a:off x="1244600" y="1739900"/>
            <a:ext cx="368300" cy="368300"/>
          </a:xfrm>
          <a:custGeom>
            <a:avLst/>
            <a:gdLst/>
            <a:ahLst/>
            <a:cxnLst/>
            <a:rect l="l" t="t" r="r" b="b"/>
            <a:pathLst>
              <a:path w="29" h="29">
                <a:moveTo>
                  <a:pt x="25" y="0"/>
                </a:moveTo>
                <a:lnTo>
                  <a:pt x="0" y="13"/>
                </a:lnTo>
                <a:lnTo>
                  <a:pt x="2" y="17"/>
                </a:lnTo>
                <a:lnTo>
                  <a:pt x="5" y="20"/>
                </a:lnTo>
                <a:lnTo>
                  <a:pt x="8" y="23"/>
                </a:lnTo>
                <a:lnTo>
                  <a:pt x="12" y="25"/>
                </a:lnTo>
                <a:lnTo>
                  <a:pt x="16" y="27"/>
                </a:lnTo>
                <a:lnTo>
                  <a:pt x="20" y="28"/>
                </a:lnTo>
                <a:lnTo>
                  <a:pt x="24" y="29"/>
                </a:lnTo>
                <a:lnTo>
                  <a:pt x="29" y="28"/>
                </a:lnTo>
                <a:close/>
              </a:path>
            </a:pathLst>
          </a:custGeom>
          <a:solidFill>
            <a:srgbClr val="E31A1C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7" name="Connector 46"/>
          <p:cNvCxnSpPr/>
          <p:nvPr/>
        </p:nvCxnSpPr>
        <p:spPr>
          <a:xfrm>
            <a:off x="1610670" y="2099644"/>
            <a:ext cx="32889" cy="249837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1610670" y="2099644"/>
            <a:ext cx="32889" cy="249837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1634162" y="2278100"/>
            <a:ext cx="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Freeform 49"/>
          <p:cNvSpPr/>
          <p:nvPr/>
        </p:nvSpPr>
        <p:spPr>
          <a:xfrm>
            <a:off x="1562100" y="1739900"/>
            <a:ext cx="228600" cy="355600"/>
          </a:xfrm>
          <a:custGeom>
            <a:avLst/>
            <a:gdLst/>
            <a:ahLst/>
            <a:cxnLst/>
            <a:rect l="l" t="t" r="r" b="b"/>
            <a:pathLst>
              <a:path w="18" h="28">
                <a:moveTo>
                  <a:pt x="0" y="0"/>
                </a:moveTo>
                <a:lnTo>
                  <a:pt x="4" y="28"/>
                </a:lnTo>
                <a:lnTo>
                  <a:pt x="6" y="28"/>
                </a:lnTo>
                <a:lnTo>
                  <a:pt x="8" y="28"/>
                </a:lnTo>
                <a:lnTo>
                  <a:pt x="10" y="27"/>
                </a:lnTo>
                <a:lnTo>
                  <a:pt x="12" y="26"/>
                </a:lnTo>
                <a:lnTo>
                  <a:pt x="13" y="25"/>
                </a:lnTo>
                <a:lnTo>
                  <a:pt x="15" y="24"/>
                </a:lnTo>
                <a:lnTo>
                  <a:pt x="17" y="23"/>
                </a:lnTo>
                <a:lnTo>
                  <a:pt x="18" y="22"/>
                </a:lnTo>
                <a:close/>
              </a:path>
            </a:pathLst>
          </a:custGeom>
          <a:solidFill>
            <a:srgbClr val="FF7F00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1" name="Connector 50"/>
          <p:cNvCxnSpPr/>
          <p:nvPr/>
        </p:nvCxnSpPr>
        <p:spPr>
          <a:xfrm>
            <a:off x="1795095" y="2018509"/>
            <a:ext cx="161984" cy="19304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Freeform 51"/>
          <p:cNvSpPr/>
          <p:nvPr/>
        </p:nvSpPr>
        <p:spPr>
          <a:xfrm>
            <a:off x="1562100" y="1739900"/>
            <a:ext cx="342900" cy="279400"/>
          </a:xfrm>
          <a:custGeom>
            <a:avLst/>
            <a:gdLst/>
            <a:ahLst/>
            <a:cxnLst/>
            <a:rect l="l" t="t" r="r" b="b"/>
            <a:pathLst>
              <a:path w="27" h="22">
                <a:moveTo>
                  <a:pt x="0" y="0"/>
                </a:moveTo>
                <a:lnTo>
                  <a:pt x="18" y="22"/>
                </a:lnTo>
                <a:lnTo>
                  <a:pt x="20" y="21"/>
                </a:lnTo>
                <a:lnTo>
                  <a:pt x="21" y="19"/>
                </a:lnTo>
                <a:lnTo>
                  <a:pt x="23" y="18"/>
                </a:lnTo>
                <a:lnTo>
                  <a:pt x="24" y="16"/>
                </a:lnTo>
                <a:lnTo>
                  <a:pt x="25" y="14"/>
                </a:lnTo>
                <a:lnTo>
                  <a:pt x="26" y="12"/>
                </a:lnTo>
                <a:lnTo>
                  <a:pt x="26" y="11"/>
                </a:lnTo>
                <a:lnTo>
                  <a:pt x="27" y="9"/>
                </a:lnTo>
                <a:close/>
              </a:path>
            </a:pathLst>
          </a:custGeom>
          <a:solidFill>
            <a:srgbClr val="CAB2D6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3" name="Connector 52"/>
          <p:cNvCxnSpPr/>
          <p:nvPr/>
        </p:nvCxnSpPr>
        <p:spPr>
          <a:xfrm>
            <a:off x="1907014" y="1850982"/>
            <a:ext cx="240328" cy="75775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Freeform 53"/>
          <p:cNvSpPr/>
          <p:nvPr/>
        </p:nvSpPr>
        <p:spPr>
          <a:xfrm>
            <a:off x="1562100" y="1739900"/>
            <a:ext cx="355600" cy="114300"/>
          </a:xfrm>
          <a:custGeom>
            <a:avLst/>
            <a:gdLst/>
            <a:ahLst/>
            <a:cxnLst/>
            <a:rect l="l" t="t" r="r" b="b"/>
            <a:pathLst>
              <a:path w="28" h="9">
                <a:moveTo>
                  <a:pt x="0" y="0"/>
                </a:moveTo>
                <a:lnTo>
                  <a:pt x="27" y="9"/>
                </a:lnTo>
                <a:lnTo>
                  <a:pt x="27" y="8"/>
                </a:lnTo>
                <a:lnTo>
                  <a:pt x="28" y="7"/>
                </a:lnTo>
                <a:lnTo>
                  <a:pt x="28" y="6"/>
                </a:lnTo>
                <a:lnTo>
                  <a:pt x="28" y="5"/>
                </a:lnTo>
                <a:lnTo>
                  <a:pt x="28" y="3"/>
                </a:lnTo>
                <a:lnTo>
                  <a:pt x="28" y="2"/>
                </a:lnTo>
                <a:lnTo>
                  <a:pt x="28" y="1"/>
                </a:lnTo>
                <a:lnTo>
                  <a:pt x="28" y="0"/>
                </a:lnTo>
                <a:close/>
              </a:path>
            </a:pathLst>
          </a:custGeom>
          <a:solidFill>
            <a:srgbClr val="6A3D9A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5" name="Connector 54"/>
          <p:cNvCxnSpPr/>
          <p:nvPr/>
        </p:nvCxnSpPr>
        <p:spPr>
          <a:xfrm>
            <a:off x="1923691" y="1742733"/>
            <a:ext cx="252002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Rectangle 55"/>
          <p:cNvSpPr/>
          <p:nvPr/>
        </p:nvSpPr>
        <p:spPr>
          <a:xfrm>
            <a:off x="-6" y="3146746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2879997" y="3146746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8" name="Picture 5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59" name="Picture 5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60" name="TextBox 5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Example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1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59993" y="885308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Roulette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wheel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all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individuals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842693" y="1104590"/>
            <a:ext cx="394270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0.1528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979015" y="1404572"/>
            <a:ext cx="380638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86853" y="1055758"/>
            <a:ext cx="469854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0.3264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535366" y="1115076"/>
            <a:ext cx="425002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250734" y="1174931"/>
            <a:ext cx="453466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86345" y="1477881"/>
            <a:ext cx="499905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0.45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86396" y="1306782"/>
            <a:ext cx="469900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4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82396" y="2026813"/>
            <a:ext cx="500299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0.5764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62113" y="1700965"/>
            <a:ext cx="482328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5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512442" y="2408194"/>
            <a:ext cx="427295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0.7708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250734" y="2132854"/>
            <a:ext cx="453466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570532" y="2189254"/>
            <a:ext cx="421486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7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902142" y="2245926"/>
            <a:ext cx="388325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0.8611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717522" y="2148145"/>
            <a:ext cx="406787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8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115045" y="1910875"/>
            <a:ext cx="367035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0.9514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949030" y="1953885"/>
            <a:ext cx="383636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9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267737" y="1694860"/>
            <a:ext cx="351765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006854" y="1736042"/>
            <a:ext cx="377854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168013" y="1249012"/>
            <a:ext cx="261738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simulate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selecting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individual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168013" y="1421084"/>
            <a:ext cx="261738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by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turning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roulette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wheel,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315091" y="1582509"/>
            <a:ext cx="2470305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Josefin Sans"/>
              </a:rPr>
              <a:t>1.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select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random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number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445100" y="1734350"/>
            <a:ext cx="2340295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between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and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1</a:t>
            </a:r>
            <a:r>
              <a:rPr sz="996" b="0">
                <a:solidFill>
                  <a:srgbClr val="000000"/>
                </a:solidFill>
                <a:latin typeface="Josefin Sans"/>
              </a:rPr>
              <a:t>,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and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898764" y="3150922"/>
            <a:ext cx="88663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623947" y="3150697"/>
            <a:ext cx="16144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62</a:t>
            </a:r>
          </a:p>
        </p:txBody>
      </p:sp>
    </p:spTree>
  </p:cSld>
  <p:clrMapOvr>
    <a:masterClrMapping/>
  </p:clrMapOvr>
</p:sld>
</file>

<file path=ppt/slides/slide1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Freeform 35"/>
          <p:cNvSpPr/>
          <p:nvPr/>
        </p:nvSpPr>
        <p:spPr>
          <a:xfrm>
            <a:off x="1562100" y="1447800"/>
            <a:ext cx="355600" cy="292100"/>
          </a:xfrm>
          <a:custGeom>
            <a:avLst/>
            <a:gdLst/>
            <a:ahLst/>
            <a:cxnLst/>
            <a:rect l="l" t="t" r="r" b="b"/>
            <a:pathLst>
              <a:path w="28" h="23">
                <a:moveTo>
                  <a:pt x="0" y="23"/>
                </a:moveTo>
                <a:lnTo>
                  <a:pt x="28" y="23"/>
                </a:lnTo>
                <a:lnTo>
                  <a:pt x="28" y="20"/>
                </a:lnTo>
                <a:lnTo>
                  <a:pt x="28" y="16"/>
                </a:lnTo>
                <a:lnTo>
                  <a:pt x="27" y="13"/>
                </a:lnTo>
                <a:lnTo>
                  <a:pt x="25" y="10"/>
                </a:lnTo>
                <a:lnTo>
                  <a:pt x="24" y="7"/>
                </a:lnTo>
                <a:lnTo>
                  <a:pt x="21" y="5"/>
                </a:lnTo>
                <a:lnTo>
                  <a:pt x="19" y="2"/>
                </a:lnTo>
                <a:lnTo>
                  <a:pt x="16" y="0"/>
                </a:lnTo>
                <a:close/>
              </a:path>
            </a:pathLst>
          </a:custGeom>
          <a:solidFill>
            <a:srgbClr val="A6CEE3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7" name="Connector 36"/>
          <p:cNvCxnSpPr/>
          <p:nvPr/>
        </p:nvCxnSpPr>
        <p:spPr>
          <a:xfrm flipV="1">
            <a:off x="1770177" y="1241406"/>
            <a:ext cx="144543" cy="20642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Freeform 37"/>
          <p:cNvSpPr/>
          <p:nvPr/>
        </p:nvSpPr>
        <p:spPr>
          <a:xfrm>
            <a:off x="1397000" y="1384300"/>
            <a:ext cx="368300" cy="355600"/>
          </a:xfrm>
          <a:custGeom>
            <a:avLst/>
            <a:gdLst/>
            <a:ahLst/>
            <a:cxnLst/>
            <a:rect l="l" t="t" r="r" b="b"/>
            <a:pathLst>
              <a:path w="29" h="28">
                <a:moveTo>
                  <a:pt x="13" y="28"/>
                </a:moveTo>
                <a:lnTo>
                  <a:pt x="29" y="5"/>
                </a:lnTo>
                <a:lnTo>
                  <a:pt x="26" y="3"/>
                </a:lnTo>
                <a:lnTo>
                  <a:pt x="22" y="1"/>
                </a:lnTo>
                <a:lnTo>
                  <a:pt x="19" y="0"/>
                </a:lnTo>
                <a:lnTo>
                  <a:pt x="15" y="0"/>
                </a:lnTo>
                <a:lnTo>
                  <a:pt x="11" y="0"/>
                </a:lnTo>
                <a:lnTo>
                  <a:pt x="7" y="0"/>
                </a:lnTo>
                <a:lnTo>
                  <a:pt x="4" y="2"/>
                </a:lnTo>
                <a:lnTo>
                  <a:pt x="0" y="3"/>
                </a:lnTo>
                <a:close/>
              </a:path>
            </a:pathLst>
          </a:custGeom>
          <a:solidFill>
            <a:srgbClr val="1F78B4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9" name="Connector 38"/>
          <p:cNvCxnSpPr/>
          <p:nvPr/>
        </p:nvCxnSpPr>
        <p:spPr>
          <a:xfrm flipH="1" flipV="1">
            <a:off x="1281114" y="1199906"/>
            <a:ext cx="116353" cy="223516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H="1" flipV="1">
            <a:off x="1281114" y="1199906"/>
            <a:ext cx="116353" cy="223516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1314358" y="1263767"/>
            <a:ext cx="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Freeform 41"/>
          <p:cNvSpPr/>
          <p:nvPr/>
        </p:nvSpPr>
        <p:spPr>
          <a:xfrm>
            <a:off x="1219200" y="1422400"/>
            <a:ext cx="342900" cy="317500"/>
          </a:xfrm>
          <a:custGeom>
            <a:avLst/>
            <a:gdLst/>
            <a:ahLst/>
            <a:cxnLst/>
            <a:rect l="l" t="t" r="r" b="b"/>
            <a:pathLst>
              <a:path w="27" h="25">
                <a:moveTo>
                  <a:pt x="27" y="25"/>
                </a:moveTo>
                <a:lnTo>
                  <a:pt x="14" y="0"/>
                </a:lnTo>
                <a:lnTo>
                  <a:pt x="12" y="1"/>
                </a:lnTo>
                <a:lnTo>
                  <a:pt x="9" y="3"/>
                </a:lnTo>
                <a:lnTo>
                  <a:pt x="7" y="5"/>
                </a:lnTo>
                <a:lnTo>
                  <a:pt x="5" y="7"/>
                </a:lnTo>
                <a:lnTo>
                  <a:pt x="4" y="9"/>
                </a:lnTo>
                <a:lnTo>
                  <a:pt x="2" y="12"/>
                </a:lnTo>
                <a:lnTo>
                  <a:pt x="1" y="14"/>
                </a:lnTo>
                <a:lnTo>
                  <a:pt x="0" y="17"/>
                </a:lnTo>
                <a:close/>
              </a:path>
            </a:pathLst>
          </a:custGeom>
          <a:solidFill>
            <a:srgbClr val="33A02C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3" name="Connector 42"/>
          <p:cNvCxnSpPr/>
          <p:nvPr/>
        </p:nvCxnSpPr>
        <p:spPr>
          <a:xfrm flipH="1" flipV="1">
            <a:off x="980032" y="1558709"/>
            <a:ext cx="240328" cy="7577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Freeform 43"/>
          <p:cNvSpPr/>
          <p:nvPr/>
        </p:nvSpPr>
        <p:spPr>
          <a:xfrm>
            <a:off x="1206500" y="1638300"/>
            <a:ext cx="355600" cy="266700"/>
          </a:xfrm>
          <a:custGeom>
            <a:avLst/>
            <a:gdLst/>
            <a:ahLst/>
            <a:cxnLst/>
            <a:rect l="l" t="t" r="r" b="b"/>
            <a:pathLst>
              <a:path w="28" h="21">
                <a:moveTo>
                  <a:pt x="28" y="8"/>
                </a:moveTo>
                <a:lnTo>
                  <a:pt x="1" y="0"/>
                </a:lnTo>
                <a:lnTo>
                  <a:pt x="0" y="2"/>
                </a:lnTo>
                <a:lnTo>
                  <a:pt x="0" y="5"/>
                </a:lnTo>
                <a:lnTo>
                  <a:pt x="0" y="8"/>
                </a:lnTo>
                <a:lnTo>
                  <a:pt x="0" y="11"/>
                </a:lnTo>
                <a:lnTo>
                  <a:pt x="0" y="13"/>
                </a:lnTo>
                <a:lnTo>
                  <a:pt x="1" y="16"/>
                </a:lnTo>
                <a:lnTo>
                  <a:pt x="2" y="19"/>
                </a:lnTo>
                <a:lnTo>
                  <a:pt x="3" y="21"/>
                </a:lnTo>
                <a:close/>
              </a:path>
            </a:pathLst>
          </a:custGeom>
          <a:solidFill>
            <a:srgbClr val="FB9A99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5" name="Connector 44"/>
          <p:cNvCxnSpPr/>
          <p:nvPr/>
        </p:nvCxnSpPr>
        <p:spPr>
          <a:xfrm flipH="1">
            <a:off x="1020860" y="1908952"/>
            <a:ext cx="223516" cy="11635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Freeform 45"/>
          <p:cNvSpPr/>
          <p:nvPr/>
        </p:nvSpPr>
        <p:spPr>
          <a:xfrm>
            <a:off x="1244600" y="1739900"/>
            <a:ext cx="368300" cy="368300"/>
          </a:xfrm>
          <a:custGeom>
            <a:avLst/>
            <a:gdLst/>
            <a:ahLst/>
            <a:cxnLst/>
            <a:rect l="l" t="t" r="r" b="b"/>
            <a:pathLst>
              <a:path w="29" h="29">
                <a:moveTo>
                  <a:pt x="25" y="0"/>
                </a:moveTo>
                <a:lnTo>
                  <a:pt x="0" y="13"/>
                </a:lnTo>
                <a:lnTo>
                  <a:pt x="2" y="17"/>
                </a:lnTo>
                <a:lnTo>
                  <a:pt x="5" y="20"/>
                </a:lnTo>
                <a:lnTo>
                  <a:pt x="8" y="23"/>
                </a:lnTo>
                <a:lnTo>
                  <a:pt x="12" y="25"/>
                </a:lnTo>
                <a:lnTo>
                  <a:pt x="16" y="27"/>
                </a:lnTo>
                <a:lnTo>
                  <a:pt x="20" y="28"/>
                </a:lnTo>
                <a:lnTo>
                  <a:pt x="24" y="29"/>
                </a:lnTo>
                <a:lnTo>
                  <a:pt x="29" y="28"/>
                </a:lnTo>
                <a:close/>
              </a:path>
            </a:pathLst>
          </a:custGeom>
          <a:solidFill>
            <a:srgbClr val="E31A1C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7" name="Connector 46"/>
          <p:cNvCxnSpPr/>
          <p:nvPr/>
        </p:nvCxnSpPr>
        <p:spPr>
          <a:xfrm>
            <a:off x="1610670" y="2099644"/>
            <a:ext cx="32889" cy="249837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1610670" y="2099644"/>
            <a:ext cx="32889" cy="249837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1634162" y="2278100"/>
            <a:ext cx="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Freeform 49"/>
          <p:cNvSpPr/>
          <p:nvPr/>
        </p:nvSpPr>
        <p:spPr>
          <a:xfrm>
            <a:off x="1562100" y="1739900"/>
            <a:ext cx="228600" cy="355600"/>
          </a:xfrm>
          <a:custGeom>
            <a:avLst/>
            <a:gdLst/>
            <a:ahLst/>
            <a:cxnLst/>
            <a:rect l="l" t="t" r="r" b="b"/>
            <a:pathLst>
              <a:path w="18" h="28">
                <a:moveTo>
                  <a:pt x="0" y="0"/>
                </a:moveTo>
                <a:lnTo>
                  <a:pt x="4" y="28"/>
                </a:lnTo>
                <a:lnTo>
                  <a:pt x="6" y="28"/>
                </a:lnTo>
                <a:lnTo>
                  <a:pt x="8" y="28"/>
                </a:lnTo>
                <a:lnTo>
                  <a:pt x="10" y="27"/>
                </a:lnTo>
                <a:lnTo>
                  <a:pt x="12" y="26"/>
                </a:lnTo>
                <a:lnTo>
                  <a:pt x="13" y="25"/>
                </a:lnTo>
                <a:lnTo>
                  <a:pt x="15" y="24"/>
                </a:lnTo>
                <a:lnTo>
                  <a:pt x="17" y="23"/>
                </a:lnTo>
                <a:lnTo>
                  <a:pt x="18" y="22"/>
                </a:lnTo>
                <a:close/>
              </a:path>
            </a:pathLst>
          </a:custGeom>
          <a:solidFill>
            <a:srgbClr val="FF7F00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1" name="Connector 50"/>
          <p:cNvCxnSpPr/>
          <p:nvPr/>
        </p:nvCxnSpPr>
        <p:spPr>
          <a:xfrm>
            <a:off x="1795095" y="2018509"/>
            <a:ext cx="161984" cy="19304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Freeform 51"/>
          <p:cNvSpPr/>
          <p:nvPr/>
        </p:nvSpPr>
        <p:spPr>
          <a:xfrm>
            <a:off x="1562100" y="1739900"/>
            <a:ext cx="342900" cy="279400"/>
          </a:xfrm>
          <a:custGeom>
            <a:avLst/>
            <a:gdLst/>
            <a:ahLst/>
            <a:cxnLst/>
            <a:rect l="l" t="t" r="r" b="b"/>
            <a:pathLst>
              <a:path w="27" h="22">
                <a:moveTo>
                  <a:pt x="0" y="0"/>
                </a:moveTo>
                <a:lnTo>
                  <a:pt x="18" y="22"/>
                </a:lnTo>
                <a:lnTo>
                  <a:pt x="20" y="21"/>
                </a:lnTo>
                <a:lnTo>
                  <a:pt x="21" y="19"/>
                </a:lnTo>
                <a:lnTo>
                  <a:pt x="23" y="18"/>
                </a:lnTo>
                <a:lnTo>
                  <a:pt x="24" y="16"/>
                </a:lnTo>
                <a:lnTo>
                  <a:pt x="25" y="14"/>
                </a:lnTo>
                <a:lnTo>
                  <a:pt x="26" y="12"/>
                </a:lnTo>
                <a:lnTo>
                  <a:pt x="26" y="11"/>
                </a:lnTo>
                <a:lnTo>
                  <a:pt x="27" y="9"/>
                </a:lnTo>
                <a:close/>
              </a:path>
            </a:pathLst>
          </a:custGeom>
          <a:solidFill>
            <a:srgbClr val="CAB2D6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3" name="Connector 52"/>
          <p:cNvCxnSpPr/>
          <p:nvPr/>
        </p:nvCxnSpPr>
        <p:spPr>
          <a:xfrm>
            <a:off x="1907014" y="1850982"/>
            <a:ext cx="240328" cy="75775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Freeform 53"/>
          <p:cNvSpPr/>
          <p:nvPr/>
        </p:nvSpPr>
        <p:spPr>
          <a:xfrm>
            <a:off x="1562100" y="1739900"/>
            <a:ext cx="355600" cy="114300"/>
          </a:xfrm>
          <a:custGeom>
            <a:avLst/>
            <a:gdLst/>
            <a:ahLst/>
            <a:cxnLst/>
            <a:rect l="l" t="t" r="r" b="b"/>
            <a:pathLst>
              <a:path w="28" h="9">
                <a:moveTo>
                  <a:pt x="0" y="0"/>
                </a:moveTo>
                <a:lnTo>
                  <a:pt x="27" y="9"/>
                </a:lnTo>
                <a:lnTo>
                  <a:pt x="27" y="8"/>
                </a:lnTo>
                <a:lnTo>
                  <a:pt x="28" y="7"/>
                </a:lnTo>
                <a:lnTo>
                  <a:pt x="28" y="6"/>
                </a:lnTo>
                <a:lnTo>
                  <a:pt x="28" y="5"/>
                </a:lnTo>
                <a:lnTo>
                  <a:pt x="28" y="3"/>
                </a:lnTo>
                <a:lnTo>
                  <a:pt x="28" y="2"/>
                </a:lnTo>
                <a:lnTo>
                  <a:pt x="28" y="1"/>
                </a:lnTo>
                <a:lnTo>
                  <a:pt x="28" y="0"/>
                </a:lnTo>
                <a:close/>
              </a:path>
            </a:pathLst>
          </a:custGeom>
          <a:solidFill>
            <a:srgbClr val="6A3D9A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5" name="Connector 54"/>
          <p:cNvCxnSpPr/>
          <p:nvPr/>
        </p:nvCxnSpPr>
        <p:spPr>
          <a:xfrm>
            <a:off x="1923691" y="1742733"/>
            <a:ext cx="252002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Rectangle 55"/>
          <p:cNvSpPr/>
          <p:nvPr/>
        </p:nvSpPr>
        <p:spPr>
          <a:xfrm>
            <a:off x="-2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2880002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8" name="Picture 5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59" name="Picture 5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60" name="TextBox 5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Example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1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59993" y="885308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Roulette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wheel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all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individuals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842693" y="1104590"/>
            <a:ext cx="394270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0.1528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979015" y="1404572"/>
            <a:ext cx="380638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86853" y="1055758"/>
            <a:ext cx="469854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0.3264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535366" y="1115076"/>
            <a:ext cx="425002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250734" y="1174931"/>
            <a:ext cx="453466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86345" y="1477881"/>
            <a:ext cx="499905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0.45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86396" y="1306782"/>
            <a:ext cx="469900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4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82396" y="2026813"/>
            <a:ext cx="500299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0.5764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62113" y="1700965"/>
            <a:ext cx="482328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5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512442" y="2408194"/>
            <a:ext cx="427295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0.7708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250734" y="2132854"/>
            <a:ext cx="453466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570532" y="2189254"/>
            <a:ext cx="421486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7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902142" y="2245926"/>
            <a:ext cx="388325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0.8611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717522" y="2148145"/>
            <a:ext cx="406787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8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115045" y="1910875"/>
            <a:ext cx="367035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0.9514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949030" y="1953885"/>
            <a:ext cx="383636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9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267737" y="1694860"/>
            <a:ext cx="351765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006854" y="1736042"/>
            <a:ext cx="377854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168013" y="1249012"/>
            <a:ext cx="261738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simulate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selecting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individual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168013" y="1421084"/>
            <a:ext cx="261738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by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turning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roulette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wheel,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315091" y="1582509"/>
            <a:ext cx="2470305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Josefin Sans"/>
              </a:rPr>
              <a:t>1.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select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random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number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445100" y="1734350"/>
            <a:ext cx="2340295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between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and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1</a:t>
            </a:r>
            <a:r>
              <a:rPr sz="996" b="0">
                <a:solidFill>
                  <a:srgbClr val="000000"/>
                </a:solidFill>
                <a:latin typeface="Josefin Sans"/>
              </a:rPr>
              <a:t>,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and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290796" y="1886179"/>
            <a:ext cx="2494599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Josefin Sans"/>
              </a:rPr>
              <a:t>2.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select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individual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within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3445101" y="2038007"/>
            <a:ext cx="2340294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whose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area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random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number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445101" y="2189836"/>
            <a:ext cx="2340294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lies.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898768" y="3150918"/>
            <a:ext cx="88662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623951" y="3150694"/>
            <a:ext cx="16144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62</a:t>
            </a:r>
          </a:p>
        </p:txBody>
      </p:sp>
    </p:spTree>
  </p:cSld>
  <p:clrMapOvr>
    <a:masterClrMapping/>
  </p:clrMapOvr>
</p:sld>
</file>

<file path=ppt/slides/slide1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27532062" y="-23761949"/>
            <a:ext cx="415404" cy="170814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7947466" y="-23761949"/>
            <a:ext cx="559956" cy="170814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8507422" y="-23761949"/>
            <a:ext cx="552260" cy="170814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7532062" y="-23420331"/>
            <a:ext cx="415404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7947466" y="-23420331"/>
            <a:ext cx="559956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8507422" y="-23420331"/>
            <a:ext cx="552260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7532062" y="-23078715"/>
            <a:ext cx="415404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7947466" y="-23078715"/>
            <a:ext cx="559956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28507422" y="-23078715"/>
            <a:ext cx="552260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2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2880006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7" name="Picture 4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8" name="Picture 4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Example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59993" y="800574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We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will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using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sexual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crossover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reproduction.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Therefore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obtain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10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offsprings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59993" y="972646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(population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size,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N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= 10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),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need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5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parent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pairs.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898773" y="3150917"/>
            <a:ext cx="88662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622978" y="3150693"/>
            <a:ext cx="16241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63</a:t>
            </a:r>
          </a:p>
        </p:txBody>
      </p:sp>
    </p:spTree>
  </p:cSld>
  <p:clrMapOvr>
    <a:masterClrMapping/>
  </p:clrMapOvr>
</p:sld>
</file>

<file path=ppt/slides/slide1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27532059" y="-23761949"/>
            <a:ext cx="415404" cy="170814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7947463" y="-23761949"/>
            <a:ext cx="559956" cy="170814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8507419" y="-23761949"/>
            <a:ext cx="552260" cy="170814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7532059" y="-23420331"/>
            <a:ext cx="415404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7947463" y="-23420331"/>
            <a:ext cx="559956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8507419" y="-23420331"/>
            <a:ext cx="552260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7532059" y="-23078715"/>
            <a:ext cx="415404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7947463" y="-23078715"/>
            <a:ext cx="559956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28507419" y="-23078715"/>
            <a:ext cx="552260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2880003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7" name="Picture 4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8" name="Picture 4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Example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59993" y="800574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We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will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using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sexual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crossover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reproduction.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Therefore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obtain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10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offsprings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59993" y="972646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(population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size,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N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= 10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),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need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5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parent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pairs.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59994" y="1230762"/>
            <a:ext cx="54254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choose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parent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pairs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using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roulette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wheel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selection,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will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generate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10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random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59995" y="1402834"/>
            <a:ext cx="54254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values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each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lies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between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0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1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correspond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each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parent.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898770" y="3150917"/>
            <a:ext cx="8866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622975" y="3150693"/>
            <a:ext cx="16242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63</a:t>
            </a:r>
          </a:p>
        </p:txBody>
      </p:sp>
    </p:spTree>
  </p:cSld>
  <p:clrMapOvr>
    <a:masterClrMapping/>
  </p:clrMapOvr>
</p:sld>
</file>

<file path=ppt/slides/slide1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2131733" y="1638377"/>
            <a:ext cx="415404" cy="170814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547137" y="1638377"/>
            <a:ext cx="559955" cy="170814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107093" y="1638377"/>
            <a:ext cx="552259" cy="170814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131733" y="1979994"/>
            <a:ext cx="415404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547137" y="1979994"/>
            <a:ext cx="559955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107093" y="1979994"/>
            <a:ext cx="552259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131733" y="2321611"/>
            <a:ext cx="415404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547137" y="2321611"/>
            <a:ext cx="559955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107093" y="2321611"/>
            <a:ext cx="552259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0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2880003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7" name="Picture 4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8" name="Picture 4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Example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59993" y="800574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We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will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using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sexual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crossover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reproduction.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Therefore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obtain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10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offsprings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59993" y="972646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(population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size,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N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= 10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),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need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5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parent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pairs.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59994" y="1230762"/>
            <a:ext cx="54254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choose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parent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pairs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using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roulette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wheel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selection,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will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generate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10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random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59995" y="1402834"/>
            <a:ext cx="54254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values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each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lies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between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0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1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correspond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each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parent.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207641" y="1667321"/>
            <a:ext cx="357775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1">
                <a:solidFill>
                  <a:srgbClr val="FFFFFF"/>
                </a:solidFill>
                <a:latin typeface="Josefin Sans"/>
              </a:rPr>
              <a:t>Label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623057" y="1667321"/>
            <a:ext cx="316233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1">
                <a:solidFill>
                  <a:srgbClr val="FFFFFF"/>
                </a:solidFill>
                <a:latin typeface="Josefin Sans"/>
              </a:rPr>
              <a:t>Parent</a:t>
            </a:r>
            <a:r>
              <a:rPr sz="797" b="1">
                <a:solidFill>
                  <a:srgbClr val="FFFFFF"/>
                </a:solidFill>
                <a:latin typeface="Josefin Sans"/>
              </a:rPr>
              <a:t> </a:t>
            </a:r>
            <a:r>
              <a:rPr sz="797" b="1">
                <a:solidFill>
                  <a:srgbClr val="FFFFFF"/>
                </a:solidFill>
                <a:latin typeface="Josefin Sans"/>
              </a:rPr>
              <a:t>A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183001" y="1667321"/>
            <a:ext cx="260239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1">
                <a:solidFill>
                  <a:srgbClr val="FFFFFF"/>
                </a:solidFill>
                <a:latin typeface="Josefin Sans"/>
              </a:rPr>
              <a:t>Parent</a:t>
            </a:r>
            <a:r>
              <a:rPr sz="797" b="1">
                <a:solidFill>
                  <a:srgbClr val="FFFFFF"/>
                </a:solidFill>
                <a:latin typeface="Josefin Sans"/>
              </a:rPr>
              <a:t> </a:t>
            </a:r>
            <a:r>
              <a:rPr sz="797" b="1">
                <a:solidFill>
                  <a:srgbClr val="FFFFFF"/>
                </a:solidFill>
                <a:latin typeface="Josefin Sans"/>
              </a:rPr>
              <a:t>B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286000" y="1839534"/>
            <a:ext cx="3499396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p</a:t>
            </a:r>
            <a:r>
              <a:rPr sz="5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691930" y="1837837"/>
            <a:ext cx="3093466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0.9189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243276" y="1837837"/>
            <a:ext cx="254211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0.1049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286000" y="2010336"/>
            <a:ext cx="3499396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p</a:t>
            </a:r>
            <a:r>
              <a:rPr sz="59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677210" y="2008639"/>
            <a:ext cx="310818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0.3305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233407" y="2008639"/>
            <a:ext cx="255198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0.0868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286000" y="2181151"/>
            <a:ext cx="3499396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p</a:t>
            </a:r>
            <a:r>
              <a:rPr sz="597" b="0">
                <a:solidFill>
                  <a:srgbClr val="000000"/>
                </a:solidFill>
                <a:latin typeface="Cambria Math"/>
              </a:rPr>
              <a:t>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703880" y="2179454"/>
            <a:ext cx="308151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0.8211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234679" y="2179454"/>
            <a:ext cx="2550716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0.9057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286000" y="2351953"/>
            <a:ext cx="3499396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p</a:t>
            </a:r>
            <a:r>
              <a:rPr sz="597" b="0">
                <a:solidFill>
                  <a:srgbClr val="000000"/>
                </a:solidFill>
                <a:latin typeface="Cambria Math"/>
              </a:rPr>
              <a:t>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679331" y="2350257"/>
            <a:ext cx="310606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0.5780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237001" y="2350257"/>
            <a:ext cx="254839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0.9635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286000" y="2522768"/>
            <a:ext cx="3499396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p</a:t>
            </a:r>
            <a:r>
              <a:rPr sz="597" b="0">
                <a:solidFill>
                  <a:srgbClr val="000000"/>
                </a:solidFill>
                <a:latin typeface="Cambria Math"/>
              </a:rPr>
              <a:t>5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686215" y="2521072"/>
            <a:ext cx="309918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0.2476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239080" y="2521072"/>
            <a:ext cx="254631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0.8286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898770" y="3150919"/>
            <a:ext cx="8866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622975" y="3150695"/>
            <a:ext cx="16242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63</a:t>
            </a:r>
          </a:p>
        </p:txBody>
      </p:sp>
    </p:spTree>
  </p:cSld>
  <p:clrMapOvr>
    <a:masterClrMapping/>
  </p:clrMapOvr>
</p:sld>
</file>

<file path=ppt/slides/slide1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26060511" y="-24226887"/>
            <a:ext cx="415404" cy="170814"/>
          </a:xfrm>
          <a:prstGeom prst="rect">
            <a:avLst/>
          </a:prstGeom>
          <a:solidFill>
            <a:srgbClr val="6BAE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6475915" y="-24226887"/>
            <a:ext cx="708558" cy="170814"/>
          </a:xfrm>
          <a:prstGeom prst="rect">
            <a:avLst/>
          </a:prstGeom>
          <a:solidFill>
            <a:srgbClr val="217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7184474" y="-24226887"/>
            <a:ext cx="754747" cy="170814"/>
          </a:xfrm>
          <a:prstGeom prst="rect">
            <a:avLst/>
          </a:prstGeom>
          <a:solidFill>
            <a:srgbClr val="0830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6060511" y="-23885272"/>
            <a:ext cx="415404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6475912" y="-23885272"/>
            <a:ext cx="451649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6927562" y="-23885272"/>
            <a:ext cx="256920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7184467" y="-23885270"/>
            <a:ext cx="451448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7635913" y="-23885269"/>
            <a:ext cx="303314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26060499" y="-23543649"/>
            <a:ext cx="415404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26475900" y="-23543651"/>
            <a:ext cx="451649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26927550" y="-23543651"/>
            <a:ext cx="256920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27184455" y="-23543654"/>
            <a:ext cx="451448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27635900" y="-23543654"/>
            <a:ext cx="303314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29273500" y="-23990300"/>
            <a:ext cx="279400" cy="241300"/>
          </a:xfrm>
          <a:custGeom>
            <a:avLst/>
            <a:gdLst/>
            <a:ahLst/>
            <a:cxnLst/>
            <a:rect l="l" t="t" r="r" b="b"/>
            <a:pathLst>
              <a:path w="22" h="19">
                <a:moveTo>
                  <a:pt x="0" y="19"/>
                </a:moveTo>
                <a:lnTo>
                  <a:pt x="22" y="19"/>
                </a:lnTo>
                <a:lnTo>
                  <a:pt x="22" y="16"/>
                </a:lnTo>
                <a:lnTo>
                  <a:pt x="22" y="13"/>
                </a:lnTo>
                <a:lnTo>
                  <a:pt x="21" y="11"/>
                </a:lnTo>
                <a:lnTo>
                  <a:pt x="20" y="8"/>
                </a:lnTo>
                <a:lnTo>
                  <a:pt x="18" y="6"/>
                </a:lnTo>
                <a:lnTo>
                  <a:pt x="17" y="4"/>
                </a:lnTo>
                <a:lnTo>
                  <a:pt x="15" y="2"/>
                </a:lnTo>
                <a:lnTo>
                  <a:pt x="13" y="0"/>
                </a:lnTo>
                <a:close/>
              </a:path>
            </a:pathLst>
          </a:custGeom>
          <a:solidFill>
            <a:srgbClr val="A6CEE3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0" name="Connector 49"/>
          <p:cNvCxnSpPr/>
          <p:nvPr/>
        </p:nvCxnSpPr>
        <p:spPr>
          <a:xfrm flipV="1">
            <a:off x="29433254" y="-24151942"/>
            <a:ext cx="115633" cy="16514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Freeform 50"/>
          <p:cNvSpPr/>
          <p:nvPr/>
        </p:nvSpPr>
        <p:spPr>
          <a:xfrm>
            <a:off x="29133800" y="-24041100"/>
            <a:ext cx="304800" cy="292100"/>
          </a:xfrm>
          <a:custGeom>
            <a:avLst/>
            <a:gdLst/>
            <a:ahLst/>
            <a:cxnLst/>
            <a:rect l="l" t="t" r="r" b="b"/>
            <a:pathLst>
              <a:path w="24" h="23">
                <a:moveTo>
                  <a:pt x="11" y="23"/>
                </a:moveTo>
                <a:lnTo>
                  <a:pt x="24" y="4"/>
                </a:lnTo>
                <a:lnTo>
                  <a:pt x="21" y="3"/>
                </a:lnTo>
                <a:lnTo>
                  <a:pt x="18" y="1"/>
                </a:lnTo>
                <a:lnTo>
                  <a:pt x="15" y="1"/>
                </a:lnTo>
                <a:lnTo>
                  <a:pt x="12" y="0"/>
                </a:lnTo>
                <a:lnTo>
                  <a:pt x="9" y="0"/>
                </a:lnTo>
                <a:lnTo>
                  <a:pt x="6" y="1"/>
                </a:lnTo>
                <a:lnTo>
                  <a:pt x="3" y="1"/>
                </a:lnTo>
                <a:lnTo>
                  <a:pt x="0" y="3"/>
                </a:lnTo>
                <a:close/>
              </a:path>
            </a:pathLst>
          </a:custGeom>
          <a:solidFill>
            <a:srgbClr val="1F78B4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 flipH="1" flipV="1">
            <a:off x="29041985" y="-24185143"/>
            <a:ext cx="93083" cy="17881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H="1" flipV="1">
            <a:off x="29041985" y="-24185143"/>
            <a:ext cx="93083" cy="17881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29068588" y="-24134041"/>
            <a:ext cx="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Freeform 54"/>
          <p:cNvSpPr/>
          <p:nvPr/>
        </p:nvSpPr>
        <p:spPr>
          <a:xfrm>
            <a:off x="28994100" y="-24003000"/>
            <a:ext cx="279400" cy="254000"/>
          </a:xfrm>
          <a:custGeom>
            <a:avLst/>
            <a:gdLst/>
            <a:ahLst/>
            <a:cxnLst/>
            <a:rect l="l" t="t" r="r" b="b"/>
            <a:pathLst>
              <a:path w="22" h="20">
                <a:moveTo>
                  <a:pt x="22" y="20"/>
                </a:moveTo>
                <a:lnTo>
                  <a:pt x="11" y="0"/>
                </a:lnTo>
                <a:lnTo>
                  <a:pt x="9" y="1"/>
                </a:lnTo>
                <a:lnTo>
                  <a:pt x="7" y="2"/>
                </a:lnTo>
                <a:lnTo>
                  <a:pt x="6" y="4"/>
                </a:lnTo>
                <a:lnTo>
                  <a:pt x="4" y="5"/>
                </a:lnTo>
                <a:lnTo>
                  <a:pt x="3" y="7"/>
                </a:lnTo>
                <a:lnTo>
                  <a:pt x="2" y="9"/>
                </a:lnTo>
                <a:lnTo>
                  <a:pt x="1" y="11"/>
                </a:lnTo>
                <a:lnTo>
                  <a:pt x="0" y="13"/>
                </a:lnTo>
                <a:close/>
              </a:path>
            </a:pathLst>
          </a:custGeom>
          <a:solidFill>
            <a:srgbClr val="33A02C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6" name="Connector 55"/>
          <p:cNvCxnSpPr/>
          <p:nvPr/>
        </p:nvCxnSpPr>
        <p:spPr>
          <a:xfrm flipH="1" flipV="1">
            <a:off x="28801113" y="-23898091"/>
            <a:ext cx="192261" cy="6061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Freeform 56"/>
          <p:cNvSpPr/>
          <p:nvPr/>
        </p:nvSpPr>
        <p:spPr>
          <a:xfrm>
            <a:off x="28981400" y="-23837900"/>
            <a:ext cx="292100" cy="215900"/>
          </a:xfrm>
          <a:custGeom>
            <a:avLst/>
            <a:gdLst/>
            <a:ahLst/>
            <a:cxnLst/>
            <a:rect l="l" t="t" r="r" b="b"/>
            <a:pathLst>
              <a:path w="23" h="17">
                <a:moveTo>
                  <a:pt x="23" y="7"/>
                </a:moveTo>
                <a:lnTo>
                  <a:pt x="1" y="0"/>
                </a:lnTo>
                <a:lnTo>
                  <a:pt x="0" y="2"/>
                </a:lnTo>
                <a:lnTo>
                  <a:pt x="0" y="4"/>
                </a:lnTo>
                <a:lnTo>
                  <a:pt x="0" y="7"/>
                </a:lnTo>
                <a:lnTo>
                  <a:pt x="0" y="9"/>
                </a:lnTo>
                <a:lnTo>
                  <a:pt x="0" y="11"/>
                </a:lnTo>
                <a:lnTo>
                  <a:pt x="1" y="13"/>
                </a:lnTo>
                <a:lnTo>
                  <a:pt x="2" y="15"/>
                </a:lnTo>
                <a:lnTo>
                  <a:pt x="2" y="17"/>
                </a:lnTo>
                <a:close/>
              </a:path>
            </a:pathLst>
          </a:custGeom>
          <a:solidFill>
            <a:srgbClr val="FB9A99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8" name="Connector 57"/>
          <p:cNvCxnSpPr/>
          <p:nvPr/>
        </p:nvCxnSpPr>
        <p:spPr>
          <a:xfrm flipH="1">
            <a:off x="28833774" y="-23617885"/>
            <a:ext cx="178814" cy="9308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Freeform 58"/>
          <p:cNvSpPr/>
          <p:nvPr/>
        </p:nvSpPr>
        <p:spPr>
          <a:xfrm>
            <a:off x="29006800" y="-23749000"/>
            <a:ext cx="304800" cy="292100"/>
          </a:xfrm>
          <a:custGeom>
            <a:avLst/>
            <a:gdLst/>
            <a:ahLst/>
            <a:cxnLst/>
            <a:rect l="l" t="t" r="r" b="b"/>
            <a:pathLst>
              <a:path w="24" h="23">
                <a:moveTo>
                  <a:pt x="21" y="0"/>
                </a:moveTo>
                <a:lnTo>
                  <a:pt x="0" y="10"/>
                </a:lnTo>
                <a:lnTo>
                  <a:pt x="2" y="13"/>
                </a:lnTo>
                <a:lnTo>
                  <a:pt x="5" y="16"/>
                </a:lnTo>
                <a:lnTo>
                  <a:pt x="7" y="18"/>
                </a:lnTo>
                <a:lnTo>
                  <a:pt x="10" y="20"/>
                </a:lnTo>
                <a:lnTo>
                  <a:pt x="13" y="21"/>
                </a:lnTo>
                <a:lnTo>
                  <a:pt x="17" y="22"/>
                </a:lnTo>
                <a:lnTo>
                  <a:pt x="20" y="23"/>
                </a:lnTo>
                <a:lnTo>
                  <a:pt x="24" y="22"/>
                </a:lnTo>
                <a:close/>
              </a:path>
            </a:pathLst>
          </a:custGeom>
          <a:solidFill>
            <a:srgbClr val="E31A1C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" name="Connector 59"/>
          <p:cNvCxnSpPr/>
          <p:nvPr/>
        </p:nvCxnSpPr>
        <p:spPr>
          <a:xfrm>
            <a:off x="29305640" y="-23465322"/>
            <a:ext cx="26312" cy="19987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29305640" y="-23465322"/>
            <a:ext cx="26312" cy="19987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29324433" y="-23322573"/>
            <a:ext cx="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Freeform 62"/>
          <p:cNvSpPr/>
          <p:nvPr/>
        </p:nvSpPr>
        <p:spPr>
          <a:xfrm>
            <a:off x="29273500" y="-23749000"/>
            <a:ext cx="177800" cy="279400"/>
          </a:xfrm>
          <a:custGeom>
            <a:avLst/>
            <a:gdLst/>
            <a:ahLst/>
            <a:cxnLst/>
            <a:rect l="l" t="t" r="r" b="b"/>
            <a:pathLst>
              <a:path w="14" h="22">
                <a:moveTo>
                  <a:pt x="0" y="0"/>
                </a:moveTo>
                <a:lnTo>
                  <a:pt x="3" y="22"/>
                </a:lnTo>
                <a:lnTo>
                  <a:pt x="4" y="22"/>
                </a:lnTo>
                <a:lnTo>
                  <a:pt x="6" y="22"/>
                </a:lnTo>
                <a:lnTo>
                  <a:pt x="7" y="21"/>
                </a:lnTo>
                <a:lnTo>
                  <a:pt x="9" y="21"/>
                </a:lnTo>
                <a:lnTo>
                  <a:pt x="10" y="20"/>
                </a:lnTo>
                <a:lnTo>
                  <a:pt x="12" y="19"/>
                </a:lnTo>
                <a:lnTo>
                  <a:pt x="13" y="18"/>
                </a:lnTo>
                <a:lnTo>
                  <a:pt x="14" y="17"/>
                </a:lnTo>
                <a:close/>
              </a:path>
            </a:pathLst>
          </a:custGeom>
          <a:solidFill>
            <a:srgbClr val="FF7F00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>
            <a:off x="29453188" y="-23530235"/>
            <a:ext cx="129589" cy="154436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Freeform 64"/>
          <p:cNvSpPr/>
          <p:nvPr/>
        </p:nvSpPr>
        <p:spPr>
          <a:xfrm>
            <a:off x="29273500" y="-23749000"/>
            <a:ext cx="266700" cy="215900"/>
          </a:xfrm>
          <a:custGeom>
            <a:avLst/>
            <a:gdLst/>
            <a:ahLst/>
            <a:cxnLst/>
            <a:rect l="l" t="t" r="r" b="b"/>
            <a:pathLst>
              <a:path w="21" h="17">
                <a:moveTo>
                  <a:pt x="0" y="0"/>
                </a:moveTo>
                <a:lnTo>
                  <a:pt x="14" y="17"/>
                </a:lnTo>
                <a:lnTo>
                  <a:pt x="15" y="16"/>
                </a:lnTo>
                <a:lnTo>
                  <a:pt x="16" y="15"/>
                </a:lnTo>
                <a:lnTo>
                  <a:pt x="17" y="14"/>
                </a:lnTo>
                <a:lnTo>
                  <a:pt x="18" y="12"/>
                </a:lnTo>
                <a:lnTo>
                  <a:pt x="19" y="11"/>
                </a:lnTo>
                <a:lnTo>
                  <a:pt x="20" y="10"/>
                </a:lnTo>
                <a:lnTo>
                  <a:pt x="21" y="8"/>
                </a:lnTo>
                <a:lnTo>
                  <a:pt x="21" y="7"/>
                </a:lnTo>
                <a:close/>
              </a:path>
            </a:pathLst>
          </a:custGeom>
          <a:solidFill>
            <a:srgbClr val="CAB2D6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6" name="Connector 65"/>
          <p:cNvCxnSpPr/>
          <p:nvPr/>
        </p:nvCxnSpPr>
        <p:spPr>
          <a:xfrm>
            <a:off x="29542730" y="-23664264"/>
            <a:ext cx="192261" cy="6062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Freeform 66"/>
          <p:cNvSpPr/>
          <p:nvPr/>
        </p:nvSpPr>
        <p:spPr>
          <a:xfrm>
            <a:off x="29273500" y="-23749000"/>
            <a:ext cx="279400" cy="88900"/>
          </a:xfrm>
          <a:custGeom>
            <a:avLst/>
            <a:gdLst/>
            <a:ahLst/>
            <a:cxnLst/>
            <a:rect l="l" t="t" r="r" b="b"/>
            <a:pathLst>
              <a:path w="22" h="7">
                <a:moveTo>
                  <a:pt x="0" y="0"/>
                </a:moveTo>
                <a:lnTo>
                  <a:pt x="21" y="7"/>
                </a:lnTo>
                <a:lnTo>
                  <a:pt x="21" y="6"/>
                </a:lnTo>
                <a:lnTo>
                  <a:pt x="22" y="5"/>
                </a:lnTo>
                <a:lnTo>
                  <a:pt x="22" y="4"/>
                </a:lnTo>
                <a:lnTo>
                  <a:pt x="22" y="3"/>
                </a:lnTo>
                <a:lnTo>
                  <a:pt x="22" y="2"/>
                </a:lnTo>
                <a:lnTo>
                  <a:pt x="22" y="2"/>
                </a:lnTo>
                <a:lnTo>
                  <a:pt x="22" y="1"/>
                </a:lnTo>
                <a:lnTo>
                  <a:pt x="22" y="0"/>
                </a:lnTo>
                <a:close/>
              </a:path>
            </a:pathLst>
          </a:custGeom>
          <a:solidFill>
            <a:srgbClr val="6A3D9A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8" name="Connector 67"/>
          <p:cNvCxnSpPr/>
          <p:nvPr/>
        </p:nvCxnSpPr>
        <p:spPr>
          <a:xfrm>
            <a:off x="29556071" y="-23750868"/>
            <a:ext cx="20160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Rectangle 68"/>
          <p:cNvSpPr/>
          <p:nvPr/>
        </p:nvSpPr>
        <p:spPr>
          <a:xfrm>
            <a:off x="-37" y="3146736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2879953" y="3146736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1" name="Picture 7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72" name="Picture 7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Example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1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59993" y="737391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Using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roulette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wheel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cumulative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fitness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ratios,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identify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59993" y="909476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individuals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selected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parents.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98733" y="3150911"/>
            <a:ext cx="88666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623090" y="3150687"/>
            <a:ext cx="16230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64</a:t>
            </a:r>
          </a:p>
        </p:txBody>
      </p:sp>
    </p:spTree>
  </p:cSld>
  <p:clrMapOvr>
    <a:masterClrMapping/>
  </p:clrMapOvr>
</p:sld>
</file>

<file path=ppt/slides/slide1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660184" y="1173443"/>
            <a:ext cx="415404" cy="170814"/>
          </a:xfrm>
          <a:prstGeom prst="rect">
            <a:avLst/>
          </a:prstGeom>
          <a:solidFill>
            <a:srgbClr val="6BAE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075588" y="1173443"/>
            <a:ext cx="708558" cy="170814"/>
          </a:xfrm>
          <a:prstGeom prst="rect">
            <a:avLst/>
          </a:prstGeom>
          <a:solidFill>
            <a:srgbClr val="217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784146" y="1173443"/>
            <a:ext cx="754748" cy="170814"/>
          </a:xfrm>
          <a:prstGeom prst="rect">
            <a:avLst/>
          </a:prstGeom>
          <a:solidFill>
            <a:srgbClr val="0830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60186" y="1515061"/>
            <a:ext cx="415404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075590" y="1515061"/>
            <a:ext cx="451650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527240" y="1515061"/>
            <a:ext cx="256921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784147" y="1515060"/>
            <a:ext cx="451446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235594" y="1515060"/>
            <a:ext cx="303314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60186" y="1856677"/>
            <a:ext cx="415404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075590" y="1856677"/>
            <a:ext cx="451650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527240" y="1856677"/>
            <a:ext cx="256921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784147" y="1856677"/>
            <a:ext cx="451446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2235594" y="1856677"/>
            <a:ext cx="303314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3873500" y="1409700"/>
            <a:ext cx="279400" cy="241300"/>
          </a:xfrm>
          <a:custGeom>
            <a:avLst/>
            <a:gdLst/>
            <a:ahLst/>
            <a:cxnLst/>
            <a:rect l="l" t="t" r="r" b="b"/>
            <a:pathLst>
              <a:path w="22" h="19">
                <a:moveTo>
                  <a:pt x="0" y="19"/>
                </a:moveTo>
                <a:lnTo>
                  <a:pt x="22" y="19"/>
                </a:lnTo>
                <a:lnTo>
                  <a:pt x="22" y="16"/>
                </a:lnTo>
                <a:lnTo>
                  <a:pt x="22" y="13"/>
                </a:lnTo>
                <a:lnTo>
                  <a:pt x="21" y="11"/>
                </a:lnTo>
                <a:lnTo>
                  <a:pt x="20" y="8"/>
                </a:lnTo>
                <a:lnTo>
                  <a:pt x="18" y="6"/>
                </a:lnTo>
                <a:lnTo>
                  <a:pt x="17" y="4"/>
                </a:lnTo>
                <a:lnTo>
                  <a:pt x="15" y="2"/>
                </a:lnTo>
                <a:lnTo>
                  <a:pt x="13" y="0"/>
                </a:lnTo>
                <a:close/>
              </a:path>
            </a:pathLst>
          </a:custGeom>
          <a:solidFill>
            <a:srgbClr val="A6CEE3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0" name="Connector 49"/>
          <p:cNvCxnSpPr/>
          <p:nvPr/>
        </p:nvCxnSpPr>
        <p:spPr>
          <a:xfrm flipV="1">
            <a:off x="4032962" y="1248387"/>
            <a:ext cx="115635" cy="16514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Freeform 50"/>
          <p:cNvSpPr/>
          <p:nvPr/>
        </p:nvSpPr>
        <p:spPr>
          <a:xfrm>
            <a:off x="3733800" y="1358900"/>
            <a:ext cx="304800" cy="292100"/>
          </a:xfrm>
          <a:custGeom>
            <a:avLst/>
            <a:gdLst/>
            <a:ahLst/>
            <a:cxnLst/>
            <a:rect l="l" t="t" r="r" b="b"/>
            <a:pathLst>
              <a:path w="24" h="23">
                <a:moveTo>
                  <a:pt x="11" y="23"/>
                </a:moveTo>
                <a:lnTo>
                  <a:pt x="24" y="4"/>
                </a:lnTo>
                <a:lnTo>
                  <a:pt x="21" y="3"/>
                </a:lnTo>
                <a:lnTo>
                  <a:pt x="18" y="1"/>
                </a:lnTo>
                <a:lnTo>
                  <a:pt x="15" y="1"/>
                </a:lnTo>
                <a:lnTo>
                  <a:pt x="12" y="0"/>
                </a:lnTo>
                <a:lnTo>
                  <a:pt x="9" y="0"/>
                </a:lnTo>
                <a:lnTo>
                  <a:pt x="6" y="1"/>
                </a:lnTo>
                <a:lnTo>
                  <a:pt x="3" y="2"/>
                </a:lnTo>
                <a:lnTo>
                  <a:pt x="0" y="3"/>
                </a:lnTo>
                <a:close/>
              </a:path>
            </a:pathLst>
          </a:custGeom>
          <a:solidFill>
            <a:srgbClr val="1F78B4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 flipH="1" flipV="1">
            <a:off x="3641695" y="1215186"/>
            <a:ext cx="93083" cy="17881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H="1" flipV="1">
            <a:off x="3641695" y="1215186"/>
            <a:ext cx="93083" cy="17881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3668297" y="1266288"/>
            <a:ext cx="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Freeform 54"/>
          <p:cNvSpPr/>
          <p:nvPr/>
        </p:nvSpPr>
        <p:spPr>
          <a:xfrm>
            <a:off x="3594100" y="1397000"/>
            <a:ext cx="279400" cy="254000"/>
          </a:xfrm>
          <a:custGeom>
            <a:avLst/>
            <a:gdLst/>
            <a:ahLst/>
            <a:cxnLst/>
            <a:rect l="l" t="t" r="r" b="b"/>
            <a:pathLst>
              <a:path w="22" h="20">
                <a:moveTo>
                  <a:pt x="22" y="20"/>
                </a:moveTo>
                <a:lnTo>
                  <a:pt x="11" y="0"/>
                </a:lnTo>
                <a:lnTo>
                  <a:pt x="9" y="1"/>
                </a:lnTo>
                <a:lnTo>
                  <a:pt x="7" y="2"/>
                </a:lnTo>
                <a:lnTo>
                  <a:pt x="6" y="4"/>
                </a:lnTo>
                <a:lnTo>
                  <a:pt x="4" y="5"/>
                </a:lnTo>
                <a:lnTo>
                  <a:pt x="3" y="7"/>
                </a:lnTo>
                <a:lnTo>
                  <a:pt x="2" y="9"/>
                </a:lnTo>
                <a:lnTo>
                  <a:pt x="1" y="11"/>
                </a:lnTo>
                <a:lnTo>
                  <a:pt x="0" y="13"/>
                </a:lnTo>
                <a:close/>
              </a:path>
            </a:pathLst>
          </a:custGeom>
          <a:solidFill>
            <a:srgbClr val="33A02C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6" name="Connector 55"/>
          <p:cNvCxnSpPr/>
          <p:nvPr/>
        </p:nvCxnSpPr>
        <p:spPr>
          <a:xfrm flipH="1" flipV="1">
            <a:off x="3400821" y="1502239"/>
            <a:ext cx="192263" cy="6062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Freeform 56"/>
          <p:cNvSpPr/>
          <p:nvPr/>
        </p:nvSpPr>
        <p:spPr>
          <a:xfrm>
            <a:off x="3581400" y="1562100"/>
            <a:ext cx="292100" cy="215900"/>
          </a:xfrm>
          <a:custGeom>
            <a:avLst/>
            <a:gdLst/>
            <a:ahLst/>
            <a:cxnLst/>
            <a:rect l="l" t="t" r="r" b="b"/>
            <a:pathLst>
              <a:path w="23" h="17">
                <a:moveTo>
                  <a:pt x="23" y="7"/>
                </a:moveTo>
                <a:lnTo>
                  <a:pt x="1" y="0"/>
                </a:lnTo>
                <a:lnTo>
                  <a:pt x="0" y="2"/>
                </a:lnTo>
                <a:lnTo>
                  <a:pt x="0" y="4"/>
                </a:lnTo>
                <a:lnTo>
                  <a:pt x="0" y="7"/>
                </a:lnTo>
                <a:lnTo>
                  <a:pt x="0" y="9"/>
                </a:lnTo>
                <a:lnTo>
                  <a:pt x="0" y="11"/>
                </a:lnTo>
                <a:lnTo>
                  <a:pt x="1" y="13"/>
                </a:lnTo>
                <a:lnTo>
                  <a:pt x="1" y="15"/>
                </a:lnTo>
                <a:lnTo>
                  <a:pt x="2" y="17"/>
                </a:lnTo>
                <a:close/>
              </a:path>
            </a:pathLst>
          </a:custGeom>
          <a:solidFill>
            <a:srgbClr val="FB9A99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8" name="Connector 57"/>
          <p:cNvCxnSpPr/>
          <p:nvPr/>
        </p:nvCxnSpPr>
        <p:spPr>
          <a:xfrm flipH="1">
            <a:off x="3433484" y="1782445"/>
            <a:ext cx="178814" cy="9308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Freeform 58"/>
          <p:cNvSpPr/>
          <p:nvPr/>
        </p:nvSpPr>
        <p:spPr>
          <a:xfrm>
            <a:off x="3606800" y="1651000"/>
            <a:ext cx="304800" cy="292100"/>
          </a:xfrm>
          <a:custGeom>
            <a:avLst/>
            <a:gdLst/>
            <a:ahLst/>
            <a:cxnLst/>
            <a:rect l="l" t="t" r="r" b="b"/>
            <a:pathLst>
              <a:path w="24" h="23">
                <a:moveTo>
                  <a:pt x="21" y="0"/>
                </a:moveTo>
                <a:lnTo>
                  <a:pt x="0" y="10"/>
                </a:lnTo>
                <a:lnTo>
                  <a:pt x="2" y="13"/>
                </a:lnTo>
                <a:lnTo>
                  <a:pt x="5" y="16"/>
                </a:lnTo>
                <a:lnTo>
                  <a:pt x="7" y="18"/>
                </a:lnTo>
                <a:lnTo>
                  <a:pt x="10" y="20"/>
                </a:lnTo>
                <a:lnTo>
                  <a:pt x="13" y="21"/>
                </a:lnTo>
                <a:lnTo>
                  <a:pt x="17" y="22"/>
                </a:lnTo>
                <a:lnTo>
                  <a:pt x="20" y="23"/>
                </a:lnTo>
                <a:lnTo>
                  <a:pt x="24" y="22"/>
                </a:lnTo>
                <a:close/>
              </a:path>
            </a:pathLst>
          </a:custGeom>
          <a:solidFill>
            <a:srgbClr val="E31A1C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" name="Connector 59"/>
          <p:cNvCxnSpPr/>
          <p:nvPr/>
        </p:nvCxnSpPr>
        <p:spPr>
          <a:xfrm>
            <a:off x="3905349" y="1935008"/>
            <a:ext cx="26311" cy="19987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3905349" y="1935008"/>
            <a:ext cx="26311" cy="19987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3924141" y="2077758"/>
            <a:ext cx="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Freeform 62"/>
          <p:cNvSpPr/>
          <p:nvPr/>
        </p:nvSpPr>
        <p:spPr>
          <a:xfrm>
            <a:off x="3873500" y="1651000"/>
            <a:ext cx="177800" cy="279400"/>
          </a:xfrm>
          <a:custGeom>
            <a:avLst/>
            <a:gdLst/>
            <a:ahLst/>
            <a:cxnLst/>
            <a:rect l="l" t="t" r="r" b="b"/>
            <a:pathLst>
              <a:path w="14" h="22">
                <a:moveTo>
                  <a:pt x="0" y="0"/>
                </a:moveTo>
                <a:lnTo>
                  <a:pt x="3" y="22"/>
                </a:lnTo>
                <a:lnTo>
                  <a:pt x="4" y="22"/>
                </a:lnTo>
                <a:lnTo>
                  <a:pt x="6" y="22"/>
                </a:lnTo>
                <a:lnTo>
                  <a:pt x="7" y="21"/>
                </a:lnTo>
                <a:lnTo>
                  <a:pt x="9" y="21"/>
                </a:lnTo>
                <a:lnTo>
                  <a:pt x="10" y="20"/>
                </a:lnTo>
                <a:lnTo>
                  <a:pt x="12" y="19"/>
                </a:lnTo>
                <a:lnTo>
                  <a:pt x="13" y="18"/>
                </a:lnTo>
                <a:lnTo>
                  <a:pt x="14" y="17"/>
                </a:lnTo>
                <a:close/>
              </a:path>
            </a:pathLst>
          </a:custGeom>
          <a:solidFill>
            <a:srgbClr val="FF7F00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>
            <a:off x="4052897" y="1870096"/>
            <a:ext cx="129588" cy="154435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Freeform 64"/>
          <p:cNvSpPr/>
          <p:nvPr/>
        </p:nvSpPr>
        <p:spPr>
          <a:xfrm>
            <a:off x="3873500" y="1651000"/>
            <a:ext cx="266700" cy="215900"/>
          </a:xfrm>
          <a:custGeom>
            <a:avLst/>
            <a:gdLst/>
            <a:ahLst/>
            <a:cxnLst/>
            <a:rect l="l" t="t" r="r" b="b"/>
            <a:pathLst>
              <a:path w="21" h="17">
                <a:moveTo>
                  <a:pt x="0" y="0"/>
                </a:moveTo>
                <a:lnTo>
                  <a:pt x="14" y="17"/>
                </a:lnTo>
                <a:lnTo>
                  <a:pt x="15" y="16"/>
                </a:lnTo>
                <a:lnTo>
                  <a:pt x="16" y="15"/>
                </a:lnTo>
                <a:lnTo>
                  <a:pt x="17" y="14"/>
                </a:lnTo>
                <a:lnTo>
                  <a:pt x="18" y="12"/>
                </a:lnTo>
                <a:lnTo>
                  <a:pt x="19" y="11"/>
                </a:lnTo>
                <a:lnTo>
                  <a:pt x="20" y="10"/>
                </a:lnTo>
                <a:lnTo>
                  <a:pt x="21" y="8"/>
                </a:lnTo>
                <a:lnTo>
                  <a:pt x="21" y="7"/>
                </a:lnTo>
                <a:close/>
              </a:path>
            </a:pathLst>
          </a:custGeom>
          <a:solidFill>
            <a:srgbClr val="CAB2D6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6" name="Connector 65"/>
          <p:cNvCxnSpPr/>
          <p:nvPr/>
        </p:nvCxnSpPr>
        <p:spPr>
          <a:xfrm>
            <a:off x="4142438" y="1736067"/>
            <a:ext cx="192262" cy="6061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Freeform 66"/>
          <p:cNvSpPr/>
          <p:nvPr/>
        </p:nvSpPr>
        <p:spPr>
          <a:xfrm>
            <a:off x="3873500" y="1651000"/>
            <a:ext cx="279400" cy="88900"/>
          </a:xfrm>
          <a:custGeom>
            <a:avLst/>
            <a:gdLst/>
            <a:ahLst/>
            <a:cxnLst/>
            <a:rect l="l" t="t" r="r" b="b"/>
            <a:pathLst>
              <a:path w="22" h="7">
                <a:moveTo>
                  <a:pt x="0" y="0"/>
                </a:moveTo>
                <a:lnTo>
                  <a:pt x="21" y="7"/>
                </a:lnTo>
                <a:lnTo>
                  <a:pt x="21" y="6"/>
                </a:lnTo>
                <a:lnTo>
                  <a:pt x="22" y="5"/>
                </a:lnTo>
                <a:lnTo>
                  <a:pt x="22" y="4"/>
                </a:lnTo>
                <a:lnTo>
                  <a:pt x="22" y="3"/>
                </a:lnTo>
                <a:lnTo>
                  <a:pt x="22" y="2"/>
                </a:lnTo>
                <a:lnTo>
                  <a:pt x="22" y="2"/>
                </a:lnTo>
                <a:lnTo>
                  <a:pt x="22" y="1"/>
                </a:lnTo>
                <a:lnTo>
                  <a:pt x="22" y="0"/>
                </a:lnTo>
                <a:close/>
              </a:path>
            </a:pathLst>
          </a:custGeom>
          <a:solidFill>
            <a:srgbClr val="6A3D9A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8" name="Connector 67"/>
          <p:cNvCxnSpPr/>
          <p:nvPr/>
        </p:nvCxnSpPr>
        <p:spPr>
          <a:xfrm>
            <a:off x="4155780" y="1649463"/>
            <a:ext cx="201602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Rectangle 68"/>
          <p:cNvSpPr/>
          <p:nvPr/>
        </p:nvSpPr>
        <p:spPr>
          <a:xfrm>
            <a:off x="0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2879992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1" name="Picture 7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72" name="Picture 7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Example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1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59993" y="737391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Using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roulette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wheel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cumulative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fitness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ratios,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identify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59993" y="909476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individuals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selected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parents.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36091" y="1202387"/>
            <a:ext cx="504930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1">
                <a:solidFill>
                  <a:srgbClr val="FFFFFF"/>
                </a:solidFill>
                <a:latin typeface="Josefin Sans"/>
              </a:rPr>
              <a:t>Label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225816" y="1202387"/>
            <a:ext cx="455957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1">
                <a:solidFill>
                  <a:srgbClr val="FFFFFF"/>
                </a:solidFill>
                <a:latin typeface="Josefin Sans"/>
              </a:rPr>
              <a:t>Parent</a:t>
            </a:r>
            <a:r>
              <a:rPr sz="797" b="1">
                <a:solidFill>
                  <a:srgbClr val="FFFFFF"/>
                </a:solidFill>
                <a:latin typeface="Josefin Sans"/>
              </a:rPr>
              <a:t> </a:t>
            </a:r>
            <a:r>
              <a:rPr sz="797" b="1">
                <a:solidFill>
                  <a:srgbClr val="FFFFFF"/>
                </a:solidFill>
                <a:latin typeface="Josefin Sans"/>
              </a:rPr>
              <a:t>A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961311" y="1202387"/>
            <a:ext cx="382408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1">
                <a:solidFill>
                  <a:srgbClr val="FFFFFF"/>
                </a:solidFill>
                <a:latin typeface="Josefin Sans"/>
              </a:rPr>
              <a:t>Parent</a:t>
            </a:r>
            <a:r>
              <a:rPr sz="797" b="1">
                <a:solidFill>
                  <a:srgbClr val="FFFFFF"/>
                </a:solidFill>
                <a:latin typeface="Josefin Sans"/>
              </a:rPr>
              <a:t> </a:t>
            </a:r>
            <a:r>
              <a:rPr sz="797" b="1">
                <a:solidFill>
                  <a:srgbClr val="FFFFFF"/>
                </a:solidFill>
                <a:latin typeface="Josefin Sans"/>
              </a:rPr>
              <a:t>B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14463" y="1374587"/>
            <a:ext cx="497093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p</a:t>
            </a:r>
            <a:r>
              <a:rPr sz="5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166228" y="1372890"/>
            <a:ext cx="461916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0.9189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869935" y="1372891"/>
            <a:ext cx="391546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0.1049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14465" y="1545403"/>
            <a:ext cx="497093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p</a:t>
            </a:r>
            <a:r>
              <a:rPr sz="59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151510" y="1543706"/>
            <a:ext cx="463388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0.3305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860068" y="1543705"/>
            <a:ext cx="392532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0.0868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14465" y="1716204"/>
            <a:ext cx="497093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p</a:t>
            </a:r>
            <a:r>
              <a:rPr sz="597" b="0">
                <a:solidFill>
                  <a:srgbClr val="000000"/>
                </a:solidFill>
                <a:latin typeface="Cambria Math"/>
              </a:rP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178180" y="1714508"/>
            <a:ext cx="460721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0.8211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861337" y="1714507"/>
            <a:ext cx="392405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0.9057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814465" y="1887019"/>
            <a:ext cx="497093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p</a:t>
            </a:r>
            <a:r>
              <a:rPr sz="597" b="0">
                <a:solidFill>
                  <a:srgbClr val="000000"/>
                </a:solidFill>
                <a:latin typeface="Cambria Math"/>
              </a:rPr>
              <a:t>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153631" y="1885323"/>
            <a:ext cx="463176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0.5780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863662" y="1885322"/>
            <a:ext cx="392173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0.9635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14465" y="2057833"/>
            <a:ext cx="497093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p</a:t>
            </a:r>
            <a:r>
              <a:rPr sz="597" b="0">
                <a:solidFill>
                  <a:srgbClr val="000000"/>
                </a:solidFill>
                <a:latin typeface="Cambria Math"/>
              </a:rPr>
              <a:t>5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160515" y="2056137"/>
            <a:ext cx="462488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0.2476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865732" y="2056136"/>
            <a:ext cx="391966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0.8286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064192" y="1129252"/>
            <a:ext cx="172120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0.1528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187306" y="1361162"/>
            <a:ext cx="159809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457411" y="1062725"/>
            <a:ext cx="232798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0.3264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604667" y="1177444"/>
            <a:ext cx="218072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3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3227732" y="1427892"/>
            <a:ext cx="255766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0.45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473210" y="1282930"/>
            <a:ext cx="231218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214193" y="1867058"/>
            <a:ext cx="257120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0.5764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3373782" y="1598271"/>
            <a:ext cx="241161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3797733" y="2172163"/>
            <a:ext cx="198766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0.7708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3604667" y="1943788"/>
            <a:ext cx="218072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6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3860509" y="1988911"/>
            <a:ext cx="192488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7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4113671" y="2042356"/>
            <a:ext cx="167172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0.8611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978111" y="1956018"/>
            <a:ext cx="180728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281819" y="1774298"/>
            <a:ext cx="1503576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0.9514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163315" y="1800620"/>
            <a:ext cx="162208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4427831" y="1601578"/>
            <a:ext cx="135756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4204196" y="1626338"/>
            <a:ext cx="158119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10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4898771" y="3150916"/>
            <a:ext cx="88662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5623129" y="3150692"/>
            <a:ext cx="16226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64</a:t>
            </a:r>
          </a:p>
        </p:txBody>
      </p:sp>
    </p:spTree>
  </p:cSld>
  <p:clrMapOvr>
    <a:masterClrMapping/>
  </p:clrMapOvr>
</p:sld>
</file>

<file path=ppt/slides/slide1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660184" y="1173443"/>
            <a:ext cx="415404" cy="170814"/>
          </a:xfrm>
          <a:prstGeom prst="rect">
            <a:avLst/>
          </a:prstGeom>
          <a:solidFill>
            <a:srgbClr val="6BAE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075588" y="1173443"/>
            <a:ext cx="708558" cy="170814"/>
          </a:xfrm>
          <a:prstGeom prst="rect">
            <a:avLst/>
          </a:prstGeom>
          <a:solidFill>
            <a:srgbClr val="217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784146" y="1173443"/>
            <a:ext cx="754748" cy="170814"/>
          </a:xfrm>
          <a:prstGeom prst="rect">
            <a:avLst/>
          </a:prstGeom>
          <a:solidFill>
            <a:srgbClr val="0830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60186" y="1515061"/>
            <a:ext cx="415404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075590" y="1515061"/>
            <a:ext cx="451650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527240" y="1515061"/>
            <a:ext cx="256921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784147" y="1515060"/>
            <a:ext cx="451446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235594" y="1515060"/>
            <a:ext cx="303314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60186" y="1856677"/>
            <a:ext cx="415404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075590" y="1856677"/>
            <a:ext cx="451650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527240" y="1856677"/>
            <a:ext cx="256921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784147" y="1856677"/>
            <a:ext cx="451446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2235594" y="1856677"/>
            <a:ext cx="303314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3873500" y="1409700"/>
            <a:ext cx="279400" cy="241300"/>
          </a:xfrm>
          <a:custGeom>
            <a:avLst/>
            <a:gdLst/>
            <a:ahLst/>
            <a:cxnLst/>
            <a:rect l="l" t="t" r="r" b="b"/>
            <a:pathLst>
              <a:path w="22" h="19">
                <a:moveTo>
                  <a:pt x="0" y="19"/>
                </a:moveTo>
                <a:lnTo>
                  <a:pt x="22" y="19"/>
                </a:lnTo>
                <a:lnTo>
                  <a:pt x="22" y="16"/>
                </a:lnTo>
                <a:lnTo>
                  <a:pt x="22" y="13"/>
                </a:lnTo>
                <a:lnTo>
                  <a:pt x="21" y="11"/>
                </a:lnTo>
                <a:lnTo>
                  <a:pt x="20" y="8"/>
                </a:lnTo>
                <a:lnTo>
                  <a:pt x="18" y="6"/>
                </a:lnTo>
                <a:lnTo>
                  <a:pt x="17" y="4"/>
                </a:lnTo>
                <a:lnTo>
                  <a:pt x="15" y="2"/>
                </a:lnTo>
                <a:lnTo>
                  <a:pt x="13" y="0"/>
                </a:lnTo>
                <a:close/>
              </a:path>
            </a:pathLst>
          </a:custGeom>
          <a:solidFill>
            <a:srgbClr val="A6CEE3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0" name="Connector 49"/>
          <p:cNvCxnSpPr/>
          <p:nvPr/>
        </p:nvCxnSpPr>
        <p:spPr>
          <a:xfrm flipV="1">
            <a:off x="4032962" y="1248387"/>
            <a:ext cx="115635" cy="16514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Freeform 50"/>
          <p:cNvSpPr/>
          <p:nvPr/>
        </p:nvSpPr>
        <p:spPr>
          <a:xfrm>
            <a:off x="3733800" y="1358900"/>
            <a:ext cx="304800" cy="292100"/>
          </a:xfrm>
          <a:custGeom>
            <a:avLst/>
            <a:gdLst/>
            <a:ahLst/>
            <a:cxnLst/>
            <a:rect l="l" t="t" r="r" b="b"/>
            <a:pathLst>
              <a:path w="24" h="23">
                <a:moveTo>
                  <a:pt x="11" y="23"/>
                </a:moveTo>
                <a:lnTo>
                  <a:pt x="24" y="4"/>
                </a:lnTo>
                <a:lnTo>
                  <a:pt x="21" y="3"/>
                </a:lnTo>
                <a:lnTo>
                  <a:pt x="18" y="1"/>
                </a:lnTo>
                <a:lnTo>
                  <a:pt x="15" y="1"/>
                </a:lnTo>
                <a:lnTo>
                  <a:pt x="12" y="0"/>
                </a:lnTo>
                <a:lnTo>
                  <a:pt x="9" y="0"/>
                </a:lnTo>
                <a:lnTo>
                  <a:pt x="6" y="1"/>
                </a:lnTo>
                <a:lnTo>
                  <a:pt x="3" y="2"/>
                </a:lnTo>
                <a:lnTo>
                  <a:pt x="0" y="3"/>
                </a:lnTo>
                <a:close/>
              </a:path>
            </a:pathLst>
          </a:custGeom>
          <a:solidFill>
            <a:srgbClr val="1F78B4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 flipH="1" flipV="1">
            <a:off x="3641695" y="1215186"/>
            <a:ext cx="93083" cy="17881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H="1" flipV="1">
            <a:off x="3641695" y="1215186"/>
            <a:ext cx="93083" cy="17881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3668297" y="1266288"/>
            <a:ext cx="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Freeform 54"/>
          <p:cNvSpPr/>
          <p:nvPr/>
        </p:nvSpPr>
        <p:spPr>
          <a:xfrm>
            <a:off x="3594100" y="1397000"/>
            <a:ext cx="279400" cy="254000"/>
          </a:xfrm>
          <a:custGeom>
            <a:avLst/>
            <a:gdLst/>
            <a:ahLst/>
            <a:cxnLst/>
            <a:rect l="l" t="t" r="r" b="b"/>
            <a:pathLst>
              <a:path w="22" h="20">
                <a:moveTo>
                  <a:pt x="22" y="20"/>
                </a:moveTo>
                <a:lnTo>
                  <a:pt x="11" y="0"/>
                </a:lnTo>
                <a:lnTo>
                  <a:pt x="9" y="1"/>
                </a:lnTo>
                <a:lnTo>
                  <a:pt x="7" y="2"/>
                </a:lnTo>
                <a:lnTo>
                  <a:pt x="6" y="4"/>
                </a:lnTo>
                <a:lnTo>
                  <a:pt x="4" y="5"/>
                </a:lnTo>
                <a:lnTo>
                  <a:pt x="3" y="7"/>
                </a:lnTo>
                <a:lnTo>
                  <a:pt x="2" y="9"/>
                </a:lnTo>
                <a:lnTo>
                  <a:pt x="1" y="11"/>
                </a:lnTo>
                <a:lnTo>
                  <a:pt x="0" y="13"/>
                </a:lnTo>
                <a:close/>
              </a:path>
            </a:pathLst>
          </a:custGeom>
          <a:solidFill>
            <a:srgbClr val="33A02C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6" name="Connector 55"/>
          <p:cNvCxnSpPr/>
          <p:nvPr/>
        </p:nvCxnSpPr>
        <p:spPr>
          <a:xfrm flipH="1" flipV="1">
            <a:off x="3400821" y="1502239"/>
            <a:ext cx="192263" cy="6062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Freeform 56"/>
          <p:cNvSpPr/>
          <p:nvPr/>
        </p:nvSpPr>
        <p:spPr>
          <a:xfrm>
            <a:off x="3581400" y="1562100"/>
            <a:ext cx="292100" cy="215900"/>
          </a:xfrm>
          <a:custGeom>
            <a:avLst/>
            <a:gdLst/>
            <a:ahLst/>
            <a:cxnLst/>
            <a:rect l="l" t="t" r="r" b="b"/>
            <a:pathLst>
              <a:path w="23" h="17">
                <a:moveTo>
                  <a:pt x="23" y="7"/>
                </a:moveTo>
                <a:lnTo>
                  <a:pt x="1" y="0"/>
                </a:lnTo>
                <a:lnTo>
                  <a:pt x="0" y="2"/>
                </a:lnTo>
                <a:lnTo>
                  <a:pt x="0" y="4"/>
                </a:lnTo>
                <a:lnTo>
                  <a:pt x="0" y="7"/>
                </a:lnTo>
                <a:lnTo>
                  <a:pt x="0" y="9"/>
                </a:lnTo>
                <a:lnTo>
                  <a:pt x="0" y="11"/>
                </a:lnTo>
                <a:lnTo>
                  <a:pt x="1" y="13"/>
                </a:lnTo>
                <a:lnTo>
                  <a:pt x="1" y="15"/>
                </a:lnTo>
                <a:lnTo>
                  <a:pt x="2" y="17"/>
                </a:lnTo>
                <a:close/>
              </a:path>
            </a:pathLst>
          </a:custGeom>
          <a:solidFill>
            <a:srgbClr val="FB9A99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8" name="Connector 57"/>
          <p:cNvCxnSpPr/>
          <p:nvPr/>
        </p:nvCxnSpPr>
        <p:spPr>
          <a:xfrm flipH="1">
            <a:off x="3433484" y="1782445"/>
            <a:ext cx="178814" cy="9308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Freeform 58"/>
          <p:cNvSpPr/>
          <p:nvPr/>
        </p:nvSpPr>
        <p:spPr>
          <a:xfrm>
            <a:off x="3606800" y="1651000"/>
            <a:ext cx="304800" cy="292100"/>
          </a:xfrm>
          <a:custGeom>
            <a:avLst/>
            <a:gdLst/>
            <a:ahLst/>
            <a:cxnLst/>
            <a:rect l="l" t="t" r="r" b="b"/>
            <a:pathLst>
              <a:path w="24" h="23">
                <a:moveTo>
                  <a:pt x="21" y="0"/>
                </a:moveTo>
                <a:lnTo>
                  <a:pt x="0" y="10"/>
                </a:lnTo>
                <a:lnTo>
                  <a:pt x="2" y="13"/>
                </a:lnTo>
                <a:lnTo>
                  <a:pt x="5" y="16"/>
                </a:lnTo>
                <a:lnTo>
                  <a:pt x="7" y="18"/>
                </a:lnTo>
                <a:lnTo>
                  <a:pt x="10" y="20"/>
                </a:lnTo>
                <a:lnTo>
                  <a:pt x="13" y="21"/>
                </a:lnTo>
                <a:lnTo>
                  <a:pt x="17" y="22"/>
                </a:lnTo>
                <a:lnTo>
                  <a:pt x="20" y="23"/>
                </a:lnTo>
                <a:lnTo>
                  <a:pt x="24" y="22"/>
                </a:lnTo>
                <a:close/>
              </a:path>
            </a:pathLst>
          </a:custGeom>
          <a:solidFill>
            <a:srgbClr val="E31A1C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" name="Connector 59"/>
          <p:cNvCxnSpPr/>
          <p:nvPr/>
        </p:nvCxnSpPr>
        <p:spPr>
          <a:xfrm>
            <a:off x="3905349" y="1935008"/>
            <a:ext cx="26311" cy="19987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3905349" y="1935008"/>
            <a:ext cx="26311" cy="19987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3924141" y="2077758"/>
            <a:ext cx="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Freeform 62"/>
          <p:cNvSpPr/>
          <p:nvPr/>
        </p:nvSpPr>
        <p:spPr>
          <a:xfrm>
            <a:off x="3873500" y="1651000"/>
            <a:ext cx="177800" cy="279400"/>
          </a:xfrm>
          <a:custGeom>
            <a:avLst/>
            <a:gdLst/>
            <a:ahLst/>
            <a:cxnLst/>
            <a:rect l="l" t="t" r="r" b="b"/>
            <a:pathLst>
              <a:path w="14" h="22">
                <a:moveTo>
                  <a:pt x="0" y="0"/>
                </a:moveTo>
                <a:lnTo>
                  <a:pt x="3" y="22"/>
                </a:lnTo>
                <a:lnTo>
                  <a:pt x="4" y="22"/>
                </a:lnTo>
                <a:lnTo>
                  <a:pt x="6" y="22"/>
                </a:lnTo>
                <a:lnTo>
                  <a:pt x="7" y="21"/>
                </a:lnTo>
                <a:lnTo>
                  <a:pt x="9" y="21"/>
                </a:lnTo>
                <a:lnTo>
                  <a:pt x="10" y="20"/>
                </a:lnTo>
                <a:lnTo>
                  <a:pt x="12" y="19"/>
                </a:lnTo>
                <a:lnTo>
                  <a:pt x="13" y="18"/>
                </a:lnTo>
                <a:lnTo>
                  <a:pt x="14" y="17"/>
                </a:lnTo>
                <a:close/>
              </a:path>
            </a:pathLst>
          </a:custGeom>
          <a:solidFill>
            <a:srgbClr val="FF7F00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>
            <a:off x="4052897" y="1870096"/>
            <a:ext cx="129588" cy="154435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Freeform 64"/>
          <p:cNvSpPr/>
          <p:nvPr/>
        </p:nvSpPr>
        <p:spPr>
          <a:xfrm>
            <a:off x="3873500" y="1651000"/>
            <a:ext cx="266700" cy="215900"/>
          </a:xfrm>
          <a:custGeom>
            <a:avLst/>
            <a:gdLst/>
            <a:ahLst/>
            <a:cxnLst/>
            <a:rect l="l" t="t" r="r" b="b"/>
            <a:pathLst>
              <a:path w="21" h="17">
                <a:moveTo>
                  <a:pt x="0" y="0"/>
                </a:moveTo>
                <a:lnTo>
                  <a:pt x="14" y="17"/>
                </a:lnTo>
                <a:lnTo>
                  <a:pt x="15" y="16"/>
                </a:lnTo>
                <a:lnTo>
                  <a:pt x="16" y="15"/>
                </a:lnTo>
                <a:lnTo>
                  <a:pt x="17" y="14"/>
                </a:lnTo>
                <a:lnTo>
                  <a:pt x="18" y="12"/>
                </a:lnTo>
                <a:lnTo>
                  <a:pt x="19" y="11"/>
                </a:lnTo>
                <a:lnTo>
                  <a:pt x="20" y="10"/>
                </a:lnTo>
                <a:lnTo>
                  <a:pt x="21" y="8"/>
                </a:lnTo>
                <a:lnTo>
                  <a:pt x="21" y="7"/>
                </a:lnTo>
                <a:close/>
              </a:path>
            </a:pathLst>
          </a:custGeom>
          <a:solidFill>
            <a:srgbClr val="CAB2D6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6" name="Connector 65"/>
          <p:cNvCxnSpPr/>
          <p:nvPr/>
        </p:nvCxnSpPr>
        <p:spPr>
          <a:xfrm>
            <a:off x="4142438" y="1736067"/>
            <a:ext cx="192262" cy="6061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Freeform 66"/>
          <p:cNvSpPr/>
          <p:nvPr/>
        </p:nvSpPr>
        <p:spPr>
          <a:xfrm>
            <a:off x="3873500" y="1651000"/>
            <a:ext cx="279400" cy="88900"/>
          </a:xfrm>
          <a:custGeom>
            <a:avLst/>
            <a:gdLst/>
            <a:ahLst/>
            <a:cxnLst/>
            <a:rect l="l" t="t" r="r" b="b"/>
            <a:pathLst>
              <a:path w="22" h="7">
                <a:moveTo>
                  <a:pt x="0" y="0"/>
                </a:moveTo>
                <a:lnTo>
                  <a:pt x="21" y="7"/>
                </a:lnTo>
                <a:lnTo>
                  <a:pt x="21" y="6"/>
                </a:lnTo>
                <a:lnTo>
                  <a:pt x="22" y="5"/>
                </a:lnTo>
                <a:lnTo>
                  <a:pt x="22" y="4"/>
                </a:lnTo>
                <a:lnTo>
                  <a:pt x="22" y="3"/>
                </a:lnTo>
                <a:lnTo>
                  <a:pt x="22" y="2"/>
                </a:lnTo>
                <a:lnTo>
                  <a:pt x="22" y="2"/>
                </a:lnTo>
                <a:lnTo>
                  <a:pt x="22" y="1"/>
                </a:lnTo>
                <a:lnTo>
                  <a:pt x="22" y="0"/>
                </a:lnTo>
                <a:close/>
              </a:path>
            </a:pathLst>
          </a:custGeom>
          <a:solidFill>
            <a:srgbClr val="6A3D9A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8" name="Connector 67"/>
          <p:cNvCxnSpPr/>
          <p:nvPr/>
        </p:nvCxnSpPr>
        <p:spPr>
          <a:xfrm>
            <a:off x="4155780" y="1649463"/>
            <a:ext cx="201602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Rectangle 68"/>
          <p:cNvSpPr/>
          <p:nvPr/>
        </p:nvSpPr>
        <p:spPr>
          <a:xfrm>
            <a:off x="0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2879992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1" name="Picture 7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72" name="Picture 7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Example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1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59993" y="737391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Using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roulette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wheel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cumulative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fitness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ratios,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identify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59993" y="909476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individuals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selected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parents.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36091" y="1202387"/>
            <a:ext cx="504930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1">
                <a:solidFill>
                  <a:srgbClr val="FFFFFF"/>
                </a:solidFill>
                <a:latin typeface="Josefin Sans"/>
              </a:rPr>
              <a:t>Label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225816" y="1202387"/>
            <a:ext cx="455957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1">
                <a:solidFill>
                  <a:srgbClr val="FFFFFF"/>
                </a:solidFill>
                <a:latin typeface="Josefin Sans"/>
              </a:rPr>
              <a:t>Parent</a:t>
            </a:r>
            <a:r>
              <a:rPr sz="797" b="1">
                <a:solidFill>
                  <a:srgbClr val="FFFFFF"/>
                </a:solidFill>
                <a:latin typeface="Josefin Sans"/>
              </a:rPr>
              <a:t> </a:t>
            </a:r>
            <a:r>
              <a:rPr sz="797" b="1">
                <a:solidFill>
                  <a:srgbClr val="FFFFFF"/>
                </a:solidFill>
                <a:latin typeface="Josefin Sans"/>
              </a:rPr>
              <a:t>A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961311" y="1202387"/>
            <a:ext cx="382408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1">
                <a:solidFill>
                  <a:srgbClr val="FFFFFF"/>
                </a:solidFill>
                <a:latin typeface="Josefin Sans"/>
              </a:rPr>
              <a:t>Parent</a:t>
            </a:r>
            <a:r>
              <a:rPr sz="797" b="1">
                <a:solidFill>
                  <a:srgbClr val="FFFFFF"/>
                </a:solidFill>
                <a:latin typeface="Josefin Sans"/>
              </a:rPr>
              <a:t> </a:t>
            </a:r>
            <a:r>
              <a:rPr sz="797" b="1">
                <a:solidFill>
                  <a:srgbClr val="FFFFFF"/>
                </a:solidFill>
                <a:latin typeface="Josefin Sans"/>
              </a:rPr>
              <a:t>B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14463" y="1374587"/>
            <a:ext cx="497093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p</a:t>
            </a:r>
            <a:r>
              <a:rPr sz="5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166228" y="1372890"/>
            <a:ext cx="461916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0.9189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603147" y="1374587"/>
            <a:ext cx="418224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v</a:t>
            </a:r>
            <a:r>
              <a:rPr sz="597" b="0">
                <a:solidFill>
                  <a:srgbClr val="000000"/>
                </a:solidFill>
                <a:latin typeface="Cambria Math"/>
              </a:rPr>
              <a:t>9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869935" y="1372891"/>
            <a:ext cx="391546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0.1049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14465" y="1545403"/>
            <a:ext cx="497093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p</a:t>
            </a:r>
            <a:r>
              <a:rPr sz="59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151510" y="1543706"/>
            <a:ext cx="463388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0.3305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860068" y="1543705"/>
            <a:ext cx="392532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0.0868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14465" y="1716204"/>
            <a:ext cx="497093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p</a:t>
            </a:r>
            <a:r>
              <a:rPr sz="597" b="0">
                <a:solidFill>
                  <a:srgbClr val="000000"/>
                </a:solidFill>
                <a:latin typeface="Cambria Math"/>
              </a:rP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178180" y="1714508"/>
            <a:ext cx="460721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0.8211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861337" y="1714507"/>
            <a:ext cx="392405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0.9057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814465" y="1887019"/>
            <a:ext cx="497093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p</a:t>
            </a:r>
            <a:r>
              <a:rPr sz="597" b="0">
                <a:solidFill>
                  <a:srgbClr val="000000"/>
                </a:solidFill>
                <a:latin typeface="Cambria Math"/>
              </a:rPr>
              <a:t>4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153631" y="1885323"/>
            <a:ext cx="463176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0.5780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863662" y="1885322"/>
            <a:ext cx="392173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0.9635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814465" y="2057833"/>
            <a:ext cx="497093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p</a:t>
            </a:r>
            <a:r>
              <a:rPr sz="597" b="0">
                <a:solidFill>
                  <a:srgbClr val="000000"/>
                </a:solidFill>
                <a:latin typeface="Cambria Math"/>
              </a:rPr>
              <a:t>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160515" y="2056137"/>
            <a:ext cx="462488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0.2476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865732" y="2056136"/>
            <a:ext cx="391966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0.8286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064192" y="1129252"/>
            <a:ext cx="172120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0.1528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4187306" y="1361162"/>
            <a:ext cx="159809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457411" y="1062725"/>
            <a:ext cx="232798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0.3264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3604667" y="1177444"/>
            <a:ext cx="218072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3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227732" y="1427892"/>
            <a:ext cx="255766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0.45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473210" y="1282930"/>
            <a:ext cx="231218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3214193" y="1867058"/>
            <a:ext cx="257120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0.5764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3373782" y="1598271"/>
            <a:ext cx="241161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3797733" y="2172163"/>
            <a:ext cx="198766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0.7708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3604667" y="1943788"/>
            <a:ext cx="218072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6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860509" y="1988911"/>
            <a:ext cx="192488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7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113671" y="2042356"/>
            <a:ext cx="167172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0.8611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978111" y="1956018"/>
            <a:ext cx="180728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8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281819" y="1774298"/>
            <a:ext cx="1503576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0.9514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4163315" y="1800620"/>
            <a:ext cx="162208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9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4427831" y="1601578"/>
            <a:ext cx="135756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4204196" y="1626338"/>
            <a:ext cx="158119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10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4898771" y="3150916"/>
            <a:ext cx="88662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5623129" y="3150692"/>
            <a:ext cx="16226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64</a:t>
            </a:r>
          </a:p>
        </p:txBody>
      </p:sp>
    </p:spTree>
  </p:cSld>
  <p:clrMapOvr>
    <a:masterClrMapping/>
  </p:clrMapOvr>
</p:sld>
</file>

<file path=ppt/slides/slide1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660184" y="1173443"/>
            <a:ext cx="415404" cy="170814"/>
          </a:xfrm>
          <a:prstGeom prst="rect">
            <a:avLst/>
          </a:prstGeom>
          <a:solidFill>
            <a:srgbClr val="6BAE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075588" y="1173443"/>
            <a:ext cx="708558" cy="170814"/>
          </a:xfrm>
          <a:prstGeom prst="rect">
            <a:avLst/>
          </a:prstGeom>
          <a:solidFill>
            <a:srgbClr val="217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784146" y="1173443"/>
            <a:ext cx="754748" cy="170814"/>
          </a:xfrm>
          <a:prstGeom prst="rect">
            <a:avLst/>
          </a:prstGeom>
          <a:solidFill>
            <a:srgbClr val="0830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60182" y="1515061"/>
            <a:ext cx="415404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075587" y="1515061"/>
            <a:ext cx="451650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527237" y="1515061"/>
            <a:ext cx="256921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784144" y="1515060"/>
            <a:ext cx="451446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235591" y="1515060"/>
            <a:ext cx="303314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60182" y="1856677"/>
            <a:ext cx="415404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075587" y="1856677"/>
            <a:ext cx="451650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527237" y="1856677"/>
            <a:ext cx="256921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784144" y="1856677"/>
            <a:ext cx="451446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2235591" y="1856677"/>
            <a:ext cx="303314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3873500" y="1409700"/>
            <a:ext cx="279400" cy="241300"/>
          </a:xfrm>
          <a:custGeom>
            <a:avLst/>
            <a:gdLst/>
            <a:ahLst/>
            <a:cxnLst/>
            <a:rect l="l" t="t" r="r" b="b"/>
            <a:pathLst>
              <a:path w="22" h="19">
                <a:moveTo>
                  <a:pt x="0" y="19"/>
                </a:moveTo>
                <a:lnTo>
                  <a:pt x="22" y="19"/>
                </a:lnTo>
                <a:lnTo>
                  <a:pt x="22" y="16"/>
                </a:lnTo>
                <a:lnTo>
                  <a:pt x="22" y="13"/>
                </a:lnTo>
                <a:lnTo>
                  <a:pt x="21" y="11"/>
                </a:lnTo>
                <a:lnTo>
                  <a:pt x="20" y="8"/>
                </a:lnTo>
                <a:lnTo>
                  <a:pt x="18" y="6"/>
                </a:lnTo>
                <a:lnTo>
                  <a:pt x="17" y="4"/>
                </a:lnTo>
                <a:lnTo>
                  <a:pt x="15" y="2"/>
                </a:lnTo>
                <a:lnTo>
                  <a:pt x="13" y="0"/>
                </a:lnTo>
                <a:close/>
              </a:path>
            </a:pathLst>
          </a:custGeom>
          <a:solidFill>
            <a:srgbClr val="A6CEE3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0" name="Connector 49"/>
          <p:cNvCxnSpPr/>
          <p:nvPr/>
        </p:nvCxnSpPr>
        <p:spPr>
          <a:xfrm flipV="1">
            <a:off x="4032959" y="1248387"/>
            <a:ext cx="115635" cy="16514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Freeform 50"/>
          <p:cNvSpPr/>
          <p:nvPr/>
        </p:nvSpPr>
        <p:spPr>
          <a:xfrm>
            <a:off x="3733800" y="1358900"/>
            <a:ext cx="304800" cy="292100"/>
          </a:xfrm>
          <a:custGeom>
            <a:avLst/>
            <a:gdLst/>
            <a:ahLst/>
            <a:cxnLst/>
            <a:rect l="l" t="t" r="r" b="b"/>
            <a:pathLst>
              <a:path w="24" h="23">
                <a:moveTo>
                  <a:pt x="11" y="23"/>
                </a:moveTo>
                <a:lnTo>
                  <a:pt x="24" y="4"/>
                </a:lnTo>
                <a:lnTo>
                  <a:pt x="21" y="3"/>
                </a:lnTo>
                <a:lnTo>
                  <a:pt x="18" y="1"/>
                </a:lnTo>
                <a:lnTo>
                  <a:pt x="15" y="1"/>
                </a:lnTo>
                <a:lnTo>
                  <a:pt x="12" y="0"/>
                </a:lnTo>
                <a:lnTo>
                  <a:pt x="9" y="0"/>
                </a:lnTo>
                <a:lnTo>
                  <a:pt x="6" y="1"/>
                </a:lnTo>
                <a:lnTo>
                  <a:pt x="3" y="2"/>
                </a:lnTo>
                <a:lnTo>
                  <a:pt x="0" y="3"/>
                </a:lnTo>
                <a:close/>
              </a:path>
            </a:pathLst>
          </a:custGeom>
          <a:solidFill>
            <a:srgbClr val="1F78B4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 flipH="1" flipV="1">
            <a:off x="3641692" y="1215186"/>
            <a:ext cx="93083" cy="17881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H="1" flipV="1">
            <a:off x="3641692" y="1215186"/>
            <a:ext cx="93083" cy="17881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3668293" y="1266288"/>
            <a:ext cx="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Freeform 54"/>
          <p:cNvSpPr/>
          <p:nvPr/>
        </p:nvSpPr>
        <p:spPr>
          <a:xfrm>
            <a:off x="3594100" y="1397000"/>
            <a:ext cx="279400" cy="254000"/>
          </a:xfrm>
          <a:custGeom>
            <a:avLst/>
            <a:gdLst/>
            <a:ahLst/>
            <a:cxnLst/>
            <a:rect l="l" t="t" r="r" b="b"/>
            <a:pathLst>
              <a:path w="22" h="20">
                <a:moveTo>
                  <a:pt x="22" y="20"/>
                </a:moveTo>
                <a:lnTo>
                  <a:pt x="11" y="0"/>
                </a:lnTo>
                <a:lnTo>
                  <a:pt x="9" y="1"/>
                </a:lnTo>
                <a:lnTo>
                  <a:pt x="7" y="2"/>
                </a:lnTo>
                <a:lnTo>
                  <a:pt x="6" y="4"/>
                </a:lnTo>
                <a:lnTo>
                  <a:pt x="4" y="5"/>
                </a:lnTo>
                <a:lnTo>
                  <a:pt x="3" y="7"/>
                </a:lnTo>
                <a:lnTo>
                  <a:pt x="2" y="9"/>
                </a:lnTo>
                <a:lnTo>
                  <a:pt x="1" y="11"/>
                </a:lnTo>
                <a:lnTo>
                  <a:pt x="0" y="13"/>
                </a:lnTo>
                <a:close/>
              </a:path>
            </a:pathLst>
          </a:custGeom>
          <a:solidFill>
            <a:srgbClr val="33A02C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6" name="Connector 55"/>
          <p:cNvCxnSpPr/>
          <p:nvPr/>
        </p:nvCxnSpPr>
        <p:spPr>
          <a:xfrm flipH="1" flipV="1">
            <a:off x="3400818" y="1502239"/>
            <a:ext cx="192263" cy="6062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Freeform 56"/>
          <p:cNvSpPr/>
          <p:nvPr/>
        </p:nvSpPr>
        <p:spPr>
          <a:xfrm>
            <a:off x="3581400" y="1562100"/>
            <a:ext cx="292100" cy="215900"/>
          </a:xfrm>
          <a:custGeom>
            <a:avLst/>
            <a:gdLst/>
            <a:ahLst/>
            <a:cxnLst/>
            <a:rect l="l" t="t" r="r" b="b"/>
            <a:pathLst>
              <a:path w="23" h="17">
                <a:moveTo>
                  <a:pt x="23" y="7"/>
                </a:moveTo>
                <a:lnTo>
                  <a:pt x="1" y="0"/>
                </a:lnTo>
                <a:lnTo>
                  <a:pt x="0" y="2"/>
                </a:lnTo>
                <a:lnTo>
                  <a:pt x="0" y="4"/>
                </a:lnTo>
                <a:lnTo>
                  <a:pt x="0" y="7"/>
                </a:lnTo>
                <a:lnTo>
                  <a:pt x="0" y="9"/>
                </a:lnTo>
                <a:lnTo>
                  <a:pt x="0" y="11"/>
                </a:lnTo>
                <a:lnTo>
                  <a:pt x="1" y="13"/>
                </a:lnTo>
                <a:lnTo>
                  <a:pt x="1" y="15"/>
                </a:lnTo>
                <a:lnTo>
                  <a:pt x="2" y="17"/>
                </a:lnTo>
                <a:close/>
              </a:path>
            </a:pathLst>
          </a:custGeom>
          <a:solidFill>
            <a:srgbClr val="FB9A99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8" name="Connector 57"/>
          <p:cNvCxnSpPr/>
          <p:nvPr/>
        </p:nvCxnSpPr>
        <p:spPr>
          <a:xfrm flipH="1">
            <a:off x="3433481" y="1782445"/>
            <a:ext cx="178814" cy="9308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Freeform 58"/>
          <p:cNvSpPr/>
          <p:nvPr/>
        </p:nvSpPr>
        <p:spPr>
          <a:xfrm>
            <a:off x="3606800" y="1651000"/>
            <a:ext cx="304800" cy="292100"/>
          </a:xfrm>
          <a:custGeom>
            <a:avLst/>
            <a:gdLst/>
            <a:ahLst/>
            <a:cxnLst/>
            <a:rect l="l" t="t" r="r" b="b"/>
            <a:pathLst>
              <a:path w="24" h="23">
                <a:moveTo>
                  <a:pt x="21" y="0"/>
                </a:moveTo>
                <a:lnTo>
                  <a:pt x="0" y="10"/>
                </a:lnTo>
                <a:lnTo>
                  <a:pt x="2" y="13"/>
                </a:lnTo>
                <a:lnTo>
                  <a:pt x="5" y="16"/>
                </a:lnTo>
                <a:lnTo>
                  <a:pt x="7" y="18"/>
                </a:lnTo>
                <a:lnTo>
                  <a:pt x="10" y="20"/>
                </a:lnTo>
                <a:lnTo>
                  <a:pt x="13" y="21"/>
                </a:lnTo>
                <a:lnTo>
                  <a:pt x="17" y="22"/>
                </a:lnTo>
                <a:lnTo>
                  <a:pt x="20" y="23"/>
                </a:lnTo>
                <a:lnTo>
                  <a:pt x="24" y="22"/>
                </a:lnTo>
                <a:close/>
              </a:path>
            </a:pathLst>
          </a:custGeom>
          <a:solidFill>
            <a:srgbClr val="E31A1C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" name="Connector 59"/>
          <p:cNvCxnSpPr/>
          <p:nvPr/>
        </p:nvCxnSpPr>
        <p:spPr>
          <a:xfrm>
            <a:off x="3905346" y="1935008"/>
            <a:ext cx="26311" cy="19987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3905346" y="1935008"/>
            <a:ext cx="26311" cy="19987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3924138" y="2077758"/>
            <a:ext cx="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Freeform 62"/>
          <p:cNvSpPr/>
          <p:nvPr/>
        </p:nvSpPr>
        <p:spPr>
          <a:xfrm>
            <a:off x="3873500" y="1651000"/>
            <a:ext cx="177800" cy="279400"/>
          </a:xfrm>
          <a:custGeom>
            <a:avLst/>
            <a:gdLst/>
            <a:ahLst/>
            <a:cxnLst/>
            <a:rect l="l" t="t" r="r" b="b"/>
            <a:pathLst>
              <a:path w="14" h="22">
                <a:moveTo>
                  <a:pt x="0" y="0"/>
                </a:moveTo>
                <a:lnTo>
                  <a:pt x="3" y="22"/>
                </a:lnTo>
                <a:lnTo>
                  <a:pt x="4" y="22"/>
                </a:lnTo>
                <a:lnTo>
                  <a:pt x="6" y="22"/>
                </a:lnTo>
                <a:lnTo>
                  <a:pt x="7" y="21"/>
                </a:lnTo>
                <a:lnTo>
                  <a:pt x="9" y="21"/>
                </a:lnTo>
                <a:lnTo>
                  <a:pt x="10" y="20"/>
                </a:lnTo>
                <a:lnTo>
                  <a:pt x="12" y="19"/>
                </a:lnTo>
                <a:lnTo>
                  <a:pt x="13" y="18"/>
                </a:lnTo>
                <a:lnTo>
                  <a:pt x="14" y="17"/>
                </a:lnTo>
                <a:close/>
              </a:path>
            </a:pathLst>
          </a:custGeom>
          <a:solidFill>
            <a:srgbClr val="FF7F00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>
            <a:off x="4052894" y="1870096"/>
            <a:ext cx="129588" cy="154435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Freeform 64"/>
          <p:cNvSpPr/>
          <p:nvPr/>
        </p:nvSpPr>
        <p:spPr>
          <a:xfrm>
            <a:off x="3873500" y="1651000"/>
            <a:ext cx="266700" cy="215900"/>
          </a:xfrm>
          <a:custGeom>
            <a:avLst/>
            <a:gdLst/>
            <a:ahLst/>
            <a:cxnLst/>
            <a:rect l="l" t="t" r="r" b="b"/>
            <a:pathLst>
              <a:path w="21" h="17">
                <a:moveTo>
                  <a:pt x="0" y="0"/>
                </a:moveTo>
                <a:lnTo>
                  <a:pt x="14" y="17"/>
                </a:lnTo>
                <a:lnTo>
                  <a:pt x="15" y="16"/>
                </a:lnTo>
                <a:lnTo>
                  <a:pt x="16" y="15"/>
                </a:lnTo>
                <a:lnTo>
                  <a:pt x="17" y="14"/>
                </a:lnTo>
                <a:lnTo>
                  <a:pt x="18" y="12"/>
                </a:lnTo>
                <a:lnTo>
                  <a:pt x="19" y="11"/>
                </a:lnTo>
                <a:lnTo>
                  <a:pt x="20" y="10"/>
                </a:lnTo>
                <a:lnTo>
                  <a:pt x="21" y="8"/>
                </a:lnTo>
                <a:lnTo>
                  <a:pt x="21" y="7"/>
                </a:lnTo>
                <a:close/>
              </a:path>
            </a:pathLst>
          </a:custGeom>
          <a:solidFill>
            <a:srgbClr val="CAB2D6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6" name="Connector 65"/>
          <p:cNvCxnSpPr/>
          <p:nvPr/>
        </p:nvCxnSpPr>
        <p:spPr>
          <a:xfrm>
            <a:off x="4142435" y="1736067"/>
            <a:ext cx="192262" cy="6061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Freeform 66"/>
          <p:cNvSpPr/>
          <p:nvPr/>
        </p:nvSpPr>
        <p:spPr>
          <a:xfrm>
            <a:off x="3873500" y="1651000"/>
            <a:ext cx="279400" cy="88900"/>
          </a:xfrm>
          <a:custGeom>
            <a:avLst/>
            <a:gdLst/>
            <a:ahLst/>
            <a:cxnLst/>
            <a:rect l="l" t="t" r="r" b="b"/>
            <a:pathLst>
              <a:path w="22" h="7">
                <a:moveTo>
                  <a:pt x="0" y="0"/>
                </a:moveTo>
                <a:lnTo>
                  <a:pt x="21" y="7"/>
                </a:lnTo>
                <a:lnTo>
                  <a:pt x="21" y="6"/>
                </a:lnTo>
                <a:lnTo>
                  <a:pt x="22" y="5"/>
                </a:lnTo>
                <a:lnTo>
                  <a:pt x="22" y="4"/>
                </a:lnTo>
                <a:lnTo>
                  <a:pt x="22" y="3"/>
                </a:lnTo>
                <a:lnTo>
                  <a:pt x="22" y="2"/>
                </a:lnTo>
                <a:lnTo>
                  <a:pt x="22" y="2"/>
                </a:lnTo>
                <a:lnTo>
                  <a:pt x="22" y="1"/>
                </a:lnTo>
                <a:lnTo>
                  <a:pt x="22" y="0"/>
                </a:lnTo>
                <a:close/>
              </a:path>
            </a:pathLst>
          </a:custGeom>
          <a:solidFill>
            <a:srgbClr val="6A3D9A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8" name="Connector 67"/>
          <p:cNvCxnSpPr/>
          <p:nvPr/>
        </p:nvCxnSpPr>
        <p:spPr>
          <a:xfrm>
            <a:off x="4155777" y="1649463"/>
            <a:ext cx="201602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Rectangle 68"/>
          <p:cNvSpPr/>
          <p:nvPr/>
        </p:nvSpPr>
        <p:spPr>
          <a:xfrm>
            <a:off x="-2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2879989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1" name="Picture 7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72" name="Picture 7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Example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1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59993" y="737391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Using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roulette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wheel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cumulative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fitness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ratios,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identify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59993" y="909476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individuals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selected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parents.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36091" y="1202387"/>
            <a:ext cx="504930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1">
                <a:solidFill>
                  <a:srgbClr val="FFFFFF"/>
                </a:solidFill>
                <a:latin typeface="Josefin Sans"/>
              </a:rPr>
              <a:t>Label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225816" y="1202387"/>
            <a:ext cx="455957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1">
                <a:solidFill>
                  <a:srgbClr val="FFFFFF"/>
                </a:solidFill>
                <a:latin typeface="Josefin Sans"/>
              </a:rPr>
              <a:t>Parent</a:t>
            </a:r>
            <a:r>
              <a:rPr sz="797" b="1">
                <a:solidFill>
                  <a:srgbClr val="FFFFFF"/>
                </a:solidFill>
                <a:latin typeface="Josefin Sans"/>
              </a:rPr>
              <a:t> </a:t>
            </a:r>
            <a:r>
              <a:rPr sz="797" b="1">
                <a:solidFill>
                  <a:srgbClr val="FFFFFF"/>
                </a:solidFill>
                <a:latin typeface="Josefin Sans"/>
              </a:rPr>
              <a:t>A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961311" y="1202387"/>
            <a:ext cx="382408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1">
                <a:solidFill>
                  <a:srgbClr val="FFFFFF"/>
                </a:solidFill>
                <a:latin typeface="Josefin Sans"/>
              </a:rPr>
              <a:t>Parent</a:t>
            </a:r>
            <a:r>
              <a:rPr sz="797" b="1">
                <a:solidFill>
                  <a:srgbClr val="FFFFFF"/>
                </a:solidFill>
                <a:latin typeface="Josefin Sans"/>
              </a:rPr>
              <a:t> </a:t>
            </a:r>
            <a:r>
              <a:rPr sz="797" b="1">
                <a:solidFill>
                  <a:srgbClr val="FFFFFF"/>
                </a:solidFill>
                <a:latin typeface="Josefin Sans"/>
              </a:rPr>
              <a:t>B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14463" y="1374587"/>
            <a:ext cx="497093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p</a:t>
            </a:r>
            <a:r>
              <a:rPr sz="5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166228" y="1372890"/>
            <a:ext cx="461916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0.9189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603147" y="1374587"/>
            <a:ext cx="418224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v</a:t>
            </a:r>
            <a:r>
              <a:rPr sz="597" b="0">
                <a:solidFill>
                  <a:srgbClr val="000000"/>
                </a:solidFill>
                <a:latin typeface="Cambria Math"/>
              </a:rPr>
              <a:t>9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869935" y="1372891"/>
            <a:ext cx="391546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0.1049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2334705" y="1374587"/>
            <a:ext cx="345069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v</a:t>
            </a:r>
            <a:r>
              <a:rPr sz="5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14462" y="1545403"/>
            <a:ext cx="497093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p</a:t>
            </a:r>
            <a:r>
              <a:rPr sz="59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151507" y="1543706"/>
            <a:ext cx="463388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0.3305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60065" y="1543705"/>
            <a:ext cx="392533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0.0868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14462" y="1716204"/>
            <a:ext cx="497093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p</a:t>
            </a:r>
            <a:r>
              <a:rPr sz="597" b="0">
                <a:solidFill>
                  <a:srgbClr val="000000"/>
                </a:solidFill>
                <a:latin typeface="Cambria Math"/>
              </a:rP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178177" y="1714508"/>
            <a:ext cx="460721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0.8211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861334" y="1714507"/>
            <a:ext cx="392406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0.9057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814462" y="1887019"/>
            <a:ext cx="497093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p</a:t>
            </a:r>
            <a:r>
              <a:rPr sz="597" b="0">
                <a:solidFill>
                  <a:srgbClr val="000000"/>
                </a:solidFill>
                <a:latin typeface="Cambria Math"/>
              </a:rPr>
              <a:t>4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153628" y="1885323"/>
            <a:ext cx="463176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0.5780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863659" y="1885322"/>
            <a:ext cx="3921736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0.9635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14462" y="2057833"/>
            <a:ext cx="497093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p</a:t>
            </a:r>
            <a:r>
              <a:rPr sz="597" b="0">
                <a:solidFill>
                  <a:srgbClr val="000000"/>
                </a:solidFill>
                <a:latin typeface="Cambria Math"/>
              </a:rPr>
              <a:t>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160512" y="2056137"/>
            <a:ext cx="462488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0.2476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865729" y="2056136"/>
            <a:ext cx="3919666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0.8286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4064189" y="1129252"/>
            <a:ext cx="1721206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0.1528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187302" y="1361162"/>
            <a:ext cx="159809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3457408" y="1062725"/>
            <a:ext cx="232798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0.3264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604664" y="1177444"/>
            <a:ext cx="218073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227728" y="1427892"/>
            <a:ext cx="255766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0.45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3473207" y="1282930"/>
            <a:ext cx="231218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3214190" y="1867058"/>
            <a:ext cx="257120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0.5764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3373778" y="1598271"/>
            <a:ext cx="241161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5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3797730" y="2172163"/>
            <a:ext cx="198766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0.7708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604664" y="1943788"/>
            <a:ext cx="218073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6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860506" y="1988911"/>
            <a:ext cx="192488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113668" y="2042356"/>
            <a:ext cx="167172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0.8611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3978108" y="1956018"/>
            <a:ext cx="180728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4281816" y="1774298"/>
            <a:ext cx="150357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0.9514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4163312" y="1800620"/>
            <a:ext cx="162208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9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4427828" y="1601578"/>
            <a:ext cx="135756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4204193" y="1626338"/>
            <a:ext cx="15812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10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4898768" y="3150916"/>
            <a:ext cx="88662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5623126" y="3150692"/>
            <a:ext cx="16226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64</a:t>
            </a:r>
          </a:p>
        </p:txBody>
      </p:sp>
    </p:spTree>
  </p:cSld>
  <p:clrMapOvr>
    <a:masterClrMapping/>
  </p:clrMapOvr>
</p:sld>
</file>

<file path=ppt/slides/slide1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660184" y="1173443"/>
            <a:ext cx="415404" cy="170814"/>
          </a:xfrm>
          <a:prstGeom prst="rect">
            <a:avLst/>
          </a:prstGeom>
          <a:solidFill>
            <a:srgbClr val="6BAE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075588" y="1173443"/>
            <a:ext cx="708558" cy="170814"/>
          </a:xfrm>
          <a:prstGeom prst="rect">
            <a:avLst/>
          </a:prstGeom>
          <a:solidFill>
            <a:srgbClr val="217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784146" y="1173443"/>
            <a:ext cx="754748" cy="170814"/>
          </a:xfrm>
          <a:prstGeom prst="rect">
            <a:avLst/>
          </a:prstGeom>
          <a:solidFill>
            <a:srgbClr val="0830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60182" y="1515061"/>
            <a:ext cx="415404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075587" y="1515061"/>
            <a:ext cx="451650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527237" y="1515061"/>
            <a:ext cx="256921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784144" y="1515060"/>
            <a:ext cx="451446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235591" y="1515060"/>
            <a:ext cx="303314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60182" y="1856677"/>
            <a:ext cx="415404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075587" y="1856677"/>
            <a:ext cx="451650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527237" y="1856677"/>
            <a:ext cx="256921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784144" y="1856677"/>
            <a:ext cx="451446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2235591" y="1856677"/>
            <a:ext cx="303314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3873500" y="1409700"/>
            <a:ext cx="279400" cy="241300"/>
          </a:xfrm>
          <a:custGeom>
            <a:avLst/>
            <a:gdLst/>
            <a:ahLst/>
            <a:cxnLst/>
            <a:rect l="l" t="t" r="r" b="b"/>
            <a:pathLst>
              <a:path w="22" h="19">
                <a:moveTo>
                  <a:pt x="0" y="19"/>
                </a:moveTo>
                <a:lnTo>
                  <a:pt x="22" y="19"/>
                </a:lnTo>
                <a:lnTo>
                  <a:pt x="22" y="16"/>
                </a:lnTo>
                <a:lnTo>
                  <a:pt x="22" y="13"/>
                </a:lnTo>
                <a:lnTo>
                  <a:pt x="21" y="11"/>
                </a:lnTo>
                <a:lnTo>
                  <a:pt x="20" y="8"/>
                </a:lnTo>
                <a:lnTo>
                  <a:pt x="18" y="6"/>
                </a:lnTo>
                <a:lnTo>
                  <a:pt x="17" y="4"/>
                </a:lnTo>
                <a:lnTo>
                  <a:pt x="15" y="2"/>
                </a:lnTo>
                <a:lnTo>
                  <a:pt x="13" y="0"/>
                </a:lnTo>
                <a:close/>
              </a:path>
            </a:pathLst>
          </a:custGeom>
          <a:solidFill>
            <a:srgbClr val="A6CEE3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0" name="Connector 49"/>
          <p:cNvCxnSpPr/>
          <p:nvPr/>
        </p:nvCxnSpPr>
        <p:spPr>
          <a:xfrm flipV="1">
            <a:off x="4032959" y="1248387"/>
            <a:ext cx="115635" cy="16514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Freeform 50"/>
          <p:cNvSpPr/>
          <p:nvPr/>
        </p:nvSpPr>
        <p:spPr>
          <a:xfrm>
            <a:off x="3733800" y="1358900"/>
            <a:ext cx="304800" cy="292100"/>
          </a:xfrm>
          <a:custGeom>
            <a:avLst/>
            <a:gdLst/>
            <a:ahLst/>
            <a:cxnLst/>
            <a:rect l="l" t="t" r="r" b="b"/>
            <a:pathLst>
              <a:path w="24" h="23">
                <a:moveTo>
                  <a:pt x="11" y="23"/>
                </a:moveTo>
                <a:lnTo>
                  <a:pt x="24" y="4"/>
                </a:lnTo>
                <a:lnTo>
                  <a:pt x="21" y="3"/>
                </a:lnTo>
                <a:lnTo>
                  <a:pt x="18" y="1"/>
                </a:lnTo>
                <a:lnTo>
                  <a:pt x="15" y="1"/>
                </a:lnTo>
                <a:lnTo>
                  <a:pt x="12" y="0"/>
                </a:lnTo>
                <a:lnTo>
                  <a:pt x="9" y="0"/>
                </a:lnTo>
                <a:lnTo>
                  <a:pt x="6" y="1"/>
                </a:lnTo>
                <a:lnTo>
                  <a:pt x="3" y="2"/>
                </a:lnTo>
                <a:lnTo>
                  <a:pt x="0" y="3"/>
                </a:lnTo>
                <a:close/>
              </a:path>
            </a:pathLst>
          </a:custGeom>
          <a:solidFill>
            <a:srgbClr val="1F78B4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 flipH="1" flipV="1">
            <a:off x="3641692" y="1215186"/>
            <a:ext cx="93083" cy="17881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H="1" flipV="1">
            <a:off x="3641692" y="1215186"/>
            <a:ext cx="93083" cy="17881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3668293" y="1266288"/>
            <a:ext cx="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Freeform 54"/>
          <p:cNvSpPr/>
          <p:nvPr/>
        </p:nvSpPr>
        <p:spPr>
          <a:xfrm>
            <a:off x="3594100" y="1397000"/>
            <a:ext cx="279400" cy="254000"/>
          </a:xfrm>
          <a:custGeom>
            <a:avLst/>
            <a:gdLst/>
            <a:ahLst/>
            <a:cxnLst/>
            <a:rect l="l" t="t" r="r" b="b"/>
            <a:pathLst>
              <a:path w="22" h="20">
                <a:moveTo>
                  <a:pt x="22" y="20"/>
                </a:moveTo>
                <a:lnTo>
                  <a:pt x="11" y="0"/>
                </a:lnTo>
                <a:lnTo>
                  <a:pt x="9" y="1"/>
                </a:lnTo>
                <a:lnTo>
                  <a:pt x="7" y="2"/>
                </a:lnTo>
                <a:lnTo>
                  <a:pt x="6" y="4"/>
                </a:lnTo>
                <a:lnTo>
                  <a:pt x="4" y="5"/>
                </a:lnTo>
                <a:lnTo>
                  <a:pt x="3" y="7"/>
                </a:lnTo>
                <a:lnTo>
                  <a:pt x="2" y="9"/>
                </a:lnTo>
                <a:lnTo>
                  <a:pt x="1" y="11"/>
                </a:lnTo>
                <a:lnTo>
                  <a:pt x="0" y="13"/>
                </a:lnTo>
                <a:close/>
              </a:path>
            </a:pathLst>
          </a:custGeom>
          <a:solidFill>
            <a:srgbClr val="33A02C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6" name="Connector 55"/>
          <p:cNvCxnSpPr/>
          <p:nvPr/>
        </p:nvCxnSpPr>
        <p:spPr>
          <a:xfrm flipH="1" flipV="1">
            <a:off x="3400818" y="1502239"/>
            <a:ext cx="192263" cy="6062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Freeform 56"/>
          <p:cNvSpPr/>
          <p:nvPr/>
        </p:nvSpPr>
        <p:spPr>
          <a:xfrm>
            <a:off x="3581400" y="1562100"/>
            <a:ext cx="292100" cy="215900"/>
          </a:xfrm>
          <a:custGeom>
            <a:avLst/>
            <a:gdLst/>
            <a:ahLst/>
            <a:cxnLst/>
            <a:rect l="l" t="t" r="r" b="b"/>
            <a:pathLst>
              <a:path w="23" h="17">
                <a:moveTo>
                  <a:pt x="23" y="7"/>
                </a:moveTo>
                <a:lnTo>
                  <a:pt x="1" y="0"/>
                </a:lnTo>
                <a:lnTo>
                  <a:pt x="0" y="2"/>
                </a:lnTo>
                <a:lnTo>
                  <a:pt x="0" y="4"/>
                </a:lnTo>
                <a:lnTo>
                  <a:pt x="0" y="7"/>
                </a:lnTo>
                <a:lnTo>
                  <a:pt x="0" y="9"/>
                </a:lnTo>
                <a:lnTo>
                  <a:pt x="0" y="11"/>
                </a:lnTo>
                <a:lnTo>
                  <a:pt x="1" y="13"/>
                </a:lnTo>
                <a:lnTo>
                  <a:pt x="1" y="15"/>
                </a:lnTo>
                <a:lnTo>
                  <a:pt x="2" y="17"/>
                </a:lnTo>
                <a:close/>
              </a:path>
            </a:pathLst>
          </a:custGeom>
          <a:solidFill>
            <a:srgbClr val="FB9A99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8" name="Connector 57"/>
          <p:cNvCxnSpPr/>
          <p:nvPr/>
        </p:nvCxnSpPr>
        <p:spPr>
          <a:xfrm flipH="1">
            <a:off x="3433481" y="1782445"/>
            <a:ext cx="178814" cy="9308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Freeform 58"/>
          <p:cNvSpPr/>
          <p:nvPr/>
        </p:nvSpPr>
        <p:spPr>
          <a:xfrm>
            <a:off x="3606800" y="1651000"/>
            <a:ext cx="304800" cy="292100"/>
          </a:xfrm>
          <a:custGeom>
            <a:avLst/>
            <a:gdLst/>
            <a:ahLst/>
            <a:cxnLst/>
            <a:rect l="l" t="t" r="r" b="b"/>
            <a:pathLst>
              <a:path w="24" h="23">
                <a:moveTo>
                  <a:pt x="21" y="0"/>
                </a:moveTo>
                <a:lnTo>
                  <a:pt x="0" y="10"/>
                </a:lnTo>
                <a:lnTo>
                  <a:pt x="2" y="13"/>
                </a:lnTo>
                <a:lnTo>
                  <a:pt x="5" y="16"/>
                </a:lnTo>
                <a:lnTo>
                  <a:pt x="7" y="18"/>
                </a:lnTo>
                <a:lnTo>
                  <a:pt x="10" y="20"/>
                </a:lnTo>
                <a:lnTo>
                  <a:pt x="13" y="21"/>
                </a:lnTo>
                <a:lnTo>
                  <a:pt x="17" y="22"/>
                </a:lnTo>
                <a:lnTo>
                  <a:pt x="20" y="23"/>
                </a:lnTo>
                <a:lnTo>
                  <a:pt x="24" y="22"/>
                </a:lnTo>
                <a:close/>
              </a:path>
            </a:pathLst>
          </a:custGeom>
          <a:solidFill>
            <a:srgbClr val="E31A1C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" name="Connector 59"/>
          <p:cNvCxnSpPr/>
          <p:nvPr/>
        </p:nvCxnSpPr>
        <p:spPr>
          <a:xfrm>
            <a:off x="3905346" y="1935008"/>
            <a:ext cx="26311" cy="19987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3905346" y="1935008"/>
            <a:ext cx="26311" cy="19987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3924138" y="2077758"/>
            <a:ext cx="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Freeform 62"/>
          <p:cNvSpPr/>
          <p:nvPr/>
        </p:nvSpPr>
        <p:spPr>
          <a:xfrm>
            <a:off x="3873500" y="1651000"/>
            <a:ext cx="177800" cy="279400"/>
          </a:xfrm>
          <a:custGeom>
            <a:avLst/>
            <a:gdLst/>
            <a:ahLst/>
            <a:cxnLst/>
            <a:rect l="l" t="t" r="r" b="b"/>
            <a:pathLst>
              <a:path w="14" h="22">
                <a:moveTo>
                  <a:pt x="0" y="0"/>
                </a:moveTo>
                <a:lnTo>
                  <a:pt x="3" y="22"/>
                </a:lnTo>
                <a:lnTo>
                  <a:pt x="4" y="22"/>
                </a:lnTo>
                <a:lnTo>
                  <a:pt x="6" y="22"/>
                </a:lnTo>
                <a:lnTo>
                  <a:pt x="7" y="21"/>
                </a:lnTo>
                <a:lnTo>
                  <a:pt x="9" y="21"/>
                </a:lnTo>
                <a:lnTo>
                  <a:pt x="10" y="20"/>
                </a:lnTo>
                <a:lnTo>
                  <a:pt x="12" y="19"/>
                </a:lnTo>
                <a:lnTo>
                  <a:pt x="13" y="18"/>
                </a:lnTo>
                <a:lnTo>
                  <a:pt x="14" y="17"/>
                </a:lnTo>
                <a:close/>
              </a:path>
            </a:pathLst>
          </a:custGeom>
          <a:solidFill>
            <a:srgbClr val="FF7F00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>
            <a:off x="4052894" y="1870096"/>
            <a:ext cx="129588" cy="154435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Freeform 64"/>
          <p:cNvSpPr/>
          <p:nvPr/>
        </p:nvSpPr>
        <p:spPr>
          <a:xfrm>
            <a:off x="3873500" y="1651000"/>
            <a:ext cx="266700" cy="215900"/>
          </a:xfrm>
          <a:custGeom>
            <a:avLst/>
            <a:gdLst/>
            <a:ahLst/>
            <a:cxnLst/>
            <a:rect l="l" t="t" r="r" b="b"/>
            <a:pathLst>
              <a:path w="21" h="17">
                <a:moveTo>
                  <a:pt x="0" y="0"/>
                </a:moveTo>
                <a:lnTo>
                  <a:pt x="14" y="17"/>
                </a:lnTo>
                <a:lnTo>
                  <a:pt x="15" y="16"/>
                </a:lnTo>
                <a:lnTo>
                  <a:pt x="16" y="15"/>
                </a:lnTo>
                <a:lnTo>
                  <a:pt x="17" y="14"/>
                </a:lnTo>
                <a:lnTo>
                  <a:pt x="18" y="12"/>
                </a:lnTo>
                <a:lnTo>
                  <a:pt x="19" y="11"/>
                </a:lnTo>
                <a:lnTo>
                  <a:pt x="20" y="10"/>
                </a:lnTo>
                <a:lnTo>
                  <a:pt x="21" y="8"/>
                </a:lnTo>
                <a:lnTo>
                  <a:pt x="21" y="7"/>
                </a:lnTo>
                <a:close/>
              </a:path>
            </a:pathLst>
          </a:custGeom>
          <a:solidFill>
            <a:srgbClr val="CAB2D6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6" name="Connector 65"/>
          <p:cNvCxnSpPr/>
          <p:nvPr/>
        </p:nvCxnSpPr>
        <p:spPr>
          <a:xfrm>
            <a:off x="4142435" y="1736067"/>
            <a:ext cx="192262" cy="6061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Freeform 66"/>
          <p:cNvSpPr/>
          <p:nvPr/>
        </p:nvSpPr>
        <p:spPr>
          <a:xfrm>
            <a:off x="3873500" y="1651000"/>
            <a:ext cx="279400" cy="88900"/>
          </a:xfrm>
          <a:custGeom>
            <a:avLst/>
            <a:gdLst/>
            <a:ahLst/>
            <a:cxnLst/>
            <a:rect l="l" t="t" r="r" b="b"/>
            <a:pathLst>
              <a:path w="22" h="7">
                <a:moveTo>
                  <a:pt x="0" y="0"/>
                </a:moveTo>
                <a:lnTo>
                  <a:pt x="21" y="7"/>
                </a:lnTo>
                <a:lnTo>
                  <a:pt x="21" y="6"/>
                </a:lnTo>
                <a:lnTo>
                  <a:pt x="22" y="5"/>
                </a:lnTo>
                <a:lnTo>
                  <a:pt x="22" y="4"/>
                </a:lnTo>
                <a:lnTo>
                  <a:pt x="22" y="3"/>
                </a:lnTo>
                <a:lnTo>
                  <a:pt x="22" y="2"/>
                </a:lnTo>
                <a:lnTo>
                  <a:pt x="22" y="2"/>
                </a:lnTo>
                <a:lnTo>
                  <a:pt x="22" y="1"/>
                </a:lnTo>
                <a:lnTo>
                  <a:pt x="22" y="0"/>
                </a:lnTo>
                <a:close/>
              </a:path>
            </a:pathLst>
          </a:custGeom>
          <a:solidFill>
            <a:srgbClr val="6A3D9A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8" name="Connector 67"/>
          <p:cNvCxnSpPr/>
          <p:nvPr/>
        </p:nvCxnSpPr>
        <p:spPr>
          <a:xfrm>
            <a:off x="4155777" y="1649463"/>
            <a:ext cx="201602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Rectangle 68"/>
          <p:cNvSpPr/>
          <p:nvPr/>
        </p:nvSpPr>
        <p:spPr>
          <a:xfrm>
            <a:off x="-2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2879989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1" name="Picture 7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72" name="Picture 7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Example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1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59993" y="737391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Using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roulette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wheel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cumulative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fitness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ratios,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identify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59993" y="909476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individuals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selected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parents.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36091" y="1202387"/>
            <a:ext cx="504930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1">
                <a:solidFill>
                  <a:srgbClr val="FFFFFF"/>
                </a:solidFill>
                <a:latin typeface="Josefin Sans"/>
              </a:rPr>
              <a:t>Label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225816" y="1202387"/>
            <a:ext cx="455957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1">
                <a:solidFill>
                  <a:srgbClr val="FFFFFF"/>
                </a:solidFill>
                <a:latin typeface="Josefin Sans"/>
              </a:rPr>
              <a:t>Parent</a:t>
            </a:r>
            <a:r>
              <a:rPr sz="797" b="1">
                <a:solidFill>
                  <a:srgbClr val="FFFFFF"/>
                </a:solidFill>
                <a:latin typeface="Josefin Sans"/>
              </a:rPr>
              <a:t> </a:t>
            </a:r>
            <a:r>
              <a:rPr sz="797" b="1">
                <a:solidFill>
                  <a:srgbClr val="FFFFFF"/>
                </a:solidFill>
                <a:latin typeface="Josefin Sans"/>
              </a:rPr>
              <a:t>A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961311" y="1202387"/>
            <a:ext cx="382408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1">
                <a:solidFill>
                  <a:srgbClr val="FFFFFF"/>
                </a:solidFill>
                <a:latin typeface="Josefin Sans"/>
              </a:rPr>
              <a:t>Parent</a:t>
            </a:r>
            <a:r>
              <a:rPr sz="797" b="1">
                <a:solidFill>
                  <a:srgbClr val="FFFFFF"/>
                </a:solidFill>
                <a:latin typeface="Josefin Sans"/>
              </a:rPr>
              <a:t> </a:t>
            </a:r>
            <a:r>
              <a:rPr sz="797" b="1">
                <a:solidFill>
                  <a:srgbClr val="FFFFFF"/>
                </a:solidFill>
                <a:latin typeface="Josefin Sans"/>
              </a:rPr>
              <a:t>B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14463" y="1374587"/>
            <a:ext cx="497093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p</a:t>
            </a:r>
            <a:r>
              <a:rPr sz="5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166228" y="1372890"/>
            <a:ext cx="461916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0.9189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603147" y="1374587"/>
            <a:ext cx="418224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v</a:t>
            </a:r>
            <a:r>
              <a:rPr sz="597" b="0">
                <a:solidFill>
                  <a:srgbClr val="000000"/>
                </a:solidFill>
                <a:latin typeface="Cambria Math"/>
              </a:rPr>
              <a:t>9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869935" y="1372891"/>
            <a:ext cx="391546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0.1049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2334705" y="1374587"/>
            <a:ext cx="345069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v</a:t>
            </a:r>
            <a:r>
              <a:rPr sz="5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14462" y="1545403"/>
            <a:ext cx="497093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p</a:t>
            </a:r>
            <a:r>
              <a:rPr sz="59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151507" y="1543706"/>
            <a:ext cx="463388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0.3305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603144" y="1545403"/>
            <a:ext cx="418225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v</a:t>
            </a:r>
            <a:r>
              <a:rPr sz="597" b="0">
                <a:solidFill>
                  <a:srgbClr val="000000"/>
                </a:solidFill>
                <a:latin typeface="Cambria Math"/>
              </a:rP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860065" y="1543705"/>
            <a:ext cx="392533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0.0868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814462" y="1716204"/>
            <a:ext cx="497093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p</a:t>
            </a:r>
            <a:r>
              <a:rPr sz="597" b="0">
                <a:solidFill>
                  <a:srgbClr val="000000"/>
                </a:solidFill>
                <a:latin typeface="Cambria Math"/>
              </a:rP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178177" y="1714508"/>
            <a:ext cx="460721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0.8211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861334" y="1714507"/>
            <a:ext cx="392406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0.9057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14462" y="1887019"/>
            <a:ext cx="497093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p</a:t>
            </a:r>
            <a:r>
              <a:rPr sz="597" b="0">
                <a:solidFill>
                  <a:srgbClr val="000000"/>
                </a:solidFill>
                <a:latin typeface="Cambria Math"/>
              </a:rPr>
              <a:t>4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153628" y="1885323"/>
            <a:ext cx="463176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0.5780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863659" y="1885322"/>
            <a:ext cx="3921736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0.9635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14462" y="2057833"/>
            <a:ext cx="497093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p</a:t>
            </a:r>
            <a:r>
              <a:rPr sz="597" b="0">
                <a:solidFill>
                  <a:srgbClr val="000000"/>
                </a:solidFill>
                <a:latin typeface="Cambria Math"/>
              </a:rPr>
              <a:t>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160512" y="2056137"/>
            <a:ext cx="462488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0.2476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865729" y="2056136"/>
            <a:ext cx="3919666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0.8286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064189" y="1129252"/>
            <a:ext cx="1721206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0.1528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4187302" y="1361162"/>
            <a:ext cx="159809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457408" y="1062725"/>
            <a:ext cx="232798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0.3264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604664" y="1177444"/>
            <a:ext cx="218073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3227728" y="1427892"/>
            <a:ext cx="255766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0.45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3473207" y="1282930"/>
            <a:ext cx="231218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3214190" y="1867058"/>
            <a:ext cx="257120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0.5764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3373778" y="1598271"/>
            <a:ext cx="241161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5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797730" y="2172163"/>
            <a:ext cx="198766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0.7708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604664" y="1943788"/>
            <a:ext cx="218073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860506" y="1988911"/>
            <a:ext cx="192488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7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113668" y="2042356"/>
            <a:ext cx="167172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0.8611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3978108" y="1956018"/>
            <a:ext cx="180728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8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4281816" y="1774298"/>
            <a:ext cx="150357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0.9514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4163312" y="1800620"/>
            <a:ext cx="162208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9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4427828" y="1601578"/>
            <a:ext cx="135756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4204193" y="1626338"/>
            <a:ext cx="15812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898768" y="3150916"/>
            <a:ext cx="88662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5623126" y="3150692"/>
            <a:ext cx="16226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64</a:t>
            </a:r>
          </a:p>
        </p:txBody>
      </p:sp>
    </p:spTree>
  </p:cSld>
  <p:clrMapOvr>
    <a:masterClrMapping/>
  </p:clrMapOvr>
</p:sld>
</file>

<file path=ppt/slides/slide1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660184" y="1173443"/>
            <a:ext cx="415404" cy="170814"/>
          </a:xfrm>
          <a:prstGeom prst="rect">
            <a:avLst/>
          </a:prstGeom>
          <a:solidFill>
            <a:srgbClr val="6BAE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075588" y="1173443"/>
            <a:ext cx="708558" cy="170814"/>
          </a:xfrm>
          <a:prstGeom prst="rect">
            <a:avLst/>
          </a:prstGeom>
          <a:solidFill>
            <a:srgbClr val="217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784146" y="1173443"/>
            <a:ext cx="754748" cy="170814"/>
          </a:xfrm>
          <a:prstGeom prst="rect">
            <a:avLst/>
          </a:prstGeom>
          <a:solidFill>
            <a:srgbClr val="0830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60182" y="1515061"/>
            <a:ext cx="415404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075587" y="1515061"/>
            <a:ext cx="451650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527237" y="1515061"/>
            <a:ext cx="256921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784144" y="1515060"/>
            <a:ext cx="451446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235591" y="1515060"/>
            <a:ext cx="303314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60179" y="1856677"/>
            <a:ext cx="415404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075584" y="1856677"/>
            <a:ext cx="451650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527234" y="1856677"/>
            <a:ext cx="256921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784141" y="1856677"/>
            <a:ext cx="451446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2235588" y="1856677"/>
            <a:ext cx="303314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3873500" y="1409700"/>
            <a:ext cx="279400" cy="241300"/>
          </a:xfrm>
          <a:custGeom>
            <a:avLst/>
            <a:gdLst/>
            <a:ahLst/>
            <a:cxnLst/>
            <a:rect l="l" t="t" r="r" b="b"/>
            <a:pathLst>
              <a:path w="22" h="19">
                <a:moveTo>
                  <a:pt x="0" y="19"/>
                </a:moveTo>
                <a:lnTo>
                  <a:pt x="22" y="19"/>
                </a:lnTo>
                <a:lnTo>
                  <a:pt x="22" y="16"/>
                </a:lnTo>
                <a:lnTo>
                  <a:pt x="22" y="13"/>
                </a:lnTo>
                <a:lnTo>
                  <a:pt x="21" y="11"/>
                </a:lnTo>
                <a:lnTo>
                  <a:pt x="20" y="8"/>
                </a:lnTo>
                <a:lnTo>
                  <a:pt x="18" y="6"/>
                </a:lnTo>
                <a:lnTo>
                  <a:pt x="17" y="4"/>
                </a:lnTo>
                <a:lnTo>
                  <a:pt x="15" y="2"/>
                </a:lnTo>
                <a:lnTo>
                  <a:pt x="13" y="0"/>
                </a:lnTo>
                <a:close/>
              </a:path>
            </a:pathLst>
          </a:custGeom>
          <a:solidFill>
            <a:srgbClr val="A6CEE3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0" name="Connector 49"/>
          <p:cNvCxnSpPr/>
          <p:nvPr/>
        </p:nvCxnSpPr>
        <p:spPr>
          <a:xfrm flipV="1">
            <a:off x="4032956" y="1248387"/>
            <a:ext cx="115634" cy="16514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Freeform 50"/>
          <p:cNvSpPr/>
          <p:nvPr/>
        </p:nvSpPr>
        <p:spPr>
          <a:xfrm>
            <a:off x="3733800" y="1358900"/>
            <a:ext cx="304800" cy="292100"/>
          </a:xfrm>
          <a:custGeom>
            <a:avLst/>
            <a:gdLst/>
            <a:ahLst/>
            <a:cxnLst/>
            <a:rect l="l" t="t" r="r" b="b"/>
            <a:pathLst>
              <a:path w="24" h="23">
                <a:moveTo>
                  <a:pt x="11" y="23"/>
                </a:moveTo>
                <a:lnTo>
                  <a:pt x="24" y="4"/>
                </a:lnTo>
                <a:lnTo>
                  <a:pt x="21" y="3"/>
                </a:lnTo>
                <a:lnTo>
                  <a:pt x="18" y="1"/>
                </a:lnTo>
                <a:lnTo>
                  <a:pt x="15" y="1"/>
                </a:lnTo>
                <a:lnTo>
                  <a:pt x="12" y="0"/>
                </a:lnTo>
                <a:lnTo>
                  <a:pt x="9" y="0"/>
                </a:lnTo>
                <a:lnTo>
                  <a:pt x="6" y="1"/>
                </a:lnTo>
                <a:lnTo>
                  <a:pt x="3" y="2"/>
                </a:lnTo>
                <a:lnTo>
                  <a:pt x="0" y="3"/>
                </a:lnTo>
                <a:close/>
              </a:path>
            </a:pathLst>
          </a:custGeom>
          <a:solidFill>
            <a:srgbClr val="1F78B4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 flipH="1" flipV="1">
            <a:off x="3641689" y="1215186"/>
            <a:ext cx="93083" cy="17881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H="1" flipV="1">
            <a:off x="3641689" y="1215186"/>
            <a:ext cx="93083" cy="17881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3668290" y="1266288"/>
            <a:ext cx="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Freeform 54"/>
          <p:cNvSpPr/>
          <p:nvPr/>
        </p:nvSpPr>
        <p:spPr>
          <a:xfrm>
            <a:off x="3594100" y="1397000"/>
            <a:ext cx="279400" cy="254000"/>
          </a:xfrm>
          <a:custGeom>
            <a:avLst/>
            <a:gdLst/>
            <a:ahLst/>
            <a:cxnLst/>
            <a:rect l="l" t="t" r="r" b="b"/>
            <a:pathLst>
              <a:path w="22" h="20">
                <a:moveTo>
                  <a:pt x="22" y="20"/>
                </a:moveTo>
                <a:lnTo>
                  <a:pt x="11" y="0"/>
                </a:lnTo>
                <a:lnTo>
                  <a:pt x="9" y="1"/>
                </a:lnTo>
                <a:lnTo>
                  <a:pt x="7" y="2"/>
                </a:lnTo>
                <a:lnTo>
                  <a:pt x="6" y="4"/>
                </a:lnTo>
                <a:lnTo>
                  <a:pt x="4" y="5"/>
                </a:lnTo>
                <a:lnTo>
                  <a:pt x="3" y="7"/>
                </a:lnTo>
                <a:lnTo>
                  <a:pt x="2" y="9"/>
                </a:lnTo>
                <a:lnTo>
                  <a:pt x="1" y="11"/>
                </a:lnTo>
                <a:lnTo>
                  <a:pt x="0" y="13"/>
                </a:lnTo>
                <a:close/>
              </a:path>
            </a:pathLst>
          </a:custGeom>
          <a:solidFill>
            <a:srgbClr val="33A02C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6" name="Connector 55"/>
          <p:cNvCxnSpPr/>
          <p:nvPr/>
        </p:nvCxnSpPr>
        <p:spPr>
          <a:xfrm flipH="1" flipV="1">
            <a:off x="3400815" y="1502239"/>
            <a:ext cx="192262" cy="6062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Freeform 56"/>
          <p:cNvSpPr/>
          <p:nvPr/>
        </p:nvSpPr>
        <p:spPr>
          <a:xfrm>
            <a:off x="3581400" y="1562100"/>
            <a:ext cx="292100" cy="215900"/>
          </a:xfrm>
          <a:custGeom>
            <a:avLst/>
            <a:gdLst/>
            <a:ahLst/>
            <a:cxnLst/>
            <a:rect l="l" t="t" r="r" b="b"/>
            <a:pathLst>
              <a:path w="23" h="17">
                <a:moveTo>
                  <a:pt x="23" y="7"/>
                </a:moveTo>
                <a:lnTo>
                  <a:pt x="1" y="0"/>
                </a:lnTo>
                <a:lnTo>
                  <a:pt x="0" y="2"/>
                </a:lnTo>
                <a:lnTo>
                  <a:pt x="0" y="4"/>
                </a:lnTo>
                <a:lnTo>
                  <a:pt x="0" y="7"/>
                </a:lnTo>
                <a:lnTo>
                  <a:pt x="0" y="9"/>
                </a:lnTo>
                <a:lnTo>
                  <a:pt x="0" y="11"/>
                </a:lnTo>
                <a:lnTo>
                  <a:pt x="1" y="13"/>
                </a:lnTo>
                <a:lnTo>
                  <a:pt x="1" y="15"/>
                </a:lnTo>
                <a:lnTo>
                  <a:pt x="2" y="17"/>
                </a:lnTo>
                <a:close/>
              </a:path>
            </a:pathLst>
          </a:custGeom>
          <a:solidFill>
            <a:srgbClr val="FB9A99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8" name="Connector 57"/>
          <p:cNvCxnSpPr/>
          <p:nvPr/>
        </p:nvCxnSpPr>
        <p:spPr>
          <a:xfrm flipH="1">
            <a:off x="3433478" y="1782445"/>
            <a:ext cx="178814" cy="9308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Freeform 58"/>
          <p:cNvSpPr/>
          <p:nvPr/>
        </p:nvSpPr>
        <p:spPr>
          <a:xfrm>
            <a:off x="3606800" y="1651000"/>
            <a:ext cx="304800" cy="292100"/>
          </a:xfrm>
          <a:custGeom>
            <a:avLst/>
            <a:gdLst/>
            <a:ahLst/>
            <a:cxnLst/>
            <a:rect l="l" t="t" r="r" b="b"/>
            <a:pathLst>
              <a:path w="24" h="23">
                <a:moveTo>
                  <a:pt x="21" y="0"/>
                </a:moveTo>
                <a:lnTo>
                  <a:pt x="0" y="10"/>
                </a:lnTo>
                <a:lnTo>
                  <a:pt x="2" y="13"/>
                </a:lnTo>
                <a:lnTo>
                  <a:pt x="5" y="16"/>
                </a:lnTo>
                <a:lnTo>
                  <a:pt x="7" y="18"/>
                </a:lnTo>
                <a:lnTo>
                  <a:pt x="10" y="20"/>
                </a:lnTo>
                <a:lnTo>
                  <a:pt x="13" y="21"/>
                </a:lnTo>
                <a:lnTo>
                  <a:pt x="17" y="22"/>
                </a:lnTo>
                <a:lnTo>
                  <a:pt x="20" y="23"/>
                </a:lnTo>
                <a:lnTo>
                  <a:pt x="24" y="22"/>
                </a:lnTo>
                <a:close/>
              </a:path>
            </a:pathLst>
          </a:custGeom>
          <a:solidFill>
            <a:srgbClr val="E31A1C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" name="Connector 59"/>
          <p:cNvCxnSpPr/>
          <p:nvPr/>
        </p:nvCxnSpPr>
        <p:spPr>
          <a:xfrm>
            <a:off x="3905343" y="1935008"/>
            <a:ext cx="26311" cy="19987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3905343" y="1935008"/>
            <a:ext cx="26311" cy="19987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3924135" y="2077758"/>
            <a:ext cx="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Freeform 62"/>
          <p:cNvSpPr/>
          <p:nvPr/>
        </p:nvSpPr>
        <p:spPr>
          <a:xfrm>
            <a:off x="3873500" y="1651000"/>
            <a:ext cx="177800" cy="279400"/>
          </a:xfrm>
          <a:custGeom>
            <a:avLst/>
            <a:gdLst/>
            <a:ahLst/>
            <a:cxnLst/>
            <a:rect l="l" t="t" r="r" b="b"/>
            <a:pathLst>
              <a:path w="14" h="22">
                <a:moveTo>
                  <a:pt x="0" y="0"/>
                </a:moveTo>
                <a:lnTo>
                  <a:pt x="3" y="22"/>
                </a:lnTo>
                <a:lnTo>
                  <a:pt x="4" y="22"/>
                </a:lnTo>
                <a:lnTo>
                  <a:pt x="6" y="22"/>
                </a:lnTo>
                <a:lnTo>
                  <a:pt x="7" y="21"/>
                </a:lnTo>
                <a:lnTo>
                  <a:pt x="9" y="21"/>
                </a:lnTo>
                <a:lnTo>
                  <a:pt x="10" y="20"/>
                </a:lnTo>
                <a:lnTo>
                  <a:pt x="12" y="19"/>
                </a:lnTo>
                <a:lnTo>
                  <a:pt x="13" y="18"/>
                </a:lnTo>
                <a:lnTo>
                  <a:pt x="14" y="17"/>
                </a:lnTo>
                <a:close/>
              </a:path>
            </a:pathLst>
          </a:custGeom>
          <a:solidFill>
            <a:srgbClr val="FF7F00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>
            <a:off x="4052891" y="1870096"/>
            <a:ext cx="129588" cy="154435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Freeform 64"/>
          <p:cNvSpPr/>
          <p:nvPr/>
        </p:nvSpPr>
        <p:spPr>
          <a:xfrm>
            <a:off x="3873500" y="1651000"/>
            <a:ext cx="266700" cy="215900"/>
          </a:xfrm>
          <a:custGeom>
            <a:avLst/>
            <a:gdLst/>
            <a:ahLst/>
            <a:cxnLst/>
            <a:rect l="l" t="t" r="r" b="b"/>
            <a:pathLst>
              <a:path w="21" h="17">
                <a:moveTo>
                  <a:pt x="0" y="0"/>
                </a:moveTo>
                <a:lnTo>
                  <a:pt x="14" y="17"/>
                </a:lnTo>
                <a:lnTo>
                  <a:pt x="15" y="16"/>
                </a:lnTo>
                <a:lnTo>
                  <a:pt x="16" y="15"/>
                </a:lnTo>
                <a:lnTo>
                  <a:pt x="17" y="14"/>
                </a:lnTo>
                <a:lnTo>
                  <a:pt x="18" y="12"/>
                </a:lnTo>
                <a:lnTo>
                  <a:pt x="19" y="11"/>
                </a:lnTo>
                <a:lnTo>
                  <a:pt x="20" y="10"/>
                </a:lnTo>
                <a:lnTo>
                  <a:pt x="21" y="8"/>
                </a:lnTo>
                <a:lnTo>
                  <a:pt x="21" y="7"/>
                </a:lnTo>
                <a:close/>
              </a:path>
            </a:pathLst>
          </a:custGeom>
          <a:solidFill>
            <a:srgbClr val="CAB2D6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6" name="Connector 65"/>
          <p:cNvCxnSpPr/>
          <p:nvPr/>
        </p:nvCxnSpPr>
        <p:spPr>
          <a:xfrm>
            <a:off x="4142432" y="1736067"/>
            <a:ext cx="192262" cy="6061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Freeform 66"/>
          <p:cNvSpPr/>
          <p:nvPr/>
        </p:nvSpPr>
        <p:spPr>
          <a:xfrm>
            <a:off x="3873500" y="1651000"/>
            <a:ext cx="279400" cy="88900"/>
          </a:xfrm>
          <a:custGeom>
            <a:avLst/>
            <a:gdLst/>
            <a:ahLst/>
            <a:cxnLst/>
            <a:rect l="l" t="t" r="r" b="b"/>
            <a:pathLst>
              <a:path w="22" h="7">
                <a:moveTo>
                  <a:pt x="0" y="0"/>
                </a:moveTo>
                <a:lnTo>
                  <a:pt x="21" y="7"/>
                </a:lnTo>
                <a:lnTo>
                  <a:pt x="21" y="6"/>
                </a:lnTo>
                <a:lnTo>
                  <a:pt x="22" y="5"/>
                </a:lnTo>
                <a:lnTo>
                  <a:pt x="22" y="4"/>
                </a:lnTo>
                <a:lnTo>
                  <a:pt x="22" y="3"/>
                </a:lnTo>
                <a:lnTo>
                  <a:pt x="22" y="2"/>
                </a:lnTo>
                <a:lnTo>
                  <a:pt x="22" y="2"/>
                </a:lnTo>
                <a:lnTo>
                  <a:pt x="22" y="1"/>
                </a:lnTo>
                <a:lnTo>
                  <a:pt x="22" y="0"/>
                </a:lnTo>
                <a:close/>
              </a:path>
            </a:pathLst>
          </a:custGeom>
          <a:solidFill>
            <a:srgbClr val="6A3D9A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8" name="Connector 67"/>
          <p:cNvCxnSpPr/>
          <p:nvPr/>
        </p:nvCxnSpPr>
        <p:spPr>
          <a:xfrm>
            <a:off x="4155774" y="1649463"/>
            <a:ext cx="201602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Rectangle 68"/>
          <p:cNvSpPr/>
          <p:nvPr/>
        </p:nvSpPr>
        <p:spPr>
          <a:xfrm>
            <a:off x="-5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2879986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1" name="Picture 7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72" name="Picture 7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Example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1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59993" y="737391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Using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roulette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wheel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cumulative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fitness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ratios,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identify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59993" y="909476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individuals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selected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parents.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36091" y="1202387"/>
            <a:ext cx="504930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1">
                <a:solidFill>
                  <a:srgbClr val="FFFFFF"/>
                </a:solidFill>
                <a:latin typeface="Josefin Sans"/>
              </a:rPr>
              <a:t>Label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225816" y="1202387"/>
            <a:ext cx="455957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1">
                <a:solidFill>
                  <a:srgbClr val="FFFFFF"/>
                </a:solidFill>
                <a:latin typeface="Josefin Sans"/>
              </a:rPr>
              <a:t>Parent</a:t>
            </a:r>
            <a:r>
              <a:rPr sz="797" b="1">
                <a:solidFill>
                  <a:srgbClr val="FFFFFF"/>
                </a:solidFill>
                <a:latin typeface="Josefin Sans"/>
              </a:rPr>
              <a:t> </a:t>
            </a:r>
            <a:r>
              <a:rPr sz="797" b="1">
                <a:solidFill>
                  <a:srgbClr val="FFFFFF"/>
                </a:solidFill>
                <a:latin typeface="Josefin Sans"/>
              </a:rPr>
              <a:t>A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961311" y="1202387"/>
            <a:ext cx="382408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1">
                <a:solidFill>
                  <a:srgbClr val="FFFFFF"/>
                </a:solidFill>
                <a:latin typeface="Josefin Sans"/>
              </a:rPr>
              <a:t>Parent</a:t>
            </a:r>
            <a:r>
              <a:rPr sz="797" b="1">
                <a:solidFill>
                  <a:srgbClr val="FFFFFF"/>
                </a:solidFill>
                <a:latin typeface="Josefin Sans"/>
              </a:rPr>
              <a:t> </a:t>
            </a:r>
            <a:r>
              <a:rPr sz="797" b="1">
                <a:solidFill>
                  <a:srgbClr val="FFFFFF"/>
                </a:solidFill>
                <a:latin typeface="Josefin Sans"/>
              </a:rPr>
              <a:t>B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14463" y="1374587"/>
            <a:ext cx="497093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p</a:t>
            </a:r>
            <a:r>
              <a:rPr sz="5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166228" y="1372890"/>
            <a:ext cx="461916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0.9189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603147" y="1374587"/>
            <a:ext cx="418224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v</a:t>
            </a:r>
            <a:r>
              <a:rPr sz="597" b="0">
                <a:solidFill>
                  <a:srgbClr val="000000"/>
                </a:solidFill>
                <a:latin typeface="Cambria Math"/>
              </a:rPr>
              <a:t>9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869935" y="1372891"/>
            <a:ext cx="391546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0.1049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2334705" y="1374587"/>
            <a:ext cx="345069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v</a:t>
            </a:r>
            <a:r>
              <a:rPr sz="5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14462" y="1545403"/>
            <a:ext cx="497093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p</a:t>
            </a:r>
            <a:r>
              <a:rPr sz="59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151507" y="1543706"/>
            <a:ext cx="463388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0.3305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603144" y="1545403"/>
            <a:ext cx="418225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v</a:t>
            </a:r>
            <a:r>
              <a:rPr sz="597" b="0">
                <a:solidFill>
                  <a:srgbClr val="000000"/>
                </a:solidFill>
                <a:latin typeface="Cambria Math"/>
              </a:rP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860065" y="1543705"/>
            <a:ext cx="392533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0.0868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2334702" y="1545401"/>
            <a:ext cx="345069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v</a:t>
            </a:r>
            <a:r>
              <a:rPr sz="5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814459" y="1716204"/>
            <a:ext cx="4970936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p</a:t>
            </a:r>
            <a:r>
              <a:rPr sz="597" b="0">
                <a:solidFill>
                  <a:srgbClr val="000000"/>
                </a:solidFill>
                <a:latin typeface="Cambria Math"/>
              </a:rPr>
              <a:t>3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178174" y="1714508"/>
            <a:ext cx="460722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0.8211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861331" y="1714507"/>
            <a:ext cx="392406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0.9057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814459" y="1887019"/>
            <a:ext cx="4970936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p</a:t>
            </a:r>
            <a:r>
              <a:rPr sz="597" b="0">
                <a:solidFill>
                  <a:srgbClr val="000000"/>
                </a:solidFill>
                <a:latin typeface="Cambria Math"/>
              </a:rP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153625" y="1885323"/>
            <a:ext cx="463177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0.5780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863656" y="1885322"/>
            <a:ext cx="392174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0.9635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814459" y="2057833"/>
            <a:ext cx="4970936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p</a:t>
            </a:r>
            <a:r>
              <a:rPr sz="597" b="0">
                <a:solidFill>
                  <a:srgbClr val="000000"/>
                </a:solidFill>
                <a:latin typeface="Cambria Math"/>
              </a:rPr>
              <a:t>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160509" y="2056137"/>
            <a:ext cx="462488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0.2476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865726" y="2056136"/>
            <a:ext cx="391967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0.8286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4064186" y="1129252"/>
            <a:ext cx="172121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0.1528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187299" y="1361162"/>
            <a:ext cx="159809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457405" y="1062725"/>
            <a:ext cx="232799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0.3264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3604661" y="1177444"/>
            <a:ext cx="218073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3227725" y="1427892"/>
            <a:ext cx="255767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0.45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3473204" y="1282930"/>
            <a:ext cx="231219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4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3214187" y="1867058"/>
            <a:ext cx="257120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0.5764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373775" y="1598271"/>
            <a:ext cx="241162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5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797727" y="2172163"/>
            <a:ext cx="198766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0.7708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604661" y="1943788"/>
            <a:ext cx="218073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6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3860503" y="1988911"/>
            <a:ext cx="192489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4113665" y="2042356"/>
            <a:ext cx="167173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0.8611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3978105" y="1956018"/>
            <a:ext cx="180729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8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4281813" y="1774298"/>
            <a:ext cx="150358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0.9514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4163309" y="1800620"/>
            <a:ext cx="162208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9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4427825" y="1601578"/>
            <a:ext cx="135757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204190" y="1626338"/>
            <a:ext cx="158120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4898765" y="3150916"/>
            <a:ext cx="88663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623123" y="3150692"/>
            <a:ext cx="16227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64</a:t>
            </a:r>
          </a:p>
        </p:txBody>
      </p:sp>
    </p:spTree>
  </p:cSld>
  <p:clrMapOvr>
    <a:masterClrMapping/>
  </p:clrMapOvr>
</p:sld>
</file>

<file path=ppt/slides/slide1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660184" y="1173443"/>
            <a:ext cx="415404" cy="170814"/>
          </a:xfrm>
          <a:prstGeom prst="rect">
            <a:avLst/>
          </a:prstGeom>
          <a:solidFill>
            <a:srgbClr val="6BAE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075588" y="1173443"/>
            <a:ext cx="708558" cy="170814"/>
          </a:xfrm>
          <a:prstGeom prst="rect">
            <a:avLst/>
          </a:prstGeom>
          <a:solidFill>
            <a:srgbClr val="217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784146" y="1173443"/>
            <a:ext cx="754748" cy="170814"/>
          </a:xfrm>
          <a:prstGeom prst="rect">
            <a:avLst/>
          </a:prstGeom>
          <a:solidFill>
            <a:srgbClr val="0830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60182" y="1515061"/>
            <a:ext cx="415404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075587" y="1515061"/>
            <a:ext cx="451650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527237" y="1515061"/>
            <a:ext cx="256921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784144" y="1515060"/>
            <a:ext cx="451446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235591" y="1515060"/>
            <a:ext cx="303314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60179" y="1856677"/>
            <a:ext cx="415404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075584" y="1856677"/>
            <a:ext cx="451650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527234" y="1856677"/>
            <a:ext cx="256921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784141" y="1856677"/>
            <a:ext cx="451446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2235588" y="1856677"/>
            <a:ext cx="303314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3873500" y="1409700"/>
            <a:ext cx="279400" cy="241300"/>
          </a:xfrm>
          <a:custGeom>
            <a:avLst/>
            <a:gdLst/>
            <a:ahLst/>
            <a:cxnLst/>
            <a:rect l="l" t="t" r="r" b="b"/>
            <a:pathLst>
              <a:path w="22" h="19">
                <a:moveTo>
                  <a:pt x="0" y="19"/>
                </a:moveTo>
                <a:lnTo>
                  <a:pt x="22" y="19"/>
                </a:lnTo>
                <a:lnTo>
                  <a:pt x="22" y="16"/>
                </a:lnTo>
                <a:lnTo>
                  <a:pt x="22" y="13"/>
                </a:lnTo>
                <a:lnTo>
                  <a:pt x="21" y="11"/>
                </a:lnTo>
                <a:lnTo>
                  <a:pt x="20" y="8"/>
                </a:lnTo>
                <a:lnTo>
                  <a:pt x="18" y="6"/>
                </a:lnTo>
                <a:lnTo>
                  <a:pt x="17" y="4"/>
                </a:lnTo>
                <a:lnTo>
                  <a:pt x="15" y="2"/>
                </a:lnTo>
                <a:lnTo>
                  <a:pt x="13" y="0"/>
                </a:lnTo>
                <a:close/>
              </a:path>
            </a:pathLst>
          </a:custGeom>
          <a:solidFill>
            <a:srgbClr val="A6CEE3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0" name="Connector 49"/>
          <p:cNvCxnSpPr/>
          <p:nvPr/>
        </p:nvCxnSpPr>
        <p:spPr>
          <a:xfrm flipV="1">
            <a:off x="4032956" y="1248387"/>
            <a:ext cx="115634" cy="16514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Freeform 50"/>
          <p:cNvSpPr/>
          <p:nvPr/>
        </p:nvSpPr>
        <p:spPr>
          <a:xfrm>
            <a:off x="3733800" y="1358900"/>
            <a:ext cx="304800" cy="292100"/>
          </a:xfrm>
          <a:custGeom>
            <a:avLst/>
            <a:gdLst/>
            <a:ahLst/>
            <a:cxnLst/>
            <a:rect l="l" t="t" r="r" b="b"/>
            <a:pathLst>
              <a:path w="24" h="23">
                <a:moveTo>
                  <a:pt x="11" y="23"/>
                </a:moveTo>
                <a:lnTo>
                  <a:pt x="24" y="4"/>
                </a:lnTo>
                <a:lnTo>
                  <a:pt x="21" y="3"/>
                </a:lnTo>
                <a:lnTo>
                  <a:pt x="18" y="1"/>
                </a:lnTo>
                <a:lnTo>
                  <a:pt x="15" y="1"/>
                </a:lnTo>
                <a:lnTo>
                  <a:pt x="12" y="0"/>
                </a:lnTo>
                <a:lnTo>
                  <a:pt x="9" y="0"/>
                </a:lnTo>
                <a:lnTo>
                  <a:pt x="6" y="1"/>
                </a:lnTo>
                <a:lnTo>
                  <a:pt x="3" y="2"/>
                </a:lnTo>
                <a:lnTo>
                  <a:pt x="0" y="3"/>
                </a:lnTo>
                <a:close/>
              </a:path>
            </a:pathLst>
          </a:custGeom>
          <a:solidFill>
            <a:srgbClr val="1F78B4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 flipH="1" flipV="1">
            <a:off x="3641689" y="1215186"/>
            <a:ext cx="93083" cy="17881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H="1" flipV="1">
            <a:off x="3641689" y="1215186"/>
            <a:ext cx="93083" cy="17881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3668290" y="1266288"/>
            <a:ext cx="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Freeform 54"/>
          <p:cNvSpPr/>
          <p:nvPr/>
        </p:nvSpPr>
        <p:spPr>
          <a:xfrm>
            <a:off x="3594100" y="1397000"/>
            <a:ext cx="279400" cy="254000"/>
          </a:xfrm>
          <a:custGeom>
            <a:avLst/>
            <a:gdLst/>
            <a:ahLst/>
            <a:cxnLst/>
            <a:rect l="l" t="t" r="r" b="b"/>
            <a:pathLst>
              <a:path w="22" h="20">
                <a:moveTo>
                  <a:pt x="22" y="20"/>
                </a:moveTo>
                <a:lnTo>
                  <a:pt x="11" y="0"/>
                </a:lnTo>
                <a:lnTo>
                  <a:pt x="9" y="1"/>
                </a:lnTo>
                <a:lnTo>
                  <a:pt x="7" y="2"/>
                </a:lnTo>
                <a:lnTo>
                  <a:pt x="6" y="4"/>
                </a:lnTo>
                <a:lnTo>
                  <a:pt x="4" y="5"/>
                </a:lnTo>
                <a:lnTo>
                  <a:pt x="3" y="7"/>
                </a:lnTo>
                <a:lnTo>
                  <a:pt x="2" y="9"/>
                </a:lnTo>
                <a:lnTo>
                  <a:pt x="1" y="11"/>
                </a:lnTo>
                <a:lnTo>
                  <a:pt x="0" y="13"/>
                </a:lnTo>
                <a:close/>
              </a:path>
            </a:pathLst>
          </a:custGeom>
          <a:solidFill>
            <a:srgbClr val="33A02C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6" name="Connector 55"/>
          <p:cNvCxnSpPr/>
          <p:nvPr/>
        </p:nvCxnSpPr>
        <p:spPr>
          <a:xfrm flipH="1" flipV="1">
            <a:off x="3400815" y="1502239"/>
            <a:ext cx="192262" cy="6062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Freeform 56"/>
          <p:cNvSpPr/>
          <p:nvPr/>
        </p:nvSpPr>
        <p:spPr>
          <a:xfrm>
            <a:off x="3581400" y="1562100"/>
            <a:ext cx="292100" cy="215900"/>
          </a:xfrm>
          <a:custGeom>
            <a:avLst/>
            <a:gdLst/>
            <a:ahLst/>
            <a:cxnLst/>
            <a:rect l="l" t="t" r="r" b="b"/>
            <a:pathLst>
              <a:path w="23" h="17">
                <a:moveTo>
                  <a:pt x="23" y="7"/>
                </a:moveTo>
                <a:lnTo>
                  <a:pt x="1" y="0"/>
                </a:lnTo>
                <a:lnTo>
                  <a:pt x="0" y="2"/>
                </a:lnTo>
                <a:lnTo>
                  <a:pt x="0" y="4"/>
                </a:lnTo>
                <a:lnTo>
                  <a:pt x="0" y="7"/>
                </a:lnTo>
                <a:lnTo>
                  <a:pt x="0" y="9"/>
                </a:lnTo>
                <a:lnTo>
                  <a:pt x="0" y="11"/>
                </a:lnTo>
                <a:lnTo>
                  <a:pt x="1" y="13"/>
                </a:lnTo>
                <a:lnTo>
                  <a:pt x="1" y="15"/>
                </a:lnTo>
                <a:lnTo>
                  <a:pt x="2" y="17"/>
                </a:lnTo>
                <a:close/>
              </a:path>
            </a:pathLst>
          </a:custGeom>
          <a:solidFill>
            <a:srgbClr val="FB9A99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8" name="Connector 57"/>
          <p:cNvCxnSpPr/>
          <p:nvPr/>
        </p:nvCxnSpPr>
        <p:spPr>
          <a:xfrm flipH="1">
            <a:off x="3433478" y="1782445"/>
            <a:ext cx="178814" cy="9308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Freeform 58"/>
          <p:cNvSpPr/>
          <p:nvPr/>
        </p:nvSpPr>
        <p:spPr>
          <a:xfrm>
            <a:off x="3606800" y="1651000"/>
            <a:ext cx="304800" cy="292100"/>
          </a:xfrm>
          <a:custGeom>
            <a:avLst/>
            <a:gdLst/>
            <a:ahLst/>
            <a:cxnLst/>
            <a:rect l="l" t="t" r="r" b="b"/>
            <a:pathLst>
              <a:path w="24" h="23">
                <a:moveTo>
                  <a:pt x="21" y="0"/>
                </a:moveTo>
                <a:lnTo>
                  <a:pt x="0" y="10"/>
                </a:lnTo>
                <a:lnTo>
                  <a:pt x="2" y="13"/>
                </a:lnTo>
                <a:lnTo>
                  <a:pt x="5" y="16"/>
                </a:lnTo>
                <a:lnTo>
                  <a:pt x="7" y="18"/>
                </a:lnTo>
                <a:lnTo>
                  <a:pt x="10" y="20"/>
                </a:lnTo>
                <a:lnTo>
                  <a:pt x="13" y="21"/>
                </a:lnTo>
                <a:lnTo>
                  <a:pt x="17" y="22"/>
                </a:lnTo>
                <a:lnTo>
                  <a:pt x="20" y="23"/>
                </a:lnTo>
                <a:lnTo>
                  <a:pt x="24" y="22"/>
                </a:lnTo>
                <a:close/>
              </a:path>
            </a:pathLst>
          </a:custGeom>
          <a:solidFill>
            <a:srgbClr val="E31A1C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" name="Connector 59"/>
          <p:cNvCxnSpPr/>
          <p:nvPr/>
        </p:nvCxnSpPr>
        <p:spPr>
          <a:xfrm>
            <a:off x="3905343" y="1935008"/>
            <a:ext cx="26311" cy="19987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3905343" y="1935008"/>
            <a:ext cx="26311" cy="19987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3924135" y="2077758"/>
            <a:ext cx="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Freeform 62"/>
          <p:cNvSpPr/>
          <p:nvPr/>
        </p:nvSpPr>
        <p:spPr>
          <a:xfrm>
            <a:off x="3873500" y="1651000"/>
            <a:ext cx="177800" cy="279400"/>
          </a:xfrm>
          <a:custGeom>
            <a:avLst/>
            <a:gdLst/>
            <a:ahLst/>
            <a:cxnLst/>
            <a:rect l="l" t="t" r="r" b="b"/>
            <a:pathLst>
              <a:path w="14" h="22">
                <a:moveTo>
                  <a:pt x="0" y="0"/>
                </a:moveTo>
                <a:lnTo>
                  <a:pt x="3" y="22"/>
                </a:lnTo>
                <a:lnTo>
                  <a:pt x="4" y="22"/>
                </a:lnTo>
                <a:lnTo>
                  <a:pt x="6" y="22"/>
                </a:lnTo>
                <a:lnTo>
                  <a:pt x="7" y="21"/>
                </a:lnTo>
                <a:lnTo>
                  <a:pt x="9" y="21"/>
                </a:lnTo>
                <a:lnTo>
                  <a:pt x="10" y="20"/>
                </a:lnTo>
                <a:lnTo>
                  <a:pt x="12" y="19"/>
                </a:lnTo>
                <a:lnTo>
                  <a:pt x="13" y="18"/>
                </a:lnTo>
                <a:lnTo>
                  <a:pt x="14" y="17"/>
                </a:lnTo>
                <a:close/>
              </a:path>
            </a:pathLst>
          </a:custGeom>
          <a:solidFill>
            <a:srgbClr val="FF7F00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>
            <a:off x="4052891" y="1870096"/>
            <a:ext cx="129588" cy="154435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Freeform 64"/>
          <p:cNvSpPr/>
          <p:nvPr/>
        </p:nvSpPr>
        <p:spPr>
          <a:xfrm>
            <a:off x="3873500" y="1651000"/>
            <a:ext cx="266700" cy="215900"/>
          </a:xfrm>
          <a:custGeom>
            <a:avLst/>
            <a:gdLst/>
            <a:ahLst/>
            <a:cxnLst/>
            <a:rect l="l" t="t" r="r" b="b"/>
            <a:pathLst>
              <a:path w="21" h="17">
                <a:moveTo>
                  <a:pt x="0" y="0"/>
                </a:moveTo>
                <a:lnTo>
                  <a:pt x="14" y="17"/>
                </a:lnTo>
                <a:lnTo>
                  <a:pt x="15" y="16"/>
                </a:lnTo>
                <a:lnTo>
                  <a:pt x="16" y="15"/>
                </a:lnTo>
                <a:lnTo>
                  <a:pt x="17" y="14"/>
                </a:lnTo>
                <a:lnTo>
                  <a:pt x="18" y="12"/>
                </a:lnTo>
                <a:lnTo>
                  <a:pt x="19" y="11"/>
                </a:lnTo>
                <a:lnTo>
                  <a:pt x="20" y="10"/>
                </a:lnTo>
                <a:lnTo>
                  <a:pt x="21" y="8"/>
                </a:lnTo>
                <a:lnTo>
                  <a:pt x="21" y="7"/>
                </a:lnTo>
                <a:close/>
              </a:path>
            </a:pathLst>
          </a:custGeom>
          <a:solidFill>
            <a:srgbClr val="CAB2D6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6" name="Connector 65"/>
          <p:cNvCxnSpPr/>
          <p:nvPr/>
        </p:nvCxnSpPr>
        <p:spPr>
          <a:xfrm>
            <a:off x="4142432" y="1736067"/>
            <a:ext cx="192262" cy="6061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Freeform 66"/>
          <p:cNvSpPr/>
          <p:nvPr/>
        </p:nvSpPr>
        <p:spPr>
          <a:xfrm>
            <a:off x="3873500" y="1651000"/>
            <a:ext cx="279400" cy="88900"/>
          </a:xfrm>
          <a:custGeom>
            <a:avLst/>
            <a:gdLst/>
            <a:ahLst/>
            <a:cxnLst/>
            <a:rect l="l" t="t" r="r" b="b"/>
            <a:pathLst>
              <a:path w="22" h="7">
                <a:moveTo>
                  <a:pt x="0" y="0"/>
                </a:moveTo>
                <a:lnTo>
                  <a:pt x="21" y="7"/>
                </a:lnTo>
                <a:lnTo>
                  <a:pt x="21" y="6"/>
                </a:lnTo>
                <a:lnTo>
                  <a:pt x="22" y="5"/>
                </a:lnTo>
                <a:lnTo>
                  <a:pt x="22" y="4"/>
                </a:lnTo>
                <a:lnTo>
                  <a:pt x="22" y="3"/>
                </a:lnTo>
                <a:lnTo>
                  <a:pt x="22" y="2"/>
                </a:lnTo>
                <a:lnTo>
                  <a:pt x="22" y="2"/>
                </a:lnTo>
                <a:lnTo>
                  <a:pt x="22" y="1"/>
                </a:lnTo>
                <a:lnTo>
                  <a:pt x="22" y="0"/>
                </a:lnTo>
                <a:close/>
              </a:path>
            </a:pathLst>
          </a:custGeom>
          <a:solidFill>
            <a:srgbClr val="6A3D9A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8" name="Connector 67"/>
          <p:cNvCxnSpPr/>
          <p:nvPr/>
        </p:nvCxnSpPr>
        <p:spPr>
          <a:xfrm>
            <a:off x="4155774" y="1649463"/>
            <a:ext cx="201602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Rectangle 68"/>
          <p:cNvSpPr/>
          <p:nvPr/>
        </p:nvSpPr>
        <p:spPr>
          <a:xfrm>
            <a:off x="-5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2879986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1" name="Picture 7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72" name="Picture 7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Example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1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59993" y="737391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Using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roulette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wheel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cumulative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fitness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ratios,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identify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59993" y="909476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individuals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selected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parents.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36091" y="1202387"/>
            <a:ext cx="504930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1">
                <a:solidFill>
                  <a:srgbClr val="FFFFFF"/>
                </a:solidFill>
                <a:latin typeface="Josefin Sans"/>
              </a:rPr>
              <a:t>Label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225816" y="1202387"/>
            <a:ext cx="455957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1">
                <a:solidFill>
                  <a:srgbClr val="FFFFFF"/>
                </a:solidFill>
                <a:latin typeface="Josefin Sans"/>
              </a:rPr>
              <a:t>Parent</a:t>
            </a:r>
            <a:r>
              <a:rPr sz="797" b="1">
                <a:solidFill>
                  <a:srgbClr val="FFFFFF"/>
                </a:solidFill>
                <a:latin typeface="Josefin Sans"/>
              </a:rPr>
              <a:t> </a:t>
            </a:r>
            <a:r>
              <a:rPr sz="797" b="1">
                <a:solidFill>
                  <a:srgbClr val="FFFFFF"/>
                </a:solidFill>
                <a:latin typeface="Josefin Sans"/>
              </a:rPr>
              <a:t>A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961311" y="1202387"/>
            <a:ext cx="382408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1">
                <a:solidFill>
                  <a:srgbClr val="FFFFFF"/>
                </a:solidFill>
                <a:latin typeface="Josefin Sans"/>
              </a:rPr>
              <a:t>Parent</a:t>
            </a:r>
            <a:r>
              <a:rPr sz="797" b="1">
                <a:solidFill>
                  <a:srgbClr val="FFFFFF"/>
                </a:solidFill>
                <a:latin typeface="Josefin Sans"/>
              </a:rPr>
              <a:t> </a:t>
            </a:r>
            <a:r>
              <a:rPr sz="797" b="1">
                <a:solidFill>
                  <a:srgbClr val="FFFFFF"/>
                </a:solidFill>
                <a:latin typeface="Josefin Sans"/>
              </a:rPr>
              <a:t>B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14463" y="1374587"/>
            <a:ext cx="497093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p</a:t>
            </a:r>
            <a:r>
              <a:rPr sz="5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166228" y="1372890"/>
            <a:ext cx="461916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0.9189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603147" y="1374587"/>
            <a:ext cx="418224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v</a:t>
            </a:r>
            <a:r>
              <a:rPr sz="597" b="0">
                <a:solidFill>
                  <a:srgbClr val="000000"/>
                </a:solidFill>
                <a:latin typeface="Cambria Math"/>
              </a:rPr>
              <a:t>9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869935" y="1372891"/>
            <a:ext cx="391546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0.1049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2334705" y="1374587"/>
            <a:ext cx="345069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v</a:t>
            </a:r>
            <a:r>
              <a:rPr sz="5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14462" y="1545403"/>
            <a:ext cx="497093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p</a:t>
            </a:r>
            <a:r>
              <a:rPr sz="59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151507" y="1543706"/>
            <a:ext cx="463388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0.3305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603144" y="1545403"/>
            <a:ext cx="418225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v</a:t>
            </a:r>
            <a:r>
              <a:rPr sz="597" b="0">
                <a:solidFill>
                  <a:srgbClr val="000000"/>
                </a:solidFill>
                <a:latin typeface="Cambria Math"/>
              </a:rP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860065" y="1543705"/>
            <a:ext cx="392533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0.0868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2334702" y="1545401"/>
            <a:ext cx="345069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v</a:t>
            </a:r>
            <a:r>
              <a:rPr sz="5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814459" y="1716204"/>
            <a:ext cx="4970936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p</a:t>
            </a:r>
            <a:r>
              <a:rPr sz="597" b="0">
                <a:solidFill>
                  <a:srgbClr val="000000"/>
                </a:solidFill>
                <a:latin typeface="Cambria Math"/>
              </a:rPr>
              <a:t>3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178174" y="1714508"/>
            <a:ext cx="460722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0.8211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603140" y="1716205"/>
            <a:ext cx="418225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v</a:t>
            </a:r>
            <a:r>
              <a:rPr sz="597" b="0">
                <a:solidFill>
                  <a:srgbClr val="000000"/>
                </a:solidFill>
                <a:latin typeface="Cambria Math"/>
              </a:rPr>
              <a:t>8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861331" y="1714507"/>
            <a:ext cx="392406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0.9057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14459" y="1887019"/>
            <a:ext cx="4970936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p</a:t>
            </a:r>
            <a:r>
              <a:rPr sz="597" b="0">
                <a:solidFill>
                  <a:srgbClr val="000000"/>
                </a:solidFill>
                <a:latin typeface="Cambria Math"/>
              </a:rP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153625" y="1885323"/>
            <a:ext cx="463177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0.5780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863656" y="1885322"/>
            <a:ext cx="392174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0.9635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14459" y="2057833"/>
            <a:ext cx="4970936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p</a:t>
            </a:r>
            <a:r>
              <a:rPr sz="597" b="0">
                <a:solidFill>
                  <a:srgbClr val="000000"/>
                </a:solidFill>
                <a:latin typeface="Cambria Math"/>
              </a:rPr>
              <a:t>5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160509" y="2056137"/>
            <a:ext cx="462488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0.2476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865726" y="2056136"/>
            <a:ext cx="391967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0.8286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064186" y="1129252"/>
            <a:ext cx="172121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0.1528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187299" y="1361162"/>
            <a:ext cx="159809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3457405" y="1062725"/>
            <a:ext cx="232799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0.3264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3604661" y="1177444"/>
            <a:ext cx="218073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3227725" y="1427892"/>
            <a:ext cx="255767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0.45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3473204" y="1282930"/>
            <a:ext cx="231219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4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214187" y="1867058"/>
            <a:ext cx="257120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0.5764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373775" y="1598271"/>
            <a:ext cx="241162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797727" y="2172163"/>
            <a:ext cx="198766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0.7708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3604661" y="1943788"/>
            <a:ext cx="218073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3860503" y="1988911"/>
            <a:ext cx="192489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7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4113665" y="2042356"/>
            <a:ext cx="167173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0.8611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3978105" y="1956018"/>
            <a:ext cx="180729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8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4281813" y="1774298"/>
            <a:ext cx="150358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0.9514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4163309" y="1800620"/>
            <a:ext cx="162208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427825" y="1601578"/>
            <a:ext cx="135757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4204190" y="1626338"/>
            <a:ext cx="158120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4898765" y="3150916"/>
            <a:ext cx="88663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623123" y="3150692"/>
            <a:ext cx="16227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64</a:t>
            </a:r>
          </a:p>
        </p:txBody>
      </p:sp>
    </p:spTree>
  </p:cSld>
  <p:clrMapOvr>
    <a:masterClrMapping/>
  </p:clrMapOvr>
</p:sld>
</file>

<file path=ppt/slides/slide1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660184" y="1173443"/>
            <a:ext cx="415404" cy="170814"/>
          </a:xfrm>
          <a:prstGeom prst="rect">
            <a:avLst/>
          </a:prstGeom>
          <a:solidFill>
            <a:srgbClr val="6BAE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075588" y="1173443"/>
            <a:ext cx="708558" cy="170814"/>
          </a:xfrm>
          <a:prstGeom prst="rect">
            <a:avLst/>
          </a:prstGeom>
          <a:solidFill>
            <a:srgbClr val="217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784146" y="1173443"/>
            <a:ext cx="754748" cy="170814"/>
          </a:xfrm>
          <a:prstGeom prst="rect">
            <a:avLst/>
          </a:prstGeom>
          <a:solidFill>
            <a:srgbClr val="0830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60182" y="1515061"/>
            <a:ext cx="415404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075587" y="1515061"/>
            <a:ext cx="451650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527237" y="1515061"/>
            <a:ext cx="256921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784144" y="1515060"/>
            <a:ext cx="451446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235591" y="1515060"/>
            <a:ext cx="303314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60176" y="1856677"/>
            <a:ext cx="415404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075581" y="1856677"/>
            <a:ext cx="451650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527231" y="1856677"/>
            <a:ext cx="256921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784138" y="1856677"/>
            <a:ext cx="451446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2235585" y="1856677"/>
            <a:ext cx="303314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3873500" y="1409700"/>
            <a:ext cx="279400" cy="241300"/>
          </a:xfrm>
          <a:custGeom>
            <a:avLst/>
            <a:gdLst/>
            <a:ahLst/>
            <a:cxnLst/>
            <a:rect l="l" t="t" r="r" b="b"/>
            <a:pathLst>
              <a:path w="22" h="19">
                <a:moveTo>
                  <a:pt x="0" y="19"/>
                </a:moveTo>
                <a:lnTo>
                  <a:pt x="22" y="19"/>
                </a:lnTo>
                <a:lnTo>
                  <a:pt x="22" y="16"/>
                </a:lnTo>
                <a:lnTo>
                  <a:pt x="22" y="13"/>
                </a:lnTo>
                <a:lnTo>
                  <a:pt x="21" y="11"/>
                </a:lnTo>
                <a:lnTo>
                  <a:pt x="20" y="8"/>
                </a:lnTo>
                <a:lnTo>
                  <a:pt x="18" y="6"/>
                </a:lnTo>
                <a:lnTo>
                  <a:pt x="17" y="4"/>
                </a:lnTo>
                <a:lnTo>
                  <a:pt x="15" y="2"/>
                </a:lnTo>
                <a:lnTo>
                  <a:pt x="13" y="0"/>
                </a:lnTo>
                <a:close/>
              </a:path>
            </a:pathLst>
          </a:custGeom>
          <a:solidFill>
            <a:srgbClr val="A6CEE3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0" name="Connector 49"/>
          <p:cNvCxnSpPr/>
          <p:nvPr/>
        </p:nvCxnSpPr>
        <p:spPr>
          <a:xfrm flipV="1">
            <a:off x="4032953" y="1248387"/>
            <a:ext cx="115634" cy="16514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Freeform 50"/>
          <p:cNvSpPr/>
          <p:nvPr/>
        </p:nvSpPr>
        <p:spPr>
          <a:xfrm>
            <a:off x="3733800" y="1358900"/>
            <a:ext cx="304800" cy="292100"/>
          </a:xfrm>
          <a:custGeom>
            <a:avLst/>
            <a:gdLst/>
            <a:ahLst/>
            <a:cxnLst/>
            <a:rect l="l" t="t" r="r" b="b"/>
            <a:pathLst>
              <a:path w="24" h="23">
                <a:moveTo>
                  <a:pt x="11" y="23"/>
                </a:moveTo>
                <a:lnTo>
                  <a:pt x="24" y="4"/>
                </a:lnTo>
                <a:lnTo>
                  <a:pt x="21" y="3"/>
                </a:lnTo>
                <a:lnTo>
                  <a:pt x="18" y="1"/>
                </a:lnTo>
                <a:lnTo>
                  <a:pt x="15" y="1"/>
                </a:lnTo>
                <a:lnTo>
                  <a:pt x="12" y="0"/>
                </a:lnTo>
                <a:lnTo>
                  <a:pt x="9" y="0"/>
                </a:lnTo>
                <a:lnTo>
                  <a:pt x="6" y="1"/>
                </a:lnTo>
                <a:lnTo>
                  <a:pt x="3" y="2"/>
                </a:lnTo>
                <a:lnTo>
                  <a:pt x="0" y="3"/>
                </a:lnTo>
                <a:close/>
              </a:path>
            </a:pathLst>
          </a:custGeom>
          <a:solidFill>
            <a:srgbClr val="1F78B4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 flipH="1" flipV="1">
            <a:off x="3641686" y="1215186"/>
            <a:ext cx="93083" cy="17881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H="1" flipV="1">
            <a:off x="3641686" y="1215186"/>
            <a:ext cx="93083" cy="17881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3668287" y="1266288"/>
            <a:ext cx="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Freeform 54"/>
          <p:cNvSpPr/>
          <p:nvPr/>
        </p:nvSpPr>
        <p:spPr>
          <a:xfrm>
            <a:off x="3594100" y="1397000"/>
            <a:ext cx="279400" cy="254000"/>
          </a:xfrm>
          <a:custGeom>
            <a:avLst/>
            <a:gdLst/>
            <a:ahLst/>
            <a:cxnLst/>
            <a:rect l="l" t="t" r="r" b="b"/>
            <a:pathLst>
              <a:path w="22" h="20">
                <a:moveTo>
                  <a:pt x="22" y="20"/>
                </a:moveTo>
                <a:lnTo>
                  <a:pt x="11" y="0"/>
                </a:lnTo>
                <a:lnTo>
                  <a:pt x="9" y="1"/>
                </a:lnTo>
                <a:lnTo>
                  <a:pt x="7" y="2"/>
                </a:lnTo>
                <a:lnTo>
                  <a:pt x="6" y="4"/>
                </a:lnTo>
                <a:lnTo>
                  <a:pt x="4" y="5"/>
                </a:lnTo>
                <a:lnTo>
                  <a:pt x="3" y="7"/>
                </a:lnTo>
                <a:lnTo>
                  <a:pt x="2" y="9"/>
                </a:lnTo>
                <a:lnTo>
                  <a:pt x="1" y="11"/>
                </a:lnTo>
                <a:lnTo>
                  <a:pt x="0" y="13"/>
                </a:lnTo>
                <a:close/>
              </a:path>
            </a:pathLst>
          </a:custGeom>
          <a:solidFill>
            <a:srgbClr val="33A02C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6" name="Connector 55"/>
          <p:cNvCxnSpPr/>
          <p:nvPr/>
        </p:nvCxnSpPr>
        <p:spPr>
          <a:xfrm flipH="1" flipV="1">
            <a:off x="3400812" y="1502239"/>
            <a:ext cx="192262" cy="6062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Freeform 56"/>
          <p:cNvSpPr/>
          <p:nvPr/>
        </p:nvSpPr>
        <p:spPr>
          <a:xfrm>
            <a:off x="3581400" y="1562100"/>
            <a:ext cx="292100" cy="215900"/>
          </a:xfrm>
          <a:custGeom>
            <a:avLst/>
            <a:gdLst/>
            <a:ahLst/>
            <a:cxnLst/>
            <a:rect l="l" t="t" r="r" b="b"/>
            <a:pathLst>
              <a:path w="23" h="17">
                <a:moveTo>
                  <a:pt x="23" y="7"/>
                </a:moveTo>
                <a:lnTo>
                  <a:pt x="1" y="0"/>
                </a:lnTo>
                <a:lnTo>
                  <a:pt x="0" y="2"/>
                </a:lnTo>
                <a:lnTo>
                  <a:pt x="0" y="4"/>
                </a:lnTo>
                <a:lnTo>
                  <a:pt x="0" y="7"/>
                </a:lnTo>
                <a:lnTo>
                  <a:pt x="0" y="9"/>
                </a:lnTo>
                <a:lnTo>
                  <a:pt x="0" y="11"/>
                </a:lnTo>
                <a:lnTo>
                  <a:pt x="1" y="13"/>
                </a:lnTo>
                <a:lnTo>
                  <a:pt x="1" y="15"/>
                </a:lnTo>
                <a:lnTo>
                  <a:pt x="2" y="17"/>
                </a:lnTo>
                <a:close/>
              </a:path>
            </a:pathLst>
          </a:custGeom>
          <a:solidFill>
            <a:srgbClr val="FB9A99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8" name="Connector 57"/>
          <p:cNvCxnSpPr/>
          <p:nvPr/>
        </p:nvCxnSpPr>
        <p:spPr>
          <a:xfrm flipH="1">
            <a:off x="3433475" y="1782445"/>
            <a:ext cx="178814" cy="9308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Freeform 58"/>
          <p:cNvSpPr/>
          <p:nvPr/>
        </p:nvSpPr>
        <p:spPr>
          <a:xfrm>
            <a:off x="3606800" y="1651000"/>
            <a:ext cx="304800" cy="292100"/>
          </a:xfrm>
          <a:custGeom>
            <a:avLst/>
            <a:gdLst/>
            <a:ahLst/>
            <a:cxnLst/>
            <a:rect l="l" t="t" r="r" b="b"/>
            <a:pathLst>
              <a:path w="24" h="23">
                <a:moveTo>
                  <a:pt x="21" y="0"/>
                </a:moveTo>
                <a:lnTo>
                  <a:pt x="0" y="10"/>
                </a:lnTo>
                <a:lnTo>
                  <a:pt x="2" y="13"/>
                </a:lnTo>
                <a:lnTo>
                  <a:pt x="5" y="16"/>
                </a:lnTo>
                <a:lnTo>
                  <a:pt x="7" y="18"/>
                </a:lnTo>
                <a:lnTo>
                  <a:pt x="10" y="20"/>
                </a:lnTo>
                <a:lnTo>
                  <a:pt x="13" y="21"/>
                </a:lnTo>
                <a:lnTo>
                  <a:pt x="17" y="22"/>
                </a:lnTo>
                <a:lnTo>
                  <a:pt x="20" y="23"/>
                </a:lnTo>
                <a:lnTo>
                  <a:pt x="24" y="22"/>
                </a:lnTo>
                <a:close/>
              </a:path>
            </a:pathLst>
          </a:custGeom>
          <a:solidFill>
            <a:srgbClr val="E31A1C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" name="Connector 59"/>
          <p:cNvCxnSpPr/>
          <p:nvPr/>
        </p:nvCxnSpPr>
        <p:spPr>
          <a:xfrm>
            <a:off x="3905340" y="1935008"/>
            <a:ext cx="26311" cy="19987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3905340" y="1935008"/>
            <a:ext cx="26311" cy="19987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3924132" y="2077758"/>
            <a:ext cx="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Freeform 62"/>
          <p:cNvSpPr/>
          <p:nvPr/>
        </p:nvSpPr>
        <p:spPr>
          <a:xfrm>
            <a:off x="3873500" y="1651000"/>
            <a:ext cx="177800" cy="279400"/>
          </a:xfrm>
          <a:custGeom>
            <a:avLst/>
            <a:gdLst/>
            <a:ahLst/>
            <a:cxnLst/>
            <a:rect l="l" t="t" r="r" b="b"/>
            <a:pathLst>
              <a:path w="14" h="22">
                <a:moveTo>
                  <a:pt x="0" y="0"/>
                </a:moveTo>
                <a:lnTo>
                  <a:pt x="3" y="22"/>
                </a:lnTo>
                <a:lnTo>
                  <a:pt x="4" y="22"/>
                </a:lnTo>
                <a:lnTo>
                  <a:pt x="6" y="22"/>
                </a:lnTo>
                <a:lnTo>
                  <a:pt x="7" y="21"/>
                </a:lnTo>
                <a:lnTo>
                  <a:pt x="9" y="21"/>
                </a:lnTo>
                <a:lnTo>
                  <a:pt x="10" y="20"/>
                </a:lnTo>
                <a:lnTo>
                  <a:pt x="12" y="19"/>
                </a:lnTo>
                <a:lnTo>
                  <a:pt x="13" y="18"/>
                </a:lnTo>
                <a:lnTo>
                  <a:pt x="14" y="17"/>
                </a:lnTo>
                <a:close/>
              </a:path>
            </a:pathLst>
          </a:custGeom>
          <a:solidFill>
            <a:srgbClr val="FF7F00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>
            <a:off x="4052888" y="1870096"/>
            <a:ext cx="129588" cy="154435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Freeform 64"/>
          <p:cNvSpPr/>
          <p:nvPr/>
        </p:nvSpPr>
        <p:spPr>
          <a:xfrm>
            <a:off x="3873500" y="1651000"/>
            <a:ext cx="266700" cy="215900"/>
          </a:xfrm>
          <a:custGeom>
            <a:avLst/>
            <a:gdLst/>
            <a:ahLst/>
            <a:cxnLst/>
            <a:rect l="l" t="t" r="r" b="b"/>
            <a:pathLst>
              <a:path w="21" h="17">
                <a:moveTo>
                  <a:pt x="0" y="0"/>
                </a:moveTo>
                <a:lnTo>
                  <a:pt x="14" y="17"/>
                </a:lnTo>
                <a:lnTo>
                  <a:pt x="15" y="16"/>
                </a:lnTo>
                <a:lnTo>
                  <a:pt x="16" y="15"/>
                </a:lnTo>
                <a:lnTo>
                  <a:pt x="17" y="14"/>
                </a:lnTo>
                <a:lnTo>
                  <a:pt x="18" y="12"/>
                </a:lnTo>
                <a:lnTo>
                  <a:pt x="19" y="11"/>
                </a:lnTo>
                <a:lnTo>
                  <a:pt x="20" y="10"/>
                </a:lnTo>
                <a:lnTo>
                  <a:pt x="21" y="8"/>
                </a:lnTo>
                <a:lnTo>
                  <a:pt x="21" y="7"/>
                </a:lnTo>
                <a:close/>
              </a:path>
            </a:pathLst>
          </a:custGeom>
          <a:solidFill>
            <a:srgbClr val="CAB2D6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6" name="Connector 65"/>
          <p:cNvCxnSpPr/>
          <p:nvPr/>
        </p:nvCxnSpPr>
        <p:spPr>
          <a:xfrm>
            <a:off x="4142428" y="1736067"/>
            <a:ext cx="192263" cy="6061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Freeform 66"/>
          <p:cNvSpPr/>
          <p:nvPr/>
        </p:nvSpPr>
        <p:spPr>
          <a:xfrm>
            <a:off x="3873500" y="1651000"/>
            <a:ext cx="279400" cy="88900"/>
          </a:xfrm>
          <a:custGeom>
            <a:avLst/>
            <a:gdLst/>
            <a:ahLst/>
            <a:cxnLst/>
            <a:rect l="l" t="t" r="r" b="b"/>
            <a:pathLst>
              <a:path w="22" h="7">
                <a:moveTo>
                  <a:pt x="0" y="0"/>
                </a:moveTo>
                <a:lnTo>
                  <a:pt x="21" y="7"/>
                </a:lnTo>
                <a:lnTo>
                  <a:pt x="21" y="6"/>
                </a:lnTo>
                <a:lnTo>
                  <a:pt x="22" y="5"/>
                </a:lnTo>
                <a:lnTo>
                  <a:pt x="22" y="4"/>
                </a:lnTo>
                <a:lnTo>
                  <a:pt x="22" y="3"/>
                </a:lnTo>
                <a:lnTo>
                  <a:pt x="22" y="2"/>
                </a:lnTo>
                <a:lnTo>
                  <a:pt x="22" y="2"/>
                </a:lnTo>
                <a:lnTo>
                  <a:pt x="22" y="1"/>
                </a:lnTo>
                <a:lnTo>
                  <a:pt x="22" y="0"/>
                </a:lnTo>
                <a:close/>
              </a:path>
            </a:pathLst>
          </a:custGeom>
          <a:solidFill>
            <a:srgbClr val="6A3D9A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8" name="Connector 67"/>
          <p:cNvCxnSpPr/>
          <p:nvPr/>
        </p:nvCxnSpPr>
        <p:spPr>
          <a:xfrm>
            <a:off x="4155771" y="1649463"/>
            <a:ext cx="201602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Rectangle 68"/>
          <p:cNvSpPr/>
          <p:nvPr/>
        </p:nvSpPr>
        <p:spPr>
          <a:xfrm>
            <a:off x="-8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2879983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1" name="Picture 7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72" name="Picture 7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Example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1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59993" y="737391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Using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roulette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wheel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cumulative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fitness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ratios,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identify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59993" y="909476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individuals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selected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parents.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36091" y="1202387"/>
            <a:ext cx="504930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1">
                <a:solidFill>
                  <a:srgbClr val="FFFFFF"/>
                </a:solidFill>
                <a:latin typeface="Josefin Sans"/>
              </a:rPr>
              <a:t>Label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225816" y="1202387"/>
            <a:ext cx="455957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1">
                <a:solidFill>
                  <a:srgbClr val="FFFFFF"/>
                </a:solidFill>
                <a:latin typeface="Josefin Sans"/>
              </a:rPr>
              <a:t>Parent</a:t>
            </a:r>
            <a:r>
              <a:rPr sz="797" b="1">
                <a:solidFill>
                  <a:srgbClr val="FFFFFF"/>
                </a:solidFill>
                <a:latin typeface="Josefin Sans"/>
              </a:rPr>
              <a:t> </a:t>
            </a:r>
            <a:r>
              <a:rPr sz="797" b="1">
                <a:solidFill>
                  <a:srgbClr val="FFFFFF"/>
                </a:solidFill>
                <a:latin typeface="Josefin Sans"/>
              </a:rPr>
              <a:t>A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961311" y="1202387"/>
            <a:ext cx="382408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1">
                <a:solidFill>
                  <a:srgbClr val="FFFFFF"/>
                </a:solidFill>
                <a:latin typeface="Josefin Sans"/>
              </a:rPr>
              <a:t>Parent</a:t>
            </a:r>
            <a:r>
              <a:rPr sz="797" b="1">
                <a:solidFill>
                  <a:srgbClr val="FFFFFF"/>
                </a:solidFill>
                <a:latin typeface="Josefin Sans"/>
              </a:rPr>
              <a:t> </a:t>
            </a:r>
            <a:r>
              <a:rPr sz="797" b="1">
                <a:solidFill>
                  <a:srgbClr val="FFFFFF"/>
                </a:solidFill>
                <a:latin typeface="Josefin Sans"/>
              </a:rPr>
              <a:t>B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14463" y="1374587"/>
            <a:ext cx="497093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p</a:t>
            </a:r>
            <a:r>
              <a:rPr sz="5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166228" y="1372890"/>
            <a:ext cx="461916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0.9189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603147" y="1374587"/>
            <a:ext cx="418224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v</a:t>
            </a:r>
            <a:r>
              <a:rPr sz="597" b="0">
                <a:solidFill>
                  <a:srgbClr val="000000"/>
                </a:solidFill>
                <a:latin typeface="Cambria Math"/>
              </a:rPr>
              <a:t>9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869935" y="1372891"/>
            <a:ext cx="391546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0.1049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2334705" y="1374587"/>
            <a:ext cx="345069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v</a:t>
            </a:r>
            <a:r>
              <a:rPr sz="5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14462" y="1545403"/>
            <a:ext cx="497093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p</a:t>
            </a:r>
            <a:r>
              <a:rPr sz="59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151507" y="1543706"/>
            <a:ext cx="463388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0.3305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603144" y="1545403"/>
            <a:ext cx="418225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v</a:t>
            </a:r>
            <a:r>
              <a:rPr sz="597" b="0">
                <a:solidFill>
                  <a:srgbClr val="000000"/>
                </a:solidFill>
                <a:latin typeface="Cambria Math"/>
              </a:rP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860065" y="1543705"/>
            <a:ext cx="392533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0.0868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2334702" y="1545401"/>
            <a:ext cx="345069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v</a:t>
            </a:r>
            <a:r>
              <a:rPr sz="5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814459" y="1716204"/>
            <a:ext cx="4970936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p</a:t>
            </a:r>
            <a:r>
              <a:rPr sz="597" b="0">
                <a:solidFill>
                  <a:srgbClr val="000000"/>
                </a:solidFill>
                <a:latin typeface="Cambria Math"/>
              </a:rPr>
              <a:t>3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178174" y="1714508"/>
            <a:ext cx="460722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0.8211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603140" y="1716205"/>
            <a:ext cx="418225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v</a:t>
            </a:r>
            <a:r>
              <a:rPr sz="597" b="0">
                <a:solidFill>
                  <a:srgbClr val="000000"/>
                </a:solidFill>
                <a:latin typeface="Cambria Math"/>
              </a:rPr>
              <a:t>8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861331" y="1714507"/>
            <a:ext cx="392406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0.9057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334699" y="1716205"/>
            <a:ext cx="3450696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v</a:t>
            </a:r>
            <a:r>
              <a:rPr sz="597" b="0">
                <a:solidFill>
                  <a:srgbClr val="000000"/>
                </a:solidFill>
                <a:latin typeface="Cambria Math"/>
              </a:rPr>
              <a:t>9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14456" y="1887019"/>
            <a:ext cx="497093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p</a:t>
            </a:r>
            <a:r>
              <a:rPr sz="597" b="0">
                <a:solidFill>
                  <a:srgbClr val="000000"/>
                </a:solidFill>
                <a:latin typeface="Cambria Math"/>
              </a:rP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153622" y="1885323"/>
            <a:ext cx="463177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0.5780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863652" y="1885322"/>
            <a:ext cx="392174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0.9635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814456" y="2057833"/>
            <a:ext cx="497093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p</a:t>
            </a:r>
            <a:r>
              <a:rPr sz="597" b="0">
                <a:solidFill>
                  <a:srgbClr val="000000"/>
                </a:solidFill>
                <a:latin typeface="Cambria Math"/>
              </a:rPr>
              <a:t>5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160505" y="2056137"/>
            <a:ext cx="462489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0.2476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865722" y="2056136"/>
            <a:ext cx="391967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0.8286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064182" y="1129252"/>
            <a:ext cx="172121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0.1528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187296" y="1361162"/>
            <a:ext cx="159809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3457402" y="1062725"/>
            <a:ext cx="232799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0.3264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3604658" y="1177444"/>
            <a:ext cx="218073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3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3227722" y="1427892"/>
            <a:ext cx="255767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0.45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473201" y="1282930"/>
            <a:ext cx="231219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4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214184" y="1867058"/>
            <a:ext cx="257121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0.5764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373772" y="1598271"/>
            <a:ext cx="241162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3797724" y="2172163"/>
            <a:ext cx="198767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0.7708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3604658" y="1943788"/>
            <a:ext cx="218073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6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3860500" y="1988911"/>
            <a:ext cx="192489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7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4113662" y="2042356"/>
            <a:ext cx="167173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0.8611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3978102" y="1956018"/>
            <a:ext cx="180729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8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4281809" y="1774298"/>
            <a:ext cx="1503586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0.9514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163306" y="1800620"/>
            <a:ext cx="162208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4427821" y="1601578"/>
            <a:ext cx="135757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4204187" y="1626338"/>
            <a:ext cx="158120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898762" y="3150916"/>
            <a:ext cx="88663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623119" y="3150692"/>
            <a:ext cx="16227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64</a:t>
            </a:r>
          </a:p>
        </p:txBody>
      </p:sp>
    </p:spTree>
  </p:cSld>
  <p:clrMapOvr>
    <a:masterClrMapping/>
  </p:clrMapOvr>
</p:sld>
</file>

<file path=ppt/slides/slide1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660184" y="1173443"/>
            <a:ext cx="415404" cy="170814"/>
          </a:xfrm>
          <a:prstGeom prst="rect">
            <a:avLst/>
          </a:prstGeom>
          <a:solidFill>
            <a:srgbClr val="6BAE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075588" y="1173443"/>
            <a:ext cx="708558" cy="170814"/>
          </a:xfrm>
          <a:prstGeom prst="rect">
            <a:avLst/>
          </a:prstGeom>
          <a:solidFill>
            <a:srgbClr val="217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784146" y="1173443"/>
            <a:ext cx="754748" cy="170814"/>
          </a:xfrm>
          <a:prstGeom prst="rect">
            <a:avLst/>
          </a:prstGeom>
          <a:solidFill>
            <a:srgbClr val="0830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60182" y="1515061"/>
            <a:ext cx="415404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075587" y="1515061"/>
            <a:ext cx="451650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527237" y="1515061"/>
            <a:ext cx="256921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784144" y="1515060"/>
            <a:ext cx="451446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235591" y="1515060"/>
            <a:ext cx="303314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60176" y="1856677"/>
            <a:ext cx="415404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075581" y="1856677"/>
            <a:ext cx="451650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527231" y="1856677"/>
            <a:ext cx="256921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784138" y="1856677"/>
            <a:ext cx="451446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2235585" y="1856677"/>
            <a:ext cx="303314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3873500" y="1409700"/>
            <a:ext cx="279400" cy="241300"/>
          </a:xfrm>
          <a:custGeom>
            <a:avLst/>
            <a:gdLst/>
            <a:ahLst/>
            <a:cxnLst/>
            <a:rect l="l" t="t" r="r" b="b"/>
            <a:pathLst>
              <a:path w="22" h="19">
                <a:moveTo>
                  <a:pt x="0" y="19"/>
                </a:moveTo>
                <a:lnTo>
                  <a:pt x="22" y="19"/>
                </a:lnTo>
                <a:lnTo>
                  <a:pt x="22" y="16"/>
                </a:lnTo>
                <a:lnTo>
                  <a:pt x="22" y="13"/>
                </a:lnTo>
                <a:lnTo>
                  <a:pt x="21" y="11"/>
                </a:lnTo>
                <a:lnTo>
                  <a:pt x="20" y="8"/>
                </a:lnTo>
                <a:lnTo>
                  <a:pt x="18" y="6"/>
                </a:lnTo>
                <a:lnTo>
                  <a:pt x="17" y="4"/>
                </a:lnTo>
                <a:lnTo>
                  <a:pt x="15" y="2"/>
                </a:lnTo>
                <a:lnTo>
                  <a:pt x="13" y="0"/>
                </a:lnTo>
                <a:close/>
              </a:path>
            </a:pathLst>
          </a:custGeom>
          <a:solidFill>
            <a:srgbClr val="A6CEE3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0" name="Connector 49"/>
          <p:cNvCxnSpPr/>
          <p:nvPr/>
        </p:nvCxnSpPr>
        <p:spPr>
          <a:xfrm flipV="1">
            <a:off x="4032953" y="1248387"/>
            <a:ext cx="115634" cy="16514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Freeform 50"/>
          <p:cNvSpPr/>
          <p:nvPr/>
        </p:nvSpPr>
        <p:spPr>
          <a:xfrm>
            <a:off x="3733800" y="1358900"/>
            <a:ext cx="304800" cy="292100"/>
          </a:xfrm>
          <a:custGeom>
            <a:avLst/>
            <a:gdLst/>
            <a:ahLst/>
            <a:cxnLst/>
            <a:rect l="l" t="t" r="r" b="b"/>
            <a:pathLst>
              <a:path w="24" h="23">
                <a:moveTo>
                  <a:pt x="11" y="23"/>
                </a:moveTo>
                <a:lnTo>
                  <a:pt x="24" y="4"/>
                </a:lnTo>
                <a:lnTo>
                  <a:pt x="21" y="3"/>
                </a:lnTo>
                <a:lnTo>
                  <a:pt x="18" y="1"/>
                </a:lnTo>
                <a:lnTo>
                  <a:pt x="15" y="1"/>
                </a:lnTo>
                <a:lnTo>
                  <a:pt x="12" y="0"/>
                </a:lnTo>
                <a:lnTo>
                  <a:pt x="9" y="0"/>
                </a:lnTo>
                <a:lnTo>
                  <a:pt x="6" y="1"/>
                </a:lnTo>
                <a:lnTo>
                  <a:pt x="3" y="2"/>
                </a:lnTo>
                <a:lnTo>
                  <a:pt x="0" y="3"/>
                </a:lnTo>
                <a:close/>
              </a:path>
            </a:pathLst>
          </a:custGeom>
          <a:solidFill>
            <a:srgbClr val="1F78B4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 flipH="1" flipV="1">
            <a:off x="3641686" y="1215186"/>
            <a:ext cx="93083" cy="17881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H="1" flipV="1">
            <a:off x="3641686" y="1215186"/>
            <a:ext cx="93083" cy="17881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3668287" y="1266288"/>
            <a:ext cx="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Freeform 54"/>
          <p:cNvSpPr/>
          <p:nvPr/>
        </p:nvSpPr>
        <p:spPr>
          <a:xfrm>
            <a:off x="3594100" y="1397000"/>
            <a:ext cx="279400" cy="254000"/>
          </a:xfrm>
          <a:custGeom>
            <a:avLst/>
            <a:gdLst/>
            <a:ahLst/>
            <a:cxnLst/>
            <a:rect l="l" t="t" r="r" b="b"/>
            <a:pathLst>
              <a:path w="22" h="20">
                <a:moveTo>
                  <a:pt x="22" y="20"/>
                </a:moveTo>
                <a:lnTo>
                  <a:pt x="11" y="0"/>
                </a:lnTo>
                <a:lnTo>
                  <a:pt x="9" y="1"/>
                </a:lnTo>
                <a:lnTo>
                  <a:pt x="7" y="2"/>
                </a:lnTo>
                <a:lnTo>
                  <a:pt x="6" y="4"/>
                </a:lnTo>
                <a:lnTo>
                  <a:pt x="4" y="5"/>
                </a:lnTo>
                <a:lnTo>
                  <a:pt x="3" y="7"/>
                </a:lnTo>
                <a:lnTo>
                  <a:pt x="2" y="9"/>
                </a:lnTo>
                <a:lnTo>
                  <a:pt x="1" y="11"/>
                </a:lnTo>
                <a:lnTo>
                  <a:pt x="0" y="13"/>
                </a:lnTo>
                <a:close/>
              </a:path>
            </a:pathLst>
          </a:custGeom>
          <a:solidFill>
            <a:srgbClr val="33A02C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6" name="Connector 55"/>
          <p:cNvCxnSpPr/>
          <p:nvPr/>
        </p:nvCxnSpPr>
        <p:spPr>
          <a:xfrm flipH="1" flipV="1">
            <a:off x="3400812" y="1502239"/>
            <a:ext cx="192262" cy="6062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Freeform 56"/>
          <p:cNvSpPr/>
          <p:nvPr/>
        </p:nvSpPr>
        <p:spPr>
          <a:xfrm>
            <a:off x="3581400" y="1562100"/>
            <a:ext cx="292100" cy="215900"/>
          </a:xfrm>
          <a:custGeom>
            <a:avLst/>
            <a:gdLst/>
            <a:ahLst/>
            <a:cxnLst/>
            <a:rect l="l" t="t" r="r" b="b"/>
            <a:pathLst>
              <a:path w="23" h="17">
                <a:moveTo>
                  <a:pt x="23" y="7"/>
                </a:moveTo>
                <a:lnTo>
                  <a:pt x="1" y="0"/>
                </a:lnTo>
                <a:lnTo>
                  <a:pt x="0" y="2"/>
                </a:lnTo>
                <a:lnTo>
                  <a:pt x="0" y="4"/>
                </a:lnTo>
                <a:lnTo>
                  <a:pt x="0" y="7"/>
                </a:lnTo>
                <a:lnTo>
                  <a:pt x="0" y="9"/>
                </a:lnTo>
                <a:lnTo>
                  <a:pt x="0" y="11"/>
                </a:lnTo>
                <a:lnTo>
                  <a:pt x="1" y="13"/>
                </a:lnTo>
                <a:lnTo>
                  <a:pt x="1" y="15"/>
                </a:lnTo>
                <a:lnTo>
                  <a:pt x="2" y="17"/>
                </a:lnTo>
                <a:close/>
              </a:path>
            </a:pathLst>
          </a:custGeom>
          <a:solidFill>
            <a:srgbClr val="FB9A99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8" name="Connector 57"/>
          <p:cNvCxnSpPr/>
          <p:nvPr/>
        </p:nvCxnSpPr>
        <p:spPr>
          <a:xfrm flipH="1">
            <a:off x="3433475" y="1782445"/>
            <a:ext cx="178814" cy="9308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Freeform 58"/>
          <p:cNvSpPr/>
          <p:nvPr/>
        </p:nvSpPr>
        <p:spPr>
          <a:xfrm>
            <a:off x="3606800" y="1651000"/>
            <a:ext cx="304800" cy="292100"/>
          </a:xfrm>
          <a:custGeom>
            <a:avLst/>
            <a:gdLst/>
            <a:ahLst/>
            <a:cxnLst/>
            <a:rect l="l" t="t" r="r" b="b"/>
            <a:pathLst>
              <a:path w="24" h="23">
                <a:moveTo>
                  <a:pt x="21" y="0"/>
                </a:moveTo>
                <a:lnTo>
                  <a:pt x="0" y="10"/>
                </a:lnTo>
                <a:lnTo>
                  <a:pt x="2" y="13"/>
                </a:lnTo>
                <a:lnTo>
                  <a:pt x="5" y="16"/>
                </a:lnTo>
                <a:lnTo>
                  <a:pt x="7" y="18"/>
                </a:lnTo>
                <a:lnTo>
                  <a:pt x="10" y="20"/>
                </a:lnTo>
                <a:lnTo>
                  <a:pt x="13" y="21"/>
                </a:lnTo>
                <a:lnTo>
                  <a:pt x="17" y="22"/>
                </a:lnTo>
                <a:lnTo>
                  <a:pt x="20" y="23"/>
                </a:lnTo>
                <a:lnTo>
                  <a:pt x="24" y="22"/>
                </a:lnTo>
                <a:close/>
              </a:path>
            </a:pathLst>
          </a:custGeom>
          <a:solidFill>
            <a:srgbClr val="E31A1C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" name="Connector 59"/>
          <p:cNvCxnSpPr/>
          <p:nvPr/>
        </p:nvCxnSpPr>
        <p:spPr>
          <a:xfrm>
            <a:off x="3905340" y="1935008"/>
            <a:ext cx="26311" cy="19987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3905340" y="1935008"/>
            <a:ext cx="26311" cy="19987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3924132" y="2077758"/>
            <a:ext cx="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Freeform 62"/>
          <p:cNvSpPr/>
          <p:nvPr/>
        </p:nvSpPr>
        <p:spPr>
          <a:xfrm>
            <a:off x="3873500" y="1651000"/>
            <a:ext cx="177800" cy="279400"/>
          </a:xfrm>
          <a:custGeom>
            <a:avLst/>
            <a:gdLst/>
            <a:ahLst/>
            <a:cxnLst/>
            <a:rect l="l" t="t" r="r" b="b"/>
            <a:pathLst>
              <a:path w="14" h="22">
                <a:moveTo>
                  <a:pt x="0" y="0"/>
                </a:moveTo>
                <a:lnTo>
                  <a:pt x="3" y="22"/>
                </a:lnTo>
                <a:lnTo>
                  <a:pt x="4" y="22"/>
                </a:lnTo>
                <a:lnTo>
                  <a:pt x="6" y="22"/>
                </a:lnTo>
                <a:lnTo>
                  <a:pt x="7" y="21"/>
                </a:lnTo>
                <a:lnTo>
                  <a:pt x="9" y="21"/>
                </a:lnTo>
                <a:lnTo>
                  <a:pt x="10" y="20"/>
                </a:lnTo>
                <a:lnTo>
                  <a:pt x="12" y="19"/>
                </a:lnTo>
                <a:lnTo>
                  <a:pt x="13" y="18"/>
                </a:lnTo>
                <a:lnTo>
                  <a:pt x="14" y="17"/>
                </a:lnTo>
                <a:close/>
              </a:path>
            </a:pathLst>
          </a:custGeom>
          <a:solidFill>
            <a:srgbClr val="FF7F00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>
            <a:off x="4052888" y="1870096"/>
            <a:ext cx="129588" cy="154435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Freeform 64"/>
          <p:cNvSpPr/>
          <p:nvPr/>
        </p:nvSpPr>
        <p:spPr>
          <a:xfrm>
            <a:off x="3873500" y="1651000"/>
            <a:ext cx="266700" cy="215900"/>
          </a:xfrm>
          <a:custGeom>
            <a:avLst/>
            <a:gdLst/>
            <a:ahLst/>
            <a:cxnLst/>
            <a:rect l="l" t="t" r="r" b="b"/>
            <a:pathLst>
              <a:path w="21" h="17">
                <a:moveTo>
                  <a:pt x="0" y="0"/>
                </a:moveTo>
                <a:lnTo>
                  <a:pt x="14" y="17"/>
                </a:lnTo>
                <a:lnTo>
                  <a:pt x="15" y="16"/>
                </a:lnTo>
                <a:lnTo>
                  <a:pt x="16" y="15"/>
                </a:lnTo>
                <a:lnTo>
                  <a:pt x="17" y="14"/>
                </a:lnTo>
                <a:lnTo>
                  <a:pt x="18" y="12"/>
                </a:lnTo>
                <a:lnTo>
                  <a:pt x="19" y="11"/>
                </a:lnTo>
                <a:lnTo>
                  <a:pt x="20" y="10"/>
                </a:lnTo>
                <a:lnTo>
                  <a:pt x="21" y="8"/>
                </a:lnTo>
                <a:lnTo>
                  <a:pt x="21" y="7"/>
                </a:lnTo>
                <a:close/>
              </a:path>
            </a:pathLst>
          </a:custGeom>
          <a:solidFill>
            <a:srgbClr val="CAB2D6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6" name="Connector 65"/>
          <p:cNvCxnSpPr/>
          <p:nvPr/>
        </p:nvCxnSpPr>
        <p:spPr>
          <a:xfrm>
            <a:off x="4142428" y="1736067"/>
            <a:ext cx="192263" cy="6061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Freeform 66"/>
          <p:cNvSpPr/>
          <p:nvPr/>
        </p:nvSpPr>
        <p:spPr>
          <a:xfrm>
            <a:off x="3873500" y="1651000"/>
            <a:ext cx="279400" cy="88900"/>
          </a:xfrm>
          <a:custGeom>
            <a:avLst/>
            <a:gdLst/>
            <a:ahLst/>
            <a:cxnLst/>
            <a:rect l="l" t="t" r="r" b="b"/>
            <a:pathLst>
              <a:path w="22" h="7">
                <a:moveTo>
                  <a:pt x="0" y="0"/>
                </a:moveTo>
                <a:lnTo>
                  <a:pt x="21" y="7"/>
                </a:lnTo>
                <a:lnTo>
                  <a:pt x="21" y="6"/>
                </a:lnTo>
                <a:lnTo>
                  <a:pt x="22" y="5"/>
                </a:lnTo>
                <a:lnTo>
                  <a:pt x="22" y="4"/>
                </a:lnTo>
                <a:lnTo>
                  <a:pt x="22" y="3"/>
                </a:lnTo>
                <a:lnTo>
                  <a:pt x="22" y="2"/>
                </a:lnTo>
                <a:lnTo>
                  <a:pt x="22" y="2"/>
                </a:lnTo>
                <a:lnTo>
                  <a:pt x="22" y="1"/>
                </a:lnTo>
                <a:lnTo>
                  <a:pt x="22" y="0"/>
                </a:lnTo>
                <a:close/>
              </a:path>
            </a:pathLst>
          </a:custGeom>
          <a:solidFill>
            <a:srgbClr val="6A3D9A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8" name="Connector 67"/>
          <p:cNvCxnSpPr/>
          <p:nvPr/>
        </p:nvCxnSpPr>
        <p:spPr>
          <a:xfrm>
            <a:off x="4155771" y="1649463"/>
            <a:ext cx="201602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Rectangle 68"/>
          <p:cNvSpPr/>
          <p:nvPr/>
        </p:nvSpPr>
        <p:spPr>
          <a:xfrm>
            <a:off x="-8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2879983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1" name="Picture 7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72" name="Picture 7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Example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1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59993" y="737391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Using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roulette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wheel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cumulative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fitness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ratios,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identify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59993" y="909476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individuals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selected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parents.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36091" y="1202387"/>
            <a:ext cx="504930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1">
                <a:solidFill>
                  <a:srgbClr val="FFFFFF"/>
                </a:solidFill>
                <a:latin typeface="Josefin Sans"/>
              </a:rPr>
              <a:t>Label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225816" y="1202387"/>
            <a:ext cx="455957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1">
                <a:solidFill>
                  <a:srgbClr val="FFFFFF"/>
                </a:solidFill>
                <a:latin typeface="Josefin Sans"/>
              </a:rPr>
              <a:t>Parent</a:t>
            </a:r>
            <a:r>
              <a:rPr sz="797" b="1">
                <a:solidFill>
                  <a:srgbClr val="FFFFFF"/>
                </a:solidFill>
                <a:latin typeface="Josefin Sans"/>
              </a:rPr>
              <a:t> </a:t>
            </a:r>
            <a:r>
              <a:rPr sz="797" b="1">
                <a:solidFill>
                  <a:srgbClr val="FFFFFF"/>
                </a:solidFill>
                <a:latin typeface="Josefin Sans"/>
              </a:rPr>
              <a:t>A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961311" y="1202387"/>
            <a:ext cx="382408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1">
                <a:solidFill>
                  <a:srgbClr val="FFFFFF"/>
                </a:solidFill>
                <a:latin typeface="Josefin Sans"/>
              </a:rPr>
              <a:t>Parent</a:t>
            </a:r>
            <a:r>
              <a:rPr sz="797" b="1">
                <a:solidFill>
                  <a:srgbClr val="FFFFFF"/>
                </a:solidFill>
                <a:latin typeface="Josefin Sans"/>
              </a:rPr>
              <a:t> </a:t>
            </a:r>
            <a:r>
              <a:rPr sz="797" b="1">
                <a:solidFill>
                  <a:srgbClr val="FFFFFF"/>
                </a:solidFill>
                <a:latin typeface="Josefin Sans"/>
              </a:rPr>
              <a:t>B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14463" y="1374587"/>
            <a:ext cx="497093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p</a:t>
            </a:r>
            <a:r>
              <a:rPr sz="5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166228" y="1372890"/>
            <a:ext cx="461916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0.9189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603147" y="1374587"/>
            <a:ext cx="418224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v</a:t>
            </a:r>
            <a:r>
              <a:rPr sz="597" b="0">
                <a:solidFill>
                  <a:srgbClr val="000000"/>
                </a:solidFill>
                <a:latin typeface="Cambria Math"/>
              </a:rPr>
              <a:t>9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869935" y="1372891"/>
            <a:ext cx="391546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0.1049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2334705" y="1374587"/>
            <a:ext cx="345069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v</a:t>
            </a:r>
            <a:r>
              <a:rPr sz="5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14462" y="1545403"/>
            <a:ext cx="497093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p</a:t>
            </a:r>
            <a:r>
              <a:rPr sz="59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151507" y="1543706"/>
            <a:ext cx="463388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0.3305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603144" y="1545403"/>
            <a:ext cx="418225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v</a:t>
            </a:r>
            <a:r>
              <a:rPr sz="597" b="0">
                <a:solidFill>
                  <a:srgbClr val="000000"/>
                </a:solidFill>
                <a:latin typeface="Cambria Math"/>
              </a:rP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860065" y="1543705"/>
            <a:ext cx="392533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0.0868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2334702" y="1545401"/>
            <a:ext cx="345069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v</a:t>
            </a:r>
            <a:r>
              <a:rPr sz="5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814459" y="1716204"/>
            <a:ext cx="4970936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p</a:t>
            </a:r>
            <a:r>
              <a:rPr sz="597" b="0">
                <a:solidFill>
                  <a:srgbClr val="000000"/>
                </a:solidFill>
                <a:latin typeface="Cambria Math"/>
              </a:rPr>
              <a:t>3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178174" y="1714508"/>
            <a:ext cx="460722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0.8211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603140" y="1716205"/>
            <a:ext cx="418225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v</a:t>
            </a:r>
            <a:r>
              <a:rPr sz="597" b="0">
                <a:solidFill>
                  <a:srgbClr val="000000"/>
                </a:solidFill>
                <a:latin typeface="Cambria Math"/>
              </a:rPr>
              <a:t>8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861331" y="1714507"/>
            <a:ext cx="392406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0.9057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334699" y="1716205"/>
            <a:ext cx="3450696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v</a:t>
            </a:r>
            <a:r>
              <a:rPr sz="597" b="0">
                <a:solidFill>
                  <a:srgbClr val="000000"/>
                </a:solidFill>
                <a:latin typeface="Cambria Math"/>
              </a:rPr>
              <a:t>9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14456" y="1887019"/>
            <a:ext cx="497093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p</a:t>
            </a:r>
            <a:r>
              <a:rPr sz="597" b="0">
                <a:solidFill>
                  <a:srgbClr val="000000"/>
                </a:solidFill>
                <a:latin typeface="Cambria Math"/>
              </a:rP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153622" y="1885323"/>
            <a:ext cx="463177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0.5780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603137" y="1887019"/>
            <a:ext cx="418225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v</a:t>
            </a:r>
            <a:r>
              <a:rPr sz="597" b="0">
                <a:solidFill>
                  <a:srgbClr val="000000"/>
                </a:solidFill>
                <a:latin typeface="Cambria Math"/>
              </a:rPr>
              <a:t>6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863652" y="1885322"/>
            <a:ext cx="392174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0.9635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814456" y="2057833"/>
            <a:ext cx="497093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p</a:t>
            </a:r>
            <a:r>
              <a:rPr sz="597" b="0">
                <a:solidFill>
                  <a:srgbClr val="000000"/>
                </a:solidFill>
                <a:latin typeface="Cambria Math"/>
              </a:rPr>
              <a:t>5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160505" y="2056137"/>
            <a:ext cx="462489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0.2476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865722" y="2056136"/>
            <a:ext cx="391967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0.8286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064182" y="1129252"/>
            <a:ext cx="172121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0.1528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187296" y="1361162"/>
            <a:ext cx="159809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3457402" y="1062725"/>
            <a:ext cx="232799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0.3264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3604658" y="1177444"/>
            <a:ext cx="218073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3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227722" y="1427892"/>
            <a:ext cx="255767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0.45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473201" y="1282930"/>
            <a:ext cx="231219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214184" y="1867058"/>
            <a:ext cx="257121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0.5764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3373772" y="1598271"/>
            <a:ext cx="241162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3797724" y="2172163"/>
            <a:ext cx="198767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0.7708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3604658" y="1943788"/>
            <a:ext cx="218073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6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3860500" y="1988911"/>
            <a:ext cx="192489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7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4113662" y="2042356"/>
            <a:ext cx="167173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0.8611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978102" y="1956018"/>
            <a:ext cx="180729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281809" y="1774298"/>
            <a:ext cx="1503586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0.9514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4163306" y="1800620"/>
            <a:ext cx="162208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4427821" y="1601578"/>
            <a:ext cx="135757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204187" y="1626338"/>
            <a:ext cx="158120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10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4898762" y="3150916"/>
            <a:ext cx="88663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5623119" y="3150692"/>
            <a:ext cx="16227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64</a:t>
            </a:r>
          </a:p>
        </p:txBody>
      </p:sp>
    </p:spTree>
  </p:cSld>
  <p:clrMapOvr>
    <a:masterClrMapping/>
  </p:clrMapOvr>
</p:sld>
</file>

<file path=ppt/slides/slide1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660184" y="1173443"/>
            <a:ext cx="415404" cy="170814"/>
          </a:xfrm>
          <a:prstGeom prst="rect">
            <a:avLst/>
          </a:prstGeom>
          <a:solidFill>
            <a:srgbClr val="6BAE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075588" y="1173443"/>
            <a:ext cx="708558" cy="170814"/>
          </a:xfrm>
          <a:prstGeom prst="rect">
            <a:avLst/>
          </a:prstGeom>
          <a:solidFill>
            <a:srgbClr val="217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784146" y="1173443"/>
            <a:ext cx="754748" cy="170814"/>
          </a:xfrm>
          <a:prstGeom prst="rect">
            <a:avLst/>
          </a:prstGeom>
          <a:solidFill>
            <a:srgbClr val="0830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60182" y="1515061"/>
            <a:ext cx="415404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075587" y="1515061"/>
            <a:ext cx="451650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527237" y="1515061"/>
            <a:ext cx="256921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784144" y="1515060"/>
            <a:ext cx="451446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235591" y="1515060"/>
            <a:ext cx="303314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60176" y="1856677"/>
            <a:ext cx="415404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075581" y="1856677"/>
            <a:ext cx="451650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527231" y="1856677"/>
            <a:ext cx="256921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784138" y="1856677"/>
            <a:ext cx="451446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2235585" y="1856677"/>
            <a:ext cx="303314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3873500" y="1409700"/>
            <a:ext cx="279400" cy="241300"/>
          </a:xfrm>
          <a:custGeom>
            <a:avLst/>
            <a:gdLst/>
            <a:ahLst/>
            <a:cxnLst/>
            <a:rect l="l" t="t" r="r" b="b"/>
            <a:pathLst>
              <a:path w="22" h="19">
                <a:moveTo>
                  <a:pt x="0" y="19"/>
                </a:moveTo>
                <a:lnTo>
                  <a:pt x="22" y="19"/>
                </a:lnTo>
                <a:lnTo>
                  <a:pt x="22" y="16"/>
                </a:lnTo>
                <a:lnTo>
                  <a:pt x="22" y="13"/>
                </a:lnTo>
                <a:lnTo>
                  <a:pt x="21" y="11"/>
                </a:lnTo>
                <a:lnTo>
                  <a:pt x="20" y="8"/>
                </a:lnTo>
                <a:lnTo>
                  <a:pt x="18" y="6"/>
                </a:lnTo>
                <a:lnTo>
                  <a:pt x="17" y="4"/>
                </a:lnTo>
                <a:lnTo>
                  <a:pt x="15" y="2"/>
                </a:lnTo>
                <a:lnTo>
                  <a:pt x="13" y="0"/>
                </a:lnTo>
                <a:close/>
              </a:path>
            </a:pathLst>
          </a:custGeom>
          <a:solidFill>
            <a:srgbClr val="A6CEE3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0" name="Connector 49"/>
          <p:cNvCxnSpPr/>
          <p:nvPr/>
        </p:nvCxnSpPr>
        <p:spPr>
          <a:xfrm flipV="1">
            <a:off x="4032953" y="1248387"/>
            <a:ext cx="115634" cy="16514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Freeform 50"/>
          <p:cNvSpPr/>
          <p:nvPr/>
        </p:nvSpPr>
        <p:spPr>
          <a:xfrm>
            <a:off x="3733800" y="1358900"/>
            <a:ext cx="304800" cy="292100"/>
          </a:xfrm>
          <a:custGeom>
            <a:avLst/>
            <a:gdLst/>
            <a:ahLst/>
            <a:cxnLst/>
            <a:rect l="l" t="t" r="r" b="b"/>
            <a:pathLst>
              <a:path w="24" h="23">
                <a:moveTo>
                  <a:pt x="11" y="23"/>
                </a:moveTo>
                <a:lnTo>
                  <a:pt x="24" y="4"/>
                </a:lnTo>
                <a:lnTo>
                  <a:pt x="21" y="3"/>
                </a:lnTo>
                <a:lnTo>
                  <a:pt x="18" y="1"/>
                </a:lnTo>
                <a:lnTo>
                  <a:pt x="15" y="1"/>
                </a:lnTo>
                <a:lnTo>
                  <a:pt x="12" y="0"/>
                </a:lnTo>
                <a:lnTo>
                  <a:pt x="9" y="0"/>
                </a:lnTo>
                <a:lnTo>
                  <a:pt x="6" y="1"/>
                </a:lnTo>
                <a:lnTo>
                  <a:pt x="3" y="2"/>
                </a:lnTo>
                <a:lnTo>
                  <a:pt x="0" y="3"/>
                </a:lnTo>
                <a:close/>
              </a:path>
            </a:pathLst>
          </a:custGeom>
          <a:solidFill>
            <a:srgbClr val="1F78B4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 flipH="1" flipV="1">
            <a:off x="3641686" y="1215186"/>
            <a:ext cx="93083" cy="17881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H="1" flipV="1">
            <a:off x="3641686" y="1215186"/>
            <a:ext cx="93083" cy="17881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3668287" y="1266288"/>
            <a:ext cx="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Freeform 54"/>
          <p:cNvSpPr/>
          <p:nvPr/>
        </p:nvSpPr>
        <p:spPr>
          <a:xfrm>
            <a:off x="3594100" y="1397000"/>
            <a:ext cx="279400" cy="254000"/>
          </a:xfrm>
          <a:custGeom>
            <a:avLst/>
            <a:gdLst/>
            <a:ahLst/>
            <a:cxnLst/>
            <a:rect l="l" t="t" r="r" b="b"/>
            <a:pathLst>
              <a:path w="22" h="20">
                <a:moveTo>
                  <a:pt x="22" y="20"/>
                </a:moveTo>
                <a:lnTo>
                  <a:pt x="11" y="0"/>
                </a:lnTo>
                <a:lnTo>
                  <a:pt x="9" y="1"/>
                </a:lnTo>
                <a:lnTo>
                  <a:pt x="7" y="2"/>
                </a:lnTo>
                <a:lnTo>
                  <a:pt x="6" y="4"/>
                </a:lnTo>
                <a:lnTo>
                  <a:pt x="4" y="5"/>
                </a:lnTo>
                <a:lnTo>
                  <a:pt x="3" y="7"/>
                </a:lnTo>
                <a:lnTo>
                  <a:pt x="2" y="9"/>
                </a:lnTo>
                <a:lnTo>
                  <a:pt x="1" y="11"/>
                </a:lnTo>
                <a:lnTo>
                  <a:pt x="0" y="13"/>
                </a:lnTo>
                <a:close/>
              </a:path>
            </a:pathLst>
          </a:custGeom>
          <a:solidFill>
            <a:srgbClr val="33A02C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6" name="Connector 55"/>
          <p:cNvCxnSpPr/>
          <p:nvPr/>
        </p:nvCxnSpPr>
        <p:spPr>
          <a:xfrm flipH="1" flipV="1">
            <a:off x="3400812" y="1502239"/>
            <a:ext cx="192262" cy="6062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Freeform 56"/>
          <p:cNvSpPr/>
          <p:nvPr/>
        </p:nvSpPr>
        <p:spPr>
          <a:xfrm>
            <a:off x="3581400" y="1562100"/>
            <a:ext cx="292100" cy="215900"/>
          </a:xfrm>
          <a:custGeom>
            <a:avLst/>
            <a:gdLst/>
            <a:ahLst/>
            <a:cxnLst/>
            <a:rect l="l" t="t" r="r" b="b"/>
            <a:pathLst>
              <a:path w="23" h="17">
                <a:moveTo>
                  <a:pt x="23" y="7"/>
                </a:moveTo>
                <a:lnTo>
                  <a:pt x="1" y="0"/>
                </a:lnTo>
                <a:lnTo>
                  <a:pt x="0" y="2"/>
                </a:lnTo>
                <a:lnTo>
                  <a:pt x="0" y="4"/>
                </a:lnTo>
                <a:lnTo>
                  <a:pt x="0" y="7"/>
                </a:lnTo>
                <a:lnTo>
                  <a:pt x="0" y="9"/>
                </a:lnTo>
                <a:lnTo>
                  <a:pt x="0" y="11"/>
                </a:lnTo>
                <a:lnTo>
                  <a:pt x="1" y="13"/>
                </a:lnTo>
                <a:lnTo>
                  <a:pt x="1" y="15"/>
                </a:lnTo>
                <a:lnTo>
                  <a:pt x="2" y="17"/>
                </a:lnTo>
                <a:close/>
              </a:path>
            </a:pathLst>
          </a:custGeom>
          <a:solidFill>
            <a:srgbClr val="FB9A99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8" name="Connector 57"/>
          <p:cNvCxnSpPr/>
          <p:nvPr/>
        </p:nvCxnSpPr>
        <p:spPr>
          <a:xfrm flipH="1">
            <a:off x="3433475" y="1782445"/>
            <a:ext cx="178814" cy="9308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Freeform 58"/>
          <p:cNvSpPr/>
          <p:nvPr/>
        </p:nvSpPr>
        <p:spPr>
          <a:xfrm>
            <a:off x="3606800" y="1651000"/>
            <a:ext cx="304800" cy="292100"/>
          </a:xfrm>
          <a:custGeom>
            <a:avLst/>
            <a:gdLst/>
            <a:ahLst/>
            <a:cxnLst/>
            <a:rect l="l" t="t" r="r" b="b"/>
            <a:pathLst>
              <a:path w="24" h="23">
                <a:moveTo>
                  <a:pt x="21" y="0"/>
                </a:moveTo>
                <a:lnTo>
                  <a:pt x="0" y="10"/>
                </a:lnTo>
                <a:lnTo>
                  <a:pt x="2" y="13"/>
                </a:lnTo>
                <a:lnTo>
                  <a:pt x="5" y="16"/>
                </a:lnTo>
                <a:lnTo>
                  <a:pt x="7" y="18"/>
                </a:lnTo>
                <a:lnTo>
                  <a:pt x="10" y="20"/>
                </a:lnTo>
                <a:lnTo>
                  <a:pt x="13" y="21"/>
                </a:lnTo>
                <a:lnTo>
                  <a:pt x="17" y="22"/>
                </a:lnTo>
                <a:lnTo>
                  <a:pt x="20" y="23"/>
                </a:lnTo>
                <a:lnTo>
                  <a:pt x="24" y="22"/>
                </a:lnTo>
                <a:close/>
              </a:path>
            </a:pathLst>
          </a:custGeom>
          <a:solidFill>
            <a:srgbClr val="E31A1C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" name="Connector 59"/>
          <p:cNvCxnSpPr/>
          <p:nvPr/>
        </p:nvCxnSpPr>
        <p:spPr>
          <a:xfrm>
            <a:off x="3905340" y="1935008"/>
            <a:ext cx="26311" cy="19987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3905340" y="1935008"/>
            <a:ext cx="26311" cy="19987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3924132" y="2077758"/>
            <a:ext cx="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Freeform 62"/>
          <p:cNvSpPr/>
          <p:nvPr/>
        </p:nvSpPr>
        <p:spPr>
          <a:xfrm>
            <a:off x="3873500" y="1651000"/>
            <a:ext cx="177800" cy="279400"/>
          </a:xfrm>
          <a:custGeom>
            <a:avLst/>
            <a:gdLst/>
            <a:ahLst/>
            <a:cxnLst/>
            <a:rect l="l" t="t" r="r" b="b"/>
            <a:pathLst>
              <a:path w="14" h="22">
                <a:moveTo>
                  <a:pt x="0" y="0"/>
                </a:moveTo>
                <a:lnTo>
                  <a:pt x="3" y="22"/>
                </a:lnTo>
                <a:lnTo>
                  <a:pt x="4" y="22"/>
                </a:lnTo>
                <a:lnTo>
                  <a:pt x="6" y="22"/>
                </a:lnTo>
                <a:lnTo>
                  <a:pt x="7" y="21"/>
                </a:lnTo>
                <a:lnTo>
                  <a:pt x="9" y="21"/>
                </a:lnTo>
                <a:lnTo>
                  <a:pt x="10" y="20"/>
                </a:lnTo>
                <a:lnTo>
                  <a:pt x="12" y="19"/>
                </a:lnTo>
                <a:lnTo>
                  <a:pt x="13" y="18"/>
                </a:lnTo>
                <a:lnTo>
                  <a:pt x="14" y="17"/>
                </a:lnTo>
                <a:close/>
              </a:path>
            </a:pathLst>
          </a:custGeom>
          <a:solidFill>
            <a:srgbClr val="FF7F00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>
            <a:off x="4052888" y="1870096"/>
            <a:ext cx="129588" cy="154435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Freeform 64"/>
          <p:cNvSpPr/>
          <p:nvPr/>
        </p:nvSpPr>
        <p:spPr>
          <a:xfrm>
            <a:off x="3873500" y="1651000"/>
            <a:ext cx="266700" cy="215900"/>
          </a:xfrm>
          <a:custGeom>
            <a:avLst/>
            <a:gdLst/>
            <a:ahLst/>
            <a:cxnLst/>
            <a:rect l="l" t="t" r="r" b="b"/>
            <a:pathLst>
              <a:path w="21" h="17">
                <a:moveTo>
                  <a:pt x="0" y="0"/>
                </a:moveTo>
                <a:lnTo>
                  <a:pt x="14" y="17"/>
                </a:lnTo>
                <a:lnTo>
                  <a:pt x="15" y="16"/>
                </a:lnTo>
                <a:lnTo>
                  <a:pt x="16" y="15"/>
                </a:lnTo>
                <a:lnTo>
                  <a:pt x="17" y="14"/>
                </a:lnTo>
                <a:lnTo>
                  <a:pt x="18" y="12"/>
                </a:lnTo>
                <a:lnTo>
                  <a:pt x="19" y="11"/>
                </a:lnTo>
                <a:lnTo>
                  <a:pt x="20" y="10"/>
                </a:lnTo>
                <a:lnTo>
                  <a:pt x="21" y="8"/>
                </a:lnTo>
                <a:lnTo>
                  <a:pt x="21" y="7"/>
                </a:lnTo>
                <a:close/>
              </a:path>
            </a:pathLst>
          </a:custGeom>
          <a:solidFill>
            <a:srgbClr val="CAB2D6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6" name="Connector 65"/>
          <p:cNvCxnSpPr/>
          <p:nvPr/>
        </p:nvCxnSpPr>
        <p:spPr>
          <a:xfrm>
            <a:off x="4142428" y="1736067"/>
            <a:ext cx="192263" cy="6061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Freeform 66"/>
          <p:cNvSpPr/>
          <p:nvPr/>
        </p:nvSpPr>
        <p:spPr>
          <a:xfrm>
            <a:off x="3873500" y="1651000"/>
            <a:ext cx="279400" cy="88900"/>
          </a:xfrm>
          <a:custGeom>
            <a:avLst/>
            <a:gdLst/>
            <a:ahLst/>
            <a:cxnLst/>
            <a:rect l="l" t="t" r="r" b="b"/>
            <a:pathLst>
              <a:path w="22" h="7">
                <a:moveTo>
                  <a:pt x="0" y="0"/>
                </a:moveTo>
                <a:lnTo>
                  <a:pt x="21" y="7"/>
                </a:lnTo>
                <a:lnTo>
                  <a:pt x="21" y="6"/>
                </a:lnTo>
                <a:lnTo>
                  <a:pt x="22" y="5"/>
                </a:lnTo>
                <a:lnTo>
                  <a:pt x="22" y="4"/>
                </a:lnTo>
                <a:lnTo>
                  <a:pt x="22" y="3"/>
                </a:lnTo>
                <a:lnTo>
                  <a:pt x="22" y="2"/>
                </a:lnTo>
                <a:lnTo>
                  <a:pt x="22" y="2"/>
                </a:lnTo>
                <a:lnTo>
                  <a:pt x="22" y="1"/>
                </a:lnTo>
                <a:lnTo>
                  <a:pt x="22" y="0"/>
                </a:lnTo>
                <a:close/>
              </a:path>
            </a:pathLst>
          </a:custGeom>
          <a:solidFill>
            <a:srgbClr val="6A3D9A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8" name="Connector 67"/>
          <p:cNvCxnSpPr/>
          <p:nvPr/>
        </p:nvCxnSpPr>
        <p:spPr>
          <a:xfrm>
            <a:off x="4155771" y="1649463"/>
            <a:ext cx="201602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Rectangle 68"/>
          <p:cNvSpPr/>
          <p:nvPr/>
        </p:nvSpPr>
        <p:spPr>
          <a:xfrm>
            <a:off x="-8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2879983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1" name="Picture 7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72" name="Picture 7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Example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1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59993" y="737391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Using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roulette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wheel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cumulative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fitness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ratios,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identify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59993" y="909476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individuals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selected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parents.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36091" y="1202387"/>
            <a:ext cx="504930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1">
                <a:solidFill>
                  <a:srgbClr val="FFFFFF"/>
                </a:solidFill>
                <a:latin typeface="Josefin Sans"/>
              </a:rPr>
              <a:t>Label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225816" y="1202387"/>
            <a:ext cx="455957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1">
                <a:solidFill>
                  <a:srgbClr val="FFFFFF"/>
                </a:solidFill>
                <a:latin typeface="Josefin Sans"/>
              </a:rPr>
              <a:t>Parent</a:t>
            </a:r>
            <a:r>
              <a:rPr sz="797" b="1">
                <a:solidFill>
                  <a:srgbClr val="FFFFFF"/>
                </a:solidFill>
                <a:latin typeface="Josefin Sans"/>
              </a:rPr>
              <a:t> </a:t>
            </a:r>
            <a:r>
              <a:rPr sz="797" b="1">
                <a:solidFill>
                  <a:srgbClr val="FFFFFF"/>
                </a:solidFill>
                <a:latin typeface="Josefin Sans"/>
              </a:rPr>
              <a:t>A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961311" y="1202387"/>
            <a:ext cx="382408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1">
                <a:solidFill>
                  <a:srgbClr val="FFFFFF"/>
                </a:solidFill>
                <a:latin typeface="Josefin Sans"/>
              </a:rPr>
              <a:t>Parent</a:t>
            </a:r>
            <a:r>
              <a:rPr sz="797" b="1">
                <a:solidFill>
                  <a:srgbClr val="FFFFFF"/>
                </a:solidFill>
                <a:latin typeface="Josefin Sans"/>
              </a:rPr>
              <a:t> </a:t>
            </a:r>
            <a:r>
              <a:rPr sz="797" b="1">
                <a:solidFill>
                  <a:srgbClr val="FFFFFF"/>
                </a:solidFill>
                <a:latin typeface="Josefin Sans"/>
              </a:rPr>
              <a:t>B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14463" y="1374587"/>
            <a:ext cx="497093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p</a:t>
            </a:r>
            <a:r>
              <a:rPr sz="5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166228" y="1372890"/>
            <a:ext cx="461916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0.9189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603147" y="1374587"/>
            <a:ext cx="418224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v</a:t>
            </a:r>
            <a:r>
              <a:rPr sz="597" b="0">
                <a:solidFill>
                  <a:srgbClr val="000000"/>
                </a:solidFill>
                <a:latin typeface="Cambria Math"/>
              </a:rPr>
              <a:t>9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869935" y="1372891"/>
            <a:ext cx="391546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0.1049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2334705" y="1374587"/>
            <a:ext cx="345069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v</a:t>
            </a:r>
            <a:r>
              <a:rPr sz="5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14462" y="1545403"/>
            <a:ext cx="497093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p</a:t>
            </a:r>
            <a:r>
              <a:rPr sz="59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151507" y="1543706"/>
            <a:ext cx="463388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0.3305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603144" y="1545403"/>
            <a:ext cx="418225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v</a:t>
            </a:r>
            <a:r>
              <a:rPr sz="597" b="0">
                <a:solidFill>
                  <a:srgbClr val="000000"/>
                </a:solidFill>
                <a:latin typeface="Cambria Math"/>
              </a:rP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860065" y="1543705"/>
            <a:ext cx="392533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0.0868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2334702" y="1545401"/>
            <a:ext cx="345069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v</a:t>
            </a:r>
            <a:r>
              <a:rPr sz="5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814459" y="1716204"/>
            <a:ext cx="4970936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p</a:t>
            </a:r>
            <a:r>
              <a:rPr sz="597" b="0">
                <a:solidFill>
                  <a:srgbClr val="000000"/>
                </a:solidFill>
                <a:latin typeface="Cambria Math"/>
              </a:rPr>
              <a:t>3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178174" y="1714508"/>
            <a:ext cx="460722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0.8211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603140" y="1716205"/>
            <a:ext cx="418225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v</a:t>
            </a:r>
            <a:r>
              <a:rPr sz="597" b="0">
                <a:solidFill>
                  <a:srgbClr val="000000"/>
                </a:solidFill>
                <a:latin typeface="Cambria Math"/>
              </a:rPr>
              <a:t>8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861331" y="1714507"/>
            <a:ext cx="392406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0.9057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334699" y="1716205"/>
            <a:ext cx="3450696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v</a:t>
            </a:r>
            <a:r>
              <a:rPr sz="597" b="0">
                <a:solidFill>
                  <a:srgbClr val="000000"/>
                </a:solidFill>
                <a:latin typeface="Cambria Math"/>
              </a:rPr>
              <a:t>9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14456" y="1887019"/>
            <a:ext cx="497093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p</a:t>
            </a:r>
            <a:r>
              <a:rPr sz="597" b="0">
                <a:solidFill>
                  <a:srgbClr val="000000"/>
                </a:solidFill>
                <a:latin typeface="Cambria Math"/>
              </a:rP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153622" y="1885323"/>
            <a:ext cx="463177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0.5780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603137" y="1887019"/>
            <a:ext cx="418225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v</a:t>
            </a:r>
            <a:r>
              <a:rPr sz="597" b="0">
                <a:solidFill>
                  <a:srgbClr val="000000"/>
                </a:solidFill>
                <a:latin typeface="Cambria Math"/>
              </a:rPr>
              <a:t>6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863652" y="1885322"/>
            <a:ext cx="392174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0.9635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311506" y="1887019"/>
            <a:ext cx="347388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v</a:t>
            </a:r>
            <a:r>
              <a:rPr sz="597" b="0">
                <a:solidFill>
                  <a:srgbClr val="000000"/>
                </a:solidFill>
                <a:latin typeface="Cambria Math"/>
              </a:rPr>
              <a:t>10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14456" y="2057833"/>
            <a:ext cx="497093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p</a:t>
            </a:r>
            <a:r>
              <a:rPr sz="597" b="0">
                <a:solidFill>
                  <a:srgbClr val="000000"/>
                </a:solidFill>
                <a:latin typeface="Cambria Math"/>
              </a:rPr>
              <a:t>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160505" y="2056137"/>
            <a:ext cx="462489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0.2476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865722" y="2056136"/>
            <a:ext cx="391967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0.8286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064182" y="1129252"/>
            <a:ext cx="172121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0.1528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4187296" y="1361162"/>
            <a:ext cx="159809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3457402" y="1062725"/>
            <a:ext cx="232799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0.3264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604658" y="1177444"/>
            <a:ext cx="218073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3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227722" y="1427892"/>
            <a:ext cx="255767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0.45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473201" y="1282930"/>
            <a:ext cx="231219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3214184" y="1867058"/>
            <a:ext cx="257121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0.5764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3373772" y="1598271"/>
            <a:ext cx="241162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5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3797724" y="2172163"/>
            <a:ext cx="198767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0.7708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3604658" y="1943788"/>
            <a:ext cx="218073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6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3860500" y="1988911"/>
            <a:ext cx="192489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7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4113662" y="2042356"/>
            <a:ext cx="167173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0.8611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3978102" y="1956018"/>
            <a:ext cx="180729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4281809" y="1774298"/>
            <a:ext cx="1503586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0.9514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4163306" y="1800620"/>
            <a:ext cx="162208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427821" y="1601578"/>
            <a:ext cx="135757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4204187" y="1626338"/>
            <a:ext cx="158120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10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4898762" y="3150916"/>
            <a:ext cx="88663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5623119" y="3150692"/>
            <a:ext cx="16227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64</a:t>
            </a:r>
          </a:p>
        </p:txBody>
      </p:sp>
    </p:spTree>
  </p:cSld>
  <p:clrMapOvr>
    <a:masterClrMapping/>
  </p:clrMapOvr>
</p:sld>
</file>

<file path=ppt/slides/slide1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660184" y="1173443"/>
            <a:ext cx="415404" cy="170814"/>
          </a:xfrm>
          <a:prstGeom prst="rect">
            <a:avLst/>
          </a:prstGeom>
          <a:solidFill>
            <a:srgbClr val="6BAE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075588" y="1173443"/>
            <a:ext cx="708558" cy="170814"/>
          </a:xfrm>
          <a:prstGeom prst="rect">
            <a:avLst/>
          </a:prstGeom>
          <a:solidFill>
            <a:srgbClr val="217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784146" y="1173443"/>
            <a:ext cx="754748" cy="170814"/>
          </a:xfrm>
          <a:prstGeom prst="rect">
            <a:avLst/>
          </a:prstGeom>
          <a:solidFill>
            <a:srgbClr val="0830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60182" y="1515061"/>
            <a:ext cx="415404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075587" y="1515061"/>
            <a:ext cx="451650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527237" y="1515061"/>
            <a:ext cx="256921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784144" y="1515060"/>
            <a:ext cx="451446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235591" y="1515060"/>
            <a:ext cx="303314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60176" y="1856677"/>
            <a:ext cx="415404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075581" y="1856677"/>
            <a:ext cx="451650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527231" y="1856677"/>
            <a:ext cx="256921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784138" y="1856677"/>
            <a:ext cx="451446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2235585" y="1856677"/>
            <a:ext cx="303314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3873500" y="1409700"/>
            <a:ext cx="279400" cy="241300"/>
          </a:xfrm>
          <a:custGeom>
            <a:avLst/>
            <a:gdLst/>
            <a:ahLst/>
            <a:cxnLst/>
            <a:rect l="l" t="t" r="r" b="b"/>
            <a:pathLst>
              <a:path w="22" h="19">
                <a:moveTo>
                  <a:pt x="0" y="19"/>
                </a:moveTo>
                <a:lnTo>
                  <a:pt x="22" y="19"/>
                </a:lnTo>
                <a:lnTo>
                  <a:pt x="22" y="16"/>
                </a:lnTo>
                <a:lnTo>
                  <a:pt x="22" y="13"/>
                </a:lnTo>
                <a:lnTo>
                  <a:pt x="21" y="11"/>
                </a:lnTo>
                <a:lnTo>
                  <a:pt x="20" y="8"/>
                </a:lnTo>
                <a:lnTo>
                  <a:pt x="18" y="6"/>
                </a:lnTo>
                <a:lnTo>
                  <a:pt x="17" y="4"/>
                </a:lnTo>
                <a:lnTo>
                  <a:pt x="15" y="2"/>
                </a:lnTo>
                <a:lnTo>
                  <a:pt x="13" y="0"/>
                </a:lnTo>
                <a:close/>
              </a:path>
            </a:pathLst>
          </a:custGeom>
          <a:solidFill>
            <a:srgbClr val="A6CEE3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0" name="Connector 49"/>
          <p:cNvCxnSpPr/>
          <p:nvPr/>
        </p:nvCxnSpPr>
        <p:spPr>
          <a:xfrm flipV="1">
            <a:off x="4032953" y="1248387"/>
            <a:ext cx="115634" cy="16514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Freeform 50"/>
          <p:cNvSpPr/>
          <p:nvPr/>
        </p:nvSpPr>
        <p:spPr>
          <a:xfrm>
            <a:off x="3733800" y="1358900"/>
            <a:ext cx="304800" cy="292100"/>
          </a:xfrm>
          <a:custGeom>
            <a:avLst/>
            <a:gdLst/>
            <a:ahLst/>
            <a:cxnLst/>
            <a:rect l="l" t="t" r="r" b="b"/>
            <a:pathLst>
              <a:path w="24" h="23">
                <a:moveTo>
                  <a:pt x="11" y="23"/>
                </a:moveTo>
                <a:lnTo>
                  <a:pt x="24" y="4"/>
                </a:lnTo>
                <a:lnTo>
                  <a:pt x="21" y="3"/>
                </a:lnTo>
                <a:lnTo>
                  <a:pt x="18" y="1"/>
                </a:lnTo>
                <a:lnTo>
                  <a:pt x="15" y="1"/>
                </a:lnTo>
                <a:lnTo>
                  <a:pt x="12" y="0"/>
                </a:lnTo>
                <a:lnTo>
                  <a:pt x="9" y="0"/>
                </a:lnTo>
                <a:lnTo>
                  <a:pt x="6" y="1"/>
                </a:lnTo>
                <a:lnTo>
                  <a:pt x="3" y="2"/>
                </a:lnTo>
                <a:lnTo>
                  <a:pt x="0" y="3"/>
                </a:lnTo>
                <a:close/>
              </a:path>
            </a:pathLst>
          </a:custGeom>
          <a:solidFill>
            <a:srgbClr val="1F78B4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 flipH="1" flipV="1">
            <a:off x="3641686" y="1215186"/>
            <a:ext cx="93083" cy="17881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H="1" flipV="1">
            <a:off x="3641686" y="1215186"/>
            <a:ext cx="93083" cy="17881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3668287" y="1266288"/>
            <a:ext cx="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Freeform 54"/>
          <p:cNvSpPr/>
          <p:nvPr/>
        </p:nvSpPr>
        <p:spPr>
          <a:xfrm>
            <a:off x="3594100" y="1397000"/>
            <a:ext cx="279400" cy="254000"/>
          </a:xfrm>
          <a:custGeom>
            <a:avLst/>
            <a:gdLst/>
            <a:ahLst/>
            <a:cxnLst/>
            <a:rect l="l" t="t" r="r" b="b"/>
            <a:pathLst>
              <a:path w="22" h="20">
                <a:moveTo>
                  <a:pt x="22" y="20"/>
                </a:moveTo>
                <a:lnTo>
                  <a:pt x="11" y="0"/>
                </a:lnTo>
                <a:lnTo>
                  <a:pt x="9" y="1"/>
                </a:lnTo>
                <a:lnTo>
                  <a:pt x="7" y="2"/>
                </a:lnTo>
                <a:lnTo>
                  <a:pt x="6" y="4"/>
                </a:lnTo>
                <a:lnTo>
                  <a:pt x="4" y="5"/>
                </a:lnTo>
                <a:lnTo>
                  <a:pt x="3" y="7"/>
                </a:lnTo>
                <a:lnTo>
                  <a:pt x="2" y="9"/>
                </a:lnTo>
                <a:lnTo>
                  <a:pt x="1" y="11"/>
                </a:lnTo>
                <a:lnTo>
                  <a:pt x="0" y="13"/>
                </a:lnTo>
                <a:close/>
              </a:path>
            </a:pathLst>
          </a:custGeom>
          <a:solidFill>
            <a:srgbClr val="33A02C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6" name="Connector 55"/>
          <p:cNvCxnSpPr/>
          <p:nvPr/>
        </p:nvCxnSpPr>
        <p:spPr>
          <a:xfrm flipH="1" flipV="1">
            <a:off x="3400812" y="1502239"/>
            <a:ext cx="192262" cy="6062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Freeform 56"/>
          <p:cNvSpPr/>
          <p:nvPr/>
        </p:nvSpPr>
        <p:spPr>
          <a:xfrm>
            <a:off x="3581400" y="1562100"/>
            <a:ext cx="292100" cy="215900"/>
          </a:xfrm>
          <a:custGeom>
            <a:avLst/>
            <a:gdLst/>
            <a:ahLst/>
            <a:cxnLst/>
            <a:rect l="l" t="t" r="r" b="b"/>
            <a:pathLst>
              <a:path w="23" h="17">
                <a:moveTo>
                  <a:pt x="23" y="7"/>
                </a:moveTo>
                <a:lnTo>
                  <a:pt x="1" y="0"/>
                </a:lnTo>
                <a:lnTo>
                  <a:pt x="0" y="2"/>
                </a:lnTo>
                <a:lnTo>
                  <a:pt x="0" y="4"/>
                </a:lnTo>
                <a:lnTo>
                  <a:pt x="0" y="7"/>
                </a:lnTo>
                <a:lnTo>
                  <a:pt x="0" y="9"/>
                </a:lnTo>
                <a:lnTo>
                  <a:pt x="0" y="11"/>
                </a:lnTo>
                <a:lnTo>
                  <a:pt x="1" y="13"/>
                </a:lnTo>
                <a:lnTo>
                  <a:pt x="1" y="15"/>
                </a:lnTo>
                <a:lnTo>
                  <a:pt x="2" y="17"/>
                </a:lnTo>
                <a:close/>
              </a:path>
            </a:pathLst>
          </a:custGeom>
          <a:solidFill>
            <a:srgbClr val="FB9A99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8" name="Connector 57"/>
          <p:cNvCxnSpPr/>
          <p:nvPr/>
        </p:nvCxnSpPr>
        <p:spPr>
          <a:xfrm flipH="1">
            <a:off x="3433475" y="1782445"/>
            <a:ext cx="178814" cy="9308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Freeform 58"/>
          <p:cNvSpPr/>
          <p:nvPr/>
        </p:nvSpPr>
        <p:spPr>
          <a:xfrm>
            <a:off x="3606800" y="1651000"/>
            <a:ext cx="304800" cy="292100"/>
          </a:xfrm>
          <a:custGeom>
            <a:avLst/>
            <a:gdLst/>
            <a:ahLst/>
            <a:cxnLst/>
            <a:rect l="l" t="t" r="r" b="b"/>
            <a:pathLst>
              <a:path w="24" h="23">
                <a:moveTo>
                  <a:pt x="21" y="0"/>
                </a:moveTo>
                <a:lnTo>
                  <a:pt x="0" y="10"/>
                </a:lnTo>
                <a:lnTo>
                  <a:pt x="2" y="13"/>
                </a:lnTo>
                <a:lnTo>
                  <a:pt x="5" y="16"/>
                </a:lnTo>
                <a:lnTo>
                  <a:pt x="7" y="18"/>
                </a:lnTo>
                <a:lnTo>
                  <a:pt x="10" y="20"/>
                </a:lnTo>
                <a:lnTo>
                  <a:pt x="13" y="21"/>
                </a:lnTo>
                <a:lnTo>
                  <a:pt x="17" y="22"/>
                </a:lnTo>
                <a:lnTo>
                  <a:pt x="20" y="23"/>
                </a:lnTo>
                <a:lnTo>
                  <a:pt x="24" y="22"/>
                </a:lnTo>
                <a:close/>
              </a:path>
            </a:pathLst>
          </a:custGeom>
          <a:solidFill>
            <a:srgbClr val="E31A1C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" name="Connector 59"/>
          <p:cNvCxnSpPr/>
          <p:nvPr/>
        </p:nvCxnSpPr>
        <p:spPr>
          <a:xfrm>
            <a:off x="3905340" y="1935008"/>
            <a:ext cx="26311" cy="19987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3905340" y="1935008"/>
            <a:ext cx="26311" cy="19987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3924132" y="2077758"/>
            <a:ext cx="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Freeform 62"/>
          <p:cNvSpPr/>
          <p:nvPr/>
        </p:nvSpPr>
        <p:spPr>
          <a:xfrm>
            <a:off x="3873500" y="1651000"/>
            <a:ext cx="177800" cy="279400"/>
          </a:xfrm>
          <a:custGeom>
            <a:avLst/>
            <a:gdLst/>
            <a:ahLst/>
            <a:cxnLst/>
            <a:rect l="l" t="t" r="r" b="b"/>
            <a:pathLst>
              <a:path w="14" h="22">
                <a:moveTo>
                  <a:pt x="0" y="0"/>
                </a:moveTo>
                <a:lnTo>
                  <a:pt x="3" y="22"/>
                </a:lnTo>
                <a:lnTo>
                  <a:pt x="4" y="22"/>
                </a:lnTo>
                <a:lnTo>
                  <a:pt x="6" y="22"/>
                </a:lnTo>
                <a:lnTo>
                  <a:pt x="7" y="21"/>
                </a:lnTo>
                <a:lnTo>
                  <a:pt x="9" y="21"/>
                </a:lnTo>
                <a:lnTo>
                  <a:pt x="10" y="20"/>
                </a:lnTo>
                <a:lnTo>
                  <a:pt x="12" y="19"/>
                </a:lnTo>
                <a:lnTo>
                  <a:pt x="13" y="18"/>
                </a:lnTo>
                <a:lnTo>
                  <a:pt x="14" y="17"/>
                </a:lnTo>
                <a:close/>
              </a:path>
            </a:pathLst>
          </a:custGeom>
          <a:solidFill>
            <a:srgbClr val="FF7F00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>
            <a:off x="4052888" y="1870096"/>
            <a:ext cx="129588" cy="154435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Freeform 64"/>
          <p:cNvSpPr/>
          <p:nvPr/>
        </p:nvSpPr>
        <p:spPr>
          <a:xfrm>
            <a:off x="3873500" y="1651000"/>
            <a:ext cx="266700" cy="215900"/>
          </a:xfrm>
          <a:custGeom>
            <a:avLst/>
            <a:gdLst/>
            <a:ahLst/>
            <a:cxnLst/>
            <a:rect l="l" t="t" r="r" b="b"/>
            <a:pathLst>
              <a:path w="21" h="17">
                <a:moveTo>
                  <a:pt x="0" y="0"/>
                </a:moveTo>
                <a:lnTo>
                  <a:pt x="14" y="17"/>
                </a:lnTo>
                <a:lnTo>
                  <a:pt x="15" y="16"/>
                </a:lnTo>
                <a:lnTo>
                  <a:pt x="16" y="15"/>
                </a:lnTo>
                <a:lnTo>
                  <a:pt x="17" y="14"/>
                </a:lnTo>
                <a:lnTo>
                  <a:pt x="18" y="12"/>
                </a:lnTo>
                <a:lnTo>
                  <a:pt x="19" y="11"/>
                </a:lnTo>
                <a:lnTo>
                  <a:pt x="20" y="10"/>
                </a:lnTo>
                <a:lnTo>
                  <a:pt x="21" y="8"/>
                </a:lnTo>
                <a:lnTo>
                  <a:pt x="21" y="7"/>
                </a:lnTo>
                <a:close/>
              </a:path>
            </a:pathLst>
          </a:custGeom>
          <a:solidFill>
            <a:srgbClr val="CAB2D6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6" name="Connector 65"/>
          <p:cNvCxnSpPr/>
          <p:nvPr/>
        </p:nvCxnSpPr>
        <p:spPr>
          <a:xfrm>
            <a:off x="4142428" y="1736067"/>
            <a:ext cx="192263" cy="6061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Freeform 66"/>
          <p:cNvSpPr/>
          <p:nvPr/>
        </p:nvSpPr>
        <p:spPr>
          <a:xfrm>
            <a:off x="3873500" y="1651000"/>
            <a:ext cx="279400" cy="88900"/>
          </a:xfrm>
          <a:custGeom>
            <a:avLst/>
            <a:gdLst/>
            <a:ahLst/>
            <a:cxnLst/>
            <a:rect l="l" t="t" r="r" b="b"/>
            <a:pathLst>
              <a:path w="22" h="7">
                <a:moveTo>
                  <a:pt x="0" y="0"/>
                </a:moveTo>
                <a:lnTo>
                  <a:pt x="21" y="7"/>
                </a:lnTo>
                <a:lnTo>
                  <a:pt x="21" y="6"/>
                </a:lnTo>
                <a:lnTo>
                  <a:pt x="22" y="5"/>
                </a:lnTo>
                <a:lnTo>
                  <a:pt x="22" y="4"/>
                </a:lnTo>
                <a:lnTo>
                  <a:pt x="22" y="3"/>
                </a:lnTo>
                <a:lnTo>
                  <a:pt x="22" y="2"/>
                </a:lnTo>
                <a:lnTo>
                  <a:pt x="22" y="2"/>
                </a:lnTo>
                <a:lnTo>
                  <a:pt x="22" y="1"/>
                </a:lnTo>
                <a:lnTo>
                  <a:pt x="22" y="0"/>
                </a:lnTo>
                <a:close/>
              </a:path>
            </a:pathLst>
          </a:custGeom>
          <a:solidFill>
            <a:srgbClr val="6A3D9A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8" name="Connector 67"/>
          <p:cNvCxnSpPr/>
          <p:nvPr/>
        </p:nvCxnSpPr>
        <p:spPr>
          <a:xfrm>
            <a:off x="4155771" y="1649463"/>
            <a:ext cx="201602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Rectangle 68"/>
          <p:cNvSpPr/>
          <p:nvPr/>
        </p:nvSpPr>
        <p:spPr>
          <a:xfrm>
            <a:off x="-8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2879983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1" name="Picture 7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72" name="Picture 7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Example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1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59993" y="737391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Using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roulette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wheel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cumulative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fitness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ratios,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identify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59993" y="909476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individuals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selected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parents.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36091" y="1202387"/>
            <a:ext cx="504930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1">
                <a:solidFill>
                  <a:srgbClr val="FFFFFF"/>
                </a:solidFill>
                <a:latin typeface="Josefin Sans"/>
              </a:rPr>
              <a:t>Label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225816" y="1202387"/>
            <a:ext cx="455957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1">
                <a:solidFill>
                  <a:srgbClr val="FFFFFF"/>
                </a:solidFill>
                <a:latin typeface="Josefin Sans"/>
              </a:rPr>
              <a:t>Parent</a:t>
            </a:r>
            <a:r>
              <a:rPr sz="797" b="1">
                <a:solidFill>
                  <a:srgbClr val="FFFFFF"/>
                </a:solidFill>
                <a:latin typeface="Josefin Sans"/>
              </a:rPr>
              <a:t> </a:t>
            </a:r>
            <a:r>
              <a:rPr sz="797" b="1">
                <a:solidFill>
                  <a:srgbClr val="FFFFFF"/>
                </a:solidFill>
                <a:latin typeface="Josefin Sans"/>
              </a:rPr>
              <a:t>A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961311" y="1202387"/>
            <a:ext cx="382408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1">
                <a:solidFill>
                  <a:srgbClr val="FFFFFF"/>
                </a:solidFill>
                <a:latin typeface="Josefin Sans"/>
              </a:rPr>
              <a:t>Parent</a:t>
            </a:r>
            <a:r>
              <a:rPr sz="797" b="1">
                <a:solidFill>
                  <a:srgbClr val="FFFFFF"/>
                </a:solidFill>
                <a:latin typeface="Josefin Sans"/>
              </a:rPr>
              <a:t> </a:t>
            </a:r>
            <a:r>
              <a:rPr sz="797" b="1">
                <a:solidFill>
                  <a:srgbClr val="FFFFFF"/>
                </a:solidFill>
                <a:latin typeface="Josefin Sans"/>
              </a:rPr>
              <a:t>B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14463" y="1374587"/>
            <a:ext cx="497093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p</a:t>
            </a:r>
            <a:r>
              <a:rPr sz="5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166228" y="1372890"/>
            <a:ext cx="461916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0.9189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603147" y="1374587"/>
            <a:ext cx="418224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v</a:t>
            </a:r>
            <a:r>
              <a:rPr sz="597" b="0">
                <a:solidFill>
                  <a:srgbClr val="000000"/>
                </a:solidFill>
                <a:latin typeface="Cambria Math"/>
              </a:rPr>
              <a:t>9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869935" y="1372891"/>
            <a:ext cx="391546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0.1049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2334705" y="1374587"/>
            <a:ext cx="345069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v</a:t>
            </a:r>
            <a:r>
              <a:rPr sz="5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14462" y="1545403"/>
            <a:ext cx="497093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p</a:t>
            </a:r>
            <a:r>
              <a:rPr sz="59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151507" y="1543706"/>
            <a:ext cx="463388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0.3305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603144" y="1545403"/>
            <a:ext cx="418225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v</a:t>
            </a:r>
            <a:r>
              <a:rPr sz="597" b="0">
                <a:solidFill>
                  <a:srgbClr val="000000"/>
                </a:solidFill>
                <a:latin typeface="Cambria Math"/>
              </a:rP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860065" y="1543705"/>
            <a:ext cx="392533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0.0868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2334702" y="1545401"/>
            <a:ext cx="345069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v</a:t>
            </a:r>
            <a:r>
              <a:rPr sz="5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814459" y="1716204"/>
            <a:ext cx="4970936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p</a:t>
            </a:r>
            <a:r>
              <a:rPr sz="597" b="0">
                <a:solidFill>
                  <a:srgbClr val="000000"/>
                </a:solidFill>
                <a:latin typeface="Cambria Math"/>
              </a:rPr>
              <a:t>3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178174" y="1714508"/>
            <a:ext cx="460722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0.8211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603140" y="1716205"/>
            <a:ext cx="418225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v</a:t>
            </a:r>
            <a:r>
              <a:rPr sz="597" b="0">
                <a:solidFill>
                  <a:srgbClr val="000000"/>
                </a:solidFill>
                <a:latin typeface="Cambria Math"/>
              </a:rPr>
              <a:t>8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861331" y="1714507"/>
            <a:ext cx="392406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0.9057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334699" y="1716205"/>
            <a:ext cx="3450696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v</a:t>
            </a:r>
            <a:r>
              <a:rPr sz="597" b="0">
                <a:solidFill>
                  <a:srgbClr val="000000"/>
                </a:solidFill>
                <a:latin typeface="Cambria Math"/>
              </a:rPr>
              <a:t>9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14456" y="1887019"/>
            <a:ext cx="497093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p</a:t>
            </a:r>
            <a:r>
              <a:rPr sz="597" b="0">
                <a:solidFill>
                  <a:srgbClr val="000000"/>
                </a:solidFill>
                <a:latin typeface="Cambria Math"/>
              </a:rP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153622" y="1885323"/>
            <a:ext cx="463177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0.5780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603137" y="1887019"/>
            <a:ext cx="418225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v</a:t>
            </a:r>
            <a:r>
              <a:rPr sz="597" b="0">
                <a:solidFill>
                  <a:srgbClr val="000000"/>
                </a:solidFill>
                <a:latin typeface="Cambria Math"/>
              </a:rPr>
              <a:t>6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863652" y="1885322"/>
            <a:ext cx="392174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0.9635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311506" y="1887019"/>
            <a:ext cx="347388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v</a:t>
            </a:r>
            <a:r>
              <a:rPr sz="597" b="0">
                <a:solidFill>
                  <a:srgbClr val="000000"/>
                </a:solidFill>
                <a:latin typeface="Cambria Math"/>
              </a:rPr>
              <a:t>10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14456" y="2057833"/>
            <a:ext cx="497093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p</a:t>
            </a:r>
            <a:r>
              <a:rPr sz="597" b="0">
                <a:solidFill>
                  <a:srgbClr val="000000"/>
                </a:solidFill>
                <a:latin typeface="Cambria Math"/>
              </a:rPr>
              <a:t>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160505" y="2056137"/>
            <a:ext cx="462489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0.2476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603137" y="2057834"/>
            <a:ext cx="418225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v</a:t>
            </a:r>
            <a:r>
              <a:rPr sz="59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865722" y="2056136"/>
            <a:ext cx="391967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0.8286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4064182" y="1129252"/>
            <a:ext cx="172121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0.1528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4187296" y="1361162"/>
            <a:ext cx="159809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457402" y="1062725"/>
            <a:ext cx="232799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0.3264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604658" y="1177444"/>
            <a:ext cx="218073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227722" y="1427892"/>
            <a:ext cx="255767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0.45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3473201" y="1282930"/>
            <a:ext cx="231219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3214184" y="1867058"/>
            <a:ext cx="257121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0.5764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3373772" y="1598271"/>
            <a:ext cx="241162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5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3797724" y="2172163"/>
            <a:ext cx="198767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0.7708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3604658" y="1943788"/>
            <a:ext cx="218073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6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860500" y="1988911"/>
            <a:ext cx="192489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113662" y="2042356"/>
            <a:ext cx="167173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0.8611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3978102" y="1956018"/>
            <a:ext cx="180729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4281809" y="1774298"/>
            <a:ext cx="1503586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0.9514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163306" y="1800620"/>
            <a:ext cx="162208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9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4427821" y="1601578"/>
            <a:ext cx="135757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4204187" y="1626338"/>
            <a:ext cx="158120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898762" y="3150916"/>
            <a:ext cx="88663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5623119" y="3150692"/>
            <a:ext cx="16227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64</a:t>
            </a:r>
          </a:p>
        </p:txBody>
      </p:sp>
    </p:spTree>
  </p:cSld>
  <p:clrMapOvr>
    <a:masterClrMapping/>
  </p:clrMapOvr>
</p:sld>
</file>

<file path=ppt/slides/slide1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660184" y="1173443"/>
            <a:ext cx="415404" cy="170814"/>
          </a:xfrm>
          <a:prstGeom prst="rect">
            <a:avLst/>
          </a:prstGeom>
          <a:solidFill>
            <a:srgbClr val="6BAE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075588" y="1173443"/>
            <a:ext cx="708558" cy="170814"/>
          </a:xfrm>
          <a:prstGeom prst="rect">
            <a:avLst/>
          </a:prstGeom>
          <a:solidFill>
            <a:srgbClr val="217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784146" y="1173443"/>
            <a:ext cx="754748" cy="170814"/>
          </a:xfrm>
          <a:prstGeom prst="rect">
            <a:avLst/>
          </a:prstGeom>
          <a:solidFill>
            <a:srgbClr val="0830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60182" y="1515061"/>
            <a:ext cx="415404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075587" y="1515061"/>
            <a:ext cx="451650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527237" y="1515061"/>
            <a:ext cx="256921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784144" y="1515060"/>
            <a:ext cx="451446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235591" y="1515060"/>
            <a:ext cx="303314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60176" y="1856677"/>
            <a:ext cx="415404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075581" y="1856677"/>
            <a:ext cx="451650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527231" y="1856677"/>
            <a:ext cx="256921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784138" y="1856677"/>
            <a:ext cx="451446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2235585" y="1856677"/>
            <a:ext cx="303314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3873500" y="1409700"/>
            <a:ext cx="279400" cy="241300"/>
          </a:xfrm>
          <a:custGeom>
            <a:avLst/>
            <a:gdLst/>
            <a:ahLst/>
            <a:cxnLst/>
            <a:rect l="l" t="t" r="r" b="b"/>
            <a:pathLst>
              <a:path w="22" h="19">
                <a:moveTo>
                  <a:pt x="0" y="19"/>
                </a:moveTo>
                <a:lnTo>
                  <a:pt x="22" y="19"/>
                </a:lnTo>
                <a:lnTo>
                  <a:pt x="22" y="16"/>
                </a:lnTo>
                <a:lnTo>
                  <a:pt x="22" y="13"/>
                </a:lnTo>
                <a:lnTo>
                  <a:pt x="21" y="11"/>
                </a:lnTo>
                <a:lnTo>
                  <a:pt x="20" y="8"/>
                </a:lnTo>
                <a:lnTo>
                  <a:pt x="18" y="6"/>
                </a:lnTo>
                <a:lnTo>
                  <a:pt x="17" y="4"/>
                </a:lnTo>
                <a:lnTo>
                  <a:pt x="15" y="2"/>
                </a:lnTo>
                <a:lnTo>
                  <a:pt x="13" y="0"/>
                </a:lnTo>
                <a:close/>
              </a:path>
            </a:pathLst>
          </a:custGeom>
          <a:solidFill>
            <a:srgbClr val="A6CEE3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0" name="Connector 49"/>
          <p:cNvCxnSpPr/>
          <p:nvPr/>
        </p:nvCxnSpPr>
        <p:spPr>
          <a:xfrm flipV="1">
            <a:off x="4032949" y="1248387"/>
            <a:ext cx="115635" cy="16514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Freeform 50"/>
          <p:cNvSpPr/>
          <p:nvPr/>
        </p:nvSpPr>
        <p:spPr>
          <a:xfrm>
            <a:off x="3733800" y="1358900"/>
            <a:ext cx="304800" cy="292100"/>
          </a:xfrm>
          <a:custGeom>
            <a:avLst/>
            <a:gdLst/>
            <a:ahLst/>
            <a:cxnLst/>
            <a:rect l="l" t="t" r="r" b="b"/>
            <a:pathLst>
              <a:path w="24" h="23">
                <a:moveTo>
                  <a:pt x="11" y="23"/>
                </a:moveTo>
                <a:lnTo>
                  <a:pt x="24" y="4"/>
                </a:lnTo>
                <a:lnTo>
                  <a:pt x="21" y="3"/>
                </a:lnTo>
                <a:lnTo>
                  <a:pt x="18" y="1"/>
                </a:lnTo>
                <a:lnTo>
                  <a:pt x="15" y="1"/>
                </a:lnTo>
                <a:lnTo>
                  <a:pt x="12" y="0"/>
                </a:lnTo>
                <a:lnTo>
                  <a:pt x="9" y="0"/>
                </a:lnTo>
                <a:lnTo>
                  <a:pt x="6" y="1"/>
                </a:lnTo>
                <a:lnTo>
                  <a:pt x="3" y="2"/>
                </a:lnTo>
                <a:lnTo>
                  <a:pt x="0" y="3"/>
                </a:lnTo>
                <a:close/>
              </a:path>
            </a:pathLst>
          </a:custGeom>
          <a:solidFill>
            <a:srgbClr val="1F78B4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 flipH="1" flipV="1">
            <a:off x="3641683" y="1215186"/>
            <a:ext cx="93083" cy="17881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H="1" flipV="1">
            <a:off x="3641683" y="1215186"/>
            <a:ext cx="93083" cy="17881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3668284" y="1266288"/>
            <a:ext cx="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Freeform 54"/>
          <p:cNvSpPr/>
          <p:nvPr/>
        </p:nvSpPr>
        <p:spPr>
          <a:xfrm>
            <a:off x="3594100" y="1397000"/>
            <a:ext cx="279400" cy="254000"/>
          </a:xfrm>
          <a:custGeom>
            <a:avLst/>
            <a:gdLst/>
            <a:ahLst/>
            <a:cxnLst/>
            <a:rect l="l" t="t" r="r" b="b"/>
            <a:pathLst>
              <a:path w="22" h="20">
                <a:moveTo>
                  <a:pt x="22" y="20"/>
                </a:moveTo>
                <a:lnTo>
                  <a:pt x="11" y="0"/>
                </a:lnTo>
                <a:lnTo>
                  <a:pt x="9" y="1"/>
                </a:lnTo>
                <a:lnTo>
                  <a:pt x="7" y="2"/>
                </a:lnTo>
                <a:lnTo>
                  <a:pt x="6" y="4"/>
                </a:lnTo>
                <a:lnTo>
                  <a:pt x="4" y="5"/>
                </a:lnTo>
                <a:lnTo>
                  <a:pt x="3" y="7"/>
                </a:lnTo>
                <a:lnTo>
                  <a:pt x="2" y="9"/>
                </a:lnTo>
                <a:lnTo>
                  <a:pt x="1" y="11"/>
                </a:lnTo>
                <a:lnTo>
                  <a:pt x="0" y="13"/>
                </a:lnTo>
                <a:close/>
              </a:path>
            </a:pathLst>
          </a:custGeom>
          <a:solidFill>
            <a:srgbClr val="33A02C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6" name="Connector 55"/>
          <p:cNvCxnSpPr/>
          <p:nvPr/>
        </p:nvCxnSpPr>
        <p:spPr>
          <a:xfrm flipH="1" flipV="1">
            <a:off x="3400809" y="1502239"/>
            <a:ext cx="192262" cy="6062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Freeform 56"/>
          <p:cNvSpPr/>
          <p:nvPr/>
        </p:nvSpPr>
        <p:spPr>
          <a:xfrm>
            <a:off x="3581400" y="1562100"/>
            <a:ext cx="292100" cy="215900"/>
          </a:xfrm>
          <a:custGeom>
            <a:avLst/>
            <a:gdLst/>
            <a:ahLst/>
            <a:cxnLst/>
            <a:rect l="l" t="t" r="r" b="b"/>
            <a:pathLst>
              <a:path w="23" h="17">
                <a:moveTo>
                  <a:pt x="23" y="7"/>
                </a:moveTo>
                <a:lnTo>
                  <a:pt x="1" y="0"/>
                </a:lnTo>
                <a:lnTo>
                  <a:pt x="0" y="2"/>
                </a:lnTo>
                <a:lnTo>
                  <a:pt x="0" y="4"/>
                </a:lnTo>
                <a:lnTo>
                  <a:pt x="0" y="7"/>
                </a:lnTo>
                <a:lnTo>
                  <a:pt x="0" y="9"/>
                </a:lnTo>
                <a:lnTo>
                  <a:pt x="0" y="11"/>
                </a:lnTo>
                <a:lnTo>
                  <a:pt x="1" y="13"/>
                </a:lnTo>
                <a:lnTo>
                  <a:pt x="1" y="15"/>
                </a:lnTo>
                <a:lnTo>
                  <a:pt x="2" y="17"/>
                </a:lnTo>
                <a:close/>
              </a:path>
            </a:pathLst>
          </a:custGeom>
          <a:solidFill>
            <a:srgbClr val="FB9A99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8" name="Connector 57"/>
          <p:cNvCxnSpPr/>
          <p:nvPr/>
        </p:nvCxnSpPr>
        <p:spPr>
          <a:xfrm flipH="1">
            <a:off x="3433472" y="1782445"/>
            <a:ext cx="178814" cy="9308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Freeform 58"/>
          <p:cNvSpPr/>
          <p:nvPr/>
        </p:nvSpPr>
        <p:spPr>
          <a:xfrm>
            <a:off x="3606800" y="1651000"/>
            <a:ext cx="304800" cy="292100"/>
          </a:xfrm>
          <a:custGeom>
            <a:avLst/>
            <a:gdLst/>
            <a:ahLst/>
            <a:cxnLst/>
            <a:rect l="l" t="t" r="r" b="b"/>
            <a:pathLst>
              <a:path w="24" h="23">
                <a:moveTo>
                  <a:pt x="21" y="0"/>
                </a:moveTo>
                <a:lnTo>
                  <a:pt x="0" y="10"/>
                </a:lnTo>
                <a:lnTo>
                  <a:pt x="2" y="13"/>
                </a:lnTo>
                <a:lnTo>
                  <a:pt x="5" y="16"/>
                </a:lnTo>
                <a:lnTo>
                  <a:pt x="7" y="18"/>
                </a:lnTo>
                <a:lnTo>
                  <a:pt x="10" y="20"/>
                </a:lnTo>
                <a:lnTo>
                  <a:pt x="13" y="21"/>
                </a:lnTo>
                <a:lnTo>
                  <a:pt x="17" y="22"/>
                </a:lnTo>
                <a:lnTo>
                  <a:pt x="20" y="23"/>
                </a:lnTo>
                <a:lnTo>
                  <a:pt x="24" y="22"/>
                </a:lnTo>
                <a:close/>
              </a:path>
            </a:pathLst>
          </a:custGeom>
          <a:solidFill>
            <a:srgbClr val="E31A1C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" name="Connector 59"/>
          <p:cNvCxnSpPr/>
          <p:nvPr/>
        </p:nvCxnSpPr>
        <p:spPr>
          <a:xfrm>
            <a:off x="3905337" y="1935008"/>
            <a:ext cx="26311" cy="19987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3905337" y="1935008"/>
            <a:ext cx="26311" cy="19987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3924129" y="2077758"/>
            <a:ext cx="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Freeform 62"/>
          <p:cNvSpPr/>
          <p:nvPr/>
        </p:nvSpPr>
        <p:spPr>
          <a:xfrm>
            <a:off x="3873500" y="1651000"/>
            <a:ext cx="177800" cy="279400"/>
          </a:xfrm>
          <a:custGeom>
            <a:avLst/>
            <a:gdLst/>
            <a:ahLst/>
            <a:cxnLst/>
            <a:rect l="l" t="t" r="r" b="b"/>
            <a:pathLst>
              <a:path w="14" h="22">
                <a:moveTo>
                  <a:pt x="0" y="0"/>
                </a:moveTo>
                <a:lnTo>
                  <a:pt x="3" y="22"/>
                </a:lnTo>
                <a:lnTo>
                  <a:pt x="4" y="22"/>
                </a:lnTo>
                <a:lnTo>
                  <a:pt x="6" y="22"/>
                </a:lnTo>
                <a:lnTo>
                  <a:pt x="7" y="21"/>
                </a:lnTo>
                <a:lnTo>
                  <a:pt x="9" y="21"/>
                </a:lnTo>
                <a:lnTo>
                  <a:pt x="10" y="20"/>
                </a:lnTo>
                <a:lnTo>
                  <a:pt x="12" y="19"/>
                </a:lnTo>
                <a:lnTo>
                  <a:pt x="13" y="18"/>
                </a:lnTo>
                <a:lnTo>
                  <a:pt x="14" y="17"/>
                </a:lnTo>
                <a:close/>
              </a:path>
            </a:pathLst>
          </a:custGeom>
          <a:solidFill>
            <a:srgbClr val="FF7F00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>
            <a:off x="4052885" y="1870096"/>
            <a:ext cx="129588" cy="154435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Freeform 64"/>
          <p:cNvSpPr/>
          <p:nvPr/>
        </p:nvSpPr>
        <p:spPr>
          <a:xfrm>
            <a:off x="3873500" y="1651000"/>
            <a:ext cx="266700" cy="215900"/>
          </a:xfrm>
          <a:custGeom>
            <a:avLst/>
            <a:gdLst/>
            <a:ahLst/>
            <a:cxnLst/>
            <a:rect l="l" t="t" r="r" b="b"/>
            <a:pathLst>
              <a:path w="21" h="17">
                <a:moveTo>
                  <a:pt x="0" y="0"/>
                </a:moveTo>
                <a:lnTo>
                  <a:pt x="14" y="17"/>
                </a:lnTo>
                <a:lnTo>
                  <a:pt x="15" y="16"/>
                </a:lnTo>
                <a:lnTo>
                  <a:pt x="16" y="15"/>
                </a:lnTo>
                <a:lnTo>
                  <a:pt x="17" y="14"/>
                </a:lnTo>
                <a:lnTo>
                  <a:pt x="18" y="12"/>
                </a:lnTo>
                <a:lnTo>
                  <a:pt x="19" y="11"/>
                </a:lnTo>
                <a:lnTo>
                  <a:pt x="20" y="10"/>
                </a:lnTo>
                <a:lnTo>
                  <a:pt x="21" y="8"/>
                </a:lnTo>
                <a:lnTo>
                  <a:pt x="21" y="7"/>
                </a:lnTo>
                <a:close/>
              </a:path>
            </a:pathLst>
          </a:custGeom>
          <a:solidFill>
            <a:srgbClr val="CAB2D6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6" name="Connector 65"/>
          <p:cNvCxnSpPr/>
          <p:nvPr/>
        </p:nvCxnSpPr>
        <p:spPr>
          <a:xfrm>
            <a:off x="4142425" y="1736067"/>
            <a:ext cx="192263" cy="6061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Freeform 66"/>
          <p:cNvSpPr/>
          <p:nvPr/>
        </p:nvSpPr>
        <p:spPr>
          <a:xfrm>
            <a:off x="3873500" y="1651000"/>
            <a:ext cx="279400" cy="88900"/>
          </a:xfrm>
          <a:custGeom>
            <a:avLst/>
            <a:gdLst/>
            <a:ahLst/>
            <a:cxnLst/>
            <a:rect l="l" t="t" r="r" b="b"/>
            <a:pathLst>
              <a:path w="22" h="7">
                <a:moveTo>
                  <a:pt x="0" y="0"/>
                </a:moveTo>
                <a:lnTo>
                  <a:pt x="21" y="7"/>
                </a:lnTo>
                <a:lnTo>
                  <a:pt x="21" y="6"/>
                </a:lnTo>
                <a:lnTo>
                  <a:pt x="22" y="5"/>
                </a:lnTo>
                <a:lnTo>
                  <a:pt x="22" y="4"/>
                </a:lnTo>
                <a:lnTo>
                  <a:pt x="22" y="3"/>
                </a:lnTo>
                <a:lnTo>
                  <a:pt x="22" y="2"/>
                </a:lnTo>
                <a:lnTo>
                  <a:pt x="22" y="2"/>
                </a:lnTo>
                <a:lnTo>
                  <a:pt x="22" y="1"/>
                </a:lnTo>
                <a:lnTo>
                  <a:pt x="22" y="0"/>
                </a:lnTo>
                <a:close/>
              </a:path>
            </a:pathLst>
          </a:custGeom>
          <a:solidFill>
            <a:srgbClr val="6A3D9A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8" name="Connector 67"/>
          <p:cNvCxnSpPr/>
          <p:nvPr/>
        </p:nvCxnSpPr>
        <p:spPr>
          <a:xfrm>
            <a:off x="4155768" y="1649463"/>
            <a:ext cx="201602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Rectangle 68"/>
          <p:cNvSpPr/>
          <p:nvPr/>
        </p:nvSpPr>
        <p:spPr>
          <a:xfrm>
            <a:off x="-11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2879980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1" name="Picture 7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72" name="Picture 7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Example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1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59993" y="737391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Using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roulette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wheel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cumulative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fitness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ratios,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identify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59993" y="909476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individuals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selected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parents.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36091" y="1202387"/>
            <a:ext cx="504930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1">
                <a:solidFill>
                  <a:srgbClr val="FFFFFF"/>
                </a:solidFill>
                <a:latin typeface="Josefin Sans"/>
              </a:rPr>
              <a:t>Label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225816" y="1202387"/>
            <a:ext cx="455957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1">
                <a:solidFill>
                  <a:srgbClr val="FFFFFF"/>
                </a:solidFill>
                <a:latin typeface="Josefin Sans"/>
              </a:rPr>
              <a:t>Parent</a:t>
            </a:r>
            <a:r>
              <a:rPr sz="797" b="1">
                <a:solidFill>
                  <a:srgbClr val="FFFFFF"/>
                </a:solidFill>
                <a:latin typeface="Josefin Sans"/>
              </a:rPr>
              <a:t> </a:t>
            </a:r>
            <a:r>
              <a:rPr sz="797" b="1">
                <a:solidFill>
                  <a:srgbClr val="FFFFFF"/>
                </a:solidFill>
                <a:latin typeface="Josefin Sans"/>
              </a:rPr>
              <a:t>A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961311" y="1202387"/>
            <a:ext cx="382408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1">
                <a:solidFill>
                  <a:srgbClr val="FFFFFF"/>
                </a:solidFill>
                <a:latin typeface="Josefin Sans"/>
              </a:rPr>
              <a:t>Parent</a:t>
            </a:r>
            <a:r>
              <a:rPr sz="797" b="1">
                <a:solidFill>
                  <a:srgbClr val="FFFFFF"/>
                </a:solidFill>
                <a:latin typeface="Josefin Sans"/>
              </a:rPr>
              <a:t> </a:t>
            </a:r>
            <a:r>
              <a:rPr sz="797" b="1">
                <a:solidFill>
                  <a:srgbClr val="FFFFFF"/>
                </a:solidFill>
                <a:latin typeface="Josefin Sans"/>
              </a:rPr>
              <a:t>B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14463" y="1374587"/>
            <a:ext cx="497093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p</a:t>
            </a:r>
            <a:r>
              <a:rPr sz="5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166228" y="1372890"/>
            <a:ext cx="461916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0.9189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603147" y="1374587"/>
            <a:ext cx="418224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v</a:t>
            </a:r>
            <a:r>
              <a:rPr sz="597" b="0">
                <a:solidFill>
                  <a:srgbClr val="000000"/>
                </a:solidFill>
                <a:latin typeface="Cambria Math"/>
              </a:rPr>
              <a:t>9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869935" y="1372891"/>
            <a:ext cx="391546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0.1049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2334705" y="1374587"/>
            <a:ext cx="345069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v</a:t>
            </a:r>
            <a:r>
              <a:rPr sz="5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14462" y="1545403"/>
            <a:ext cx="497093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p</a:t>
            </a:r>
            <a:r>
              <a:rPr sz="59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151507" y="1543706"/>
            <a:ext cx="463388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0.3305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603144" y="1545403"/>
            <a:ext cx="418225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v</a:t>
            </a:r>
            <a:r>
              <a:rPr sz="597" b="0">
                <a:solidFill>
                  <a:srgbClr val="000000"/>
                </a:solidFill>
                <a:latin typeface="Cambria Math"/>
              </a:rP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860065" y="1543705"/>
            <a:ext cx="392533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0.0868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2334702" y="1545401"/>
            <a:ext cx="345069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v</a:t>
            </a:r>
            <a:r>
              <a:rPr sz="5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814459" y="1716204"/>
            <a:ext cx="4970936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p</a:t>
            </a:r>
            <a:r>
              <a:rPr sz="597" b="0">
                <a:solidFill>
                  <a:srgbClr val="000000"/>
                </a:solidFill>
                <a:latin typeface="Cambria Math"/>
              </a:rPr>
              <a:t>3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178174" y="1714508"/>
            <a:ext cx="460722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0.8211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603140" y="1716205"/>
            <a:ext cx="418225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v</a:t>
            </a:r>
            <a:r>
              <a:rPr sz="597" b="0">
                <a:solidFill>
                  <a:srgbClr val="000000"/>
                </a:solidFill>
                <a:latin typeface="Cambria Math"/>
              </a:rPr>
              <a:t>8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861331" y="1714507"/>
            <a:ext cx="392406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0.9057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334699" y="1716205"/>
            <a:ext cx="3450696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v</a:t>
            </a:r>
            <a:r>
              <a:rPr sz="597" b="0">
                <a:solidFill>
                  <a:srgbClr val="000000"/>
                </a:solidFill>
                <a:latin typeface="Cambria Math"/>
              </a:rPr>
              <a:t>9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14456" y="1887019"/>
            <a:ext cx="497093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p</a:t>
            </a:r>
            <a:r>
              <a:rPr sz="597" b="0">
                <a:solidFill>
                  <a:srgbClr val="000000"/>
                </a:solidFill>
                <a:latin typeface="Cambria Math"/>
              </a:rP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153622" y="1885323"/>
            <a:ext cx="463177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0.5780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603137" y="1887019"/>
            <a:ext cx="418225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v</a:t>
            </a:r>
            <a:r>
              <a:rPr sz="597" b="0">
                <a:solidFill>
                  <a:srgbClr val="000000"/>
                </a:solidFill>
                <a:latin typeface="Cambria Math"/>
              </a:rPr>
              <a:t>6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863652" y="1885322"/>
            <a:ext cx="392174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0.9635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311506" y="1887019"/>
            <a:ext cx="347388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v</a:t>
            </a:r>
            <a:r>
              <a:rPr sz="597" b="0">
                <a:solidFill>
                  <a:srgbClr val="000000"/>
                </a:solidFill>
                <a:latin typeface="Cambria Math"/>
              </a:rPr>
              <a:t>10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14456" y="2057833"/>
            <a:ext cx="497093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p</a:t>
            </a:r>
            <a:r>
              <a:rPr sz="597" b="0">
                <a:solidFill>
                  <a:srgbClr val="000000"/>
                </a:solidFill>
                <a:latin typeface="Cambria Math"/>
              </a:rPr>
              <a:t>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160505" y="2056137"/>
            <a:ext cx="462489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0.2476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603137" y="2057834"/>
            <a:ext cx="418225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v</a:t>
            </a:r>
            <a:r>
              <a:rPr sz="59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865722" y="2056136"/>
            <a:ext cx="391967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0.8286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2334696" y="2057834"/>
            <a:ext cx="345069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v</a:t>
            </a:r>
            <a:r>
              <a:rPr sz="597" b="0">
                <a:solidFill>
                  <a:srgbClr val="000000"/>
                </a:solidFill>
                <a:latin typeface="Cambria Math"/>
              </a:rPr>
              <a:t>8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4064179" y="1129252"/>
            <a:ext cx="1721216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0.1528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4187293" y="1361162"/>
            <a:ext cx="15981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457399" y="1062725"/>
            <a:ext cx="232799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0.3264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604655" y="1177444"/>
            <a:ext cx="218074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3227719" y="1427892"/>
            <a:ext cx="2557676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0.45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3473198" y="1282930"/>
            <a:ext cx="231219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3214181" y="1867058"/>
            <a:ext cx="257121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0.5764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3373769" y="1598271"/>
            <a:ext cx="241162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5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3797720" y="2172163"/>
            <a:ext cx="198767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0.7708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604655" y="1943788"/>
            <a:ext cx="218074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3860496" y="1988911"/>
            <a:ext cx="192489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4113658" y="2042356"/>
            <a:ext cx="167173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0.8611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78099" y="1956018"/>
            <a:ext cx="180729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8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281806" y="1774298"/>
            <a:ext cx="150358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0.9514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4163303" y="1800620"/>
            <a:ext cx="162209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9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4427818" y="1601578"/>
            <a:ext cx="135757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204184" y="1626338"/>
            <a:ext cx="158121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98759" y="3150916"/>
            <a:ext cx="88663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623116" y="3150692"/>
            <a:ext cx="16227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64</a:t>
            </a:r>
          </a:p>
        </p:txBody>
      </p:sp>
    </p:spTree>
  </p:cSld>
  <p:clrMapOvr>
    <a:masterClrMapping/>
  </p:clrMapOvr>
</p:sld>
</file>

<file path=ppt/slides/slide1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660184" y="1173443"/>
            <a:ext cx="415404" cy="170814"/>
          </a:xfrm>
          <a:prstGeom prst="rect">
            <a:avLst/>
          </a:prstGeom>
          <a:solidFill>
            <a:srgbClr val="6BAE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075588" y="1173443"/>
            <a:ext cx="708558" cy="170814"/>
          </a:xfrm>
          <a:prstGeom prst="rect">
            <a:avLst/>
          </a:prstGeom>
          <a:solidFill>
            <a:srgbClr val="217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784146" y="1173443"/>
            <a:ext cx="754748" cy="170814"/>
          </a:xfrm>
          <a:prstGeom prst="rect">
            <a:avLst/>
          </a:prstGeom>
          <a:solidFill>
            <a:srgbClr val="0830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60182" y="1515061"/>
            <a:ext cx="415404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075587" y="1515061"/>
            <a:ext cx="451650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527237" y="1515061"/>
            <a:ext cx="256921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784144" y="1515060"/>
            <a:ext cx="451446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235591" y="1515060"/>
            <a:ext cx="303314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60176" y="1856677"/>
            <a:ext cx="415404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075581" y="1856677"/>
            <a:ext cx="451650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527231" y="1856677"/>
            <a:ext cx="256921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784138" y="1856677"/>
            <a:ext cx="451446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2235585" y="1856677"/>
            <a:ext cx="303314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3873500" y="1409700"/>
            <a:ext cx="279400" cy="241300"/>
          </a:xfrm>
          <a:custGeom>
            <a:avLst/>
            <a:gdLst/>
            <a:ahLst/>
            <a:cxnLst/>
            <a:rect l="l" t="t" r="r" b="b"/>
            <a:pathLst>
              <a:path w="22" h="19">
                <a:moveTo>
                  <a:pt x="0" y="19"/>
                </a:moveTo>
                <a:lnTo>
                  <a:pt x="22" y="19"/>
                </a:lnTo>
                <a:lnTo>
                  <a:pt x="22" y="16"/>
                </a:lnTo>
                <a:lnTo>
                  <a:pt x="22" y="13"/>
                </a:lnTo>
                <a:lnTo>
                  <a:pt x="21" y="11"/>
                </a:lnTo>
                <a:lnTo>
                  <a:pt x="20" y="8"/>
                </a:lnTo>
                <a:lnTo>
                  <a:pt x="18" y="6"/>
                </a:lnTo>
                <a:lnTo>
                  <a:pt x="17" y="4"/>
                </a:lnTo>
                <a:lnTo>
                  <a:pt x="15" y="2"/>
                </a:lnTo>
                <a:lnTo>
                  <a:pt x="13" y="0"/>
                </a:lnTo>
                <a:close/>
              </a:path>
            </a:pathLst>
          </a:custGeom>
          <a:solidFill>
            <a:srgbClr val="A6CEE3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0" name="Connector 49"/>
          <p:cNvCxnSpPr/>
          <p:nvPr/>
        </p:nvCxnSpPr>
        <p:spPr>
          <a:xfrm flipV="1">
            <a:off x="4032949" y="1248387"/>
            <a:ext cx="115635" cy="16514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Freeform 50"/>
          <p:cNvSpPr/>
          <p:nvPr/>
        </p:nvSpPr>
        <p:spPr>
          <a:xfrm>
            <a:off x="3733800" y="1358900"/>
            <a:ext cx="304800" cy="292100"/>
          </a:xfrm>
          <a:custGeom>
            <a:avLst/>
            <a:gdLst/>
            <a:ahLst/>
            <a:cxnLst/>
            <a:rect l="l" t="t" r="r" b="b"/>
            <a:pathLst>
              <a:path w="24" h="23">
                <a:moveTo>
                  <a:pt x="11" y="23"/>
                </a:moveTo>
                <a:lnTo>
                  <a:pt x="24" y="4"/>
                </a:lnTo>
                <a:lnTo>
                  <a:pt x="21" y="3"/>
                </a:lnTo>
                <a:lnTo>
                  <a:pt x="18" y="1"/>
                </a:lnTo>
                <a:lnTo>
                  <a:pt x="15" y="1"/>
                </a:lnTo>
                <a:lnTo>
                  <a:pt x="12" y="0"/>
                </a:lnTo>
                <a:lnTo>
                  <a:pt x="9" y="0"/>
                </a:lnTo>
                <a:lnTo>
                  <a:pt x="6" y="1"/>
                </a:lnTo>
                <a:lnTo>
                  <a:pt x="3" y="2"/>
                </a:lnTo>
                <a:lnTo>
                  <a:pt x="0" y="3"/>
                </a:lnTo>
                <a:close/>
              </a:path>
            </a:pathLst>
          </a:custGeom>
          <a:solidFill>
            <a:srgbClr val="1F78B4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 flipH="1" flipV="1">
            <a:off x="3641683" y="1215186"/>
            <a:ext cx="93083" cy="17881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H="1" flipV="1">
            <a:off x="3641683" y="1215186"/>
            <a:ext cx="93083" cy="17881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3668284" y="1266288"/>
            <a:ext cx="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Freeform 54"/>
          <p:cNvSpPr/>
          <p:nvPr/>
        </p:nvSpPr>
        <p:spPr>
          <a:xfrm>
            <a:off x="3594100" y="1397000"/>
            <a:ext cx="279400" cy="254000"/>
          </a:xfrm>
          <a:custGeom>
            <a:avLst/>
            <a:gdLst/>
            <a:ahLst/>
            <a:cxnLst/>
            <a:rect l="l" t="t" r="r" b="b"/>
            <a:pathLst>
              <a:path w="22" h="20">
                <a:moveTo>
                  <a:pt x="22" y="20"/>
                </a:moveTo>
                <a:lnTo>
                  <a:pt x="11" y="0"/>
                </a:lnTo>
                <a:lnTo>
                  <a:pt x="9" y="1"/>
                </a:lnTo>
                <a:lnTo>
                  <a:pt x="7" y="2"/>
                </a:lnTo>
                <a:lnTo>
                  <a:pt x="6" y="4"/>
                </a:lnTo>
                <a:lnTo>
                  <a:pt x="4" y="5"/>
                </a:lnTo>
                <a:lnTo>
                  <a:pt x="3" y="7"/>
                </a:lnTo>
                <a:lnTo>
                  <a:pt x="2" y="9"/>
                </a:lnTo>
                <a:lnTo>
                  <a:pt x="1" y="11"/>
                </a:lnTo>
                <a:lnTo>
                  <a:pt x="0" y="13"/>
                </a:lnTo>
                <a:close/>
              </a:path>
            </a:pathLst>
          </a:custGeom>
          <a:solidFill>
            <a:srgbClr val="33A02C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6" name="Connector 55"/>
          <p:cNvCxnSpPr/>
          <p:nvPr/>
        </p:nvCxnSpPr>
        <p:spPr>
          <a:xfrm flipH="1" flipV="1">
            <a:off x="3400809" y="1502239"/>
            <a:ext cx="192262" cy="6062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Freeform 56"/>
          <p:cNvSpPr/>
          <p:nvPr/>
        </p:nvSpPr>
        <p:spPr>
          <a:xfrm>
            <a:off x="3581400" y="1562100"/>
            <a:ext cx="292100" cy="215900"/>
          </a:xfrm>
          <a:custGeom>
            <a:avLst/>
            <a:gdLst/>
            <a:ahLst/>
            <a:cxnLst/>
            <a:rect l="l" t="t" r="r" b="b"/>
            <a:pathLst>
              <a:path w="23" h="17">
                <a:moveTo>
                  <a:pt x="23" y="7"/>
                </a:moveTo>
                <a:lnTo>
                  <a:pt x="1" y="0"/>
                </a:lnTo>
                <a:lnTo>
                  <a:pt x="0" y="2"/>
                </a:lnTo>
                <a:lnTo>
                  <a:pt x="0" y="4"/>
                </a:lnTo>
                <a:lnTo>
                  <a:pt x="0" y="7"/>
                </a:lnTo>
                <a:lnTo>
                  <a:pt x="0" y="9"/>
                </a:lnTo>
                <a:lnTo>
                  <a:pt x="0" y="11"/>
                </a:lnTo>
                <a:lnTo>
                  <a:pt x="1" y="13"/>
                </a:lnTo>
                <a:lnTo>
                  <a:pt x="1" y="15"/>
                </a:lnTo>
                <a:lnTo>
                  <a:pt x="2" y="17"/>
                </a:lnTo>
                <a:close/>
              </a:path>
            </a:pathLst>
          </a:custGeom>
          <a:solidFill>
            <a:srgbClr val="FB9A99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8" name="Connector 57"/>
          <p:cNvCxnSpPr/>
          <p:nvPr/>
        </p:nvCxnSpPr>
        <p:spPr>
          <a:xfrm flipH="1">
            <a:off x="3433472" y="1782445"/>
            <a:ext cx="178814" cy="9308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Freeform 58"/>
          <p:cNvSpPr/>
          <p:nvPr/>
        </p:nvSpPr>
        <p:spPr>
          <a:xfrm>
            <a:off x="3606800" y="1651000"/>
            <a:ext cx="304800" cy="292100"/>
          </a:xfrm>
          <a:custGeom>
            <a:avLst/>
            <a:gdLst/>
            <a:ahLst/>
            <a:cxnLst/>
            <a:rect l="l" t="t" r="r" b="b"/>
            <a:pathLst>
              <a:path w="24" h="23">
                <a:moveTo>
                  <a:pt x="21" y="0"/>
                </a:moveTo>
                <a:lnTo>
                  <a:pt x="0" y="10"/>
                </a:lnTo>
                <a:lnTo>
                  <a:pt x="2" y="13"/>
                </a:lnTo>
                <a:lnTo>
                  <a:pt x="5" y="16"/>
                </a:lnTo>
                <a:lnTo>
                  <a:pt x="7" y="18"/>
                </a:lnTo>
                <a:lnTo>
                  <a:pt x="10" y="20"/>
                </a:lnTo>
                <a:lnTo>
                  <a:pt x="13" y="21"/>
                </a:lnTo>
                <a:lnTo>
                  <a:pt x="17" y="22"/>
                </a:lnTo>
                <a:lnTo>
                  <a:pt x="20" y="23"/>
                </a:lnTo>
                <a:lnTo>
                  <a:pt x="24" y="22"/>
                </a:lnTo>
                <a:close/>
              </a:path>
            </a:pathLst>
          </a:custGeom>
          <a:solidFill>
            <a:srgbClr val="E31A1C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" name="Connector 59"/>
          <p:cNvCxnSpPr/>
          <p:nvPr/>
        </p:nvCxnSpPr>
        <p:spPr>
          <a:xfrm>
            <a:off x="3905337" y="1935008"/>
            <a:ext cx="26311" cy="19987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3905337" y="1935008"/>
            <a:ext cx="26311" cy="19987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3924129" y="2077758"/>
            <a:ext cx="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Freeform 62"/>
          <p:cNvSpPr/>
          <p:nvPr/>
        </p:nvSpPr>
        <p:spPr>
          <a:xfrm>
            <a:off x="3873500" y="1651000"/>
            <a:ext cx="177800" cy="279400"/>
          </a:xfrm>
          <a:custGeom>
            <a:avLst/>
            <a:gdLst/>
            <a:ahLst/>
            <a:cxnLst/>
            <a:rect l="l" t="t" r="r" b="b"/>
            <a:pathLst>
              <a:path w="14" h="22">
                <a:moveTo>
                  <a:pt x="0" y="0"/>
                </a:moveTo>
                <a:lnTo>
                  <a:pt x="3" y="22"/>
                </a:lnTo>
                <a:lnTo>
                  <a:pt x="4" y="22"/>
                </a:lnTo>
                <a:lnTo>
                  <a:pt x="6" y="22"/>
                </a:lnTo>
                <a:lnTo>
                  <a:pt x="7" y="21"/>
                </a:lnTo>
                <a:lnTo>
                  <a:pt x="9" y="21"/>
                </a:lnTo>
                <a:lnTo>
                  <a:pt x="10" y="20"/>
                </a:lnTo>
                <a:lnTo>
                  <a:pt x="12" y="19"/>
                </a:lnTo>
                <a:lnTo>
                  <a:pt x="13" y="18"/>
                </a:lnTo>
                <a:lnTo>
                  <a:pt x="14" y="17"/>
                </a:lnTo>
                <a:close/>
              </a:path>
            </a:pathLst>
          </a:custGeom>
          <a:solidFill>
            <a:srgbClr val="FF7F00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>
            <a:off x="4052885" y="1870096"/>
            <a:ext cx="129588" cy="154435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Freeform 64"/>
          <p:cNvSpPr/>
          <p:nvPr/>
        </p:nvSpPr>
        <p:spPr>
          <a:xfrm>
            <a:off x="3873500" y="1651000"/>
            <a:ext cx="266700" cy="215900"/>
          </a:xfrm>
          <a:custGeom>
            <a:avLst/>
            <a:gdLst/>
            <a:ahLst/>
            <a:cxnLst/>
            <a:rect l="l" t="t" r="r" b="b"/>
            <a:pathLst>
              <a:path w="21" h="17">
                <a:moveTo>
                  <a:pt x="0" y="0"/>
                </a:moveTo>
                <a:lnTo>
                  <a:pt x="14" y="17"/>
                </a:lnTo>
                <a:lnTo>
                  <a:pt x="15" y="16"/>
                </a:lnTo>
                <a:lnTo>
                  <a:pt x="16" y="15"/>
                </a:lnTo>
                <a:lnTo>
                  <a:pt x="17" y="14"/>
                </a:lnTo>
                <a:lnTo>
                  <a:pt x="18" y="12"/>
                </a:lnTo>
                <a:lnTo>
                  <a:pt x="19" y="11"/>
                </a:lnTo>
                <a:lnTo>
                  <a:pt x="20" y="10"/>
                </a:lnTo>
                <a:lnTo>
                  <a:pt x="21" y="8"/>
                </a:lnTo>
                <a:lnTo>
                  <a:pt x="21" y="7"/>
                </a:lnTo>
                <a:close/>
              </a:path>
            </a:pathLst>
          </a:custGeom>
          <a:solidFill>
            <a:srgbClr val="CAB2D6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6" name="Connector 65"/>
          <p:cNvCxnSpPr/>
          <p:nvPr/>
        </p:nvCxnSpPr>
        <p:spPr>
          <a:xfrm>
            <a:off x="4142425" y="1736067"/>
            <a:ext cx="192263" cy="6061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Freeform 66"/>
          <p:cNvSpPr/>
          <p:nvPr/>
        </p:nvSpPr>
        <p:spPr>
          <a:xfrm>
            <a:off x="3873500" y="1651000"/>
            <a:ext cx="279400" cy="88900"/>
          </a:xfrm>
          <a:custGeom>
            <a:avLst/>
            <a:gdLst/>
            <a:ahLst/>
            <a:cxnLst/>
            <a:rect l="l" t="t" r="r" b="b"/>
            <a:pathLst>
              <a:path w="22" h="7">
                <a:moveTo>
                  <a:pt x="0" y="0"/>
                </a:moveTo>
                <a:lnTo>
                  <a:pt x="21" y="7"/>
                </a:lnTo>
                <a:lnTo>
                  <a:pt x="21" y="6"/>
                </a:lnTo>
                <a:lnTo>
                  <a:pt x="22" y="5"/>
                </a:lnTo>
                <a:lnTo>
                  <a:pt x="22" y="4"/>
                </a:lnTo>
                <a:lnTo>
                  <a:pt x="22" y="3"/>
                </a:lnTo>
                <a:lnTo>
                  <a:pt x="22" y="2"/>
                </a:lnTo>
                <a:lnTo>
                  <a:pt x="22" y="2"/>
                </a:lnTo>
                <a:lnTo>
                  <a:pt x="22" y="1"/>
                </a:lnTo>
                <a:lnTo>
                  <a:pt x="22" y="0"/>
                </a:lnTo>
                <a:close/>
              </a:path>
            </a:pathLst>
          </a:custGeom>
          <a:solidFill>
            <a:srgbClr val="6A3D9A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8" name="Connector 67"/>
          <p:cNvCxnSpPr/>
          <p:nvPr/>
        </p:nvCxnSpPr>
        <p:spPr>
          <a:xfrm>
            <a:off x="4155768" y="1649463"/>
            <a:ext cx="201602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Rectangle 68"/>
          <p:cNvSpPr/>
          <p:nvPr/>
        </p:nvSpPr>
        <p:spPr>
          <a:xfrm>
            <a:off x="-11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2879980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1" name="Picture 7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72" name="Picture 7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Example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1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59993" y="737391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Using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roulette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wheel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cumulative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fitness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ratios,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identify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59993" y="909476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individuals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selected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parents.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36091" y="1202387"/>
            <a:ext cx="504930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1">
                <a:solidFill>
                  <a:srgbClr val="FFFFFF"/>
                </a:solidFill>
                <a:latin typeface="Josefin Sans"/>
              </a:rPr>
              <a:t>Label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225816" y="1202387"/>
            <a:ext cx="455957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1">
                <a:solidFill>
                  <a:srgbClr val="FFFFFF"/>
                </a:solidFill>
                <a:latin typeface="Josefin Sans"/>
              </a:rPr>
              <a:t>Parent</a:t>
            </a:r>
            <a:r>
              <a:rPr sz="797" b="1">
                <a:solidFill>
                  <a:srgbClr val="FFFFFF"/>
                </a:solidFill>
                <a:latin typeface="Josefin Sans"/>
              </a:rPr>
              <a:t> </a:t>
            </a:r>
            <a:r>
              <a:rPr sz="797" b="1">
                <a:solidFill>
                  <a:srgbClr val="FFFFFF"/>
                </a:solidFill>
                <a:latin typeface="Josefin Sans"/>
              </a:rPr>
              <a:t>A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961311" y="1202387"/>
            <a:ext cx="382408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1">
                <a:solidFill>
                  <a:srgbClr val="FFFFFF"/>
                </a:solidFill>
                <a:latin typeface="Josefin Sans"/>
              </a:rPr>
              <a:t>Parent</a:t>
            </a:r>
            <a:r>
              <a:rPr sz="797" b="1">
                <a:solidFill>
                  <a:srgbClr val="FFFFFF"/>
                </a:solidFill>
                <a:latin typeface="Josefin Sans"/>
              </a:rPr>
              <a:t> </a:t>
            </a:r>
            <a:r>
              <a:rPr sz="797" b="1">
                <a:solidFill>
                  <a:srgbClr val="FFFFFF"/>
                </a:solidFill>
                <a:latin typeface="Josefin Sans"/>
              </a:rPr>
              <a:t>B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14463" y="1374587"/>
            <a:ext cx="497093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p</a:t>
            </a:r>
            <a:r>
              <a:rPr sz="5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166228" y="1372890"/>
            <a:ext cx="461916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0.9189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603147" y="1374587"/>
            <a:ext cx="418224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v</a:t>
            </a:r>
            <a:r>
              <a:rPr sz="597" b="0">
                <a:solidFill>
                  <a:srgbClr val="000000"/>
                </a:solidFill>
                <a:latin typeface="Cambria Math"/>
              </a:rPr>
              <a:t>9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869935" y="1372891"/>
            <a:ext cx="391546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0.1049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2334705" y="1374587"/>
            <a:ext cx="345069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v</a:t>
            </a:r>
            <a:r>
              <a:rPr sz="5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14462" y="1545403"/>
            <a:ext cx="497093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p</a:t>
            </a:r>
            <a:r>
              <a:rPr sz="59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151507" y="1543706"/>
            <a:ext cx="463388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0.3305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603144" y="1545403"/>
            <a:ext cx="418225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v</a:t>
            </a:r>
            <a:r>
              <a:rPr sz="597" b="0">
                <a:solidFill>
                  <a:srgbClr val="000000"/>
                </a:solidFill>
                <a:latin typeface="Cambria Math"/>
              </a:rP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860065" y="1543705"/>
            <a:ext cx="392533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0.0868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2334702" y="1545401"/>
            <a:ext cx="345069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v</a:t>
            </a:r>
            <a:r>
              <a:rPr sz="5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814459" y="1716204"/>
            <a:ext cx="4970936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p</a:t>
            </a:r>
            <a:r>
              <a:rPr sz="597" b="0">
                <a:solidFill>
                  <a:srgbClr val="000000"/>
                </a:solidFill>
                <a:latin typeface="Cambria Math"/>
              </a:rPr>
              <a:t>3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178174" y="1714508"/>
            <a:ext cx="460722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0.8211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603140" y="1716205"/>
            <a:ext cx="418225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v</a:t>
            </a:r>
            <a:r>
              <a:rPr sz="597" b="0">
                <a:solidFill>
                  <a:srgbClr val="000000"/>
                </a:solidFill>
                <a:latin typeface="Cambria Math"/>
              </a:rPr>
              <a:t>8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861331" y="1714507"/>
            <a:ext cx="392406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0.9057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334699" y="1716205"/>
            <a:ext cx="3450696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v</a:t>
            </a:r>
            <a:r>
              <a:rPr sz="597" b="0">
                <a:solidFill>
                  <a:srgbClr val="000000"/>
                </a:solidFill>
                <a:latin typeface="Cambria Math"/>
              </a:rPr>
              <a:t>9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14456" y="1887019"/>
            <a:ext cx="497093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p</a:t>
            </a:r>
            <a:r>
              <a:rPr sz="597" b="0">
                <a:solidFill>
                  <a:srgbClr val="000000"/>
                </a:solidFill>
                <a:latin typeface="Cambria Math"/>
              </a:rP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153622" y="1885323"/>
            <a:ext cx="463177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0.5780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603137" y="1887019"/>
            <a:ext cx="418225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v</a:t>
            </a:r>
            <a:r>
              <a:rPr sz="597" b="0">
                <a:solidFill>
                  <a:srgbClr val="000000"/>
                </a:solidFill>
                <a:latin typeface="Cambria Math"/>
              </a:rPr>
              <a:t>6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863652" y="1885322"/>
            <a:ext cx="392174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0.9635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311506" y="1887019"/>
            <a:ext cx="347388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v</a:t>
            </a:r>
            <a:r>
              <a:rPr sz="597" b="0">
                <a:solidFill>
                  <a:srgbClr val="000000"/>
                </a:solidFill>
                <a:latin typeface="Cambria Math"/>
              </a:rPr>
              <a:t>10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14456" y="2057833"/>
            <a:ext cx="497093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p</a:t>
            </a:r>
            <a:r>
              <a:rPr sz="597" b="0">
                <a:solidFill>
                  <a:srgbClr val="000000"/>
                </a:solidFill>
                <a:latin typeface="Cambria Math"/>
              </a:rPr>
              <a:t>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160505" y="2056137"/>
            <a:ext cx="462489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0.2476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603137" y="2057834"/>
            <a:ext cx="418225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v</a:t>
            </a:r>
            <a:r>
              <a:rPr sz="59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865722" y="2056136"/>
            <a:ext cx="391967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0.8286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2334696" y="2057834"/>
            <a:ext cx="345069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v</a:t>
            </a:r>
            <a:r>
              <a:rPr sz="597" b="0">
                <a:solidFill>
                  <a:srgbClr val="000000"/>
                </a:solidFill>
                <a:latin typeface="Cambria Math"/>
              </a:rPr>
              <a:t>8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4064179" y="1129252"/>
            <a:ext cx="1721216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0.1528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4187293" y="1361162"/>
            <a:ext cx="15981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457399" y="1062725"/>
            <a:ext cx="232799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0.3264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604655" y="1177444"/>
            <a:ext cx="218074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3227719" y="1427892"/>
            <a:ext cx="2557676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0.45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3473198" y="1282930"/>
            <a:ext cx="231219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3214181" y="1867058"/>
            <a:ext cx="257121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0.5764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3373769" y="1598271"/>
            <a:ext cx="241162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5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3797720" y="2172163"/>
            <a:ext cx="198767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0.7708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604655" y="1943788"/>
            <a:ext cx="218074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3860496" y="1988911"/>
            <a:ext cx="192489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4113658" y="2042356"/>
            <a:ext cx="167173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0.8611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78099" y="1956018"/>
            <a:ext cx="180729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8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281806" y="1774298"/>
            <a:ext cx="150358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0.9514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4163303" y="1800620"/>
            <a:ext cx="162209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9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4427818" y="1601578"/>
            <a:ext cx="135757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204184" y="1626338"/>
            <a:ext cx="158121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507074" y="2395155"/>
            <a:ext cx="527832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Josefin Sans"/>
              </a:rPr>
              <a:t>1.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Do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we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allow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one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individual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being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selected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different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parent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pairs?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4898759" y="3150916"/>
            <a:ext cx="88663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5623116" y="3150692"/>
            <a:ext cx="16227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64</a:t>
            </a:r>
          </a:p>
        </p:txBody>
      </p:sp>
    </p:spTree>
  </p:cSld>
  <p:clrMapOvr>
    <a:masterClrMapping/>
  </p:clrMapOvr>
</p:sld>
</file>

<file path=ppt/slides/slide1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660184" y="1173443"/>
            <a:ext cx="415404" cy="170814"/>
          </a:xfrm>
          <a:prstGeom prst="rect">
            <a:avLst/>
          </a:prstGeom>
          <a:solidFill>
            <a:srgbClr val="6BAE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075588" y="1173443"/>
            <a:ext cx="708558" cy="170814"/>
          </a:xfrm>
          <a:prstGeom prst="rect">
            <a:avLst/>
          </a:prstGeom>
          <a:solidFill>
            <a:srgbClr val="217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784146" y="1173443"/>
            <a:ext cx="754748" cy="170814"/>
          </a:xfrm>
          <a:prstGeom prst="rect">
            <a:avLst/>
          </a:prstGeom>
          <a:solidFill>
            <a:srgbClr val="0830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60182" y="1515061"/>
            <a:ext cx="415404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075587" y="1515061"/>
            <a:ext cx="451650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527237" y="1515061"/>
            <a:ext cx="256921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784144" y="1515060"/>
            <a:ext cx="451446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235591" y="1515060"/>
            <a:ext cx="303314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60176" y="1856677"/>
            <a:ext cx="415404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075581" y="1856677"/>
            <a:ext cx="451650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527231" y="1856677"/>
            <a:ext cx="256921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784138" y="1856677"/>
            <a:ext cx="451446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2235585" y="1856677"/>
            <a:ext cx="303314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3873500" y="1409700"/>
            <a:ext cx="279400" cy="241300"/>
          </a:xfrm>
          <a:custGeom>
            <a:avLst/>
            <a:gdLst/>
            <a:ahLst/>
            <a:cxnLst/>
            <a:rect l="l" t="t" r="r" b="b"/>
            <a:pathLst>
              <a:path w="22" h="19">
                <a:moveTo>
                  <a:pt x="0" y="19"/>
                </a:moveTo>
                <a:lnTo>
                  <a:pt x="22" y="19"/>
                </a:lnTo>
                <a:lnTo>
                  <a:pt x="22" y="16"/>
                </a:lnTo>
                <a:lnTo>
                  <a:pt x="22" y="13"/>
                </a:lnTo>
                <a:lnTo>
                  <a:pt x="21" y="11"/>
                </a:lnTo>
                <a:lnTo>
                  <a:pt x="20" y="8"/>
                </a:lnTo>
                <a:lnTo>
                  <a:pt x="18" y="6"/>
                </a:lnTo>
                <a:lnTo>
                  <a:pt x="17" y="4"/>
                </a:lnTo>
                <a:lnTo>
                  <a:pt x="15" y="2"/>
                </a:lnTo>
                <a:lnTo>
                  <a:pt x="13" y="0"/>
                </a:lnTo>
                <a:close/>
              </a:path>
            </a:pathLst>
          </a:custGeom>
          <a:solidFill>
            <a:srgbClr val="A6CEE3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0" name="Connector 49"/>
          <p:cNvCxnSpPr/>
          <p:nvPr/>
        </p:nvCxnSpPr>
        <p:spPr>
          <a:xfrm flipV="1">
            <a:off x="4032949" y="1248387"/>
            <a:ext cx="115635" cy="16514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Freeform 50"/>
          <p:cNvSpPr/>
          <p:nvPr/>
        </p:nvSpPr>
        <p:spPr>
          <a:xfrm>
            <a:off x="3733800" y="1358900"/>
            <a:ext cx="304800" cy="292100"/>
          </a:xfrm>
          <a:custGeom>
            <a:avLst/>
            <a:gdLst/>
            <a:ahLst/>
            <a:cxnLst/>
            <a:rect l="l" t="t" r="r" b="b"/>
            <a:pathLst>
              <a:path w="24" h="23">
                <a:moveTo>
                  <a:pt x="11" y="23"/>
                </a:moveTo>
                <a:lnTo>
                  <a:pt x="24" y="4"/>
                </a:lnTo>
                <a:lnTo>
                  <a:pt x="21" y="3"/>
                </a:lnTo>
                <a:lnTo>
                  <a:pt x="18" y="1"/>
                </a:lnTo>
                <a:lnTo>
                  <a:pt x="15" y="1"/>
                </a:lnTo>
                <a:lnTo>
                  <a:pt x="12" y="0"/>
                </a:lnTo>
                <a:lnTo>
                  <a:pt x="9" y="0"/>
                </a:lnTo>
                <a:lnTo>
                  <a:pt x="6" y="1"/>
                </a:lnTo>
                <a:lnTo>
                  <a:pt x="3" y="2"/>
                </a:lnTo>
                <a:lnTo>
                  <a:pt x="0" y="3"/>
                </a:lnTo>
                <a:close/>
              </a:path>
            </a:pathLst>
          </a:custGeom>
          <a:solidFill>
            <a:srgbClr val="1F78B4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 flipH="1" flipV="1">
            <a:off x="3641683" y="1215186"/>
            <a:ext cx="93083" cy="17881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H="1" flipV="1">
            <a:off x="3641683" y="1215186"/>
            <a:ext cx="93083" cy="17881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3668284" y="1266288"/>
            <a:ext cx="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Freeform 54"/>
          <p:cNvSpPr/>
          <p:nvPr/>
        </p:nvSpPr>
        <p:spPr>
          <a:xfrm>
            <a:off x="3594100" y="1397000"/>
            <a:ext cx="279400" cy="254000"/>
          </a:xfrm>
          <a:custGeom>
            <a:avLst/>
            <a:gdLst/>
            <a:ahLst/>
            <a:cxnLst/>
            <a:rect l="l" t="t" r="r" b="b"/>
            <a:pathLst>
              <a:path w="22" h="20">
                <a:moveTo>
                  <a:pt x="22" y="20"/>
                </a:moveTo>
                <a:lnTo>
                  <a:pt x="11" y="0"/>
                </a:lnTo>
                <a:lnTo>
                  <a:pt x="9" y="1"/>
                </a:lnTo>
                <a:lnTo>
                  <a:pt x="7" y="2"/>
                </a:lnTo>
                <a:lnTo>
                  <a:pt x="6" y="4"/>
                </a:lnTo>
                <a:lnTo>
                  <a:pt x="4" y="5"/>
                </a:lnTo>
                <a:lnTo>
                  <a:pt x="3" y="7"/>
                </a:lnTo>
                <a:lnTo>
                  <a:pt x="2" y="9"/>
                </a:lnTo>
                <a:lnTo>
                  <a:pt x="1" y="11"/>
                </a:lnTo>
                <a:lnTo>
                  <a:pt x="0" y="13"/>
                </a:lnTo>
                <a:close/>
              </a:path>
            </a:pathLst>
          </a:custGeom>
          <a:solidFill>
            <a:srgbClr val="33A02C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6" name="Connector 55"/>
          <p:cNvCxnSpPr/>
          <p:nvPr/>
        </p:nvCxnSpPr>
        <p:spPr>
          <a:xfrm flipH="1" flipV="1">
            <a:off x="3400809" y="1502239"/>
            <a:ext cx="192262" cy="6062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Freeform 56"/>
          <p:cNvSpPr/>
          <p:nvPr/>
        </p:nvSpPr>
        <p:spPr>
          <a:xfrm>
            <a:off x="3581400" y="1562100"/>
            <a:ext cx="292100" cy="215900"/>
          </a:xfrm>
          <a:custGeom>
            <a:avLst/>
            <a:gdLst/>
            <a:ahLst/>
            <a:cxnLst/>
            <a:rect l="l" t="t" r="r" b="b"/>
            <a:pathLst>
              <a:path w="23" h="17">
                <a:moveTo>
                  <a:pt x="23" y="7"/>
                </a:moveTo>
                <a:lnTo>
                  <a:pt x="1" y="0"/>
                </a:lnTo>
                <a:lnTo>
                  <a:pt x="0" y="2"/>
                </a:lnTo>
                <a:lnTo>
                  <a:pt x="0" y="4"/>
                </a:lnTo>
                <a:lnTo>
                  <a:pt x="0" y="7"/>
                </a:lnTo>
                <a:lnTo>
                  <a:pt x="0" y="9"/>
                </a:lnTo>
                <a:lnTo>
                  <a:pt x="0" y="11"/>
                </a:lnTo>
                <a:lnTo>
                  <a:pt x="1" y="13"/>
                </a:lnTo>
                <a:lnTo>
                  <a:pt x="1" y="15"/>
                </a:lnTo>
                <a:lnTo>
                  <a:pt x="2" y="17"/>
                </a:lnTo>
                <a:close/>
              </a:path>
            </a:pathLst>
          </a:custGeom>
          <a:solidFill>
            <a:srgbClr val="FB9A99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8" name="Connector 57"/>
          <p:cNvCxnSpPr/>
          <p:nvPr/>
        </p:nvCxnSpPr>
        <p:spPr>
          <a:xfrm flipH="1">
            <a:off x="3433472" y="1782445"/>
            <a:ext cx="178814" cy="9308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Freeform 58"/>
          <p:cNvSpPr/>
          <p:nvPr/>
        </p:nvSpPr>
        <p:spPr>
          <a:xfrm>
            <a:off x="3606800" y="1651000"/>
            <a:ext cx="304800" cy="292100"/>
          </a:xfrm>
          <a:custGeom>
            <a:avLst/>
            <a:gdLst/>
            <a:ahLst/>
            <a:cxnLst/>
            <a:rect l="l" t="t" r="r" b="b"/>
            <a:pathLst>
              <a:path w="24" h="23">
                <a:moveTo>
                  <a:pt x="21" y="0"/>
                </a:moveTo>
                <a:lnTo>
                  <a:pt x="0" y="10"/>
                </a:lnTo>
                <a:lnTo>
                  <a:pt x="2" y="13"/>
                </a:lnTo>
                <a:lnTo>
                  <a:pt x="5" y="16"/>
                </a:lnTo>
                <a:lnTo>
                  <a:pt x="7" y="18"/>
                </a:lnTo>
                <a:lnTo>
                  <a:pt x="10" y="20"/>
                </a:lnTo>
                <a:lnTo>
                  <a:pt x="13" y="21"/>
                </a:lnTo>
                <a:lnTo>
                  <a:pt x="17" y="22"/>
                </a:lnTo>
                <a:lnTo>
                  <a:pt x="20" y="23"/>
                </a:lnTo>
                <a:lnTo>
                  <a:pt x="24" y="22"/>
                </a:lnTo>
                <a:close/>
              </a:path>
            </a:pathLst>
          </a:custGeom>
          <a:solidFill>
            <a:srgbClr val="E31A1C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" name="Connector 59"/>
          <p:cNvCxnSpPr/>
          <p:nvPr/>
        </p:nvCxnSpPr>
        <p:spPr>
          <a:xfrm>
            <a:off x="3905337" y="1935008"/>
            <a:ext cx="26311" cy="19987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3905337" y="1935008"/>
            <a:ext cx="26311" cy="19987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3924129" y="2077758"/>
            <a:ext cx="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Freeform 62"/>
          <p:cNvSpPr/>
          <p:nvPr/>
        </p:nvSpPr>
        <p:spPr>
          <a:xfrm>
            <a:off x="3873500" y="1651000"/>
            <a:ext cx="177800" cy="279400"/>
          </a:xfrm>
          <a:custGeom>
            <a:avLst/>
            <a:gdLst/>
            <a:ahLst/>
            <a:cxnLst/>
            <a:rect l="l" t="t" r="r" b="b"/>
            <a:pathLst>
              <a:path w="14" h="22">
                <a:moveTo>
                  <a:pt x="0" y="0"/>
                </a:moveTo>
                <a:lnTo>
                  <a:pt x="3" y="22"/>
                </a:lnTo>
                <a:lnTo>
                  <a:pt x="4" y="22"/>
                </a:lnTo>
                <a:lnTo>
                  <a:pt x="6" y="22"/>
                </a:lnTo>
                <a:lnTo>
                  <a:pt x="7" y="21"/>
                </a:lnTo>
                <a:lnTo>
                  <a:pt x="9" y="21"/>
                </a:lnTo>
                <a:lnTo>
                  <a:pt x="10" y="20"/>
                </a:lnTo>
                <a:lnTo>
                  <a:pt x="12" y="19"/>
                </a:lnTo>
                <a:lnTo>
                  <a:pt x="13" y="18"/>
                </a:lnTo>
                <a:lnTo>
                  <a:pt x="14" y="17"/>
                </a:lnTo>
                <a:close/>
              </a:path>
            </a:pathLst>
          </a:custGeom>
          <a:solidFill>
            <a:srgbClr val="FF7F00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>
            <a:off x="4052885" y="1870096"/>
            <a:ext cx="129588" cy="154435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Freeform 64"/>
          <p:cNvSpPr/>
          <p:nvPr/>
        </p:nvSpPr>
        <p:spPr>
          <a:xfrm>
            <a:off x="3873500" y="1651000"/>
            <a:ext cx="266700" cy="215900"/>
          </a:xfrm>
          <a:custGeom>
            <a:avLst/>
            <a:gdLst/>
            <a:ahLst/>
            <a:cxnLst/>
            <a:rect l="l" t="t" r="r" b="b"/>
            <a:pathLst>
              <a:path w="21" h="17">
                <a:moveTo>
                  <a:pt x="0" y="0"/>
                </a:moveTo>
                <a:lnTo>
                  <a:pt x="14" y="17"/>
                </a:lnTo>
                <a:lnTo>
                  <a:pt x="15" y="16"/>
                </a:lnTo>
                <a:lnTo>
                  <a:pt x="16" y="15"/>
                </a:lnTo>
                <a:lnTo>
                  <a:pt x="17" y="14"/>
                </a:lnTo>
                <a:lnTo>
                  <a:pt x="18" y="12"/>
                </a:lnTo>
                <a:lnTo>
                  <a:pt x="19" y="11"/>
                </a:lnTo>
                <a:lnTo>
                  <a:pt x="20" y="10"/>
                </a:lnTo>
                <a:lnTo>
                  <a:pt x="21" y="8"/>
                </a:lnTo>
                <a:lnTo>
                  <a:pt x="21" y="7"/>
                </a:lnTo>
                <a:close/>
              </a:path>
            </a:pathLst>
          </a:custGeom>
          <a:solidFill>
            <a:srgbClr val="CAB2D6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6" name="Connector 65"/>
          <p:cNvCxnSpPr/>
          <p:nvPr/>
        </p:nvCxnSpPr>
        <p:spPr>
          <a:xfrm>
            <a:off x="4142425" y="1736067"/>
            <a:ext cx="192263" cy="6061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Freeform 66"/>
          <p:cNvSpPr/>
          <p:nvPr/>
        </p:nvSpPr>
        <p:spPr>
          <a:xfrm>
            <a:off x="3873500" y="1651000"/>
            <a:ext cx="279400" cy="88900"/>
          </a:xfrm>
          <a:custGeom>
            <a:avLst/>
            <a:gdLst/>
            <a:ahLst/>
            <a:cxnLst/>
            <a:rect l="l" t="t" r="r" b="b"/>
            <a:pathLst>
              <a:path w="22" h="7">
                <a:moveTo>
                  <a:pt x="0" y="0"/>
                </a:moveTo>
                <a:lnTo>
                  <a:pt x="21" y="7"/>
                </a:lnTo>
                <a:lnTo>
                  <a:pt x="21" y="6"/>
                </a:lnTo>
                <a:lnTo>
                  <a:pt x="22" y="5"/>
                </a:lnTo>
                <a:lnTo>
                  <a:pt x="22" y="4"/>
                </a:lnTo>
                <a:lnTo>
                  <a:pt x="22" y="3"/>
                </a:lnTo>
                <a:lnTo>
                  <a:pt x="22" y="2"/>
                </a:lnTo>
                <a:lnTo>
                  <a:pt x="22" y="2"/>
                </a:lnTo>
                <a:lnTo>
                  <a:pt x="22" y="1"/>
                </a:lnTo>
                <a:lnTo>
                  <a:pt x="22" y="0"/>
                </a:lnTo>
                <a:close/>
              </a:path>
            </a:pathLst>
          </a:custGeom>
          <a:solidFill>
            <a:srgbClr val="6A3D9A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8" name="Connector 67"/>
          <p:cNvCxnSpPr/>
          <p:nvPr/>
        </p:nvCxnSpPr>
        <p:spPr>
          <a:xfrm>
            <a:off x="4155768" y="1649463"/>
            <a:ext cx="201602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Rectangle 68"/>
          <p:cNvSpPr/>
          <p:nvPr/>
        </p:nvSpPr>
        <p:spPr>
          <a:xfrm>
            <a:off x="-11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2879980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1" name="Picture 7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72" name="Picture 7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Example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1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59993" y="737391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Using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roulette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wheel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cumulative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fitness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ratios,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identify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59993" y="909476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individuals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selected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parents.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36091" y="1202387"/>
            <a:ext cx="504930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1">
                <a:solidFill>
                  <a:srgbClr val="FFFFFF"/>
                </a:solidFill>
                <a:latin typeface="Josefin Sans"/>
              </a:rPr>
              <a:t>Label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225816" y="1202387"/>
            <a:ext cx="455957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1">
                <a:solidFill>
                  <a:srgbClr val="FFFFFF"/>
                </a:solidFill>
                <a:latin typeface="Josefin Sans"/>
              </a:rPr>
              <a:t>Parent</a:t>
            </a:r>
            <a:r>
              <a:rPr sz="797" b="1">
                <a:solidFill>
                  <a:srgbClr val="FFFFFF"/>
                </a:solidFill>
                <a:latin typeface="Josefin Sans"/>
              </a:rPr>
              <a:t> </a:t>
            </a:r>
            <a:r>
              <a:rPr sz="797" b="1">
                <a:solidFill>
                  <a:srgbClr val="FFFFFF"/>
                </a:solidFill>
                <a:latin typeface="Josefin Sans"/>
              </a:rPr>
              <a:t>A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961311" y="1202387"/>
            <a:ext cx="382408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1">
                <a:solidFill>
                  <a:srgbClr val="FFFFFF"/>
                </a:solidFill>
                <a:latin typeface="Josefin Sans"/>
              </a:rPr>
              <a:t>Parent</a:t>
            </a:r>
            <a:r>
              <a:rPr sz="797" b="1">
                <a:solidFill>
                  <a:srgbClr val="FFFFFF"/>
                </a:solidFill>
                <a:latin typeface="Josefin Sans"/>
              </a:rPr>
              <a:t> </a:t>
            </a:r>
            <a:r>
              <a:rPr sz="797" b="1">
                <a:solidFill>
                  <a:srgbClr val="FFFFFF"/>
                </a:solidFill>
                <a:latin typeface="Josefin Sans"/>
              </a:rPr>
              <a:t>B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14463" y="1374587"/>
            <a:ext cx="497093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p</a:t>
            </a:r>
            <a:r>
              <a:rPr sz="5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166228" y="1372890"/>
            <a:ext cx="461916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0.9189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603147" y="1374587"/>
            <a:ext cx="418224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v</a:t>
            </a:r>
            <a:r>
              <a:rPr sz="597" b="0">
                <a:solidFill>
                  <a:srgbClr val="000000"/>
                </a:solidFill>
                <a:latin typeface="Cambria Math"/>
              </a:rPr>
              <a:t>9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869935" y="1372891"/>
            <a:ext cx="391546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0.1049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2334705" y="1374587"/>
            <a:ext cx="345069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v</a:t>
            </a:r>
            <a:r>
              <a:rPr sz="5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14462" y="1545403"/>
            <a:ext cx="497093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p</a:t>
            </a:r>
            <a:r>
              <a:rPr sz="59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151507" y="1543706"/>
            <a:ext cx="463388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0.3305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603144" y="1545403"/>
            <a:ext cx="418225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v</a:t>
            </a:r>
            <a:r>
              <a:rPr sz="597" b="0">
                <a:solidFill>
                  <a:srgbClr val="000000"/>
                </a:solidFill>
                <a:latin typeface="Cambria Math"/>
              </a:rP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860065" y="1543705"/>
            <a:ext cx="392533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0.0868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2334702" y="1545401"/>
            <a:ext cx="345069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v</a:t>
            </a:r>
            <a:r>
              <a:rPr sz="5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814459" y="1716204"/>
            <a:ext cx="4970936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p</a:t>
            </a:r>
            <a:r>
              <a:rPr sz="597" b="0">
                <a:solidFill>
                  <a:srgbClr val="000000"/>
                </a:solidFill>
                <a:latin typeface="Cambria Math"/>
              </a:rPr>
              <a:t>3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178174" y="1714508"/>
            <a:ext cx="460722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0.8211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603140" y="1716205"/>
            <a:ext cx="418225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v</a:t>
            </a:r>
            <a:r>
              <a:rPr sz="597" b="0">
                <a:solidFill>
                  <a:srgbClr val="000000"/>
                </a:solidFill>
                <a:latin typeface="Cambria Math"/>
              </a:rPr>
              <a:t>8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861331" y="1714507"/>
            <a:ext cx="392406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0.9057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334699" y="1716205"/>
            <a:ext cx="3450696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v</a:t>
            </a:r>
            <a:r>
              <a:rPr sz="597" b="0">
                <a:solidFill>
                  <a:srgbClr val="000000"/>
                </a:solidFill>
                <a:latin typeface="Cambria Math"/>
              </a:rPr>
              <a:t>9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14456" y="1887019"/>
            <a:ext cx="497093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p</a:t>
            </a:r>
            <a:r>
              <a:rPr sz="597" b="0">
                <a:solidFill>
                  <a:srgbClr val="000000"/>
                </a:solidFill>
                <a:latin typeface="Cambria Math"/>
              </a:rP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153622" y="1885323"/>
            <a:ext cx="463177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0.5780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603137" y="1887019"/>
            <a:ext cx="418225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v</a:t>
            </a:r>
            <a:r>
              <a:rPr sz="597" b="0">
                <a:solidFill>
                  <a:srgbClr val="000000"/>
                </a:solidFill>
                <a:latin typeface="Cambria Math"/>
              </a:rPr>
              <a:t>6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863652" y="1885322"/>
            <a:ext cx="392174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0.9635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311506" y="1887019"/>
            <a:ext cx="347388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v</a:t>
            </a:r>
            <a:r>
              <a:rPr sz="597" b="0">
                <a:solidFill>
                  <a:srgbClr val="000000"/>
                </a:solidFill>
                <a:latin typeface="Cambria Math"/>
              </a:rPr>
              <a:t>10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14456" y="2057833"/>
            <a:ext cx="497093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p</a:t>
            </a:r>
            <a:r>
              <a:rPr sz="597" b="0">
                <a:solidFill>
                  <a:srgbClr val="000000"/>
                </a:solidFill>
                <a:latin typeface="Cambria Math"/>
              </a:rPr>
              <a:t>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160505" y="2056137"/>
            <a:ext cx="462489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0.2476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603137" y="2057834"/>
            <a:ext cx="418225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v</a:t>
            </a:r>
            <a:r>
              <a:rPr sz="59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865722" y="2056136"/>
            <a:ext cx="391967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0.8286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2334696" y="2057834"/>
            <a:ext cx="345069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v</a:t>
            </a:r>
            <a:r>
              <a:rPr sz="597" b="0">
                <a:solidFill>
                  <a:srgbClr val="000000"/>
                </a:solidFill>
                <a:latin typeface="Cambria Math"/>
              </a:rPr>
              <a:t>8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4064179" y="1129252"/>
            <a:ext cx="1721216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0.1528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4187293" y="1361162"/>
            <a:ext cx="15981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457399" y="1062725"/>
            <a:ext cx="232799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0.3264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604655" y="1177444"/>
            <a:ext cx="218074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3227719" y="1427892"/>
            <a:ext cx="2557676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0.45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3473198" y="1282930"/>
            <a:ext cx="231219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3214181" y="1867058"/>
            <a:ext cx="257121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0.5764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3373769" y="1598271"/>
            <a:ext cx="241162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5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3797720" y="2172163"/>
            <a:ext cx="198767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0.7708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604655" y="1943788"/>
            <a:ext cx="218074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3860496" y="1988911"/>
            <a:ext cx="192489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4113658" y="2042356"/>
            <a:ext cx="167173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0.8611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78099" y="1956018"/>
            <a:ext cx="180729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8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281806" y="1774298"/>
            <a:ext cx="150358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0.9514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4163303" y="1800620"/>
            <a:ext cx="162209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9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4427818" y="1601578"/>
            <a:ext cx="135757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204184" y="1626338"/>
            <a:ext cx="158121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507074" y="2395155"/>
            <a:ext cx="527832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Josefin Sans"/>
              </a:rPr>
              <a:t>1.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Do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we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allow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one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individual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being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selected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different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parent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pairs?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482779" y="2633026"/>
            <a:ext cx="5302616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Josefin Sans"/>
              </a:rPr>
              <a:t>2.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Do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we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allow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one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parent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pair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consists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same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individual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twice?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4898759" y="3150916"/>
            <a:ext cx="88663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5623116" y="3150692"/>
            <a:ext cx="16227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64</a:t>
            </a:r>
          </a:p>
        </p:txBody>
      </p:sp>
    </p:spTree>
  </p:cSld>
  <p:clrMapOvr>
    <a:masterClrMapping/>
  </p:clrMapOvr>
</p:sld>
</file>

<file path=ppt/slides/slide1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H="1">
            <a:off x="1125379" y="927276"/>
            <a:ext cx="1050046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074768" y="977887"/>
            <a:ext cx="0" cy="15966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1125379" y="1188162"/>
            <a:ext cx="1050046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2226036" y="977887"/>
            <a:ext cx="0" cy="15966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H="1">
            <a:off x="2410841" y="917028"/>
            <a:ext cx="132960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2360231" y="967638"/>
            <a:ext cx="0" cy="18016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2410841" y="1198410"/>
            <a:ext cx="132960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3791060" y="967638"/>
            <a:ext cx="0" cy="18016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H="1">
            <a:off x="2720978" y="1332605"/>
            <a:ext cx="709335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2670367" y="1383216"/>
            <a:ext cx="0" cy="17771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2720978" y="1611540"/>
            <a:ext cx="709335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3480923" y="1383216"/>
            <a:ext cx="0" cy="17771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H="1">
            <a:off x="2819251" y="1745734"/>
            <a:ext cx="51278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2768640" y="1796345"/>
            <a:ext cx="0" cy="15408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2819251" y="2001040"/>
            <a:ext cx="51278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3382650" y="1796345"/>
            <a:ext cx="0" cy="15408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H="1">
            <a:off x="2387383" y="2135234"/>
            <a:ext cx="137652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2336772" y="2185845"/>
            <a:ext cx="0" cy="18016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2387383" y="2416617"/>
            <a:ext cx="137652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V="1">
            <a:off x="3814518" y="2185845"/>
            <a:ext cx="0" cy="18016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H="1">
            <a:off x="3999324" y="2148273"/>
            <a:ext cx="635316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3948713" y="2198883"/>
            <a:ext cx="0" cy="154085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3999324" y="2403579"/>
            <a:ext cx="635316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4685251" y="2198883"/>
            <a:ext cx="0" cy="154085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2228567" y="1057719"/>
            <a:ext cx="10382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Freeform 60"/>
          <p:cNvSpPr/>
          <p:nvPr/>
        </p:nvSpPr>
        <p:spPr>
          <a:xfrm>
            <a:off x="2311400" y="10414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1"/>
                </a:moveTo>
                <a:lnTo>
                  <a:pt x="0" y="0"/>
                </a:lnTo>
                <a:lnTo>
                  <a:pt x="2" y="1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2" name="Connector 61"/>
          <p:cNvCxnSpPr/>
          <p:nvPr/>
        </p:nvCxnSpPr>
        <p:spPr>
          <a:xfrm>
            <a:off x="3075645" y="1200941"/>
            <a:ext cx="0" cy="10382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Freeform 62"/>
          <p:cNvSpPr/>
          <p:nvPr/>
        </p:nvSpPr>
        <p:spPr>
          <a:xfrm>
            <a:off x="3060700" y="12954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0"/>
                </a:lnTo>
                <a:lnTo>
                  <a:pt x="1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>
            <a:off x="3075645" y="1614070"/>
            <a:ext cx="0" cy="10382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Freeform 64"/>
          <p:cNvSpPr/>
          <p:nvPr/>
        </p:nvSpPr>
        <p:spPr>
          <a:xfrm>
            <a:off x="3060700" y="17018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0"/>
                </a:lnTo>
                <a:lnTo>
                  <a:pt x="1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6" name="Connector 65"/>
          <p:cNvCxnSpPr/>
          <p:nvPr/>
        </p:nvCxnSpPr>
        <p:spPr>
          <a:xfrm>
            <a:off x="3075645" y="2003570"/>
            <a:ext cx="0" cy="10382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Freeform 66"/>
          <p:cNvSpPr/>
          <p:nvPr/>
        </p:nvSpPr>
        <p:spPr>
          <a:xfrm>
            <a:off x="3060700" y="20955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0"/>
                </a:lnTo>
                <a:lnTo>
                  <a:pt x="1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8" name="Connector 67"/>
          <p:cNvCxnSpPr/>
          <p:nvPr/>
        </p:nvCxnSpPr>
        <p:spPr>
          <a:xfrm>
            <a:off x="3817049" y="2275926"/>
            <a:ext cx="10382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Freeform 68"/>
          <p:cNvSpPr/>
          <p:nvPr/>
        </p:nvSpPr>
        <p:spPr>
          <a:xfrm>
            <a:off x="3911600" y="22606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0" name="Connector 69"/>
          <p:cNvCxnSpPr/>
          <p:nvPr/>
        </p:nvCxnSpPr>
        <p:spPr>
          <a:xfrm flipH="1">
            <a:off x="2154240" y="2275926"/>
            <a:ext cx="180002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V="1">
            <a:off x="2154240" y="1472072"/>
            <a:ext cx="0" cy="80385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2154240" y="1472072"/>
            <a:ext cx="488291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Freeform 72"/>
          <p:cNvSpPr/>
          <p:nvPr/>
        </p:nvSpPr>
        <p:spPr>
          <a:xfrm>
            <a:off x="2628900" y="14478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3" y="2"/>
                </a:moveTo>
                <a:lnTo>
                  <a:pt x="0" y="0"/>
                </a:lnTo>
                <a:lnTo>
                  <a:pt x="1" y="2"/>
                </a:lnTo>
                <a:lnTo>
                  <a:pt x="0" y="4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4" name="Connector 73"/>
          <p:cNvCxnSpPr/>
          <p:nvPr/>
        </p:nvCxnSpPr>
        <p:spPr>
          <a:xfrm flipH="1">
            <a:off x="4083989" y="1744168"/>
            <a:ext cx="50299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4033378" y="1794779"/>
            <a:ext cx="0" cy="157216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4083989" y="2002606"/>
            <a:ext cx="50299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V="1">
            <a:off x="4637594" y="1794779"/>
            <a:ext cx="0" cy="157216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Freeform 77"/>
          <p:cNvSpPr/>
          <p:nvPr/>
        </p:nvSpPr>
        <p:spPr>
          <a:xfrm>
            <a:off x="3987800" y="17907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1" y="0"/>
                </a:lnTo>
                <a:lnTo>
                  <a:pt x="1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Freeform 78"/>
          <p:cNvSpPr/>
          <p:nvPr/>
        </p:nvSpPr>
        <p:spPr>
          <a:xfrm>
            <a:off x="3987800" y="18542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0" y="0"/>
                </a:lnTo>
                <a:lnTo>
                  <a:pt x="1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Freeform 79"/>
          <p:cNvSpPr/>
          <p:nvPr/>
        </p:nvSpPr>
        <p:spPr>
          <a:xfrm>
            <a:off x="3987800" y="19177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1" name="Connector 80"/>
          <p:cNvCxnSpPr/>
          <p:nvPr/>
        </p:nvCxnSpPr>
        <p:spPr>
          <a:xfrm flipH="1">
            <a:off x="3967040" y="1176926"/>
            <a:ext cx="655586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3916429" y="1227537"/>
            <a:ext cx="0" cy="31689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3967040" y="1595041"/>
            <a:ext cx="655586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 flipV="1">
            <a:off x="4673237" y="1227537"/>
            <a:ext cx="0" cy="31689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Freeform 84"/>
          <p:cNvSpPr/>
          <p:nvPr/>
        </p:nvSpPr>
        <p:spPr>
          <a:xfrm>
            <a:off x="3975100" y="1727200"/>
            <a:ext cx="635000" cy="254000"/>
          </a:xfrm>
          <a:custGeom>
            <a:avLst/>
            <a:gdLst/>
            <a:ahLst/>
            <a:cxnLst/>
            <a:rect l="l" t="t" r="r" b="b"/>
            <a:pathLst>
              <a:path w="50" h="20">
                <a:moveTo>
                  <a:pt x="46" y="0"/>
                </a:moveTo>
                <a:lnTo>
                  <a:pt x="4" y="0"/>
                </a:lnTo>
                <a:lnTo>
                  <a:pt x="3" y="0"/>
                </a:lnTo>
                <a:lnTo>
                  <a:pt x="3" y="0"/>
                </a:lnTo>
                <a:lnTo>
                  <a:pt x="2" y="1"/>
                </a:lnTo>
                <a:lnTo>
                  <a:pt x="1" y="1"/>
                </a:lnTo>
                <a:lnTo>
                  <a:pt x="1" y="2"/>
                </a:lnTo>
                <a:lnTo>
                  <a:pt x="1" y="3"/>
                </a:lnTo>
                <a:lnTo>
                  <a:pt x="0" y="3"/>
                </a:lnTo>
                <a:lnTo>
                  <a:pt x="0" y="4"/>
                </a:lnTo>
                <a:lnTo>
                  <a:pt x="0" y="16"/>
                </a:lnTo>
                <a:lnTo>
                  <a:pt x="0" y="17"/>
                </a:lnTo>
                <a:lnTo>
                  <a:pt x="1" y="18"/>
                </a:lnTo>
                <a:lnTo>
                  <a:pt x="1" y="19"/>
                </a:lnTo>
                <a:lnTo>
                  <a:pt x="1" y="19"/>
                </a:lnTo>
                <a:lnTo>
                  <a:pt x="2" y="20"/>
                </a:lnTo>
                <a:lnTo>
                  <a:pt x="3" y="20"/>
                </a:lnTo>
                <a:lnTo>
                  <a:pt x="3" y="20"/>
                </a:lnTo>
                <a:lnTo>
                  <a:pt x="4" y="20"/>
                </a:lnTo>
                <a:lnTo>
                  <a:pt x="46" y="20"/>
                </a:lnTo>
                <a:lnTo>
                  <a:pt x="47" y="20"/>
                </a:lnTo>
                <a:lnTo>
                  <a:pt x="48" y="20"/>
                </a:lnTo>
                <a:lnTo>
                  <a:pt x="48" y="20"/>
                </a:lnTo>
                <a:lnTo>
                  <a:pt x="49" y="19"/>
                </a:lnTo>
                <a:lnTo>
                  <a:pt x="49" y="19"/>
                </a:lnTo>
                <a:lnTo>
                  <a:pt x="50" y="18"/>
                </a:lnTo>
                <a:lnTo>
                  <a:pt x="50" y="17"/>
                </a:lnTo>
                <a:lnTo>
                  <a:pt x="50" y="16"/>
                </a:lnTo>
                <a:lnTo>
                  <a:pt x="50" y="4"/>
                </a:lnTo>
                <a:lnTo>
                  <a:pt x="50" y="3"/>
                </a:lnTo>
                <a:lnTo>
                  <a:pt x="50" y="3"/>
                </a:lnTo>
                <a:lnTo>
                  <a:pt x="49" y="2"/>
                </a:lnTo>
                <a:lnTo>
                  <a:pt x="49" y="1"/>
                </a:lnTo>
                <a:lnTo>
                  <a:pt x="48" y="1"/>
                </a:lnTo>
                <a:lnTo>
                  <a:pt x="48" y="0"/>
                </a:lnTo>
                <a:lnTo>
                  <a:pt x="47" y="0"/>
                </a:lnTo>
                <a:lnTo>
                  <a:pt x="46" y="0"/>
                </a:lnTo>
                <a:close/>
              </a:path>
            </a:pathLst>
          </a:custGeom>
          <a:solidFill>
            <a:srgbClr val="003373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6" name="Connector 85"/>
          <p:cNvCxnSpPr/>
          <p:nvPr/>
        </p:nvCxnSpPr>
        <p:spPr>
          <a:xfrm>
            <a:off x="4294833" y="1597571"/>
            <a:ext cx="0" cy="10382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Freeform 86"/>
          <p:cNvSpPr/>
          <p:nvPr/>
        </p:nvSpPr>
        <p:spPr>
          <a:xfrm>
            <a:off x="4279900" y="16891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0"/>
                </a:lnTo>
                <a:lnTo>
                  <a:pt x="1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8" name="Connector 87"/>
          <p:cNvCxnSpPr/>
          <p:nvPr/>
        </p:nvCxnSpPr>
        <p:spPr>
          <a:xfrm flipV="1">
            <a:off x="3483454" y="1143260"/>
            <a:ext cx="516532" cy="18681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>
            <a:off x="3483454" y="1614070"/>
            <a:ext cx="590049" cy="44848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Rectangle 89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2880004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2" name="Picture 9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93" name="Picture 9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94" name="TextBox 93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Genetic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algorithm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160868" y="1010084"/>
            <a:ext cx="4624527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Problem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formulation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2446311" y="999835"/>
            <a:ext cx="3339084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Initialisation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population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2756445" y="1412953"/>
            <a:ext cx="3028950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Reproduction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854718" y="1822948"/>
            <a:ext cx="2930677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Mutation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2422854" y="2218019"/>
            <a:ext cx="3362541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Replacement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population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034776" y="2225487"/>
            <a:ext cx="1750619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Termination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119435" y="1824522"/>
            <a:ext cx="1665960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Selection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008525" y="1257277"/>
            <a:ext cx="1776870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Selection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as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4002493" y="1396456"/>
            <a:ext cx="1782902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parent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pairs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4063758" y="1806450"/>
            <a:ext cx="1721637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FFFFFF"/>
                </a:solidFill>
                <a:latin typeface="Josefin Sans"/>
              </a:rPr>
              <a:t>Crossover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4898770" y="3150917"/>
            <a:ext cx="8866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622442" y="3150693"/>
            <a:ext cx="16295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65</a:t>
            </a:r>
          </a:p>
        </p:txBody>
      </p:sp>
    </p:spTree>
  </p:cSld>
  <p:clrMapOvr>
    <a:masterClrMapping/>
  </p:clrMapOvr>
</p:sld>
</file>

<file path=ppt/slides/slide1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5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Example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1104853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next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question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how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perform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crossover?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How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decide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9993" y="1276925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crossover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point?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98771" y="3150917"/>
            <a:ext cx="88662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22290" y="3150693"/>
            <a:ext cx="16310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66</a:t>
            </a:r>
          </a:p>
        </p:txBody>
      </p:sp>
    </p:spTree>
  </p:cSld>
  <p:clrMapOvr>
    <a:masterClrMapping/>
  </p:clrMapOvr>
</p:sld>
</file>

<file path=ppt/slides/slide1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5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Example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1104853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next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question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how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perform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crossover?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How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decide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9993" y="1276925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crossover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point?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9995" y="1587415"/>
            <a:ext cx="54254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For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each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pair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parents,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generate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random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integer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number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between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0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n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9995" y="1759488"/>
            <a:ext cx="542540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where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length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individual,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0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denotes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position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left-most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bit.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898771" y="3150917"/>
            <a:ext cx="88662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22290" y="3150693"/>
            <a:ext cx="16310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66</a:t>
            </a:r>
          </a:p>
        </p:txBody>
      </p:sp>
    </p:spTree>
  </p:cSld>
  <p:clrMapOvr>
    <a:masterClrMapping/>
  </p:clrMapOvr>
</p:sld>
</file>

<file path=ppt/slides/slide2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5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Example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1104853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next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question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how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perform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crossover?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How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decide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9993" y="1276925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crossover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point?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9995" y="1587415"/>
            <a:ext cx="54254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For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each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pair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parents,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generate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random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integer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number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between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0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n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9995" y="1759488"/>
            <a:ext cx="542540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where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length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individual,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0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denotes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position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left-most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bit.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9995" y="2069966"/>
            <a:ext cx="542540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crossover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point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point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after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bit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denoted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random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integer.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98771" y="3150919"/>
            <a:ext cx="88662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622290" y="3150695"/>
            <a:ext cx="16310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66</a:t>
            </a:r>
          </a:p>
        </p:txBody>
      </p:sp>
    </p:spTree>
  </p:cSld>
  <p:clrMapOvr>
    <a:masterClrMapping/>
  </p:clrMapOvr>
</p:sld>
</file>

<file path=ppt/slides/slide2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920686" y="1106398"/>
            <a:ext cx="415404" cy="170814"/>
          </a:xfrm>
          <a:prstGeom prst="rect">
            <a:avLst/>
          </a:prstGeom>
          <a:solidFill>
            <a:srgbClr val="6BAE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336103" y="1106398"/>
            <a:ext cx="811606" cy="170814"/>
          </a:xfrm>
          <a:prstGeom prst="rect">
            <a:avLst/>
          </a:prstGeom>
          <a:solidFill>
            <a:srgbClr val="429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147709" y="1106398"/>
            <a:ext cx="888771" cy="170814"/>
          </a:xfrm>
          <a:prstGeom prst="rect">
            <a:avLst/>
          </a:prstGeom>
          <a:solidFill>
            <a:srgbClr val="3182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036467" y="1106398"/>
            <a:ext cx="895502" cy="170814"/>
          </a:xfrm>
          <a:prstGeom prst="rect">
            <a:avLst/>
          </a:prstGeom>
          <a:solidFill>
            <a:srgbClr val="217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931970" y="1106398"/>
            <a:ext cx="458025" cy="170814"/>
          </a:xfrm>
          <a:prstGeom prst="rect">
            <a:avLst/>
          </a:prstGeom>
          <a:solidFill>
            <a:srgbClr val="085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389995" y="1106398"/>
            <a:ext cx="480390" cy="170814"/>
          </a:xfrm>
          <a:prstGeom prst="rect">
            <a:avLst/>
          </a:prstGeom>
          <a:solidFill>
            <a:srgbClr val="0830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20691" y="1448016"/>
            <a:ext cx="415404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336108" y="1448016"/>
            <a:ext cx="256920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593016" y="1448016"/>
            <a:ext cx="554685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2147715" y="1448016"/>
            <a:ext cx="303314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2451017" y="1448016"/>
            <a:ext cx="585457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3036475" y="1448016"/>
            <a:ext cx="895502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3931977" y="1448016"/>
            <a:ext cx="458025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4389998" y="1448016"/>
            <a:ext cx="480390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920687" y="1789634"/>
            <a:ext cx="415404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1336105" y="1789634"/>
            <a:ext cx="256920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593013" y="1789634"/>
            <a:ext cx="554685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2147712" y="1789634"/>
            <a:ext cx="303314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2451013" y="1789634"/>
            <a:ext cx="585457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3036472" y="1789634"/>
            <a:ext cx="895502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3931974" y="1789634"/>
            <a:ext cx="458025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4389998" y="1789634"/>
            <a:ext cx="480390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7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2880012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0" name="Picture 5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61" name="Picture 6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62" name="TextBox 61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Example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1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96606" y="1135342"/>
            <a:ext cx="478878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1">
                <a:solidFill>
                  <a:srgbClr val="FFFFFF"/>
                </a:solidFill>
                <a:latin typeface="Josefin Sans"/>
              </a:rPr>
              <a:t>Label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537842" y="1135342"/>
            <a:ext cx="424755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1">
                <a:solidFill>
                  <a:srgbClr val="FFFFFF"/>
                </a:solidFill>
                <a:latin typeface="Josefin Sans"/>
              </a:rPr>
              <a:t>Parent</a:t>
            </a:r>
            <a:r>
              <a:rPr sz="797" b="1">
                <a:solidFill>
                  <a:srgbClr val="FFFFFF"/>
                </a:solidFill>
                <a:latin typeface="Josefin Sans"/>
              </a:rPr>
              <a:t> </a:t>
            </a:r>
            <a:r>
              <a:rPr sz="797" b="1">
                <a:solidFill>
                  <a:srgbClr val="FFFFFF"/>
                </a:solidFill>
                <a:latin typeface="Josefin Sans"/>
              </a:rPr>
              <a:t>A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391879" y="1135342"/>
            <a:ext cx="3393516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1">
                <a:solidFill>
                  <a:srgbClr val="FFFFFF"/>
                </a:solidFill>
                <a:latin typeface="Josefin Sans"/>
              </a:rPr>
              <a:t>Parent</a:t>
            </a:r>
            <a:r>
              <a:rPr sz="797" b="1">
                <a:solidFill>
                  <a:srgbClr val="FFFFFF"/>
                </a:solidFill>
                <a:latin typeface="Josefin Sans"/>
              </a:rPr>
              <a:t> </a:t>
            </a:r>
            <a:r>
              <a:rPr sz="797" b="1">
                <a:solidFill>
                  <a:srgbClr val="FFFFFF"/>
                </a:solidFill>
                <a:latin typeface="Josefin Sans"/>
              </a:rPr>
              <a:t>B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112388" y="1135342"/>
            <a:ext cx="267300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1">
                <a:solidFill>
                  <a:srgbClr val="FFFFFF"/>
                </a:solidFill>
                <a:latin typeface="Josefin Sans"/>
              </a:rPr>
              <a:t>Random</a:t>
            </a:r>
            <a:r>
              <a:rPr sz="797" b="1">
                <a:solidFill>
                  <a:srgbClr val="FFFFFF"/>
                </a:solidFill>
                <a:latin typeface="Josefin Sans"/>
              </a:rPr>
              <a:t> </a:t>
            </a:r>
            <a:r>
              <a:rPr sz="797" b="1">
                <a:solidFill>
                  <a:srgbClr val="FFFFFF"/>
                </a:solidFill>
                <a:latin typeface="Josefin Sans"/>
              </a:rPr>
              <a:t>integer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007878" y="1135342"/>
            <a:ext cx="177751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1">
                <a:solidFill>
                  <a:srgbClr val="FFFFFF"/>
                </a:solidFill>
                <a:latin typeface="Josefin Sans"/>
              </a:rPr>
              <a:t>Child</a:t>
            </a:r>
            <a:r>
              <a:rPr sz="797" b="1">
                <a:solidFill>
                  <a:srgbClr val="FFFFFF"/>
                </a:solidFill>
                <a:latin typeface="Josefin Sans"/>
              </a:rPr>
              <a:t> </a:t>
            </a:r>
            <a:r>
              <a:rPr sz="797" b="1">
                <a:solidFill>
                  <a:srgbClr val="FFFFFF"/>
                </a:solidFill>
                <a:latin typeface="Josefin Sans"/>
              </a:rPr>
              <a:t>1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465903" y="1135342"/>
            <a:ext cx="131949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1">
                <a:solidFill>
                  <a:srgbClr val="FFFFFF"/>
                </a:solidFill>
                <a:latin typeface="Josefin Sans"/>
              </a:rPr>
              <a:t>Child</a:t>
            </a:r>
            <a:r>
              <a:rPr sz="797" b="1">
                <a:solidFill>
                  <a:srgbClr val="FFFFFF"/>
                </a:solidFill>
                <a:latin typeface="Josefin Sans"/>
              </a:rPr>
              <a:t> </a:t>
            </a:r>
            <a:r>
              <a:rPr sz="797" b="1">
                <a:solidFill>
                  <a:srgbClr val="FFFFFF"/>
                </a:solidFill>
                <a:latin typeface="Josefin Sans"/>
              </a:rPr>
              <a:t>2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74965" y="1307555"/>
            <a:ext cx="471043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p</a:t>
            </a:r>
            <a:r>
              <a:rPr sz="5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412011" y="1307555"/>
            <a:ext cx="437338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v</a:t>
            </a:r>
            <a:r>
              <a:rPr sz="597" b="0">
                <a:solidFill>
                  <a:srgbClr val="000000"/>
                </a:solidFill>
                <a:latin typeface="Cambria Math"/>
              </a:rPr>
              <a:t>9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668932" y="1305858"/>
            <a:ext cx="411646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0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1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246820" y="1307555"/>
            <a:ext cx="353857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v</a:t>
            </a:r>
            <a:r>
              <a:rPr sz="5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542311" y="1305859"/>
            <a:ext cx="324308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1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1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458566" y="1305859"/>
            <a:ext cx="232682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74970" y="1478358"/>
            <a:ext cx="471042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p</a:t>
            </a:r>
            <a:r>
              <a:rPr sz="59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412016" y="1478358"/>
            <a:ext cx="437338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v</a:t>
            </a:r>
            <a:r>
              <a:rPr sz="597" b="0">
                <a:solidFill>
                  <a:srgbClr val="000000"/>
                </a:solidFill>
                <a:latin typeface="Cambria Math"/>
              </a:rPr>
              <a:t>4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668937" y="1476661"/>
            <a:ext cx="411645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1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0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1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246826" y="1478358"/>
            <a:ext cx="353856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v</a:t>
            </a:r>
            <a:r>
              <a:rPr sz="5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542317" y="1476661"/>
            <a:ext cx="324307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1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1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452896" y="1476661"/>
            <a:ext cx="233249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74967" y="1649172"/>
            <a:ext cx="471042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p</a:t>
            </a:r>
            <a:r>
              <a:rPr sz="597" b="0">
                <a:solidFill>
                  <a:srgbClr val="000000"/>
                </a:solidFill>
                <a:latin typeface="Cambria Math"/>
              </a:rP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412012" y="1649172"/>
            <a:ext cx="437338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v</a:t>
            </a:r>
            <a:r>
              <a:rPr sz="597" b="0">
                <a:solidFill>
                  <a:srgbClr val="000000"/>
                </a:solidFill>
                <a:latin typeface="Cambria Math"/>
              </a:rPr>
              <a:t>8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684313" y="1647476"/>
            <a:ext cx="410108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1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0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1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2246820" y="1649174"/>
            <a:ext cx="353857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v</a:t>
            </a:r>
            <a:r>
              <a:rPr sz="597" b="0">
                <a:solidFill>
                  <a:srgbClr val="000000"/>
                </a:solidFill>
                <a:latin typeface="Cambria Math"/>
              </a:rPr>
              <a:t>9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2542311" y="1647477"/>
            <a:ext cx="324308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0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1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458563" y="1647477"/>
            <a:ext cx="232683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74967" y="1819976"/>
            <a:ext cx="471042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p</a:t>
            </a:r>
            <a:r>
              <a:rPr sz="597" b="0">
                <a:solidFill>
                  <a:srgbClr val="000000"/>
                </a:solidFill>
                <a:latin typeface="Cambria Math"/>
              </a:rP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412012" y="1819976"/>
            <a:ext cx="437338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v</a:t>
            </a:r>
            <a:r>
              <a:rPr sz="597" b="0">
                <a:solidFill>
                  <a:srgbClr val="000000"/>
                </a:solidFill>
                <a:latin typeface="Cambria Math"/>
              </a:rPr>
              <a:t>6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668933" y="1818279"/>
            <a:ext cx="411646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1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1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0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223620" y="1819975"/>
            <a:ext cx="356177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v</a:t>
            </a:r>
            <a:r>
              <a:rPr sz="597" b="0">
                <a:solidFill>
                  <a:srgbClr val="000000"/>
                </a:solidFill>
                <a:latin typeface="Cambria Math"/>
              </a:rPr>
              <a:t>10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526934" y="1818279"/>
            <a:ext cx="325846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0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0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3468285" y="1818279"/>
            <a:ext cx="231711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74970" y="1990790"/>
            <a:ext cx="471042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p</a:t>
            </a:r>
            <a:r>
              <a:rPr sz="597" b="0">
                <a:solidFill>
                  <a:srgbClr val="000000"/>
                </a:solidFill>
                <a:latin typeface="Cambria Math"/>
              </a:rPr>
              <a:t>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412016" y="1990790"/>
            <a:ext cx="437338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v</a:t>
            </a:r>
            <a:r>
              <a:rPr sz="59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699709" y="1989093"/>
            <a:ext cx="408568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1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1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1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2246823" y="1990790"/>
            <a:ext cx="353857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v</a:t>
            </a:r>
            <a:r>
              <a:rPr sz="597" b="0">
                <a:solidFill>
                  <a:srgbClr val="000000"/>
                </a:solidFill>
                <a:latin typeface="Cambria Math"/>
              </a:rPr>
              <a:t>8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2557706" y="1989093"/>
            <a:ext cx="322768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1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0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1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3468285" y="1989093"/>
            <a:ext cx="231711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898778" y="3150918"/>
            <a:ext cx="88661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5626324" y="3150694"/>
            <a:ext cx="15907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67</a:t>
            </a:r>
          </a:p>
        </p:txBody>
      </p:sp>
    </p:spTree>
  </p:cSld>
  <p:clrMapOvr>
    <a:masterClrMapping/>
  </p:clrMapOvr>
</p:sld>
</file>

<file path=ppt/slides/slide2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920686" y="1106398"/>
            <a:ext cx="415404" cy="170814"/>
          </a:xfrm>
          <a:prstGeom prst="rect">
            <a:avLst/>
          </a:prstGeom>
          <a:solidFill>
            <a:srgbClr val="6BAE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336103" y="1106398"/>
            <a:ext cx="811606" cy="170814"/>
          </a:xfrm>
          <a:prstGeom prst="rect">
            <a:avLst/>
          </a:prstGeom>
          <a:solidFill>
            <a:srgbClr val="429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147709" y="1106398"/>
            <a:ext cx="888771" cy="170814"/>
          </a:xfrm>
          <a:prstGeom prst="rect">
            <a:avLst/>
          </a:prstGeom>
          <a:solidFill>
            <a:srgbClr val="3182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036467" y="1106398"/>
            <a:ext cx="895502" cy="170814"/>
          </a:xfrm>
          <a:prstGeom prst="rect">
            <a:avLst/>
          </a:prstGeom>
          <a:solidFill>
            <a:srgbClr val="217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931970" y="1106398"/>
            <a:ext cx="458025" cy="170814"/>
          </a:xfrm>
          <a:prstGeom prst="rect">
            <a:avLst/>
          </a:prstGeom>
          <a:solidFill>
            <a:srgbClr val="085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389995" y="1106398"/>
            <a:ext cx="480390" cy="170814"/>
          </a:xfrm>
          <a:prstGeom prst="rect">
            <a:avLst/>
          </a:prstGeom>
          <a:solidFill>
            <a:srgbClr val="0830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20691" y="1448016"/>
            <a:ext cx="415404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336108" y="1448016"/>
            <a:ext cx="256920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593016" y="1448016"/>
            <a:ext cx="554685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2147715" y="1448016"/>
            <a:ext cx="303314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2451017" y="1448016"/>
            <a:ext cx="585457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3036475" y="1448016"/>
            <a:ext cx="895502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3931977" y="1448016"/>
            <a:ext cx="458025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4389998" y="1448016"/>
            <a:ext cx="480390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920687" y="1789634"/>
            <a:ext cx="415404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1336105" y="1789634"/>
            <a:ext cx="256920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593013" y="1789634"/>
            <a:ext cx="554685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2147712" y="1789634"/>
            <a:ext cx="303314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2451013" y="1789634"/>
            <a:ext cx="585457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3036472" y="1789634"/>
            <a:ext cx="895502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3931974" y="1789634"/>
            <a:ext cx="458025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4389998" y="1789634"/>
            <a:ext cx="480390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7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2880012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0" name="Picture 5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61" name="Picture 6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62" name="TextBox 61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Example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1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96606" y="1135342"/>
            <a:ext cx="478878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1">
                <a:solidFill>
                  <a:srgbClr val="FFFFFF"/>
                </a:solidFill>
                <a:latin typeface="Josefin Sans"/>
              </a:rPr>
              <a:t>Label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537842" y="1135342"/>
            <a:ext cx="424755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1">
                <a:solidFill>
                  <a:srgbClr val="FFFFFF"/>
                </a:solidFill>
                <a:latin typeface="Josefin Sans"/>
              </a:rPr>
              <a:t>Parent</a:t>
            </a:r>
            <a:r>
              <a:rPr sz="797" b="1">
                <a:solidFill>
                  <a:srgbClr val="FFFFFF"/>
                </a:solidFill>
                <a:latin typeface="Josefin Sans"/>
              </a:rPr>
              <a:t> </a:t>
            </a:r>
            <a:r>
              <a:rPr sz="797" b="1">
                <a:solidFill>
                  <a:srgbClr val="FFFFFF"/>
                </a:solidFill>
                <a:latin typeface="Josefin Sans"/>
              </a:rPr>
              <a:t>A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391879" y="1135342"/>
            <a:ext cx="3393516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1">
                <a:solidFill>
                  <a:srgbClr val="FFFFFF"/>
                </a:solidFill>
                <a:latin typeface="Josefin Sans"/>
              </a:rPr>
              <a:t>Parent</a:t>
            </a:r>
            <a:r>
              <a:rPr sz="797" b="1">
                <a:solidFill>
                  <a:srgbClr val="FFFFFF"/>
                </a:solidFill>
                <a:latin typeface="Josefin Sans"/>
              </a:rPr>
              <a:t> </a:t>
            </a:r>
            <a:r>
              <a:rPr sz="797" b="1">
                <a:solidFill>
                  <a:srgbClr val="FFFFFF"/>
                </a:solidFill>
                <a:latin typeface="Josefin Sans"/>
              </a:rPr>
              <a:t>B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112388" y="1135342"/>
            <a:ext cx="267300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1">
                <a:solidFill>
                  <a:srgbClr val="FFFFFF"/>
                </a:solidFill>
                <a:latin typeface="Josefin Sans"/>
              </a:rPr>
              <a:t>Random</a:t>
            </a:r>
            <a:r>
              <a:rPr sz="797" b="1">
                <a:solidFill>
                  <a:srgbClr val="FFFFFF"/>
                </a:solidFill>
                <a:latin typeface="Josefin Sans"/>
              </a:rPr>
              <a:t> </a:t>
            </a:r>
            <a:r>
              <a:rPr sz="797" b="1">
                <a:solidFill>
                  <a:srgbClr val="FFFFFF"/>
                </a:solidFill>
                <a:latin typeface="Josefin Sans"/>
              </a:rPr>
              <a:t>integer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007878" y="1135342"/>
            <a:ext cx="177751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1">
                <a:solidFill>
                  <a:srgbClr val="FFFFFF"/>
                </a:solidFill>
                <a:latin typeface="Josefin Sans"/>
              </a:rPr>
              <a:t>Child</a:t>
            </a:r>
            <a:r>
              <a:rPr sz="797" b="1">
                <a:solidFill>
                  <a:srgbClr val="FFFFFF"/>
                </a:solidFill>
                <a:latin typeface="Josefin Sans"/>
              </a:rPr>
              <a:t> </a:t>
            </a:r>
            <a:r>
              <a:rPr sz="797" b="1">
                <a:solidFill>
                  <a:srgbClr val="FFFFFF"/>
                </a:solidFill>
                <a:latin typeface="Josefin Sans"/>
              </a:rPr>
              <a:t>1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465903" y="1135342"/>
            <a:ext cx="131949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1">
                <a:solidFill>
                  <a:srgbClr val="FFFFFF"/>
                </a:solidFill>
                <a:latin typeface="Josefin Sans"/>
              </a:rPr>
              <a:t>Child</a:t>
            </a:r>
            <a:r>
              <a:rPr sz="797" b="1">
                <a:solidFill>
                  <a:srgbClr val="FFFFFF"/>
                </a:solidFill>
                <a:latin typeface="Josefin Sans"/>
              </a:rPr>
              <a:t> </a:t>
            </a:r>
            <a:r>
              <a:rPr sz="797" b="1">
                <a:solidFill>
                  <a:srgbClr val="FFFFFF"/>
                </a:solidFill>
                <a:latin typeface="Josefin Sans"/>
              </a:rPr>
              <a:t>2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74965" y="1307555"/>
            <a:ext cx="471043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p</a:t>
            </a:r>
            <a:r>
              <a:rPr sz="5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412011" y="1307555"/>
            <a:ext cx="437338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v</a:t>
            </a:r>
            <a:r>
              <a:rPr sz="597" b="0">
                <a:solidFill>
                  <a:srgbClr val="000000"/>
                </a:solidFill>
                <a:latin typeface="Cambria Math"/>
              </a:rPr>
              <a:t>9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668932" y="1305858"/>
            <a:ext cx="411646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0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1—1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246820" y="1307555"/>
            <a:ext cx="353857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v</a:t>
            </a:r>
            <a:r>
              <a:rPr sz="5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542311" y="1305859"/>
            <a:ext cx="324308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1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1—0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458566" y="1305859"/>
            <a:ext cx="232682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051059" y="1305859"/>
            <a:ext cx="1734336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0010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51035" y="1305859"/>
            <a:ext cx="123436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0111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74970" y="1478358"/>
            <a:ext cx="471042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p</a:t>
            </a:r>
            <a:r>
              <a:rPr sz="59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412016" y="1478358"/>
            <a:ext cx="437338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v</a:t>
            </a:r>
            <a:r>
              <a:rPr sz="597" b="0">
                <a:solidFill>
                  <a:srgbClr val="000000"/>
                </a:solidFill>
                <a:latin typeface="Cambria Math"/>
              </a:rPr>
              <a:t>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668937" y="1476661"/>
            <a:ext cx="411645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1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0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1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2246826" y="1478358"/>
            <a:ext cx="353856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v</a:t>
            </a:r>
            <a:r>
              <a:rPr sz="5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542317" y="1476661"/>
            <a:ext cx="324307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1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1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452896" y="1476661"/>
            <a:ext cx="233249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74967" y="1649172"/>
            <a:ext cx="471042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p</a:t>
            </a:r>
            <a:r>
              <a:rPr sz="597" b="0">
                <a:solidFill>
                  <a:srgbClr val="000000"/>
                </a:solidFill>
                <a:latin typeface="Cambria Math"/>
              </a:rPr>
              <a:t>3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412012" y="1649172"/>
            <a:ext cx="437338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v</a:t>
            </a:r>
            <a:r>
              <a:rPr sz="597" b="0">
                <a:solidFill>
                  <a:srgbClr val="000000"/>
                </a:solidFill>
                <a:latin typeface="Cambria Math"/>
              </a:rPr>
              <a:t>8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684313" y="1647476"/>
            <a:ext cx="410108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1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0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1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2246820" y="1649174"/>
            <a:ext cx="353857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v</a:t>
            </a:r>
            <a:r>
              <a:rPr sz="597" b="0">
                <a:solidFill>
                  <a:srgbClr val="000000"/>
                </a:solidFill>
                <a:latin typeface="Cambria Math"/>
              </a:rPr>
              <a:t>9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542311" y="1647477"/>
            <a:ext cx="324308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0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1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458563" y="1647477"/>
            <a:ext cx="232683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74967" y="1819976"/>
            <a:ext cx="471042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p</a:t>
            </a:r>
            <a:r>
              <a:rPr sz="597" b="0">
                <a:solidFill>
                  <a:srgbClr val="000000"/>
                </a:solidFill>
                <a:latin typeface="Cambria Math"/>
              </a:rPr>
              <a:t>4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412012" y="1819976"/>
            <a:ext cx="437338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v</a:t>
            </a:r>
            <a:r>
              <a:rPr sz="597" b="0">
                <a:solidFill>
                  <a:srgbClr val="000000"/>
                </a:solidFill>
                <a:latin typeface="Cambria Math"/>
              </a:rPr>
              <a:t>6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668933" y="1818279"/>
            <a:ext cx="411646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1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1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0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2223620" y="1819975"/>
            <a:ext cx="356177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v</a:t>
            </a:r>
            <a:r>
              <a:rPr sz="597" b="0">
                <a:solidFill>
                  <a:srgbClr val="000000"/>
                </a:solidFill>
                <a:latin typeface="Cambria Math"/>
              </a:rPr>
              <a:t>10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526934" y="1818279"/>
            <a:ext cx="325846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0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0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3468285" y="1818279"/>
            <a:ext cx="231711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074970" y="1990790"/>
            <a:ext cx="471042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p</a:t>
            </a:r>
            <a:r>
              <a:rPr sz="597" b="0">
                <a:solidFill>
                  <a:srgbClr val="000000"/>
                </a:solidFill>
                <a:latin typeface="Cambria Math"/>
              </a:rPr>
              <a:t>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412016" y="1990790"/>
            <a:ext cx="437338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v</a:t>
            </a:r>
            <a:r>
              <a:rPr sz="59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699709" y="1989093"/>
            <a:ext cx="408568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1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1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1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246823" y="1990790"/>
            <a:ext cx="353857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v</a:t>
            </a:r>
            <a:r>
              <a:rPr sz="597" b="0">
                <a:solidFill>
                  <a:srgbClr val="000000"/>
                </a:solidFill>
                <a:latin typeface="Cambria Math"/>
              </a:rPr>
              <a:t>8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2557706" y="1989093"/>
            <a:ext cx="322768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1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0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1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468285" y="1989093"/>
            <a:ext cx="231711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898778" y="3150918"/>
            <a:ext cx="88661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5626324" y="3150694"/>
            <a:ext cx="15907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67</a:t>
            </a:r>
          </a:p>
        </p:txBody>
      </p:sp>
    </p:spTree>
  </p:cSld>
  <p:clrMapOvr>
    <a:masterClrMapping/>
  </p:clrMapOvr>
</p:sld>
</file>

<file path=ppt/slides/slide2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920686" y="1106398"/>
            <a:ext cx="415404" cy="170814"/>
          </a:xfrm>
          <a:prstGeom prst="rect">
            <a:avLst/>
          </a:prstGeom>
          <a:solidFill>
            <a:srgbClr val="6BAE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336103" y="1106398"/>
            <a:ext cx="811606" cy="170814"/>
          </a:xfrm>
          <a:prstGeom prst="rect">
            <a:avLst/>
          </a:prstGeom>
          <a:solidFill>
            <a:srgbClr val="429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147709" y="1106398"/>
            <a:ext cx="888771" cy="170814"/>
          </a:xfrm>
          <a:prstGeom prst="rect">
            <a:avLst/>
          </a:prstGeom>
          <a:solidFill>
            <a:srgbClr val="3182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036467" y="1106398"/>
            <a:ext cx="895502" cy="170814"/>
          </a:xfrm>
          <a:prstGeom prst="rect">
            <a:avLst/>
          </a:prstGeom>
          <a:solidFill>
            <a:srgbClr val="217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931970" y="1106398"/>
            <a:ext cx="458025" cy="170814"/>
          </a:xfrm>
          <a:prstGeom prst="rect">
            <a:avLst/>
          </a:prstGeom>
          <a:solidFill>
            <a:srgbClr val="085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389995" y="1106398"/>
            <a:ext cx="480390" cy="170814"/>
          </a:xfrm>
          <a:prstGeom prst="rect">
            <a:avLst/>
          </a:prstGeom>
          <a:solidFill>
            <a:srgbClr val="0830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20691" y="1448016"/>
            <a:ext cx="415404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336108" y="1448016"/>
            <a:ext cx="256920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593016" y="1448016"/>
            <a:ext cx="554685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2147715" y="1448016"/>
            <a:ext cx="303314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2451017" y="1448016"/>
            <a:ext cx="585457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3036475" y="1448016"/>
            <a:ext cx="895502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3931977" y="1448016"/>
            <a:ext cx="458025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4390001" y="1448016"/>
            <a:ext cx="480390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920694" y="1789634"/>
            <a:ext cx="415404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1336111" y="1789634"/>
            <a:ext cx="256920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593019" y="1789634"/>
            <a:ext cx="554685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2147718" y="1789634"/>
            <a:ext cx="303314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2451020" y="1789634"/>
            <a:ext cx="585457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3036478" y="1789634"/>
            <a:ext cx="895502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3931980" y="1789634"/>
            <a:ext cx="458025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4390004" y="1789634"/>
            <a:ext cx="480390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13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2880018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0" name="Picture 5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61" name="Picture 6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62" name="TextBox 61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Example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1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96606" y="1135342"/>
            <a:ext cx="478878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1">
                <a:solidFill>
                  <a:srgbClr val="FFFFFF"/>
                </a:solidFill>
                <a:latin typeface="Josefin Sans"/>
              </a:rPr>
              <a:t>Label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537842" y="1135342"/>
            <a:ext cx="424755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1">
                <a:solidFill>
                  <a:srgbClr val="FFFFFF"/>
                </a:solidFill>
                <a:latin typeface="Josefin Sans"/>
              </a:rPr>
              <a:t>Parent</a:t>
            </a:r>
            <a:r>
              <a:rPr sz="797" b="1">
                <a:solidFill>
                  <a:srgbClr val="FFFFFF"/>
                </a:solidFill>
                <a:latin typeface="Josefin Sans"/>
              </a:rPr>
              <a:t> </a:t>
            </a:r>
            <a:r>
              <a:rPr sz="797" b="1">
                <a:solidFill>
                  <a:srgbClr val="FFFFFF"/>
                </a:solidFill>
                <a:latin typeface="Josefin Sans"/>
              </a:rPr>
              <a:t>A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391879" y="1135342"/>
            <a:ext cx="3393516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1">
                <a:solidFill>
                  <a:srgbClr val="FFFFFF"/>
                </a:solidFill>
                <a:latin typeface="Josefin Sans"/>
              </a:rPr>
              <a:t>Parent</a:t>
            </a:r>
            <a:r>
              <a:rPr sz="797" b="1">
                <a:solidFill>
                  <a:srgbClr val="FFFFFF"/>
                </a:solidFill>
                <a:latin typeface="Josefin Sans"/>
              </a:rPr>
              <a:t> </a:t>
            </a:r>
            <a:r>
              <a:rPr sz="797" b="1">
                <a:solidFill>
                  <a:srgbClr val="FFFFFF"/>
                </a:solidFill>
                <a:latin typeface="Josefin Sans"/>
              </a:rPr>
              <a:t>B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112388" y="1135342"/>
            <a:ext cx="267300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1">
                <a:solidFill>
                  <a:srgbClr val="FFFFFF"/>
                </a:solidFill>
                <a:latin typeface="Josefin Sans"/>
              </a:rPr>
              <a:t>Random</a:t>
            </a:r>
            <a:r>
              <a:rPr sz="797" b="1">
                <a:solidFill>
                  <a:srgbClr val="FFFFFF"/>
                </a:solidFill>
                <a:latin typeface="Josefin Sans"/>
              </a:rPr>
              <a:t> </a:t>
            </a:r>
            <a:r>
              <a:rPr sz="797" b="1">
                <a:solidFill>
                  <a:srgbClr val="FFFFFF"/>
                </a:solidFill>
                <a:latin typeface="Josefin Sans"/>
              </a:rPr>
              <a:t>integer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007878" y="1135342"/>
            <a:ext cx="177751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1">
                <a:solidFill>
                  <a:srgbClr val="FFFFFF"/>
                </a:solidFill>
                <a:latin typeface="Josefin Sans"/>
              </a:rPr>
              <a:t>Child</a:t>
            </a:r>
            <a:r>
              <a:rPr sz="797" b="1">
                <a:solidFill>
                  <a:srgbClr val="FFFFFF"/>
                </a:solidFill>
                <a:latin typeface="Josefin Sans"/>
              </a:rPr>
              <a:t> </a:t>
            </a:r>
            <a:r>
              <a:rPr sz="797" b="1">
                <a:solidFill>
                  <a:srgbClr val="FFFFFF"/>
                </a:solidFill>
                <a:latin typeface="Josefin Sans"/>
              </a:rPr>
              <a:t>1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465903" y="1135342"/>
            <a:ext cx="131949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1">
                <a:solidFill>
                  <a:srgbClr val="FFFFFF"/>
                </a:solidFill>
                <a:latin typeface="Josefin Sans"/>
              </a:rPr>
              <a:t>Child</a:t>
            </a:r>
            <a:r>
              <a:rPr sz="797" b="1">
                <a:solidFill>
                  <a:srgbClr val="FFFFFF"/>
                </a:solidFill>
                <a:latin typeface="Josefin Sans"/>
              </a:rPr>
              <a:t> </a:t>
            </a:r>
            <a:r>
              <a:rPr sz="797" b="1">
                <a:solidFill>
                  <a:srgbClr val="FFFFFF"/>
                </a:solidFill>
                <a:latin typeface="Josefin Sans"/>
              </a:rPr>
              <a:t>2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74965" y="1307555"/>
            <a:ext cx="471043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p</a:t>
            </a:r>
            <a:r>
              <a:rPr sz="5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412011" y="1307555"/>
            <a:ext cx="437338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v</a:t>
            </a:r>
            <a:r>
              <a:rPr sz="597" b="0">
                <a:solidFill>
                  <a:srgbClr val="000000"/>
                </a:solidFill>
                <a:latin typeface="Cambria Math"/>
              </a:rPr>
              <a:t>9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668932" y="1305858"/>
            <a:ext cx="411646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0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1—1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246820" y="1307555"/>
            <a:ext cx="353857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v</a:t>
            </a:r>
            <a:r>
              <a:rPr sz="5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542311" y="1305859"/>
            <a:ext cx="324308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1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1—0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458566" y="1305859"/>
            <a:ext cx="232682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051059" y="1305859"/>
            <a:ext cx="1734336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0010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51035" y="1305859"/>
            <a:ext cx="123436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0111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74970" y="1478358"/>
            <a:ext cx="471042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p</a:t>
            </a:r>
            <a:r>
              <a:rPr sz="59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412016" y="1478358"/>
            <a:ext cx="437338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v</a:t>
            </a:r>
            <a:r>
              <a:rPr sz="597" b="0">
                <a:solidFill>
                  <a:srgbClr val="000000"/>
                </a:solidFill>
                <a:latin typeface="Cambria Math"/>
              </a:rPr>
              <a:t>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668937" y="1476661"/>
            <a:ext cx="411645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1—0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1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2246826" y="1478358"/>
            <a:ext cx="353856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v</a:t>
            </a:r>
            <a:r>
              <a:rPr sz="5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542317" y="1476661"/>
            <a:ext cx="324307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0—1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1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452896" y="1476661"/>
            <a:ext cx="233249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081836" y="1476661"/>
            <a:ext cx="170355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1110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520265" y="1476661"/>
            <a:ext cx="126513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0010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74970" y="1649172"/>
            <a:ext cx="471042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p</a:t>
            </a:r>
            <a:r>
              <a:rPr sz="597" b="0">
                <a:solidFill>
                  <a:srgbClr val="000000"/>
                </a:solidFill>
                <a:latin typeface="Cambria Math"/>
              </a:rP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412016" y="1649172"/>
            <a:ext cx="437338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v</a:t>
            </a:r>
            <a:r>
              <a:rPr sz="597" b="0">
                <a:solidFill>
                  <a:srgbClr val="000000"/>
                </a:solidFill>
                <a:latin typeface="Cambria Math"/>
              </a:rPr>
              <a:t>8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684316" y="1647476"/>
            <a:ext cx="410107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1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0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1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2246823" y="1649174"/>
            <a:ext cx="353857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v</a:t>
            </a:r>
            <a:r>
              <a:rPr sz="597" b="0">
                <a:solidFill>
                  <a:srgbClr val="000000"/>
                </a:solidFill>
                <a:latin typeface="Cambria Math"/>
              </a:rPr>
              <a:t>9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542314" y="1647477"/>
            <a:ext cx="324308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0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1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458569" y="1647477"/>
            <a:ext cx="2326826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074973" y="1819976"/>
            <a:ext cx="471042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p</a:t>
            </a:r>
            <a:r>
              <a:rPr sz="597" b="0">
                <a:solidFill>
                  <a:srgbClr val="000000"/>
                </a:solidFill>
                <a:latin typeface="Cambria Math"/>
              </a:rPr>
              <a:t>4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412019" y="1819976"/>
            <a:ext cx="4373376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v</a:t>
            </a:r>
            <a:r>
              <a:rPr sz="597" b="0">
                <a:solidFill>
                  <a:srgbClr val="000000"/>
                </a:solidFill>
                <a:latin typeface="Cambria Math"/>
              </a:rPr>
              <a:t>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668940" y="1818279"/>
            <a:ext cx="411645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1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1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0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2223626" y="1819975"/>
            <a:ext cx="356176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v</a:t>
            </a:r>
            <a:r>
              <a:rPr sz="597" b="0">
                <a:solidFill>
                  <a:srgbClr val="000000"/>
                </a:solidFill>
                <a:latin typeface="Cambria Math"/>
              </a:rPr>
              <a:t>10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526940" y="1818279"/>
            <a:ext cx="325845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0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0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468291" y="1818279"/>
            <a:ext cx="231710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074976" y="1990790"/>
            <a:ext cx="471041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p</a:t>
            </a:r>
            <a:r>
              <a:rPr sz="597" b="0">
                <a:solidFill>
                  <a:srgbClr val="000000"/>
                </a:solidFill>
                <a:latin typeface="Cambria Math"/>
              </a:rPr>
              <a:t>5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412022" y="1990790"/>
            <a:ext cx="437337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v</a:t>
            </a:r>
            <a:r>
              <a:rPr sz="59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699715" y="1989093"/>
            <a:ext cx="408568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1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1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1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2246829" y="1990790"/>
            <a:ext cx="3538566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v</a:t>
            </a:r>
            <a:r>
              <a:rPr sz="597" b="0">
                <a:solidFill>
                  <a:srgbClr val="000000"/>
                </a:solidFill>
                <a:latin typeface="Cambria Math"/>
              </a:rPr>
              <a:t>8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2557712" y="1989093"/>
            <a:ext cx="322768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1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0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1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3468291" y="1989093"/>
            <a:ext cx="231710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4898785" y="3150918"/>
            <a:ext cx="88661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5626330" y="3150694"/>
            <a:ext cx="15906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67</a:t>
            </a:r>
          </a:p>
        </p:txBody>
      </p:sp>
    </p:spTree>
  </p:cSld>
  <p:clrMapOvr>
    <a:masterClrMapping/>
  </p:clrMapOvr>
</p:sld>
</file>

<file path=ppt/slides/slide2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920686" y="1106398"/>
            <a:ext cx="415404" cy="170814"/>
          </a:xfrm>
          <a:prstGeom prst="rect">
            <a:avLst/>
          </a:prstGeom>
          <a:solidFill>
            <a:srgbClr val="6BAE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336103" y="1106398"/>
            <a:ext cx="811606" cy="170814"/>
          </a:xfrm>
          <a:prstGeom prst="rect">
            <a:avLst/>
          </a:prstGeom>
          <a:solidFill>
            <a:srgbClr val="429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147709" y="1106398"/>
            <a:ext cx="888771" cy="170814"/>
          </a:xfrm>
          <a:prstGeom prst="rect">
            <a:avLst/>
          </a:prstGeom>
          <a:solidFill>
            <a:srgbClr val="3182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036467" y="1106398"/>
            <a:ext cx="895502" cy="170814"/>
          </a:xfrm>
          <a:prstGeom prst="rect">
            <a:avLst/>
          </a:prstGeom>
          <a:solidFill>
            <a:srgbClr val="217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931970" y="1106398"/>
            <a:ext cx="458025" cy="170814"/>
          </a:xfrm>
          <a:prstGeom prst="rect">
            <a:avLst/>
          </a:prstGeom>
          <a:solidFill>
            <a:srgbClr val="085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389995" y="1106398"/>
            <a:ext cx="480390" cy="170814"/>
          </a:xfrm>
          <a:prstGeom prst="rect">
            <a:avLst/>
          </a:prstGeom>
          <a:solidFill>
            <a:srgbClr val="0830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20691" y="1448016"/>
            <a:ext cx="415404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336108" y="1448016"/>
            <a:ext cx="256920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593016" y="1448016"/>
            <a:ext cx="554685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2147715" y="1448016"/>
            <a:ext cx="303314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2451017" y="1448016"/>
            <a:ext cx="585457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3036475" y="1448016"/>
            <a:ext cx="895502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3931977" y="1448016"/>
            <a:ext cx="458025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4390001" y="1448016"/>
            <a:ext cx="480390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920687" y="1789634"/>
            <a:ext cx="415404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1336105" y="1789634"/>
            <a:ext cx="256920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593013" y="1789634"/>
            <a:ext cx="554685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2147712" y="1789634"/>
            <a:ext cx="303314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2451013" y="1789634"/>
            <a:ext cx="585457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3036472" y="1789634"/>
            <a:ext cx="895502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3931974" y="1789634"/>
            <a:ext cx="458025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4389998" y="1789634"/>
            <a:ext cx="480390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7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2880012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0" name="Picture 5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61" name="Picture 6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62" name="TextBox 61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Example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1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96606" y="1135342"/>
            <a:ext cx="478878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1">
                <a:solidFill>
                  <a:srgbClr val="FFFFFF"/>
                </a:solidFill>
                <a:latin typeface="Josefin Sans"/>
              </a:rPr>
              <a:t>Label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537842" y="1135342"/>
            <a:ext cx="424755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1">
                <a:solidFill>
                  <a:srgbClr val="FFFFFF"/>
                </a:solidFill>
                <a:latin typeface="Josefin Sans"/>
              </a:rPr>
              <a:t>Parent</a:t>
            </a:r>
            <a:r>
              <a:rPr sz="797" b="1">
                <a:solidFill>
                  <a:srgbClr val="FFFFFF"/>
                </a:solidFill>
                <a:latin typeface="Josefin Sans"/>
              </a:rPr>
              <a:t> </a:t>
            </a:r>
            <a:r>
              <a:rPr sz="797" b="1">
                <a:solidFill>
                  <a:srgbClr val="FFFFFF"/>
                </a:solidFill>
                <a:latin typeface="Josefin Sans"/>
              </a:rPr>
              <a:t>A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391879" y="1135342"/>
            <a:ext cx="3393516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1">
                <a:solidFill>
                  <a:srgbClr val="FFFFFF"/>
                </a:solidFill>
                <a:latin typeface="Josefin Sans"/>
              </a:rPr>
              <a:t>Parent</a:t>
            </a:r>
            <a:r>
              <a:rPr sz="797" b="1">
                <a:solidFill>
                  <a:srgbClr val="FFFFFF"/>
                </a:solidFill>
                <a:latin typeface="Josefin Sans"/>
              </a:rPr>
              <a:t> </a:t>
            </a:r>
            <a:r>
              <a:rPr sz="797" b="1">
                <a:solidFill>
                  <a:srgbClr val="FFFFFF"/>
                </a:solidFill>
                <a:latin typeface="Josefin Sans"/>
              </a:rPr>
              <a:t>B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112388" y="1135342"/>
            <a:ext cx="267300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1">
                <a:solidFill>
                  <a:srgbClr val="FFFFFF"/>
                </a:solidFill>
                <a:latin typeface="Josefin Sans"/>
              </a:rPr>
              <a:t>Random</a:t>
            </a:r>
            <a:r>
              <a:rPr sz="797" b="1">
                <a:solidFill>
                  <a:srgbClr val="FFFFFF"/>
                </a:solidFill>
                <a:latin typeface="Josefin Sans"/>
              </a:rPr>
              <a:t> </a:t>
            </a:r>
            <a:r>
              <a:rPr sz="797" b="1">
                <a:solidFill>
                  <a:srgbClr val="FFFFFF"/>
                </a:solidFill>
                <a:latin typeface="Josefin Sans"/>
              </a:rPr>
              <a:t>integer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007878" y="1135342"/>
            <a:ext cx="177751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1">
                <a:solidFill>
                  <a:srgbClr val="FFFFFF"/>
                </a:solidFill>
                <a:latin typeface="Josefin Sans"/>
              </a:rPr>
              <a:t>Child</a:t>
            </a:r>
            <a:r>
              <a:rPr sz="797" b="1">
                <a:solidFill>
                  <a:srgbClr val="FFFFFF"/>
                </a:solidFill>
                <a:latin typeface="Josefin Sans"/>
              </a:rPr>
              <a:t> </a:t>
            </a:r>
            <a:r>
              <a:rPr sz="797" b="1">
                <a:solidFill>
                  <a:srgbClr val="FFFFFF"/>
                </a:solidFill>
                <a:latin typeface="Josefin Sans"/>
              </a:rPr>
              <a:t>1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465903" y="1135342"/>
            <a:ext cx="131949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1">
                <a:solidFill>
                  <a:srgbClr val="FFFFFF"/>
                </a:solidFill>
                <a:latin typeface="Josefin Sans"/>
              </a:rPr>
              <a:t>Child</a:t>
            </a:r>
            <a:r>
              <a:rPr sz="797" b="1">
                <a:solidFill>
                  <a:srgbClr val="FFFFFF"/>
                </a:solidFill>
                <a:latin typeface="Josefin Sans"/>
              </a:rPr>
              <a:t> </a:t>
            </a:r>
            <a:r>
              <a:rPr sz="797" b="1">
                <a:solidFill>
                  <a:srgbClr val="FFFFFF"/>
                </a:solidFill>
                <a:latin typeface="Josefin Sans"/>
              </a:rPr>
              <a:t>2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74965" y="1307555"/>
            <a:ext cx="471043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p</a:t>
            </a:r>
            <a:r>
              <a:rPr sz="5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412011" y="1307555"/>
            <a:ext cx="437338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v</a:t>
            </a:r>
            <a:r>
              <a:rPr sz="597" b="0">
                <a:solidFill>
                  <a:srgbClr val="000000"/>
                </a:solidFill>
                <a:latin typeface="Cambria Math"/>
              </a:rPr>
              <a:t>9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668932" y="1305858"/>
            <a:ext cx="411646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0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1—1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246820" y="1307555"/>
            <a:ext cx="353857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v</a:t>
            </a:r>
            <a:r>
              <a:rPr sz="5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542311" y="1305859"/>
            <a:ext cx="324308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1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1—0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458566" y="1305859"/>
            <a:ext cx="232682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051059" y="1305859"/>
            <a:ext cx="1734336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0010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51035" y="1305859"/>
            <a:ext cx="123436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0111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74970" y="1478358"/>
            <a:ext cx="471042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p</a:t>
            </a:r>
            <a:r>
              <a:rPr sz="59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412016" y="1478358"/>
            <a:ext cx="437338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v</a:t>
            </a:r>
            <a:r>
              <a:rPr sz="597" b="0">
                <a:solidFill>
                  <a:srgbClr val="000000"/>
                </a:solidFill>
                <a:latin typeface="Cambria Math"/>
              </a:rPr>
              <a:t>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668937" y="1476661"/>
            <a:ext cx="411645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1—0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1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2246826" y="1478358"/>
            <a:ext cx="353856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v</a:t>
            </a:r>
            <a:r>
              <a:rPr sz="5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542317" y="1476661"/>
            <a:ext cx="324307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0—1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1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452896" y="1476661"/>
            <a:ext cx="233249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081836" y="1476661"/>
            <a:ext cx="170355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1110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520265" y="1476661"/>
            <a:ext cx="126513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0010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74970" y="1649172"/>
            <a:ext cx="471042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p</a:t>
            </a:r>
            <a:r>
              <a:rPr sz="597" b="0">
                <a:solidFill>
                  <a:srgbClr val="000000"/>
                </a:solidFill>
                <a:latin typeface="Cambria Math"/>
              </a:rP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412016" y="1649172"/>
            <a:ext cx="437338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v</a:t>
            </a:r>
            <a:r>
              <a:rPr sz="597" b="0">
                <a:solidFill>
                  <a:srgbClr val="000000"/>
                </a:solidFill>
                <a:latin typeface="Cambria Math"/>
              </a:rPr>
              <a:t>8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684316" y="1647476"/>
            <a:ext cx="410107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1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0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1—1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2246826" y="1649174"/>
            <a:ext cx="353856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v</a:t>
            </a:r>
            <a:r>
              <a:rPr sz="597" b="0">
                <a:solidFill>
                  <a:srgbClr val="000000"/>
                </a:solidFill>
                <a:latin typeface="Cambria Math"/>
              </a:rPr>
              <a:t>9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542317" y="1647477"/>
            <a:ext cx="324307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0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1—1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458569" y="1647477"/>
            <a:ext cx="2326826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081836" y="1647477"/>
            <a:ext cx="170355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1011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4535656" y="1647477"/>
            <a:ext cx="124973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0011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74967" y="1819976"/>
            <a:ext cx="471042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p</a:t>
            </a:r>
            <a:r>
              <a:rPr sz="597" b="0">
                <a:solidFill>
                  <a:srgbClr val="000000"/>
                </a:solidFill>
                <a:latin typeface="Cambria Math"/>
              </a:rP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412012" y="1819976"/>
            <a:ext cx="437338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v</a:t>
            </a:r>
            <a:r>
              <a:rPr sz="597" b="0">
                <a:solidFill>
                  <a:srgbClr val="000000"/>
                </a:solidFill>
                <a:latin typeface="Cambria Math"/>
              </a:rPr>
              <a:t>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668933" y="1818279"/>
            <a:ext cx="411646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1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1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0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2223620" y="1819975"/>
            <a:ext cx="356177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v</a:t>
            </a:r>
            <a:r>
              <a:rPr sz="597" b="0">
                <a:solidFill>
                  <a:srgbClr val="000000"/>
                </a:solidFill>
                <a:latin typeface="Cambria Math"/>
              </a:rPr>
              <a:t>10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2526934" y="1818279"/>
            <a:ext cx="325846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0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0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3468285" y="1818279"/>
            <a:ext cx="231711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74970" y="1990790"/>
            <a:ext cx="471042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p</a:t>
            </a:r>
            <a:r>
              <a:rPr sz="597" b="0">
                <a:solidFill>
                  <a:srgbClr val="000000"/>
                </a:solidFill>
                <a:latin typeface="Cambria Math"/>
              </a:rPr>
              <a:t>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412016" y="1990790"/>
            <a:ext cx="437338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v</a:t>
            </a:r>
            <a:r>
              <a:rPr sz="59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699709" y="1989093"/>
            <a:ext cx="408568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1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1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1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2246823" y="1990790"/>
            <a:ext cx="353857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v</a:t>
            </a:r>
            <a:r>
              <a:rPr sz="597" b="0">
                <a:solidFill>
                  <a:srgbClr val="000000"/>
                </a:solidFill>
                <a:latin typeface="Cambria Math"/>
              </a:rPr>
              <a:t>8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2557706" y="1989093"/>
            <a:ext cx="322768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1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0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1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3468285" y="1989093"/>
            <a:ext cx="231711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4898778" y="3150918"/>
            <a:ext cx="88661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626324" y="3150694"/>
            <a:ext cx="15907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67</a:t>
            </a:r>
          </a:p>
        </p:txBody>
      </p:sp>
    </p:spTree>
  </p:cSld>
  <p:clrMapOvr>
    <a:masterClrMapping/>
  </p:clrMapOvr>
</p:sld>
</file>

<file path=ppt/slides/slide2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920686" y="1106398"/>
            <a:ext cx="415404" cy="170814"/>
          </a:xfrm>
          <a:prstGeom prst="rect">
            <a:avLst/>
          </a:prstGeom>
          <a:solidFill>
            <a:srgbClr val="6BAE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336103" y="1106398"/>
            <a:ext cx="811606" cy="170814"/>
          </a:xfrm>
          <a:prstGeom prst="rect">
            <a:avLst/>
          </a:prstGeom>
          <a:solidFill>
            <a:srgbClr val="429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147709" y="1106398"/>
            <a:ext cx="888771" cy="170814"/>
          </a:xfrm>
          <a:prstGeom prst="rect">
            <a:avLst/>
          </a:prstGeom>
          <a:solidFill>
            <a:srgbClr val="3182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036467" y="1106398"/>
            <a:ext cx="895502" cy="170814"/>
          </a:xfrm>
          <a:prstGeom prst="rect">
            <a:avLst/>
          </a:prstGeom>
          <a:solidFill>
            <a:srgbClr val="217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931970" y="1106398"/>
            <a:ext cx="458025" cy="170814"/>
          </a:xfrm>
          <a:prstGeom prst="rect">
            <a:avLst/>
          </a:prstGeom>
          <a:solidFill>
            <a:srgbClr val="085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389995" y="1106398"/>
            <a:ext cx="480390" cy="170814"/>
          </a:xfrm>
          <a:prstGeom prst="rect">
            <a:avLst/>
          </a:prstGeom>
          <a:solidFill>
            <a:srgbClr val="0830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20691" y="1448016"/>
            <a:ext cx="415404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336108" y="1448016"/>
            <a:ext cx="256920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593016" y="1448016"/>
            <a:ext cx="554685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2147715" y="1448016"/>
            <a:ext cx="303314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2451017" y="1448016"/>
            <a:ext cx="585457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3036475" y="1448016"/>
            <a:ext cx="895502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3931977" y="1448016"/>
            <a:ext cx="458025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4390001" y="1448016"/>
            <a:ext cx="480390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920687" y="1789634"/>
            <a:ext cx="415404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1336105" y="1789634"/>
            <a:ext cx="256920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593013" y="1789634"/>
            <a:ext cx="554685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2147712" y="1789634"/>
            <a:ext cx="303314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2451013" y="1789634"/>
            <a:ext cx="585457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3036472" y="1789634"/>
            <a:ext cx="895502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3931974" y="1789634"/>
            <a:ext cx="458025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4390001" y="1789634"/>
            <a:ext cx="480390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7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2880012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0" name="Picture 5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61" name="Picture 6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62" name="TextBox 61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Example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1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96606" y="1135342"/>
            <a:ext cx="478878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1">
                <a:solidFill>
                  <a:srgbClr val="FFFFFF"/>
                </a:solidFill>
                <a:latin typeface="Josefin Sans"/>
              </a:rPr>
              <a:t>Label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537842" y="1135342"/>
            <a:ext cx="424755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1">
                <a:solidFill>
                  <a:srgbClr val="FFFFFF"/>
                </a:solidFill>
                <a:latin typeface="Josefin Sans"/>
              </a:rPr>
              <a:t>Parent</a:t>
            </a:r>
            <a:r>
              <a:rPr sz="797" b="1">
                <a:solidFill>
                  <a:srgbClr val="FFFFFF"/>
                </a:solidFill>
                <a:latin typeface="Josefin Sans"/>
              </a:rPr>
              <a:t> </a:t>
            </a:r>
            <a:r>
              <a:rPr sz="797" b="1">
                <a:solidFill>
                  <a:srgbClr val="FFFFFF"/>
                </a:solidFill>
                <a:latin typeface="Josefin Sans"/>
              </a:rPr>
              <a:t>A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391879" y="1135342"/>
            <a:ext cx="3393516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1">
                <a:solidFill>
                  <a:srgbClr val="FFFFFF"/>
                </a:solidFill>
                <a:latin typeface="Josefin Sans"/>
              </a:rPr>
              <a:t>Parent</a:t>
            </a:r>
            <a:r>
              <a:rPr sz="797" b="1">
                <a:solidFill>
                  <a:srgbClr val="FFFFFF"/>
                </a:solidFill>
                <a:latin typeface="Josefin Sans"/>
              </a:rPr>
              <a:t> </a:t>
            </a:r>
            <a:r>
              <a:rPr sz="797" b="1">
                <a:solidFill>
                  <a:srgbClr val="FFFFFF"/>
                </a:solidFill>
                <a:latin typeface="Josefin Sans"/>
              </a:rPr>
              <a:t>B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112388" y="1135342"/>
            <a:ext cx="267300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1">
                <a:solidFill>
                  <a:srgbClr val="FFFFFF"/>
                </a:solidFill>
                <a:latin typeface="Josefin Sans"/>
              </a:rPr>
              <a:t>Random</a:t>
            </a:r>
            <a:r>
              <a:rPr sz="797" b="1">
                <a:solidFill>
                  <a:srgbClr val="FFFFFF"/>
                </a:solidFill>
                <a:latin typeface="Josefin Sans"/>
              </a:rPr>
              <a:t> </a:t>
            </a:r>
            <a:r>
              <a:rPr sz="797" b="1">
                <a:solidFill>
                  <a:srgbClr val="FFFFFF"/>
                </a:solidFill>
                <a:latin typeface="Josefin Sans"/>
              </a:rPr>
              <a:t>integer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007878" y="1135342"/>
            <a:ext cx="177751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1">
                <a:solidFill>
                  <a:srgbClr val="FFFFFF"/>
                </a:solidFill>
                <a:latin typeface="Josefin Sans"/>
              </a:rPr>
              <a:t>Child</a:t>
            </a:r>
            <a:r>
              <a:rPr sz="797" b="1">
                <a:solidFill>
                  <a:srgbClr val="FFFFFF"/>
                </a:solidFill>
                <a:latin typeface="Josefin Sans"/>
              </a:rPr>
              <a:t> </a:t>
            </a:r>
            <a:r>
              <a:rPr sz="797" b="1">
                <a:solidFill>
                  <a:srgbClr val="FFFFFF"/>
                </a:solidFill>
                <a:latin typeface="Josefin Sans"/>
              </a:rPr>
              <a:t>1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465903" y="1135342"/>
            <a:ext cx="131949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1">
                <a:solidFill>
                  <a:srgbClr val="FFFFFF"/>
                </a:solidFill>
                <a:latin typeface="Josefin Sans"/>
              </a:rPr>
              <a:t>Child</a:t>
            </a:r>
            <a:r>
              <a:rPr sz="797" b="1">
                <a:solidFill>
                  <a:srgbClr val="FFFFFF"/>
                </a:solidFill>
                <a:latin typeface="Josefin Sans"/>
              </a:rPr>
              <a:t> </a:t>
            </a:r>
            <a:r>
              <a:rPr sz="797" b="1">
                <a:solidFill>
                  <a:srgbClr val="FFFFFF"/>
                </a:solidFill>
                <a:latin typeface="Josefin Sans"/>
              </a:rPr>
              <a:t>2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74965" y="1307555"/>
            <a:ext cx="471043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p</a:t>
            </a:r>
            <a:r>
              <a:rPr sz="5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412011" y="1307555"/>
            <a:ext cx="437338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v</a:t>
            </a:r>
            <a:r>
              <a:rPr sz="597" b="0">
                <a:solidFill>
                  <a:srgbClr val="000000"/>
                </a:solidFill>
                <a:latin typeface="Cambria Math"/>
              </a:rPr>
              <a:t>9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668932" y="1305858"/>
            <a:ext cx="411646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0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1—1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246820" y="1307555"/>
            <a:ext cx="353857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v</a:t>
            </a:r>
            <a:r>
              <a:rPr sz="5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542311" y="1305859"/>
            <a:ext cx="324308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1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1—0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458566" y="1305859"/>
            <a:ext cx="232682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051059" y="1305859"/>
            <a:ext cx="1734336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0010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51035" y="1305859"/>
            <a:ext cx="123436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0111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74970" y="1478358"/>
            <a:ext cx="471042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p</a:t>
            </a:r>
            <a:r>
              <a:rPr sz="59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412016" y="1478358"/>
            <a:ext cx="437338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v</a:t>
            </a:r>
            <a:r>
              <a:rPr sz="597" b="0">
                <a:solidFill>
                  <a:srgbClr val="000000"/>
                </a:solidFill>
                <a:latin typeface="Cambria Math"/>
              </a:rPr>
              <a:t>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668937" y="1476661"/>
            <a:ext cx="411645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1—0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1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2246826" y="1478358"/>
            <a:ext cx="353856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v</a:t>
            </a:r>
            <a:r>
              <a:rPr sz="5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542317" y="1476661"/>
            <a:ext cx="324307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0—1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1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452896" y="1476661"/>
            <a:ext cx="233249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081836" y="1476661"/>
            <a:ext cx="170355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1110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520265" y="1476661"/>
            <a:ext cx="126513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0010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74970" y="1649172"/>
            <a:ext cx="471042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p</a:t>
            </a:r>
            <a:r>
              <a:rPr sz="597" b="0">
                <a:solidFill>
                  <a:srgbClr val="000000"/>
                </a:solidFill>
                <a:latin typeface="Cambria Math"/>
              </a:rP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412016" y="1649172"/>
            <a:ext cx="437338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v</a:t>
            </a:r>
            <a:r>
              <a:rPr sz="597" b="0">
                <a:solidFill>
                  <a:srgbClr val="000000"/>
                </a:solidFill>
                <a:latin typeface="Cambria Math"/>
              </a:rPr>
              <a:t>8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684316" y="1647476"/>
            <a:ext cx="410107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1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0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1—1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2246826" y="1649174"/>
            <a:ext cx="353856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v</a:t>
            </a:r>
            <a:r>
              <a:rPr sz="597" b="0">
                <a:solidFill>
                  <a:srgbClr val="000000"/>
                </a:solidFill>
                <a:latin typeface="Cambria Math"/>
              </a:rPr>
              <a:t>9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542317" y="1647477"/>
            <a:ext cx="324307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0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1—1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458569" y="1647477"/>
            <a:ext cx="2326826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081836" y="1647477"/>
            <a:ext cx="170355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1011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4535656" y="1647477"/>
            <a:ext cx="124973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0011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74967" y="1819976"/>
            <a:ext cx="471042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p</a:t>
            </a:r>
            <a:r>
              <a:rPr sz="597" b="0">
                <a:solidFill>
                  <a:srgbClr val="000000"/>
                </a:solidFill>
                <a:latin typeface="Cambria Math"/>
              </a:rP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412012" y="1819976"/>
            <a:ext cx="437338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v</a:t>
            </a:r>
            <a:r>
              <a:rPr sz="597" b="0">
                <a:solidFill>
                  <a:srgbClr val="000000"/>
                </a:solidFill>
                <a:latin typeface="Cambria Math"/>
              </a:rPr>
              <a:t>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668933" y="1818279"/>
            <a:ext cx="411646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1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1—0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2223620" y="1819975"/>
            <a:ext cx="356177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v</a:t>
            </a:r>
            <a:r>
              <a:rPr sz="597" b="0">
                <a:solidFill>
                  <a:srgbClr val="000000"/>
                </a:solidFill>
                <a:latin typeface="Cambria Math"/>
              </a:rPr>
              <a:t>10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2526934" y="1818279"/>
            <a:ext cx="325846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0—0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3468285" y="1818279"/>
            <a:ext cx="231711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081836" y="1818279"/>
            <a:ext cx="170355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1101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504886" y="1818279"/>
            <a:ext cx="128050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0000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74970" y="1990790"/>
            <a:ext cx="471042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p</a:t>
            </a:r>
            <a:r>
              <a:rPr sz="597" b="0">
                <a:solidFill>
                  <a:srgbClr val="000000"/>
                </a:solidFill>
                <a:latin typeface="Cambria Math"/>
              </a:rPr>
              <a:t>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412016" y="1990790"/>
            <a:ext cx="437338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v</a:t>
            </a:r>
            <a:r>
              <a:rPr sz="59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699709" y="1989093"/>
            <a:ext cx="408568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1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1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1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246823" y="1990790"/>
            <a:ext cx="353857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v</a:t>
            </a:r>
            <a:r>
              <a:rPr sz="597" b="0">
                <a:solidFill>
                  <a:srgbClr val="000000"/>
                </a:solidFill>
                <a:latin typeface="Cambria Math"/>
              </a:rPr>
              <a:t>8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2557706" y="1989093"/>
            <a:ext cx="322768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1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0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1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468285" y="1989093"/>
            <a:ext cx="231711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898778" y="3150918"/>
            <a:ext cx="88661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5626324" y="3150694"/>
            <a:ext cx="15907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67</a:t>
            </a:r>
          </a:p>
        </p:txBody>
      </p:sp>
    </p:spTree>
  </p:cSld>
  <p:clrMapOvr>
    <a:masterClrMapping/>
  </p:clrMapOvr>
</p:sld>
</file>

<file path=ppt/slides/slide2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920686" y="1106398"/>
            <a:ext cx="415404" cy="170814"/>
          </a:xfrm>
          <a:prstGeom prst="rect">
            <a:avLst/>
          </a:prstGeom>
          <a:solidFill>
            <a:srgbClr val="6BAE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336103" y="1106398"/>
            <a:ext cx="811606" cy="170814"/>
          </a:xfrm>
          <a:prstGeom prst="rect">
            <a:avLst/>
          </a:prstGeom>
          <a:solidFill>
            <a:srgbClr val="429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147709" y="1106398"/>
            <a:ext cx="888771" cy="170814"/>
          </a:xfrm>
          <a:prstGeom prst="rect">
            <a:avLst/>
          </a:prstGeom>
          <a:solidFill>
            <a:srgbClr val="3182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036467" y="1106398"/>
            <a:ext cx="895502" cy="170814"/>
          </a:xfrm>
          <a:prstGeom prst="rect">
            <a:avLst/>
          </a:prstGeom>
          <a:solidFill>
            <a:srgbClr val="217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931970" y="1106398"/>
            <a:ext cx="458025" cy="170814"/>
          </a:xfrm>
          <a:prstGeom prst="rect">
            <a:avLst/>
          </a:prstGeom>
          <a:solidFill>
            <a:srgbClr val="085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389995" y="1106398"/>
            <a:ext cx="480390" cy="170814"/>
          </a:xfrm>
          <a:prstGeom prst="rect">
            <a:avLst/>
          </a:prstGeom>
          <a:solidFill>
            <a:srgbClr val="0830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20691" y="1448016"/>
            <a:ext cx="415404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336108" y="1448016"/>
            <a:ext cx="256920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593016" y="1448016"/>
            <a:ext cx="554685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2147715" y="1448016"/>
            <a:ext cx="303314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2451017" y="1448016"/>
            <a:ext cx="585457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3036475" y="1448016"/>
            <a:ext cx="895502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3931977" y="1448016"/>
            <a:ext cx="458025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4390001" y="1448016"/>
            <a:ext cx="480390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920687" y="1789634"/>
            <a:ext cx="415404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1336105" y="1789634"/>
            <a:ext cx="256920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593013" y="1789634"/>
            <a:ext cx="554685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2147712" y="1789634"/>
            <a:ext cx="303314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2451013" y="1789634"/>
            <a:ext cx="585457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3036472" y="1789634"/>
            <a:ext cx="895502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3931974" y="1789634"/>
            <a:ext cx="458025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4390001" y="1789634"/>
            <a:ext cx="480390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1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2880015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0" name="Picture 5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61" name="Picture 6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62" name="TextBox 61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Example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1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96606" y="1135342"/>
            <a:ext cx="478878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1">
                <a:solidFill>
                  <a:srgbClr val="FFFFFF"/>
                </a:solidFill>
                <a:latin typeface="Josefin Sans"/>
              </a:rPr>
              <a:t>Label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537842" y="1135342"/>
            <a:ext cx="424755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1">
                <a:solidFill>
                  <a:srgbClr val="FFFFFF"/>
                </a:solidFill>
                <a:latin typeface="Josefin Sans"/>
              </a:rPr>
              <a:t>Parent</a:t>
            </a:r>
            <a:r>
              <a:rPr sz="797" b="1">
                <a:solidFill>
                  <a:srgbClr val="FFFFFF"/>
                </a:solidFill>
                <a:latin typeface="Josefin Sans"/>
              </a:rPr>
              <a:t> </a:t>
            </a:r>
            <a:r>
              <a:rPr sz="797" b="1">
                <a:solidFill>
                  <a:srgbClr val="FFFFFF"/>
                </a:solidFill>
                <a:latin typeface="Josefin Sans"/>
              </a:rPr>
              <a:t>A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391879" y="1135342"/>
            <a:ext cx="3393516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1">
                <a:solidFill>
                  <a:srgbClr val="FFFFFF"/>
                </a:solidFill>
                <a:latin typeface="Josefin Sans"/>
              </a:rPr>
              <a:t>Parent</a:t>
            </a:r>
            <a:r>
              <a:rPr sz="797" b="1">
                <a:solidFill>
                  <a:srgbClr val="FFFFFF"/>
                </a:solidFill>
                <a:latin typeface="Josefin Sans"/>
              </a:rPr>
              <a:t> </a:t>
            </a:r>
            <a:r>
              <a:rPr sz="797" b="1">
                <a:solidFill>
                  <a:srgbClr val="FFFFFF"/>
                </a:solidFill>
                <a:latin typeface="Josefin Sans"/>
              </a:rPr>
              <a:t>B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112388" y="1135342"/>
            <a:ext cx="267300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1">
                <a:solidFill>
                  <a:srgbClr val="FFFFFF"/>
                </a:solidFill>
                <a:latin typeface="Josefin Sans"/>
              </a:rPr>
              <a:t>Random</a:t>
            </a:r>
            <a:r>
              <a:rPr sz="797" b="1">
                <a:solidFill>
                  <a:srgbClr val="FFFFFF"/>
                </a:solidFill>
                <a:latin typeface="Josefin Sans"/>
              </a:rPr>
              <a:t> </a:t>
            </a:r>
            <a:r>
              <a:rPr sz="797" b="1">
                <a:solidFill>
                  <a:srgbClr val="FFFFFF"/>
                </a:solidFill>
                <a:latin typeface="Josefin Sans"/>
              </a:rPr>
              <a:t>integer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007878" y="1135342"/>
            <a:ext cx="177751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1">
                <a:solidFill>
                  <a:srgbClr val="FFFFFF"/>
                </a:solidFill>
                <a:latin typeface="Josefin Sans"/>
              </a:rPr>
              <a:t>Child</a:t>
            </a:r>
            <a:r>
              <a:rPr sz="797" b="1">
                <a:solidFill>
                  <a:srgbClr val="FFFFFF"/>
                </a:solidFill>
                <a:latin typeface="Josefin Sans"/>
              </a:rPr>
              <a:t> </a:t>
            </a:r>
            <a:r>
              <a:rPr sz="797" b="1">
                <a:solidFill>
                  <a:srgbClr val="FFFFFF"/>
                </a:solidFill>
                <a:latin typeface="Josefin Sans"/>
              </a:rPr>
              <a:t>1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465903" y="1135342"/>
            <a:ext cx="131949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1">
                <a:solidFill>
                  <a:srgbClr val="FFFFFF"/>
                </a:solidFill>
                <a:latin typeface="Josefin Sans"/>
              </a:rPr>
              <a:t>Child</a:t>
            </a:r>
            <a:r>
              <a:rPr sz="797" b="1">
                <a:solidFill>
                  <a:srgbClr val="FFFFFF"/>
                </a:solidFill>
                <a:latin typeface="Josefin Sans"/>
              </a:rPr>
              <a:t> </a:t>
            </a:r>
            <a:r>
              <a:rPr sz="797" b="1">
                <a:solidFill>
                  <a:srgbClr val="FFFFFF"/>
                </a:solidFill>
                <a:latin typeface="Josefin Sans"/>
              </a:rPr>
              <a:t>2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74965" y="1307555"/>
            <a:ext cx="471043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p</a:t>
            </a:r>
            <a:r>
              <a:rPr sz="5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412011" y="1307555"/>
            <a:ext cx="437338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v</a:t>
            </a:r>
            <a:r>
              <a:rPr sz="597" b="0">
                <a:solidFill>
                  <a:srgbClr val="000000"/>
                </a:solidFill>
                <a:latin typeface="Cambria Math"/>
              </a:rPr>
              <a:t>9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668932" y="1305858"/>
            <a:ext cx="411646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0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1—1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246820" y="1307555"/>
            <a:ext cx="353857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v</a:t>
            </a:r>
            <a:r>
              <a:rPr sz="5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542311" y="1305859"/>
            <a:ext cx="324308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1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1—0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458566" y="1305859"/>
            <a:ext cx="232682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051059" y="1305859"/>
            <a:ext cx="1734336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0010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51035" y="1305859"/>
            <a:ext cx="123436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0111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74970" y="1478358"/>
            <a:ext cx="471042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p</a:t>
            </a:r>
            <a:r>
              <a:rPr sz="59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412016" y="1478358"/>
            <a:ext cx="437338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v</a:t>
            </a:r>
            <a:r>
              <a:rPr sz="597" b="0">
                <a:solidFill>
                  <a:srgbClr val="000000"/>
                </a:solidFill>
                <a:latin typeface="Cambria Math"/>
              </a:rPr>
              <a:t>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668937" y="1476661"/>
            <a:ext cx="411645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1—0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1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2246826" y="1478358"/>
            <a:ext cx="353856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v</a:t>
            </a:r>
            <a:r>
              <a:rPr sz="5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542317" y="1476661"/>
            <a:ext cx="324307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0—1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1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452896" y="1476661"/>
            <a:ext cx="233249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081836" y="1476661"/>
            <a:ext cx="170355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1110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520265" y="1476661"/>
            <a:ext cx="126513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0010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74970" y="1649172"/>
            <a:ext cx="471042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p</a:t>
            </a:r>
            <a:r>
              <a:rPr sz="597" b="0">
                <a:solidFill>
                  <a:srgbClr val="000000"/>
                </a:solidFill>
                <a:latin typeface="Cambria Math"/>
              </a:rP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412016" y="1649172"/>
            <a:ext cx="437338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v</a:t>
            </a:r>
            <a:r>
              <a:rPr sz="597" b="0">
                <a:solidFill>
                  <a:srgbClr val="000000"/>
                </a:solidFill>
                <a:latin typeface="Cambria Math"/>
              </a:rPr>
              <a:t>8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684316" y="1647476"/>
            <a:ext cx="410107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1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0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1—1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2246826" y="1649174"/>
            <a:ext cx="353856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v</a:t>
            </a:r>
            <a:r>
              <a:rPr sz="597" b="0">
                <a:solidFill>
                  <a:srgbClr val="000000"/>
                </a:solidFill>
                <a:latin typeface="Cambria Math"/>
              </a:rPr>
              <a:t>9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542317" y="1647477"/>
            <a:ext cx="324307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0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1—1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458569" y="1647477"/>
            <a:ext cx="2326826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081836" y="1647477"/>
            <a:ext cx="170355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1011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4535656" y="1647477"/>
            <a:ext cx="124973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0011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74967" y="1819976"/>
            <a:ext cx="471042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p</a:t>
            </a:r>
            <a:r>
              <a:rPr sz="597" b="0">
                <a:solidFill>
                  <a:srgbClr val="000000"/>
                </a:solidFill>
                <a:latin typeface="Cambria Math"/>
              </a:rP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412012" y="1819976"/>
            <a:ext cx="437338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v</a:t>
            </a:r>
            <a:r>
              <a:rPr sz="597" b="0">
                <a:solidFill>
                  <a:srgbClr val="000000"/>
                </a:solidFill>
                <a:latin typeface="Cambria Math"/>
              </a:rPr>
              <a:t>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668933" y="1818279"/>
            <a:ext cx="411646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1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1—0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2223620" y="1819975"/>
            <a:ext cx="356177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v</a:t>
            </a:r>
            <a:r>
              <a:rPr sz="597" b="0">
                <a:solidFill>
                  <a:srgbClr val="000000"/>
                </a:solidFill>
                <a:latin typeface="Cambria Math"/>
              </a:rPr>
              <a:t>10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2526934" y="1818279"/>
            <a:ext cx="325846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0—0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3468285" y="1818279"/>
            <a:ext cx="231711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081836" y="1818279"/>
            <a:ext cx="170355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1101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504886" y="1818279"/>
            <a:ext cx="128050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0000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74970" y="1990790"/>
            <a:ext cx="471042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p</a:t>
            </a:r>
            <a:r>
              <a:rPr sz="597" b="0">
                <a:solidFill>
                  <a:srgbClr val="000000"/>
                </a:solidFill>
                <a:latin typeface="Cambria Math"/>
              </a:rPr>
              <a:t>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412016" y="1990790"/>
            <a:ext cx="437338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v</a:t>
            </a:r>
            <a:r>
              <a:rPr sz="59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699709" y="1989093"/>
            <a:ext cx="408568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1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1—1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246826" y="1990790"/>
            <a:ext cx="353856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v</a:t>
            </a:r>
            <a:r>
              <a:rPr sz="597" b="0">
                <a:solidFill>
                  <a:srgbClr val="000000"/>
                </a:solidFill>
                <a:latin typeface="Cambria Math"/>
              </a:rPr>
              <a:t>8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2557709" y="1989093"/>
            <a:ext cx="3227686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1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0—1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468288" y="1989093"/>
            <a:ext cx="231710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097218" y="1989093"/>
            <a:ext cx="168817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1111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551041" y="1989093"/>
            <a:ext cx="123435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1011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4898781" y="3150918"/>
            <a:ext cx="88661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5626327" y="3150694"/>
            <a:ext cx="15906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67</a:t>
            </a:r>
          </a:p>
        </p:txBody>
      </p:sp>
    </p:spTree>
  </p:cSld>
  <p:clrMapOvr>
    <a:masterClrMapping/>
  </p:clrMapOvr>
</p:sld>
</file>

<file path=ppt/slides/slide2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2038146" y="1289481"/>
            <a:ext cx="271881" cy="222681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310027" y="1289481"/>
            <a:ext cx="452754" cy="222681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762783" y="1289481"/>
            <a:ext cx="138544" cy="22268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901327" y="1512163"/>
            <a:ext cx="325666" cy="222681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226993" y="1512163"/>
            <a:ext cx="494868" cy="222681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762783" y="1512163"/>
            <a:ext cx="138544" cy="22268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038146" y="1734858"/>
            <a:ext cx="271881" cy="222681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310027" y="1734858"/>
            <a:ext cx="452754" cy="222681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2762783" y="1734858"/>
            <a:ext cx="138544" cy="22268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2901327" y="1957539"/>
            <a:ext cx="325666" cy="222681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3226993" y="1957539"/>
            <a:ext cx="494868" cy="222681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2762783" y="1957539"/>
            <a:ext cx="138544" cy="22268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2038146" y="2180221"/>
            <a:ext cx="271881" cy="222681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2310027" y="2180221"/>
            <a:ext cx="452754" cy="222681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2762783" y="2180221"/>
            <a:ext cx="138544" cy="22268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2880004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3" name="Picture 5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54" name="Picture 5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Example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59993" y="974132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Let’s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label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children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114054" y="1326962"/>
            <a:ext cx="367134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c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385948" y="1324639"/>
            <a:ext cx="339944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0010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004133" y="1326962"/>
            <a:ext cx="278126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c</a:t>
            </a:r>
            <a:r>
              <a:rPr sz="797" b="0">
                <a:solidFill>
                  <a:srgbClr val="000000"/>
                </a:solidFill>
                <a:latin typeface="Cambria Math"/>
              </a:rPr>
              <a:t>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366083" y="1324639"/>
            <a:ext cx="241931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0111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114054" y="1549643"/>
            <a:ext cx="367134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c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428061" y="1547321"/>
            <a:ext cx="335733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1110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004133" y="1549643"/>
            <a:ext cx="278126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c</a:t>
            </a:r>
            <a:r>
              <a:rPr sz="797" b="0">
                <a:solidFill>
                  <a:srgbClr val="000000"/>
                </a:solidFill>
                <a:latin typeface="Cambria Math"/>
              </a:rPr>
              <a:t>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323957" y="1547321"/>
            <a:ext cx="246143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0010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114054" y="1772325"/>
            <a:ext cx="367134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c</a:t>
            </a:r>
            <a:r>
              <a:rPr sz="797" b="0">
                <a:solidFill>
                  <a:srgbClr val="000000"/>
                </a:solidFill>
                <a:latin typeface="Cambria Math"/>
              </a:rPr>
              <a:t>3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428061" y="1770003"/>
            <a:ext cx="335733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1011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004133" y="1772325"/>
            <a:ext cx="278126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c</a:t>
            </a:r>
            <a:r>
              <a:rPr sz="797" b="0">
                <a:solidFill>
                  <a:srgbClr val="000000"/>
                </a:solidFill>
                <a:latin typeface="Cambria Math"/>
              </a:rPr>
              <a:t>8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345027" y="1770003"/>
            <a:ext cx="244036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0011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114054" y="1995007"/>
            <a:ext cx="367134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c</a:t>
            </a:r>
            <a:r>
              <a:rPr sz="797" b="0">
                <a:solidFill>
                  <a:srgbClr val="000000"/>
                </a:solidFill>
                <a:latin typeface="Cambria Math"/>
              </a:rPr>
              <a:t>4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428061" y="1992685"/>
            <a:ext cx="335733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1101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004133" y="1995007"/>
            <a:ext cx="278126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c</a:t>
            </a:r>
            <a:r>
              <a:rPr sz="797" b="0">
                <a:solidFill>
                  <a:srgbClr val="000000"/>
                </a:solidFill>
                <a:latin typeface="Cambria Math"/>
              </a:rPr>
              <a:t>9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02901" y="1992685"/>
            <a:ext cx="248249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0000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114054" y="2217701"/>
            <a:ext cx="367134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c</a:t>
            </a:r>
            <a:r>
              <a:rPr sz="797" b="0">
                <a:solidFill>
                  <a:srgbClr val="000000"/>
                </a:solidFill>
                <a:latin typeface="Cambria Math"/>
              </a:rPr>
              <a:t>5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449118" y="2215379"/>
            <a:ext cx="333627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1111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977235" y="2217701"/>
            <a:ext cx="280816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c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366083" y="2215379"/>
            <a:ext cx="241931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1011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898770" y="3150917"/>
            <a:ext cx="8866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623432" y="3150693"/>
            <a:ext cx="16196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68</a:t>
            </a:r>
          </a:p>
        </p:txBody>
      </p:sp>
    </p:spTree>
  </p:cSld>
  <p:clrMapOvr>
    <a:masterClrMapping/>
  </p:clrMapOvr>
</p:sld>
</file>

<file path=ppt/slides/slide2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H="1">
            <a:off x="1125379" y="927276"/>
            <a:ext cx="1050046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074768" y="977887"/>
            <a:ext cx="0" cy="15966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1125379" y="1188162"/>
            <a:ext cx="1050046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2226036" y="977887"/>
            <a:ext cx="0" cy="15966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H="1">
            <a:off x="2410841" y="917028"/>
            <a:ext cx="132960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2360231" y="967638"/>
            <a:ext cx="0" cy="18016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2410841" y="1198410"/>
            <a:ext cx="132960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3791060" y="967638"/>
            <a:ext cx="0" cy="18016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H="1">
            <a:off x="2720978" y="1332605"/>
            <a:ext cx="709335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2670367" y="1383216"/>
            <a:ext cx="0" cy="17771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2720978" y="1611540"/>
            <a:ext cx="709335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3480923" y="1383216"/>
            <a:ext cx="0" cy="17771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Freeform 47"/>
          <p:cNvSpPr/>
          <p:nvPr/>
        </p:nvSpPr>
        <p:spPr>
          <a:xfrm>
            <a:off x="2768600" y="1739900"/>
            <a:ext cx="609600" cy="266700"/>
          </a:xfrm>
          <a:custGeom>
            <a:avLst/>
            <a:gdLst/>
            <a:ahLst/>
            <a:cxnLst/>
            <a:rect l="l" t="t" r="r" b="b"/>
            <a:pathLst>
              <a:path w="48" h="21">
                <a:moveTo>
                  <a:pt x="44" y="0"/>
                </a:moveTo>
                <a:lnTo>
                  <a:pt x="4" y="0"/>
                </a:lnTo>
                <a:lnTo>
                  <a:pt x="3" y="1"/>
                </a:lnTo>
                <a:lnTo>
                  <a:pt x="2" y="1"/>
                </a:lnTo>
                <a:lnTo>
                  <a:pt x="2" y="1"/>
                </a:lnTo>
                <a:lnTo>
                  <a:pt x="1" y="2"/>
                </a:lnTo>
                <a:lnTo>
                  <a:pt x="1" y="2"/>
                </a:lnTo>
                <a:lnTo>
                  <a:pt x="0" y="3"/>
                </a:lnTo>
                <a:lnTo>
                  <a:pt x="0" y="4"/>
                </a:lnTo>
                <a:lnTo>
                  <a:pt x="0" y="4"/>
                </a:lnTo>
                <a:lnTo>
                  <a:pt x="0" y="17"/>
                </a:lnTo>
                <a:lnTo>
                  <a:pt x="0" y="17"/>
                </a:lnTo>
                <a:lnTo>
                  <a:pt x="0" y="18"/>
                </a:lnTo>
                <a:lnTo>
                  <a:pt x="1" y="19"/>
                </a:lnTo>
                <a:lnTo>
                  <a:pt x="1" y="19"/>
                </a:lnTo>
                <a:lnTo>
                  <a:pt x="2" y="20"/>
                </a:lnTo>
                <a:lnTo>
                  <a:pt x="2" y="20"/>
                </a:lnTo>
                <a:lnTo>
                  <a:pt x="3" y="20"/>
                </a:lnTo>
                <a:lnTo>
                  <a:pt x="4" y="21"/>
                </a:lnTo>
                <a:lnTo>
                  <a:pt x="44" y="21"/>
                </a:lnTo>
                <a:lnTo>
                  <a:pt x="45" y="20"/>
                </a:lnTo>
                <a:lnTo>
                  <a:pt x="46" y="20"/>
                </a:lnTo>
                <a:lnTo>
                  <a:pt x="47" y="20"/>
                </a:lnTo>
                <a:lnTo>
                  <a:pt x="47" y="19"/>
                </a:lnTo>
                <a:lnTo>
                  <a:pt x="48" y="19"/>
                </a:lnTo>
                <a:lnTo>
                  <a:pt x="48" y="18"/>
                </a:lnTo>
                <a:lnTo>
                  <a:pt x="48" y="17"/>
                </a:lnTo>
                <a:lnTo>
                  <a:pt x="48" y="17"/>
                </a:lnTo>
                <a:lnTo>
                  <a:pt x="48" y="4"/>
                </a:lnTo>
                <a:lnTo>
                  <a:pt x="48" y="4"/>
                </a:lnTo>
                <a:lnTo>
                  <a:pt x="48" y="3"/>
                </a:lnTo>
                <a:lnTo>
                  <a:pt x="48" y="2"/>
                </a:lnTo>
                <a:lnTo>
                  <a:pt x="47" y="2"/>
                </a:lnTo>
                <a:lnTo>
                  <a:pt x="47" y="1"/>
                </a:lnTo>
                <a:lnTo>
                  <a:pt x="46" y="1"/>
                </a:lnTo>
                <a:lnTo>
                  <a:pt x="45" y="1"/>
                </a:lnTo>
                <a:lnTo>
                  <a:pt x="44" y="0"/>
                </a:lnTo>
                <a:close/>
              </a:path>
            </a:pathLst>
          </a:custGeom>
          <a:solidFill>
            <a:srgbClr val="003373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9" name="Connector 48"/>
          <p:cNvCxnSpPr/>
          <p:nvPr/>
        </p:nvCxnSpPr>
        <p:spPr>
          <a:xfrm flipH="1">
            <a:off x="2387383" y="2135234"/>
            <a:ext cx="137652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2336772" y="2185845"/>
            <a:ext cx="0" cy="18016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2387383" y="2416617"/>
            <a:ext cx="137652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3814518" y="2185845"/>
            <a:ext cx="0" cy="18016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H="1">
            <a:off x="3999324" y="2148273"/>
            <a:ext cx="635316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3948713" y="2198883"/>
            <a:ext cx="0" cy="154085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3999324" y="2403579"/>
            <a:ext cx="635316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4685251" y="2198883"/>
            <a:ext cx="0" cy="154085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2228567" y="1057719"/>
            <a:ext cx="10382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Freeform 57"/>
          <p:cNvSpPr/>
          <p:nvPr/>
        </p:nvSpPr>
        <p:spPr>
          <a:xfrm>
            <a:off x="2311400" y="10414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1"/>
                </a:moveTo>
                <a:lnTo>
                  <a:pt x="0" y="0"/>
                </a:lnTo>
                <a:lnTo>
                  <a:pt x="2" y="1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9" name="Connector 58"/>
          <p:cNvCxnSpPr/>
          <p:nvPr/>
        </p:nvCxnSpPr>
        <p:spPr>
          <a:xfrm>
            <a:off x="3075645" y="1200941"/>
            <a:ext cx="0" cy="10382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Freeform 59"/>
          <p:cNvSpPr/>
          <p:nvPr/>
        </p:nvSpPr>
        <p:spPr>
          <a:xfrm>
            <a:off x="3060700" y="12954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0"/>
                </a:lnTo>
                <a:lnTo>
                  <a:pt x="1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1" name="Connector 60"/>
          <p:cNvCxnSpPr/>
          <p:nvPr/>
        </p:nvCxnSpPr>
        <p:spPr>
          <a:xfrm>
            <a:off x="3075645" y="1614070"/>
            <a:ext cx="0" cy="10382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Freeform 61"/>
          <p:cNvSpPr/>
          <p:nvPr/>
        </p:nvSpPr>
        <p:spPr>
          <a:xfrm>
            <a:off x="3060700" y="17018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0"/>
                </a:lnTo>
                <a:lnTo>
                  <a:pt x="1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3" name="Connector 62"/>
          <p:cNvCxnSpPr/>
          <p:nvPr/>
        </p:nvCxnSpPr>
        <p:spPr>
          <a:xfrm>
            <a:off x="3075645" y="2003570"/>
            <a:ext cx="0" cy="10382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Freeform 63"/>
          <p:cNvSpPr/>
          <p:nvPr/>
        </p:nvSpPr>
        <p:spPr>
          <a:xfrm>
            <a:off x="3060700" y="20955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0"/>
                </a:lnTo>
                <a:lnTo>
                  <a:pt x="1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5" name="Connector 64"/>
          <p:cNvCxnSpPr/>
          <p:nvPr/>
        </p:nvCxnSpPr>
        <p:spPr>
          <a:xfrm>
            <a:off x="3817049" y="2275926"/>
            <a:ext cx="10382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Freeform 65"/>
          <p:cNvSpPr/>
          <p:nvPr/>
        </p:nvSpPr>
        <p:spPr>
          <a:xfrm>
            <a:off x="3911600" y="22606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7" name="Connector 66"/>
          <p:cNvCxnSpPr/>
          <p:nvPr/>
        </p:nvCxnSpPr>
        <p:spPr>
          <a:xfrm flipH="1">
            <a:off x="2154240" y="2275926"/>
            <a:ext cx="180002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V="1">
            <a:off x="2154240" y="1472072"/>
            <a:ext cx="0" cy="80385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2154240" y="1472072"/>
            <a:ext cx="488291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Freeform 69"/>
          <p:cNvSpPr/>
          <p:nvPr/>
        </p:nvSpPr>
        <p:spPr>
          <a:xfrm>
            <a:off x="2628900" y="14478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3" y="2"/>
                </a:moveTo>
                <a:lnTo>
                  <a:pt x="0" y="0"/>
                </a:lnTo>
                <a:lnTo>
                  <a:pt x="1" y="2"/>
                </a:lnTo>
                <a:lnTo>
                  <a:pt x="0" y="4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1" name="Connector 70"/>
          <p:cNvCxnSpPr/>
          <p:nvPr/>
        </p:nvCxnSpPr>
        <p:spPr>
          <a:xfrm flipH="1">
            <a:off x="4083989" y="1744168"/>
            <a:ext cx="50299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4033378" y="1794779"/>
            <a:ext cx="0" cy="157216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4083989" y="2002606"/>
            <a:ext cx="50299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 flipV="1">
            <a:off x="4637594" y="1794779"/>
            <a:ext cx="0" cy="157216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Freeform 74"/>
          <p:cNvSpPr/>
          <p:nvPr/>
        </p:nvSpPr>
        <p:spPr>
          <a:xfrm>
            <a:off x="3987800" y="17907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1" y="0"/>
                </a:lnTo>
                <a:lnTo>
                  <a:pt x="1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Freeform 75"/>
          <p:cNvSpPr/>
          <p:nvPr/>
        </p:nvSpPr>
        <p:spPr>
          <a:xfrm>
            <a:off x="3987800" y="18542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0" y="0"/>
                </a:lnTo>
                <a:lnTo>
                  <a:pt x="1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Freeform 76"/>
          <p:cNvSpPr/>
          <p:nvPr/>
        </p:nvSpPr>
        <p:spPr>
          <a:xfrm>
            <a:off x="3987800" y="19177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8" name="Connector 77"/>
          <p:cNvCxnSpPr/>
          <p:nvPr/>
        </p:nvCxnSpPr>
        <p:spPr>
          <a:xfrm flipH="1">
            <a:off x="3967040" y="1176926"/>
            <a:ext cx="655586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3916429" y="1227537"/>
            <a:ext cx="0" cy="31689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3967040" y="1595041"/>
            <a:ext cx="655586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 flipV="1">
            <a:off x="4673237" y="1227537"/>
            <a:ext cx="0" cy="31689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 flipH="1">
            <a:off x="4028304" y="1729235"/>
            <a:ext cx="533057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3977693" y="1779846"/>
            <a:ext cx="0" cy="15482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4028304" y="1985281"/>
            <a:ext cx="533057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 flipV="1">
            <a:off x="4611972" y="1779846"/>
            <a:ext cx="0" cy="15482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4294833" y="1597571"/>
            <a:ext cx="0" cy="10382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Freeform 86"/>
          <p:cNvSpPr/>
          <p:nvPr/>
        </p:nvSpPr>
        <p:spPr>
          <a:xfrm>
            <a:off x="4279900" y="16891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0"/>
                </a:lnTo>
                <a:lnTo>
                  <a:pt x="1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8" name="Connector 87"/>
          <p:cNvCxnSpPr/>
          <p:nvPr/>
        </p:nvCxnSpPr>
        <p:spPr>
          <a:xfrm flipV="1">
            <a:off x="3483454" y="1143260"/>
            <a:ext cx="516532" cy="18681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>
            <a:off x="3483454" y="1614070"/>
            <a:ext cx="590049" cy="44848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Rectangle 89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2880004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2" name="Picture 9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93" name="Picture 9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94" name="TextBox 93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Genetic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algorithm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160868" y="1010084"/>
            <a:ext cx="4624527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Problem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formulation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2446311" y="999835"/>
            <a:ext cx="3339084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Initialisation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population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2756445" y="1412953"/>
            <a:ext cx="3028950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Reproduction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854718" y="1822948"/>
            <a:ext cx="2930677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FFFFFF"/>
                </a:solidFill>
                <a:latin typeface="Josefin Sans"/>
              </a:rPr>
              <a:t>Mutation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2422854" y="2218019"/>
            <a:ext cx="3362541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Replacement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population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034776" y="2225487"/>
            <a:ext cx="1750619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Termination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119435" y="1824522"/>
            <a:ext cx="1665960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Selection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008525" y="1257277"/>
            <a:ext cx="1776870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Selection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as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4002493" y="1396456"/>
            <a:ext cx="1782902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parent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pairs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4063758" y="1806450"/>
            <a:ext cx="1721637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Crossover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4898770" y="3150917"/>
            <a:ext cx="8866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622289" y="3150693"/>
            <a:ext cx="16310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69</a:t>
            </a:r>
          </a:p>
        </p:txBody>
      </p:sp>
    </p:spTree>
  </p:cSld>
  <p:clrMapOvr>
    <a:masterClrMapping/>
  </p:clrMapOvr>
</p:sld>
</file>

<file path=ppt/slides/slide2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28096192" y="-22795531"/>
            <a:ext cx="49962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28536487" y="-22795531"/>
            <a:ext cx="92088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ectangle 37"/>
          <p:cNvSpPr/>
          <p:nvPr/>
        </p:nvSpPr>
        <p:spPr>
          <a:xfrm>
            <a:off x="-3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880000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Example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9993" y="837798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Mutation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determined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mutation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rate/probability,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p</a:t>
            </a:r>
            <a:r>
              <a:rPr sz="797" b="0">
                <a:solidFill>
                  <a:srgbClr val="000000"/>
                </a:solidFill>
                <a:latin typeface="Cambria Math"/>
              </a:rPr>
              <a:t>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898767" y="3150917"/>
            <a:ext cx="88662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19479" y="3150693"/>
            <a:ext cx="16591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70</a:t>
            </a:r>
          </a:p>
        </p:txBody>
      </p:sp>
    </p:spTree>
  </p:cSld>
  <p:clrMapOvr>
    <a:masterClrMapping/>
  </p:clrMapOvr>
</p:sld>
</file>

<file path=ppt/slides/slide2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28096192" y="-22795532"/>
            <a:ext cx="49962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28536487" y="-22795532"/>
            <a:ext cx="92088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ectangle 37"/>
          <p:cNvSpPr/>
          <p:nvPr/>
        </p:nvSpPr>
        <p:spPr>
          <a:xfrm>
            <a:off x="-3" y="3146740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880000" y="3146740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Example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9993" y="837798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Mutation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determined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mutation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rate/probability,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p</a:t>
            </a:r>
            <a:r>
              <a:rPr sz="797" b="0">
                <a:solidFill>
                  <a:srgbClr val="000000"/>
                </a:solidFill>
                <a:latin typeface="Cambria Math"/>
              </a:rPr>
              <a:t>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.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case,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let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us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9993" y="1009870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define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p</a:t>
            </a:r>
            <a:r>
              <a:rPr sz="797" b="0">
                <a:solidFill>
                  <a:srgbClr val="000000"/>
                </a:solidFill>
                <a:latin typeface="Cambria Math"/>
              </a:rPr>
              <a:t>m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= 0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.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01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898767" y="3150916"/>
            <a:ext cx="88662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19479" y="3150692"/>
            <a:ext cx="16591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70</a:t>
            </a:r>
          </a:p>
        </p:txBody>
      </p:sp>
    </p:spTree>
  </p:cSld>
  <p:clrMapOvr>
    <a:masterClrMapping/>
  </p:clrMapOvr>
</p:sld>
</file>

<file path=ppt/slides/slide2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28096192" y="-22795532"/>
            <a:ext cx="49962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28536487" y="-22795532"/>
            <a:ext cx="92088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ectangle 37"/>
          <p:cNvSpPr/>
          <p:nvPr/>
        </p:nvSpPr>
        <p:spPr>
          <a:xfrm>
            <a:off x="-3" y="3146740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880000" y="3146740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Example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9993" y="837798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Mutation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determined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mutation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rate/probability,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p</a:t>
            </a:r>
            <a:r>
              <a:rPr sz="797" b="0">
                <a:solidFill>
                  <a:srgbClr val="000000"/>
                </a:solidFill>
                <a:latin typeface="Cambria Math"/>
              </a:rPr>
              <a:t>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.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case,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let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us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9993" y="1009870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define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p</a:t>
            </a:r>
            <a:r>
              <a:rPr sz="797" b="0">
                <a:solidFill>
                  <a:srgbClr val="000000"/>
                </a:solidFill>
                <a:latin typeface="Cambria Math"/>
              </a:rPr>
              <a:t>m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= 0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.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01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9991" y="1320346"/>
            <a:ext cx="542540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As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every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bit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has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equal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chance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mutation,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random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number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between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0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1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59991" y="1492418"/>
            <a:ext cx="542540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generated for each bit.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If the random number is less than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p</a:t>
            </a:r>
            <a:r>
              <a:rPr sz="797" b="0">
                <a:solidFill>
                  <a:srgbClr val="000000"/>
                </a:solidFill>
                <a:latin typeface="Cambria Math"/>
              </a:rPr>
              <a:t>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i.e.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0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.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01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then the bit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will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59991" y="1664503"/>
            <a:ext cx="542540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be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mutated.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898767" y="3150916"/>
            <a:ext cx="88662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619479" y="3150692"/>
            <a:ext cx="16591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70</a:t>
            </a:r>
          </a:p>
        </p:txBody>
      </p:sp>
    </p:spTree>
  </p:cSld>
  <p:clrMapOvr>
    <a:masterClrMapping/>
  </p:clrMapOvr>
</p:sld>
</file>

<file path=ppt/slides/slide2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28096192" y="-22795532"/>
            <a:ext cx="49962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28536487" y="-22795532"/>
            <a:ext cx="92088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ectangle 37"/>
          <p:cNvSpPr/>
          <p:nvPr/>
        </p:nvSpPr>
        <p:spPr>
          <a:xfrm>
            <a:off x="-3" y="3146740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880000" y="3146740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Example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9993" y="837798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Mutation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determined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mutation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rate/probability,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p</a:t>
            </a:r>
            <a:r>
              <a:rPr sz="797" b="0">
                <a:solidFill>
                  <a:srgbClr val="000000"/>
                </a:solidFill>
                <a:latin typeface="Cambria Math"/>
              </a:rPr>
              <a:t>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.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case,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let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us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9993" y="1009870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define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p</a:t>
            </a:r>
            <a:r>
              <a:rPr sz="797" b="0">
                <a:solidFill>
                  <a:srgbClr val="000000"/>
                </a:solidFill>
                <a:latin typeface="Cambria Math"/>
              </a:rPr>
              <a:t>m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= 0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.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01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9991" y="1320346"/>
            <a:ext cx="542540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As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every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bit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has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equal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chance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mutation,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random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number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between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0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1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59991" y="1492418"/>
            <a:ext cx="542540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generated for each bit.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If the random number is less than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p</a:t>
            </a:r>
            <a:r>
              <a:rPr sz="797" b="0">
                <a:solidFill>
                  <a:srgbClr val="000000"/>
                </a:solidFill>
                <a:latin typeface="Cambria Math"/>
              </a:rPr>
              <a:t>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i.e.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0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.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01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then the bit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will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59991" y="1664503"/>
            <a:ext cx="542540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be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mutated.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59992" y="1924701"/>
            <a:ext cx="542540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40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random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numbers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generated,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only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3</a:t>
            </a:r>
            <a:r>
              <a:rPr sz="797" b="0">
                <a:solidFill>
                  <a:srgbClr val="000000"/>
                </a:solidFill>
                <a:latin typeface="Josefin Sans"/>
              </a:rPr>
              <a:t>rd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bit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2</a:t>
            </a:r>
            <a:r>
              <a:rPr sz="797" b="0">
                <a:solidFill>
                  <a:srgbClr val="000000"/>
                </a:solidFill>
                <a:latin typeface="Josefin Sans"/>
              </a:rPr>
              <a:t>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child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c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)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subjected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59992" y="2147053"/>
            <a:ext cx="542540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mutation.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98767" y="3150916"/>
            <a:ext cx="88662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619479" y="3150692"/>
            <a:ext cx="16591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70</a:t>
            </a:r>
          </a:p>
        </p:txBody>
      </p:sp>
    </p:spTree>
  </p:cSld>
  <p:clrMapOvr>
    <a:masterClrMapping/>
  </p:clrMapOvr>
</p:sld>
</file>

<file path=ppt/slides/slide2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2695864" y="2604794"/>
            <a:ext cx="49962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3136160" y="2604794"/>
            <a:ext cx="92088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ectangle 37"/>
          <p:cNvSpPr/>
          <p:nvPr/>
        </p:nvSpPr>
        <p:spPr>
          <a:xfrm>
            <a:off x="-2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880002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Example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9993" y="837798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Mutation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determined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mutation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rate/probability,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p</a:t>
            </a:r>
            <a:r>
              <a:rPr sz="797" b="0">
                <a:solidFill>
                  <a:srgbClr val="000000"/>
                </a:solidFill>
                <a:latin typeface="Cambria Math"/>
              </a:rPr>
              <a:t>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.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case,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let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us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9993" y="1009870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define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p</a:t>
            </a:r>
            <a:r>
              <a:rPr sz="797" b="0">
                <a:solidFill>
                  <a:srgbClr val="000000"/>
                </a:solidFill>
                <a:latin typeface="Cambria Math"/>
              </a:rPr>
              <a:t>m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= 0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.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01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9991" y="1320346"/>
            <a:ext cx="542540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As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every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bit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has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equal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chance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mutation,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random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number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between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0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1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59991" y="1492418"/>
            <a:ext cx="542540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generated for each bit.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If the random number is less than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p</a:t>
            </a:r>
            <a:r>
              <a:rPr sz="797" b="0">
                <a:solidFill>
                  <a:srgbClr val="000000"/>
                </a:solidFill>
                <a:latin typeface="Cambria Math"/>
              </a:rPr>
              <a:t>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i.e.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0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.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01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then the bit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will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59991" y="1664503"/>
            <a:ext cx="542540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be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mutated.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59992" y="1924701"/>
            <a:ext cx="542540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40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random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numbers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generated,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only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3</a:t>
            </a:r>
            <a:r>
              <a:rPr sz="797" b="0">
                <a:solidFill>
                  <a:srgbClr val="000000"/>
                </a:solidFill>
                <a:latin typeface="Josefin Sans"/>
              </a:rPr>
              <a:t>rd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bit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2</a:t>
            </a:r>
            <a:r>
              <a:rPr sz="797" b="0">
                <a:solidFill>
                  <a:srgbClr val="000000"/>
                </a:solidFill>
                <a:latin typeface="Josefin Sans"/>
              </a:rPr>
              <a:t>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child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c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)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subjected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59992" y="2147053"/>
            <a:ext cx="542540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mutation.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449154" y="2457542"/>
            <a:ext cx="333624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c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1110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→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1100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898768" y="3150917"/>
            <a:ext cx="88662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619481" y="3150693"/>
            <a:ext cx="16591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70</a:t>
            </a:r>
          </a:p>
        </p:txBody>
      </p:sp>
    </p:spTree>
  </p:cSld>
  <p:clrMapOvr>
    <a:masterClrMapping/>
  </p:clrMapOvr>
</p:sld>
</file>

<file path=ppt/slides/slide2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1751901" y="935405"/>
            <a:ext cx="392226" cy="170814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144127" y="935405"/>
            <a:ext cx="625030" cy="170814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769158" y="935405"/>
            <a:ext cx="802271" cy="170814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571430" y="935405"/>
            <a:ext cx="467741" cy="170814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751901" y="1277023"/>
            <a:ext cx="392226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144127" y="1277023"/>
            <a:ext cx="625030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769158" y="1277023"/>
            <a:ext cx="802271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571430" y="1277023"/>
            <a:ext cx="467741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751901" y="1618640"/>
            <a:ext cx="392226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2144127" y="1618640"/>
            <a:ext cx="625030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2769158" y="1618640"/>
            <a:ext cx="802271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3571430" y="1618640"/>
            <a:ext cx="467741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751901" y="1960257"/>
            <a:ext cx="392226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2144127" y="1960257"/>
            <a:ext cx="625030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2769158" y="1960257"/>
            <a:ext cx="802271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3571430" y="1960257"/>
            <a:ext cx="467741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751901" y="2301875"/>
            <a:ext cx="392226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2144127" y="2301875"/>
            <a:ext cx="625030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2769158" y="2301875"/>
            <a:ext cx="802271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3571430" y="2301875"/>
            <a:ext cx="467741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1751901" y="2643492"/>
            <a:ext cx="392226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2144127" y="2643492"/>
            <a:ext cx="625030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2769158" y="2643492"/>
            <a:ext cx="802271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3571430" y="2643492"/>
            <a:ext cx="467741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2880004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2" name="Picture 6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63" name="Picture 6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64" name="TextBox 63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Example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59993" y="699863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final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versions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children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produced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are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827808" y="964349"/>
            <a:ext cx="395758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1">
                <a:solidFill>
                  <a:srgbClr val="FFFFFF"/>
                </a:solidFill>
                <a:latin typeface="Josefin Sans"/>
              </a:rPr>
              <a:t>Child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220048" y="964349"/>
            <a:ext cx="356534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1">
                <a:solidFill>
                  <a:srgbClr val="FFFFFF"/>
                </a:solidFill>
                <a:latin typeface="Josefin Sans"/>
              </a:rPr>
              <a:t>Gray</a:t>
            </a:r>
            <a:r>
              <a:rPr sz="797" b="1">
                <a:solidFill>
                  <a:srgbClr val="FFFFFF"/>
                </a:solidFill>
                <a:latin typeface="Josefin Sans"/>
              </a:rPr>
              <a:t> </a:t>
            </a:r>
            <a:r>
              <a:rPr sz="797" b="1">
                <a:solidFill>
                  <a:srgbClr val="FFFFFF"/>
                </a:solidFill>
                <a:latin typeface="Josefin Sans"/>
              </a:rPr>
              <a:t>code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845079" y="964349"/>
            <a:ext cx="294031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1">
                <a:solidFill>
                  <a:srgbClr val="FFFFFF"/>
                </a:solidFill>
                <a:latin typeface="Josefin Sans"/>
              </a:rPr>
              <a:t>Decimal</a:t>
            </a:r>
            <a:r>
              <a:rPr sz="797" b="1">
                <a:solidFill>
                  <a:srgbClr val="FFFFFF"/>
                </a:solidFill>
                <a:latin typeface="Josefin Sans"/>
              </a:rPr>
              <a:t> </a:t>
            </a:r>
            <a:r>
              <a:rPr sz="797" b="1">
                <a:solidFill>
                  <a:srgbClr val="FFFFFF"/>
                </a:solidFill>
                <a:latin typeface="Josefin Sans"/>
              </a:rPr>
              <a:t>value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647350" y="964349"/>
            <a:ext cx="213804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1">
                <a:solidFill>
                  <a:srgbClr val="FFFFFF"/>
                </a:solidFill>
                <a:latin typeface="Josefin Sans"/>
              </a:rPr>
              <a:t>Fitness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898357" y="1136550"/>
            <a:ext cx="388703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c</a:t>
            </a:r>
            <a:r>
              <a:rPr sz="5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19121" y="1134853"/>
            <a:ext cx="346627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0010</a:t>
            </a:r>
            <a:r>
              <a:rPr sz="597" b="0">
                <a:solidFill>
                  <a:srgbClr val="000000"/>
                </a:solidFill>
                <a:latin typeface="Cambria Math"/>
              </a:rPr>
              <a:t>g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143986" y="1134853"/>
            <a:ext cx="264141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752218" y="1134853"/>
            <a:ext cx="203317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36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898357" y="1307364"/>
            <a:ext cx="388703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c</a:t>
            </a:r>
            <a:r>
              <a:rPr sz="59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334513" y="1305668"/>
            <a:ext cx="345088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1100</a:t>
            </a:r>
            <a:r>
              <a:rPr sz="597" b="0">
                <a:solidFill>
                  <a:srgbClr val="000000"/>
                </a:solidFill>
                <a:latin typeface="Cambria Math"/>
              </a:rPr>
              <a:t>g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144291" y="1305668"/>
            <a:ext cx="264110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8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751858" y="1305668"/>
            <a:ext cx="203353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56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898357" y="1478167"/>
            <a:ext cx="388703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c</a:t>
            </a:r>
            <a:r>
              <a:rPr sz="597" b="0">
                <a:solidFill>
                  <a:srgbClr val="000000"/>
                </a:solidFill>
                <a:latin typeface="Cambria Math"/>
              </a:rPr>
              <a:t>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349893" y="1476470"/>
            <a:ext cx="343550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1011</a:t>
            </a:r>
            <a:r>
              <a:rPr sz="597" b="0">
                <a:solidFill>
                  <a:srgbClr val="000000"/>
                </a:solidFill>
                <a:latin typeface="Cambria Math"/>
              </a:rPr>
              <a:t>g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128035" y="1476470"/>
            <a:ext cx="265736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13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752867" y="1476470"/>
            <a:ext cx="203252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26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898357" y="1648982"/>
            <a:ext cx="388703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c</a:t>
            </a:r>
            <a:r>
              <a:rPr sz="597" b="0">
                <a:solidFill>
                  <a:srgbClr val="000000"/>
                </a:solidFill>
                <a:latin typeface="Cambria Math"/>
              </a:rPr>
              <a:t>4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2349893" y="1647285"/>
            <a:ext cx="343550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1101</a:t>
            </a:r>
            <a:r>
              <a:rPr sz="597" b="0">
                <a:solidFill>
                  <a:srgbClr val="000000"/>
                </a:solidFill>
                <a:latin typeface="Cambria Math"/>
              </a:rPr>
              <a:t>g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143529" y="1647285"/>
            <a:ext cx="264186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9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3752417" y="1647285"/>
            <a:ext cx="203297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54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98357" y="1819784"/>
            <a:ext cx="388703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c</a:t>
            </a:r>
            <a:r>
              <a:rPr sz="597" b="0">
                <a:solidFill>
                  <a:srgbClr val="000000"/>
                </a:solidFill>
                <a:latin typeface="Cambria Math"/>
              </a:rPr>
              <a:t>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365285" y="1818087"/>
            <a:ext cx="342011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1111</a:t>
            </a:r>
            <a:r>
              <a:rPr sz="597" b="0">
                <a:solidFill>
                  <a:srgbClr val="000000"/>
                </a:solidFill>
                <a:latin typeface="Cambria Math"/>
              </a:rPr>
              <a:t>g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123031" y="1818087"/>
            <a:ext cx="266236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10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3747256" y="1818087"/>
            <a:ext cx="203813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50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898357" y="1990599"/>
            <a:ext cx="388703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c</a:t>
            </a:r>
            <a:r>
              <a:rPr sz="597" b="0">
                <a:solidFill>
                  <a:srgbClr val="000000"/>
                </a:solidFill>
                <a:latin typeface="Cambria Math"/>
              </a:rPr>
              <a:t>6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349893" y="1988902"/>
            <a:ext cx="343550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0111</a:t>
            </a:r>
            <a:r>
              <a:rPr sz="597" b="0">
                <a:solidFill>
                  <a:srgbClr val="000000"/>
                </a:solidFill>
                <a:latin typeface="Cambria Math"/>
              </a:rPr>
              <a:t>g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3143630" y="1988902"/>
            <a:ext cx="264176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747312" y="1988902"/>
            <a:ext cx="203808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50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898357" y="2161414"/>
            <a:ext cx="388703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c</a:t>
            </a:r>
            <a:r>
              <a:rPr sz="597" b="0">
                <a:solidFill>
                  <a:srgbClr val="000000"/>
                </a:solidFill>
                <a:latin typeface="Cambria Math"/>
              </a:rPr>
              <a:t>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319121" y="2159717"/>
            <a:ext cx="346627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0010</a:t>
            </a:r>
            <a:r>
              <a:rPr sz="597" b="0">
                <a:solidFill>
                  <a:srgbClr val="000000"/>
                </a:solidFill>
                <a:latin typeface="Cambria Math"/>
              </a:rPr>
              <a:t>g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143986" y="2159717"/>
            <a:ext cx="264141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752218" y="2159717"/>
            <a:ext cx="203317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36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898357" y="2332216"/>
            <a:ext cx="388703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c</a:t>
            </a:r>
            <a:r>
              <a:rPr sz="597" b="0">
                <a:solidFill>
                  <a:srgbClr val="000000"/>
                </a:solidFill>
                <a:latin typeface="Cambria Math"/>
              </a:rPr>
              <a:t>8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2334513" y="2330520"/>
            <a:ext cx="345088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0011</a:t>
            </a:r>
            <a:r>
              <a:rPr sz="597" b="0">
                <a:solidFill>
                  <a:srgbClr val="000000"/>
                </a:solidFill>
                <a:latin typeface="Cambria Math"/>
              </a:rPr>
              <a:t>g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144646" y="2330520"/>
            <a:ext cx="264074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3752875" y="2330520"/>
            <a:ext cx="203252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26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898357" y="2503031"/>
            <a:ext cx="388703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c</a:t>
            </a:r>
            <a:r>
              <a:rPr sz="597" b="0">
                <a:solidFill>
                  <a:srgbClr val="000000"/>
                </a:solidFill>
                <a:latin typeface="Cambria Math"/>
              </a:rPr>
              <a:t>9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2303741" y="2501335"/>
            <a:ext cx="348165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0000</a:t>
            </a:r>
            <a:r>
              <a:rPr sz="597" b="0">
                <a:solidFill>
                  <a:srgbClr val="000000"/>
                </a:solidFill>
                <a:latin typeface="Cambria Math"/>
              </a:rPr>
              <a:t>g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3138969" y="2501335"/>
            <a:ext cx="2646426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774025" y="2501335"/>
            <a:ext cx="201137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875167" y="2673834"/>
            <a:ext cx="391022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c</a:t>
            </a:r>
            <a:r>
              <a:rPr sz="597" b="0">
                <a:solidFill>
                  <a:srgbClr val="000000"/>
                </a:solidFill>
                <a:latin typeface="Cambria Math"/>
              </a:rPr>
              <a:t>10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349893" y="2672137"/>
            <a:ext cx="343550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1011</a:t>
            </a:r>
            <a:r>
              <a:rPr sz="597" b="0">
                <a:solidFill>
                  <a:srgbClr val="000000"/>
                </a:solidFill>
                <a:latin typeface="Cambria Math"/>
              </a:rPr>
              <a:t>g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3128035" y="2672137"/>
            <a:ext cx="265736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13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3752875" y="2672137"/>
            <a:ext cx="203252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26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4898770" y="3150917"/>
            <a:ext cx="8866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5642559" y="3150693"/>
            <a:ext cx="14283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71</a:t>
            </a:r>
          </a:p>
        </p:txBody>
      </p:sp>
    </p:spTree>
  </p:cSld>
  <p:clrMapOvr>
    <a:masterClrMapping/>
  </p:clrMapOvr>
</p:sld>
</file>

<file path=ppt/slides/slide2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H="1">
            <a:off x="1125379" y="927276"/>
            <a:ext cx="1050046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074768" y="977887"/>
            <a:ext cx="0" cy="15966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1125379" y="1188162"/>
            <a:ext cx="1050046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2226036" y="977887"/>
            <a:ext cx="0" cy="15966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H="1">
            <a:off x="2410841" y="917028"/>
            <a:ext cx="132960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2360231" y="967638"/>
            <a:ext cx="0" cy="18016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2410841" y="1198410"/>
            <a:ext cx="132960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3791060" y="967638"/>
            <a:ext cx="0" cy="18016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H="1">
            <a:off x="2720978" y="1332605"/>
            <a:ext cx="709335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2670367" y="1383216"/>
            <a:ext cx="0" cy="17771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2720978" y="1611540"/>
            <a:ext cx="709335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3480923" y="1383216"/>
            <a:ext cx="0" cy="17771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H="1">
            <a:off x="2819251" y="1745734"/>
            <a:ext cx="51278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2768640" y="1796345"/>
            <a:ext cx="0" cy="15408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2819251" y="2001040"/>
            <a:ext cx="51278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3382650" y="1796345"/>
            <a:ext cx="0" cy="15408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Freeform 51"/>
          <p:cNvSpPr/>
          <p:nvPr/>
        </p:nvSpPr>
        <p:spPr>
          <a:xfrm>
            <a:off x="2336800" y="2133600"/>
            <a:ext cx="1473200" cy="279400"/>
          </a:xfrm>
          <a:custGeom>
            <a:avLst/>
            <a:gdLst/>
            <a:ahLst/>
            <a:cxnLst/>
            <a:rect l="l" t="t" r="r" b="b"/>
            <a:pathLst>
              <a:path w="116" h="22">
                <a:moveTo>
                  <a:pt x="112" y="0"/>
                </a:moveTo>
                <a:lnTo>
                  <a:pt x="4" y="0"/>
                </a:lnTo>
                <a:lnTo>
                  <a:pt x="3" y="0"/>
                </a:lnTo>
                <a:lnTo>
                  <a:pt x="2" y="0"/>
                </a:lnTo>
                <a:lnTo>
                  <a:pt x="2" y="1"/>
                </a:lnTo>
                <a:lnTo>
                  <a:pt x="1" y="1"/>
                </a:lnTo>
                <a:lnTo>
                  <a:pt x="1" y="2"/>
                </a:lnTo>
                <a:lnTo>
                  <a:pt x="0" y="3"/>
                </a:lnTo>
                <a:lnTo>
                  <a:pt x="0" y="3"/>
                </a:lnTo>
                <a:lnTo>
                  <a:pt x="0" y="4"/>
                </a:lnTo>
                <a:lnTo>
                  <a:pt x="0" y="18"/>
                </a:lnTo>
                <a:lnTo>
                  <a:pt x="0" y="19"/>
                </a:lnTo>
                <a:lnTo>
                  <a:pt x="0" y="20"/>
                </a:lnTo>
                <a:lnTo>
                  <a:pt x="1" y="21"/>
                </a:lnTo>
                <a:lnTo>
                  <a:pt x="1" y="21"/>
                </a:lnTo>
                <a:lnTo>
                  <a:pt x="2" y="22"/>
                </a:lnTo>
                <a:lnTo>
                  <a:pt x="2" y="22"/>
                </a:lnTo>
                <a:lnTo>
                  <a:pt x="3" y="22"/>
                </a:lnTo>
                <a:lnTo>
                  <a:pt x="4" y="22"/>
                </a:lnTo>
                <a:lnTo>
                  <a:pt x="112" y="22"/>
                </a:lnTo>
                <a:lnTo>
                  <a:pt x="113" y="22"/>
                </a:lnTo>
                <a:lnTo>
                  <a:pt x="114" y="22"/>
                </a:lnTo>
                <a:lnTo>
                  <a:pt x="115" y="22"/>
                </a:lnTo>
                <a:lnTo>
                  <a:pt x="115" y="21"/>
                </a:lnTo>
                <a:lnTo>
                  <a:pt x="116" y="21"/>
                </a:lnTo>
                <a:lnTo>
                  <a:pt x="116" y="20"/>
                </a:lnTo>
                <a:lnTo>
                  <a:pt x="116" y="19"/>
                </a:lnTo>
                <a:lnTo>
                  <a:pt x="116" y="18"/>
                </a:lnTo>
                <a:lnTo>
                  <a:pt x="116" y="4"/>
                </a:lnTo>
                <a:lnTo>
                  <a:pt x="116" y="3"/>
                </a:lnTo>
                <a:lnTo>
                  <a:pt x="116" y="3"/>
                </a:lnTo>
                <a:lnTo>
                  <a:pt x="116" y="2"/>
                </a:lnTo>
                <a:lnTo>
                  <a:pt x="115" y="1"/>
                </a:lnTo>
                <a:lnTo>
                  <a:pt x="115" y="1"/>
                </a:lnTo>
                <a:lnTo>
                  <a:pt x="114" y="0"/>
                </a:lnTo>
                <a:lnTo>
                  <a:pt x="113" y="0"/>
                </a:lnTo>
                <a:lnTo>
                  <a:pt x="112" y="0"/>
                </a:lnTo>
                <a:close/>
              </a:path>
            </a:pathLst>
          </a:custGeom>
          <a:solidFill>
            <a:srgbClr val="003373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3" name="Connector 52"/>
          <p:cNvCxnSpPr/>
          <p:nvPr/>
        </p:nvCxnSpPr>
        <p:spPr>
          <a:xfrm flipH="1">
            <a:off x="3999324" y="2148273"/>
            <a:ext cx="635316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3948713" y="2198883"/>
            <a:ext cx="0" cy="154085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3999324" y="2403579"/>
            <a:ext cx="635316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4685251" y="2198883"/>
            <a:ext cx="0" cy="154085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2228567" y="1057719"/>
            <a:ext cx="10382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Freeform 57"/>
          <p:cNvSpPr/>
          <p:nvPr/>
        </p:nvSpPr>
        <p:spPr>
          <a:xfrm>
            <a:off x="2311400" y="10414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1"/>
                </a:moveTo>
                <a:lnTo>
                  <a:pt x="0" y="0"/>
                </a:lnTo>
                <a:lnTo>
                  <a:pt x="2" y="1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9" name="Connector 58"/>
          <p:cNvCxnSpPr/>
          <p:nvPr/>
        </p:nvCxnSpPr>
        <p:spPr>
          <a:xfrm>
            <a:off x="3075645" y="1200941"/>
            <a:ext cx="0" cy="10382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Freeform 59"/>
          <p:cNvSpPr/>
          <p:nvPr/>
        </p:nvSpPr>
        <p:spPr>
          <a:xfrm>
            <a:off x="3060700" y="12954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0"/>
                </a:lnTo>
                <a:lnTo>
                  <a:pt x="1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1" name="Connector 60"/>
          <p:cNvCxnSpPr/>
          <p:nvPr/>
        </p:nvCxnSpPr>
        <p:spPr>
          <a:xfrm>
            <a:off x="3075645" y="1614070"/>
            <a:ext cx="0" cy="10382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Freeform 61"/>
          <p:cNvSpPr/>
          <p:nvPr/>
        </p:nvSpPr>
        <p:spPr>
          <a:xfrm>
            <a:off x="3060700" y="17018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0"/>
                </a:lnTo>
                <a:lnTo>
                  <a:pt x="1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3" name="Connector 62"/>
          <p:cNvCxnSpPr/>
          <p:nvPr/>
        </p:nvCxnSpPr>
        <p:spPr>
          <a:xfrm>
            <a:off x="3075645" y="2003570"/>
            <a:ext cx="0" cy="10382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Freeform 63"/>
          <p:cNvSpPr/>
          <p:nvPr/>
        </p:nvSpPr>
        <p:spPr>
          <a:xfrm>
            <a:off x="3060700" y="20955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0"/>
                </a:lnTo>
                <a:lnTo>
                  <a:pt x="1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5" name="Connector 64"/>
          <p:cNvCxnSpPr/>
          <p:nvPr/>
        </p:nvCxnSpPr>
        <p:spPr>
          <a:xfrm>
            <a:off x="3817049" y="2275926"/>
            <a:ext cx="10382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Freeform 65"/>
          <p:cNvSpPr/>
          <p:nvPr/>
        </p:nvSpPr>
        <p:spPr>
          <a:xfrm>
            <a:off x="3911600" y="22606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7" name="Connector 66"/>
          <p:cNvCxnSpPr/>
          <p:nvPr/>
        </p:nvCxnSpPr>
        <p:spPr>
          <a:xfrm flipH="1">
            <a:off x="2154240" y="2275926"/>
            <a:ext cx="180002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V="1">
            <a:off x="2154240" y="1472072"/>
            <a:ext cx="0" cy="80385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2154240" y="1472072"/>
            <a:ext cx="488291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Freeform 69"/>
          <p:cNvSpPr/>
          <p:nvPr/>
        </p:nvSpPr>
        <p:spPr>
          <a:xfrm>
            <a:off x="2628900" y="14478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3" y="2"/>
                </a:moveTo>
                <a:lnTo>
                  <a:pt x="0" y="0"/>
                </a:lnTo>
                <a:lnTo>
                  <a:pt x="1" y="2"/>
                </a:lnTo>
                <a:lnTo>
                  <a:pt x="0" y="4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1" name="Connector 70"/>
          <p:cNvCxnSpPr/>
          <p:nvPr/>
        </p:nvCxnSpPr>
        <p:spPr>
          <a:xfrm flipH="1">
            <a:off x="4083989" y="1744168"/>
            <a:ext cx="50299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4033378" y="1794779"/>
            <a:ext cx="0" cy="157216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4083989" y="2002606"/>
            <a:ext cx="50299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 flipV="1">
            <a:off x="4637594" y="1794779"/>
            <a:ext cx="0" cy="157216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Freeform 74"/>
          <p:cNvSpPr/>
          <p:nvPr/>
        </p:nvSpPr>
        <p:spPr>
          <a:xfrm>
            <a:off x="3987800" y="17907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1" y="0"/>
                </a:lnTo>
                <a:lnTo>
                  <a:pt x="1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Freeform 75"/>
          <p:cNvSpPr/>
          <p:nvPr/>
        </p:nvSpPr>
        <p:spPr>
          <a:xfrm>
            <a:off x="3987800" y="18542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0" y="0"/>
                </a:lnTo>
                <a:lnTo>
                  <a:pt x="1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Freeform 76"/>
          <p:cNvSpPr/>
          <p:nvPr/>
        </p:nvSpPr>
        <p:spPr>
          <a:xfrm>
            <a:off x="3987800" y="19177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8" name="Connector 77"/>
          <p:cNvCxnSpPr/>
          <p:nvPr/>
        </p:nvCxnSpPr>
        <p:spPr>
          <a:xfrm flipH="1">
            <a:off x="3967040" y="1176926"/>
            <a:ext cx="655586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3916429" y="1227537"/>
            <a:ext cx="0" cy="31689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3967040" y="1595041"/>
            <a:ext cx="655586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 flipV="1">
            <a:off x="4673237" y="1227537"/>
            <a:ext cx="0" cy="31689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 flipH="1">
            <a:off x="4028304" y="1729235"/>
            <a:ext cx="533057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3977693" y="1779846"/>
            <a:ext cx="0" cy="15482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4028304" y="1985281"/>
            <a:ext cx="533057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 flipV="1">
            <a:off x="4611972" y="1779846"/>
            <a:ext cx="0" cy="15482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4294833" y="1597571"/>
            <a:ext cx="0" cy="10382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Freeform 86"/>
          <p:cNvSpPr/>
          <p:nvPr/>
        </p:nvSpPr>
        <p:spPr>
          <a:xfrm>
            <a:off x="4279900" y="16891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0"/>
                </a:lnTo>
                <a:lnTo>
                  <a:pt x="1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8" name="Connector 87"/>
          <p:cNvCxnSpPr/>
          <p:nvPr/>
        </p:nvCxnSpPr>
        <p:spPr>
          <a:xfrm flipV="1">
            <a:off x="3483454" y="1143260"/>
            <a:ext cx="516532" cy="18681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>
            <a:off x="3483454" y="1614070"/>
            <a:ext cx="590049" cy="44848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Rectangle 89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2880004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2" name="Picture 9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93" name="Picture 9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94" name="TextBox 93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Genetic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algorithm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160868" y="1010084"/>
            <a:ext cx="4624527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Problem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formulation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2446311" y="999835"/>
            <a:ext cx="3339084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Initialisation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population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2756445" y="1412953"/>
            <a:ext cx="3028950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Reproduction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854718" y="1822948"/>
            <a:ext cx="2930677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Mutation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2422854" y="2218019"/>
            <a:ext cx="3362541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FFFFFF"/>
                </a:solidFill>
                <a:latin typeface="Josefin Sans"/>
              </a:rPr>
              <a:t>Replacement</a:t>
            </a:r>
            <a:r>
              <a:rPr sz="896" b="0">
                <a:solidFill>
                  <a:srgbClr val="FFFFFF"/>
                </a:solidFill>
                <a:latin typeface="Josefin Sans"/>
              </a:rPr>
              <a:t> </a:t>
            </a:r>
            <a:r>
              <a:rPr sz="896" b="0">
                <a:solidFill>
                  <a:srgbClr val="FFFFFF"/>
                </a:solidFill>
                <a:latin typeface="Josefin Sans"/>
              </a:rPr>
              <a:t>of</a:t>
            </a:r>
            <a:r>
              <a:rPr sz="896" b="0">
                <a:solidFill>
                  <a:srgbClr val="FFFFFF"/>
                </a:solidFill>
                <a:latin typeface="Josefin Sans"/>
              </a:rPr>
              <a:t> </a:t>
            </a:r>
            <a:r>
              <a:rPr sz="896" b="0">
                <a:solidFill>
                  <a:srgbClr val="FFFFFF"/>
                </a:solidFill>
                <a:latin typeface="Josefin Sans"/>
              </a:rPr>
              <a:t>population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034776" y="2225487"/>
            <a:ext cx="1750619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Termination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119435" y="1824522"/>
            <a:ext cx="1665960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Selection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008525" y="1257277"/>
            <a:ext cx="1776870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Selection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as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4002493" y="1396456"/>
            <a:ext cx="1782902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parent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pairs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4063758" y="1806450"/>
            <a:ext cx="1721637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Crossover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4898770" y="3150917"/>
            <a:ext cx="8866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627979" y="3150693"/>
            <a:ext cx="15741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72</a:t>
            </a:r>
          </a:p>
        </p:txBody>
      </p:sp>
    </p:spTree>
  </p:cSld>
  <p:clrMapOvr>
    <a:masterClrMapping/>
  </p:clrMapOvr>
</p:sld>
</file>

<file path=ppt/slides/slide2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-2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2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Example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1218074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If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define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that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replacement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strategy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such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that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all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parents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replaced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their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9993" y="1390146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offsprings,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10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children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will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form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next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generation.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98768" y="3150917"/>
            <a:ext cx="88662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26999" y="3150693"/>
            <a:ext cx="15839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73</a:t>
            </a:r>
          </a:p>
        </p:txBody>
      </p:sp>
    </p:spTree>
  </p:cSld>
  <p:clrMapOvr>
    <a:masterClrMapping/>
  </p:clrMapOvr>
</p:sld>
</file>

<file path=ppt/slides/slide2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3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Example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1218074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If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define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that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replacement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strategy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such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that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all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parents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replaced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their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9993" y="1390146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offsprings,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10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children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will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form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next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generation.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9993" y="1752997"/>
            <a:ext cx="542540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Repeat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process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crossover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mutation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until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one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termination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criteria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9993" y="1925069"/>
            <a:ext cx="542540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fulfilled.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898770" y="3150917"/>
            <a:ext cx="8866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27001" y="3150693"/>
            <a:ext cx="15839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73</a:t>
            </a:r>
          </a:p>
        </p:txBody>
      </p:sp>
    </p:spTree>
  </p:cSld>
  <p:clrMapOvr>
    <a:masterClrMapping/>
  </p:clrMapOvr>
</p:sld>
</file>

<file path=ppt/slides/slide2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279029" y="1114755"/>
            <a:ext cx="2770898" cy="0"/>
          </a:xfrm>
          <a:prstGeom prst="line">
            <a:avLst/>
          </a:prstGeom>
          <a:ln w="553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26644724" y="-23355107"/>
            <a:ext cx="2840177" cy="0"/>
          </a:xfrm>
          <a:prstGeom prst="line">
            <a:avLst/>
          </a:prstGeom>
          <a:ln w="553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ectangle 37"/>
          <p:cNvSpPr/>
          <p:nvPr/>
        </p:nvSpPr>
        <p:spPr>
          <a:xfrm>
            <a:off x="0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880003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Example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9993" y="677701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average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fitness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original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generation: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279029" y="947397"/>
            <a:ext cx="450636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44 + 50 + 0 + 36 + 36 + 56 + 0 + 26 + 26 + 14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595206" y="1136157"/>
            <a:ext cx="319018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10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103598" y="1041123"/>
            <a:ext cx="168179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= 28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.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898770" y="3150916"/>
            <a:ext cx="8866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33757" y="3150692"/>
            <a:ext cx="15163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74</a:t>
            </a:r>
          </a:p>
        </p:txBody>
      </p:sp>
    </p:spTree>
  </p:cSld>
  <p:clrMapOvr>
    <a:masterClrMapping/>
  </p:clrMapOvr>
</p:sld>
</file>

<file path=ppt/slides/slide2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279029" y="1114755"/>
            <a:ext cx="2770898" cy="0"/>
          </a:xfrm>
          <a:prstGeom prst="line">
            <a:avLst/>
          </a:prstGeom>
          <a:ln w="553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244396" y="2045220"/>
            <a:ext cx="2840177" cy="0"/>
          </a:xfrm>
          <a:prstGeom prst="line">
            <a:avLst/>
          </a:prstGeom>
          <a:ln w="553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ectangle 37"/>
          <p:cNvSpPr/>
          <p:nvPr/>
        </p:nvSpPr>
        <p:spPr>
          <a:xfrm>
            <a:off x="0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880003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Example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9993" y="677701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average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fitness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original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generation: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279029" y="947397"/>
            <a:ext cx="450636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44 + 50 + 0 + 36 + 36 + 56 + 0 + 26 + 26 + 14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595206" y="1136157"/>
            <a:ext cx="319018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10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103598" y="1041123"/>
            <a:ext cx="168179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= 28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.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59993" y="1608166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average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fitness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next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generation: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244396" y="1877849"/>
            <a:ext cx="454099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36 + 56 + 26 + 54 + 50 + 50 + 36 + 26 + 0 + 26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595206" y="2066609"/>
            <a:ext cx="319018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10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138243" y="1971575"/>
            <a:ext cx="164715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= 36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.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898770" y="3150918"/>
            <a:ext cx="8866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633757" y="3150694"/>
            <a:ext cx="15163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74</a:t>
            </a:r>
          </a:p>
        </p:txBody>
      </p:sp>
    </p:spTree>
  </p:cSld>
  <p:clrMapOvr>
    <a:masterClrMapping/>
  </p:clrMapOvr>
</p:sld>
</file>

<file path=ppt/slides/slide2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279029" y="1114755"/>
            <a:ext cx="2770898" cy="0"/>
          </a:xfrm>
          <a:prstGeom prst="line">
            <a:avLst/>
          </a:prstGeom>
          <a:ln w="553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244396" y="2045220"/>
            <a:ext cx="2840177" cy="0"/>
          </a:xfrm>
          <a:prstGeom prst="line">
            <a:avLst/>
          </a:prstGeom>
          <a:ln w="553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ectangle 37"/>
          <p:cNvSpPr/>
          <p:nvPr/>
        </p:nvSpPr>
        <p:spPr>
          <a:xfrm>
            <a:off x="0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880003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Example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9993" y="677701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average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fitness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original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generation: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279029" y="947397"/>
            <a:ext cx="450636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44 + 50 + 0 + 36 + 36 + 56 + 0 + 26 + 26 + 14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595206" y="1136157"/>
            <a:ext cx="319018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10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103598" y="1041123"/>
            <a:ext cx="168179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= 28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.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59993" y="1608166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average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fitness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next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generation: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244396" y="1877849"/>
            <a:ext cx="454099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36 + 56 + 26 + 54 + 50 + 50 + 36 + 26 + 0 + 26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595206" y="2066609"/>
            <a:ext cx="319018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10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138243" y="1971575"/>
            <a:ext cx="164715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= 36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.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59993" y="2538620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new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generation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has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higher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average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fitness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compare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original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generation.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59993" y="2710692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population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has,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overall,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become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better.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898770" y="3150918"/>
            <a:ext cx="8866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633757" y="3150694"/>
            <a:ext cx="15163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74</a:t>
            </a:r>
          </a:p>
        </p:txBody>
      </p:sp>
    </p:spTree>
  </p:cSld>
  <p:clrMapOvr>
    <a:masterClrMapping/>
  </p:clrMapOvr>
</p:sld>
</file>

<file path=ppt/slides/slide2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4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Evolution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1352211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Can we be sure that, based on the mechanism of genetic algorithm and the synergy of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9993" y="1524283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different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processes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genetic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algorithm,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population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evolving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instead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of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9993" y="1696368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degenerating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?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898770" y="3150917"/>
            <a:ext cx="8866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26468" y="3150693"/>
            <a:ext cx="15892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75</a:t>
            </a:r>
          </a:p>
        </p:txBody>
      </p:sp>
    </p:spTree>
  </p:cSld>
  <p:clrMapOvr>
    <a:masterClrMapping/>
  </p:clrMapOvr>
</p:sld>
</file>

<file path=ppt/slides/slide2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4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Schemata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theorem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1422074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Schemata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theorem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shows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that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population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will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contain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more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individuals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better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9993" y="1594146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fitness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after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multiple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generations.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98770" y="3150917"/>
            <a:ext cx="8866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27446" y="3150693"/>
            <a:ext cx="15795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76</a:t>
            </a:r>
          </a:p>
        </p:txBody>
      </p:sp>
    </p:spTree>
  </p:cSld>
  <p:clrMapOvr>
    <a:masterClrMapping/>
  </p:clrMapOvr>
</p:sld>
</file>

<file path=ppt/slides/slide2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410578" y="889343"/>
            <a:ext cx="540867" cy="170814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51445" y="889343"/>
            <a:ext cx="746899" cy="170814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698358" y="889343"/>
            <a:ext cx="586117" cy="170814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10578" y="1236028"/>
            <a:ext cx="540867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51445" y="1236028"/>
            <a:ext cx="746899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698358" y="1236028"/>
            <a:ext cx="586117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10578" y="1577645"/>
            <a:ext cx="540867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51445" y="1577645"/>
            <a:ext cx="746899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698358" y="1577645"/>
            <a:ext cx="586117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10578" y="1919263"/>
            <a:ext cx="540867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951445" y="1919263"/>
            <a:ext cx="746899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698358" y="1919263"/>
            <a:ext cx="586117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10578" y="2260880"/>
            <a:ext cx="540867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951445" y="2260880"/>
            <a:ext cx="746899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698358" y="2260880"/>
            <a:ext cx="586117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10578" y="2602497"/>
            <a:ext cx="540867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951445" y="2602497"/>
            <a:ext cx="746899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1698358" y="2602497"/>
            <a:ext cx="586117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>
            <a:off x="410578" y="1062686"/>
            <a:ext cx="540867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951445" y="1062686"/>
            <a:ext cx="746900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1698358" y="1062686"/>
            <a:ext cx="586118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Rectangle 56"/>
          <p:cNvSpPr/>
          <p:nvPr/>
        </p:nvSpPr>
        <p:spPr>
          <a:xfrm>
            <a:off x="0" y="3146746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2880003" y="3146746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9" name="Picture 58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60" name="Picture 5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61" name="TextBox 60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Schemata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theorem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59993" y="727193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Taking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example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10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chromosomes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following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fitness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values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(higher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better)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6498" y="918287"/>
            <a:ext cx="529889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1">
                <a:solidFill>
                  <a:srgbClr val="FFFFFF"/>
                </a:solidFill>
                <a:latin typeface="Josefin Sans"/>
              </a:rPr>
              <a:t>Label,</a:t>
            </a:r>
            <a:r>
              <a:rPr sz="797" b="1">
                <a:solidFill>
                  <a:srgbClr val="FFFFFF"/>
                </a:solidFill>
                <a:latin typeface="Josefin Sans"/>
              </a:rPr>
              <a:t> </a:t>
            </a:r>
            <a:r>
              <a:rPr sz="797" b="1">
                <a:solidFill>
                  <a:srgbClr val="FFFFFF"/>
                </a:solidFill>
                <a:latin typeface="Josefin Sans"/>
              </a:rPr>
              <a:t>c</a:t>
            </a:r>
            <a:r>
              <a:rPr sz="597" b="1">
                <a:solidFill>
                  <a:srgbClr val="FFFFFF"/>
                </a:solidFill>
                <a:latin typeface="Josefin Sans"/>
              </a:rPr>
              <a:t>i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27366" y="918287"/>
            <a:ext cx="475802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1">
                <a:solidFill>
                  <a:srgbClr val="FFFFFF"/>
                </a:solidFill>
                <a:latin typeface="Josefin Sans"/>
              </a:rPr>
              <a:t>Chromosome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774266" y="918287"/>
            <a:ext cx="401112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1">
                <a:solidFill>
                  <a:srgbClr val="FFFFFF"/>
                </a:solidFill>
                <a:latin typeface="Josefin Sans"/>
              </a:rPr>
              <a:t>Fitness,</a:t>
            </a:r>
            <a:r>
              <a:rPr sz="797" b="1">
                <a:solidFill>
                  <a:srgbClr val="FFFFFF"/>
                </a:solidFill>
                <a:latin typeface="Josefin Sans"/>
              </a:rPr>
              <a:t> </a:t>
            </a:r>
            <a:r>
              <a:rPr sz="797" b="1">
                <a:solidFill>
                  <a:srgbClr val="FFFFFF"/>
                </a:solidFill>
                <a:latin typeface="Josefin Sans"/>
              </a:rPr>
              <a:t>f</a:t>
            </a:r>
            <a:r>
              <a:rPr sz="597" b="1">
                <a:solidFill>
                  <a:srgbClr val="FFFFFF"/>
                </a:solidFill>
                <a:latin typeface="Josefin Sans"/>
              </a:rPr>
              <a:t>i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32447" y="1093858"/>
            <a:ext cx="515294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c</a:t>
            </a: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199591" y="1093858"/>
            <a:ext cx="458580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0000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965221" y="1093858"/>
            <a:ext cx="382017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43978" y="1264673"/>
            <a:ext cx="514141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c</a:t>
            </a: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14983" y="1264673"/>
            <a:ext cx="457041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0001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944141" y="1264673"/>
            <a:ext cx="384125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10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36689" y="1435475"/>
            <a:ext cx="5148706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c</a:t>
            </a:r>
            <a:r>
              <a:rPr sz="597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230363" y="1435475"/>
            <a:ext cx="455503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0011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949432" y="1435475"/>
            <a:ext cx="383596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18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36206" y="1606290"/>
            <a:ext cx="514918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c</a:t>
            </a:r>
            <a:r>
              <a:rPr sz="597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214983" y="1606290"/>
            <a:ext cx="457041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0010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940293" y="1606290"/>
            <a:ext cx="384510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24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36282" y="1777105"/>
            <a:ext cx="514911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c</a:t>
            </a:r>
            <a:r>
              <a:rPr sz="597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230363" y="1777105"/>
            <a:ext cx="455503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0110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939715" y="1777105"/>
            <a:ext cx="384568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28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35939" y="1947908"/>
            <a:ext cx="5149456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c</a:t>
            </a:r>
            <a:r>
              <a:rPr sz="597" b="0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245755" y="1947908"/>
            <a:ext cx="453964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0111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933765" y="1947908"/>
            <a:ext cx="385163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30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35863" y="2118723"/>
            <a:ext cx="514953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c</a:t>
            </a:r>
            <a:r>
              <a:rPr sz="597" b="0">
                <a:solidFill>
                  <a:srgbClr val="000000"/>
                </a:solidFill>
                <a:latin typeface="Josefin Sans"/>
              </a:rPr>
              <a:t>6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230363" y="2118723"/>
            <a:ext cx="455503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0101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933743" y="2118723"/>
            <a:ext cx="385165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30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37870" y="2289525"/>
            <a:ext cx="514752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c</a:t>
            </a:r>
            <a:r>
              <a:rPr sz="597" b="0">
                <a:solidFill>
                  <a:srgbClr val="000000"/>
                </a:solidFill>
                <a:latin typeface="Josefin Sans"/>
              </a:rPr>
              <a:t>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214983" y="2289525"/>
            <a:ext cx="457041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0100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939747" y="2289525"/>
            <a:ext cx="384564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28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36434" y="2460340"/>
            <a:ext cx="514896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c</a:t>
            </a:r>
            <a:r>
              <a:rPr sz="597" b="0">
                <a:solidFill>
                  <a:srgbClr val="000000"/>
                </a:solidFill>
                <a:latin typeface="Josefin Sans"/>
              </a:rPr>
              <a:t>8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230363" y="2460340"/>
            <a:ext cx="455503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1100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940322" y="2460340"/>
            <a:ext cx="384507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24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35863" y="2631142"/>
            <a:ext cx="514953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c</a:t>
            </a:r>
            <a:r>
              <a:rPr sz="597" b="0">
                <a:solidFill>
                  <a:srgbClr val="000000"/>
                </a:solidFill>
                <a:latin typeface="Josefin Sans"/>
              </a:rPr>
              <a:t>9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245755" y="2631142"/>
            <a:ext cx="453964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1101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949462" y="2631142"/>
            <a:ext cx="383593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18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4898770" y="3150922"/>
            <a:ext cx="8866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5630341" y="3150698"/>
            <a:ext cx="15505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77</a:t>
            </a:r>
          </a:p>
        </p:txBody>
      </p:sp>
    </p:spTree>
  </p:cSld>
  <p:clrMapOvr>
    <a:masterClrMapping/>
  </p:clrMapOvr>
</p:sld>
</file>

<file path=ppt/slides/slide2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410578" y="889343"/>
            <a:ext cx="540867" cy="170814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51445" y="889343"/>
            <a:ext cx="746899" cy="170814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698358" y="889343"/>
            <a:ext cx="586117" cy="170814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10578" y="1236028"/>
            <a:ext cx="540867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51445" y="1236028"/>
            <a:ext cx="746899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698358" y="1236028"/>
            <a:ext cx="586117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10578" y="1577645"/>
            <a:ext cx="540867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51445" y="1577645"/>
            <a:ext cx="746899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698358" y="1577645"/>
            <a:ext cx="586117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10578" y="1919263"/>
            <a:ext cx="540867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951445" y="1919263"/>
            <a:ext cx="746899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698358" y="1919263"/>
            <a:ext cx="586117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10578" y="2260880"/>
            <a:ext cx="540867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951445" y="2260880"/>
            <a:ext cx="746899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698358" y="2260880"/>
            <a:ext cx="586117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10578" y="2602497"/>
            <a:ext cx="540867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951445" y="2602497"/>
            <a:ext cx="746899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1698358" y="2602497"/>
            <a:ext cx="586117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>
            <a:off x="410578" y="1062686"/>
            <a:ext cx="540867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951445" y="1062686"/>
            <a:ext cx="746900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1698358" y="1062686"/>
            <a:ext cx="586118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Rectangle 56"/>
          <p:cNvSpPr/>
          <p:nvPr/>
        </p:nvSpPr>
        <p:spPr>
          <a:xfrm>
            <a:off x="0" y="3146746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2880003" y="3146746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9" name="Picture 58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60" name="Picture 5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61" name="TextBox 60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Schemata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theorem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59993" y="727193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Taking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example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10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chromosomes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following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fitness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values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(higher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better)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6498" y="918287"/>
            <a:ext cx="529889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1">
                <a:solidFill>
                  <a:srgbClr val="FFFFFF"/>
                </a:solidFill>
                <a:latin typeface="Josefin Sans"/>
              </a:rPr>
              <a:t>Label,</a:t>
            </a:r>
            <a:r>
              <a:rPr sz="797" b="1">
                <a:solidFill>
                  <a:srgbClr val="FFFFFF"/>
                </a:solidFill>
                <a:latin typeface="Josefin Sans"/>
              </a:rPr>
              <a:t> </a:t>
            </a:r>
            <a:r>
              <a:rPr sz="797" b="1">
                <a:solidFill>
                  <a:srgbClr val="FFFFFF"/>
                </a:solidFill>
                <a:latin typeface="Josefin Sans"/>
              </a:rPr>
              <a:t>c</a:t>
            </a:r>
            <a:r>
              <a:rPr sz="597" b="1">
                <a:solidFill>
                  <a:srgbClr val="FFFFFF"/>
                </a:solidFill>
                <a:latin typeface="Josefin Sans"/>
              </a:rPr>
              <a:t>i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27366" y="918287"/>
            <a:ext cx="475802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1">
                <a:solidFill>
                  <a:srgbClr val="FFFFFF"/>
                </a:solidFill>
                <a:latin typeface="Josefin Sans"/>
              </a:rPr>
              <a:t>Chromosome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774266" y="918287"/>
            <a:ext cx="401112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1">
                <a:solidFill>
                  <a:srgbClr val="FFFFFF"/>
                </a:solidFill>
                <a:latin typeface="Josefin Sans"/>
              </a:rPr>
              <a:t>Fitness,</a:t>
            </a:r>
            <a:r>
              <a:rPr sz="797" b="1">
                <a:solidFill>
                  <a:srgbClr val="FFFFFF"/>
                </a:solidFill>
                <a:latin typeface="Josefin Sans"/>
              </a:rPr>
              <a:t> </a:t>
            </a:r>
            <a:r>
              <a:rPr sz="797" b="1">
                <a:solidFill>
                  <a:srgbClr val="FFFFFF"/>
                </a:solidFill>
                <a:latin typeface="Josefin Sans"/>
              </a:rPr>
              <a:t>f</a:t>
            </a:r>
            <a:r>
              <a:rPr sz="597" b="1">
                <a:solidFill>
                  <a:srgbClr val="FFFFFF"/>
                </a:solidFill>
                <a:latin typeface="Josefin Sans"/>
              </a:rPr>
              <a:t>i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32447" y="1093858"/>
            <a:ext cx="515294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c</a:t>
            </a: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199591" y="1093858"/>
            <a:ext cx="458580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0000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965221" y="1093858"/>
            <a:ext cx="382017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43978" y="1264673"/>
            <a:ext cx="514141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c</a:t>
            </a: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14983" y="1264673"/>
            <a:ext cx="457041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0001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944141" y="1264673"/>
            <a:ext cx="384125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10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36689" y="1435475"/>
            <a:ext cx="5148706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c</a:t>
            </a:r>
            <a:r>
              <a:rPr sz="597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230363" y="1435475"/>
            <a:ext cx="455503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0011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949432" y="1435475"/>
            <a:ext cx="383596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18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36206" y="1606290"/>
            <a:ext cx="514918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c</a:t>
            </a:r>
            <a:r>
              <a:rPr sz="597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214983" y="1606290"/>
            <a:ext cx="457041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0010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940293" y="1606290"/>
            <a:ext cx="384510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24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36282" y="1777105"/>
            <a:ext cx="514911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c</a:t>
            </a:r>
            <a:r>
              <a:rPr sz="597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230363" y="1777105"/>
            <a:ext cx="455503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0110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939715" y="1777105"/>
            <a:ext cx="384568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28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35939" y="1947908"/>
            <a:ext cx="5149456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c</a:t>
            </a:r>
            <a:r>
              <a:rPr sz="597" b="0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245755" y="1947908"/>
            <a:ext cx="453964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0111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933765" y="1947908"/>
            <a:ext cx="385163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30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35863" y="2118723"/>
            <a:ext cx="514953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c</a:t>
            </a:r>
            <a:r>
              <a:rPr sz="597" b="0">
                <a:solidFill>
                  <a:srgbClr val="000000"/>
                </a:solidFill>
                <a:latin typeface="Josefin Sans"/>
              </a:rPr>
              <a:t>6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230363" y="2118723"/>
            <a:ext cx="455503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0101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933743" y="2118723"/>
            <a:ext cx="385165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30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37870" y="2289525"/>
            <a:ext cx="514752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c</a:t>
            </a:r>
            <a:r>
              <a:rPr sz="597" b="0">
                <a:solidFill>
                  <a:srgbClr val="000000"/>
                </a:solidFill>
                <a:latin typeface="Josefin Sans"/>
              </a:rPr>
              <a:t>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214983" y="2289525"/>
            <a:ext cx="457041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0100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939747" y="2289525"/>
            <a:ext cx="384564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28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36434" y="2460340"/>
            <a:ext cx="514896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c</a:t>
            </a:r>
            <a:r>
              <a:rPr sz="597" b="0">
                <a:solidFill>
                  <a:srgbClr val="000000"/>
                </a:solidFill>
                <a:latin typeface="Josefin Sans"/>
              </a:rPr>
              <a:t>8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230363" y="2460340"/>
            <a:ext cx="455503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1100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940322" y="2460340"/>
            <a:ext cx="384507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24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35863" y="2631142"/>
            <a:ext cx="514953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c</a:t>
            </a:r>
            <a:r>
              <a:rPr sz="597" b="0">
                <a:solidFill>
                  <a:srgbClr val="000000"/>
                </a:solidFill>
                <a:latin typeface="Josefin Sans"/>
              </a:rPr>
              <a:t>9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245755" y="2631142"/>
            <a:ext cx="453964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1101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949462" y="2631142"/>
            <a:ext cx="383593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18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2663978" y="993729"/>
            <a:ext cx="312141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Focusing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2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chromosomes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2663978" y="1165801"/>
            <a:ext cx="312141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highest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fitness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values,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</a:t>
            </a:r>
            <a:r>
              <a:rPr sz="797" b="0">
                <a:solidFill>
                  <a:srgbClr val="000000"/>
                </a:solidFill>
                <a:latin typeface="Josefin Sans"/>
              </a:rPr>
              <a:t>5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</a:t>
            </a:r>
            <a:r>
              <a:rPr sz="797" b="0">
                <a:solidFill>
                  <a:srgbClr val="000000"/>
                </a:solidFill>
                <a:latin typeface="Josefin Sans"/>
              </a:rPr>
              <a:t>6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.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3777057" y="1390249"/>
            <a:ext cx="2008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0111,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0101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898770" y="3150922"/>
            <a:ext cx="8866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5630341" y="3150698"/>
            <a:ext cx="15505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77</a:t>
            </a:r>
          </a:p>
        </p:txBody>
      </p:sp>
    </p:spTree>
  </p:cSld>
  <p:clrMapOvr>
    <a:masterClrMapping/>
  </p:clrMapOvr>
</p:sld>
</file>

<file path=ppt/slides/slide2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410578" y="889343"/>
            <a:ext cx="540867" cy="170814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51445" y="889343"/>
            <a:ext cx="746899" cy="170814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698358" y="889343"/>
            <a:ext cx="586117" cy="170814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10578" y="1236028"/>
            <a:ext cx="540867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51445" y="1236028"/>
            <a:ext cx="746899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698358" y="1236028"/>
            <a:ext cx="586117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10578" y="1577645"/>
            <a:ext cx="540867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51445" y="1577645"/>
            <a:ext cx="746899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698358" y="1577645"/>
            <a:ext cx="586117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10578" y="1919263"/>
            <a:ext cx="540867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951445" y="1919263"/>
            <a:ext cx="746899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698358" y="1919263"/>
            <a:ext cx="586117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10578" y="2260880"/>
            <a:ext cx="540867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951445" y="2260880"/>
            <a:ext cx="746899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698358" y="2260880"/>
            <a:ext cx="586117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10578" y="2602497"/>
            <a:ext cx="540867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951445" y="2602497"/>
            <a:ext cx="746899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1698358" y="2602497"/>
            <a:ext cx="586117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>
            <a:off x="410578" y="1062686"/>
            <a:ext cx="540867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951445" y="1062686"/>
            <a:ext cx="746900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1698358" y="1062686"/>
            <a:ext cx="586118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Rectangle 56"/>
          <p:cNvSpPr/>
          <p:nvPr/>
        </p:nvSpPr>
        <p:spPr>
          <a:xfrm>
            <a:off x="0" y="3146746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2880003" y="3146746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9" name="Picture 58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60" name="Picture 5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61" name="TextBox 60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Schemata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theorem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59993" y="727193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Taking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example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10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chromosomes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following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fitness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values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(higher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better)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6498" y="918287"/>
            <a:ext cx="529889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1">
                <a:solidFill>
                  <a:srgbClr val="FFFFFF"/>
                </a:solidFill>
                <a:latin typeface="Josefin Sans"/>
              </a:rPr>
              <a:t>Label,</a:t>
            </a:r>
            <a:r>
              <a:rPr sz="797" b="1">
                <a:solidFill>
                  <a:srgbClr val="FFFFFF"/>
                </a:solidFill>
                <a:latin typeface="Josefin Sans"/>
              </a:rPr>
              <a:t> </a:t>
            </a:r>
            <a:r>
              <a:rPr sz="797" b="1">
                <a:solidFill>
                  <a:srgbClr val="FFFFFF"/>
                </a:solidFill>
                <a:latin typeface="Josefin Sans"/>
              </a:rPr>
              <a:t>c</a:t>
            </a:r>
            <a:r>
              <a:rPr sz="597" b="1">
                <a:solidFill>
                  <a:srgbClr val="FFFFFF"/>
                </a:solidFill>
                <a:latin typeface="Josefin Sans"/>
              </a:rPr>
              <a:t>i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27366" y="918287"/>
            <a:ext cx="475802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1">
                <a:solidFill>
                  <a:srgbClr val="FFFFFF"/>
                </a:solidFill>
                <a:latin typeface="Josefin Sans"/>
              </a:rPr>
              <a:t>Chromosome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774266" y="918287"/>
            <a:ext cx="401112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1">
                <a:solidFill>
                  <a:srgbClr val="FFFFFF"/>
                </a:solidFill>
                <a:latin typeface="Josefin Sans"/>
              </a:rPr>
              <a:t>Fitness,</a:t>
            </a:r>
            <a:r>
              <a:rPr sz="797" b="1">
                <a:solidFill>
                  <a:srgbClr val="FFFFFF"/>
                </a:solidFill>
                <a:latin typeface="Josefin Sans"/>
              </a:rPr>
              <a:t> </a:t>
            </a:r>
            <a:r>
              <a:rPr sz="797" b="1">
                <a:solidFill>
                  <a:srgbClr val="FFFFFF"/>
                </a:solidFill>
                <a:latin typeface="Josefin Sans"/>
              </a:rPr>
              <a:t>f</a:t>
            </a:r>
            <a:r>
              <a:rPr sz="597" b="1">
                <a:solidFill>
                  <a:srgbClr val="FFFFFF"/>
                </a:solidFill>
                <a:latin typeface="Josefin Sans"/>
              </a:rPr>
              <a:t>i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32447" y="1093858"/>
            <a:ext cx="515294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c</a:t>
            </a: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199591" y="1093858"/>
            <a:ext cx="458580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0000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965221" y="1093858"/>
            <a:ext cx="382017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43978" y="1264673"/>
            <a:ext cx="514141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c</a:t>
            </a: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14983" y="1264673"/>
            <a:ext cx="457041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0001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944141" y="1264673"/>
            <a:ext cx="384125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10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36689" y="1435475"/>
            <a:ext cx="5148706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c</a:t>
            </a:r>
            <a:r>
              <a:rPr sz="597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230363" y="1435475"/>
            <a:ext cx="455503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0011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949432" y="1435475"/>
            <a:ext cx="383596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18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36206" y="1606290"/>
            <a:ext cx="514918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c</a:t>
            </a:r>
            <a:r>
              <a:rPr sz="597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214983" y="1606290"/>
            <a:ext cx="457041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0010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940293" y="1606290"/>
            <a:ext cx="384510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24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36282" y="1777105"/>
            <a:ext cx="514911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c</a:t>
            </a:r>
            <a:r>
              <a:rPr sz="597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230363" y="1777105"/>
            <a:ext cx="455503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0110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939715" y="1777105"/>
            <a:ext cx="384568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28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35939" y="1947908"/>
            <a:ext cx="5149456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c</a:t>
            </a:r>
            <a:r>
              <a:rPr sz="597" b="0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245755" y="1947908"/>
            <a:ext cx="453964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0111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933765" y="1947908"/>
            <a:ext cx="385163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30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35863" y="2118723"/>
            <a:ext cx="514953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c</a:t>
            </a:r>
            <a:r>
              <a:rPr sz="597" b="0">
                <a:solidFill>
                  <a:srgbClr val="000000"/>
                </a:solidFill>
                <a:latin typeface="Josefin Sans"/>
              </a:rPr>
              <a:t>6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230363" y="2118723"/>
            <a:ext cx="455503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0101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933743" y="2118723"/>
            <a:ext cx="385165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30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37870" y="2289525"/>
            <a:ext cx="514752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c</a:t>
            </a:r>
            <a:r>
              <a:rPr sz="597" b="0">
                <a:solidFill>
                  <a:srgbClr val="000000"/>
                </a:solidFill>
                <a:latin typeface="Josefin Sans"/>
              </a:rPr>
              <a:t>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214983" y="2289525"/>
            <a:ext cx="457041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0100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939747" y="2289525"/>
            <a:ext cx="384564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28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36434" y="2460340"/>
            <a:ext cx="514896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c</a:t>
            </a:r>
            <a:r>
              <a:rPr sz="597" b="0">
                <a:solidFill>
                  <a:srgbClr val="000000"/>
                </a:solidFill>
                <a:latin typeface="Josefin Sans"/>
              </a:rPr>
              <a:t>8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230363" y="2460340"/>
            <a:ext cx="455503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1100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940322" y="2460340"/>
            <a:ext cx="384507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24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35863" y="2631142"/>
            <a:ext cx="514953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c</a:t>
            </a:r>
            <a:r>
              <a:rPr sz="597" b="0">
                <a:solidFill>
                  <a:srgbClr val="000000"/>
                </a:solidFill>
                <a:latin typeface="Josefin Sans"/>
              </a:rPr>
              <a:t>9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245755" y="2631142"/>
            <a:ext cx="453964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1101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949462" y="2631142"/>
            <a:ext cx="383593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18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2663978" y="993729"/>
            <a:ext cx="312141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Focusing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2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chromosomes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2663978" y="1165801"/>
            <a:ext cx="312141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highest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fitness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values,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</a:t>
            </a:r>
            <a:r>
              <a:rPr sz="797" b="0">
                <a:solidFill>
                  <a:srgbClr val="000000"/>
                </a:solidFill>
                <a:latin typeface="Josefin Sans"/>
              </a:rPr>
              <a:t>5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</a:t>
            </a:r>
            <a:r>
              <a:rPr sz="797" b="0">
                <a:solidFill>
                  <a:srgbClr val="000000"/>
                </a:solidFill>
                <a:latin typeface="Josefin Sans"/>
              </a:rPr>
              <a:t>6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.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3777057" y="1390249"/>
            <a:ext cx="2008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0111,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0101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2663978" y="1614683"/>
            <a:ext cx="312141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We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generalise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2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chromosomes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as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940264" y="1839130"/>
            <a:ext cx="184513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01*1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2663978" y="2063577"/>
            <a:ext cx="312141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where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*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denotes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“don’t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care”.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898770" y="3150922"/>
            <a:ext cx="8866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630341" y="3150698"/>
            <a:ext cx="15505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77</a:t>
            </a:r>
          </a:p>
        </p:txBody>
      </p:sp>
    </p:spTree>
  </p:cSld>
  <p:clrMapOvr>
    <a:masterClrMapping/>
  </p:clrMapOvr>
</p:sld>
</file>

<file path=ppt/slides/slide2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410578" y="889343"/>
            <a:ext cx="540867" cy="170814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51445" y="889343"/>
            <a:ext cx="746899" cy="170814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698358" y="889343"/>
            <a:ext cx="586117" cy="170814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10578" y="1236028"/>
            <a:ext cx="540867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51445" y="1236028"/>
            <a:ext cx="746899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698358" y="1236028"/>
            <a:ext cx="586117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10578" y="1577645"/>
            <a:ext cx="540867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51445" y="1577645"/>
            <a:ext cx="746899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698358" y="1577645"/>
            <a:ext cx="586117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10578" y="1919263"/>
            <a:ext cx="540867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951445" y="1919263"/>
            <a:ext cx="746899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698358" y="1919263"/>
            <a:ext cx="586117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10578" y="2260880"/>
            <a:ext cx="540867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951445" y="2260880"/>
            <a:ext cx="746899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698358" y="2260880"/>
            <a:ext cx="586117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10578" y="2602497"/>
            <a:ext cx="540867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951445" y="2602497"/>
            <a:ext cx="746899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1698358" y="2602497"/>
            <a:ext cx="586117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>
            <a:off x="410578" y="1062686"/>
            <a:ext cx="540867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951445" y="1062686"/>
            <a:ext cx="746900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1698358" y="1062686"/>
            <a:ext cx="586118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Rectangle 56"/>
          <p:cNvSpPr/>
          <p:nvPr/>
        </p:nvSpPr>
        <p:spPr>
          <a:xfrm>
            <a:off x="0" y="3146745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2880005" y="3146745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9" name="Picture 58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60" name="Picture 5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61" name="TextBox 60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Schemata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theorem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59993" y="727193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Taking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example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10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chromosomes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following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fitness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values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(higher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better)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6498" y="918287"/>
            <a:ext cx="529889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1">
                <a:solidFill>
                  <a:srgbClr val="FFFFFF"/>
                </a:solidFill>
                <a:latin typeface="Josefin Sans"/>
              </a:rPr>
              <a:t>Label,</a:t>
            </a:r>
            <a:r>
              <a:rPr sz="797" b="1">
                <a:solidFill>
                  <a:srgbClr val="FFFFFF"/>
                </a:solidFill>
                <a:latin typeface="Josefin Sans"/>
              </a:rPr>
              <a:t> </a:t>
            </a:r>
            <a:r>
              <a:rPr sz="797" b="1">
                <a:solidFill>
                  <a:srgbClr val="FFFFFF"/>
                </a:solidFill>
                <a:latin typeface="Josefin Sans"/>
              </a:rPr>
              <a:t>c</a:t>
            </a:r>
            <a:r>
              <a:rPr sz="597" b="1">
                <a:solidFill>
                  <a:srgbClr val="FFFFFF"/>
                </a:solidFill>
                <a:latin typeface="Josefin Sans"/>
              </a:rPr>
              <a:t>i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27366" y="918287"/>
            <a:ext cx="475802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1">
                <a:solidFill>
                  <a:srgbClr val="FFFFFF"/>
                </a:solidFill>
                <a:latin typeface="Josefin Sans"/>
              </a:rPr>
              <a:t>Chromosome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774266" y="918287"/>
            <a:ext cx="401112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1">
                <a:solidFill>
                  <a:srgbClr val="FFFFFF"/>
                </a:solidFill>
                <a:latin typeface="Josefin Sans"/>
              </a:rPr>
              <a:t>Fitness,</a:t>
            </a:r>
            <a:r>
              <a:rPr sz="797" b="1">
                <a:solidFill>
                  <a:srgbClr val="FFFFFF"/>
                </a:solidFill>
                <a:latin typeface="Josefin Sans"/>
              </a:rPr>
              <a:t> </a:t>
            </a:r>
            <a:r>
              <a:rPr sz="797" b="1">
                <a:solidFill>
                  <a:srgbClr val="FFFFFF"/>
                </a:solidFill>
                <a:latin typeface="Josefin Sans"/>
              </a:rPr>
              <a:t>f</a:t>
            </a:r>
            <a:r>
              <a:rPr sz="597" b="1">
                <a:solidFill>
                  <a:srgbClr val="FFFFFF"/>
                </a:solidFill>
                <a:latin typeface="Josefin Sans"/>
              </a:rPr>
              <a:t>i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32447" y="1093858"/>
            <a:ext cx="515294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c</a:t>
            </a: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199591" y="1093858"/>
            <a:ext cx="458580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0000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965221" y="1093858"/>
            <a:ext cx="382017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43978" y="1264673"/>
            <a:ext cx="514141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c</a:t>
            </a: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14983" y="1264673"/>
            <a:ext cx="457041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0001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944141" y="1264673"/>
            <a:ext cx="384125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10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36689" y="1435475"/>
            <a:ext cx="5148706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c</a:t>
            </a:r>
            <a:r>
              <a:rPr sz="597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230363" y="1435475"/>
            <a:ext cx="455503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0011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949432" y="1435475"/>
            <a:ext cx="383596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18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36206" y="1606290"/>
            <a:ext cx="514918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c</a:t>
            </a:r>
            <a:r>
              <a:rPr sz="597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214983" y="1606290"/>
            <a:ext cx="457041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0010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940293" y="1606290"/>
            <a:ext cx="384510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24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36282" y="1777105"/>
            <a:ext cx="514911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c</a:t>
            </a:r>
            <a:r>
              <a:rPr sz="597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230363" y="1777105"/>
            <a:ext cx="455503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0110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939715" y="1777105"/>
            <a:ext cx="384568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28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35939" y="1947908"/>
            <a:ext cx="5149456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c</a:t>
            </a:r>
            <a:r>
              <a:rPr sz="597" b="0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245755" y="1947908"/>
            <a:ext cx="453964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0111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933765" y="1947908"/>
            <a:ext cx="385163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30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35863" y="2118723"/>
            <a:ext cx="514953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c</a:t>
            </a:r>
            <a:r>
              <a:rPr sz="597" b="0">
                <a:solidFill>
                  <a:srgbClr val="000000"/>
                </a:solidFill>
                <a:latin typeface="Josefin Sans"/>
              </a:rPr>
              <a:t>6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230363" y="2118723"/>
            <a:ext cx="455503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0101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933743" y="2118723"/>
            <a:ext cx="385165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30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37870" y="2289525"/>
            <a:ext cx="514752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c</a:t>
            </a:r>
            <a:r>
              <a:rPr sz="597" b="0">
                <a:solidFill>
                  <a:srgbClr val="000000"/>
                </a:solidFill>
                <a:latin typeface="Josefin Sans"/>
              </a:rPr>
              <a:t>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214983" y="2289525"/>
            <a:ext cx="457041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0100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939747" y="2289525"/>
            <a:ext cx="384564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28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36434" y="2460340"/>
            <a:ext cx="514896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c</a:t>
            </a:r>
            <a:r>
              <a:rPr sz="597" b="0">
                <a:solidFill>
                  <a:srgbClr val="000000"/>
                </a:solidFill>
                <a:latin typeface="Josefin Sans"/>
              </a:rPr>
              <a:t>8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230363" y="2460340"/>
            <a:ext cx="455503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1100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940322" y="2460340"/>
            <a:ext cx="384507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24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35863" y="2631142"/>
            <a:ext cx="514953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c</a:t>
            </a:r>
            <a:r>
              <a:rPr sz="597" b="0">
                <a:solidFill>
                  <a:srgbClr val="000000"/>
                </a:solidFill>
                <a:latin typeface="Josefin Sans"/>
              </a:rPr>
              <a:t>9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245755" y="2631142"/>
            <a:ext cx="453964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1101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949462" y="2631142"/>
            <a:ext cx="383593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18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2663978" y="993729"/>
            <a:ext cx="312141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Focusing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2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chromosomes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2663978" y="1165801"/>
            <a:ext cx="312141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highest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fitness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values,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</a:t>
            </a:r>
            <a:r>
              <a:rPr sz="797" b="0">
                <a:solidFill>
                  <a:srgbClr val="000000"/>
                </a:solidFill>
                <a:latin typeface="Josefin Sans"/>
              </a:rPr>
              <a:t>5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</a:t>
            </a:r>
            <a:r>
              <a:rPr sz="797" b="0">
                <a:solidFill>
                  <a:srgbClr val="000000"/>
                </a:solidFill>
                <a:latin typeface="Josefin Sans"/>
              </a:rPr>
              <a:t>6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.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3777057" y="1390249"/>
            <a:ext cx="2008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0111,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0101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2663978" y="1614683"/>
            <a:ext cx="312141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We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generalise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2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chromosomes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as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940264" y="1839130"/>
            <a:ext cx="184513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01*1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2663978" y="2063577"/>
            <a:ext cx="312141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where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*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denotes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“don’t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care”.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2663978" y="2340399"/>
            <a:ext cx="312141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generalised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representation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called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2663978" y="2512472"/>
            <a:ext cx="312141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schema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(plural: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schemata)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4898771" y="3150920"/>
            <a:ext cx="88662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5630342" y="3150696"/>
            <a:ext cx="15505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77</a:t>
            </a:r>
          </a:p>
        </p:txBody>
      </p:sp>
    </p:spTree>
  </p:cSld>
  <p:clrMapOvr>
    <a:masterClrMapping/>
  </p:clrMapOvr>
</p:sld>
</file>

<file path=ppt/slides/slide2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410578" y="718731"/>
            <a:ext cx="540867" cy="170815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51445" y="718731"/>
            <a:ext cx="746899" cy="170815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698358" y="718731"/>
            <a:ext cx="586117" cy="170815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10578" y="1065403"/>
            <a:ext cx="540867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51445" y="1065403"/>
            <a:ext cx="746899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698358" y="1065403"/>
            <a:ext cx="586117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10578" y="1407020"/>
            <a:ext cx="540867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51445" y="1407020"/>
            <a:ext cx="746899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698358" y="1407020"/>
            <a:ext cx="586117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10578" y="1748637"/>
            <a:ext cx="540867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951445" y="1748637"/>
            <a:ext cx="746899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698358" y="1748637"/>
            <a:ext cx="586117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10578" y="2090255"/>
            <a:ext cx="540867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951445" y="2090255"/>
            <a:ext cx="746899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698358" y="2090255"/>
            <a:ext cx="586117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10578" y="2431885"/>
            <a:ext cx="540867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951445" y="2431885"/>
            <a:ext cx="746899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1698358" y="2431885"/>
            <a:ext cx="586117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>
            <a:off x="410578" y="892073"/>
            <a:ext cx="540867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951445" y="892073"/>
            <a:ext cx="746900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1698358" y="892073"/>
            <a:ext cx="586118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4130587" y="1221130"/>
            <a:ext cx="267678" cy="0"/>
          </a:xfrm>
          <a:prstGeom prst="line">
            <a:avLst/>
          </a:prstGeom>
          <a:ln w="48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29329468" y="-23463271"/>
            <a:ext cx="362090" cy="0"/>
          </a:xfrm>
          <a:prstGeom prst="line">
            <a:avLst/>
          </a:prstGeom>
          <a:ln w="48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29877965" y="-23463271"/>
            <a:ext cx="405981" cy="0"/>
          </a:xfrm>
          <a:prstGeom prst="line">
            <a:avLst/>
          </a:prstGeom>
          <a:ln w="48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Rectangle 59"/>
          <p:cNvSpPr/>
          <p:nvPr/>
        </p:nvSpPr>
        <p:spPr>
          <a:xfrm>
            <a:off x="0" y="3146745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2880003" y="3146745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2" name="Picture 6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63" name="Picture 6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64" name="TextBox 63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Schemata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theorem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86498" y="747675"/>
            <a:ext cx="529889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1">
                <a:solidFill>
                  <a:srgbClr val="FFFFFF"/>
                </a:solidFill>
                <a:latin typeface="Josefin Sans"/>
              </a:rPr>
              <a:t>Label,</a:t>
            </a:r>
            <a:r>
              <a:rPr sz="797" b="1">
                <a:solidFill>
                  <a:srgbClr val="FFFFFF"/>
                </a:solidFill>
                <a:latin typeface="Josefin Sans"/>
              </a:rPr>
              <a:t> </a:t>
            </a:r>
            <a:r>
              <a:rPr sz="797" b="1">
                <a:solidFill>
                  <a:srgbClr val="FFFFFF"/>
                </a:solidFill>
                <a:latin typeface="Josefin Sans"/>
              </a:rPr>
              <a:t>c</a:t>
            </a:r>
            <a:r>
              <a:rPr sz="597" b="1">
                <a:solidFill>
                  <a:srgbClr val="FFFFFF"/>
                </a:solidFill>
                <a:latin typeface="Josefin Sans"/>
              </a:rPr>
              <a:t>i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27366" y="747675"/>
            <a:ext cx="475802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1">
                <a:solidFill>
                  <a:srgbClr val="FFFFFF"/>
                </a:solidFill>
                <a:latin typeface="Josefin Sans"/>
              </a:rPr>
              <a:t>Chromosome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774266" y="747675"/>
            <a:ext cx="401112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1">
                <a:solidFill>
                  <a:srgbClr val="FFFFFF"/>
                </a:solidFill>
                <a:latin typeface="Josefin Sans"/>
              </a:rPr>
              <a:t>Fitness,</a:t>
            </a:r>
            <a:r>
              <a:rPr sz="797" b="1">
                <a:solidFill>
                  <a:srgbClr val="FFFFFF"/>
                </a:solidFill>
                <a:latin typeface="Josefin Sans"/>
              </a:rPr>
              <a:t> </a:t>
            </a:r>
            <a:r>
              <a:rPr sz="797" b="1">
                <a:solidFill>
                  <a:srgbClr val="FFFFFF"/>
                </a:solidFill>
                <a:latin typeface="Josefin Sans"/>
              </a:rPr>
              <a:t>f</a:t>
            </a:r>
            <a:r>
              <a:rPr sz="597" b="1">
                <a:solidFill>
                  <a:srgbClr val="FFFFFF"/>
                </a:solidFill>
                <a:latin typeface="Josefin Sans"/>
              </a:rPr>
              <a:t>i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32447" y="923245"/>
            <a:ext cx="515294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c</a:t>
            </a: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99591" y="923245"/>
            <a:ext cx="458580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0000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965221" y="923245"/>
            <a:ext cx="382017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43978" y="1094048"/>
            <a:ext cx="514141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c</a:t>
            </a: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214983" y="1094048"/>
            <a:ext cx="457041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0001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944141" y="1094048"/>
            <a:ext cx="384125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10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36689" y="1264863"/>
            <a:ext cx="5148706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c</a:t>
            </a:r>
            <a:r>
              <a:rPr sz="597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230363" y="1264863"/>
            <a:ext cx="455503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0011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949432" y="1264863"/>
            <a:ext cx="383596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18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6206" y="1435665"/>
            <a:ext cx="514918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c</a:t>
            </a:r>
            <a:r>
              <a:rPr sz="597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214983" y="1435665"/>
            <a:ext cx="457041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0010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940293" y="1435665"/>
            <a:ext cx="384510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24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36282" y="1606480"/>
            <a:ext cx="514911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c</a:t>
            </a:r>
            <a:r>
              <a:rPr sz="597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230363" y="1606480"/>
            <a:ext cx="455503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0110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939715" y="1606480"/>
            <a:ext cx="384568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28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35939" y="1777282"/>
            <a:ext cx="5149456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c</a:t>
            </a:r>
            <a:r>
              <a:rPr sz="597" b="0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245755" y="1777282"/>
            <a:ext cx="453964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0111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933765" y="1777282"/>
            <a:ext cx="385163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30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35863" y="1948097"/>
            <a:ext cx="514953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c</a:t>
            </a:r>
            <a:r>
              <a:rPr sz="597" b="0">
                <a:solidFill>
                  <a:srgbClr val="000000"/>
                </a:solidFill>
                <a:latin typeface="Josefin Sans"/>
              </a:rPr>
              <a:t>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230363" y="1948097"/>
            <a:ext cx="455503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0101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933743" y="1948097"/>
            <a:ext cx="385165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30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37870" y="2118912"/>
            <a:ext cx="514752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c</a:t>
            </a:r>
            <a:r>
              <a:rPr sz="597" b="0">
                <a:solidFill>
                  <a:srgbClr val="000000"/>
                </a:solidFill>
                <a:latin typeface="Josefin Sans"/>
              </a:rPr>
              <a:t>7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214983" y="2118912"/>
            <a:ext cx="457041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0100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939747" y="2118912"/>
            <a:ext cx="384564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28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36434" y="2289715"/>
            <a:ext cx="514896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c</a:t>
            </a:r>
            <a:r>
              <a:rPr sz="597" b="0">
                <a:solidFill>
                  <a:srgbClr val="000000"/>
                </a:solidFill>
                <a:latin typeface="Josefin Sans"/>
              </a:rPr>
              <a:t>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230363" y="2289715"/>
            <a:ext cx="455503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1100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940322" y="2289715"/>
            <a:ext cx="384507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24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35863" y="2460530"/>
            <a:ext cx="514953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c</a:t>
            </a:r>
            <a:r>
              <a:rPr sz="597" b="0">
                <a:solidFill>
                  <a:srgbClr val="000000"/>
                </a:solidFill>
                <a:latin typeface="Josefin Sans"/>
              </a:rPr>
              <a:t>9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245755" y="2460530"/>
            <a:ext cx="453964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1101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949462" y="2460530"/>
            <a:ext cx="383593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18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663978" y="714961"/>
            <a:ext cx="3121417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Assuming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we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are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using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proportional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selection,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2663978" y="854141"/>
            <a:ext cx="3121417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probability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selecting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chromosome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is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686531" y="1160608"/>
            <a:ext cx="2098864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Cambria Math"/>
              </a:rPr>
              <a:t>P</a:t>
            </a:r>
            <a:r>
              <a:rPr sz="896" b="0">
                <a:solidFill>
                  <a:srgbClr val="000000"/>
                </a:solidFill>
                <a:latin typeface="Cambria Math"/>
              </a:rPr>
              <a:t>(</a:t>
            </a:r>
            <a:r>
              <a:rPr sz="896" b="0">
                <a:solidFill>
                  <a:srgbClr val="000000"/>
                </a:solidFill>
                <a:latin typeface="Cambria Math"/>
              </a:rPr>
              <a:t>c</a:t>
            </a:r>
            <a:r>
              <a:rPr sz="597" b="0">
                <a:solidFill>
                  <a:srgbClr val="000000"/>
                </a:solidFill>
                <a:latin typeface="Cambria Math"/>
              </a:rPr>
              <a:t>i</a:t>
            </a:r>
            <a:r>
              <a:rPr sz="896" b="0">
                <a:solidFill>
                  <a:srgbClr val="000000"/>
                </a:solidFill>
                <a:latin typeface="Cambria Math"/>
              </a:rPr>
              <a:t>) =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215944" y="1086961"/>
            <a:ext cx="1569451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Cambria Math"/>
              </a:rPr>
              <a:t>f</a:t>
            </a:r>
            <a:r>
              <a:rPr sz="597" b="0">
                <a:solidFill>
                  <a:srgbClr val="000000"/>
                </a:solidFill>
                <a:latin typeface="Cambria Math"/>
              </a:rPr>
              <a:t>i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144430" y="1240209"/>
            <a:ext cx="164096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9</a:t>
            </a:r>
            <a:r>
              <a:rPr sz="896" b="0">
                <a:solidFill>
                  <a:srgbClr val="000000"/>
                </a:solidFill>
                <a:latin typeface="Cambria Math"/>
              </a:rPr>
              <a:t>P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4130587" y="1446127"/>
            <a:ext cx="165480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i</a:t>
            </a:r>
            <a:r>
              <a:rPr sz="597" b="0">
                <a:solidFill>
                  <a:srgbClr val="000000"/>
                </a:solidFill>
                <a:latin typeface="Cambria Math"/>
              </a:rPr>
              <a:t>=0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4301301" y="1318723"/>
            <a:ext cx="148409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Cambria Math"/>
              </a:rPr>
              <a:t>f</a:t>
            </a:r>
            <a:r>
              <a:rPr sz="597" b="0">
                <a:solidFill>
                  <a:srgbClr val="000000"/>
                </a:solidFill>
                <a:latin typeface="Cambria Math"/>
              </a:rPr>
              <a:t>i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4898770" y="3150921"/>
            <a:ext cx="8866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627445" y="3150697"/>
            <a:ext cx="15795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78</a:t>
            </a:r>
          </a:p>
        </p:txBody>
      </p:sp>
    </p:spTree>
  </p:cSld>
  <p:clrMapOvr>
    <a:masterClrMapping/>
  </p:clrMapOvr>
</p:sld>
</file>

<file path=ppt/slides/slide2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410578" y="718731"/>
            <a:ext cx="540867" cy="170815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51445" y="718731"/>
            <a:ext cx="746899" cy="170815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698358" y="718731"/>
            <a:ext cx="586117" cy="170815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10578" y="1065403"/>
            <a:ext cx="540867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51445" y="1065403"/>
            <a:ext cx="746899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698358" y="1065403"/>
            <a:ext cx="586117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10578" y="1407020"/>
            <a:ext cx="540867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51445" y="1407020"/>
            <a:ext cx="746899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698358" y="1407020"/>
            <a:ext cx="586117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10578" y="1748637"/>
            <a:ext cx="540867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951445" y="1748637"/>
            <a:ext cx="746899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698358" y="1748637"/>
            <a:ext cx="586117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10578" y="2090255"/>
            <a:ext cx="540867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951445" y="2090255"/>
            <a:ext cx="746899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698358" y="2090255"/>
            <a:ext cx="586117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10578" y="2431885"/>
            <a:ext cx="540867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951445" y="2431885"/>
            <a:ext cx="746899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1698358" y="2431885"/>
            <a:ext cx="586117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>
            <a:off x="410578" y="892073"/>
            <a:ext cx="540867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951445" y="892073"/>
            <a:ext cx="746900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1698358" y="892073"/>
            <a:ext cx="586118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4130587" y="1221130"/>
            <a:ext cx="267678" cy="0"/>
          </a:xfrm>
          <a:prstGeom prst="line">
            <a:avLst/>
          </a:prstGeom>
          <a:ln w="48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3929140" y="1937054"/>
            <a:ext cx="362089" cy="0"/>
          </a:xfrm>
          <a:prstGeom prst="line">
            <a:avLst/>
          </a:prstGeom>
          <a:ln w="48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29877965" y="-23463271"/>
            <a:ext cx="405981" cy="0"/>
          </a:xfrm>
          <a:prstGeom prst="line">
            <a:avLst/>
          </a:prstGeom>
          <a:ln w="48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Rectangle 59"/>
          <p:cNvSpPr/>
          <p:nvPr/>
        </p:nvSpPr>
        <p:spPr>
          <a:xfrm>
            <a:off x="0" y="3146745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2880003" y="3146745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2" name="Picture 6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63" name="Picture 6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64" name="TextBox 63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Schemata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theorem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86498" y="747675"/>
            <a:ext cx="529889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1">
                <a:solidFill>
                  <a:srgbClr val="FFFFFF"/>
                </a:solidFill>
                <a:latin typeface="Josefin Sans"/>
              </a:rPr>
              <a:t>Label,</a:t>
            </a:r>
            <a:r>
              <a:rPr sz="797" b="1">
                <a:solidFill>
                  <a:srgbClr val="FFFFFF"/>
                </a:solidFill>
                <a:latin typeface="Josefin Sans"/>
              </a:rPr>
              <a:t> </a:t>
            </a:r>
            <a:r>
              <a:rPr sz="797" b="1">
                <a:solidFill>
                  <a:srgbClr val="FFFFFF"/>
                </a:solidFill>
                <a:latin typeface="Josefin Sans"/>
              </a:rPr>
              <a:t>c</a:t>
            </a:r>
            <a:r>
              <a:rPr sz="597" b="1">
                <a:solidFill>
                  <a:srgbClr val="FFFFFF"/>
                </a:solidFill>
                <a:latin typeface="Josefin Sans"/>
              </a:rPr>
              <a:t>i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27366" y="747675"/>
            <a:ext cx="475802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1">
                <a:solidFill>
                  <a:srgbClr val="FFFFFF"/>
                </a:solidFill>
                <a:latin typeface="Josefin Sans"/>
              </a:rPr>
              <a:t>Chromosome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774266" y="747675"/>
            <a:ext cx="401112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1">
                <a:solidFill>
                  <a:srgbClr val="FFFFFF"/>
                </a:solidFill>
                <a:latin typeface="Josefin Sans"/>
              </a:rPr>
              <a:t>Fitness,</a:t>
            </a:r>
            <a:r>
              <a:rPr sz="797" b="1">
                <a:solidFill>
                  <a:srgbClr val="FFFFFF"/>
                </a:solidFill>
                <a:latin typeface="Josefin Sans"/>
              </a:rPr>
              <a:t> </a:t>
            </a:r>
            <a:r>
              <a:rPr sz="797" b="1">
                <a:solidFill>
                  <a:srgbClr val="FFFFFF"/>
                </a:solidFill>
                <a:latin typeface="Josefin Sans"/>
              </a:rPr>
              <a:t>f</a:t>
            </a:r>
            <a:r>
              <a:rPr sz="597" b="1">
                <a:solidFill>
                  <a:srgbClr val="FFFFFF"/>
                </a:solidFill>
                <a:latin typeface="Josefin Sans"/>
              </a:rPr>
              <a:t>i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32447" y="923245"/>
            <a:ext cx="515294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c</a:t>
            </a: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99591" y="923245"/>
            <a:ext cx="458580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0000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965221" y="923245"/>
            <a:ext cx="382017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43978" y="1094048"/>
            <a:ext cx="514141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c</a:t>
            </a: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214983" y="1094048"/>
            <a:ext cx="457041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0001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944141" y="1094048"/>
            <a:ext cx="384125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10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36689" y="1264863"/>
            <a:ext cx="5148706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c</a:t>
            </a:r>
            <a:r>
              <a:rPr sz="597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230363" y="1264863"/>
            <a:ext cx="455503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0011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949432" y="1264863"/>
            <a:ext cx="383596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18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6206" y="1435665"/>
            <a:ext cx="514918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c</a:t>
            </a:r>
            <a:r>
              <a:rPr sz="597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214983" y="1435665"/>
            <a:ext cx="457041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0010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940293" y="1435665"/>
            <a:ext cx="384510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24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36282" y="1606480"/>
            <a:ext cx="514911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c</a:t>
            </a:r>
            <a:r>
              <a:rPr sz="597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230363" y="1606480"/>
            <a:ext cx="455503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0110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939715" y="1606480"/>
            <a:ext cx="384568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28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35939" y="1777282"/>
            <a:ext cx="5149456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c</a:t>
            </a:r>
            <a:r>
              <a:rPr sz="597" b="0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245755" y="1777282"/>
            <a:ext cx="453964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0111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933765" y="1777282"/>
            <a:ext cx="385163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30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35863" y="1948097"/>
            <a:ext cx="514953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c</a:t>
            </a:r>
            <a:r>
              <a:rPr sz="597" b="0">
                <a:solidFill>
                  <a:srgbClr val="000000"/>
                </a:solidFill>
                <a:latin typeface="Josefin Sans"/>
              </a:rPr>
              <a:t>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230363" y="1948097"/>
            <a:ext cx="455503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0101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933743" y="1948097"/>
            <a:ext cx="385165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30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37870" y="2118912"/>
            <a:ext cx="514752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c</a:t>
            </a:r>
            <a:r>
              <a:rPr sz="597" b="0">
                <a:solidFill>
                  <a:srgbClr val="000000"/>
                </a:solidFill>
                <a:latin typeface="Josefin Sans"/>
              </a:rPr>
              <a:t>7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214983" y="2118912"/>
            <a:ext cx="457041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0100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939747" y="2118912"/>
            <a:ext cx="384564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28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36434" y="2289715"/>
            <a:ext cx="514896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c</a:t>
            </a:r>
            <a:r>
              <a:rPr sz="597" b="0">
                <a:solidFill>
                  <a:srgbClr val="000000"/>
                </a:solidFill>
                <a:latin typeface="Josefin Sans"/>
              </a:rPr>
              <a:t>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230363" y="2289715"/>
            <a:ext cx="455503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1100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940322" y="2289715"/>
            <a:ext cx="384507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24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35863" y="2460530"/>
            <a:ext cx="514953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c</a:t>
            </a:r>
            <a:r>
              <a:rPr sz="597" b="0">
                <a:solidFill>
                  <a:srgbClr val="000000"/>
                </a:solidFill>
                <a:latin typeface="Josefin Sans"/>
              </a:rPr>
              <a:t>9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245755" y="2460530"/>
            <a:ext cx="453964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1101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949462" y="2460530"/>
            <a:ext cx="383593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18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663978" y="714961"/>
            <a:ext cx="3121417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Assuming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we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are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using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proportional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selection,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2663978" y="854141"/>
            <a:ext cx="3121417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probability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selecting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chromosome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is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686531" y="1160608"/>
            <a:ext cx="2098864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Cambria Math"/>
              </a:rPr>
              <a:t>P</a:t>
            </a:r>
            <a:r>
              <a:rPr sz="896" b="0">
                <a:solidFill>
                  <a:srgbClr val="000000"/>
                </a:solidFill>
                <a:latin typeface="Cambria Math"/>
              </a:rPr>
              <a:t>(</a:t>
            </a:r>
            <a:r>
              <a:rPr sz="896" b="0">
                <a:solidFill>
                  <a:srgbClr val="000000"/>
                </a:solidFill>
                <a:latin typeface="Cambria Math"/>
              </a:rPr>
              <a:t>c</a:t>
            </a:r>
            <a:r>
              <a:rPr sz="597" b="0">
                <a:solidFill>
                  <a:srgbClr val="000000"/>
                </a:solidFill>
                <a:latin typeface="Cambria Math"/>
              </a:rPr>
              <a:t>i</a:t>
            </a:r>
            <a:r>
              <a:rPr sz="896" b="0">
                <a:solidFill>
                  <a:srgbClr val="000000"/>
                </a:solidFill>
                <a:latin typeface="Cambria Math"/>
              </a:rPr>
              <a:t>) =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215944" y="1086961"/>
            <a:ext cx="1569451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Cambria Math"/>
              </a:rPr>
              <a:t>f</a:t>
            </a:r>
            <a:r>
              <a:rPr sz="597" b="0">
                <a:solidFill>
                  <a:srgbClr val="000000"/>
                </a:solidFill>
                <a:latin typeface="Cambria Math"/>
              </a:rPr>
              <a:t>i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144430" y="1240209"/>
            <a:ext cx="164096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9</a:t>
            </a:r>
            <a:r>
              <a:rPr sz="896" b="0">
                <a:solidFill>
                  <a:srgbClr val="000000"/>
                </a:solidFill>
                <a:latin typeface="Cambria Math"/>
              </a:rPr>
              <a:t>P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4130587" y="1446127"/>
            <a:ext cx="165480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i</a:t>
            </a:r>
            <a:r>
              <a:rPr sz="597" b="0">
                <a:solidFill>
                  <a:srgbClr val="000000"/>
                </a:solidFill>
                <a:latin typeface="Cambria Math"/>
              </a:rPr>
              <a:t>=0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4301301" y="1318723"/>
            <a:ext cx="148409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Cambria Math"/>
              </a:rPr>
              <a:t>f</a:t>
            </a:r>
            <a:r>
              <a:rPr sz="597" b="0">
                <a:solidFill>
                  <a:srgbClr val="000000"/>
                </a:solidFill>
                <a:latin typeface="Cambria Math"/>
              </a:rPr>
              <a:t>i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2663978" y="1578091"/>
            <a:ext cx="3121417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Therefore the probability of selecting either of c</a:t>
            </a:r>
            <a:r>
              <a:rPr sz="597" b="0">
                <a:solidFill>
                  <a:srgbClr val="000000"/>
                </a:solidFill>
                <a:latin typeface="Josefin Sans"/>
              </a:rPr>
              <a:t>5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and c</a:t>
            </a:r>
            <a:r>
              <a:rPr sz="597" b="0">
                <a:solidFill>
                  <a:srgbClr val="000000"/>
                </a:solidFill>
                <a:latin typeface="Josefin Sans"/>
              </a:rPr>
              <a:t>6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is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201175" y="1802885"/>
            <a:ext cx="2584220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Cambria Math"/>
              </a:rPr>
              <a:t>P</a:t>
            </a:r>
            <a:r>
              <a:rPr sz="896" b="0">
                <a:solidFill>
                  <a:srgbClr val="000000"/>
                </a:solidFill>
                <a:latin typeface="Cambria Math"/>
              </a:rPr>
              <a:t>(</a:t>
            </a:r>
            <a:r>
              <a:rPr sz="896" b="0">
                <a:solidFill>
                  <a:srgbClr val="000000"/>
                </a:solidFill>
                <a:latin typeface="Cambria Math"/>
              </a:rPr>
              <a:t>c</a:t>
            </a:r>
            <a:r>
              <a:rPr sz="597" b="0">
                <a:solidFill>
                  <a:srgbClr val="000000"/>
                </a:solidFill>
                <a:latin typeface="Cambria Math"/>
              </a:rPr>
              <a:t>5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or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</a:t>
            </a:r>
            <a:r>
              <a:rPr sz="896" b="0">
                <a:solidFill>
                  <a:srgbClr val="000000"/>
                </a:solidFill>
                <a:latin typeface="Cambria Math"/>
              </a:rPr>
              <a:t>c</a:t>
            </a:r>
            <a:r>
              <a:rPr sz="597" b="0">
                <a:solidFill>
                  <a:srgbClr val="000000"/>
                </a:solidFill>
                <a:latin typeface="Cambria Math"/>
              </a:rPr>
              <a:t>6</a:t>
            </a:r>
            <a:r>
              <a:rPr sz="896" b="0">
                <a:solidFill>
                  <a:srgbClr val="000000"/>
                </a:solidFill>
                <a:latin typeface="Cambria Math"/>
              </a:rPr>
              <a:t>) =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</a:t>
            </a:r>
            <a:r>
              <a:rPr sz="896" b="0">
                <a:solidFill>
                  <a:srgbClr val="000000"/>
                </a:solidFill>
                <a:latin typeface="Cambria Math"/>
              </a:rPr>
              <a:t>f</a:t>
            </a:r>
            <a:r>
              <a:rPr sz="597" b="0">
                <a:solidFill>
                  <a:srgbClr val="000000"/>
                </a:solidFill>
                <a:latin typeface="Cambria Math"/>
              </a:rPr>
              <a:t>5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+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f</a:t>
            </a:r>
            <a:r>
              <a:rPr sz="597" b="0">
                <a:solidFill>
                  <a:srgbClr val="000000"/>
                </a:solidFill>
                <a:latin typeface="Cambria Math"/>
              </a:rPr>
              <a:t>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990189" y="1956121"/>
            <a:ext cx="1795207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9</a:t>
            </a:r>
            <a:r>
              <a:rPr sz="896" b="0">
                <a:solidFill>
                  <a:srgbClr val="000000"/>
                </a:solidFill>
                <a:latin typeface="Cambria Math"/>
              </a:rPr>
              <a:t>P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3976346" y="2162051"/>
            <a:ext cx="180905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i</a:t>
            </a:r>
            <a:r>
              <a:rPr sz="597" b="0">
                <a:solidFill>
                  <a:srgbClr val="000000"/>
                </a:solidFill>
                <a:latin typeface="Cambria Math"/>
              </a:rPr>
              <a:t>=0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4147072" y="2034634"/>
            <a:ext cx="1638324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Cambria Math"/>
              </a:rPr>
              <a:t>f</a:t>
            </a:r>
            <a:r>
              <a:rPr sz="597" b="0">
                <a:solidFill>
                  <a:srgbClr val="000000"/>
                </a:solidFill>
                <a:latin typeface="Cambria Math"/>
              </a:rPr>
              <a:t>i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4898770" y="3150921"/>
            <a:ext cx="8866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5627445" y="3150697"/>
            <a:ext cx="15795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78</a:t>
            </a:r>
          </a:p>
        </p:txBody>
      </p:sp>
    </p:spTree>
  </p:cSld>
  <p:clrMapOvr>
    <a:masterClrMapping/>
  </p:clrMapOvr>
</p:sld>
</file>

<file path=ppt/slides/slide2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410578" y="718731"/>
            <a:ext cx="540867" cy="170815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51445" y="718731"/>
            <a:ext cx="746899" cy="170815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698358" y="718731"/>
            <a:ext cx="586117" cy="170815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10578" y="1065403"/>
            <a:ext cx="540867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51445" y="1065403"/>
            <a:ext cx="746899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698358" y="1065403"/>
            <a:ext cx="586117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10578" y="1407020"/>
            <a:ext cx="540867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51445" y="1407020"/>
            <a:ext cx="746899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698358" y="1407020"/>
            <a:ext cx="586117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10578" y="1748637"/>
            <a:ext cx="540867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951445" y="1748637"/>
            <a:ext cx="746899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698358" y="1748637"/>
            <a:ext cx="586117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10578" y="2090255"/>
            <a:ext cx="540867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951445" y="2090255"/>
            <a:ext cx="746899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698358" y="2090255"/>
            <a:ext cx="586117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10578" y="2431885"/>
            <a:ext cx="540867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951445" y="2431885"/>
            <a:ext cx="746899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1698358" y="2431885"/>
            <a:ext cx="586117" cy="17081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>
            <a:off x="410578" y="892073"/>
            <a:ext cx="540867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951445" y="892073"/>
            <a:ext cx="746900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1698358" y="892073"/>
            <a:ext cx="586118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4130587" y="1221130"/>
            <a:ext cx="267678" cy="0"/>
          </a:xfrm>
          <a:prstGeom prst="line">
            <a:avLst/>
          </a:prstGeom>
          <a:ln w="48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3929140" y="1937054"/>
            <a:ext cx="362089" cy="0"/>
          </a:xfrm>
          <a:prstGeom prst="line">
            <a:avLst/>
          </a:prstGeom>
          <a:ln w="48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4477639" y="1937055"/>
            <a:ext cx="405981" cy="0"/>
          </a:xfrm>
          <a:prstGeom prst="line">
            <a:avLst/>
          </a:prstGeom>
          <a:ln w="48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Rectangle 59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2880005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2" name="Picture 6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63" name="Picture 6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64" name="TextBox 63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Schemata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theorem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86498" y="747675"/>
            <a:ext cx="529889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1">
                <a:solidFill>
                  <a:srgbClr val="FFFFFF"/>
                </a:solidFill>
                <a:latin typeface="Josefin Sans"/>
              </a:rPr>
              <a:t>Label,</a:t>
            </a:r>
            <a:r>
              <a:rPr sz="797" b="1">
                <a:solidFill>
                  <a:srgbClr val="FFFFFF"/>
                </a:solidFill>
                <a:latin typeface="Josefin Sans"/>
              </a:rPr>
              <a:t> </a:t>
            </a:r>
            <a:r>
              <a:rPr sz="797" b="1">
                <a:solidFill>
                  <a:srgbClr val="FFFFFF"/>
                </a:solidFill>
                <a:latin typeface="Josefin Sans"/>
              </a:rPr>
              <a:t>c</a:t>
            </a:r>
            <a:r>
              <a:rPr sz="597" b="1">
                <a:solidFill>
                  <a:srgbClr val="FFFFFF"/>
                </a:solidFill>
                <a:latin typeface="Josefin Sans"/>
              </a:rPr>
              <a:t>i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27366" y="747675"/>
            <a:ext cx="475802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1">
                <a:solidFill>
                  <a:srgbClr val="FFFFFF"/>
                </a:solidFill>
                <a:latin typeface="Josefin Sans"/>
              </a:rPr>
              <a:t>Chromosome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774266" y="747675"/>
            <a:ext cx="401112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1">
                <a:solidFill>
                  <a:srgbClr val="FFFFFF"/>
                </a:solidFill>
                <a:latin typeface="Josefin Sans"/>
              </a:rPr>
              <a:t>Fitness,</a:t>
            </a:r>
            <a:r>
              <a:rPr sz="797" b="1">
                <a:solidFill>
                  <a:srgbClr val="FFFFFF"/>
                </a:solidFill>
                <a:latin typeface="Josefin Sans"/>
              </a:rPr>
              <a:t> </a:t>
            </a:r>
            <a:r>
              <a:rPr sz="797" b="1">
                <a:solidFill>
                  <a:srgbClr val="FFFFFF"/>
                </a:solidFill>
                <a:latin typeface="Josefin Sans"/>
              </a:rPr>
              <a:t>f</a:t>
            </a:r>
            <a:r>
              <a:rPr sz="597" b="1">
                <a:solidFill>
                  <a:srgbClr val="FFFFFF"/>
                </a:solidFill>
                <a:latin typeface="Josefin Sans"/>
              </a:rPr>
              <a:t>i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32447" y="923245"/>
            <a:ext cx="515294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c</a:t>
            </a: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99591" y="923245"/>
            <a:ext cx="458580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0000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965221" y="923245"/>
            <a:ext cx="382017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43978" y="1094048"/>
            <a:ext cx="514141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c</a:t>
            </a: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214983" y="1094048"/>
            <a:ext cx="457041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0001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944141" y="1094048"/>
            <a:ext cx="384125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10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36689" y="1264863"/>
            <a:ext cx="5148706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c</a:t>
            </a:r>
            <a:r>
              <a:rPr sz="597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230363" y="1264863"/>
            <a:ext cx="455503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0011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949432" y="1264863"/>
            <a:ext cx="383596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18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6206" y="1435665"/>
            <a:ext cx="514918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c</a:t>
            </a:r>
            <a:r>
              <a:rPr sz="597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214983" y="1435665"/>
            <a:ext cx="457041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0010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940293" y="1435665"/>
            <a:ext cx="384510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24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36282" y="1606480"/>
            <a:ext cx="514911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c</a:t>
            </a:r>
            <a:r>
              <a:rPr sz="597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230363" y="1606480"/>
            <a:ext cx="455503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0110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939715" y="1606480"/>
            <a:ext cx="384568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28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35939" y="1777282"/>
            <a:ext cx="5149456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c</a:t>
            </a:r>
            <a:r>
              <a:rPr sz="597" b="0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245755" y="1777282"/>
            <a:ext cx="453964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0111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933765" y="1777282"/>
            <a:ext cx="385163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30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35863" y="1948097"/>
            <a:ext cx="514953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c</a:t>
            </a:r>
            <a:r>
              <a:rPr sz="597" b="0">
                <a:solidFill>
                  <a:srgbClr val="000000"/>
                </a:solidFill>
                <a:latin typeface="Josefin Sans"/>
              </a:rPr>
              <a:t>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230363" y="1948097"/>
            <a:ext cx="455503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0101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933743" y="1948097"/>
            <a:ext cx="385165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30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37870" y="2118912"/>
            <a:ext cx="514752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c</a:t>
            </a:r>
            <a:r>
              <a:rPr sz="597" b="0">
                <a:solidFill>
                  <a:srgbClr val="000000"/>
                </a:solidFill>
                <a:latin typeface="Josefin Sans"/>
              </a:rPr>
              <a:t>7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214983" y="2118912"/>
            <a:ext cx="457041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0100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939747" y="2118912"/>
            <a:ext cx="384564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28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36434" y="2289715"/>
            <a:ext cx="514896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c</a:t>
            </a:r>
            <a:r>
              <a:rPr sz="597" b="0">
                <a:solidFill>
                  <a:srgbClr val="000000"/>
                </a:solidFill>
                <a:latin typeface="Josefin Sans"/>
              </a:rPr>
              <a:t>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230363" y="2289715"/>
            <a:ext cx="455503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1100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940322" y="2289715"/>
            <a:ext cx="384507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24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35863" y="2460530"/>
            <a:ext cx="514953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c</a:t>
            </a:r>
            <a:r>
              <a:rPr sz="597" b="0">
                <a:solidFill>
                  <a:srgbClr val="000000"/>
                </a:solidFill>
                <a:latin typeface="Josefin Sans"/>
              </a:rPr>
              <a:t>9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245755" y="2460530"/>
            <a:ext cx="453964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1101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949462" y="2460530"/>
            <a:ext cx="383593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18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663978" y="714961"/>
            <a:ext cx="3121417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Assuming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we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are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using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proportional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selection,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2663978" y="854141"/>
            <a:ext cx="3121417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probability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selecting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chromosome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is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686531" y="1160608"/>
            <a:ext cx="2098864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Cambria Math"/>
              </a:rPr>
              <a:t>P</a:t>
            </a:r>
            <a:r>
              <a:rPr sz="896" b="0">
                <a:solidFill>
                  <a:srgbClr val="000000"/>
                </a:solidFill>
                <a:latin typeface="Cambria Math"/>
              </a:rPr>
              <a:t>(</a:t>
            </a:r>
            <a:r>
              <a:rPr sz="896" b="0">
                <a:solidFill>
                  <a:srgbClr val="000000"/>
                </a:solidFill>
                <a:latin typeface="Cambria Math"/>
              </a:rPr>
              <a:t>c</a:t>
            </a:r>
            <a:r>
              <a:rPr sz="597" b="0">
                <a:solidFill>
                  <a:srgbClr val="000000"/>
                </a:solidFill>
                <a:latin typeface="Cambria Math"/>
              </a:rPr>
              <a:t>i</a:t>
            </a:r>
            <a:r>
              <a:rPr sz="896" b="0">
                <a:solidFill>
                  <a:srgbClr val="000000"/>
                </a:solidFill>
                <a:latin typeface="Cambria Math"/>
              </a:rPr>
              <a:t>) =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215944" y="1086961"/>
            <a:ext cx="1569451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Cambria Math"/>
              </a:rPr>
              <a:t>f</a:t>
            </a:r>
            <a:r>
              <a:rPr sz="597" b="0">
                <a:solidFill>
                  <a:srgbClr val="000000"/>
                </a:solidFill>
                <a:latin typeface="Cambria Math"/>
              </a:rPr>
              <a:t>i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144430" y="1240209"/>
            <a:ext cx="164096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9</a:t>
            </a:r>
            <a:r>
              <a:rPr sz="896" b="0">
                <a:solidFill>
                  <a:srgbClr val="000000"/>
                </a:solidFill>
                <a:latin typeface="Cambria Math"/>
              </a:rPr>
              <a:t>P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4130587" y="1446127"/>
            <a:ext cx="165480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i</a:t>
            </a:r>
            <a:r>
              <a:rPr sz="597" b="0">
                <a:solidFill>
                  <a:srgbClr val="000000"/>
                </a:solidFill>
                <a:latin typeface="Cambria Math"/>
              </a:rPr>
              <a:t>=0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4301301" y="1318723"/>
            <a:ext cx="148409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Cambria Math"/>
              </a:rPr>
              <a:t>f</a:t>
            </a:r>
            <a:r>
              <a:rPr sz="597" b="0">
                <a:solidFill>
                  <a:srgbClr val="000000"/>
                </a:solidFill>
                <a:latin typeface="Cambria Math"/>
              </a:rPr>
              <a:t>i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2663978" y="1578091"/>
            <a:ext cx="3121417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Therefore the probability of selecting either of c</a:t>
            </a:r>
            <a:r>
              <a:rPr sz="597" b="0">
                <a:solidFill>
                  <a:srgbClr val="000000"/>
                </a:solidFill>
                <a:latin typeface="Josefin Sans"/>
              </a:rPr>
              <a:t>5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and c</a:t>
            </a:r>
            <a:r>
              <a:rPr sz="597" b="0">
                <a:solidFill>
                  <a:srgbClr val="000000"/>
                </a:solidFill>
                <a:latin typeface="Josefin Sans"/>
              </a:rPr>
              <a:t>6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is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201175" y="1802885"/>
            <a:ext cx="2584220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Cambria Math"/>
              </a:rPr>
              <a:t>P</a:t>
            </a:r>
            <a:r>
              <a:rPr sz="896" b="0">
                <a:solidFill>
                  <a:srgbClr val="000000"/>
                </a:solidFill>
                <a:latin typeface="Cambria Math"/>
              </a:rPr>
              <a:t>(</a:t>
            </a:r>
            <a:r>
              <a:rPr sz="896" b="0">
                <a:solidFill>
                  <a:srgbClr val="000000"/>
                </a:solidFill>
                <a:latin typeface="Cambria Math"/>
              </a:rPr>
              <a:t>c</a:t>
            </a:r>
            <a:r>
              <a:rPr sz="597" b="0">
                <a:solidFill>
                  <a:srgbClr val="000000"/>
                </a:solidFill>
                <a:latin typeface="Cambria Math"/>
              </a:rPr>
              <a:t>5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or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</a:t>
            </a:r>
            <a:r>
              <a:rPr sz="896" b="0">
                <a:solidFill>
                  <a:srgbClr val="000000"/>
                </a:solidFill>
                <a:latin typeface="Cambria Math"/>
              </a:rPr>
              <a:t>c</a:t>
            </a:r>
            <a:r>
              <a:rPr sz="597" b="0">
                <a:solidFill>
                  <a:srgbClr val="000000"/>
                </a:solidFill>
                <a:latin typeface="Cambria Math"/>
              </a:rPr>
              <a:t>6</a:t>
            </a:r>
            <a:r>
              <a:rPr sz="896" b="0">
                <a:solidFill>
                  <a:srgbClr val="000000"/>
                </a:solidFill>
                <a:latin typeface="Cambria Math"/>
              </a:rPr>
              <a:t>) =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</a:t>
            </a:r>
            <a:r>
              <a:rPr sz="896" b="0">
                <a:solidFill>
                  <a:srgbClr val="000000"/>
                </a:solidFill>
                <a:latin typeface="Cambria Math"/>
              </a:rPr>
              <a:t>f</a:t>
            </a:r>
            <a:r>
              <a:rPr sz="597" b="0">
                <a:solidFill>
                  <a:srgbClr val="000000"/>
                </a:solidFill>
                <a:latin typeface="Cambria Math"/>
              </a:rPr>
              <a:t>5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+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f</a:t>
            </a:r>
            <a:r>
              <a:rPr sz="597" b="0">
                <a:solidFill>
                  <a:srgbClr val="000000"/>
                </a:solidFill>
                <a:latin typeface="Cambria Math"/>
              </a:rPr>
              <a:t>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990189" y="1956121"/>
            <a:ext cx="1795207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9</a:t>
            </a:r>
            <a:r>
              <a:rPr sz="896" b="0">
                <a:solidFill>
                  <a:srgbClr val="000000"/>
                </a:solidFill>
                <a:latin typeface="Cambria Math"/>
              </a:rPr>
              <a:t>P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3976346" y="2162051"/>
            <a:ext cx="180905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i</a:t>
            </a:r>
            <a:r>
              <a:rPr sz="597" b="0">
                <a:solidFill>
                  <a:srgbClr val="000000"/>
                </a:solidFill>
                <a:latin typeface="Cambria Math"/>
              </a:rPr>
              <a:t>=0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4147072" y="2034634"/>
            <a:ext cx="1638324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Cambria Math"/>
              </a:rPr>
              <a:t>f</a:t>
            </a:r>
            <a:r>
              <a:rPr sz="597" b="0">
                <a:solidFill>
                  <a:srgbClr val="000000"/>
                </a:solidFill>
                <a:latin typeface="Cambria Math"/>
              </a:rPr>
              <a:t>i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4338916" y="1793065"/>
            <a:ext cx="1446479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Cambria Math"/>
              </a:rPr>
              <a:t>=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</a:t>
            </a:r>
            <a:r>
              <a:rPr sz="896" b="0">
                <a:solidFill>
                  <a:srgbClr val="000000"/>
                </a:solidFill>
                <a:latin typeface="Cambria Math"/>
              </a:rPr>
              <a:t>2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×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f</a:t>
            </a:r>
            <a:r>
              <a:rPr sz="597" b="0">
                <a:solidFill>
                  <a:srgbClr val="000000"/>
                </a:solidFill>
                <a:latin typeface="Cambria Math"/>
              </a:rPr>
              <a:t>5</a:t>
            </a:r>
            <a:r>
              <a:rPr sz="597" b="0">
                <a:solidFill>
                  <a:srgbClr val="000000"/>
                </a:solidFill>
                <a:latin typeface="Cambria Math"/>
              </a:rPr>
              <a:t>/</a:t>
            </a:r>
            <a:r>
              <a:rPr sz="597" b="0">
                <a:solidFill>
                  <a:srgbClr val="000000"/>
                </a:solidFill>
                <a:latin typeface="Cambria Math"/>
              </a:rPr>
              <a:t>6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4560633" y="1956121"/>
            <a:ext cx="1224762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9</a:t>
            </a:r>
            <a:r>
              <a:rPr sz="896" b="0">
                <a:solidFill>
                  <a:srgbClr val="000000"/>
                </a:solidFill>
                <a:latin typeface="Cambria Math"/>
              </a:rPr>
              <a:t>P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4546790" y="2162052"/>
            <a:ext cx="123860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i</a:t>
            </a:r>
            <a:r>
              <a:rPr sz="597" b="0">
                <a:solidFill>
                  <a:srgbClr val="000000"/>
                </a:solidFill>
                <a:latin typeface="Cambria Math"/>
              </a:rPr>
              <a:t>=0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4717516" y="2034635"/>
            <a:ext cx="1067879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Cambria Math"/>
              </a:rPr>
              <a:t>f</a:t>
            </a:r>
            <a:r>
              <a:rPr sz="597" b="0">
                <a:solidFill>
                  <a:srgbClr val="000000"/>
                </a:solidFill>
                <a:latin typeface="Cambria Math"/>
              </a:rPr>
              <a:t>i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2663978" y="2344626"/>
            <a:ext cx="3121417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where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</a:t>
            </a:r>
            <a:r>
              <a:rPr sz="896" b="0">
                <a:solidFill>
                  <a:srgbClr val="000000"/>
                </a:solidFill>
                <a:latin typeface="Cambria Math"/>
              </a:rPr>
              <a:t>f</a:t>
            </a:r>
            <a:r>
              <a:rPr sz="597" b="0">
                <a:solidFill>
                  <a:srgbClr val="000000"/>
                </a:solidFill>
                <a:latin typeface="Cambria Math"/>
              </a:rPr>
              <a:t>5</a:t>
            </a:r>
            <a:r>
              <a:rPr sz="597" b="0">
                <a:solidFill>
                  <a:srgbClr val="000000"/>
                </a:solidFill>
                <a:latin typeface="Cambria Math"/>
              </a:rPr>
              <a:t>/</a:t>
            </a:r>
            <a:r>
              <a:rPr sz="597" b="0">
                <a:solidFill>
                  <a:srgbClr val="000000"/>
                </a:solidFill>
                <a:latin typeface="Cambria Math"/>
              </a:rPr>
              <a:t>6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average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fitness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chromosomes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c</a:t>
            </a:r>
            <a:r>
              <a:rPr sz="597" b="0">
                <a:solidFill>
                  <a:srgbClr val="000000"/>
                </a:solidFill>
                <a:latin typeface="Josefin Sans"/>
              </a:rPr>
              <a:t>5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and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663978" y="2483805"/>
            <a:ext cx="3121417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c</a:t>
            </a:r>
            <a:r>
              <a:rPr sz="597" b="0">
                <a:solidFill>
                  <a:srgbClr val="000000"/>
                </a:solidFill>
                <a:latin typeface="Josefin Sans"/>
              </a:rPr>
              <a:t>6</a:t>
            </a:r>
            <a:r>
              <a:rPr sz="896" b="0">
                <a:solidFill>
                  <a:srgbClr val="000000"/>
                </a:solidFill>
                <a:latin typeface="Josefin Sans"/>
              </a:rPr>
              <a:t>.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4898771" y="3150918"/>
            <a:ext cx="88662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627447" y="3150694"/>
            <a:ext cx="15794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78</a:t>
            </a:r>
          </a:p>
        </p:txBody>
      </p:sp>
    </p:spTree>
  </p:cSld>
  <p:clrMapOvr>
    <a:masterClrMapping/>
  </p:clrMapOvr>
</p:sld>
</file>

<file path=ppt/slides/slide2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53954771" y="-49157272"/>
            <a:ext cx="474080" cy="0"/>
          </a:xfrm>
          <a:prstGeom prst="line">
            <a:avLst/>
          </a:prstGeom>
          <a:ln w="553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53646895" y="-48568942"/>
            <a:ext cx="474080" cy="0"/>
          </a:xfrm>
          <a:prstGeom prst="line">
            <a:avLst/>
          </a:prstGeom>
          <a:ln w="553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ectangle 37"/>
          <p:cNvSpPr/>
          <p:nvPr/>
        </p:nvSpPr>
        <p:spPr>
          <a:xfrm>
            <a:off x="0" y="3146747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880003" y="3146747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Schemata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theorem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9993" y="776241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Assuming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generation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goes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through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selections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10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chromosomes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before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next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9993" y="948313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generation,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898770" y="3150922"/>
            <a:ext cx="8866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27445" y="3150698"/>
            <a:ext cx="15795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79</a:t>
            </a:r>
          </a:p>
        </p:txBody>
      </p:sp>
    </p:spTree>
  </p:cSld>
  <p:clrMapOvr>
    <a:masterClrMapping/>
  </p:clrMapOvr>
</p:sld>
</file>

<file path=ppt/slides/slide2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28554443" y="-23756945"/>
            <a:ext cx="474079" cy="0"/>
          </a:xfrm>
          <a:prstGeom prst="line">
            <a:avLst/>
          </a:prstGeom>
          <a:ln w="553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28246570" y="-23168616"/>
            <a:ext cx="474080" cy="0"/>
          </a:xfrm>
          <a:prstGeom prst="line">
            <a:avLst/>
          </a:prstGeom>
          <a:ln w="553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ectangle 37"/>
          <p:cNvSpPr/>
          <p:nvPr/>
        </p:nvSpPr>
        <p:spPr>
          <a:xfrm>
            <a:off x="-3" y="3146744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880000" y="3146744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Schemata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theorem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9993" y="776241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Assuming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generation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goes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through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selections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10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chromosomes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before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next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9993" y="948313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generation,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expected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number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times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</a:t>
            </a:r>
            <a:r>
              <a:rPr sz="797" b="0">
                <a:solidFill>
                  <a:srgbClr val="000000"/>
                </a:solidFill>
                <a:latin typeface="Josefin Sans"/>
              </a:rPr>
              <a:t>5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</a:t>
            </a:r>
            <a:r>
              <a:rPr sz="797" b="0">
                <a:solidFill>
                  <a:srgbClr val="000000"/>
                </a:solidFill>
                <a:latin typeface="Josefin Sans"/>
              </a:rPr>
              <a:t>6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selected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60650" y="1259565"/>
            <a:ext cx="382474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m</a:t>
            </a:r>
            <a:r>
              <a:rPr sz="797" b="0">
                <a:solidFill>
                  <a:srgbClr val="000000"/>
                </a:solidFill>
                <a:latin typeface="Cambria Math"/>
              </a:rPr>
              <a:t>5</a:t>
            </a:r>
            <a:r>
              <a:rPr sz="797" b="0">
                <a:solidFill>
                  <a:srgbClr val="000000"/>
                </a:solidFill>
                <a:latin typeface="Cambria Math"/>
              </a:rPr>
              <a:t>/</a:t>
            </a:r>
            <a:r>
              <a:rPr sz="797" b="0">
                <a:solidFill>
                  <a:srgbClr val="000000"/>
                </a:solidFill>
                <a:latin typeface="Cambria Math"/>
              </a:rPr>
              <a:t>6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+ 1) = 10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×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P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c</a:t>
            </a:r>
            <a:r>
              <a:rPr sz="797" b="0">
                <a:solidFill>
                  <a:srgbClr val="000000"/>
                </a:solidFill>
                <a:latin typeface="Cambria Math"/>
              </a:rPr>
              <a:t>5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or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c</a:t>
            </a:r>
            <a:r>
              <a:rPr sz="797" b="0">
                <a:solidFill>
                  <a:srgbClr val="000000"/>
                </a:solidFill>
                <a:latin typeface="Cambria Math"/>
              </a:rPr>
              <a:t>6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98767" y="3150919"/>
            <a:ext cx="88662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627442" y="3150695"/>
            <a:ext cx="15795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79</a:t>
            </a:r>
          </a:p>
        </p:txBody>
      </p:sp>
    </p:spTree>
  </p:cSld>
  <p:clrMapOvr>
    <a:masterClrMapping/>
  </p:clrMapOvr>
</p:sld>
</file>

<file path=ppt/slides/slide2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3154120" y="1643380"/>
            <a:ext cx="474078" cy="0"/>
          </a:xfrm>
          <a:prstGeom prst="line">
            <a:avLst/>
          </a:prstGeom>
          <a:ln w="553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28246570" y="-23168619"/>
            <a:ext cx="474080" cy="0"/>
          </a:xfrm>
          <a:prstGeom prst="line">
            <a:avLst/>
          </a:prstGeom>
          <a:ln w="553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ectangle 37"/>
          <p:cNvSpPr/>
          <p:nvPr/>
        </p:nvSpPr>
        <p:spPr>
          <a:xfrm>
            <a:off x="-3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880000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Schemata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theorem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9993" y="776241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Assuming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generation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goes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through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selections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10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chromosomes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before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next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9993" y="948313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generation,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expected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number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times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</a:t>
            </a:r>
            <a:r>
              <a:rPr sz="797" b="0">
                <a:solidFill>
                  <a:srgbClr val="000000"/>
                </a:solidFill>
                <a:latin typeface="Josefin Sans"/>
              </a:rPr>
              <a:t>5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</a:t>
            </a:r>
            <a:r>
              <a:rPr sz="797" b="0">
                <a:solidFill>
                  <a:srgbClr val="000000"/>
                </a:solidFill>
                <a:latin typeface="Josefin Sans"/>
              </a:rPr>
              <a:t>6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selected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60650" y="1259565"/>
            <a:ext cx="382474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m</a:t>
            </a:r>
            <a:r>
              <a:rPr sz="797" b="0">
                <a:solidFill>
                  <a:srgbClr val="000000"/>
                </a:solidFill>
                <a:latin typeface="Cambria Math"/>
              </a:rPr>
              <a:t>5</a:t>
            </a:r>
            <a:r>
              <a:rPr sz="797" b="0">
                <a:solidFill>
                  <a:srgbClr val="000000"/>
                </a:solidFill>
                <a:latin typeface="Cambria Math"/>
              </a:rPr>
              <a:t>/</a:t>
            </a:r>
            <a:r>
              <a:rPr sz="797" b="0">
                <a:solidFill>
                  <a:srgbClr val="000000"/>
                </a:solidFill>
                <a:latin typeface="Cambria Math"/>
              </a:rPr>
              <a:t>6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+ 1) = 10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×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P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c</a:t>
            </a:r>
            <a:r>
              <a:rPr sz="797" b="0">
                <a:solidFill>
                  <a:srgbClr val="000000"/>
                </a:solidFill>
                <a:latin typeface="Cambria Math"/>
              </a:rPr>
              <a:t>5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or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c</a:t>
            </a:r>
            <a:r>
              <a:rPr sz="797" b="0">
                <a:solidFill>
                  <a:srgbClr val="000000"/>
                </a:solidFill>
                <a:latin typeface="Cambria Math"/>
              </a:rPr>
              <a:t>6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684817" y="1460421"/>
            <a:ext cx="310057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= 10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×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2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×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f</a:t>
            </a:r>
            <a:r>
              <a:rPr sz="797" b="0">
                <a:solidFill>
                  <a:srgbClr val="000000"/>
                </a:solidFill>
                <a:latin typeface="Cambria Math"/>
              </a:rPr>
              <a:t>5</a:t>
            </a:r>
            <a:r>
              <a:rPr sz="797" b="0">
                <a:solidFill>
                  <a:srgbClr val="000000"/>
                </a:solidFill>
                <a:latin typeface="Cambria Math"/>
              </a:rPr>
              <a:t>/</a:t>
            </a:r>
            <a:r>
              <a:rPr sz="797" b="0">
                <a:solidFill>
                  <a:srgbClr val="000000"/>
                </a:solidFill>
                <a:latin typeface="Cambria Math"/>
              </a:rPr>
              <a:t>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251110" y="1662762"/>
            <a:ext cx="253428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9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P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237216" y="1919022"/>
            <a:ext cx="254817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i</a:t>
            </a:r>
            <a:r>
              <a:rPr sz="797" b="0">
                <a:solidFill>
                  <a:srgbClr val="000000"/>
                </a:solidFill>
                <a:latin typeface="Cambria Math"/>
              </a:rPr>
              <a:t>=0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434346" y="1765214"/>
            <a:ext cx="235104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f</a:t>
            </a:r>
            <a:r>
              <a:rPr sz="797" b="0">
                <a:solidFill>
                  <a:srgbClr val="000000"/>
                </a:solidFill>
                <a:latin typeface="Cambria Math"/>
              </a:rPr>
              <a:t>i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98767" y="3150916"/>
            <a:ext cx="88662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627442" y="3150692"/>
            <a:ext cx="15795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79</a:t>
            </a:r>
          </a:p>
        </p:txBody>
      </p:sp>
    </p:spTree>
  </p:cSld>
  <p:clrMapOvr>
    <a:masterClrMapping/>
  </p:clrMapOvr>
</p:sld>
</file>

<file path=ppt/slides/slide2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3154120" y="1643380"/>
            <a:ext cx="474078" cy="0"/>
          </a:xfrm>
          <a:prstGeom prst="line">
            <a:avLst/>
          </a:prstGeom>
          <a:ln w="553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2846246" y="2231707"/>
            <a:ext cx="474079" cy="0"/>
          </a:xfrm>
          <a:prstGeom prst="line">
            <a:avLst/>
          </a:prstGeom>
          <a:ln w="553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ectangle 37"/>
          <p:cNvSpPr/>
          <p:nvPr/>
        </p:nvSpPr>
        <p:spPr>
          <a:xfrm>
            <a:off x="-3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880000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Schemata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theorem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9993" y="776241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Assuming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generation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goes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through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selections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10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chromosomes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before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next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9993" y="948313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generation,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expected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number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times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</a:t>
            </a:r>
            <a:r>
              <a:rPr sz="797" b="0">
                <a:solidFill>
                  <a:srgbClr val="000000"/>
                </a:solidFill>
                <a:latin typeface="Josefin Sans"/>
              </a:rPr>
              <a:t>5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</a:t>
            </a:r>
            <a:r>
              <a:rPr sz="797" b="0">
                <a:solidFill>
                  <a:srgbClr val="000000"/>
                </a:solidFill>
                <a:latin typeface="Josefin Sans"/>
              </a:rPr>
              <a:t>6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selected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60650" y="1259565"/>
            <a:ext cx="382474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m</a:t>
            </a:r>
            <a:r>
              <a:rPr sz="797" b="0">
                <a:solidFill>
                  <a:srgbClr val="000000"/>
                </a:solidFill>
                <a:latin typeface="Cambria Math"/>
              </a:rPr>
              <a:t>5</a:t>
            </a:r>
            <a:r>
              <a:rPr sz="797" b="0">
                <a:solidFill>
                  <a:srgbClr val="000000"/>
                </a:solidFill>
                <a:latin typeface="Cambria Math"/>
              </a:rPr>
              <a:t>/</a:t>
            </a:r>
            <a:r>
              <a:rPr sz="797" b="0">
                <a:solidFill>
                  <a:srgbClr val="000000"/>
                </a:solidFill>
                <a:latin typeface="Cambria Math"/>
              </a:rPr>
              <a:t>6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+ 1) = 10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×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P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c</a:t>
            </a:r>
            <a:r>
              <a:rPr sz="797" b="0">
                <a:solidFill>
                  <a:srgbClr val="000000"/>
                </a:solidFill>
                <a:latin typeface="Cambria Math"/>
              </a:rPr>
              <a:t>5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or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c</a:t>
            </a:r>
            <a:r>
              <a:rPr sz="797" b="0">
                <a:solidFill>
                  <a:srgbClr val="000000"/>
                </a:solidFill>
                <a:latin typeface="Cambria Math"/>
              </a:rPr>
              <a:t>6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684817" y="1460421"/>
            <a:ext cx="310057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= 10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×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2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×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f</a:t>
            </a:r>
            <a:r>
              <a:rPr sz="797" b="0">
                <a:solidFill>
                  <a:srgbClr val="000000"/>
                </a:solidFill>
                <a:latin typeface="Cambria Math"/>
              </a:rPr>
              <a:t>5</a:t>
            </a:r>
            <a:r>
              <a:rPr sz="797" b="0">
                <a:solidFill>
                  <a:srgbClr val="000000"/>
                </a:solidFill>
                <a:latin typeface="Cambria Math"/>
              </a:rPr>
              <a:t>/</a:t>
            </a:r>
            <a:r>
              <a:rPr sz="797" b="0">
                <a:solidFill>
                  <a:srgbClr val="000000"/>
                </a:solidFill>
                <a:latin typeface="Cambria Math"/>
              </a:rPr>
              <a:t>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251110" y="1662762"/>
            <a:ext cx="253428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9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P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237216" y="1919022"/>
            <a:ext cx="254817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i</a:t>
            </a:r>
            <a:r>
              <a:rPr sz="797" b="0">
                <a:solidFill>
                  <a:srgbClr val="000000"/>
                </a:solidFill>
                <a:latin typeface="Cambria Math"/>
              </a:rPr>
              <a:t>=0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434346" y="1765214"/>
            <a:ext cx="235104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f</a:t>
            </a:r>
            <a:r>
              <a:rPr sz="797" b="0">
                <a:solidFill>
                  <a:srgbClr val="000000"/>
                </a:solidFill>
                <a:latin typeface="Cambria Math"/>
              </a:rPr>
              <a:t>i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684817" y="2048736"/>
            <a:ext cx="310057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=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2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×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f</a:t>
            </a:r>
            <a:r>
              <a:rPr sz="797" b="0">
                <a:solidFill>
                  <a:srgbClr val="000000"/>
                </a:solidFill>
                <a:latin typeface="Cambria Math"/>
              </a:rPr>
              <a:t>5</a:t>
            </a:r>
            <a:r>
              <a:rPr sz="797" b="0">
                <a:solidFill>
                  <a:srgbClr val="000000"/>
                </a:solidFill>
                <a:latin typeface="Cambria Math"/>
              </a:rPr>
              <a:t>/</a:t>
            </a:r>
            <a:r>
              <a:rPr sz="797" b="0">
                <a:solidFill>
                  <a:srgbClr val="000000"/>
                </a:solidFill>
                <a:latin typeface="Cambria Math"/>
              </a:rPr>
              <a:t>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966642" y="2253097"/>
            <a:ext cx="281875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f</a:t>
            </a:r>
            <a:r>
              <a:rPr sz="797" b="0">
                <a:solidFill>
                  <a:srgbClr val="000000"/>
                </a:solidFill>
                <a:latin typeface="Josefin Sans"/>
              </a:rPr>
              <a:t>avg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59991" y="2549174"/>
            <a:ext cx="542540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where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f</a:t>
            </a:r>
            <a:r>
              <a:rPr sz="797" b="0">
                <a:solidFill>
                  <a:srgbClr val="000000"/>
                </a:solidFill>
                <a:latin typeface="Josefin Sans"/>
              </a:rPr>
              <a:t>avg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average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fitness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whole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population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898767" y="3150918"/>
            <a:ext cx="88662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627442" y="3150694"/>
            <a:ext cx="15795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79</a:t>
            </a:r>
          </a:p>
        </p:txBody>
      </p:sp>
    </p:spTree>
  </p:cSld>
  <p:clrMapOvr>
    <a:masterClrMapping/>
  </p:clrMapOvr>
</p:sld>
</file>

<file path=ppt/slides/slide2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3078162" y="1550758"/>
            <a:ext cx="474078" cy="0"/>
          </a:xfrm>
          <a:prstGeom prst="line">
            <a:avLst/>
          </a:prstGeom>
          <a:ln w="553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tangle 36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880004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0" name="Picture 3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Schemata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theorem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192565" y="1367800"/>
            <a:ext cx="359283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m</a:t>
            </a:r>
            <a:r>
              <a:rPr sz="797" b="0">
                <a:solidFill>
                  <a:srgbClr val="000000"/>
                </a:solidFill>
                <a:latin typeface="Cambria Math"/>
              </a:rPr>
              <a:t>5</a:t>
            </a:r>
            <a:r>
              <a:rPr sz="797" b="0">
                <a:solidFill>
                  <a:srgbClr val="000000"/>
                </a:solidFill>
                <a:latin typeface="Cambria Math"/>
              </a:rPr>
              <a:t>/</a:t>
            </a:r>
            <a:r>
              <a:rPr sz="797" b="0">
                <a:solidFill>
                  <a:srgbClr val="000000"/>
                </a:solidFill>
                <a:latin typeface="Cambria Math"/>
              </a:rPr>
              <a:t>6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+ 1) =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2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×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f</a:t>
            </a:r>
            <a:r>
              <a:rPr sz="797" b="0">
                <a:solidFill>
                  <a:srgbClr val="000000"/>
                </a:solidFill>
                <a:latin typeface="Cambria Math"/>
              </a:rPr>
              <a:t>5</a:t>
            </a:r>
            <a:r>
              <a:rPr sz="797" b="0">
                <a:solidFill>
                  <a:srgbClr val="000000"/>
                </a:solidFill>
                <a:latin typeface="Cambria Math"/>
              </a:rPr>
              <a:t>/</a:t>
            </a:r>
            <a:r>
              <a:rPr sz="797" b="0">
                <a:solidFill>
                  <a:srgbClr val="000000"/>
                </a:solidFill>
                <a:latin typeface="Cambria Math"/>
              </a:rPr>
              <a:t>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198570" y="1572160"/>
            <a:ext cx="258682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f</a:t>
            </a:r>
            <a:r>
              <a:rPr sz="797" b="0">
                <a:solidFill>
                  <a:srgbClr val="000000"/>
                </a:solidFill>
                <a:latin typeface="Josefin Sans"/>
              </a:rPr>
              <a:t>avg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671738" y="1812395"/>
            <a:ext cx="411365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Will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m</a:t>
            </a:r>
            <a:r>
              <a:rPr sz="797" b="0">
                <a:solidFill>
                  <a:srgbClr val="000000"/>
                </a:solidFill>
                <a:latin typeface="Cambria Math"/>
              </a:rPr>
              <a:t>5</a:t>
            </a:r>
            <a:r>
              <a:rPr sz="797" b="0">
                <a:solidFill>
                  <a:srgbClr val="000000"/>
                </a:solidFill>
                <a:latin typeface="Cambria Math"/>
              </a:rPr>
              <a:t>/</a:t>
            </a:r>
            <a:r>
              <a:rPr sz="797" b="0">
                <a:solidFill>
                  <a:srgbClr val="000000"/>
                </a:solidFill>
                <a:latin typeface="Cambria Math"/>
              </a:rPr>
              <a:t>6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+ 1)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&gt;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2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or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m</a:t>
            </a:r>
            <a:r>
              <a:rPr sz="797" b="0">
                <a:solidFill>
                  <a:srgbClr val="000000"/>
                </a:solidFill>
                <a:latin typeface="Cambria Math"/>
              </a:rPr>
              <a:t>5</a:t>
            </a:r>
            <a:r>
              <a:rPr sz="797" b="0">
                <a:solidFill>
                  <a:srgbClr val="000000"/>
                </a:solidFill>
                <a:latin typeface="Cambria Math"/>
              </a:rPr>
              <a:t>/</a:t>
            </a:r>
            <a:r>
              <a:rPr sz="797" b="0">
                <a:solidFill>
                  <a:srgbClr val="000000"/>
                </a:solidFill>
                <a:latin typeface="Cambria Math"/>
              </a:rPr>
              <a:t>6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+ 1)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&lt;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2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?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898770" y="3150917"/>
            <a:ext cx="8866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16600" y="3150693"/>
            <a:ext cx="16879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80</a:t>
            </a:r>
          </a:p>
        </p:txBody>
      </p:sp>
    </p:spTree>
  </p:cSld>
  <p:clrMapOvr>
    <a:masterClrMapping/>
  </p:clrMapOvr>
</p:sld>
</file>

<file path=ppt/slides/slide2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3060966" y="1052385"/>
            <a:ext cx="438887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28766730" y="-22957863"/>
            <a:ext cx="207507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ectangle 37"/>
          <p:cNvSpPr/>
          <p:nvPr/>
        </p:nvSpPr>
        <p:spPr>
          <a:xfrm>
            <a:off x="0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880005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Schemata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theorem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9993" y="764196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Let’s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generalise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equation,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244953" y="889162"/>
            <a:ext cx="3540443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m</a:t>
            </a:r>
            <a:r>
              <a:rPr sz="697" b="0">
                <a:solidFill>
                  <a:srgbClr val="000000"/>
                </a:solidFill>
                <a:latin typeface="Cambria Math"/>
              </a:rPr>
              <a:t>5</a:t>
            </a:r>
            <a:r>
              <a:rPr sz="697" b="0">
                <a:solidFill>
                  <a:srgbClr val="000000"/>
                </a:solidFill>
                <a:latin typeface="Cambria Math"/>
              </a:rPr>
              <a:t>/</a:t>
            </a:r>
            <a:r>
              <a:rPr sz="697" b="0">
                <a:solidFill>
                  <a:srgbClr val="000000"/>
                </a:solidFill>
                <a:latin typeface="Cambria Math"/>
              </a:rPr>
              <a:t>6</a:t>
            </a:r>
            <a:r>
              <a:rPr sz="996" b="0">
                <a:solidFill>
                  <a:srgbClr val="000000"/>
                </a:solidFill>
                <a:latin typeface="Cambria Math"/>
              </a:rPr>
              <a:t>(</a:t>
            </a:r>
            <a:r>
              <a:rPr sz="996" b="0">
                <a:solidFill>
                  <a:srgbClr val="000000"/>
                </a:solidFill>
                <a:latin typeface="Cambria Math"/>
              </a:rPr>
              <a:t>t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+ 1) 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2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×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f</a:t>
            </a:r>
            <a:r>
              <a:rPr sz="697" b="0">
                <a:solidFill>
                  <a:srgbClr val="000000"/>
                </a:solidFill>
                <a:latin typeface="Cambria Math"/>
              </a:rPr>
              <a:t>5</a:t>
            </a:r>
            <a:r>
              <a:rPr sz="697" b="0">
                <a:solidFill>
                  <a:srgbClr val="000000"/>
                </a:solidFill>
                <a:latin typeface="Cambria Math"/>
              </a:rPr>
              <a:t>/</a:t>
            </a:r>
            <a:r>
              <a:rPr sz="697" b="0">
                <a:solidFill>
                  <a:srgbClr val="000000"/>
                </a:solidFill>
                <a:latin typeface="Cambria Math"/>
              </a:rPr>
              <a:t>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176663" y="1071929"/>
            <a:ext cx="260873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f</a:t>
            </a:r>
            <a:r>
              <a:rPr sz="697" b="0">
                <a:solidFill>
                  <a:srgbClr val="000000"/>
                </a:solidFill>
                <a:latin typeface="Josefin Sans"/>
              </a:rPr>
              <a:t>avg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98771" y="3150916"/>
            <a:ext cx="88662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639677" y="3150692"/>
            <a:ext cx="14571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81</a:t>
            </a:r>
          </a:p>
        </p:txBody>
      </p:sp>
    </p:spTree>
  </p:cSld>
  <p:clrMapOvr>
    <a:masterClrMapping/>
  </p:clrMapOvr>
</p:sld>
</file>

<file path=ppt/slides/slide2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3060966" y="1052385"/>
            <a:ext cx="438887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28766730" y="-22957863"/>
            <a:ext cx="207507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ectangle 37"/>
          <p:cNvSpPr/>
          <p:nvPr/>
        </p:nvSpPr>
        <p:spPr>
          <a:xfrm>
            <a:off x="0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880005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Schemata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theorem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9993" y="764196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Let’s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generalise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equation,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244953" y="889162"/>
            <a:ext cx="3540443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m</a:t>
            </a:r>
            <a:r>
              <a:rPr sz="697" b="0">
                <a:solidFill>
                  <a:srgbClr val="000000"/>
                </a:solidFill>
                <a:latin typeface="Cambria Math"/>
              </a:rPr>
              <a:t>5</a:t>
            </a:r>
            <a:r>
              <a:rPr sz="697" b="0">
                <a:solidFill>
                  <a:srgbClr val="000000"/>
                </a:solidFill>
                <a:latin typeface="Cambria Math"/>
              </a:rPr>
              <a:t>/</a:t>
            </a:r>
            <a:r>
              <a:rPr sz="697" b="0">
                <a:solidFill>
                  <a:srgbClr val="000000"/>
                </a:solidFill>
                <a:latin typeface="Cambria Math"/>
              </a:rPr>
              <a:t>6</a:t>
            </a:r>
            <a:r>
              <a:rPr sz="996" b="0">
                <a:solidFill>
                  <a:srgbClr val="000000"/>
                </a:solidFill>
                <a:latin typeface="Cambria Math"/>
              </a:rPr>
              <a:t>(</a:t>
            </a:r>
            <a:r>
              <a:rPr sz="996" b="0">
                <a:solidFill>
                  <a:srgbClr val="000000"/>
                </a:solidFill>
                <a:latin typeface="Cambria Math"/>
              </a:rPr>
              <a:t>t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+ 1) 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2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×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f</a:t>
            </a:r>
            <a:r>
              <a:rPr sz="697" b="0">
                <a:solidFill>
                  <a:srgbClr val="000000"/>
                </a:solidFill>
                <a:latin typeface="Cambria Math"/>
              </a:rPr>
              <a:t>5</a:t>
            </a:r>
            <a:r>
              <a:rPr sz="697" b="0">
                <a:solidFill>
                  <a:srgbClr val="000000"/>
                </a:solidFill>
                <a:latin typeface="Cambria Math"/>
              </a:rPr>
              <a:t>/</a:t>
            </a:r>
            <a:r>
              <a:rPr sz="697" b="0">
                <a:solidFill>
                  <a:srgbClr val="000000"/>
                </a:solidFill>
                <a:latin typeface="Cambria Math"/>
              </a:rPr>
              <a:t>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176663" y="1071929"/>
            <a:ext cx="260873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f</a:t>
            </a:r>
            <a:r>
              <a:rPr sz="697" b="0">
                <a:solidFill>
                  <a:srgbClr val="000000"/>
                </a:solidFill>
                <a:latin typeface="Josefin Sans"/>
              </a:rPr>
              <a:t>avg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69404" y="1483211"/>
            <a:ext cx="531599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MSAM10"/>
              </a:rPr>
              <a:t>▶</a:t>
            </a:r>
            <a:r>
              <a:rPr sz="996" b="0">
                <a:solidFill>
                  <a:srgbClr val="000000"/>
                </a:solidFill>
                <a:latin typeface="Cambria Math"/>
              </a:rPr>
              <a:t>m</a:t>
            </a:r>
            <a:r>
              <a:rPr sz="697" b="0">
                <a:solidFill>
                  <a:srgbClr val="000000"/>
                </a:solidFill>
                <a:latin typeface="Cambria Math"/>
              </a:rPr>
              <a:t>5</a:t>
            </a:r>
            <a:r>
              <a:rPr sz="697" b="0">
                <a:solidFill>
                  <a:srgbClr val="000000"/>
                </a:solidFill>
                <a:latin typeface="Cambria Math"/>
              </a:rPr>
              <a:t>/</a:t>
            </a:r>
            <a:r>
              <a:rPr sz="697" b="0">
                <a:solidFill>
                  <a:srgbClr val="000000"/>
                </a:solidFill>
                <a:latin typeface="Cambria Math"/>
              </a:rPr>
              <a:t>6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number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selected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chromosomes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schema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01*1,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m</a:t>
            </a:r>
            <a:r>
              <a:rPr sz="697" b="0">
                <a:solidFill>
                  <a:srgbClr val="000000"/>
                </a:solidFill>
                <a:latin typeface="Cambria Math"/>
              </a:rPr>
              <a:t>H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898771" y="3150916"/>
            <a:ext cx="88662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39677" y="3150692"/>
            <a:ext cx="14571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81</a:t>
            </a:r>
          </a:p>
        </p:txBody>
      </p:sp>
    </p:spTree>
  </p:cSld>
  <p:clrMapOvr>
    <a:masterClrMapping/>
  </p:clrMapOvr>
</p:sld>
</file>

<file path=ppt/slides/slide2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3060966" y="1052385"/>
            <a:ext cx="438887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28766730" y="-22957863"/>
            <a:ext cx="207507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ectangle 37"/>
          <p:cNvSpPr/>
          <p:nvPr/>
        </p:nvSpPr>
        <p:spPr>
          <a:xfrm>
            <a:off x="0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880005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Schemata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theorem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9993" y="764196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Let’s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generalise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equation,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244953" y="889162"/>
            <a:ext cx="3540443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m</a:t>
            </a:r>
            <a:r>
              <a:rPr sz="697" b="0">
                <a:solidFill>
                  <a:srgbClr val="000000"/>
                </a:solidFill>
                <a:latin typeface="Cambria Math"/>
              </a:rPr>
              <a:t>5</a:t>
            </a:r>
            <a:r>
              <a:rPr sz="697" b="0">
                <a:solidFill>
                  <a:srgbClr val="000000"/>
                </a:solidFill>
                <a:latin typeface="Cambria Math"/>
              </a:rPr>
              <a:t>/</a:t>
            </a:r>
            <a:r>
              <a:rPr sz="697" b="0">
                <a:solidFill>
                  <a:srgbClr val="000000"/>
                </a:solidFill>
                <a:latin typeface="Cambria Math"/>
              </a:rPr>
              <a:t>6</a:t>
            </a:r>
            <a:r>
              <a:rPr sz="996" b="0">
                <a:solidFill>
                  <a:srgbClr val="000000"/>
                </a:solidFill>
                <a:latin typeface="Cambria Math"/>
              </a:rPr>
              <a:t>(</a:t>
            </a:r>
            <a:r>
              <a:rPr sz="996" b="0">
                <a:solidFill>
                  <a:srgbClr val="000000"/>
                </a:solidFill>
                <a:latin typeface="Cambria Math"/>
              </a:rPr>
              <a:t>t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+ 1) 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2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×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f</a:t>
            </a:r>
            <a:r>
              <a:rPr sz="697" b="0">
                <a:solidFill>
                  <a:srgbClr val="000000"/>
                </a:solidFill>
                <a:latin typeface="Cambria Math"/>
              </a:rPr>
              <a:t>5</a:t>
            </a:r>
            <a:r>
              <a:rPr sz="697" b="0">
                <a:solidFill>
                  <a:srgbClr val="000000"/>
                </a:solidFill>
                <a:latin typeface="Cambria Math"/>
              </a:rPr>
              <a:t>/</a:t>
            </a:r>
            <a:r>
              <a:rPr sz="697" b="0">
                <a:solidFill>
                  <a:srgbClr val="000000"/>
                </a:solidFill>
                <a:latin typeface="Cambria Math"/>
              </a:rPr>
              <a:t>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176663" y="1071929"/>
            <a:ext cx="260873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f</a:t>
            </a:r>
            <a:r>
              <a:rPr sz="697" b="0">
                <a:solidFill>
                  <a:srgbClr val="000000"/>
                </a:solidFill>
                <a:latin typeface="Josefin Sans"/>
              </a:rPr>
              <a:t>avg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69404" y="1483211"/>
            <a:ext cx="531599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MSAM10"/>
              </a:rPr>
              <a:t>▶</a:t>
            </a:r>
            <a:r>
              <a:rPr sz="996" b="0">
                <a:solidFill>
                  <a:srgbClr val="000000"/>
                </a:solidFill>
                <a:latin typeface="Cambria Math"/>
              </a:rPr>
              <a:t>m</a:t>
            </a:r>
            <a:r>
              <a:rPr sz="697" b="0">
                <a:solidFill>
                  <a:srgbClr val="000000"/>
                </a:solidFill>
                <a:latin typeface="Cambria Math"/>
              </a:rPr>
              <a:t>5</a:t>
            </a:r>
            <a:r>
              <a:rPr sz="697" b="0">
                <a:solidFill>
                  <a:srgbClr val="000000"/>
                </a:solidFill>
                <a:latin typeface="Cambria Math"/>
              </a:rPr>
              <a:t>/</a:t>
            </a:r>
            <a:r>
              <a:rPr sz="697" b="0">
                <a:solidFill>
                  <a:srgbClr val="000000"/>
                </a:solidFill>
                <a:latin typeface="Cambria Math"/>
              </a:rPr>
              <a:t>6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number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selected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chromosomes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schema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01*1,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m</a:t>
            </a:r>
            <a:r>
              <a:rPr sz="697" b="0">
                <a:solidFill>
                  <a:srgbClr val="000000"/>
                </a:solidFill>
                <a:latin typeface="Cambria Math"/>
              </a:rPr>
              <a:t>H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9404" y="1710961"/>
            <a:ext cx="531599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MSAM10"/>
              </a:rPr>
              <a:t>▶</a:t>
            </a:r>
            <a:r>
              <a:rPr sz="996" b="0">
                <a:solidFill>
                  <a:srgbClr val="000000"/>
                </a:solidFill>
                <a:latin typeface="Cambria Math"/>
              </a:rPr>
              <a:t>2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number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chromosomes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schema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01*1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current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generation,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m</a:t>
            </a:r>
            <a:r>
              <a:rPr sz="697" b="0">
                <a:solidFill>
                  <a:srgbClr val="000000"/>
                </a:solidFill>
                <a:latin typeface="Cambria Math"/>
              </a:rPr>
              <a:t>H</a:t>
            </a:r>
            <a:r>
              <a:rPr sz="996" b="0">
                <a:solidFill>
                  <a:srgbClr val="000000"/>
                </a:solidFill>
                <a:latin typeface="Cambria Math"/>
              </a:rPr>
              <a:t>(</a:t>
            </a:r>
            <a:r>
              <a:rPr sz="996" b="0">
                <a:solidFill>
                  <a:srgbClr val="000000"/>
                </a:solidFill>
                <a:latin typeface="Cambria Math"/>
              </a:rPr>
              <a:t>t</a:t>
            </a:r>
            <a:r>
              <a:rPr sz="996" b="0">
                <a:solidFill>
                  <a:srgbClr val="000000"/>
                </a:solidFill>
                <a:latin typeface="Cambria Math"/>
              </a:rPr>
              <a:t>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898771" y="3150916"/>
            <a:ext cx="88662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639677" y="3150692"/>
            <a:ext cx="14571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81</a:t>
            </a:r>
          </a:p>
        </p:txBody>
      </p:sp>
    </p:spTree>
  </p:cSld>
  <p:clrMapOvr>
    <a:masterClrMapping/>
  </p:clrMapOvr>
</p:sld>
</file>

<file path=ppt/slides/slide2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3060966" y="1052385"/>
            <a:ext cx="438887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28766730" y="-22957863"/>
            <a:ext cx="207507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ectangle 37"/>
          <p:cNvSpPr/>
          <p:nvPr/>
        </p:nvSpPr>
        <p:spPr>
          <a:xfrm>
            <a:off x="0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880005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Schemata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theorem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9993" y="764196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Let’s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generalise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equation,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244953" y="889162"/>
            <a:ext cx="3540443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m</a:t>
            </a:r>
            <a:r>
              <a:rPr sz="697" b="0">
                <a:solidFill>
                  <a:srgbClr val="000000"/>
                </a:solidFill>
                <a:latin typeface="Cambria Math"/>
              </a:rPr>
              <a:t>5</a:t>
            </a:r>
            <a:r>
              <a:rPr sz="697" b="0">
                <a:solidFill>
                  <a:srgbClr val="000000"/>
                </a:solidFill>
                <a:latin typeface="Cambria Math"/>
              </a:rPr>
              <a:t>/</a:t>
            </a:r>
            <a:r>
              <a:rPr sz="697" b="0">
                <a:solidFill>
                  <a:srgbClr val="000000"/>
                </a:solidFill>
                <a:latin typeface="Cambria Math"/>
              </a:rPr>
              <a:t>6</a:t>
            </a:r>
            <a:r>
              <a:rPr sz="996" b="0">
                <a:solidFill>
                  <a:srgbClr val="000000"/>
                </a:solidFill>
                <a:latin typeface="Cambria Math"/>
              </a:rPr>
              <a:t>(</a:t>
            </a:r>
            <a:r>
              <a:rPr sz="996" b="0">
                <a:solidFill>
                  <a:srgbClr val="000000"/>
                </a:solidFill>
                <a:latin typeface="Cambria Math"/>
              </a:rPr>
              <a:t>t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+ 1) 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2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×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f</a:t>
            </a:r>
            <a:r>
              <a:rPr sz="697" b="0">
                <a:solidFill>
                  <a:srgbClr val="000000"/>
                </a:solidFill>
                <a:latin typeface="Cambria Math"/>
              </a:rPr>
              <a:t>5</a:t>
            </a:r>
            <a:r>
              <a:rPr sz="697" b="0">
                <a:solidFill>
                  <a:srgbClr val="000000"/>
                </a:solidFill>
                <a:latin typeface="Cambria Math"/>
              </a:rPr>
              <a:t>/</a:t>
            </a:r>
            <a:r>
              <a:rPr sz="697" b="0">
                <a:solidFill>
                  <a:srgbClr val="000000"/>
                </a:solidFill>
                <a:latin typeface="Cambria Math"/>
              </a:rPr>
              <a:t>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176663" y="1071929"/>
            <a:ext cx="260873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f</a:t>
            </a:r>
            <a:r>
              <a:rPr sz="697" b="0">
                <a:solidFill>
                  <a:srgbClr val="000000"/>
                </a:solidFill>
                <a:latin typeface="Josefin Sans"/>
              </a:rPr>
              <a:t>avg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69404" y="1483211"/>
            <a:ext cx="531599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MSAM10"/>
              </a:rPr>
              <a:t>▶</a:t>
            </a:r>
            <a:r>
              <a:rPr sz="996" b="0">
                <a:solidFill>
                  <a:srgbClr val="000000"/>
                </a:solidFill>
                <a:latin typeface="Cambria Math"/>
              </a:rPr>
              <a:t>m</a:t>
            </a:r>
            <a:r>
              <a:rPr sz="697" b="0">
                <a:solidFill>
                  <a:srgbClr val="000000"/>
                </a:solidFill>
                <a:latin typeface="Cambria Math"/>
              </a:rPr>
              <a:t>5</a:t>
            </a:r>
            <a:r>
              <a:rPr sz="697" b="0">
                <a:solidFill>
                  <a:srgbClr val="000000"/>
                </a:solidFill>
                <a:latin typeface="Cambria Math"/>
              </a:rPr>
              <a:t>/</a:t>
            </a:r>
            <a:r>
              <a:rPr sz="697" b="0">
                <a:solidFill>
                  <a:srgbClr val="000000"/>
                </a:solidFill>
                <a:latin typeface="Cambria Math"/>
              </a:rPr>
              <a:t>6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number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selected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chromosomes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schema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01*1,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m</a:t>
            </a:r>
            <a:r>
              <a:rPr sz="697" b="0">
                <a:solidFill>
                  <a:srgbClr val="000000"/>
                </a:solidFill>
                <a:latin typeface="Cambria Math"/>
              </a:rPr>
              <a:t>H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9404" y="1710961"/>
            <a:ext cx="531599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MSAM10"/>
              </a:rPr>
              <a:t>▶</a:t>
            </a:r>
            <a:r>
              <a:rPr sz="996" b="0">
                <a:solidFill>
                  <a:srgbClr val="000000"/>
                </a:solidFill>
                <a:latin typeface="Cambria Math"/>
              </a:rPr>
              <a:t>2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number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chromosomes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schema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01*1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current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generation,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m</a:t>
            </a:r>
            <a:r>
              <a:rPr sz="697" b="0">
                <a:solidFill>
                  <a:srgbClr val="000000"/>
                </a:solidFill>
                <a:latin typeface="Cambria Math"/>
              </a:rPr>
              <a:t>H</a:t>
            </a:r>
            <a:r>
              <a:rPr sz="996" b="0">
                <a:solidFill>
                  <a:srgbClr val="000000"/>
                </a:solidFill>
                <a:latin typeface="Cambria Math"/>
              </a:rPr>
              <a:t>(</a:t>
            </a:r>
            <a:r>
              <a:rPr sz="996" b="0">
                <a:solidFill>
                  <a:srgbClr val="000000"/>
                </a:solidFill>
                <a:latin typeface="Cambria Math"/>
              </a:rPr>
              <a:t>t</a:t>
            </a:r>
            <a:r>
              <a:rPr sz="996" b="0">
                <a:solidFill>
                  <a:srgbClr val="000000"/>
                </a:solidFill>
                <a:latin typeface="Cambria Math"/>
              </a:rPr>
              <a:t>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69404" y="1938697"/>
            <a:ext cx="531599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MSAM10"/>
              </a:rPr>
              <a:t>▶</a:t>
            </a:r>
            <a:r>
              <a:rPr sz="996" b="0">
                <a:solidFill>
                  <a:srgbClr val="000000"/>
                </a:solidFill>
                <a:latin typeface="Cambria Math"/>
              </a:rPr>
              <a:t>f</a:t>
            </a:r>
            <a:r>
              <a:rPr sz="697" b="0">
                <a:solidFill>
                  <a:srgbClr val="000000"/>
                </a:solidFill>
                <a:latin typeface="Cambria Math"/>
              </a:rPr>
              <a:t>5</a:t>
            </a:r>
            <a:r>
              <a:rPr sz="697" b="0">
                <a:solidFill>
                  <a:srgbClr val="000000"/>
                </a:solidFill>
                <a:latin typeface="Cambria Math"/>
              </a:rPr>
              <a:t>/</a:t>
            </a:r>
            <a:r>
              <a:rPr sz="697" b="0">
                <a:solidFill>
                  <a:srgbClr val="000000"/>
                </a:solidFill>
                <a:latin typeface="Cambria Math"/>
              </a:rPr>
              <a:t>6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average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fitness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chromosomes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schema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01*1,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f</a:t>
            </a:r>
            <a:r>
              <a:rPr sz="697" b="0">
                <a:solidFill>
                  <a:srgbClr val="000000"/>
                </a:solidFill>
                <a:latin typeface="Cambria Math"/>
              </a:rPr>
              <a:t>H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98771" y="3150916"/>
            <a:ext cx="88662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39677" y="3150692"/>
            <a:ext cx="14571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81</a:t>
            </a:r>
          </a:p>
        </p:txBody>
      </p:sp>
    </p:spTree>
  </p:cSld>
  <p:clrMapOvr>
    <a:masterClrMapping/>
  </p:clrMapOvr>
</p:sld>
</file>

<file path=ppt/slides/slide2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3060966" y="1052385"/>
            <a:ext cx="438887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3366402" y="2442462"/>
            <a:ext cx="207505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ectangle 37"/>
          <p:cNvSpPr/>
          <p:nvPr/>
        </p:nvSpPr>
        <p:spPr>
          <a:xfrm>
            <a:off x="0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880005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Schemata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theorem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9993" y="764196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Let’s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generalise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equation,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244953" y="889162"/>
            <a:ext cx="3540443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m</a:t>
            </a:r>
            <a:r>
              <a:rPr sz="697" b="0">
                <a:solidFill>
                  <a:srgbClr val="000000"/>
                </a:solidFill>
                <a:latin typeface="Cambria Math"/>
              </a:rPr>
              <a:t>5</a:t>
            </a:r>
            <a:r>
              <a:rPr sz="697" b="0">
                <a:solidFill>
                  <a:srgbClr val="000000"/>
                </a:solidFill>
                <a:latin typeface="Cambria Math"/>
              </a:rPr>
              <a:t>/</a:t>
            </a:r>
            <a:r>
              <a:rPr sz="697" b="0">
                <a:solidFill>
                  <a:srgbClr val="000000"/>
                </a:solidFill>
                <a:latin typeface="Cambria Math"/>
              </a:rPr>
              <a:t>6</a:t>
            </a:r>
            <a:r>
              <a:rPr sz="996" b="0">
                <a:solidFill>
                  <a:srgbClr val="000000"/>
                </a:solidFill>
                <a:latin typeface="Cambria Math"/>
              </a:rPr>
              <a:t>(</a:t>
            </a:r>
            <a:r>
              <a:rPr sz="996" b="0">
                <a:solidFill>
                  <a:srgbClr val="000000"/>
                </a:solidFill>
                <a:latin typeface="Cambria Math"/>
              </a:rPr>
              <a:t>t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+ 1) 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2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×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f</a:t>
            </a:r>
            <a:r>
              <a:rPr sz="697" b="0">
                <a:solidFill>
                  <a:srgbClr val="000000"/>
                </a:solidFill>
                <a:latin typeface="Cambria Math"/>
              </a:rPr>
              <a:t>5</a:t>
            </a:r>
            <a:r>
              <a:rPr sz="697" b="0">
                <a:solidFill>
                  <a:srgbClr val="000000"/>
                </a:solidFill>
                <a:latin typeface="Cambria Math"/>
              </a:rPr>
              <a:t>/</a:t>
            </a:r>
            <a:r>
              <a:rPr sz="697" b="0">
                <a:solidFill>
                  <a:srgbClr val="000000"/>
                </a:solidFill>
                <a:latin typeface="Cambria Math"/>
              </a:rPr>
              <a:t>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176663" y="1071929"/>
            <a:ext cx="260873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f</a:t>
            </a:r>
            <a:r>
              <a:rPr sz="697" b="0">
                <a:solidFill>
                  <a:srgbClr val="000000"/>
                </a:solidFill>
                <a:latin typeface="Josefin Sans"/>
              </a:rPr>
              <a:t>avg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69404" y="1483211"/>
            <a:ext cx="531599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MSAM10"/>
              </a:rPr>
              <a:t>▶</a:t>
            </a:r>
            <a:r>
              <a:rPr sz="996" b="0">
                <a:solidFill>
                  <a:srgbClr val="000000"/>
                </a:solidFill>
                <a:latin typeface="Cambria Math"/>
              </a:rPr>
              <a:t>m</a:t>
            </a:r>
            <a:r>
              <a:rPr sz="697" b="0">
                <a:solidFill>
                  <a:srgbClr val="000000"/>
                </a:solidFill>
                <a:latin typeface="Cambria Math"/>
              </a:rPr>
              <a:t>5</a:t>
            </a:r>
            <a:r>
              <a:rPr sz="697" b="0">
                <a:solidFill>
                  <a:srgbClr val="000000"/>
                </a:solidFill>
                <a:latin typeface="Cambria Math"/>
              </a:rPr>
              <a:t>/</a:t>
            </a:r>
            <a:r>
              <a:rPr sz="697" b="0">
                <a:solidFill>
                  <a:srgbClr val="000000"/>
                </a:solidFill>
                <a:latin typeface="Cambria Math"/>
              </a:rPr>
              <a:t>6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number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selected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chromosomes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schema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01*1,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m</a:t>
            </a:r>
            <a:r>
              <a:rPr sz="697" b="0">
                <a:solidFill>
                  <a:srgbClr val="000000"/>
                </a:solidFill>
                <a:latin typeface="Cambria Math"/>
              </a:rPr>
              <a:t>H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9404" y="1710961"/>
            <a:ext cx="531599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MSAM10"/>
              </a:rPr>
              <a:t>▶</a:t>
            </a:r>
            <a:r>
              <a:rPr sz="996" b="0">
                <a:solidFill>
                  <a:srgbClr val="000000"/>
                </a:solidFill>
                <a:latin typeface="Cambria Math"/>
              </a:rPr>
              <a:t>2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number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chromosomes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schema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01*1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current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generation,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m</a:t>
            </a:r>
            <a:r>
              <a:rPr sz="697" b="0">
                <a:solidFill>
                  <a:srgbClr val="000000"/>
                </a:solidFill>
                <a:latin typeface="Cambria Math"/>
              </a:rPr>
              <a:t>H</a:t>
            </a:r>
            <a:r>
              <a:rPr sz="996" b="0">
                <a:solidFill>
                  <a:srgbClr val="000000"/>
                </a:solidFill>
                <a:latin typeface="Cambria Math"/>
              </a:rPr>
              <a:t>(</a:t>
            </a:r>
            <a:r>
              <a:rPr sz="996" b="0">
                <a:solidFill>
                  <a:srgbClr val="000000"/>
                </a:solidFill>
                <a:latin typeface="Cambria Math"/>
              </a:rPr>
              <a:t>t</a:t>
            </a:r>
            <a:r>
              <a:rPr sz="996" b="0">
                <a:solidFill>
                  <a:srgbClr val="000000"/>
                </a:solidFill>
                <a:latin typeface="Cambria Math"/>
              </a:rPr>
              <a:t>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69404" y="1938697"/>
            <a:ext cx="531599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MSAM10"/>
              </a:rPr>
              <a:t>▶</a:t>
            </a:r>
            <a:r>
              <a:rPr sz="996" b="0">
                <a:solidFill>
                  <a:srgbClr val="000000"/>
                </a:solidFill>
                <a:latin typeface="Cambria Math"/>
              </a:rPr>
              <a:t>f</a:t>
            </a:r>
            <a:r>
              <a:rPr sz="697" b="0">
                <a:solidFill>
                  <a:srgbClr val="000000"/>
                </a:solidFill>
                <a:latin typeface="Cambria Math"/>
              </a:rPr>
              <a:t>5</a:t>
            </a:r>
            <a:r>
              <a:rPr sz="697" b="0">
                <a:solidFill>
                  <a:srgbClr val="000000"/>
                </a:solidFill>
                <a:latin typeface="Cambria Math"/>
              </a:rPr>
              <a:t>/</a:t>
            </a:r>
            <a:r>
              <a:rPr sz="697" b="0">
                <a:solidFill>
                  <a:srgbClr val="000000"/>
                </a:solidFill>
                <a:latin typeface="Cambria Math"/>
              </a:rPr>
              <a:t>6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average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fitness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chromosomes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schema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01*1,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f</a:t>
            </a:r>
            <a:r>
              <a:rPr sz="697" b="0">
                <a:solidFill>
                  <a:srgbClr val="000000"/>
                </a:solidFill>
                <a:latin typeface="Cambria Math"/>
              </a:rPr>
              <a:t>H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170926" y="2289617"/>
            <a:ext cx="3614470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m</a:t>
            </a:r>
            <a:r>
              <a:rPr sz="697" b="0">
                <a:solidFill>
                  <a:srgbClr val="000000"/>
                </a:solidFill>
                <a:latin typeface="Cambria Math"/>
              </a:rPr>
              <a:t>H</a:t>
            </a:r>
            <a:r>
              <a:rPr sz="996" b="0">
                <a:solidFill>
                  <a:srgbClr val="000000"/>
                </a:solidFill>
                <a:latin typeface="Cambria Math"/>
              </a:rPr>
              <a:t>(</a:t>
            </a:r>
            <a:r>
              <a:rPr sz="996" b="0">
                <a:solidFill>
                  <a:srgbClr val="000000"/>
                </a:solidFill>
                <a:latin typeface="Cambria Math"/>
              </a:rPr>
              <a:t>t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+ 1) 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m</a:t>
            </a:r>
            <a:r>
              <a:rPr sz="697" b="0">
                <a:solidFill>
                  <a:srgbClr val="000000"/>
                </a:solidFill>
                <a:latin typeface="Cambria Math"/>
              </a:rPr>
              <a:t>H</a:t>
            </a:r>
            <a:r>
              <a:rPr sz="996" b="0">
                <a:solidFill>
                  <a:srgbClr val="000000"/>
                </a:solidFill>
                <a:latin typeface="Cambria Math"/>
              </a:rPr>
              <a:t>(</a:t>
            </a:r>
            <a:r>
              <a:rPr sz="996" b="0">
                <a:solidFill>
                  <a:srgbClr val="000000"/>
                </a:solidFill>
                <a:latin typeface="Cambria Math"/>
              </a:rPr>
              <a:t>t</a:t>
            </a:r>
            <a:r>
              <a:rPr sz="996" b="0">
                <a:solidFill>
                  <a:srgbClr val="000000"/>
                </a:solidFill>
                <a:latin typeface="Cambria Math"/>
              </a:rPr>
              <a:t>)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·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f</a:t>
            </a:r>
            <a:r>
              <a:rPr sz="697" b="0">
                <a:solidFill>
                  <a:srgbClr val="000000"/>
                </a:solidFill>
                <a:latin typeface="Cambria Math"/>
              </a:rPr>
              <a:t>H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366402" y="2462007"/>
            <a:ext cx="2418993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f</a:t>
            </a:r>
            <a:r>
              <a:rPr sz="697" b="0">
                <a:solidFill>
                  <a:srgbClr val="000000"/>
                </a:solidFill>
                <a:latin typeface="Josefin Sans"/>
              </a:rPr>
              <a:t>avg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898771" y="3150916"/>
            <a:ext cx="88662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639677" y="3150692"/>
            <a:ext cx="14571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81</a:t>
            </a:r>
          </a:p>
        </p:txBody>
      </p:sp>
    </p:spTree>
  </p:cSld>
  <p:clrMapOvr>
    <a:masterClrMapping/>
  </p:clrMapOvr>
</p:sld>
</file>

<file path=ppt/slides/slide2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3406965" y="1208125"/>
            <a:ext cx="233274" cy="0"/>
          </a:xfrm>
          <a:prstGeom prst="line">
            <a:avLst/>
          </a:prstGeom>
          <a:ln w="553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tangle 36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880004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0" name="Picture 3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Schemata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theorem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104580" y="1040754"/>
            <a:ext cx="368081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m</a:t>
            </a:r>
            <a:r>
              <a:rPr sz="797" b="0">
                <a:solidFill>
                  <a:srgbClr val="000000"/>
                </a:solidFill>
                <a:latin typeface="Cambria Math"/>
              </a:rPr>
              <a:t>H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+ 1) =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m</a:t>
            </a:r>
            <a:r>
              <a:rPr sz="797" b="0">
                <a:solidFill>
                  <a:srgbClr val="000000"/>
                </a:solidFill>
                <a:latin typeface="Cambria Math"/>
              </a:rPr>
              <a:t>H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·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f</a:t>
            </a:r>
            <a:r>
              <a:rPr sz="797" b="0">
                <a:solidFill>
                  <a:srgbClr val="000000"/>
                </a:solidFill>
                <a:latin typeface="Cambria Math"/>
              </a:rPr>
              <a:t>H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406965" y="1229514"/>
            <a:ext cx="237843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f</a:t>
            </a:r>
            <a:r>
              <a:rPr sz="797" b="0">
                <a:solidFill>
                  <a:srgbClr val="000000"/>
                </a:solidFill>
                <a:latin typeface="Josefin Sans"/>
              </a:rPr>
              <a:t>avg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898771" y="3150917"/>
            <a:ext cx="88662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25097" y="3150693"/>
            <a:ext cx="16029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82</a:t>
            </a:r>
          </a:p>
        </p:txBody>
      </p:sp>
    </p:spTree>
  </p:cSld>
  <p:clrMapOvr>
    <a:masterClrMapping/>
  </p:clrMapOvr>
</p:sld>
</file>

<file path=ppt/slides/slide2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3406965" y="1208125"/>
            <a:ext cx="233274" cy="0"/>
          </a:xfrm>
          <a:prstGeom prst="line">
            <a:avLst/>
          </a:prstGeom>
          <a:ln w="553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tangle 36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880004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0" name="Picture 3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Schemata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theorem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104580" y="1040754"/>
            <a:ext cx="368081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m</a:t>
            </a:r>
            <a:r>
              <a:rPr sz="797" b="0">
                <a:solidFill>
                  <a:srgbClr val="000000"/>
                </a:solidFill>
                <a:latin typeface="Cambria Math"/>
              </a:rPr>
              <a:t>H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+ 1) =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m</a:t>
            </a:r>
            <a:r>
              <a:rPr sz="797" b="0">
                <a:solidFill>
                  <a:srgbClr val="000000"/>
                </a:solidFill>
                <a:latin typeface="Cambria Math"/>
              </a:rPr>
              <a:t>H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·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f</a:t>
            </a:r>
            <a:r>
              <a:rPr sz="797" b="0">
                <a:solidFill>
                  <a:srgbClr val="000000"/>
                </a:solidFill>
                <a:latin typeface="Cambria Math"/>
              </a:rPr>
              <a:t>H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406965" y="1229514"/>
            <a:ext cx="237843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f</a:t>
            </a:r>
            <a:r>
              <a:rPr sz="797" b="0">
                <a:solidFill>
                  <a:srgbClr val="000000"/>
                </a:solidFill>
                <a:latin typeface="Josefin Sans"/>
              </a:rPr>
              <a:t>avg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0056" y="1600833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What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happens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schemata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fitnesses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lower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average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fitness?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898771" y="3150917"/>
            <a:ext cx="88662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25097" y="3150693"/>
            <a:ext cx="16029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82</a:t>
            </a:r>
          </a:p>
        </p:txBody>
      </p:sp>
    </p:spTree>
  </p:cSld>
  <p:clrMapOvr>
    <a:masterClrMapping/>
  </p:clrMapOvr>
</p:sld>
</file>

<file path=ppt/slides/slide2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3406965" y="1208125"/>
            <a:ext cx="233274" cy="0"/>
          </a:xfrm>
          <a:prstGeom prst="line">
            <a:avLst/>
          </a:prstGeom>
          <a:ln w="553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tangle 36"/>
          <p:cNvSpPr/>
          <p:nvPr/>
        </p:nvSpPr>
        <p:spPr>
          <a:xfrm>
            <a:off x="0" y="3146740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880004" y="3146740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0" name="Picture 3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Schemata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theorem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104580" y="1040754"/>
            <a:ext cx="368081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m</a:t>
            </a:r>
            <a:r>
              <a:rPr sz="797" b="0">
                <a:solidFill>
                  <a:srgbClr val="000000"/>
                </a:solidFill>
                <a:latin typeface="Cambria Math"/>
              </a:rPr>
              <a:t>H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+ 1) =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m</a:t>
            </a:r>
            <a:r>
              <a:rPr sz="797" b="0">
                <a:solidFill>
                  <a:srgbClr val="000000"/>
                </a:solidFill>
                <a:latin typeface="Cambria Math"/>
              </a:rPr>
              <a:t>H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·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f</a:t>
            </a:r>
            <a:r>
              <a:rPr sz="797" b="0">
                <a:solidFill>
                  <a:srgbClr val="000000"/>
                </a:solidFill>
                <a:latin typeface="Cambria Math"/>
              </a:rPr>
              <a:t>H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406965" y="1229514"/>
            <a:ext cx="237843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f</a:t>
            </a:r>
            <a:r>
              <a:rPr sz="797" b="0">
                <a:solidFill>
                  <a:srgbClr val="000000"/>
                </a:solidFill>
                <a:latin typeface="Josefin Sans"/>
              </a:rPr>
              <a:t>avg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0056" y="1600833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What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happens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schemata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fitnesses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lower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average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fitness?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0056" y="1858948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What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happens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schemata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fitnesses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higher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average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fitness?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98771" y="3150916"/>
            <a:ext cx="88662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625097" y="3150692"/>
            <a:ext cx="16029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82</a:t>
            </a:r>
          </a:p>
        </p:txBody>
      </p:sp>
    </p:spTree>
  </p:cSld>
  <p:clrMapOvr>
    <a:masterClrMapping/>
  </p:clrMapOvr>
</p:sld>
</file>

<file path=ppt/slides/slide2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3406965" y="1208125"/>
            <a:ext cx="233274" cy="0"/>
          </a:xfrm>
          <a:prstGeom prst="line">
            <a:avLst/>
          </a:prstGeom>
          <a:ln w="553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tangle 36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880004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0" name="Picture 3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Schemata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theorem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104580" y="1040754"/>
            <a:ext cx="368081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m</a:t>
            </a:r>
            <a:r>
              <a:rPr sz="797" b="0">
                <a:solidFill>
                  <a:srgbClr val="000000"/>
                </a:solidFill>
                <a:latin typeface="Cambria Math"/>
              </a:rPr>
              <a:t>H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+ 1) =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m</a:t>
            </a:r>
            <a:r>
              <a:rPr sz="797" b="0">
                <a:solidFill>
                  <a:srgbClr val="000000"/>
                </a:solidFill>
                <a:latin typeface="Cambria Math"/>
              </a:rPr>
              <a:t>H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·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f</a:t>
            </a:r>
            <a:r>
              <a:rPr sz="797" b="0">
                <a:solidFill>
                  <a:srgbClr val="000000"/>
                </a:solidFill>
                <a:latin typeface="Cambria Math"/>
              </a:rPr>
              <a:t>H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406965" y="1229514"/>
            <a:ext cx="237843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f</a:t>
            </a:r>
            <a:r>
              <a:rPr sz="797" b="0">
                <a:solidFill>
                  <a:srgbClr val="000000"/>
                </a:solidFill>
                <a:latin typeface="Josefin Sans"/>
              </a:rPr>
              <a:t>avg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0056" y="1600833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What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happens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schemata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fitnesses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lower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average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fitness?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0056" y="1858948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What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happens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schemata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fitnesses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higher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average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fitness?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60056" y="2117050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How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would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average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fitness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next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generation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compare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previous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7094" y="2332892"/>
            <a:ext cx="51483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generation?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898771" y="3150917"/>
            <a:ext cx="88662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625097" y="3150693"/>
            <a:ext cx="16029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82</a:t>
            </a:r>
          </a:p>
        </p:txBody>
      </p:sp>
    </p:spTree>
  </p:cSld>
  <p:clrMapOvr>
    <a:masterClrMapping/>
  </p:clrMapOvr>
</p:sld>
</file>

<file path=ppt/slides/slide2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Freeform 35"/>
          <p:cNvSpPr/>
          <p:nvPr/>
        </p:nvSpPr>
        <p:spPr>
          <a:xfrm>
            <a:off x="2095500" y="10795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0" y="2"/>
                </a:moveTo>
                <a:lnTo>
                  <a:pt x="4" y="3"/>
                </a:lnTo>
                <a:lnTo>
                  <a:pt x="2" y="1"/>
                </a:lnTo>
                <a:lnTo>
                  <a:pt x="3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3784600" y="11557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4" y="2"/>
                </a:moveTo>
                <a:lnTo>
                  <a:pt x="0" y="0"/>
                </a:lnTo>
                <a:lnTo>
                  <a:pt x="2" y="2"/>
                </a:lnTo>
                <a:lnTo>
                  <a:pt x="0" y="4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2908300" y="20701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2"/>
                </a:lnTo>
                <a:lnTo>
                  <a:pt x="1" y="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9" name="Connector 38"/>
          <p:cNvCxnSpPr/>
          <p:nvPr/>
        </p:nvCxnSpPr>
        <p:spPr>
          <a:xfrm flipH="1">
            <a:off x="1103546" y="1276555"/>
            <a:ext cx="1071149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1052936" y="1327166"/>
            <a:ext cx="0" cy="50930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1103546" y="1887077"/>
            <a:ext cx="1071149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2225306" y="1327166"/>
            <a:ext cx="0" cy="50930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Freeform 42"/>
          <p:cNvSpPr/>
          <p:nvPr/>
        </p:nvSpPr>
        <p:spPr>
          <a:xfrm>
            <a:off x="1409700" y="1409700"/>
            <a:ext cx="63500" cy="63500"/>
          </a:xfrm>
          <a:custGeom>
            <a:avLst/>
            <a:gdLst/>
            <a:ahLst/>
            <a:cxnLst/>
            <a:rect l="l" t="t" r="r" b="b"/>
            <a:pathLst>
              <a:path w="5" h="5">
                <a:moveTo>
                  <a:pt x="5" y="3"/>
                </a:moveTo>
                <a:lnTo>
                  <a:pt x="5" y="2"/>
                </a:lnTo>
                <a:lnTo>
                  <a:pt x="5" y="2"/>
                </a:lnTo>
                <a:lnTo>
                  <a:pt x="4" y="1"/>
                </a:lnTo>
                <a:lnTo>
                  <a:pt x="4" y="1"/>
                </a:lnTo>
                <a:lnTo>
                  <a:pt x="4" y="1"/>
                </a:lnTo>
                <a:lnTo>
                  <a:pt x="3" y="0"/>
                </a:ln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0" y="3"/>
                </a:lnTo>
                <a:lnTo>
                  <a:pt x="0" y="4"/>
                </a:lnTo>
                <a:lnTo>
                  <a:pt x="0" y="4"/>
                </a:lnTo>
                <a:lnTo>
                  <a:pt x="0" y="4"/>
                </a:lnTo>
                <a:lnTo>
                  <a:pt x="1" y="5"/>
                </a:lnTo>
                <a:lnTo>
                  <a:pt x="1" y="5"/>
                </a:lnTo>
                <a:lnTo>
                  <a:pt x="2" y="5"/>
                </a:lnTo>
                <a:lnTo>
                  <a:pt x="2" y="5"/>
                </a:lnTo>
                <a:lnTo>
                  <a:pt x="3" y="5"/>
                </a:lnTo>
                <a:lnTo>
                  <a:pt x="3" y="5"/>
                </a:lnTo>
                <a:lnTo>
                  <a:pt x="4" y="5"/>
                </a:lnTo>
                <a:lnTo>
                  <a:pt x="4" y="4"/>
                </a:lnTo>
                <a:lnTo>
                  <a:pt x="4" y="4"/>
                </a:lnTo>
                <a:lnTo>
                  <a:pt x="5" y="4"/>
                </a:lnTo>
                <a:lnTo>
                  <a:pt x="5" y="3"/>
                </a:lnTo>
                <a:lnTo>
                  <a:pt x="5" y="3"/>
                </a:lnTo>
                <a:close/>
              </a:path>
            </a:pathLst>
          </a:custGeom>
          <a:solidFill>
            <a:srgbClr val="A676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Freeform 43"/>
          <p:cNvSpPr/>
          <p:nvPr/>
        </p:nvSpPr>
        <p:spPr>
          <a:xfrm>
            <a:off x="1257300" y="1320800"/>
            <a:ext cx="63500" cy="63500"/>
          </a:xfrm>
          <a:custGeom>
            <a:avLst/>
            <a:gdLst/>
            <a:ahLst/>
            <a:cxnLst/>
            <a:rect l="l" t="t" r="r" b="b"/>
            <a:pathLst>
              <a:path w="5" h="5">
                <a:moveTo>
                  <a:pt x="5" y="3"/>
                </a:moveTo>
                <a:lnTo>
                  <a:pt x="5" y="2"/>
                </a:lnTo>
                <a:lnTo>
                  <a:pt x="4" y="2"/>
                </a:lnTo>
                <a:lnTo>
                  <a:pt x="4" y="1"/>
                </a:lnTo>
                <a:lnTo>
                  <a:pt x="4" y="1"/>
                </a:lnTo>
                <a:lnTo>
                  <a:pt x="4" y="1"/>
                </a:lnTo>
                <a:lnTo>
                  <a:pt x="3" y="0"/>
                </a:ln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0" y="3"/>
                </a:lnTo>
                <a:lnTo>
                  <a:pt x="0" y="4"/>
                </a:lnTo>
                <a:lnTo>
                  <a:pt x="0" y="4"/>
                </a:lnTo>
                <a:lnTo>
                  <a:pt x="0" y="4"/>
                </a:lnTo>
                <a:lnTo>
                  <a:pt x="1" y="5"/>
                </a:lnTo>
                <a:lnTo>
                  <a:pt x="1" y="5"/>
                </a:lnTo>
                <a:lnTo>
                  <a:pt x="2" y="5"/>
                </a:lnTo>
                <a:lnTo>
                  <a:pt x="2" y="5"/>
                </a:lnTo>
                <a:lnTo>
                  <a:pt x="3" y="5"/>
                </a:lnTo>
                <a:lnTo>
                  <a:pt x="3" y="5"/>
                </a:lnTo>
                <a:lnTo>
                  <a:pt x="4" y="5"/>
                </a:lnTo>
                <a:lnTo>
                  <a:pt x="4" y="4"/>
                </a:lnTo>
                <a:lnTo>
                  <a:pt x="4" y="4"/>
                </a:lnTo>
                <a:lnTo>
                  <a:pt x="4" y="4"/>
                </a:lnTo>
                <a:lnTo>
                  <a:pt x="5" y="3"/>
                </a:lnTo>
                <a:lnTo>
                  <a:pt x="5" y="3"/>
                </a:lnTo>
                <a:close/>
              </a:path>
            </a:pathLst>
          </a:custGeom>
          <a:solidFill>
            <a:srgbClr val="A676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Freeform 44"/>
          <p:cNvSpPr/>
          <p:nvPr/>
        </p:nvSpPr>
        <p:spPr>
          <a:xfrm>
            <a:off x="1104900" y="1409700"/>
            <a:ext cx="63500" cy="63500"/>
          </a:xfrm>
          <a:custGeom>
            <a:avLst/>
            <a:gdLst/>
            <a:ahLst/>
            <a:cxnLst/>
            <a:rect l="l" t="t" r="r" b="b"/>
            <a:pathLst>
              <a:path w="5" h="5">
                <a:moveTo>
                  <a:pt x="5" y="3"/>
                </a:moveTo>
                <a:lnTo>
                  <a:pt x="5" y="2"/>
                </a:lnTo>
                <a:lnTo>
                  <a:pt x="4" y="2"/>
                </a:lnTo>
                <a:lnTo>
                  <a:pt x="4" y="1"/>
                </a:lnTo>
                <a:lnTo>
                  <a:pt x="4" y="1"/>
                </a:lnTo>
                <a:lnTo>
                  <a:pt x="3" y="1"/>
                </a:lnTo>
                <a:lnTo>
                  <a:pt x="3" y="0"/>
                </a:ln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0" y="3"/>
                </a:lnTo>
                <a:lnTo>
                  <a:pt x="0" y="4"/>
                </a:lnTo>
                <a:lnTo>
                  <a:pt x="0" y="4"/>
                </a:lnTo>
                <a:lnTo>
                  <a:pt x="0" y="4"/>
                </a:lnTo>
                <a:lnTo>
                  <a:pt x="1" y="5"/>
                </a:lnTo>
                <a:lnTo>
                  <a:pt x="1" y="5"/>
                </a:lnTo>
                <a:lnTo>
                  <a:pt x="2" y="5"/>
                </a:lnTo>
                <a:lnTo>
                  <a:pt x="2" y="5"/>
                </a:lnTo>
                <a:lnTo>
                  <a:pt x="3" y="5"/>
                </a:lnTo>
                <a:lnTo>
                  <a:pt x="3" y="5"/>
                </a:lnTo>
                <a:lnTo>
                  <a:pt x="3" y="5"/>
                </a:lnTo>
                <a:lnTo>
                  <a:pt x="4" y="4"/>
                </a:lnTo>
                <a:lnTo>
                  <a:pt x="4" y="4"/>
                </a:lnTo>
                <a:lnTo>
                  <a:pt x="4" y="4"/>
                </a:lnTo>
                <a:lnTo>
                  <a:pt x="5" y="3"/>
                </a:lnTo>
                <a:lnTo>
                  <a:pt x="5" y="3"/>
                </a:lnTo>
                <a:close/>
              </a:path>
            </a:pathLst>
          </a:custGeom>
          <a:solidFill>
            <a:srgbClr val="A676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Freeform 45"/>
          <p:cNvSpPr/>
          <p:nvPr/>
        </p:nvSpPr>
        <p:spPr>
          <a:xfrm>
            <a:off x="1104900" y="1587500"/>
            <a:ext cx="63500" cy="63500"/>
          </a:xfrm>
          <a:custGeom>
            <a:avLst/>
            <a:gdLst/>
            <a:ahLst/>
            <a:cxnLst/>
            <a:rect l="l" t="t" r="r" b="b"/>
            <a:pathLst>
              <a:path w="5" h="5">
                <a:moveTo>
                  <a:pt x="5" y="3"/>
                </a:moveTo>
                <a:lnTo>
                  <a:pt x="5" y="2"/>
                </a:lnTo>
                <a:lnTo>
                  <a:pt x="4" y="2"/>
                </a:lnTo>
                <a:lnTo>
                  <a:pt x="4" y="1"/>
                </a:lnTo>
                <a:lnTo>
                  <a:pt x="4" y="1"/>
                </a:lnTo>
                <a:lnTo>
                  <a:pt x="3" y="1"/>
                </a:lnTo>
                <a:lnTo>
                  <a:pt x="3" y="0"/>
                </a:ln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0" y="3"/>
                </a:lnTo>
                <a:lnTo>
                  <a:pt x="0" y="4"/>
                </a:lnTo>
                <a:lnTo>
                  <a:pt x="0" y="4"/>
                </a:lnTo>
                <a:lnTo>
                  <a:pt x="0" y="4"/>
                </a:lnTo>
                <a:lnTo>
                  <a:pt x="1" y="5"/>
                </a:lnTo>
                <a:lnTo>
                  <a:pt x="1" y="5"/>
                </a:lnTo>
                <a:lnTo>
                  <a:pt x="2" y="5"/>
                </a:lnTo>
                <a:lnTo>
                  <a:pt x="2" y="5"/>
                </a:lnTo>
                <a:lnTo>
                  <a:pt x="3" y="5"/>
                </a:lnTo>
                <a:lnTo>
                  <a:pt x="3" y="5"/>
                </a:lnTo>
                <a:lnTo>
                  <a:pt x="3" y="5"/>
                </a:lnTo>
                <a:lnTo>
                  <a:pt x="4" y="4"/>
                </a:lnTo>
                <a:lnTo>
                  <a:pt x="4" y="4"/>
                </a:lnTo>
                <a:lnTo>
                  <a:pt x="4" y="4"/>
                </a:lnTo>
                <a:lnTo>
                  <a:pt x="5" y="3"/>
                </a:lnTo>
                <a:lnTo>
                  <a:pt x="5" y="3"/>
                </a:lnTo>
                <a:close/>
              </a:path>
            </a:pathLst>
          </a:custGeom>
          <a:solidFill>
            <a:srgbClr val="A676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1257300" y="1676400"/>
            <a:ext cx="63500" cy="63500"/>
          </a:xfrm>
          <a:custGeom>
            <a:avLst/>
            <a:gdLst/>
            <a:ahLst/>
            <a:cxnLst/>
            <a:rect l="l" t="t" r="r" b="b"/>
            <a:pathLst>
              <a:path w="5" h="5">
                <a:moveTo>
                  <a:pt x="5" y="3"/>
                </a:moveTo>
                <a:lnTo>
                  <a:pt x="5" y="2"/>
                </a:lnTo>
                <a:lnTo>
                  <a:pt x="4" y="2"/>
                </a:lnTo>
                <a:lnTo>
                  <a:pt x="4" y="1"/>
                </a:lnTo>
                <a:lnTo>
                  <a:pt x="4" y="1"/>
                </a:lnTo>
                <a:lnTo>
                  <a:pt x="4" y="0"/>
                </a:lnTo>
                <a:lnTo>
                  <a:pt x="3" y="0"/>
                </a:ln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0" y="3"/>
                </a:lnTo>
                <a:lnTo>
                  <a:pt x="0" y="4"/>
                </a:lnTo>
                <a:lnTo>
                  <a:pt x="0" y="4"/>
                </a:lnTo>
                <a:lnTo>
                  <a:pt x="0" y="4"/>
                </a:lnTo>
                <a:lnTo>
                  <a:pt x="1" y="5"/>
                </a:lnTo>
                <a:lnTo>
                  <a:pt x="1" y="5"/>
                </a:lnTo>
                <a:lnTo>
                  <a:pt x="2" y="5"/>
                </a:lnTo>
                <a:lnTo>
                  <a:pt x="2" y="5"/>
                </a:lnTo>
                <a:lnTo>
                  <a:pt x="3" y="5"/>
                </a:lnTo>
                <a:lnTo>
                  <a:pt x="3" y="5"/>
                </a:lnTo>
                <a:lnTo>
                  <a:pt x="4" y="5"/>
                </a:lnTo>
                <a:lnTo>
                  <a:pt x="4" y="4"/>
                </a:lnTo>
                <a:lnTo>
                  <a:pt x="4" y="4"/>
                </a:lnTo>
                <a:lnTo>
                  <a:pt x="4" y="4"/>
                </a:lnTo>
                <a:lnTo>
                  <a:pt x="5" y="3"/>
                </a:lnTo>
                <a:lnTo>
                  <a:pt x="5" y="3"/>
                </a:lnTo>
                <a:close/>
              </a:path>
            </a:pathLst>
          </a:custGeom>
          <a:solidFill>
            <a:srgbClr val="A676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1409700" y="1587500"/>
            <a:ext cx="63500" cy="63500"/>
          </a:xfrm>
          <a:custGeom>
            <a:avLst/>
            <a:gdLst/>
            <a:ahLst/>
            <a:cxnLst/>
            <a:rect l="l" t="t" r="r" b="b"/>
            <a:pathLst>
              <a:path w="5" h="5">
                <a:moveTo>
                  <a:pt x="5" y="3"/>
                </a:moveTo>
                <a:lnTo>
                  <a:pt x="5" y="2"/>
                </a:lnTo>
                <a:lnTo>
                  <a:pt x="5" y="2"/>
                </a:lnTo>
                <a:lnTo>
                  <a:pt x="4" y="1"/>
                </a:lnTo>
                <a:lnTo>
                  <a:pt x="4" y="1"/>
                </a:lnTo>
                <a:lnTo>
                  <a:pt x="4" y="1"/>
                </a:lnTo>
                <a:lnTo>
                  <a:pt x="3" y="0"/>
                </a:ln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0" y="3"/>
                </a:lnTo>
                <a:lnTo>
                  <a:pt x="0" y="4"/>
                </a:lnTo>
                <a:lnTo>
                  <a:pt x="0" y="4"/>
                </a:lnTo>
                <a:lnTo>
                  <a:pt x="0" y="4"/>
                </a:lnTo>
                <a:lnTo>
                  <a:pt x="1" y="5"/>
                </a:lnTo>
                <a:lnTo>
                  <a:pt x="1" y="5"/>
                </a:lnTo>
                <a:lnTo>
                  <a:pt x="2" y="5"/>
                </a:lnTo>
                <a:lnTo>
                  <a:pt x="2" y="5"/>
                </a:lnTo>
                <a:lnTo>
                  <a:pt x="3" y="5"/>
                </a:lnTo>
                <a:lnTo>
                  <a:pt x="3" y="5"/>
                </a:lnTo>
                <a:lnTo>
                  <a:pt x="4" y="5"/>
                </a:lnTo>
                <a:lnTo>
                  <a:pt x="4" y="4"/>
                </a:lnTo>
                <a:lnTo>
                  <a:pt x="4" y="4"/>
                </a:lnTo>
                <a:lnTo>
                  <a:pt x="5" y="4"/>
                </a:lnTo>
                <a:lnTo>
                  <a:pt x="5" y="3"/>
                </a:lnTo>
                <a:lnTo>
                  <a:pt x="5" y="3"/>
                </a:lnTo>
                <a:close/>
              </a:path>
            </a:pathLst>
          </a:custGeom>
          <a:solidFill>
            <a:srgbClr val="A676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1346200" y="1498600"/>
            <a:ext cx="63500" cy="63500"/>
          </a:xfrm>
          <a:custGeom>
            <a:avLst/>
            <a:gdLst/>
            <a:ahLst/>
            <a:cxnLst/>
            <a:rect l="l" t="t" r="r" b="b"/>
            <a:pathLst>
              <a:path w="5" h="5">
                <a:moveTo>
                  <a:pt x="5" y="3"/>
                </a:moveTo>
                <a:lnTo>
                  <a:pt x="5" y="2"/>
                </a:lnTo>
                <a:lnTo>
                  <a:pt x="4" y="2"/>
                </a:lnTo>
                <a:lnTo>
                  <a:pt x="4" y="1"/>
                </a:lnTo>
                <a:lnTo>
                  <a:pt x="4" y="1"/>
                </a:lnTo>
                <a:lnTo>
                  <a:pt x="4" y="1"/>
                </a:lnTo>
                <a:lnTo>
                  <a:pt x="3" y="0"/>
                </a:ln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0" y="3"/>
                </a:lnTo>
                <a:lnTo>
                  <a:pt x="0" y="4"/>
                </a:lnTo>
                <a:lnTo>
                  <a:pt x="0" y="4"/>
                </a:lnTo>
                <a:lnTo>
                  <a:pt x="0" y="4"/>
                </a:lnTo>
                <a:lnTo>
                  <a:pt x="1" y="5"/>
                </a:lnTo>
                <a:lnTo>
                  <a:pt x="1" y="5"/>
                </a:lnTo>
                <a:lnTo>
                  <a:pt x="2" y="5"/>
                </a:lnTo>
                <a:lnTo>
                  <a:pt x="2" y="5"/>
                </a:lnTo>
                <a:lnTo>
                  <a:pt x="3" y="5"/>
                </a:lnTo>
                <a:lnTo>
                  <a:pt x="3" y="5"/>
                </a:lnTo>
                <a:lnTo>
                  <a:pt x="4" y="5"/>
                </a:lnTo>
                <a:lnTo>
                  <a:pt x="4" y="4"/>
                </a:lnTo>
                <a:lnTo>
                  <a:pt x="4" y="4"/>
                </a:lnTo>
                <a:lnTo>
                  <a:pt x="4" y="4"/>
                </a:lnTo>
                <a:lnTo>
                  <a:pt x="5" y="3"/>
                </a:lnTo>
                <a:lnTo>
                  <a:pt x="5" y="3"/>
                </a:lnTo>
                <a:close/>
              </a:path>
            </a:pathLst>
          </a:custGeom>
          <a:solidFill>
            <a:srgbClr val="66A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Freeform 49"/>
          <p:cNvSpPr/>
          <p:nvPr/>
        </p:nvSpPr>
        <p:spPr>
          <a:xfrm>
            <a:off x="1295400" y="1422400"/>
            <a:ext cx="63500" cy="63500"/>
          </a:xfrm>
          <a:custGeom>
            <a:avLst/>
            <a:gdLst/>
            <a:ahLst/>
            <a:cxnLst/>
            <a:rect l="l" t="t" r="r" b="b"/>
            <a:pathLst>
              <a:path w="5" h="5">
                <a:moveTo>
                  <a:pt x="5" y="3"/>
                </a:moveTo>
                <a:lnTo>
                  <a:pt x="5" y="2"/>
                </a:lnTo>
                <a:lnTo>
                  <a:pt x="5" y="2"/>
                </a:lnTo>
                <a:lnTo>
                  <a:pt x="5" y="1"/>
                </a:lnTo>
                <a:lnTo>
                  <a:pt x="4" y="1"/>
                </a:lnTo>
                <a:lnTo>
                  <a:pt x="4" y="0"/>
                </a:lnTo>
                <a:lnTo>
                  <a:pt x="4" y="0"/>
                </a:lnTo>
                <a:lnTo>
                  <a:pt x="3" y="0"/>
                </a:ln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1"/>
                </a:lnTo>
                <a:lnTo>
                  <a:pt x="1" y="1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0" y="3"/>
                </a:lnTo>
                <a:lnTo>
                  <a:pt x="0" y="4"/>
                </a:lnTo>
                <a:lnTo>
                  <a:pt x="1" y="4"/>
                </a:lnTo>
                <a:lnTo>
                  <a:pt x="1" y="4"/>
                </a:lnTo>
                <a:lnTo>
                  <a:pt x="1" y="5"/>
                </a:lnTo>
                <a:lnTo>
                  <a:pt x="2" y="5"/>
                </a:lnTo>
                <a:lnTo>
                  <a:pt x="2" y="5"/>
                </a:lnTo>
                <a:lnTo>
                  <a:pt x="3" y="5"/>
                </a:lnTo>
                <a:lnTo>
                  <a:pt x="3" y="5"/>
                </a:lnTo>
                <a:lnTo>
                  <a:pt x="4" y="5"/>
                </a:lnTo>
                <a:lnTo>
                  <a:pt x="4" y="5"/>
                </a:lnTo>
                <a:lnTo>
                  <a:pt x="4" y="4"/>
                </a:lnTo>
                <a:lnTo>
                  <a:pt x="5" y="4"/>
                </a:lnTo>
                <a:lnTo>
                  <a:pt x="5" y="4"/>
                </a:lnTo>
                <a:lnTo>
                  <a:pt x="5" y="3"/>
                </a:lnTo>
                <a:lnTo>
                  <a:pt x="5" y="3"/>
                </a:lnTo>
                <a:close/>
              </a:path>
            </a:pathLst>
          </a:custGeom>
          <a:solidFill>
            <a:srgbClr val="66A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1206500" y="1422400"/>
            <a:ext cx="63500" cy="63500"/>
          </a:xfrm>
          <a:custGeom>
            <a:avLst/>
            <a:gdLst/>
            <a:ahLst/>
            <a:cxnLst/>
            <a:rect l="l" t="t" r="r" b="b"/>
            <a:pathLst>
              <a:path w="5" h="5">
                <a:moveTo>
                  <a:pt x="5" y="3"/>
                </a:moveTo>
                <a:lnTo>
                  <a:pt x="5" y="2"/>
                </a:lnTo>
                <a:lnTo>
                  <a:pt x="5" y="2"/>
                </a:lnTo>
                <a:lnTo>
                  <a:pt x="5" y="1"/>
                </a:lnTo>
                <a:lnTo>
                  <a:pt x="4" y="1"/>
                </a:lnTo>
                <a:lnTo>
                  <a:pt x="4" y="0"/>
                </a:lnTo>
                <a:lnTo>
                  <a:pt x="4" y="0"/>
                </a:lnTo>
                <a:lnTo>
                  <a:pt x="3" y="0"/>
                </a:ln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1"/>
                </a:lnTo>
                <a:lnTo>
                  <a:pt x="1" y="1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0" y="3"/>
                </a:lnTo>
                <a:lnTo>
                  <a:pt x="0" y="4"/>
                </a:lnTo>
                <a:lnTo>
                  <a:pt x="1" y="4"/>
                </a:lnTo>
                <a:lnTo>
                  <a:pt x="1" y="4"/>
                </a:lnTo>
                <a:lnTo>
                  <a:pt x="1" y="5"/>
                </a:lnTo>
                <a:lnTo>
                  <a:pt x="2" y="5"/>
                </a:lnTo>
                <a:lnTo>
                  <a:pt x="2" y="5"/>
                </a:lnTo>
                <a:lnTo>
                  <a:pt x="3" y="5"/>
                </a:lnTo>
                <a:lnTo>
                  <a:pt x="3" y="5"/>
                </a:lnTo>
                <a:lnTo>
                  <a:pt x="4" y="5"/>
                </a:lnTo>
                <a:lnTo>
                  <a:pt x="4" y="5"/>
                </a:lnTo>
                <a:lnTo>
                  <a:pt x="4" y="4"/>
                </a:lnTo>
                <a:lnTo>
                  <a:pt x="5" y="4"/>
                </a:lnTo>
                <a:lnTo>
                  <a:pt x="5" y="4"/>
                </a:lnTo>
                <a:lnTo>
                  <a:pt x="5" y="3"/>
                </a:lnTo>
                <a:lnTo>
                  <a:pt x="5" y="3"/>
                </a:lnTo>
                <a:close/>
              </a:path>
            </a:pathLst>
          </a:custGeom>
          <a:solidFill>
            <a:srgbClr val="66A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Freeform 51"/>
          <p:cNvSpPr/>
          <p:nvPr/>
        </p:nvSpPr>
        <p:spPr>
          <a:xfrm>
            <a:off x="1168400" y="1498600"/>
            <a:ext cx="63500" cy="63500"/>
          </a:xfrm>
          <a:custGeom>
            <a:avLst/>
            <a:gdLst/>
            <a:ahLst/>
            <a:cxnLst/>
            <a:rect l="l" t="t" r="r" b="b"/>
            <a:pathLst>
              <a:path w="5" h="5">
                <a:moveTo>
                  <a:pt x="5" y="3"/>
                </a:moveTo>
                <a:lnTo>
                  <a:pt x="5" y="2"/>
                </a:lnTo>
                <a:lnTo>
                  <a:pt x="5" y="2"/>
                </a:lnTo>
                <a:lnTo>
                  <a:pt x="4" y="1"/>
                </a:lnTo>
                <a:lnTo>
                  <a:pt x="4" y="1"/>
                </a:lnTo>
                <a:lnTo>
                  <a:pt x="4" y="1"/>
                </a:lnTo>
                <a:lnTo>
                  <a:pt x="3" y="0"/>
                </a:ln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0" y="3"/>
                </a:lnTo>
                <a:lnTo>
                  <a:pt x="0" y="4"/>
                </a:lnTo>
                <a:lnTo>
                  <a:pt x="0" y="4"/>
                </a:lnTo>
                <a:lnTo>
                  <a:pt x="0" y="4"/>
                </a:lnTo>
                <a:lnTo>
                  <a:pt x="1" y="5"/>
                </a:lnTo>
                <a:lnTo>
                  <a:pt x="1" y="5"/>
                </a:lnTo>
                <a:lnTo>
                  <a:pt x="2" y="5"/>
                </a:lnTo>
                <a:lnTo>
                  <a:pt x="2" y="5"/>
                </a:lnTo>
                <a:lnTo>
                  <a:pt x="3" y="5"/>
                </a:lnTo>
                <a:lnTo>
                  <a:pt x="3" y="5"/>
                </a:lnTo>
                <a:lnTo>
                  <a:pt x="4" y="5"/>
                </a:lnTo>
                <a:lnTo>
                  <a:pt x="4" y="4"/>
                </a:lnTo>
                <a:lnTo>
                  <a:pt x="4" y="4"/>
                </a:lnTo>
                <a:lnTo>
                  <a:pt x="5" y="4"/>
                </a:lnTo>
                <a:lnTo>
                  <a:pt x="5" y="3"/>
                </a:lnTo>
                <a:lnTo>
                  <a:pt x="5" y="3"/>
                </a:lnTo>
                <a:close/>
              </a:path>
            </a:pathLst>
          </a:custGeom>
          <a:solidFill>
            <a:srgbClr val="66A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1206500" y="1574800"/>
            <a:ext cx="63500" cy="63500"/>
          </a:xfrm>
          <a:custGeom>
            <a:avLst/>
            <a:gdLst/>
            <a:ahLst/>
            <a:cxnLst/>
            <a:rect l="l" t="t" r="r" b="b"/>
            <a:pathLst>
              <a:path w="5" h="5">
                <a:moveTo>
                  <a:pt x="5" y="3"/>
                </a:moveTo>
                <a:lnTo>
                  <a:pt x="5" y="2"/>
                </a:lnTo>
                <a:lnTo>
                  <a:pt x="5" y="2"/>
                </a:lnTo>
                <a:lnTo>
                  <a:pt x="5" y="1"/>
                </a:lnTo>
                <a:lnTo>
                  <a:pt x="4" y="1"/>
                </a:lnTo>
                <a:lnTo>
                  <a:pt x="4" y="1"/>
                </a:lnTo>
                <a:lnTo>
                  <a:pt x="4" y="0"/>
                </a:lnTo>
                <a:lnTo>
                  <a:pt x="3" y="0"/>
                </a:ln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0" y="3"/>
                </a:lnTo>
                <a:lnTo>
                  <a:pt x="0" y="4"/>
                </a:lnTo>
                <a:lnTo>
                  <a:pt x="1" y="4"/>
                </a:lnTo>
                <a:lnTo>
                  <a:pt x="1" y="4"/>
                </a:lnTo>
                <a:lnTo>
                  <a:pt x="1" y="5"/>
                </a:lnTo>
                <a:lnTo>
                  <a:pt x="2" y="5"/>
                </a:lnTo>
                <a:lnTo>
                  <a:pt x="2" y="5"/>
                </a:lnTo>
                <a:lnTo>
                  <a:pt x="3" y="5"/>
                </a:lnTo>
                <a:lnTo>
                  <a:pt x="3" y="5"/>
                </a:lnTo>
                <a:lnTo>
                  <a:pt x="4" y="5"/>
                </a:lnTo>
                <a:lnTo>
                  <a:pt x="4" y="5"/>
                </a:lnTo>
                <a:lnTo>
                  <a:pt x="4" y="4"/>
                </a:lnTo>
                <a:lnTo>
                  <a:pt x="5" y="4"/>
                </a:lnTo>
                <a:lnTo>
                  <a:pt x="5" y="4"/>
                </a:lnTo>
                <a:lnTo>
                  <a:pt x="5" y="3"/>
                </a:lnTo>
                <a:lnTo>
                  <a:pt x="5" y="3"/>
                </a:lnTo>
                <a:close/>
              </a:path>
            </a:pathLst>
          </a:custGeom>
          <a:solidFill>
            <a:srgbClr val="66A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Freeform 53"/>
          <p:cNvSpPr/>
          <p:nvPr/>
        </p:nvSpPr>
        <p:spPr>
          <a:xfrm>
            <a:off x="1295400" y="1574800"/>
            <a:ext cx="63500" cy="63500"/>
          </a:xfrm>
          <a:custGeom>
            <a:avLst/>
            <a:gdLst/>
            <a:ahLst/>
            <a:cxnLst/>
            <a:rect l="l" t="t" r="r" b="b"/>
            <a:pathLst>
              <a:path w="5" h="5">
                <a:moveTo>
                  <a:pt x="5" y="3"/>
                </a:moveTo>
                <a:lnTo>
                  <a:pt x="5" y="2"/>
                </a:lnTo>
                <a:lnTo>
                  <a:pt x="5" y="2"/>
                </a:lnTo>
                <a:lnTo>
                  <a:pt x="5" y="1"/>
                </a:lnTo>
                <a:lnTo>
                  <a:pt x="4" y="1"/>
                </a:lnTo>
                <a:lnTo>
                  <a:pt x="4" y="1"/>
                </a:lnTo>
                <a:lnTo>
                  <a:pt x="4" y="0"/>
                </a:lnTo>
                <a:lnTo>
                  <a:pt x="3" y="0"/>
                </a:ln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0" y="3"/>
                </a:lnTo>
                <a:lnTo>
                  <a:pt x="0" y="4"/>
                </a:lnTo>
                <a:lnTo>
                  <a:pt x="1" y="4"/>
                </a:lnTo>
                <a:lnTo>
                  <a:pt x="1" y="4"/>
                </a:lnTo>
                <a:lnTo>
                  <a:pt x="1" y="5"/>
                </a:lnTo>
                <a:lnTo>
                  <a:pt x="2" y="5"/>
                </a:lnTo>
                <a:lnTo>
                  <a:pt x="2" y="5"/>
                </a:lnTo>
                <a:lnTo>
                  <a:pt x="3" y="5"/>
                </a:lnTo>
                <a:lnTo>
                  <a:pt x="3" y="5"/>
                </a:lnTo>
                <a:lnTo>
                  <a:pt x="4" y="5"/>
                </a:lnTo>
                <a:lnTo>
                  <a:pt x="4" y="5"/>
                </a:lnTo>
                <a:lnTo>
                  <a:pt x="4" y="4"/>
                </a:lnTo>
                <a:lnTo>
                  <a:pt x="5" y="4"/>
                </a:lnTo>
                <a:lnTo>
                  <a:pt x="5" y="4"/>
                </a:lnTo>
                <a:lnTo>
                  <a:pt x="5" y="3"/>
                </a:lnTo>
                <a:lnTo>
                  <a:pt x="5" y="3"/>
                </a:lnTo>
                <a:close/>
              </a:path>
            </a:pathLst>
          </a:custGeom>
          <a:solidFill>
            <a:srgbClr val="66A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2120900" y="1409700"/>
            <a:ext cx="63500" cy="63500"/>
          </a:xfrm>
          <a:custGeom>
            <a:avLst/>
            <a:gdLst/>
            <a:ahLst/>
            <a:cxnLst/>
            <a:rect l="l" t="t" r="r" b="b"/>
            <a:pathLst>
              <a:path w="5" h="5">
                <a:moveTo>
                  <a:pt x="5" y="3"/>
                </a:moveTo>
                <a:lnTo>
                  <a:pt x="5" y="2"/>
                </a:lnTo>
                <a:lnTo>
                  <a:pt x="4" y="2"/>
                </a:lnTo>
                <a:lnTo>
                  <a:pt x="4" y="1"/>
                </a:lnTo>
                <a:lnTo>
                  <a:pt x="4" y="1"/>
                </a:lnTo>
                <a:lnTo>
                  <a:pt x="3" y="1"/>
                </a:lnTo>
                <a:lnTo>
                  <a:pt x="3" y="0"/>
                </a:ln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0" y="3"/>
                </a:lnTo>
                <a:lnTo>
                  <a:pt x="0" y="4"/>
                </a:lnTo>
                <a:lnTo>
                  <a:pt x="0" y="4"/>
                </a:lnTo>
                <a:lnTo>
                  <a:pt x="0" y="4"/>
                </a:lnTo>
                <a:lnTo>
                  <a:pt x="1" y="5"/>
                </a:lnTo>
                <a:lnTo>
                  <a:pt x="1" y="5"/>
                </a:lnTo>
                <a:lnTo>
                  <a:pt x="2" y="5"/>
                </a:lnTo>
                <a:lnTo>
                  <a:pt x="2" y="5"/>
                </a:lnTo>
                <a:lnTo>
                  <a:pt x="3" y="5"/>
                </a:lnTo>
                <a:lnTo>
                  <a:pt x="3" y="5"/>
                </a:lnTo>
                <a:lnTo>
                  <a:pt x="3" y="5"/>
                </a:lnTo>
                <a:lnTo>
                  <a:pt x="4" y="4"/>
                </a:lnTo>
                <a:lnTo>
                  <a:pt x="4" y="4"/>
                </a:lnTo>
                <a:lnTo>
                  <a:pt x="4" y="4"/>
                </a:lnTo>
                <a:lnTo>
                  <a:pt x="5" y="3"/>
                </a:lnTo>
                <a:lnTo>
                  <a:pt x="5" y="3"/>
                </a:lnTo>
                <a:close/>
              </a:path>
            </a:pathLst>
          </a:custGeom>
          <a:solidFill>
            <a:srgbClr val="66A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1955800" y="1320800"/>
            <a:ext cx="76200" cy="63500"/>
          </a:xfrm>
          <a:custGeom>
            <a:avLst/>
            <a:gdLst/>
            <a:ahLst/>
            <a:cxnLst/>
            <a:rect l="l" t="t" r="r" b="b"/>
            <a:pathLst>
              <a:path w="6" h="5">
                <a:moveTo>
                  <a:pt x="6" y="3"/>
                </a:moveTo>
                <a:lnTo>
                  <a:pt x="5" y="2"/>
                </a:lnTo>
                <a:lnTo>
                  <a:pt x="5" y="2"/>
                </a:lnTo>
                <a:lnTo>
                  <a:pt x="5" y="1"/>
                </a:lnTo>
                <a:lnTo>
                  <a:pt x="5" y="1"/>
                </a:lnTo>
                <a:lnTo>
                  <a:pt x="4" y="1"/>
                </a:lnTo>
                <a:lnTo>
                  <a:pt x="4" y="0"/>
                </a:lnTo>
                <a:lnTo>
                  <a:pt x="3" y="0"/>
                </a:ln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2" y="1"/>
                </a:lnTo>
                <a:lnTo>
                  <a:pt x="1" y="1"/>
                </a:lnTo>
                <a:lnTo>
                  <a:pt x="1" y="1"/>
                </a:lnTo>
                <a:lnTo>
                  <a:pt x="1" y="2"/>
                </a:lnTo>
                <a:lnTo>
                  <a:pt x="0" y="2"/>
                </a:lnTo>
                <a:lnTo>
                  <a:pt x="0" y="3"/>
                </a:lnTo>
                <a:lnTo>
                  <a:pt x="0" y="3"/>
                </a:lnTo>
                <a:lnTo>
                  <a:pt x="1" y="4"/>
                </a:lnTo>
                <a:lnTo>
                  <a:pt x="1" y="4"/>
                </a:lnTo>
                <a:lnTo>
                  <a:pt x="1" y="4"/>
                </a:lnTo>
                <a:lnTo>
                  <a:pt x="2" y="5"/>
                </a:lnTo>
                <a:lnTo>
                  <a:pt x="2" y="5"/>
                </a:lnTo>
                <a:lnTo>
                  <a:pt x="2" y="5"/>
                </a:lnTo>
                <a:lnTo>
                  <a:pt x="3" y="5"/>
                </a:lnTo>
                <a:lnTo>
                  <a:pt x="3" y="5"/>
                </a:lnTo>
                <a:lnTo>
                  <a:pt x="4" y="5"/>
                </a:lnTo>
                <a:lnTo>
                  <a:pt x="4" y="5"/>
                </a:lnTo>
                <a:lnTo>
                  <a:pt x="5" y="4"/>
                </a:lnTo>
                <a:lnTo>
                  <a:pt x="5" y="4"/>
                </a:lnTo>
                <a:lnTo>
                  <a:pt x="5" y="4"/>
                </a:lnTo>
                <a:lnTo>
                  <a:pt x="5" y="3"/>
                </a:lnTo>
                <a:lnTo>
                  <a:pt x="6" y="3"/>
                </a:lnTo>
                <a:close/>
              </a:path>
            </a:pathLst>
          </a:custGeom>
          <a:solidFill>
            <a:srgbClr val="66A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1803400" y="1409700"/>
            <a:ext cx="63500" cy="63500"/>
          </a:xfrm>
          <a:custGeom>
            <a:avLst/>
            <a:gdLst/>
            <a:ahLst/>
            <a:cxnLst/>
            <a:rect l="l" t="t" r="r" b="b"/>
            <a:pathLst>
              <a:path w="5" h="5">
                <a:moveTo>
                  <a:pt x="5" y="3"/>
                </a:moveTo>
                <a:lnTo>
                  <a:pt x="5" y="2"/>
                </a:lnTo>
                <a:lnTo>
                  <a:pt x="5" y="2"/>
                </a:lnTo>
                <a:lnTo>
                  <a:pt x="5" y="1"/>
                </a:lnTo>
                <a:lnTo>
                  <a:pt x="5" y="1"/>
                </a:lnTo>
                <a:lnTo>
                  <a:pt x="4" y="1"/>
                </a:lnTo>
                <a:lnTo>
                  <a:pt x="4" y="0"/>
                </a:lnTo>
                <a:lnTo>
                  <a:pt x="3" y="0"/>
                </a:ln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2"/>
                </a:lnTo>
                <a:lnTo>
                  <a:pt x="0" y="2"/>
                </a:lnTo>
                <a:lnTo>
                  <a:pt x="0" y="3"/>
                </a:lnTo>
                <a:lnTo>
                  <a:pt x="0" y="3"/>
                </a:lnTo>
                <a:lnTo>
                  <a:pt x="1" y="4"/>
                </a:lnTo>
                <a:lnTo>
                  <a:pt x="1" y="4"/>
                </a:lnTo>
                <a:lnTo>
                  <a:pt x="1" y="4"/>
                </a:lnTo>
                <a:lnTo>
                  <a:pt x="1" y="5"/>
                </a:lnTo>
                <a:lnTo>
                  <a:pt x="2" y="5"/>
                </a:lnTo>
                <a:lnTo>
                  <a:pt x="2" y="5"/>
                </a:lnTo>
                <a:lnTo>
                  <a:pt x="3" y="5"/>
                </a:lnTo>
                <a:lnTo>
                  <a:pt x="3" y="5"/>
                </a:lnTo>
                <a:lnTo>
                  <a:pt x="4" y="5"/>
                </a:lnTo>
                <a:lnTo>
                  <a:pt x="4" y="5"/>
                </a:lnTo>
                <a:lnTo>
                  <a:pt x="5" y="4"/>
                </a:lnTo>
                <a:lnTo>
                  <a:pt x="5" y="4"/>
                </a:lnTo>
                <a:lnTo>
                  <a:pt x="5" y="4"/>
                </a:lnTo>
                <a:lnTo>
                  <a:pt x="5" y="3"/>
                </a:lnTo>
                <a:lnTo>
                  <a:pt x="5" y="3"/>
                </a:lnTo>
                <a:close/>
              </a:path>
            </a:pathLst>
          </a:custGeom>
          <a:solidFill>
            <a:srgbClr val="66A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1803400" y="1587500"/>
            <a:ext cx="63500" cy="63500"/>
          </a:xfrm>
          <a:custGeom>
            <a:avLst/>
            <a:gdLst/>
            <a:ahLst/>
            <a:cxnLst/>
            <a:rect l="l" t="t" r="r" b="b"/>
            <a:pathLst>
              <a:path w="5" h="5">
                <a:moveTo>
                  <a:pt x="5" y="3"/>
                </a:moveTo>
                <a:lnTo>
                  <a:pt x="5" y="2"/>
                </a:lnTo>
                <a:lnTo>
                  <a:pt x="5" y="2"/>
                </a:lnTo>
                <a:lnTo>
                  <a:pt x="5" y="1"/>
                </a:lnTo>
                <a:lnTo>
                  <a:pt x="5" y="1"/>
                </a:lnTo>
                <a:lnTo>
                  <a:pt x="4" y="1"/>
                </a:lnTo>
                <a:lnTo>
                  <a:pt x="4" y="0"/>
                </a:lnTo>
                <a:lnTo>
                  <a:pt x="3" y="0"/>
                </a:ln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2"/>
                </a:lnTo>
                <a:lnTo>
                  <a:pt x="0" y="2"/>
                </a:lnTo>
                <a:lnTo>
                  <a:pt x="0" y="3"/>
                </a:lnTo>
                <a:lnTo>
                  <a:pt x="0" y="3"/>
                </a:lnTo>
                <a:lnTo>
                  <a:pt x="1" y="4"/>
                </a:lnTo>
                <a:lnTo>
                  <a:pt x="1" y="4"/>
                </a:lnTo>
                <a:lnTo>
                  <a:pt x="1" y="4"/>
                </a:lnTo>
                <a:lnTo>
                  <a:pt x="1" y="5"/>
                </a:lnTo>
                <a:lnTo>
                  <a:pt x="2" y="5"/>
                </a:lnTo>
                <a:lnTo>
                  <a:pt x="2" y="5"/>
                </a:lnTo>
                <a:lnTo>
                  <a:pt x="3" y="5"/>
                </a:lnTo>
                <a:lnTo>
                  <a:pt x="3" y="5"/>
                </a:lnTo>
                <a:lnTo>
                  <a:pt x="4" y="5"/>
                </a:lnTo>
                <a:lnTo>
                  <a:pt x="4" y="5"/>
                </a:lnTo>
                <a:lnTo>
                  <a:pt x="5" y="4"/>
                </a:lnTo>
                <a:lnTo>
                  <a:pt x="5" y="4"/>
                </a:lnTo>
                <a:lnTo>
                  <a:pt x="5" y="4"/>
                </a:lnTo>
                <a:lnTo>
                  <a:pt x="5" y="3"/>
                </a:lnTo>
                <a:lnTo>
                  <a:pt x="5" y="3"/>
                </a:lnTo>
                <a:close/>
              </a:path>
            </a:pathLst>
          </a:custGeom>
          <a:solidFill>
            <a:srgbClr val="66A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1955800" y="1676400"/>
            <a:ext cx="76200" cy="63500"/>
          </a:xfrm>
          <a:custGeom>
            <a:avLst/>
            <a:gdLst/>
            <a:ahLst/>
            <a:cxnLst/>
            <a:rect l="l" t="t" r="r" b="b"/>
            <a:pathLst>
              <a:path w="6" h="5">
                <a:moveTo>
                  <a:pt x="6" y="3"/>
                </a:moveTo>
                <a:lnTo>
                  <a:pt x="5" y="2"/>
                </a:lnTo>
                <a:lnTo>
                  <a:pt x="5" y="2"/>
                </a:lnTo>
                <a:lnTo>
                  <a:pt x="5" y="1"/>
                </a:lnTo>
                <a:lnTo>
                  <a:pt x="5" y="1"/>
                </a:lnTo>
                <a:lnTo>
                  <a:pt x="4" y="0"/>
                </a:lnTo>
                <a:lnTo>
                  <a:pt x="4" y="0"/>
                </a:lnTo>
                <a:lnTo>
                  <a:pt x="3" y="0"/>
                </a:ln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1"/>
                </a:lnTo>
                <a:lnTo>
                  <a:pt x="1" y="1"/>
                </a:lnTo>
                <a:lnTo>
                  <a:pt x="1" y="2"/>
                </a:lnTo>
                <a:lnTo>
                  <a:pt x="0" y="2"/>
                </a:lnTo>
                <a:lnTo>
                  <a:pt x="0" y="3"/>
                </a:lnTo>
                <a:lnTo>
                  <a:pt x="0" y="3"/>
                </a:lnTo>
                <a:lnTo>
                  <a:pt x="1" y="4"/>
                </a:lnTo>
                <a:lnTo>
                  <a:pt x="1" y="4"/>
                </a:lnTo>
                <a:lnTo>
                  <a:pt x="1" y="4"/>
                </a:lnTo>
                <a:lnTo>
                  <a:pt x="2" y="5"/>
                </a:lnTo>
                <a:lnTo>
                  <a:pt x="2" y="5"/>
                </a:lnTo>
                <a:lnTo>
                  <a:pt x="2" y="5"/>
                </a:lnTo>
                <a:lnTo>
                  <a:pt x="3" y="5"/>
                </a:lnTo>
                <a:lnTo>
                  <a:pt x="3" y="5"/>
                </a:lnTo>
                <a:lnTo>
                  <a:pt x="4" y="5"/>
                </a:lnTo>
                <a:lnTo>
                  <a:pt x="4" y="5"/>
                </a:lnTo>
                <a:lnTo>
                  <a:pt x="5" y="4"/>
                </a:lnTo>
                <a:lnTo>
                  <a:pt x="5" y="4"/>
                </a:lnTo>
                <a:lnTo>
                  <a:pt x="5" y="4"/>
                </a:lnTo>
                <a:lnTo>
                  <a:pt x="5" y="3"/>
                </a:lnTo>
                <a:lnTo>
                  <a:pt x="6" y="3"/>
                </a:lnTo>
                <a:close/>
              </a:path>
            </a:pathLst>
          </a:custGeom>
          <a:solidFill>
            <a:srgbClr val="66A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2120900" y="1587500"/>
            <a:ext cx="63500" cy="63500"/>
          </a:xfrm>
          <a:custGeom>
            <a:avLst/>
            <a:gdLst/>
            <a:ahLst/>
            <a:cxnLst/>
            <a:rect l="l" t="t" r="r" b="b"/>
            <a:pathLst>
              <a:path w="5" h="5">
                <a:moveTo>
                  <a:pt x="5" y="3"/>
                </a:moveTo>
                <a:lnTo>
                  <a:pt x="5" y="2"/>
                </a:lnTo>
                <a:lnTo>
                  <a:pt x="4" y="2"/>
                </a:lnTo>
                <a:lnTo>
                  <a:pt x="4" y="1"/>
                </a:lnTo>
                <a:lnTo>
                  <a:pt x="4" y="1"/>
                </a:lnTo>
                <a:lnTo>
                  <a:pt x="3" y="1"/>
                </a:lnTo>
                <a:lnTo>
                  <a:pt x="3" y="0"/>
                </a:ln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0" y="3"/>
                </a:lnTo>
                <a:lnTo>
                  <a:pt x="0" y="4"/>
                </a:lnTo>
                <a:lnTo>
                  <a:pt x="0" y="4"/>
                </a:lnTo>
                <a:lnTo>
                  <a:pt x="0" y="4"/>
                </a:lnTo>
                <a:lnTo>
                  <a:pt x="1" y="5"/>
                </a:lnTo>
                <a:lnTo>
                  <a:pt x="1" y="5"/>
                </a:lnTo>
                <a:lnTo>
                  <a:pt x="2" y="5"/>
                </a:lnTo>
                <a:lnTo>
                  <a:pt x="2" y="5"/>
                </a:lnTo>
                <a:lnTo>
                  <a:pt x="3" y="5"/>
                </a:lnTo>
                <a:lnTo>
                  <a:pt x="3" y="5"/>
                </a:lnTo>
                <a:lnTo>
                  <a:pt x="3" y="5"/>
                </a:lnTo>
                <a:lnTo>
                  <a:pt x="4" y="4"/>
                </a:lnTo>
                <a:lnTo>
                  <a:pt x="4" y="4"/>
                </a:lnTo>
                <a:lnTo>
                  <a:pt x="4" y="4"/>
                </a:lnTo>
                <a:lnTo>
                  <a:pt x="5" y="3"/>
                </a:lnTo>
                <a:lnTo>
                  <a:pt x="5" y="3"/>
                </a:lnTo>
                <a:close/>
              </a:path>
            </a:pathLst>
          </a:custGeom>
          <a:solidFill>
            <a:srgbClr val="66A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1" name="Connector 60"/>
          <p:cNvCxnSpPr/>
          <p:nvPr/>
        </p:nvCxnSpPr>
        <p:spPr>
          <a:xfrm flipH="1">
            <a:off x="2344429" y="2328024"/>
            <a:ext cx="1071149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2293818" y="2378635"/>
            <a:ext cx="0" cy="50930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2344429" y="2938546"/>
            <a:ext cx="1071149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3466189" y="2378635"/>
            <a:ext cx="0" cy="50930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Freeform 64"/>
          <p:cNvSpPr/>
          <p:nvPr/>
        </p:nvSpPr>
        <p:spPr>
          <a:xfrm>
            <a:off x="2641600" y="2463800"/>
            <a:ext cx="63500" cy="63500"/>
          </a:xfrm>
          <a:custGeom>
            <a:avLst/>
            <a:gdLst/>
            <a:ahLst/>
            <a:cxnLst/>
            <a:rect l="l" t="t" r="r" b="b"/>
            <a:pathLst>
              <a:path w="5" h="5">
                <a:moveTo>
                  <a:pt x="5" y="2"/>
                </a:moveTo>
                <a:lnTo>
                  <a:pt x="5" y="2"/>
                </a:lnTo>
                <a:lnTo>
                  <a:pt x="5" y="1"/>
                </a:lnTo>
                <a:lnTo>
                  <a:pt x="5" y="1"/>
                </a:lnTo>
                <a:lnTo>
                  <a:pt x="5" y="1"/>
                </a:lnTo>
                <a:lnTo>
                  <a:pt x="4" y="0"/>
                </a:lnTo>
                <a:lnTo>
                  <a:pt x="4" y="0"/>
                </a:lnTo>
                <a:lnTo>
                  <a:pt x="3" y="0"/>
                </a:ln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1" y="3"/>
                </a:lnTo>
                <a:lnTo>
                  <a:pt x="1" y="4"/>
                </a:lnTo>
                <a:lnTo>
                  <a:pt x="1" y="4"/>
                </a:lnTo>
                <a:lnTo>
                  <a:pt x="2" y="5"/>
                </a:lnTo>
                <a:lnTo>
                  <a:pt x="2" y="5"/>
                </a:lnTo>
                <a:lnTo>
                  <a:pt x="2" y="5"/>
                </a:lnTo>
                <a:lnTo>
                  <a:pt x="3" y="5"/>
                </a:lnTo>
                <a:lnTo>
                  <a:pt x="3" y="5"/>
                </a:lnTo>
                <a:lnTo>
                  <a:pt x="4" y="5"/>
                </a:lnTo>
                <a:lnTo>
                  <a:pt x="4" y="5"/>
                </a:lnTo>
                <a:lnTo>
                  <a:pt x="5" y="4"/>
                </a:lnTo>
                <a:lnTo>
                  <a:pt x="5" y="4"/>
                </a:lnTo>
                <a:lnTo>
                  <a:pt x="5" y="3"/>
                </a:lnTo>
                <a:lnTo>
                  <a:pt x="5" y="3"/>
                </a:lnTo>
                <a:lnTo>
                  <a:pt x="5" y="2"/>
                </a:lnTo>
                <a:close/>
              </a:path>
            </a:pathLst>
          </a:custGeom>
          <a:solidFill>
            <a:srgbClr val="A676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Freeform 65"/>
          <p:cNvSpPr/>
          <p:nvPr/>
        </p:nvSpPr>
        <p:spPr>
          <a:xfrm>
            <a:off x="2489200" y="2374900"/>
            <a:ext cx="63500" cy="63500"/>
          </a:xfrm>
          <a:custGeom>
            <a:avLst/>
            <a:gdLst/>
            <a:ahLst/>
            <a:cxnLst/>
            <a:rect l="l" t="t" r="r" b="b"/>
            <a:pathLst>
              <a:path w="5" h="5">
                <a:moveTo>
                  <a:pt x="5" y="2"/>
                </a:moveTo>
                <a:lnTo>
                  <a:pt x="5" y="2"/>
                </a:lnTo>
                <a:lnTo>
                  <a:pt x="5" y="1"/>
                </a:lnTo>
                <a:lnTo>
                  <a:pt x="5" y="1"/>
                </a:lnTo>
                <a:lnTo>
                  <a:pt x="5" y="1"/>
                </a:lnTo>
                <a:lnTo>
                  <a:pt x="4" y="0"/>
                </a:lnTo>
                <a:lnTo>
                  <a:pt x="4" y="0"/>
                </a:lnTo>
                <a:lnTo>
                  <a:pt x="3" y="0"/>
                </a:ln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1" y="3"/>
                </a:lnTo>
                <a:lnTo>
                  <a:pt x="1" y="4"/>
                </a:lnTo>
                <a:lnTo>
                  <a:pt x="1" y="4"/>
                </a:lnTo>
                <a:lnTo>
                  <a:pt x="1" y="5"/>
                </a:lnTo>
                <a:lnTo>
                  <a:pt x="2" y="5"/>
                </a:lnTo>
                <a:lnTo>
                  <a:pt x="2" y="5"/>
                </a:lnTo>
                <a:lnTo>
                  <a:pt x="3" y="5"/>
                </a:lnTo>
                <a:lnTo>
                  <a:pt x="3" y="5"/>
                </a:lnTo>
                <a:lnTo>
                  <a:pt x="4" y="5"/>
                </a:lnTo>
                <a:lnTo>
                  <a:pt x="4" y="5"/>
                </a:lnTo>
                <a:lnTo>
                  <a:pt x="5" y="4"/>
                </a:lnTo>
                <a:lnTo>
                  <a:pt x="5" y="4"/>
                </a:lnTo>
                <a:lnTo>
                  <a:pt x="5" y="3"/>
                </a:lnTo>
                <a:lnTo>
                  <a:pt x="5" y="3"/>
                </a:lnTo>
                <a:lnTo>
                  <a:pt x="5" y="2"/>
                </a:lnTo>
                <a:close/>
              </a:path>
            </a:pathLst>
          </a:custGeom>
          <a:solidFill>
            <a:srgbClr val="A676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Freeform 66"/>
          <p:cNvSpPr/>
          <p:nvPr/>
        </p:nvSpPr>
        <p:spPr>
          <a:xfrm>
            <a:off x="2336800" y="2463800"/>
            <a:ext cx="63500" cy="63500"/>
          </a:xfrm>
          <a:custGeom>
            <a:avLst/>
            <a:gdLst/>
            <a:ahLst/>
            <a:cxnLst/>
            <a:rect l="l" t="t" r="r" b="b"/>
            <a:pathLst>
              <a:path w="5" h="5">
                <a:moveTo>
                  <a:pt x="5" y="2"/>
                </a:moveTo>
                <a:lnTo>
                  <a:pt x="5" y="2"/>
                </a:lnTo>
                <a:lnTo>
                  <a:pt x="5" y="1"/>
                </a:lnTo>
                <a:lnTo>
                  <a:pt x="5" y="1"/>
                </a:lnTo>
                <a:lnTo>
                  <a:pt x="5" y="1"/>
                </a:lnTo>
                <a:lnTo>
                  <a:pt x="4" y="0"/>
                </a:lnTo>
                <a:lnTo>
                  <a:pt x="4" y="0"/>
                </a:lnTo>
                <a:lnTo>
                  <a:pt x="3" y="0"/>
                </a:ln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1"/>
                </a:lnTo>
                <a:lnTo>
                  <a:pt x="1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0" y="3"/>
                </a:lnTo>
                <a:lnTo>
                  <a:pt x="1" y="4"/>
                </a:lnTo>
                <a:lnTo>
                  <a:pt x="1" y="4"/>
                </a:lnTo>
                <a:lnTo>
                  <a:pt x="1" y="5"/>
                </a:lnTo>
                <a:lnTo>
                  <a:pt x="2" y="5"/>
                </a:lnTo>
                <a:lnTo>
                  <a:pt x="2" y="5"/>
                </a:lnTo>
                <a:lnTo>
                  <a:pt x="3" y="5"/>
                </a:lnTo>
                <a:lnTo>
                  <a:pt x="3" y="5"/>
                </a:lnTo>
                <a:lnTo>
                  <a:pt x="4" y="5"/>
                </a:lnTo>
                <a:lnTo>
                  <a:pt x="4" y="5"/>
                </a:lnTo>
                <a:lnTo>
                  <a:pt x="5" y="4"/>
                </a:lnTo>
                <a:lnTo>
                  <a:pt x="5" y="4"/>
                </a:lnTo>
                <a:lnTo>
                  <a:pt x="5" y="3"/>
                </a:lnTo>
                <a:lnTo>
                  <a:pt x="5" y="3"/>
                </a:lnTo>
                <a:lnTo>
                  <a:pt x="5" y="2"/>
                </a:lnTo>
                <a:close/>
              </a:path>
            </a:pathLst>
          </a:custGeom>
          <a:solidFill>
            <a:srgbClr val="A676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Freeform 67"/>
          <p:cNvSpPr/>
          <p:nvPr/>
        </p:nvSpPr>
        <p:spPr>
          <a:xfrm>
            <a:off x="2336800" y="2641600"/>
            <a:ext cx="63500" cy="63500"/>
          </a:xfrm>
          <a:custGeom>
            <a:avLst/>
            <a:gdLst/>
            <a:ahLst/>
            <a:cxnLst/>
            <a:rect l="l" t="t" r="r" b="b"/>
            <a:pathLst>
              <a:path w="5" h="5">
                <a:moveTo>
                  <a:pt x="5" y="2"/>
                </a:moveTo>
                <a:lnTo>
                  <a:pt x="5" y="2"/>
                </a:lnTo>
                <a:lnTo>
                  <a:pt x="5" y="1"/>
                </a:lnTo>
                <a:lnTo>
                  <a:pt x="5" y="1"/>
                </a:lnTo>
                <a:lnTo>
                  <a:pt x="5" y="1"/>
                </a:lnTo>
                <a:lnTo>
                  <a:pt x="4" y="0"/>
                </a:lnTo>
                <a:lnTo>
                  <a:pt x="4" y="0"/>
                </a:lnTo>
                <a:lnTo>
                  <a:pt x="3" y="0"/>
                </a:ln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1"/>
                </a:lnTo>
                <a:lnTo>
                  <a:pt x="1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0" y="3"/>
                </a:lnTo>
                <a:lnTo>
                  <a:pt x="1" y="4"/>
                </a:lnTo>
                <a:lnTo>
                  <a:pt x="1" y="4"/>
                </a:lnTo>
                <a:lnTo>
                  <a:pt x="1" y="5"/>
                </a:lnTo>
                <a:lnTo>
                  <a:pt x="2" y="5"/>
                </a:lnTo>
                <a:lnTo>
                  <a:pt x="2" y="5"/>
                </a:lnTo>
                <a:lnTo>
                  <a:pt x="3" y="5"/>
                </a:lnTo>
                <a:lnTo>
                  <a:pt x="3" y="5"/>
                </a:lnTo>
                <a:lnTo>
                  <a:pt x="4" y="5"/>
                </a:lnTo>
                <a:lnTo>
                  <a:pt x="4" y="5"/>
                </a:lnTo>
                <a:lnTo>
                  <a:pt x="5" y="4"/>
                </a:lnTo>
                <a:lnTo>
                  <a:pt x="5" y="4"/>
                </a:lnTo>
                <a:lnTo>
                  <a:pt x="5" y="3"/>
                </a:lnTo>
                <a:lnTo>
                  <a:pt x="5" y="3"/>
                </a:lnTo>
                <a:lnTo>
                  <a:pt x="5" y="2"/>
                </a:lnTo>
                <a:close/>
              </a:path>
            </a:pathLst>
          </a:custGeom>
          <a:solidFill>
            <a:srgbClr val="A676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Freeform 68"/>
          <p:cNvSpPr/>
          <p:nvPr/>
        </p:nvSpPr>
        <p:spPr>
          <a:xfrm>
            <a:off x="2489200" y="2730500"/>
            <a:ext cx="63500" cy="63500"/>
          </a:xfrm>
          <a:custGeom>
            <a:avLst/>
            <a:gdLst/>
            <a:ahLst/>
            <a:cxnLst/>
            <a:rect l="l" t="t" r="r" b="b"/>
            <a:pathLst>
              <a:path w="5" h="5">
                <a:moveTo>
                  <a:pt x="5" y="2"/>
                </a:moveTo>
                <a:lnTo>
                  <a:pt x="5" y="2"/>
                </a:lnTo>
                <a:lnTo>
                  <a:pt x="5" y="1"/>
                </a:lnTo>
                <a:lnTo>
                  <a:pt x="5" y="1"/>
                </a:lnTo>
                <a:lnTo>
                  <a:pt x="5" y="1"/>
                </a:lnTo>
                <a:lnTo>
                  <a:pt x="4" y="0"/>
                </a:lnTo>
                <a:lnTo>
                  <a:pt x="4" y="0"/>
                </a:lnTo>
                <a:lnTo>
                  <a:pt x="3" y="0"/>
                </a:ln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1" y="3"/>
                </a:lnTo>
                <a:lnTo>
                  <a:pt x="1" y="4"/>
                </a:lnTo>
                <a:lnTo>
                  <a:pt x="1" y="4"/>
                </a:lnTo>
                <a:lnTo>
                  <a:pt x="1" y="4"/>
                </a:lnTo>
                <a:lnTo>
                  <a:pt x="2" y="5"/>
                </a:lnTo>
                <a:lnTo>
                  <a:pt x="2" y="5"/>
                </a:lnTo>
                <a:lnTo>
                  <a:pt x="3" y="5"/>
                </a:lnTo>
                <a:lnTo>
                  <a:pt x="3" y="5"/>
                </a:lnTo>
                <a:lnTo>
                  <a:pt x="4" y="5"/>
                </a:lnTo>
                <a:lnTo>
                  <a:pt x="4" y="4"/>
                </a:lnTo>
                <a:lnTo>
                  <a:pt x="5" y="4"/>
                </a:lnTo>
                <a:lnTo>
                  <a:pt x="5" y="4"/>
                </a:lnTo>
                <a:lnTo>
                  <a:pt x="5" y="3"/>
                </a:lnTo>
                <a:lnTo>
                  <a:pt x="5" y="3"/>
                </a:lnTo>
                <a:lnTo>
                  <a:pt x="5" y="2"/>
                </a:lnTo>
                <a:close/>
              </a:path>
            </a:pathLst>
          </a:custGeom>
          <a:solidFill>
            <a:srgbClr val="A676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Freeform 69"/>
          <p:cNvSpPr/>
          <p:nvPr/>
        </p:nvSpPr>
        <p:spPr>
          <a:xfrm>
            <a:off x="2641600" y="2641600"/>
            <a:ext cx="63500" cy="63500"/>
          </a:xfrm>
          <a:custGeom>
            <a:avLst/>
            <a:gdLst/>
            <a:ahLst/>
            <a:cxnLst/>
            <a:rect l="l" t="t" r="r" b="b"/>
            <a:pathLst>
              <a:path w="5" h="5">
                <a:moveTo>
                  <a:pt x="5" y="2"/>
                </a:moveTo>
                <a:lnTo>
                  <a:pt x="5" y="2"/>
                </a:lnTo>
                <a:lnTo>
                  <a:pt x="5" y="1"/>
                </a:lnTo>
                <a:lnTo>
                  <a:pt x="5" y="1"/>
                </a:lnTo>
                <a:lnTo>
                  <a:pt x="5" y="1"/>
                </a:lnTo>
                <a:lnTo>
                  <a:pt x="4" y="0"/>
                </a:lnTo>
                <a:lnTo>
                  <a:pt x="4" y="0"/>
                </a:lnTo>
                <a:lnTo>
                  <a:pt x="3" y="0"/>
                </a:ln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1" y="3"/>
                </a:lnTo>
                <a:lnTo>
                  <a:pt x="1" y="4"/>
                </a:lnTo>
                <a:lnTo>
                  <a:pt x="1" y="4"/>
                </a:lnTo>
                <a:lnTo>
                  <a:pt x="2" y="5"/>
                </a:lnTo>
                <a:lnTo>
                  <a:pt x="2" y="5"/>
                </a:lnTo>
                <a:lnTo>
                  <a:pt x="2" y="5"/>
                </a:lnTo>
                <a:lnTo>
                  <a:pt x="3" y="5"/>
                </a:lnTo>
                <a:lnTo>
                  <a:pt x="3" y="5"/>
                </a:lnTo>
                <a:lnTo>
                  <a:pt x="4" y="5"/>
                </a:lnTo>
                <a:lnTo>
                  <a:pt x="4" y="5"/>
                </a:lnTo>
                <a:lnTo>
                  <a:pt x="5" y="4"/>
                </a:lnTo>
                <a:lnTo>
                  <a:pt x="5" y="4"/>
                </a:lnTo>
                <a:lnTo>
                  <a:pt x="5" y="3"/>
                </a:lnTo>
                <a:lnTo>
                  <a:pt x="5" y="3"/>
                </a:lnTo>
                <a:lnTo>
                  <a:pt x="5" y="2"/>
                </a:lnTo>
                <a:close/>
              </a:path>
            </a:pathLst>
          </a:custGeom>
          <a:solidFill>
            <a:srgbClr val="A676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Freeform 70"/>
          <p:cNvSpPr/>
          <p:nvPr/>
        </p:nvSpPr>
        <p:spPr>
          <a:xfrm>
            <a:off x="2578100" y="2552700"/>
            <a:ext cx="63500" cy="63500"/>
          </a:xfrm>
          <a:custGeom>
            <a:avLst/>
            <a:gdLst/>
            <a:ahLst/>
            <a:cxnLst/>
            <a:rect l="l" t="t" r="r" b="b"/>
            <a:pathLst>
              <a:path w="5" h="5">
                <a:moveTo>
                  <a:pt x="5" y="2"/>
                </a:moveTo>
                <a:lnTo>
                  <a:pt x="5" y="2"/>
                </a:lnTo>
                <a:lnTo>
                  <a:pt x="5" y="1"/>
                </a:lnTo>
                <a:lnTo>
                  <a:pt x="5" y="1"/>
                </a:lnTo>
                <a:lnTo>
                  <a:pt x="5" y="1"/>
                </a:lnTo>
                <a:lnTo>
                  <a:pt x="4" y="0"/>
                </a:lnTo>
                <a:lnTo>
                  <a:pt x="4" y="0"/>
                </a:lnTo>
                <a:lnTo>
                  <a:pt x="3" y="0"/>
                </a:ln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1" y="3"/>
                </a:lnTo>
                <a:lnTo>
                  <a:pt x="1" y="4"/>
                </a:lnTo>
                <a:lnTo>
                  <a:pt x="1" y="4"/>
                </a:lnTo>
                <a:lnTo>
                  <a:pt x="1" y="5"/>
                </a:lnTo>
                <a:lnTo>
                  <a:pt x="2" y="5"/>
                </a:lnTo>
                <a:lnTo>
                  <a:pt x="2" y="5"/>
                </a:lnTo>
                <a:lnTo>
                  <a:pt x="3" y="5"/>
                </a:lnTo>
                <a:lnTo>
                  <a:pt x="3" y="5"/>
                </a:lnTo>
                <a:lnTo>
                  <a:pt x="4" y="5"/>
                </a:lnTo>
                <a:lnTo>
                  <a:pt x="4" y="5"/>
                </a:lnTo>
                <a:lnTo>
                  <a:pt x="5" y="4"/>
                </a:lnTo>
                <a:lnTo>
                  <a:pt x="5" y="4"/>
                </a:lnTo>
                <a:lnTo>
                  <a:pt x="5" y="3"/>
                </a:lnTo>
                <a:lnTo>
                  <a:pt x="5" y="3"/>
                </a:lnTo>
                <a:lnTo>
                  <a:pt x="5" y="2"/>
                </a:lnTo>
                <a:close/>
              </a:path>
            </a:pathLst>
          </a:custGeom>
          <a:solidFill>
            <a:srgbClr val="66A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Freeform 71"/>
          <p:cNvSpPr/>
          <p:nvPr/>
        </p:nvSpPr>
        <p:spPr>
          <a:xfrm>
            <a:off x="2540000" y="2476500"/>
            <a:ext cx="63500" cy="63500"/>
          </a:xfrm>
          <a:custGeom>
            <a:avLst/>
            <a:gdLst/>
            <a:ahLst/>
            <a:cxnLst/>
            <a:rect l="l" t="t" r="r" b="b"/>
            <a:pathLst>
              <a:path w="5" h="5">
                <a:moveTo>
                  <a:pt x="5" y="2"/>
                </a:moveTo>
                <a:lnTo>
                  <a:pt x="5" y="2"/>
                </a:lnTo>
                <a:lnTo>
                  <a:pt x="5" y="1"/>
                </a:lnTo>
                <a:lnTo>
                  <a:pt x="4" y="1"/>
                </a:lnTo>
                <a:lnTo>
                  <a:pt x="4" y="1"/>
                </a:lnTo>
                <a:lnTo>
                  <a:pt x="4" y="0"/>
                </a:lnTo>
                <a:lnTo>
                  <a:pt x="3" y="0"/>
                </a:ln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0" y="3"/>
                </a:lnTo>
                <a:lnTo>
                  <a:pt x="0" y="4"/>
                </a:lnTo>
                <a:lnTo>
                  <a:pt x="1" y="4"/>
                </a:lnTo>
                <a:lnTo>
                  <a:pt x="1" y="4"/>
                </a:lnTo>
                <a:lnTo>
                  <a:pt x="1" y="5"/>
                </a:lnTo>
                <a:lnTo>
                  <a:pt x="2" y="5"/>
                </a:lnTo>
                <a:lnTo>
                  <a:pt x="2" y="5"/>
                </a:lnTo>
                <a:lnTo>
                  <a:pt x="3" y="5"/>
                </a:lnTo>
                <a:lnTo>
                  <a:pt x="3" y="5"/>
                </a:lnTo>
                <a:lnTo>
                  <a:pt x="4" y="4"/>
                </a:lnTo>
                <a:lnTo>
                  <a:pt x="4" y="4"/>
                </a:lnTo>
                <a:lnTo>
                  <a:pt x="4" y="4"/>
                </a:lnTo>
                <a:lnTo>
                  <a:pt x="5" y="3"/>
                </a:lnTo>
                <a:lnTo>
                  <a:pt x="5" y="3"/>
                </a:lnTo>
                <a:lnTo>
                  <a:pt x="5" y="2"/>
                </a:lnTo>
                <a:close/>
              </a:path>
            </a:pathLst>
          </a:custGeom>
          <a:solidFill>
            <a:srgbClr val="66A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Freeform 72"/>
          <p:cNvSpPr/>
          <p:nvPr/>
        </p:nvSpPr>
        <p:spPr>
          <a:xfrm>
            <a:off x="2451100" y="2476500"/>
            <a:ext cx="63500" cy="63500"/>
          </a:xfrm>
          <a:custGeom>
            <a:avLst/>
            <a:gdLst/>
            <a:ahLst/>
            <a:cxnLst/>
            <a:rect l="l" t="t" r="r" b="b"/>
            <a:pathLst>
              <a:path w="5" h="5">
                <a:moveTo>
                  <a:pt x="5" y="2"/>
                </a:moveTo>
                <a:lnTo>
                  <a:pt x="5" y="2"/>
                </a:lnTo>
                <a:lnTo>
                  <a:pt x="5" y="1"/>
                </a:lnTo>
                <a:lnTo>
                  <a:pt x="4" y="1"/>
                </a:lnTo>
                <a:lnTo>
                  <a:pt x="4" y="1"/>
                </a:lnTo>
                <a:lnTo>
                  <a:pt x="4" y="0"/>
                </a:lnTo>
                <a:lnTo>
                  <a:pt x="3" y="0"/>
                </a:ln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0" y="3"/>
                </a:lnTo>
                <a:lnTo>
                  <a:pt x="0" y="4"/>
                </a:lnTo>
                <a:lnTo>
                  <a:pt x="1" y="4"/>
                </a:lnTo>
                <a:lnTo>
                  <a:pt x="1" y="4"/>
                </a:lnTo>
                <a:lnTo>
                  <a:pt x="1" y="5"/>
                </a:lnTo>
                <a:lnTo>
                  <a:pt x="2" y="5"/>
                </a:lnTo>
                <a:lnTo>
                  <a:pt x="2" y="5"/>
                </a:lnTo>
                <a:lnTo>
                  <a:pt x="3" y="5"/>
                </a:lnTo>
                <a:lnTo>
                  <a:pt x="3" y="5"/>
                </a:lnTo>
                <a:lnTo>
                  <a:pt x="4" y="4"/>
                </a:lnTo>
                <a:lnTo>
                  <a:pt x="4" y="4"/>
                </a:lnTo>
                <a:lnTo>
                  <a:pt x="4" y="4"/>
                </a:lnTo>
                <a:lnTo>
                  <a:pt x="5" y="3"/>
                </a:lnTo>
                <a:lnTo>
                  <a:pt x="5" y="3"/>
                </a:lnTo>
                <a:lnTo>
                  <a:pt x="5" y="2"/>
                </a:lnTo>
                <a:close/>
              </a:path>
            </a:pathLst>
          </a:custGeom>
          <a:solidFill>
            <a:srgbClr val="66A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Freeform 73"/>
          <p:cNvSpPr/>
          <p:nvPr/>
        </p:nvSpPr>
        <p:spPr>
          <a:xfrm>
            <a:off x="2400300" y="2552700"/>
            <a:ext cx="63500" cy="63500"/>
          </a:xfrm>
          <a:custGeom>
            <a:avLst/>
            <a:gdLst/>
            <a:ahLst/>
            <a:cxnLst/>
            <a:rect l="l" t="t" r="r" b="b"/>
            <a:pathLst>
              <a:path w="5" h="5">
                <a:moveTo>
                  <a:pt x="5" y="2"/>
                </a:moveTo>
                <a:lnTo>
                  <a:pt x="5" y="2"/>
                </a:lnTo>
                <a:lnTo>
                  <a:pt x="5" y="1"/>
                </a:lnTo>
                <a:lnTo>
                  <a:pt x="5" y="1"/>
                </a:lnTo>
                <a:lnTo>
                  <a:pt x="5" y="1"/>
                </a:lnTo>
                <a:lnTo>
                  <a:pt x="4" y="0"/>
                </a:lnTo>
                <a:lnTo>
                  <a:pt x="4" y="0"/>
                </a:lnTo>
                <a:lnTo>
                  <a:pt x="3" y="0"/>
                </a:ln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1" y="3"/>
                </a:lnTo>
                <a:lnTo>
                  <a:pt x="1" y="4"/>
                </a:lnTo>
                <a:lnTo>
                  <a:pt x="1" y="4"/>
                </a:lnTo>
                <a:lnTo>
                  <a:pt x="1" y="5"/>
                </a:lnTo>
                <a:lnTo>
                  <a:pt x="2" y="5"/>
                </a:lnTo>
                <a:lnTo>
                  <a:pt x="2" y="5"/>
                </a:lnTo>
                <a:lnTo>
                  <a:pt x="3" y="5"/>
                </a:lnTo>
                <a:lnTo>
                  <a:pt x="3" y="5"/>
                </a:lnTo>
                <a:lnTo>
                  <a:pt x="4" y="5"/>
                </a:lnTo>
                <a:lnTo>
                  <a:pt x="4" y="5"/>
                </a:lnTo>
                <a:lnTo>
                  <a:pt x="5" y="4"/>
                </a:lnTo>
                <a:lnTo>
                  <a:pt x="5" y="4"/>
                </a:lnTo>
                <a:lnTo>
                  <a:pt x="5" y="3"/>
                </a:lnTo>
                <a:lnTo>
                  <a:pt x="5" y="3"/>
                </a:lnTo>
                <a:lnTo>
                  <a:pt x="5" y="2"/>
                </a:lnTo>
                <a:close/>
              </a:path>
            </a:pathLst>
          </a:custGeom>
          <a:solidFill>
            <a:srgbClr val="66A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Freeform 74"/>
          <p:cNvSpPr/>
          <p:nvPr/>
        </p:nvSpPr>
        <p:spPr>
          <a:xfrm>
            <a:off x="2451100" y="2628900"/>
            <a:ext cx="63500" cy="63500"/>
          </a:xfrm>
          <a:custGeom>
            <a:avLst/>
            <a:gdLst/>
            <a:ahLst/>
            <a:cxnLst/>
            <a:rect l="l" t="t" r="r" b="b"/>
            <a:pathLst>
              <a:path w="5" h="5">
                <a:moveTo>
                  <a:pt x="5" y="2"/>
                </a:moveTo>
                <a:lnTo>
                  <a:pt x="5" y="2"/>
                </a:lnTo>
                <a:lnTo>
                  <a:pt x="5" y="1"/>
                </a:lnTo>
                <a:lnTo>
                  <a:pt x="4" y="1"/>
                </a:lnTo>
                <a:lnTo>
                  <a:pt x="4" y="1"/>
                </a:lnTo>
                <a:lnTo>
                  <a:pt x="4" y="0"/>
                </a:lnTo>
                <a:lnTo>
                  <a:pt x="3" y="0"/>
                </a:ln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0" y="3"/>
                </a:lnTo>
                <a:lnTo>
                  <a:pt x="0" y="4"/>
                </a:lnTo>
                <a:lnTo>
                  <a:pt x="1" y="4"/>
                </a:lnTo>
                <a:lnTo>
                  <a:pt x="1" y="5"/>
                </a:lnTo>
                <a:lnTo>
                  <a:pt x="1" y="5"/>
                </a:lnTo>
                <a:lnTo>
                  <a:pt x="2" y="5"/>
                </a:lnTo>
                <a:lnTo>
                  <a:pt x="2" y="5"/>
                </a:lnTo>
                <a:lnTo>
                  <a:pt x="3" y="5"/>
                </a:lnTo>
                <a:lnTo>
                  <a:pt x="3" y="5"/>
                </a:lnTo>
                <a:lnTo>
                  <a:pt x="4" y="5"/>
                </a:lnTo>
                <a:lnTo>
                  <a:pt x="4" y="4"/>
                </a:lnTo>
                <a:lnTo>
                  <a:pt x="4" y="4"/>
                </a:lnTo>
                <a:lnTo>
                  <a:pt x="5" y="3"/>
                </a:lnTo>
                <a:lnTo>
                  <a:pt x="5" y="3"/>
                </a:lnTo>
                <a:lnTo>
                  <a:pt x="5" y="2"/>
                </a:lnTo>
                <a:close/>
              </a:path>
            </a:pathLst>
          </a:custGeom>
          <a:solidFill>
            <a:srgbClr val="66A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Freeform 75"/>
          <p:cNvSpPr/>
          <p:nvPr/>
        </p:nvSpPr>
        <p:spPr>
          <a:xfrm>
            <a:off x="2540000" y="2628900"/>
            <a:ext cx="63500" cy="63500"/>
          </a:xfrm>
          <a:custGeom>
            <a:avLst/>
            <a:gdLst/>
            <a:ahLst/>
            <a:cxnLst/>
            <a:rect l="l" t="t" r="r" b="b"/>
            <a:pathLst>
              <a:path w="5" h="5">
                <a:moveTo>
                  <a:pt x="5" y="2"/>
                </a:moveTo>
                <a:lnTo>
                  <a:pt x="5" y="2"/>
                </a:lnTo>
                <a:lnTo>
                  <a:pt x="5" y="1"/>
                </a:lnTo>
                <a:lnTo>
                  <a:pt x="4" y="1"/>
                </a:lnTo>
                <a:lnTo>
                  <a:pt x="4" y="1"/>
                </a:lnTo>
                <a:lnTo>
                  <a:pt x="4" y="0"/>
                </a:lnTo>
                <a:lnTo>
                  <a:pt x="3" y="0"/>
                </a:ln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0" y="3"/>
                </a:lnTo>
                <a:lnTo>
                  <a:pt x="0" y="4"/>
                </a:lnTo>
                <a:lnTo>
                  <a:pt x="1" y="4"/>
                </a:lnTo>
                <a:lnTo>
                  <a:pt x="1" y="5"/>
                </a:lnTo>
                <a:lnTo>
                  <a:pt x="1" y="5"/>
                </a:lnTo>
                <a:lnTo>
                  <a:pt x="2" y="5"/>
                </a:lnTo>
                <a:lnTo>
                  <a:pt x="2" y="5"/>
                </a:lnTo>
                <a:lnTo>
                  <a:pt x="3" y="5"/>
                </a:lnTo>
                <a:lnTo>
                  <a:pt x="3" y="5"/>
                </a:lnTo>
                <a:lnTo>
                  <a:pt x="4" y="5"/>
                </a:lnTo>
                <a:lnTo>
                  <a:pt x="4" y="4"/>
                </a:lnTo>
                <a:lnTo>
                  <a:pt x="4" y="4"/>
                </a:lnTo>
                <a:lnTo>
                  <a:pt x="5" y="3"/>
                </a:lnTo>
                <a:lnTo>
                  <a:pt x="5" y="3"/>
                </a:lnTo>
                <a:lnTo>
                  <a:pt x="5" y="2"/>
                </a:lnTo>
                <a:close/>
              </a:path>
            </a:pathLst>
          </a:custGeom>
          <a:solidFill>
            <a:srgbClr val="66A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Freeform 76"/>
          <p:cNvSpPr/>
          <p:nvPr/>
        </p:nvSpPr>
        <p:spPr>
          <a:xfrm>
            <a:off x="3352800" y="2463800"/>
            <a:ext cx="63500" cy="63500"/>
          </a:xfrm>
          <a:custGeom>
            <a:avLst/>
            <a:gdLst/>
            <a:ahLst/>
            <a:cxnLst/>
            <a:rect l="l" t="t" r="r" b="b"/>
            <a:pathLst>
              <a:path w="5" h="5">
                <a:moveTo>
                  <a:pt x="5" y="2"/>
                </a:moveTo>
                <a:lnTo>
                  <a:pt x="5" y="2"/>
                </a:lnTo>
                <a:lnTo>
                  <a:pt x="5" y="1"/>
                </a:lnTo>
                <a:lnTo>
                  <a:pt x="5" y="1"/>
                </a:lnTo>
                <a:lnTo>
                  <a:pt x="5" y="1"/>
                </a:lnTo>
                <a:lnTo>
                  <a:pt x="4" y="0"/>
                </a:lnTo>
                <a:lnTo>
                  <a:pt x="4" y="0"/>
                </a:lnTo>
                <a:lnTo>
                  <a:pt x="3" y="0"/>
                </a:ln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1"/>
                </a:lnTo>
                <a:lnTo>
                  <a:pt x="1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0" y="3"/>
                </a:lnTo>
                <a:lnTo>
                  <a:pt x="1" y="4"/>
                </a:lnTo>
                <a:lnTo>
                  <a:pt x="1" y="4"/>
                </a:lnTo>
                <a:lnTo>
                  <a:pt x="1" y="5"/>
                </a:lnTo>
                <a:lnTo>
                  <a:pt x="2" y="5"/>
                </a:lnTo>
                <a:lnTo>
                  <a:pt x="2" y="5"/>
                </a:lnTo>
                <a:lnTo>
                  <a:pt x="3" y="5"/>
                </a:lnTo>
                <a:lnTo>
                  <a:pt x="3" y="5"/>
                </a:lnTo>
                <a:lnTo>
                  <a:pt x="4" y="5"/>
                </a:lnTo>
                <a:lnTo>
                  <a:pt x="4" y="5"/>
                </a:lnTo>
                <a:lnTo>
                  <a:pt x="5" y="4"/>
                </a:lnTo>
                <a:lnTo>
                  <a:pt x="5" y="4"/>
                </a:lnTo>
                <a:lnTo>
                  <a:pt x="5" y="3"/>
                </a:lnTo>
                <a:lnTo>
                  <a:pt x="5" y="3"/>
                </a:lnTo>
                <a:lnTo>
                  <a:pt x="5" y="2"/>
                </a:lnTo>
                <a:close/>
              </a:path>
            </a:pathLst>
          </a:custGeom>
          <a:solidFill>
            <a:srgbClr val="66A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Freeform 77"/>
          <p:cNvSpPr/>
          <p:nvPr/>
        </p:nvSpPr>
        <p:spPr>
          <a:xfrm>
            <a:off x="3048000" y="2463800"/>
            <a:ext cx="63500" cy="63500"/>
          </a:xfrm>
          <a:custGeom>
            <a:avLst/>
            <a:gdLst/>
            <a:ahLst/>
            <a:cxnLst/>
            <a:rect l="l" t="t" r="r" b="b"/>
            <a:pathLst>
              <a:path w="5" h="5">
                <a:moveTo>
                  <a:pt x="5" y="2"/>
                </a:moveTo>
                <a:lnTo>
                  <a:pt x="5" y="2"/>
                </a:lnTo>
                <a:lnTo>
                  <a:pt x="5" y="1"/>
                </a:lnTo>
                <a:lnTo>
                  <a:pt x="5" y="1"/>
                </a:lnTo>
                <a:lnTo>
                  <a:pt x="4" y="1"/>
                </a:lnTo>
                <a:lnTo>
                  <a:pt x="4" y="0"/>
                </a:lnTo>
                <a:lnTo>
                  <a:pt x="4" y="0"/>
                </a:lnTo>
                <a:lnTo>
                  <a:pt x="3" y="0"/>
                </a:ln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0" y="3"/>
                </a:lnTo>
                <a:lnTo>
                  <a:pt x="0" y="4"/>
                </a:lnTo>
                <a:lnTo>
                  <a:pt x="1" y="4"/>
                </a:lnTo>
                <a:lnTo>
                  <a:pt x="1" y="5"/>
                </a:lnTo>
                <a:lnTo>
                  <a:pt x="2" y="5"/>
                </a:lnTo>
                <a:lnTo>
                  <a:pt x="2" y="5"/>
                </a:lnTo>
                <a:lnTo>
                  <a:pt x="3" y="5"/>
                </a:lnTo>
                <a:lnTo>
                  <a:pt x="3" y="5"/>
                </a:lnTo>
                <a:lnTo>
                  <a:pt x="4" y="5"/>
                </a:lnTo>
                <a:lnTo>
                  <a:pt x="4" y="5"/>
                </a:lnTo>
                <a:lnTo>
                  <a:pt x="4" y="4"/>
                </a:lnTo>
                <a:lnTo>
                  <a:pt x="5" y="4"/>
                </a:lnTo>
                <a:lnTo>
                  <a:pt x="5" y="3"/>
                </a:lnTo>
                <a:lnTo>
                  <a:pt x="5" y="3"/>
                </a:lnTo>
                <a:lnTo>
                  <a:pt x="5" y="2"/>
                </a:lnTo>
                <a:close/>
              </a:path>
            </a:pathLst>
          </a:custGeom>
          <a:solidFill>
            <a:srgbClr val="66A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Freeform 78"/>
          <p:cNvSpPr/>
          <p:nvPr/>
        </p:nvSpPr>
        <p:spPr>
          <a:xfrm>
            <a:off x="3352800" y="2641600"/>
            <a:ext cx="63500" cy="63500"/>
          </a:xfrm>
          <a:custGeom>
            <a:avLst/>
            <a:gdLst/>
            <a:ahLst/>
            <a:cxnLst/>
            <a:rect l="l" t="t" r="r" b="b"/>
            <a:pathLst>
              <a:path w="5" h="5">
                <a:moveTo>
                  <a:pt x="5" y="2"/>
                </a:moveTo>
                <a:lnTo>
                  <a:pt x="5" y="2"/>
                </a:lnTo>
                <a:lnTo>
                  <a:pt x="5" y="1"/>
                </a:lnTo>
                <a:lnTo>
                  <a:pt x="5" y="1"/>
                </a:lnTo>
                <a:lnTo>
                  <a:pt x="5" y="1"/>
                </a:lnTo>
                <a:lnTo>
                  <a:pt x="4" y="0"/>
                </a:lnTo>
                <a:lnTo>
                  <a:pt x="4" y="0"/>
                </a:lnTo>
                <a:lnTo>
                  <a:pt x="3" y="0"/>
                </a:ln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1"/>
                </a:lnTo>
                <a:lnTo>
                  <a:pt x="1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0" y="3"/>
                </a:lnTo>
                <a:lnTo>
                  <a:pt x="1" y="4"/>
                </a:lnTo>
                <a:lnTo>
                  <a:pt x="1" y="4"/>
                </a:lnTo>
                <a:lnTo>
                  <a:pt x="1" y="5"/>
                </a:lnTo>
                <a:lnTo>
                  <a:pt x="2" y="5"/>
                </a:lnTo>
                <a:lnTo>
                  <a:pt x="2" y="5"/>
                </a:lnTo>
                <a:lnTo>
                  <a:pt x="3" y="5"/>
                </a:lnTo>
                <a:lnTo>
                  <a:pt x="3" y="5"/>
                </a:lnTo>
                <a:lnTo>
                  <a:pt x="4" y="5"/>
                </a:lnTo>
                <a:lnTo>
                  <a:pt x="4" y="5"/>
                </a:lnTo>
                <a:lnTo>
                  <a:pt x="5" y="4"/>
                </a:lnTo>
                <a:lnTo>
                  <a:pt x="5" y="4"/>
                </a:lnTo>
                <a:lnTo>
                  <a:pt x="5" y="3"/>
                </a:lnTo>
                <a:lnTo>
                  <a:pt x="5" y="3"/>
                </a:lnTo>
                <a:lnTo>
                  <a:pt x="5" y="2"/>
                </a:lnTo>
                <a:close/>
              </a:path>
            </a:pathLst>
          </a:custGeom>
          <a:solidFill>
            <a:srgbClr val="66A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Freeform 79"/>
          <p:cNvSpPr/>
          <p:nvPr/>
        </p:nvSpPr>
        <p:spPr>
          <a:xfrm>
            <a:off x="3200400" y="2374900"/>
            <a:ext cx="63500" cy="63500"/>
          </a:xfrm>
          <a:custGeom>
            <a:avLst/>
            <a:gdLst/>
            <a:ahLst/>
            <a:cxnLst/>
            <a:rect l="l" t="t" r="r" b="b"/>
            <a:pathLst>
              <a:path w="5" h="5">
                <a:moveTo>
                  <a:pt x="5" y="2"/>
                </a:moveTo>
                <a:lnTo>
                  <a:pt x="5" y="2"/>
                </a:lnTo>
                <a:lnTo>
                  <a:pt x="5" y="1"/>
                </a:lnTo>
                <a:lnTo>
                  <a:pt x="5" y="1"/>
                </a:lnTo>
                <a:lnTo>
                  <a:pt x="4" y="1"/>
                </a:lnTo>
                <a:lnTo>
                  <a:pt x="4" y="0"/>
                </a:lnTo>
                <a:lnTo>
                  <a:pt x="4" y="0"/>
                </a:lnTo>
                <a:lnTo>
                  <a:pt x="3" y="0"/>
                </a:ln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1"/>
                </a:lnTo>
                <a:lnTo>
                  <a:pt x="1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0" y="3"/>
                </a:lnTo>
                <a:lnTo>
                  <a:pt x="1" y="4"/>
                </a:lnTo>
                <a:lnTo>
                  <a:pt x="1" y="4"/>
                </a:lnTo>
                <a:lnTo>
                  <a:pt x="1" y="5"/>
                </a:lnTo>
                <a:lnTo>
                  <a:pt x="2" y="5"/>
                </a:lnTo>
                <a:lnTo>
                  <a:pt x="2" y="5"/>
                </a:lnTo>
                <a:lnTo>
                  <a:pt x="3" y="5"/>
                </a:lnTo>
                <a:lnTo>
                  <a:pt x="3" y="5"/>
                </a:lnTo>
                <a:lnTo>
                  <a:pt x="4" y="5"/>
                </a:lnTo>
                <a:lnTo>
                  <a:pt x="4" y="5"/>
                </a:lnTo>
                <a:lnTo>
                  <a:pt x="4" y="4"/>
                </a:lnTo>
                <a:lnTo>
                  <a:pt x="5" y="4"/>
                </a:lnTo>
                <a:lnTo>
                  <a:pt x="5" y="3"/>
                </a:lnTo>
                <a:lnTo>
                  <a:pt x="5" y="3"/>
                </a:lnTo>
                <a:lnTo>
                  <a:pt x="5" y="2"/>
                </a:lnTo>
                <a:close/>
              </a:path>
            </a:pathLst>
          </a:custGeom>
          <a:solidFill>
            <a:srgbClr val="A676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Freeform 80"/>
          <p:cNvSpPr/>
          <p:nvPr/>
        </p:nvSpPr>
        <p:spPr>
          <a:xfrm>
            <a:off x="3048000" y="2641600"/>
            <a:ext cx="63500" cy="63500"/>
          </a:xfrm>
          <a:custGeom>
            <a:avLst/>
            <a:gdLst/>
            <a:ahLst/>
            <a:cxnLst/>
            <a:rect l="l" t="t" r="r" b="b"/>
            <a:pathLst>
              <a:path w="5" h="5">
                <a:moveTo>
                  <a:pt x="5" y="2"/>
                </a:moveTo>
                <a:lnTo>
                  <a:pt x="5" y="2"/>
                </a:lnTo>
                <a:lnTo>
                  <a:pt x="5" y="1"/>
                </a:lnTo>
                <a:lnTo>
                  <a:pt x="5" y="1"/>
                </a:lnTo>
                <a:lnTo>
                  <a:pt x="4" y="1"/>
                </a:lnTo>
                <a:lnTo>
                  <a:pt x="4" y="0"/>
                </a:lnTo>
                <a:lnTo>
                  <a:pt x="4" y="0"/>
                </a:lnTo>
                <a:lnTo>
                  <a:pt x="3" y="0"/>
                </a:ln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0" y="3"/>
                </a:lnTo>
                <a:lnTo>
                  <a:pt x="0" y="4"/>
                </a:lnTo>
                <a:lnTo>
                  <a:pt x="1" y="4"/>
                </a:lnTo>
                <a:lnTo>
                  <a:pt x="1" y="5"/>
                </a:lnTo>
                <a:lnTo>
                  <a:pt x="2" y="5"/>
                </a:lnTo>
                <a:lnTo>
                  <a:pt x="2" y="5"/>
                </a:lnTo>
                <a:lnTo>
                  <a:pt x="3" y="5"/>
                </a:lnTo>
                <a:lnTo>
                  <a:pt x="3" y="5"/>
                </a:lnTo>
                <a:lnTo>
                  <a:pt x="4" y="5"/>
                </a:lnTo>
                <a:lnTo>
                  <a:pt x="4" y="5"/>
                </a:lnTo>
                <a:lnTo>
                  <a:pt x="4" y="4"/>
                </a:lnTo>
                <a:lnTo>
                  <a:pt x="5" y="4"/>
                </a:lnTo>
                <a:lnTo>
                  <a:pt x="5" y="3"/>
                </a:lnTo>
                <a:lnTo>
                  <a:pt x="5" y="3"/>
                </a:lnTo>
                <a:lnTo>
                  <a:pt x="5" y="2"/>
                </a:lnTo>
                <a:close/>
              </a:path>
            </a:pathLst>
          </a:custGeom>
          <a:solidFill>
            <a:srgbClr val="A676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Freeform 81"/>
          <p:cNvSpPr/>
          <p:nvPr/>
        </p:nvSpPr>
        <p:spPr>
          <a:xfrm>
            <a:off x="3200400" y="2730500"/>
            <a:ext cx="63500" cy="63500"/>
          </a:xfrm>
          <a:custGeom>
            <a:avLst/>
            <a:gdLst/>
            <a:ahLst/>
            <a:cxnLst/>
            <a:rect l="l" t="t" r="r" b="b"/>
            <a:pathLst>
              <a:path w="5" h="5">
                <a:moveTo>
                  <a:pt x="5" y="2"/>
                </a:moveTo>
                <a:lnTo>
                  <a:pt x="5" y="2"/>
                </a:lnTo>
                <a:lnTo>
                  <a:pt x="5" y="1"/>
                </a:lnTo>
                <a:lnTo>
                  <a:pt x="5" y="1"/>
                </a:lnTo>
                <a:lnTo>
                  <a:pt x="4" y="1"/>
                </a:lnTo>
                <a:lnTo>
                  <a:pt x="4" y="0"/>
                </a:lnTo>
                <a:lnTo>
                  <a:pt x="4" y="0"/>
                </a:lnTo>
                <a:lnTo>
                  <a:pt x="3" y="0"/>
                </a:ln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1"/>
                </a:lnTo>
                <a:lnTo>
                  <a:pt x="1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0" y="3"/>
                </a:lnTo>
                <a:lnTo>
                  <a:pt x="1" y="4"/>
                </a:lnTo>
                <a:lnTo>
                  <a:pt x="1" y="4"/>
                </a:lnTo>
                <a:lnTo>
                  <a:pt x="1" y="4"/>
                </a:lnTo>
                <a:lnTo>
                  <a:pt x="2" y="5"/>
                </a:lnTo>
                <a:lnTo>
                  <a:pt x="2" y="5"/>
                </a:lnTo>
                <a:lnTo>
                  <a:pt x="3" y="5"/>
                </a:lnTo>
                <a:lnTo>
                  <a:pt x="3" y="5"/>
                </a:lnTo>
                <a:lnTo>
                  <a:pt x="4" y="5"/>
                </a:lnTo>
                <a:lnTo>
                  <a:pt x="4" y="4"/>
                </a:lnTo>
                <a:lnTo>
                  <a:pt x="4" y="4"/>
                </a:lnTo>
                <a:lnTo>
                  <a:pt x="5" y="4"/>
                </a:lnTo>
                <a:lnTo>
                  <a:pt x="5" y="3"/>
                </a:lnTo>
                <a:lnTo>
                  <a:pt x="5" y="3"/>
                </a:lnTo>
                <a:lnTo>
                  <a:pt x="5" y="2"/>
                </a:lnTo>
                <a:close/>
              </a:path>
            </a:pathLst>
          </a:custGeom>
          <a:solidFill>
            <a:srgbClr val="A676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3" name="Connector 82"/>
          <p:cNvCxnSpPr/>
          <p:nvPr/>
        </p:nvCxnSpPr>
        <p:spPr>
          <a:xfrm flipH="1">
            <a:off x="3585313" y="1276555"/>
            <a:ext cx="1071146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3534702" y="1327166"/>
            <a:ext cx="0" cy="59855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>
            <a:off x="3585313" y="1976330"/>
            <a:ext cx="1071146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 flipV="1">
            <a:off x="4707070" y="1327166"/>
            <a:ext cx="0" cy="59855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 flipV="1">
            <a:off x="3853575" y="1429295"/>
            <a:ext cx="35" cy="4260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 flipH="1" flipV="1">
            <a:off x="3826165" y="1380114"/>
            <a:ext cx="11502" cy="1124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 flipH="1" flipV="1">
            <a:off x="3760969" y="1335238"/>
            <a:ext cx="30045" cy="1786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 flipH="1">
            <a:off x="3702842" y="1332447"/>
            <a:ext cx="18344" cy="767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 flipH="1">
            <a:off x="3655857" y="1362465"/>
            <a:ext cx="8782" cy="684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 flipH="1">
            <a:off x="3595135" y="1401069"/>
            <a:ext cx="29957" cy="4107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>
            <a:off x="3589599" y="1481162"/>
            <a:ext cx="5493" cy="151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>
            <a:off x="3617768" y="1533754"/>
            <a:ext cx="20650" cy="2260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>
            <a:off x="3671534" y="1585968"/>
            <a:ext cx="28737" cy="2088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 flipV="1">
            <a:off x="3740370" y="1611743"/>
            <a:ext cx="28976" cy="467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 flipV="1">
            <a:off x="3804755" y="1574172"/>
            <a:ext cx="12066" cy="1613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 flipV="1">
            <a:off x="3842483" y="1483627"/>
            <a:ext cx="35643" cy="5403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 flipH="1" flipV="1">
            <a:off x="4652555" y="1446650"/>
            <a:ext cx="765" cy="3097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 flipH="1" flipV="1">
            <a:off x="4628390" y="1390646"/>
            <a:ext cx="10800" cy="1540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 flipH="1" flipV="1">
            <a:off x="4578778" y="1353256"/>
            <a:ext cx="16985" cy="882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 flipV="1">
            <a:off x="4536644" y="1343172"/>
            <a:ext cx="10652" cy="18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 flipH="1">
            <a:off x="4479318" y="1344493"/>
            <a:ext cx="23351" cy="97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 flipV="1">
            <a:off x="4439763" y="1358452"/>
            <a:ext cx="2572" cy="211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 flipH="1">
            <a:off x="4397638" y="1390234"/>
            <a:ext cx="13726" cy="1761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>
            <a:off x="4386555" y="1447629"/>
            <a:ext cx="826" cy="693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>
            <a:off x="4395199" y="1498443"/>
            <a:ext cx="5399" cy="2263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>
            <a:off x="4420610" y="1559475"/>
            <a:ext cx="5028" cy="565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>
            <a:off x="4455442" y="1598374"/>
            <a:ext cx="1115" cy="123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/>
          <p:cNvCxnSpPr/>
          <p:nvPr/>
        </p:nvCxnSpPr>
        <p:spPr>
          <a:xfrm flipV="1">
            <a:off x="4493770" y="1613612"/>
            <a:ext cx="7169" cy="62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 110"/>
          <p:cNvCxnSpPr/>
          <p:nvPr/>
        </p:nvCxnSpPr>
        <p:spPr>
          <a:xfrm flipV="1">
            <a:off x="4543664" y="1601805"/>
            <a:ext cx="2315" cy="100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 111"/>
          <p:cNvCxnSpPr/>
          <p:nvPr/>
        </p:nvCxnSpPr>
        <p:spPr>
          <a:xfrm flipV="1">
            <a:off x="4588419" y="1586578"/>
            <a:ext cx="12599" cy="231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 112"/>
          <p:cNvCxnSpPr/>
          <p:nvPr/>
        </p:nvCxnSpPr>
        <p:spPr>
          <a:xfrm flipV="1">
            <a:off x="4633616" y="1534313"/>
            <a:ext cx="15511" cy="2860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/>
          <p:cNvCxnSpPr/>
          <p:nvPr/>
        </p:nvCxnSpPr>
        <p:spPr>
          <a:xfrm flipH="1" flipV="1">
            <a:off x="4658138" y="1478519"/>
            <a:ext cx="625" cy="1386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Connector 114"/>
          <p:cNvCxnSpPr/>
          <p:nvPr/>
        </p:nvCxnSpPr>
        <p:spPr>
          <a:xfrm flipH="1" flipV="1">
            <a:off x="4255292" y="1750295"/>
            <a:ext cx="902" cy="4482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 115"/>
          <p:cNvCxnSpPr/>
          <p:nvPr/>
        </p:nvCxnSpPr>
        <p:spPr>
          <a:xfrm>
            <a:off x="4243574" y="1708705"/>
            <a:ext cx="872" cy="149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 116"/>
          <p:cNvCxnSpPr/>
          <p:nvPr/>
        </p:nvCxnSpPr>
        <p:spPr>
          <a:xfrm flipH="1" flipV="1">
            <a:off x="4181779" y="1672462"/>
            <a:ext cx="30387" cy="1091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 117"/>
          <p:cNvCxnSpPr/>
          <p:nvPr/>
        </p:nvCxnSpPr>
        <p:spPr>
          <a:xfrm>
            <a:off x="4138585" y="1662415"/>
            <a:ext cx="11552" cy="130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 118"/>
          <p:cNvCxnSpPr/>
          <p:nvPr/>
        </p:nvCxnSpPr>
        <p:spPr>
          <a:xfrm flipH="1">
            <a:off x="4096509" y="1662430"/>
            <a:ext cx="9152" cy="49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 119"/>
          <p:cNvCxnSpPr/>
          <p:nvPr/>
        </p:nvCxnSpPr>
        <p:spPr>
          <a:xfrm flipH="1">
            <a:off x="4049538" y="1674098"/>
            <a:ext cx="4699" cy="234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Connector 120"/>
          <p:cNvCxnSpPr/>
          <p:nvPr/>
        </p:nvCxnSpPr>
        <p:spPr>
          <a:xfrm flipH="1">
            <a:off x="4002376" y="1705967"/>
            <a:ext cx="16434" cy="2991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Connector 121"/>
          <p:cNvCxnSpPr/>
          <p:nvPr/>
        </p:nvCxnSpPr>
        <p:spPr>
          <a:xfrm flipH="1" flipV="1">
            <a:off x="3992281" y="1771930"/>
            <a:ext cx="230" cy="583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Connector 122"/>
          <p:cNvCxnSpPr/>
          <p:nvPr/>
        </p:nvCxnSpPr>
        <p:spPr>
          <a:xfrm flipH="1">
            <a:off x="3988897" y="1816415"/>
            <a:ext cx="1713" cy="1485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Connector 123"/>
          <p:cNvCxnSpPr/>
          <p:nvPr/>
        </p:nvCxnSpPr>
        <p:spPr>
          <a:xfrm>
            <a:off x="4002510" y="1868845"/>
            <a:ext cx="20942" cy="1994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 124"/>
          <p:cNvCxnSpPr/>
          <p:nvPr/>
        </p:nvCxnSpPr>
        <p:spPr>
          <a:xfrm>
            <a:off x="4060376" y="1912397"/>
            <a:ext cx="11962" cy="473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Connector 125"/>
          <p:cNvCxnSpPr/>
          <p:nvPr/>
        </p:nvCxnSpPr>
        <p:spPr>
          <a:xfrm flipH="1" flipV="1">
            <a:off x="4103991" y="1926559"/>
            <a:ext cx="11293" cy="125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Connector 126"/>
          <p:cNvCxnSpPr/>
          <p:nvPr/>
        </p:nvCxnSpPr>
        <p:spPr>
          <a:xfrm flipV="1">
            <a:off x="4147340" y="1920682"/>
            <a:ext cx="3660" cy="123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Connector 127"/>
          <p:cNvCxnSpPr/>
          <p:nvPr/>
        </p:nvCxnSpPr>
        <p:spPr>
          <a:xfrm flipV="1">
            <a:off x="4191447" y="1894433"/>
            <a:ext cx="13537" cy="789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Connector 128"/>
          <p:cNvCxnSpPr/>
          <p:nvPr/>
        </p:nvCxnSpPr>
        <p:spPr>
          <a:xfrm flipV="1">
            <a:off x="4235733" y="1843852"/>
            <a:ext cx="12077" cy="2017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" name="Connector 129"/>
          <p:cNvCxnSpPr/>
          <p:nvPr/>
        </p:nvCxnSpPr>
        <p:spPr>
          <a:xfrm flipV="1">
            <a:off x="4260590" y="1796009"/>
            <a:ext cx="378" cy="640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Connector 130"/>
          <p:cNvCxnSpPr/>
          <p:nvPr/>
        </p:nvCxnSpPr>
        <p:spPr>
          <a:xfrm>
            <a:off x="3865843" y="1472881"/>
            <a:ext cx="516727" cy="37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2" name="Freeform 131"/>
          <p:cNvSpPr/>
          <p:nvPr/>
        </p:nvSpPr>
        <p:spPr>
          <a:xfrm>
            <a:off x="3860800" y="14605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0" y="1"/>
                </a:moveTo>
                <a:lnTo>
                  <a:pt x="1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Freeform 132"/>
          <p:cNvSpPr/>
          <p:nvPr/>
        </p:nvSpPr>
        <p:spPr>
          <a:xfrm>
            <a:off x="4381500" y="14732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0"/>
                </a:move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4" name="Connector 133"/>
          <p:cNvCxnSpPr/>
          <p:nvPr/>
        </p:nvCxnSpPr>
        <p:spPr>
          <a:xfrm>
            <a:off x="3835362" y="1557638"/>
            <a:ext cx="182048" cy="14821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5" name="Freeform 134"/>
          <p:cNvSpPr/>
          <p:nvPr/>
        </p:nvSpPr>
        <p:spPr>
          <a:xfrm>
            <a:off x="3822700" y="15494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0" y="0"/>
                </a:moveTo>
                <a:lnTo>
                  <a:pt x="1" y="2"/>
                </a:lnTo>
                <a:lnTo>
                  <a:pt x="1" y="1"/>
                </a:lnTo>
                <a:lnTo>
                  <a:pt x="2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Freeform 135"/>
          <p:cNvSpPr/>
          <p:nvPr/>
        </p:nvSpPr>
        <p:spPr>
          <a:xfrm>
            <a:off x="4000500" y="1689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7" name="Connector 136"/>
          <p:cNvCxnSpPr/>
          <p:nvPr/>
        </p:nvCxnSpPr>
        <p:spPr>
          <a:xfrm flipH="1">
            <a:off x="4237495" y="1566004"/>
            <a:ext cx="176067" cy="14080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8" name="Freeform 137"/>
          <p:cNvSpPr/>
          <p:nvPr/>
        </p:nvSpPr>
        <p:spPr>
          <a:xfrm>
            <a:off x="4406900" y="15621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0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Freeform 138"/>
          <p:cNvSpPr/>
          <p:nvPr/>
        </p:nvSpPr>
        <p:spPr>
          <a:xfrm>
            <a:off x="4229100" y="17018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0" y="1"/>
                </a:moveTo>
                <a:lnTo>
                  <a:pt x="2" y="1"/>
                </a:lnTo>
                <a:lnTo>
                  <a:pt x="1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Freeform 139"/>
          <p:cNvSpPr/>
          <p:nvPr/>
        </p:nvSpPr>
        <p:spPr>
          <a:xfrm>
            <a:off x="3797300" y="14097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D95F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Freeform 140"/>
          <p:cNvSpPr/>
          <p:nvPr/>
        </p:nvSpPr>
        <p:spPr>
          <a:xfrm>
            <a:off x="4597400" y="14224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1B9E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Freeform 141"/>
          <p:cNvSpPr/>
          <p:nvPr/>
        </p:nvSpPr>
        <p:spPr>
          <a:xfrm>
            <a:off x="4203700" y="17399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1"/>
                </a:move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close/>
              </a:path>
            </a:pathLst>
          </a:custGeom>
          <a:solidFill>
            <a:srgbClr val="7570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Freeform 142"/>
          <p:cNvSpPr/>
          <p:nvPr/>
        </p:nvSpPr>
        <p:spPr>
          <a:xfrm>
            <a:off x="3721100" y="13843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D95F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Freeform 143"/>
          <p:cNvSpPr/>
          <p:nvPr/>
        </p:nvSpPr>
        <p:spPr>
          <a:xfrm>
            <a:off x="4508500" y="13843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1B9E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Freeform 144"/>
          <p:cNvSpPr/>
          <p:nvPr/>
        </p:nvSpPr>
        <p:spPr>
          <a:xfrm>
            <a:off x="4114800" y="1701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7570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Freeform 145"/>
          <p:cNvSpPr/>
          <p:nvPr/>
        </p:nvSpPr>
        <p:spPr>
          <a:xfrm>
            <a:off x="3619500" y="13970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1"/>
                </a:move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1"/>
                </a:lnTo>
                <a:lnTo>
                  <a:pt x="1" y="1"/>
                </a:lnTo>
                <a:close/>
              </a:path>
            </a:pathLst>
          </a:custGeom>
          <a:solidFill>
            <a:srgbClr val="D95F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Freeform 146"/>
          <p:cNvSpPr/>
          <p:nvPr/>
        </p:nvSpPr>
        <p:spPr>
          <a:xfrm>
            <a:off x="4406900" y="14097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1B9E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Freeform 147"/>
          <p:cNvSpPr/>
          <p:nvPr/>
        </p:nvSpPr>
        <p:spPr>
          <a:xfrm>
            <a:off x="4013200" y="17272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7570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Freeform 148"/>
          <p:cNvSpPr/>
          <p:nvPr/>
        </p:nvSpPr>
        <p:spPr>
          <a:xfrm>
            <a:off x="3632200" y="15113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D95F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Freeform 149"/>
          <p:cNvSpPr/>
          <p:nvPr/>
        </p:nvSpPr>
        <p:spPr>
          <a:xfrm>
            <a:off x="4432300" y="15113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1"/>
                </a:lnTo>
                <a:lnTo>
                  <a:pt x="2" y="1"/>
                </a:lnTo>
                <a:lnTo>
                  <a:pt x="1" y="1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1B9E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Freeform 150"/>
          <p:cNvSpPr/>
          <p:nvPr/>
        </p:nvSpPr>
        <p:spPr>
          <a:xfrm>
            <a:off x="4038600" y="18288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1"/>
                </a:move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close/>
              </a:path>
            </a:pathLst>
          </a:custGeom>
          <a:solidFill>
            <a:srgbClr val="7570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Freeform 151"/>
          <p:cNvSpPr/>
          <p:nvPr/>
        </p:nvSpPr>
        <p:spPr>
          <a:xfrm>
            <a:off x="3721100" y="15494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1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1"/>
                </a:lnTo>
                <a:lnTo>
                  <a:pt x="1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D95F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Freeform 152"/>
          <p:cNvSpPr/>
          <p:nvPr/>
        </p:nvSpPr>
        <p:spPr>
          <a:xfrm>
            <a:off x="4508500" y="15494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1B9E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Freeform 153"/>
          <p:cNvSpPr/>
          <p:nvPr/>
        </p:nvSpPr>
        <p:spPr>
          <a:xfrm>
            <a:off x="4114800" y="18669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7570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Freeform 154"/>
          <p:cNvSpPr/>
          <p:nvPr/>
        </p:nvSpPr>
        <p:spPr>
          <a:xfrm>
            <a:off x="3797300" y="15113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D95F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Freeform 155"/>
          <p:cNvSpPr/>
          <p:nvPr/>
        </p:nvSpPr>
        <p:spPr>
          <a:xfrm>
            <a:off x="4597400" y="15113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1"/>
                </a:lnTo>
                <a:lnTo>
                  <a:pt x="2" y="1"/>
                </a:lnTo>
                <a:lnTo>
                  <a:pt x="1" y="1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1B9E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Freeform 156"/>
          <p:cNvSpPr/>
          <p:nvPr/>
        </p:nvSpPr>
        <p:spPr>
          <a:xfrm>
            <a:off x="4203700" y="18288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1"/>
                </a:move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close/>
              </a:path>
            </a:pathLst>
          </a:custGeom>
          <a:solidFill>
            <a:srgbClr val="7570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Freeform 157"/>
          <p:cNvSpPr/>
          <p:nvPr/>
        </p:nvSpPr>
        <p:spPr>
          <a:xfrm>
            <a:off x="4191000" y="14605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D95F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Freeform 158"/>
          <p:cNvSpPr/>
          <p:nvPr/>
        </p:nvSpPr>
        <p:spPr>
          <a:xfrm>
            <a:off x="3962400" y="16510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1"/>
                </a:move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1"/>
                </a:lnTo>
                <a:lnTo>
                  <a:pt x="1" y="1"/>
                </a:lnTo>
                <a:close/>
              </a:path>
            </a:pathLst>
          </a:custGeom>
          <a:solidFill>
            <a:srgbClr val="D95F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Freeform 159"/>
          <p:cNvSpPr/>
          <p:nvPr/>
        </p:nvSpPr>
        <p:spPr>
          <a:xfrm>
            <a:off x="4038600" y="14605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1"/>
                </a:lnTo>
                <a:lnTo>
                  <a:pt x="2" y="1"/>
                </a:lnTo>
                <a:lnTo>
                  <a:pt x="1" y="1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1B9E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Freeform 160"/>
          <p:cNvSpPr/>
          <p:nvPr/>
        </p:nvSpPr>
        <p:spPr>
          <a:xfrm>
            <a:off x="4279900" y="16510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1"/>
                </a:move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1"/>
                </a:lnTo>
                <a:close/>
              </a:path>
            </a:pathLst>
          </a:custGeom>
          <a:solidFill>
            <a:srgbClr val="1B9E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Freeform 161"/>
          <p:cNvSpPr/>
          <p:nvPr/>
        </p:nvSpPr>
        <p:spPr>
          <a:xfrm>
            <a:off x="3873500" y="15875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7570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Freeform 162"/>
          <p:cNvSpPr/>
          <p:nvPr/>
        </p:nvSpPr>
        <p:spPr>
          <a:xfrm>
            <a:off x="4356100" y="15875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1"/>
                </a:lnTo>
                <a:lnTo>
                  <a:pt x="2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1"/>
                </a:lnTo>
                <a:close/>
              </a:path>
            </a:pathLst>
          </a:custGeom>
          <a:solidFill>
            <a:srgbClr val="7570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Rectangle 163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2880004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6" name="Picture 16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167" name="Picture 16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168" name="TextBox 167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GA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variants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918144" y="605756"/>
            <a:ext cx="386725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Variant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replacement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strategy,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652269" y="777828"/>
            <a:ext cx="413312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i.e.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how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offsprings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replace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parents.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226806" y="1133325"/>
            <a:ext cx="4558589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Generational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GA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2476156" y="2164285"/>
            <a:ext cx="3309239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Steady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state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GA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3878605" y="1133325"/>
            <a:ext cx="1906790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Island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GA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1135478" y="1772884"/>
            <a:ext cx="4649917" cy="8687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41" b="0">
                <a:solidFill>
                  <a:srgbClr val="000000"/>
                </a:solidFill>
                <a:latin typeface="Josefin Sans"/>
              </a:rPr>
              <a:t>Generation</a:t>
            </a:r>
            <a:r>
              <a:rPr sz="441" b="0">
                <a:solidFill>
                  <a:srgbClr val="000000"/>
                </a:solidFill>
                <a:latin typeface="Josefin Sans"/>
              </a:rPr>
              <a:t> </a:t>
            </a:r>
            <a:r>
              <a:rPr sz="441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838893" y="1772878"/>
            <a:ext cx="3946502" cy="8687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41" b="0">
                <a:solidFill>
                  <a:srgbClr val="000000"/>
                </a:solidFill>
                <a:latin typeface="Josefin Sans"/>
              </a:rPr>
              <a:t>Generation</a:t>
            </a:r>
            <a:r>
              <a:rPr sz="441" b="0">
                <a:solidFill>
                  <a:srgbClr val="000000"/>
                </a:solidFill>
                <a:latin typeface="Josefin Sans"/>
              </a:rPr>
              <a:t> </a:t>
            </a:r>
            <a:r>
              <a:rPr sz="441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2376344" y="2824330"/>
            <a:ext cx="3409051" cy="8687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41" b="0">
                <a:solidFill>
                  <a:srgbClr val="000000"/>
                </a:solidFill>
                <a:latin typeface="Josefin Sans"/>
              </a:rPr>
              <a:t>Generation</a:t>
            </a:r>
            <a:r>
              <a:rPr sz="441" b="0">
                <a:solidFill>
                  <a:srgbClr val="000000"/>
                </a:solidFill>
                <a:latin typeface="Josefin Sans"/>
              </a:rPr>
              <a:t> </a:t>
            </a:r>
            <a:r>
              <a:rPr sz="441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3079760" y="2824330"/>
            <a:ext cx="2705636" cy="8687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41" b="0">
                <a:solidFill>
                  <a:srgbClr val="000000"/>
                </a:solidFill>
                <a:latin typeface="Josefin Sans"/>
              </a:rPr>
              <a:t>Generation</a:t>
            </a:r>
            <a:r>
              <a:rPr sz="441" b="0">
                <a:solidFill>
                  <a:srgbClr val="000000"/>
                </a:solidFill>
                <a:latin typeface="Josefin Sans"/>
              </a:rPr>
              <a:t> </a:t>
            </a:r>
            <a:r>
              <a:rPr sz="441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3634625" y="1445682"/>
            <a:ext cx="2150770" cy="9472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81" b="0">
                <a:solidFill>
                  <a:srgbClr val="000000"/>
                </a:solidFill>
                <a:latin typeface="Josefin Sans"/>
              </a:rPr>
              <a:t>Island</a:t>
            </a:r>
            <a:r>
              <a:rPr sz="481" b="0">
                <a:solidFill>
                  <a:srgbClr val="000000"/>
                </a:solidFill>
                <a:latin typeface="Josefin Sans"/>
              </a:rPr>
              <a:t> </a:t>
            </a:r>
            <a:r>
              <a:rPr sz="481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4422774" y="1451402"/>
            <a:ext cx="1362621" cy="9472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81" b="0">
                <a:solidFill>
                  <a:srgbClr val="000000"/>
                </a:solidFill>
                <a:latin typeface="Josefin Sans"/>
              </a:rPr>
              <a:t>Island</a:t>
            </a:r>
            <a:r>
              <a:rPr sz="481" b="0">
                <a:solidFill>
                  <a:srgbClr val="000000"/>
                </a:solidFill>
                <a:latin typeface="Josefin Sans"/>
              </a:rPr>
              <a:t> </a:t>
            </a:r>
            <a:r>
              <a:rPr sz="481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4025369" y="1768897"/>
            <a:ext cx="1760026" cy="9472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81" b="0">
                <a:solidFill>
                  <a:srgbClr val="000000"/>
                </a:solidFill>
                <a:latin typeface="Josefin Sans"/>
              </a:rPr>
              <a:t>Island</a:t>
            </a:r>
            <a:r>
              <a:rPr sz="481" b="0">
                <a:solidFill>
                  <a:srgbClr val="000000"/>
                </a:solidFill>
                <a:latin typeface="Josefin Sans"/>
              </a:rPr>
              <a:t> </a:t>
            </a:r>
            <a:r>
              <a:rPr sz="481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000355" y="1392887"/>
            <a:ext cx="1785040" cy="9472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81" b="0">
                <a:solidFill>
                  <a:srgbClr val="000000"/>
                </a:solidFill>
                <a:latin typeface="Josefin Sans"/>
              </a:rPr>
              <a:t>migration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4898770" y="3150917"/>
            <a:ext cx="8866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5624105" y="3150693"/>
            <a:ext cx="16129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83</a:t>
            </a:r>
          </a:p>
        </p:txBody>
      </p:sp>
    </p:spTree>
  </p:cSld>
  <p:clrMapOvr>
    <a:masterClrMapping/>
  </p:clrMapOvr>
</p:sld>
</file>

<file path=ppt/slides/slide2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Freeform 35"/>
          <p:cNvSpPr/>
          <p:nvPr/>
        </p:nvSpPr>
        <p:spPr>
          <a:xfrm>
            <a:off x="2400300" y="1841500"/>
            <a:ext cx="139700" cy="127000"/>
          </a:xfrm>
          <a:custGeom>
            <a:avLst/>
            <a:gdLst/>
            <a:ahLst/>
            <a:cxnLst/>
            <a:rect l="l" t="t" r="r" b="b"/>
            <a:pathLst>
              <a:path w="11" h="10">
                <a:moveTo>
                  <a:pt x="11" y="5"/>
                </a:moveTo>
                <a:lnTo>
                  <a:pt x="11" y="4"/>
                </a:lnTo>
                <a:lnTo>
                  <a:pt x="10" y="3"/>
                </a:lnTo>
                <a:lnTo>
                  <a:pt x="10" y="2"/>
                </a:lnTo>
                <a:lnTo>
                  <a:pt x="9" y="1"/>
                </a:lnTo>
                <a:lnTo>
                  <a:pt x="9" y="1"/>
                </a:lnTo>
                <a:lnTo>
                  <a:pt x="8" y="0"/>
                </a:lnTo>
                <a:lnTo>
                  <a:pt x="7" y="0"/>
                </a:lnTo>
                <a:lnTo>
                  <a:pt x="6" y="0"/>
                </a:lnTo>
                <a:lnTo>
                  <a:pt x="5" y="0"/>
                </a:lnTo>
                <a:lnTo>
                  <a:pt x="4" y="0"/>
                </a:lnTo>
                <a:lnTo>
                  <a:pt x="3" y="1"/>
                </a:lnTo>
                <a:lnTo>
                  <a:pt x="2" y="1"/>
                </a:lnTo>
                <a:lnTo>
                  <a:pt x="1" y="2"/>
                </a:lnTo>
                <a:lnTo>
                  <a:pt x="1" y="3"/>
                </a:lnTo>
                <a:lnTo>
                  <a:pt x="1" y="4"/>
                </a:lnTo>
                <a:lnTo>
                  <a:pt x="0" y="5"/>
                </a:lnTo>
                <a:lnTo>
                  <a:pt x="1" y="6"/>
                </a:lnTo>
                <a:lnTo>
                  <a:pt x="1" y="7"/>
                </a:lnTo>
                <a:lnTo>
                  <a:pt x="1" y="8"/>
                </a:lnTo>
                <a:lnTo>
                  <a:pt x="2" y="9"/>
                </a:lnTo>
                <a:lnTo>
                  <a:pt x="3" y="9"/>
                </a:lnTo>
                <a:lnTo>
                  <a:pt x="4" y="10"/>
                </a:lnTo>
                <a:lnTo>
                  <a:pt x="5" y="10"/>
                </a:lnTo>
                <a:lnTo>
                  <a:pt x="6" y="10"/>
                </a:lnTo>
                <a:lnTo>
                  <a:pt x="7" y="10"/>
                </a:lnTo>
                <a:lnTo>
                  <a:pt x="8" y="10"/>
                </a:lnTo>
                <a:lnTo>
                  <a:pt x="9" y="9"/>
                </a:lnTo>
                <a:lnTo>
                  <a:pt x="9" y="9"/>
                </a:lnTo>
                <a:lnTo>
                  <a:pt x="10" y="8"/>
                </a:lnTo>
                <a:lnTo>
                  <a:pt x="10" y="7"/>
                </a:lnTo>
                <a:lnTo>
                  <a:pt x="11" y="6"/>
                </a:lnTo>
                <a:lnTo>
                  <a:pt x="11" y="5"/>
                </a:lnTo>
                <a:close/>
              </a:path>
            </a:pathLst>
          </a:custGeom>
          <a:solidFill>
            <a:srgbClr val="A676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2095500" y="1663700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0" h="10">
                <a:moveTo>
                  <a:pt x="10" y="5"/>
                </a:moveTo>
                <a:lnTo>
                  <a:pt x="10" y="4"/>
                </a:lnTo>
                <a:lnTo>
                  <a:pt x="10" y="3"/>
                </a:lnTo>
                <a:lnTo>
                  <a:pt x="9" y="2"/>
                </a:lnTo>
                <a:lnTo>
                  <a:pt x="9" y="1"/>
                </a:lnTo>
                <a:lnTo>
                  <a:pt x="8" y="0"/>
                </a:lnTo>
                <a:lnTo>
                  <a:pt x="7" y="0"/>
                </a:lnTo>
                <a:lnTo>
                  <a:pt x="6" y="0"/>
                </a:lnTo>
                <a:lnTo>
                  <a:pt x="5" y="0"/>
                </a:lnTo>
                <a:lnTo>
                  <a:pt x="4" y="0"/>
                </a:lnTo>
                <a:lnTo>
                  <a:pt x="3" y="0"/>
                </a:lnTo>
                <a:lnTo>
                  <a:pt x="2" y="0"/>
                </a:lnTo>
                <a:lnTo>
                  <a:pt x="1" y="1"/>
                </a:lnTo>
                <a:lnTo>
                  <a:pt x="1" y="2"/>
                </a:lnTo>
                <a:lnTo>
                  <a:pt x="0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0" y="7"/>
                </a:lnTo>
                <a:lnTo>
                  <a:pt x="1" y="8"/>
                </a:lnTo>
                <a:lnTo>
                  <a:pt x="1" y="8"/>
                </a:lnTo>
                <a:lnTo>
                  <a:pt x="2" y="9"/>
                </a:lnTo>
                <a:lnTo>
                  <a:pt x="3" y="9"/>
                </a:lnTo>
                <a:lnTo>
                  <a:pt x="4" y="10"/>
                </a:lnTo>
                <a:lnTo>
                  <a:pt x="5" y="10"/>
                </a:lnTo>
                <a:lnTo>
                  <a:pt x="6" y="10"/>
                </a:lnTo>
                <a:lnTo>
                  <a:pt x="7" y="9"/>
                </a:lnTo>
                <a:lnTo>
                  <a:pt x="8" y="9"/>
                </a:lnTo>
                <a:lnTo>
                  <a:pt x="9" y="8"/>
                </a:lnTo>
                <a:lnTo>
                  <a:pt x="9" y="8"/>
                </a:lnTo>
                <a:lnTo>
                  <a:pt x="10" y="7"/>
                </a:lnTo>
                <a:lnTo>
                  <a:pt x="10" y="6"/>
                </a:lnTo>
                <a:lnTo>
                  <a:pt x="10" y="5"/>
                </a:lnTo>
                <a:close/>
              </a:path>
            </a:pathLst>
          </a:custGeom>
          <a:solidFill>
            <a:srgbClr val="A676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1778000" y="1841500"/>
            <a:ext cx="139700" cy="127000"/>
          </a:xfrm>
          <a:custGeom>
            <a:avLst/>
            <a:gdLst/>
            <a:ahLst/>
            <a:cxnLst/>
            <a:rect l="l" t="t" r="r" b="b"/>
            <a:pathLst>
              <a:path w="11" h="10">
                <a:moveTo>
                  <a:pt x="11" y="5"/>
                </a:moveTo>
                <a:lnTo>
                  <a:pt x="11" y="4"/>
                </a:lnTo>
                <a:lnTo>
                  <a:pt x="10" y="3"/>
                </a:lnTo>
                <a:lnTo>
                  <a:pt x="10" y="2"/>
                </a:lnTo>
                <a:lnTo>
                  <a:pt x="9" y="1"/>
                </a:lnTo>
                <a:lnTo>
                  <a:pt x="8" y="1"/>
                </a:lnTo>
                <a:lnTo>
                  <a:pt x="8" y="0"/>
                </a:lnTo>
                <a:lnTo>
                  <a:pt x="7" y="0"/>
                </a:lnTo>
                <a:lnTo>
                  <a:pt x="6" y="0"/>
                </a:lnTo>
                <a:lnTo>
                  <a:pt x="4" y="0"/>
                </a:lnTo>
                <a:lnTo>
                  <a:pt x="4" y="0"/>
                </a:lnTo>
                <a:lnTo>
                  <a:pt x="3" y="1"/>
                </a:lnTo>
                <a:lnTo>
                  <a:pt x="2" y="1"/>
                </a:lnTo>
                <a:lnTo>
                  <a:pt x="1" y="2"/>
                </a:lnTo>
                <a:lnTo>
                  <a:pt x="1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1" y="7"/>
                </a:lnTo>
                <a:lnTo>
                  <a:pt x="1" y="8"/>
                </a:lnTo>
                <a:lnTo>
                  <a:pt x="2" y="9"/>
                </a:lnTo>
                <a:lnTo>
                  <a:pt x="3" y="9"/>
                </a:lnTo>
                <a:lnTo>
                  <a:pt x="4" y="10"/>
                </a:lnTo>
                <a:lnTo>
                  <a:pt x="4" y="10"/>
                </a:lnTo>
                <a:lnTo>
                  <a:pt x="6" y="10"/>
                </a:lnTo>
                <a:lnTo>
                  <a:pt x="7" y="10"/>
                </a:lnTo>
                <a:lnTo>
                  <a:pt x="8" y="10"/>
                </a:lnTo>
                <a:lnTo>
                  <a:pt x="8" y="9"/>
                </a:lnTo>
                <a:lnTo>
                  <a:pt x="9" y="9"/>
                </a:lnTo>
                <a:lnTo>
                  <a:pt x="10" y="8"/>
                </a:lnTo>
                <a:lnTo>
                  <a:pt x="10" y="7"/>
                </a:lnTo>
                <a:lnTo>
                  <a:pt x="11" y="6"/>
                </a:lnTo>
                <a:lnTo>
                  <a:pt x="11" y="5"/>
                </a:lnTo>
                <a:close/>
              </a:path>
            </a:pathLst>
          </a:custGeom>
          <a:solidFill>
            <a:srgbClr val="A676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Freeform 38"/>
          <p:cNvSpPr/>
          <p:nvPr/>
        </p:nvSpPr>
        <p:spPr>
          <a:xfrm>
            <a:off x="1778000" y="2197100"/>
            <a:ext cx="139700" cy="127000"/>
          </a:xfrm>
          <a:custGeom>
            <a:avLst/>
            <a:gdLst/>
            <a:ahLst/>
            <a:cxnLst/>
            <a:rect l="l" t="t" r="r" b="b"/>
            <a:pathLst>
              <a:path w="11" h="10">
                <a:moveTo>
                  <a:pt x="11" y="5"/>
                </a:moveTo>
                <a:lnTo>
                  <a:pt x="11" y="4"/>
                </a:lnTo>
                <a:lnTo>
                  <a:pt x="10" y="3"/>
                </a:lnTo>
                <a:lnTo>
                  <a:pt x="10" y="2"/>
                </a:lnTo>
                <a:lnTo>
                  <a:pt x="9" y="2"/>
                </a:lnTo>
                <a:lnTo>
                  <a:pt x="8" y="1"/>
                </a:lnTo>
                <a:lnTo>
                  <a:pt x="8" y="1"/>
                </a:lnTo>
                <a:lnTo>
                  <a:pt x="7" y="0"/>
                </a:lnTo>
                <a:lnTo>
                  <a:pt x="6" y="0"/>
                </a:lnTo>
                <a:lnTo>
                  <a:pt x="4" y="0"/>
                </a:lnTo>
                <a:lnTo>
                  <a:pt x="4" y="1"/>
                </a:lnTo>
                <a:lnTo>
                  <a:pt x="3" y="1"/>
                </a:lnTo>
                <a:lnTo>
                  <a:pt x="2" y="2"/>
                </a:lnTo>
                <a:lnTo>
                  <a:pt x="1" y="2"/>
                </a:lnTo>
                <a:lnTo>
                  <a:pt x="1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1" y="7"/>
                </a:lnTo>
                <a:lnTo>
                  <a:pt x="1" y="8"/>
                </a:lnTo>
                <a:lnTo>
                  <a:pt x="2" y="9"/>
                </a:lnTo>
                <a:lnTo>
                  <a:pt x="3" y="10"/>
                </a:lnTo>
                <a:lnTo>
                  <a:pt x="4" y="10"/>
                </a:lnTo>
                <a:lnTo>
                  <a:pt x="4" y="10"/>
                </a:lnTo>
                <a:lnTo>
                  <a:pt x="6" y="10"/>
                </a:lnTo>
                <a:lnTo>
                  <a:pt x="7" y="10"/>
                </a:lnTo>
                <a:lnTo>
                  <a:pt x="8" y="10"/>
                </a:lnTo>
                <a:lnTo>
                  <a:pt x="8" y="10"/>
                </a:lnTo>
                <a:lnTo>
                  <a:pt x="9" y="9"/>
                </a:lnTo>
                <a:lnTo>
                  <a:pt x="10" y="8"/>
                </a:lnTo>
                <a:lnTo>
                  <a:pt x="10" y="7"/>
                </a:lnTo>
                <a:lnTo>
                  <a:pt x="11" y="6"/>
                </a:lnTo>
                <a:lnTo>
                  <a:pt x="11" y="5"/>
                </a:lnTo>
                <a:close/>
              </a:path>
            </a:pathLst>
          </a:custGeom>
          <a:solidFill>
            <a:srgbClr val="A676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2095500" y="2374900"/>
            <a:ext cx="127000" cy="139700"/>
          </a:xfrm>
          <a:custGeom>
            <a:avLst/>
            <a:gdLst/>
            <a:ahLst/>
            <a:cxnLst/>
            <a:rect l="l" t="t" r="r" b="b"/>
            <a:pathLst>
              <a:path w="10" h="11">
                <a:moveTo>
                  <a:pt x="10" y="5"/>
                </a:moveTo>
                <a:lnTo>
                  <a:pt x="10" y="4"/>
                </a:lnTo>
                <a:lnTo>
                  <a:pt x="10" y="3"/>
                </a:lnTo>
                <a:lnTo>
                  <a:pt x="9" y="3"/>
                </a:lnTo>
                <a:lnTo>
                  <a:pt x="9" y="2"/>
                </a:lnTo>
                <a:lnTo>
                  <a:pt x="8" y="1"/>
                </a:lnTo>
                <a:lnTo>
                  <a:pt x="7" y="1"/>
                </a:lnTo>
                <a:lnTo>
                  <a:pt x="6" y="0"/>
                </a:lnTo>
                <a:lnTo>
                  <a:pt x="5" y="0"/>
                </a:lnTo>
                <a:lnTo>
                  <a:pt x="4" y="0"/>
                </a:lnTo>
                <a:lnTo>
                  <a:pt x="3" y="1"/>
                </a:lnTo>
                <a:lnTo>
                  <a:pt x="2" y="1"/>
                </a:lnTo>
                <a:lnTo>
                  <a:pt x="1" y="2"/>
                </a:lnTo>
                <a:lnTo>
                  <a:pt x="1" y="3"/>
                </a:lnTo>
                <a:lnTo>
                  <a:pt x="0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0" y="7"/>
                </a:lnTo>
                <a:lnTo>
                  <a:pt x="1" y="8"/>
                </a:lnTo>
                <a:lnTo>
                  <a:pt x="1" y="9"/>
                </a:lnTo>
                <a:lnTo>
                  <a:pt x="2" y="10"/>
                </a:lnTo>
                <a:lnTo>
                  <a:pt x="3" y="10"/>
                </a:lnTo>
                <a:lnTo>
                  <a:pt x="4" y="10"/>
                </a:lnTo>
                <a:lnTo>
                  <a:pt x="5" y="11"/>
                </a:lnTo>
                <a:lnTo>
                  <a:pt x="6" y="10"/>
                </a:lnTo>
                <a:lnTo>
                  <a:pt x="7" y="10"/>
                </a:lnTo>
                <a:lnTo>
                  <a:pt x="8" y="10"/>
                </a:lnTo>
                <a:lnTo>
                  <a:pt x="9" y="9"/>
                </a:lnTo>
                <a:lnTo>
                  <a:pt x="9" y="8"/>
                </a:lnTo>
                <a:lnTo>
                  <a:pt x="10" y="7"/>
                </a:lnTo>
                <a:lnTo>
                  <a:pt x="10" y="6"/>
                </a:lnTo>
                <a:lnTo>
                  <a:pt x="10" y="5"/>
                </a:lnTo>
                <a:close/>
              </a:path>
            </a:pathLst>
          </a:custGeom>
          <a:solidFill>
            <a:srgbClr val="A676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2400300" y="2197100"/>
            <a:ext cx="139700" cy="127000"/>
          </a:xfrm>
          <a:custGeom>
            <a:avLst/>
            <a:gdLst/>
            <a:ahLst/>
            <a:cxnLst/>
            <a:rect l="l" t="t" r="r" b="b"/>
            <a:pathLst>
              <a:path w="11" h="10">
                <a:moveTo>
                  <a:pt x="11" y="5"/>
                </a:moveTo>
                <a:lnTo>
                  <a:pt x="11" y="4"/>
                </a:lnTo>
                <a:lnTo>
                  <a:pt x="10" y="3"/>
                </a:lnTo>
                <a:lnTo>
                  <a:pt x="10" y="2"/>
                </a:lnTo>
                <a:lnTo>
                  <a:pt x="9" y="2"/>
                </a:lnTo>
                <a:lnTo>
                  <a:pt x="9" y="1"/>
                </a:lnTo>
                <a:lnTo>
                  <a:pt x="8" y="1"/>
                </a:lnTo>
                <a:lnTo>
                  <a:pt x="7" y="0"/>
                </a:lnTo>
                <a:lnTo>
                  <a:pt x="6" y="0"/>
                </a:lnTo>
                <a:lnTo>
                  <a:pt x="5" y="0"/>
                </a:lnTo>
                <a:lnTo>
                  <a:pt x="4" y="1"/>
                </a:lnTo>
                <a:lnTo>
                  <a:pt x="3" y="1"/>
                </a:lnTo>
                <a:lnTo>
                  <a:pt x="2" y="2"/>
                </a:lnTo>
                <a:lnTo>
                  <a:pt x="1" y="2"/>
                </a:lnTo>
                <a:lnTo>
                  <a:pt x="1" y="3"/>
                </a:lnTo>
                <a:lnTo>
                  <a:pt x="1" y="4"/>
                </a:lnTo>
                <a:lnTo>
                  <a:pt x="0" y="5"/>
                </a:lnTo>
                <a:lnTo>
                  <a:pt x="1" y="6"/>
                </a:lnTo>
                <a:lnTo>
                  <a:pt x="1" y="7"/>
                </a:lnTo>
                <a:lnTo>
                  <a:pt x="1" y="8"/>
                </a:lnTo>
                <a:lnTo>
                  <a:pt x="2" y="9"/>
                </a:lnTo>
                <a:lnTo>
                  <a:pt x="3" y="10"/>
                </a:lnTo>
                <a:lnTo>
                  <a:pt x="4" y="10"/>
                </a:lnTo>
                <a:lnTo>
                  <a:pt x="5" y="10"/>
                </a:lnTo>
                <a:lnTo>
                  <a:pt x="6" y="10"/>
                </a:lnTo>
                <a:lnTo>
                  <a:pt x="7" y="10"/>
                </a:lnTo>
                <a:lnTo>
                  <a:pt x="8" y="10"/>
                </a:lnTo>
                <a:lnTo>
                  <a:pt x="9" y="10"/>
                </a:lnTo>
                <a:lnTo>
                  <a:pt x="9" y="9"/>
                </a:lnTo>
                <a:lnTo>
                  <a:pt x="10" y="8"/>
                </a:lnTo>
                <a:lnTo>
                  <a:pt x="10" y="7"/>
                </a:lnTo>
                <a:lnTo>
                  <a:pt x="11" y="6"/>
                </a:lnTo>
                <a:lnTo>
                  <a:pt x="11" y="5"/>
                </a:lnTo>
                <a:close/>
              </a:path>
            </a:pathLst>
          </a:custGeom>
          <a:solidFill>
            <a:srgbClr val="A676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Freeform 41"/>
          <p:cNvSpPr/>
          <p:nvPr/>
        </p:nvSpPr>
        <p:spPr>
          <a:xfrm>
            <a:off x="2273300" y="2019300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0" h="10">
                <a:moveTo>
                  <a:pt x="10" y="5"/>
                </a:moveTo>
                <a:lnTo>
                  <a:pt x="10" y="4"/>
                </a:lnTo>
                <a:lnTo>
                  <a:pt x="10" y="3"/>
                </a:lnTo>
                <a:lnTo>
                  <a:pt x="10" y="2"/>
                </a:lnTo>
                <a:lnTo>
                  <a:pt x="9" y="1"/>
                </a:lnTo>
                <a:lnTo>
                  <a:pt x="8" y="1"/>
                </a:lnTo>
                <a:lnTo>
                  <a:pt x="7" y="0"/>
                </a:lnTo>
                <a:lnTo>
                  <a:pt x="6" y="0"/>
                </a:lnTo>
                <a:lnTo>
                  <a:pt x="5" y="0"/>
                </a:lnTo>
                <a:lnTo>
                  <a:pt x="4" y="0"/>
                </a:lnTo>
                <a:lnTo>
                  <a:pt x="3" y="0"/>
                </a:lnTo>
                <a:lnTo>
                  <a:pt x="2" y="1"/>
                </a:lnTo>
                <a:lnTo>
                  <a:pt x="2" y="1"/>
                </a:lnTo>
                <a:lnTo>
                  <a:pt x="1" y="2"/>
                </a:lnTo>
                <a:lnTo>
                  <a:pt x="1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1" y="7"/>
                </a:lnTo>
                <a:lnTo>
                  <a:pt x="1" y="8"/>
                </a:lnTo>
                <a:lnTo>
                  <a:pt x="2" y="9"/>
                </a:lnTo>
                <a:lnTo>
                  <a:pt x="2" y="9"/>
                </a:lnTo>
                <a:lnTo>
                  <a:pt x="3" y="10"/>
                </a:lnTo>
                <a:lnTo>
                  <a:pt x="4" y="10"/>
                </a:lnTo>
                <a:lnTo>
                  <a:pt x="5" y="10"/>
                </a:lnTo>
                <a:lnTo>
                  <a:pt x="6" y="10"/>
                </a:lnTo>
                <a:lnTo>
                  <a:pt x="7" y="10"/>
                </a:lnTo>
                <a:lnTo>
                  <a:pt x="8" y="9"/>
                </a:lnTo>
                <a:lnTo>
                  <a:pt x="9" y="9"/>
                </a:lnTo>
                <a:lnTo>
                  <a:pt x="10" y="8"/>
                </a:lnTo>
                <a:lnTo>
                  <a:pt x="10" y="7"/>
                </a:lnTo>
                <a:lnTo>
                  <a:pt x="10" y="6"/>
                </a:lnTo>
                <a:lnTo>
                  <a:pt x="10" y="5"/>
                </a:lnTo>
                <a:close/>
              </a:path>
            </a:pathLst>
          </a:custGeom>
          <a:solidFill>
            <a:srgbClr val="66A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Freeform 42"/>
          <p:cNvSpPr/>
          <p:nvPr/>
        </p:nvSpPr>
        <p:spPr>
          <a:xfrm>
            <a:off x="2184400" y="1866900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0" h="10">
                <a:moveTo>
                  <a:pt x="10" y="5"/>
                </a:moveTo>
                <a:lnTo>
                  <a:pt x="10" y="4"/>
                </a:lnTo>
                <a:lnTo>
                  <a:pt x="10" y="3"/>
                </a:lnTo>
                <a:lnTo>
                  <a:pt x="9" y="2"/>
                </a:lnTo>
                <a:lnTo>
                  <a:pt x="9" y="1"/>
                </a:lnTo>
                <a:lnTo>
                  <a:pt x="8" y="1"/>
                </a:lnTo>
                <a:lnTo>
                  <a:pt x="7" y="0"/>
                </a:lnTo>
                <a:lnTo>
                  <a:pt x="6" y="0"/>
                </a:lnTo>
                <a:lnTo>
                  <a:pt x="5" y="0"/>
                </a:lnTo>
                <a:lnTo>
                  <a:pt x="4" y="0"/>
                </a:lnTo>
                <a:lnTo>
                  <a:pt x="3" y="0"/>
                </a:lnTo>
                <a:lnTo>
                  <a:pt x="2" y="1"/>
                </a:lnTo>
                <a:lnTo>
                  <a:pt x="2" y="1"/>
                </a:lnTo>
                <a:lnTo>
                  <a:pt x="1" y="2"/>
                </a:lnTo>
                <a:lnTo>
                  <a:pt x="0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0" y="7"/>
                </a:lnTo>
                <a:lnTo>
                  <a:pt x="1" y="8"/>
                </a:lnTo>
                <a:lnTo>
                  <a:pt x="2" y="8"/>
                </a:lnTo>
                <a:lnTo>
                  <a:pt x="2" y="9"/>
                </a:lnTo>
                <a:lnTo>
                  <a:pt x="3" y="10"/>
                </a:lnTo>
                <a:lnTo>
                  <a:pt x="4" y="10"/>
                </a:lnTo>
                <a:lnTo>
                  <a:pt x="5" y="10"/>
                </a:lnTo>
                <a:lnTo>
                  <a:pt x="6" y="10"/>
                </a:lnTo>
                <a:lnTo>
                  <a:pt x="7" y="10"/>
                </a:lnTo>
                <a:lnTo>
                  <a:pt x="8" y="9"/>
                </a:lnTo>
                <a:lnTo>
                  <a:pt x="9" y="8"/>
                </a:lnTo>
                <a:lnTo>
                  <a:pt x="9" y="8"/>
                </a:lnTo>
                <a:lnTo>
                  <a:pt x="10" y="7"/>
                </a:lnTo>
                <a:lnTo>
                  <a:pt x="10" y="6"/>
                </a:lnTo>
                <a:lnTo>
                  <a:pt x="10" y="5"/>
                </a:lnTo>
                <a:close/>
              </a:path>
            </a:pathLst>
          </a:custGeom>
          <a:solidFill>
            <a:srgbClr val="66A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Freeform 43"/>
          <p:cNvSpPr/>
          <p:nvPr/>
        </p:nvSpPr>
        <p:spPr>
          <a:xfrm>
            <a:off x="2006600" y="1866900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0" h="10">
                <a:moveTo>
                  <a:pt x="10" y="5"/>
                </a:moveTo>
                <a:lnTo>
                  <a:pt x="10" y="4"/>
                </a:lnTo>
                <a:lnTo>
                  <a:pt x="10" y="3"/>
                </a:lnTo>
                <a:lnTo>
                  <a:pt x="9" y="2"/>
                </a:lnTo>
                <a:lnTo>
                  <a:pt x="9" y="1"/>
                </a:lnTo>
                <a:lnTo>
                  <a:pt x="8" y="1"/>
                </a:lnTo>
                <a:lnTo>
                  <a:pt x="7" y="0"/>
                </a:lnTo>
                <a:lnTo>
                  <a:pt x="6" y="0"/>
                </a:lnTo>
                <a:lnTo>
                  <a:pt x="5" y="0"/>
                </a:lnTo>
                <a:lnTo>
                  <a:pt x="4" y="0"/>
                </a:lnTo>
                <a:lnTo>
                  <a:pt x="3" y="0"/>
                </a:lnTo>
                <a:lnTo>
                  <a:pt x="2" y="1"/>
                </a:lnTo>
                <a:lnTo>
                  <a:pt x="1" y="1"/>
                </a:lnTo>
                <a:lnTo>
                  <a:pt x="1" y="2"/>
                </a:lnTo>
                <a:lnTo>
                  <a:pt x="0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0" y="7"/>
                </a:lnTo>
                <a:lnTo>
                  <a:pt x="1" y="8"/>
                </a:lnTo>
                <a:lnTo>
                  <a:pt x="1" y="8"/>
                </a:lnTo>
                <a:lnTo>
                  <a:pt x="2" y="9"/>
                </a:lnTo>
                <a:lnTo>
                  <a:pt x="3" y="10"/>
                </a:lnTo>
                <a:lnTo>
                  <a:pt x="4" y="10"/>
                </a:lnTo>
                <a:lnTo>
                  <a:pt x="5" y="10"/>
                </a:lnTo>
                <a:lnTo>
                  <a:pt x="6" y="10"/>
                </a:lnTo>
                <a:lnTo>
                  <a:pt x="7" y="10"/>
                </a:lnTo>
                <a:lnTo>
                  <a:pt x="8" y="9"/>
                </a:lnTo>
                <a:lnTo>
                  <a:pt x="9" y="8"/>
                </a:lnTo>
                <a:lnTo>
                  <a:pt x="9" y="8"/>
                </a:lnTo>
                <a:lnTo>
                  <a:pt x="10" y="7"/>
                </a:lnTo>
                <a:lnTo>
                  <a:pt x="10" y="6"/>
                </a:lnTo>
                <a:lnTo>
                  <a:pt x="10" y="5"/>
                </a:lnTo>
                <a:close/>
              </a:path>
            </a:pathLst>
          </a:custGeom>
          <a:solidFill>
            <a:srgbClr val="66A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Freeform 44"/>
          <p:cNvSpPr/>
          <p:nvPr/>
        </p:nvSpPr>
        <p:spPr>
          <a:xfrm>
            <a:off x="1917700" y="2019300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0" h="10">
                <a:moveTo>
                  <a:pt x="10" y="5"/>
                </a:moveTo>
                <a:lnTo>
                  <a:pt x="10" y="4"/>
                </a:lnTo>
                <a:lnTo>
                  <a:pt x="10" y="3"/>
                </a:lnTo>
                <a:lnTo>
                  <a:pt x="9" y="2"/>
                </a:lnTo>
                <a:lnTo>
                  <a:pt x="9" y="1"/>
                </a:lnTo>
                <a:lnTo>
                  <a:pt x="8" y="1"/>
                </a:lnTo>
                <a:lnTo>
                  <a:pt x="7" y="0"/>
                </a:lnTo>
                <a:lnTo>
                  <a:pt x="6" y="0"/>
                </a:lnTo>
                <a:lnTo>
                  <a:pt x="5" y="0"/>
                </a:lnTo>
                <a:lnTo>
                  <a:pt x="4" y="0"/>
                </a:lnTo>
                <a:lnTo>
                  <a:pt x="3" y="0"/>
                </a:lnTo>
                <a:lnTo>
                  <a:pt x="2" y="1"/>
                </a:lnTo>
                <a:lnTo>
                  <a:pt x="1" y="1"/>
                </a:lnTo>
                <a:lnTo>
                  <a:pt x="1" y="2"/>
                </a:lnTo>
                <a:lnTo>
                  <a:pt x="0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0" y="7"/>
                </a:lnTo>
                <a:lnTo>
                  <a:pt x="1" y="8"/>
                </a:lnTo>
                <a:lnTo>
                  <a:pt x="1" y="9"/>
                </a:lnTo>
                <a:lnTo>
                  <a:pt x="2" y="9"/>
                </a:lnTo>
                <a:lnTo>
                  <a:pt x="3" y="10"/>
                </a:lnTo>
                <a:lnTo>
                  <a:pt x="4" y="10"/>
                </a:lnTo>
                <a:lnTo>
                  <a:pt x="5" y="10"/>
                </a:lnTo>
                <a:lnTo>
                  <a:pt x="6" y="10"/>
                </a:lnTo>
                <a:lnTo>
                  <a:pt x="7" y="10"/>
                </a:lnTo>
                <a:lnTo>
                  <a:pt x="8" y="9"/>
                </a:lnTo>
                <a:lnTo>
                  <a:pt x="9" y="9"/>
                </a:lnTo>
                <a:lnTo>
                  <a:pt x="9" y="8"/>
                </a:lnTo>
                <a:lnTo>
                  <a:pt x="10" y="7"/>
                </a:lnTo>
                <a:lnTo>
                  <a:pt x="10" y="6"/>
                </a:lnTo>
                <a:lnTo>
                  <a:pt x="10" y="5"/>
                </a:lnTo>
                <a:close/>
              </a:path>
            </a:pathLst>
          </a:custGeom>
          <a:solidFill>
            <a:srgbClr val="66A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Freeform 45"/>
          <p:cNvSpPr/>
          <p:nvPr/>
        </p:nvSpPr>
        <p:spPr>
          <a:xfrm>
            <a:off x="2006600" y="2171700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0" h="10">
                <a:moveTo>
                  <a:pt x="10" y="5"/>
                </a:moveTo>
                <a:lnTo>
                  <a:pt x="10" y="4"/>
                </a:lnTo>
                <a:lnTo>
                  <a:pt x="10" y="3"/>
                </a:lnTo>
                <a:lnTo>
                  <a:pt x="9" y="2"/>
                </a:lnTo>
                <a:lnTo>
                  <a:pt x="9" y="2"/>
                </a:lnTo>
                <a:lnTo>
                  <a:pt x="8" y="1"/>
                </a:lnTo>
                <a:lnTo>
                  <a:pt x="7" y="1"/>
                </a:lnTo>
                <a:lnTo>
                  <a:pt x="6" y="0"/>
                </a:lnTo>
                <a:lnTo>
                  <a:pt x="5" y="0"/>
                </a:lnTo>
                <a:lnTo>
                  <a:pt x="4" y="0"/>
                </a:lnTo>
                <a:lnTo>
                  <a:pt x="3" y="1"/>
                </a:lnTo>
                <a:lnTo>
                  <a:pt x="2" y="1"/>
                </a:lnTo>
                <a:lnTo>
                  <a:pt x="1" y="2"/>
                </a:lnTo>
                <a:lnTo>
                  <a:pt x="1" y="2"/>
                </a:lnTo>
                <a:lnTo>
                  <a:pt x="0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0" y="7"/>
                </a:lnTo>
                <a:lnTo>
                  <a:pt x="1" y="8"/>
                </a:lnTo>
                <a:lnTo>
                  <a:pt x="1" y="9"/>
                </a:lnTo>
                <a:lnTo>
                  <a:pt x="2" y="10"/>
                </a:lnTo>
                <a:lnTo>
                  <a:pt x="3" y="10"/>
                </a:lnTo>
                <a:lnTo>
                  <a:pt x="4" y="10"/>
                </a:lnTo>
                <a:lnTo>
                  <a:pt x="5" y="10"/>
                </a:lnTo>
                <a:lnTo>
                  <a:pt x="6" y="10"/>
                </a:lnTo>
                <a:lnTo>
                  <a:pt x="7" y="10"/>
                </a:lnTo>
                <a:lnTo>
                  <a:pt x="8" y="10"/>
                </a:lnTo>
                <a:lnTo>
                  <a:pt x="9" y="9"/>
                </a:lnTo>
                <a:lnTo>
                  <a:pt x="9" y="8"/>
                </a:lnTo>
                <a:lnTo>
                  <a:pt x="10" y="7"/>
                </a:lnTo>
                <a:lnTo>
                  <a:pt x="10" y="6"/>
                </a:lnTo>
                <a:lnTo>
                  <a:pt x="10" y="5"/>
                </a:lnTo>
                <a:close/>
              </a:path>
            </a:pathLst>
          </a:custGeom>
          <a:solidFill>
            <a:srgbClr val="66A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2184400" y="2171700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0" h="10">
                <a:moveTo>
                  <a:pt x="10" y="5"/>
                </a:moveTo>
                <a:lnTo>
                  <a:pt x="10" y="4"/>
                </a:lnTo>
                <a:lnTo>
                  <a:pt x="10" y="3"/>
                </a:lnTo>
                <a:lnTo>
                  <a:pt x="9" y="2"/>
                </a:lnTo>
                <a:lnTo>
                  <a:pt x="9" y="2"/>
                </a:lnTo>
                <a:lnTo>
                  <a:pt x="8" y="1"/>
                </a:lnTo>
                <a:lnTo>
                  <a:pt x="7" y="1"/>
                </a:lnTo>
                <a:lnTo>
                  <a:pt x="6" y="0"/>
                </a:lnTo>
                <a:lnTo>
                  <a:pt x="5" y="0"/>
                </a:lnTo>
                <a:lnTo>
                  <a:pt x="4" y="0"/>
                </a:lnTo>
                <a:lnTo>
                  <a:pt x="3" y="1"/>
                </a:lnTo>
                <a:lnTo>
                  <a:pt x="2" y="1"/>
                </a:lnTo>
                <a:lnTo>
                  <a:pt x="2" y="2"/>
                </a:lnTo>
                <a:lnTo>
                  <a:pt x="1" y="2"/>
                </a:lnTo>
                <a:lnTo>
                  <a:pt x="0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0" y="7"/>
                </a:lnTo>
                <a:lnTo>
                  <a:pt x="1" y="8"/>
                </a:lnTo>
                <a:lnTo>
                  <a:pt x="2" y="9"/>
                </a:lnTo>
                <a:lnTo>
                  <a:pt x="2" y="10"/>
                </a:lnTo>
                <a:lnTo>
                  <a:pt x="3" y="10"/>
                </a:lnTo>
                <a:lnTo>
                  <a:pt x="4" y="10"/>
                </a:lnTo>
                <a:lnTo>
                  <a:pt x="5" y="10"/>
                </a:lnTo>
                <a:lnTo>
                  <a:pt x="6" y="10"/>
                </a:lnTo>
                <a:lnTo>
                  <a:pt x="7" y="10"/>
                </a:lnTo>
                <a:lnTo>
                  <a:pt x="8" y="10"/>
                </a:lnTo>
                <a:lnTo>
                  <a:pt x="9" y="9"/>
                </a:lnTo>
                <a:lnTo>
                  <a:pt x="9" y="8"/>
                </a:lnTo>
                <a:lnTo>
                  <a:pt x="10" y="7"/>
                </a:lnTo>
                <a:lnTo>
                  <a:pt x="10" y="6"/>
                </a:lnTo>
                <a:lnTo>
                  <a:pt x="10" y="5"/>
                </a:lnTo>
                <a:close/>
              </a:path>
            </a:pathLst>
          </a:custGeom>
          <a:solidFill>
            <a:srgbClr val="66A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3848100" y="1841500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0" h="10">
                <a:moveTo>
                  <a:pt x="10" y="5"/>
                </a:moveTo>
                <a:lnTo>
                  <a:pt x="10" y="4"/>
                </a:lnTo>
                <a:lnTo>
                  <a:pt x="10" y="3"/>
                </a:lnTo>
                <a:lnTo>
                  <a:pt x="9" y="2"/>
                </a:lnTo>
                <a:lnTo>
                  <a:pt x="9" y="1"/>
                </a:lnTo>
                <a:lnTo>
                  <a:pt x="8" y="1"/>
                </a:lnTo>
                <a:lnTo>
                  <a:pt x="7" y="0"/>
                </a:lnTo>
                <a:lnTo>
                  <a:pt x="6" y="0"/>
                </a:lnTo>
                <a:lnTo>
                  <a:pt x="5" y="0"/>
                </a:lnTo>
                <a:lnTo>
                  <a:pt x="4" y="0"/>
                </a:lnTo>
                <a:lnTo>
                  <a:pt x="3" y="0"/>
                </a:lnTo>
                <a:lnTo>
                  <a:pt x="2" y="1"/>
                </a:lnTo>
                <a:lnTo>
                  <a:pt x="1" y="1"/>
                </a:lnTo>
                <a:lnTo>
                  <a:pt x="1" y="2"/>
                </a:lnTo>
                <a:lnTo>
                  <a:pt x="0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0" y="7"/>
                </a:lnTo>
                <a:lnTo>
                  <a:pt x="1" y="8"/>
                </a:lnTo>
                <a:lnTo>
                  <a:pt x="1" y="9"/>
                </a:lnTo>
                <a:lnTo>
                  <a:pt x="2" y="9"/>
                </a:lnTo>
                <a:lnTo>
                  <a:pt x="3" y="10"/>
                </a:lnTo>
                <a:lnTo>
                  <a:pt x="4" y="10"/>
                </a:lnTo>
                <a:lnTo>
                  <a:pt x="5" y="10"/>
                </a:lnTo>
                <a:lnTo>
                  <a:pt x="6" y="10"/>
                </a:lnTo>
                <a:lnTo>
                  <a:pt x="7" y="10"/>
                </a:lnTo>
                <a:lnTo>
                  <a:pt x="8" y="9"/>
                </a:lnTo>
                <a:lnTo>
                  <a:pt x="9" y="9"/>
                </a:lnTo>
                <a:lnTo>
                  <a:pt x="9" y="8"/>
                </a:lnTo>
                <a:lnTo>
                  <a:pt x="10" y="7"/>
                </a:lnTo>
                <a:lnTo>
                  <a:pt x="10" y="6"/>
                </a:lnTo>
                <a:lnTo>
                  <a:pt x="10" y="5"/>
                </a:lnTo>
                <a:close/>
              </a:path>
            </a:pathLst>
          </a:custGeom>
          <a:solidFill>
            <a:srgbClr val="66A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3530600" y="1663700"/>
            <a:ext cx="139700" cy="127000"/>
          </a:xfrm>
          <a:custGeom>
            <a:avLst/>
            <a:gdLst/>
            <a:ahLst/>
            <a:cxnLst/>
            <a:rect l="l" t="t" r="r" b="b"/>
            <a:pathLst>
              <a:path w="11" h="10">
                <a:moveTo>
                  <a:pt x="11" y="5"/>
                </a:moveTo>
                <a:lnTo>
                  <a:pt x="11" y="4"/>
                </a:lnTo>
                <a:lnTo>
                  <a:pt x="10" y="3"/>
                </a:lnTo>
                <a:lnTo>
                  <a:pt x="10" y="2"/>
                </a:lnTo>
                <a:lnTo>
                  <a:pt x="9" y="1"/>
                </a:lnTo>
                <a:lnTo>
                  <a:pt x="8" y="0"/>
                </a:lnTo>
                <a:lnTo>
                  <a:pt x="7" y="0"/>
                </a:lnTo>
                <a:lnTo>
                  <a:pt x="7" y="0"/>
                </a:lnTo>
                <a:lnTo>
                  <a:pt x="5" y="0"/>
                </a:lnTo>
                <a:lnTo>
                  <a:pt x="4" y="0"/>
                </a:lnTo>
                <a:lnTo>
                  <a:pt x="3" y="0"/>
                </a:lnTo>
                <a:lnTo>
                  <a:pt x="3" y="0"/>
                </a:lnTo>
                <a:lnTo>
                  <a:pt x="2" y="1"/>
                </a:lnTo>
                <a:lnTo>
                  <a:pt x="1" y="2"/>
                </a:lnTo>
                <a:lnTo>
                  <a:pt x="1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1" y="7"/>
                </a:lnTo>
                <a:lnTo>
                  <a:pt x="1" y="8"/>
                </a:lnTo>
                <a:lnTo>
                  <a:pt x="2" y="8"/>
                </a:lnTo>
                <a:lnTo>
                  <a:pt x="3" y="9"/>
                </a:lnTo>
                <a:lnTo>
                  <a:pt x="3" y="9"/>
                </a:lnTo>
                <a:lnTo>
                  <a:pt x="4" y="10"/>
                </a:lnTo>
                <a:lnTo>
                  <a:pt x="5" y="10"/>
                </a:lnTo>
                <a:lnTo>
                  <a:pt x="7" y="10"/>
                </a:lnTo>
                <a:lnTo>
                  <a:pt x="7" y="9"/>
                </a:lnTo>
                <a:lnTo>
                  <a:pt x="8" y="9"/>
                </a:lnTo>
                <a:lnTo>
                  <a:pt x="9" y="8"/>
                </a:lnTo>
                <a:lnTo>
                  <a:pt x="10" y="8"/>
                </a:lnTo>
                <a:lnTo>
                  <a:pt x="10" y="7"/>
                </a:lnTo>
                <a:lnTo>
                  <a:pt x="11" y="6"/>
                </a:lnTo>
                <a:lnTo>
                  <a:pt x="11" y="5"/>
                </a:lnTo>
                <a:close/>
              </a:path>
            </a:pathLst>
          </a:custGeom>
          <a:solidFill>
            <a:srgbClr val="66A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Freeform 49"/>
          <p:cNvSpPr/>
          <p:nvPr/>
        </p:nvSpPr>
        <p:spPr>
          <a:xfrm>
            <a:off x="3225800" y="1841500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0" h="10">
                <a:moveTo>
                  <a:pt x="10" y="5"/>
                </a:moveTo>
                <a:lnTo>
                  <a:pt x="10" y="4"/>
                </a:lnTo>
                <a:lnTo>
                  <a:pt x="10" y="3"/>
                </a:lnTo>
                <a:lnTo>
                  <a:pt x="9" y="2"/>
                </a:lnTo>
                <a:lnTo>
                  <a:pt x="9" y="1"/>
                </a:lnTo>
                <a:lnTo>
                  <a:pt x="8" y="1"/>
                </a:lnTo>
                <a:lnTo>
                  <a:pt x="7" y="0"/>
                </a:lnTo>
                <a:lnTo>
                  <a:pt x="6" y="0"/>
                </a:lnTo>
                <a:lnTo>
                  <a:pt x="5" y="0"/>
                </a:lnTo>
                <a:lnTo>
                  <a:pt x="4" y="0"/>
                </a:lnTo>
                <a:lnTo>
                  <a:pt x="3" y="0"/>
                </a:lnTo>
                <a:lnTo>
                  <a:pt x="2" y="1"/>
                </a:lnTo>
                <a:lnTo>
                  <a:pt x="1" y="1"/>
                </a:lnTo>
                <a:lnTo>
                  <a:pt x="1" y="2"/>
                </a:lnTo>
                <a:lnTo>
                  <a:pt x="0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0" y="7"/>
                </a:lnTo>
                <a:lnTo>
                  <a:pt x="1" y="8"/>
                </a:lnTo>
                <a:lnTo>
                  <a:pt x="1" y="9"/>
                </a:lnTo>
                <a:lnTo>
                  <a:pt x="2" y="9"/>
                </a:lnTo>
                <a:lnTo>
                  <a:pt x="3" y="10"/>
                </a:lnTo>
                <a:lnTo>
                  <a:pt x="4" y="10"/>
                </a:lnTo>
                <a:lnTo>
                  <a:pt x="5" y="10"/>
                </a:lnTo>
                <a:lnTo>
                  <a:pt x="6" y="10"/>
                </a:lnTo>
                <a:lnTo>
                  <a:pt x="7" y="10"/>
                </a:lnTo>
                <a:lnTo>
                  <a:pt x="8" y="9"/>
                </a:lnTo>
                <a:lnTo>
                  <a:pt x="9" y="9"/>
                </a:lnTo>
                <a:lnTo>
                  <a:pt x="9" y="8"/>
                </a:lnTo>
                <a:lnTo>
                  <a:pt x="10" y="7"/>
                </a:lnTo>
                <a:lnTo>
                  <a:pt x="10" y="6"/>
                </a:lnTo>
                <a:lnTo>
                  <a:pt x="10" y="5"/>
                </a:lnTo>
                <a:close/>
              </a:path>
            </a:pathLst>
          </a:custGeom>
          <a:solidFill>
            <a:srgbClr val="66A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3225800" y="2197100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0" h="10">
                <a:moveTo>
                  <a:pt x="10" y="5"/>
                </a:moveTo>
                <a:lnTo>
                  <a:pt x="10" y="4"/>
                </a:lnTo>
                <a:lnTo>
                  <a:pt x="10" y="3"/>
                </a:lnTo>
                <a:lnTo>
                  <a:pt x="9" y="2"/>
                </a:lnTo>
                <a:lnTo>
                  <a:pt x="9" y="2"/>
                </a:lnTo>
                <a:lnTo>
                  <a:pt x="8" y="1"/>
                </a:lnTo>
                <a:lnTo>
                  <a:pt x="7" y="1"/>
                </a:lnTo>
                <a:lnTo>
                  <a:pt x="6" y="0"/>
                </a:lnTo>
                <a:lnTo>
                  <a:pt x="5" y="0"/>
                </a:lnTo>
                <a:lnTo>
                  <a:pt x="4" y="0"/>
                </a:lnTo>
                <a:lnTo>
                  <a:pt x="3" y="1"/>
                </a:lnTo>
                <a:lnTo>
                  <a:pt x="2" y="1"/>
                </a:lnTo>
                <a:lnTo>
                  <a:pt x="1" y="2"/>
                </a:lnTo>
                <a:lnTo>
                  <a:pt x="1" y="2"/>
                </a:lnTo>
                <a:lnTo>
                  <a:pt x="0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0" y="7"/>
                </a:lnTo>
                <a:lnTo>
                  <a:pt x="1" y="8"/>
                </a:lnTo>
                <a:lnTo>
                  <a:pt x="1" y="9"/>
                </a:lnTo>
                <a:lnTo>
                  <a:pt x="2" y="10"/>
                </a:lnTo>
                <a:lnTo>
                  <a:pt x="3" y="10"/>
                </a:lnTo>
                <a:lnTo>
                  <a:pt x="4" y="10"/>
                </a:lnTo>
                <a:lnTo>
                  <a:pt x="5" y="10"/>
                </a:lnTo>
                <a:lnTo>
                  <a:pt x="6" y="10"/>
                </a:lnTo>
                <a:lnTo>
                  <a:pt x="7" y="10"/>
                </a:lnTo>
                <a:lnTo>
                  <a:pt x="8" y="10"/>
                </a:lnTo>
                <a:lnTo>
                  <a:pt x="9" y="9"/>
                </a:lnTo>
                <a:lnTo>
                  <a:pt x="9" y="8"/>
                </a:lnTo>
                <a:lnTo>
                  <a:pt x="10" y="7"/>
                </a:lnTo>
                <a:lnTo>
                  <a:pt x="10" y="6"/>
                </a:lnTo>
                <a:lnTo>
                  <a:pt x="10" y="5"/>
                </a:lnTo>
                <a:close/>
              </a:path>
            </a:pathLst>
          </a:custGeom>
          <a:solidFill>
            <a:srgbClr val="66A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Freeform 51"/>
          <p:cNvSpPr/>
          <p:nvPr/>
        </p:nvSpPr>
        <p:spPr>
          <a:xfrm>
            <a:off x="3530600" y="2374900"/>
            <a:ext cx="139700" cy="139700"/>
          </a:xfrm>
          <a:custGeom>
            <a:avLst/>
            <a:gdLst/>
            <a:ahLst/>
            <a:cxnLst/>
            <a:rect l="l" t="t" r="r" b="b"/>
            <a:pathLst>
              <a:path w="11" h="11">
                <a:moveTo>
                  <a:pt x="11" y="5"/>
                </a:moveTo>
                <a:lnTo>
                  <a:pt x="11" y="4"/>
                </a:lnTo>
                <a:lnTo>
                  <a:pt x="10" y="3"/>
                </a:lnTo>
                <a:lnTo>
                  <a:pt x="10" y="3"/>
                </a:lnTo>
                <a:lnTo>
                  <a:pt x="9" y="2"/>
                </a:lnTo>
                <a:lnTo>
                  <a:pt x="8" y="1"/>
                </a:lnTo>
                <a:lnTo>
                  <a:pt x="7" y="1"/>
                </a:lnTo>
                <a:lnTo>
                  <a:pt x="7" y="0"/>
                </a:lnTo>
                <a:lnTo>
                  <a:pt x="5" y="0"/>
                </a:lnTo>
                <a:lnTo>
                  <a:pt x="4" y="0"/>
                </a:lnTo>
                <a:lnTo>
                  <a:pt x="3" y="1"/>
                </a:lnTo>
                <a:lnTo>
                  <a:pt x="3" y="1"/>
                </a:lnTo>
                <a:lnTo>
                  <a:pt x="2" y="2"/>
                </a:lnTo>
                <a:lnTo>
                  <a:pt x="1" y="3"/>
                </a:lnTo>
                <a:lnTo>
                  <a:pt x="1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1" y="7"/>
                </a:lnTo>
                <a:lnTo>
                  <a:pt x="1" y="8"/>
                </a:lnTo>
                <a:lnTo>
                  <a:pt x="2" y="9"/>
                </a:lnTo>
                <a:lnTo>
                  <a:pt x="3" y="10"/>
                </a:lnTo>
                <a:lnTo>
                  <a:pt x="3" y="10"/>
                </a:lnTo>
                <a:lnTo>
                  <a:pt x="4" y="10"/>
                </a:lnTo>
                <a:lnTo>
                  <a:pt x="5" y="11"/>
                </a:lnTo>
                <a:lnTo>
                  <a:pt x="7" y="10"/>
                </a:lnTo>
                <a:lnTo>
                  <a:pt x="7" y="10"/>
                </a:lnTo>
                <a:lnTo>
                  <a:pt x="8" y="10"/>
                </a:lnTo>
                <a:lnTo>
                  <a:pt x="9" y="9"/>
                </a:lnTo>
                <a:lnTo>
                  <a:pt x="10" y="8"/>
                </a:lnTo>
                <a:lnTo>
                  <a:pt x="10" y="7"/>
                </a:lnTo>
                <a:lnTo>
                  <a:pt x="11" y="6"/>
                </a:lnTo>
                <a:lnTo>
                  <a:pt x="11" y="5"/>
                </a:lnTo>
                <a:close/>
              </a:path>
            </a:pathLst>
          </a:custGeom>
          <a:solidFill>
            <a:srgbClr val="66A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3848100" y="2197100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0" h="10">
                <a:moveTo>
                  <a:pt x="10" y="5"/>
                </a:moveTo>
                <a:lnTo>
                  <a:pt x="10" y="4"/>
                </a:lnTo>
                <a:lnTo>
                  <a:pt x="10" y="3"/>
                </a:lnTo>
                <a:lnTo>
                  <a:pt x="9" y="2"/>
                </a:lnTo>
                <a:lnTo>
                  <a:pt x="9" y="2"/>
                </a:lnTo>
                <a:lnTo>
                  <a:pt x="8" y="1"/>
                </a:lnTo>
                <a:lnTo>
                  <a:pt x="7" y="1"/>
                </a:lnTo>
                <a:lnTo>
                  <a:pt x="6" y="0"/>
                </a:lnTo>
                <a:lnTo>
                  <a:pt x="5" y="0"/>
                </a:lnTo>
                <a:lnTo>
                  <a:pt x="4" y="0"/>
                </a:lnTo>
                <a:lnTo>
                  <a:pt x="3" y="1"/>
                </a:lnTo>
                <a:lnTo>
                  <a:pt x="2" y="1"/>
                </a:lnTo>
                <a:lnTo>
                  <a:pt x="1" y="2"/>
                </a:lnTo>
                <a:lnTo>
                  <a:pt x="1" y="2"/>
                </a:lnTo>
                <a:lnTo>
                  <a:pt x="0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0" y="7"/>
                </a:lnTo>
                <a:lnTo>
                  <a:pt x="1" y="8"/>
                </a:lnTo>
                <a:lnTo>
                  <a:pt x="1" y="9"/>
                </a:lnTo>
                <a:lnTo>
                  <a:pt x="2" y="10"/>
                </a:lnTo>
                <a:lnTo>
                  <a:pt x="3" y="10"/>
                </a:lnTo>
                <a:lnTo>
                  <a:pt x="4" y="10"/>
                </a:lnTo>
                <a:lnTo>
                  <a:pt x="5" y="10"/>
                </a:lnTo>
                <a:lnTo>
                  <a:pt x="6" y="10"/>
                </a:lnTo>
                <a:lnTo>
                  <a:pt x="7" y="10"/>
                </a:lnTo>
                <a:lnTo>
                  <a:pt x="8" y="10"/>
                </a:lnTo>
                <a:lnTo>
                  <a:pt x="9" y="9"/>
                </a:lnTo>
                <a:lnTo>
                  <a:pt x="9" y="8"/>
                </a:lnTo>
                <a:lnTo>
                  <a:pt x="10" y="7"/>
                </a:lnTo>
                <a:lnTo>
                  <a:pt x="10" y="6"/>
                </a:lnTo>
                <a:lnTo>
                  <a:pt x="10" y="5"/>
                </a:lnTo>
                <a:close/>
              </a:path>
            </a:pathLst>
          </a:custGeom>
          <a:solidFill>
            <a:srgbClr val="66A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0" y="3146740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2880003" y="3146740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6" name="Picture 5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57" name="Picture 5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58" name="TextBox 57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GA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variants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8000" y="359888"/>
            <a:ext cx="567739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1">
                <a:solidFill>
                  <a:srgbClr val="003373"/>
                </a:solidFill>
                <a:latin typeface="Josefin Sans"/>
              </a:rPr>
              <a:t>Generational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genetic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algorithm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(GGA)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60057" y="724584"/>
            <a:ext cx="532533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all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parents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replaced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their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offsprings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next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generation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856751" y="2573414"/>
            <a:ext cx="3928644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Generation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285819" y="2573414"/>
            <a:ext cx="2499576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Generation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98770" y="3150928"/>
            <a:ext cx="8866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624270" y="3150704"/>
            <a:ext cx="1611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84</a:t>
            </a:r>
          </a:p>
        </p:txBody>
      </p:sp>
    </p:spTree>
  </p:cSld>
  <p:clrMapOvr>
    <a:masterClrMapping/>
  </p:clrMapOvr>
</p:sld>
</file>

<file path=ppt/slides/slide2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Freeform 35"/>
          <p:cNvSpPr/>
          <p:nvPr/>
        </p:nvSpPr>
        <p:spPr>
          <a:xfrm>
            <a:off x="2400300" y="1841500"/>
            <a:ext cx="139700" cy="127000"/>
          </a:xfrm>
          <a:custGeom>
            <a:avLst/>
            <a:gdLst/>
            <a:ahLst/>
            <a:cxnLst/>
            <a:rect l="l" t="t" r="r" b="b"/>
            <a:pathLst>
              <a:path w="11" h="10">
                <a:moveTo>
                  <a:pt x="11" y="5"/>
                </a:moveTo>
                <a:lnTo>
                  <a:pt x="11" y="4"/>
                </a:lnTo>
                <a:lnTo>
                  <a:pt x="10" y="3"/>
                </a:lnTo>
                <a:lnTo>
                  <a:pt x="10" y="2"/>
                </a:lnTo>
                <a:lnTo>
                  <a:pt x="9" y="1"/>
                </a:lnTo>
                <a:lnTo>
                  <a:pt x="9" y="1"/>
                </a:lnTo>
                <a:lnTo>
                  <a:pt x="8" y="0"/>
                </a:lnTo>
                <a:lnTo>
                  <a:pt x="7" y="0"/>
                </a:lnTo>
                <a:lnTo>
                  <a:pt x="6" y="0"/>
                </a:lnTo>
                <a:lnTo>
                  <a:pt x="5" y="0"/>
                </a:lnTo>
                <a:lnTo>
                  <a:pt x="4" y="0"/>
                </a:lnTo>
                <a:lnTo>
                  <a:pt x="3" y="1"/>
                </a:lnTo>
                <a:lnTo>
                  <a:pt x="2" y="1"/>
                </a:lnTo>
                <a:lnTo>
                  <a:pt x="1" y="2"/>
                </a:lnTo>
                <a:lnTo>
                  <a:pt x="1" y="3"/>
                </a:lnTo>
                <a:lnTo>
                  <a:pt x="1" y="4"/>
                </a:lnTo>
                <a:lnTo>
                  <a:pt x="0" y="5"/>
                </a:lnTo>
                <a:lnTo>
                  <a:pt x="1" y="6"/>
                </a:lnTo>
                <a:lnTo>
                  <a:pt x="1" y="7"/>
                </a:lnTo>
                <a:lnTo>
                  <a:pt x="1" y="8"/>
                </a:lnTo>
                <a:lnTo>
                  <a:pt x="2" y="9"/>
                </a:lnTo>
                <a:lnTo>
                  <a:pt x="3" y="9"/>
                </a:lnTo>
                <a:lnTo>
                  <a:pt x="4" y="10"/>
                </a:lnTo>
                <a:lnTo>
                  <a:pt x="5" y="10"/>
                </a:lnTo>
                <a:lnTo>
                  <a:pt x="6" y="10"/>
                </a:lnTo>
                <a:lnTo>
                  <a:pt x="7" y="10"/>
                </a:lnTo>
                <a:lnTo>
                  <a:pt x="8" y="10"/>
                </a:lnTo>
                <a:lnTo>
                  <a:pt x="9" y="9"/>
                </a:lnTo>
                <a:lnTo>
                  <a:pt x="9" y="9"/>
                </a:lnTo>
                <a:lnTo>
                  <a:pt x="10" y="8"/>
                </a:lnTo>
                <a:lnTo>
                  <a:pt x="10" y="7"/>
                </a:lnTo>
                <a:lnTo>
                  <a:pt x="11" y="6"/>
                </a:lnTo>
                <a:lnTo>
                  <a:pt x="11" y="5"/>
                </a:lnTo>
                <a:close/>
              </a:path>
            </a:pathLst>
          </a:custGeom>
          <a:solidFill>
            <a:srgbClr val="A676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2095500" y="1663700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0" h="10">
                <a:moveTo>
                  <a:pt x="10" y="5"/>
                </a:moveTo>
                <a:lnTo>
                  <a:pt x="10" y="4"/>
                </a:lnTo>
                <a:lnTo>
                  <a:pt x="10" y="3"/>
                </a:lnTo>
                <a:lnTo>
                  <a:pt x="9" y="2"/>
                </a:lnTo>
                <a:lnTo>
                  <a:pt x="9" y="1"/>
                </a:lnTo>
                <a:lnTo>
                  <a:pt x="8" y="0"/>
                </a:lnTo>
                <a:lnTo>
                  <a:pt x="7" y="0"/>
                </a:lnTo>
                <a:lnTo>
                  <a:pt x="6" y="0"/>
                </a:lnTo>
                <a:lnTo>
                  <a:pt x="5" y="0"/>
                </a:lnTo>
                <a:lnTo>
                  <a:pt x="4" y="0"/>
                </a:lnTo>
                <a:lnTo>
                  <a:pt x="3" y="0"/>
                </a:lnTo>
                <a:lnTo>
                  <a:pt x="2" y="0"/>
                </a:lnTo>
                <a:lnTo>
                  <a:pt x="1" y="1"/>
                </a:lnTo>
                <a:lnTo>
                  <a:pt x="1" y="2"/>
                </a:lnTo>
                <a:lnTo>
                  <a:pt x="0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0" y="7"/>
                </a:lnTo>
                <a:lnTo>
                  <a:pt x="1" y="8"/>
                </a:lnTo>
                <a:lnTo>
                  <a:pt x="1" y="8"/>
                </a:lnTo>
                <a:lnTo>
                  <a:pt x="2" y="9"/>
                </a:lnTo>
                <a:lnTo>
                  <a:pt x="3" y="9"/>
                </a:lnTo>
                <a:lnTo>
                  <a:pt x="4" y="10"/>
                </a:lnTo>
                <a:lnTo>
                  <a:pt x="5" y="10"/>
                </a:lnTo>
                <a:lnTo>
                  <a:pt x="6" y="10"/>
                </a:lnTo>
                <a:lnTo>
                  <a:pt x="7" y="9"/>
                </a:lnTo>
                <a:lnTo>
                  <a:pt x="8" y="9"/>
                </a:lnTo>
                <a:lnTo>
                  <a:pt x="9" y="8"/>
                </a:lnTo>
                <a:lnTo>
                  <a:pt x="9" y="8"/>
                </a:lnTo>
                <a:lnTo>
                  <a:pt x="10" y="7"/>
                </a:lnTo>
                <a:lnTo>
                  <a:pt x="10" y="6"/>
                </a:lnTo>
                <a:lnTo>
                  <a:pt x="10" y="5"/>
                </a:lnTo>
                <a:close/>
              </a:path>
            </a:pathLst>
          </a:custGeom>
          <a:solidFill>
            <a:srgbClr val="A676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1778000" y="1841500"/>
            <a:ext cx="139700" cy="127000"/>
          </a:xfrm>
          <a:custGeom>
            <a:avLst/>
            <a:gdLst/>
            <a:ahLst/>
            <a:cxnLst/>
            <a:rect l="l" t="t" r="r" b="b"/>
            <a:pathLst>
              <a:path w="11" h="10">
                <a:moveTo>
                  <a:pt x="11" y="5"/>
                </a:moveTo>
                <a:lnTo>
                  <a:pt x="11" y="4"/>
                </a:lnTo>
                <a:lnTo>
                  <a:pt x="10" y="3"/>
                </a:lnTo>
                <a:lnTo>
                  <a:pt x="10" y="2"/>
                </a:lnTo>
                <a:lnTo>
                  <a:pt x="9" y="1"/>
                </a:lnTo>
                <a:lnTo>
                  <a:pt x="8" y="1"/>
                </a:lnTo>
                <a:lnTo>
                  <a:pt x="8" y="0"/>
                </a:lnTo>
                <a:lnTo>
                  <a:pt x="7" y="0"/>
                </a:lnTo>
                <a:lnTo>
                  <a:pt x="6" y="0"/>
                </a:lnTo>
                <a:lnTo>
                  <a:pt x="4" y="0"/>
                </a:lnTo>
                <a:lnTo>
                  <a:pt x="4" y="0"/>
                </a:lnTo>
                <a:lnTo>
                  <a:pt x="3" y="1"/>
                </a:lnTo>
                <a:lnTo>
                  <a:pt x="2" y="1"/>
                </a:lnTo>
                <a:lnTo>
                  <a:pt x="1" y="2"/>
                </a:lnTo>
                <a:lnTo>
                  <a:pt x="1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1" y="7"/>
                </a:lnTo>
                <a:lnTo>
                  <a:pt x="1" y="8"/>
                </a:lnTo>
                <a:lnTo>
                  <a:pt x="2" y="9"/>
                </a:lnTo>
                <a:lnTo>
                  <a:pt x="3" y="9"/>
                </a:lnTo>
                <a:lnTo>
                  <a:pt x="4" y="10"/>
                </a:lnTo>
                <a:lnTo>
                  <a:pt x="4" y="10"/>
                </a:lnTo>
                <a:lnTo>
                  <a:pt x="6" y="10"/>
                </a:lnTo>
                <a:lnTo>
                  <a:pt x="7" y="10"/>
                </a:lnTo>
                <a:lnTo>
                  <a:pt x="8" y="10"/>
                </a:lnTo>
                <a:lnTo>
                  <a:pt x="8" y="9"/>
                </a:lnTo>
                <a:lnTo>
                  <a:pt x="9" y="9"/>
                </a:lnTo>
                <a:lnTo>
                  <a:pt x="10" y="8"/>
                </a:lnTo>
                <a:lnTo>
                  <a:pt x="10" y="7"/>
                </a:lnTo>
                <a:lnTo>
                  <a:pt x="11" y="6"/>
                </a:lnTo>
                <a:lnTo>
                  <a:pt x="11" y="5"/>
                </a:lnTo>
                <a:close/>
              </a:path>
            </a:pathLst>
          </a:custGeom>
          <a:solidFill>
            <a:srgbClr val="A676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Freeform 38"/>
          <p:cNvSpPr/>
          <p:nvPr/>
        </p:nvSpPr>
        <p:spPr>
          <a:xfrm>
            <a:off x="1778000" y="2197100"/>
            <a:ext cx="139700" cy="127000"/>
          </a:xfrm>
          <a:custGeom>
            <a:avLst/>
            <a:gdLst/>
            <a:ahLst/>
            <a:cxnLst/>
            <a:rect l="l" t="t" r="r" b="b"/>
            <a:pathLst>
              <a:path w="11" h="10">
                <a:moveTo>
                  <a:pt x="11" y="5"/>
                </a:moveTo>
                <a:lnTo>
                  <a:pt x="11" y="4"/>
                </a:lnTo>
                <a:lnTo>
                  <a:pt x="10" y="3"/>
                </a:lnTo>
                <a:lnTo>
                  <a:pt x="10" y="2"/>
                </a:lnTo>
                <a:lnTo>
                  <a:pt x="9" y="2"/>
                </a:lnTo>
                <a:lnTo>
                  <a:pt x="8" y="1"/>
                </a:lnTo>
                <a:lnTo>
                  <a:pt x="8" y="1"/>
                </a:lnTo>
                <a:lnTo>
                  <a:pt x="7" y="0"/>
                </a:lnTo>
                <a:lnTo>
                  <a:pt x="6" y="0"/>
                </a:lnTo>
                <a:lnTo>
                  <a:pt x="4" y="0"/>
                </a:lnTo>
                <a:lnTo>
                  <a:pt x="4" y="1"/>
                </a:lnTo>
                <a:lnTo>
                  <a:pt x="3" y="1"/>
                </a:lnTo>
                <a:lnTo>
                  <a:pt x="2" y="2"/>
                </a:lnTo>
                <a:lnTo>
                  <a:pt x="1" y="2"/>
                </a:lnTo>
                <a:lnTo>
                  <a:pt x="1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1" y="7"/>
                </a:lnTo>
                <a:lnTo>
                  <a:pt x="1" y="8"/>
                </a:lnTo>
                <a:lnTo>
                  <a:pt x="2" y="9"/>
                </a:lnTo>
                <a:lnTo>
                  <a:pt x="3" y="10"/>
                </a:lnTo>
                <a:lnTo>
                  <a:pt x="4" y="10"/>
                </a:lnTo>
                <a:lnTo>
                  <a:pt x="4" y="10"/>
                </a:lnTo>
                <a:lnTo>
                  <a:pt x="6" y="10"/>
                </a:lnTo>
                <a:lnTo>
                  <a:pt x="7" y="10"/>
                </a:lnTo>
                <a:lnTo>
                  <a:pt x="8" y="10"/>
                </a:lnTo>
                <a:lnTo>
                  <a:pt x="8" y="10"/>
                </a:lnTo>
                <a:lnTo>
                  <a:pt x="9" y="9"/>
                </a:lnTo>
                <a:lnTo>
                  <a:pt x="10" y="8"/>
                </a:lnTo>
                <a:lnTo>
                  <a:pt x="10" y="7"/>
                </a:lnTo>
                <a:lnTo>
                  <a:pt x="11" y="6"/>
                </a:lnTo>
                <a:lnTo>
                  <a:pt x="11" y="5"/>
                </a:lnTo>
                <a:close/>
              </a:path>
            </a:pathLst>
          </a:custGeom>
          <a:solidFill>
            <a:srgbClr val="A676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2095500" y="2374900"/>
            <a:ext cx="127000" cy="139700"/>
          </a:xfrm>
          <a:custGeom>
            <a:avLst/>
            <a:gdLst/>
            <a:ahLst/>
            <a:cxnLst/>
            <a:rect l="l" t="t" r="r" b="b"/>
            <a:pathLst>
              <a:path w="10" h="11">
                <a:moveTo>
                  <a:pt x="10" y="5"/>
                </a:moveTo>
                <a:lnTo>
                  <a:pt x="10" y="4"/>
                </a:lnTo>
                <a:lnTo>
                  <a:pt x="10" y="3"/>
                </a:lnTo>
                <a:lnTo>
                  <a:pt x="9" y="3"/>
                </a:lnTo>
                <a:lnTo>
                  <a:pt x="9" y="2"/>
                </a:lnTo>
                <a:lnTo>
                  <a:pt x="8" y="1"/>
                </a:lnTo>
                <a:lnTo>
                  <a:pt x="7" y="1"/>
                </a:lnTo>
                <a:lnTo>
                  <a:pt x="6" y="0"/>
                </a:lnTo>
                <a:lnTo>
                  <a:pt x="5" y="0"/>
                </a:lnTo>
                <a:lnTo>
                  <a:pt x="4" y="0"/>
                </a:lnTo>
                <a:lnTo>
                  <a:pt x="3" y="1"/>
                </a:lnTo>
                <a:lnTo>
                  <a:pt x="2" y="1"/>
                </a:lnTo>
                <a:lnTo>
                  <a:pt x="1" y="2"/>
                </a:lnTo>
                <a:lnTo>
                  <a:pt x="1" y="3"/>
                </a:lnTo>
                <a:lnTo>
                  <a:pt x="0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0" y="7"/>
                </a:lnTo>
                <a:lnTo>
                  <a:pt x="1" y="8"/>
                </a:lnTo>
                <a:lnTo>
                  <a:pt x="1" y="9"/>
                </a:lnTo>
                <a:lnTo>
                  <a:pt x="2" y="10"/>
                </a:lnTo>
                <a:lnTo>
                  <a:pt x="3" y="10"/>
                </a:lnTo>
                <a:lnTo>
                  <a:pt x="4" y="10"/>
                </a:lnTo>
                <a:lnTo>
                  <a:pt x="5" y="11"/>
                </a:lnTo>
                <a:lnTo>
                  <a:pt x="6" y="10"/>
                </a:lnTo>
                <a:lnTo>
                  <a:pt x="7" y="10"/>
                </a:lnTo>
                <a:lnTo>
                  <a:pt x="8" y="10"/>
                </a:lnTo>
                <a:lnTo>
                  <a:pt x="9" y="9"/>
                </a:lnTo>
                <a:lnTo>
                  <a:pt x="9" y="8"/>
                </a:lnTo>
                <a:lnTo>
                  <a:pt x="10" y="7"/>
                </a:lnTo>
                <a:lnTo>
                  <a:pt x="10" y="6"/>
                </a:lnTo>
                <a:lnTo>
                  <a:pt x="10" y="5"/>
                </a:lnTo>
                <a:close/>
              </a:path>
            </a:pathLst>
          </a:custGeom>
          <a:solidFill>
            <a:srgbClr val="A676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2400300" y="2197100"/>
            <a:ext cx="139700" cy="127000"/>
          </a:xfrm>
          <a:custGeom>
            <a:avLst/>
            <a:gdLst/>
            <a:ahLst/>
            <a:cxnLst/>
            <a:rect l="l" t="t" r="r" b="b"/>
            <a:pathLst>
              <a:path w="11" h="10">
                <a:moveTo>
                  <a:pt x="11" y="5"/>
                </a:moveTo>
                <a:lnTo>
                  <a:pt x="11" y="4"/>
                </a:lnTo>
                <a:lnTo>
                  <a:pt x="10" y="3"/>
                </a:lnTo>
                <a:lnTo>
                  <a:pt x="10" y="2"/>
                </a:lnTo>
                <a:lnTo>
                  <a:pt x="9" y="2"/>
                </a:lnTo>
                <a:lnTo>
                  <a:pt x="9" y="1"/>
                </a:lnTo>
                <a:lnTo>
                  <a:pt x="8" y="1"/>
                </a:lnTo>
                <a:lnTo>
                  <a:pt x="7" y="0"/>
                </a:lnTo>
                <a:lnTo>
                  <a:pt x="6" y="0"/>
                </a:lnTo>
                <a:lnTo>
                  <a:pt x="5" y="0"/>
                </a:lnTo>
                <a:lnTo>
                  <a:pt x="4" y="1"/>
                </a:lnTo>
                <a:lnTo>
                  <a:pt x="3" y="1"/>
                </a:lnTo>
                <a:lnTo>
                  <a:pt x="2" y="2"/>
                </a:lnTo>
                <a:lnTo>
                  <a:pt x="1" y="2"/>
                </a:lnTo>
                <a:lnTo>
                  <a:pt x="1" y="3"/>
                </a:lnTo>
                <a:lnTo>
                  <a:pt x="1" y="4"/>
                </a:lnTo>
                <a:lnTo>
                  <a:pt x="0" y="5"/>
                </a:lnTo>
                <a:lnTo>
                  <a:pt x="1" y="6"/>
                </a:lnTo>
                <a:lnTo>
                  <a:pt x="1" y="7"/>
                </a:lnTo>
                <a:lnTo>
                  <a:pt x="1" y="8"/>
                </a:lnTo>
                <a:lnTo>
                  <a:pt x="2" y="9"/>
                </a:lnTo>
                <a:lnTo>
                  <a:pt x="3" y="10"/>
                </a:lnTo>
                <a:lnTo>
                  <a:pt x="4" y="10"/>
                </a:lnTo>
                <a:lnTo>
                  <a:pt x="5" y="10"/>
                </a:lnTo>
                <a:lnTo>
                  <a:pt x="6" y="10"/>
                </a:lnTo>
                <a:lnTo>
                  <a:pt x="7" y="10"/>
                </a:lnTo>
                <a:lnTo>
                  <a:pt x="8" y="10"/>
                </a:lnTo>
                <a:lnTo>
                  <a:pt x="9" y="10"/>
                </a:lnTo>
                <a:lnTo>
                  <a:pt x="9" y="9"/>
                </a:lnTo>
                <a:lnTo>
                  <a:pt x="10" y="8"/>
                </a:lnTo>
                <a:lnTo>
                  <a:pt x="10" y="7"/>
                </a:lnTo>
                <a:lnTo>
                  <a:pt x="11" y="6"/>
                </a:lnTo>
                <a:lnTo>
                  <a:pt x="11" y="5"/>
                </a:lnTo>
                <a:close/>
              </a:path>
            </a:pathLst>
          </a:custGeom>
          <a:solidFill>
            <a:srgbClr val="A676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Freeform 41"/>
          <p:cNvSpPr/>
          <p:nvPr/>
        </p:nvSpPr>
        <p:spPr>
          <a:xfrm>
            <a:off x="2273300" y="2019300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0" h="10">
                <a:moveTo>
                  <a:pt x="10" y="5"/>
                </a:moveTo>
                <a:lnTo>
                  <a:pt x="10" y="4"/>
                </a:lnTo>
                <a:lnTo>
                  <a:pt x="10" y="3"/>
                </a:lnTo>
                <a:lnTo>
                  <a:pt x="10" y="2"/>
                </a:lnTo>
                <a:lnTo>
                  <a:pt x="9" y="1"/>
                </a:lnTo>
                <a:lnTo>
                  <a:pt x="8" y="1"/>
                </a:lnTo>
                <a:lnTo>
                  <a:pt x="7" y="0"/>
                </a:lnTo>
                <a:lnTo>
                  <a:pt x="6" y="0"/>
                </a:lnTo>
                <a:lnTo>
                  <a:pt x="5" y="0"/>
                </a:lnTo>
                <a:lnTo>
                  <a:pt x="4" y="0"/>
                </a:lnTo>
                <a:lnTo>
                  <a:pt x="3" y="0"/>
                </a:lnTo>
                <a:lnTo>
                  <a:pt x="2" y="1"/>
                </a:lnTo>
                <a:lnTo>
                  <a:pt x="2" y="1"/>
                </a:lnTo>
                <a:lnTo>
                  <a:pt x="1" y="2"/>
                </a:lnTo>
                <a:lnTo>
                  <a:pt x="1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1" y="7"/>
                </a:lnTo>
                <a:lnTo>
                  <a:pt x="1" y="8"/>
                </a:lnTo>
                <a:lnTo>
                  <a:pt x="2" y="9"/>
                </a:lnTo>
                <a:lnTo>
                  <a:pt x="2" y="9"/>
                </a:lnTo>
                <a:lnTo>
                  <a:pt x="3" y="10"/>
                </a:lnTo>
                <a:lnTo>
                  <a:pt x="4" y="10"/>
                </a:lnTo>
                <a:lnTo>
                  <a:pt x="5" y="10"/>
                </a:lnTo>
                <a:lnTo>
                  <a:pt x="6" y="10"/>
                </a:lnTo>
                <a:lnTo>
                  <a:pt x="7" y="10"/>
                </a:lnTo>
                <a:lnTo>
                  <a:pt x="8" y="9"/>
                </a:lnTo>
                <a:lnTo>
                  <a:pt x="9" y="9"/>
                </a:lnTo>
                <a:lnTo>
                  <a:pt x="10" y="8"/>
                </a:lnTo>
                <a:lnTo>
                  <a:pt x="10" y="7"/>
                </a:lnTo>
                <a:lnTo>
                  <a:pt x="10" y="6"/>
                </a:lnTo>
                <a:lnTo>
                  <a:pt x="10" y="5"/>
                </a:lnTo>
                <a:close/>
              </a:path>
            </a:pathLst>
          </a:custGeom>
          <a:solidFill>
            <a:srgbClr val="66A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Freeform 42"/>
          <p:cNvSpPr/>
          <p:nvPr/>
        </p:nvSpPr>
        <p:spPr>
          <a:xfrm>
            <a:off x="2184400" y="1866900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0" h="10">
                <a:moveTo>
                  <a:pt x="10" y="5"/>
                </a:moveTo>
                <a:lnTo>
                  <a:pt x="10" y="4"/>
                </a:lnTo>
                <a:lnTo>
                  <a:pt x="10" y="3"/>
                </a:lnTo>
                <a:lnTo>
                  <a:pt x="9" y="2"/>
                </a:lnTo>
                <a:lnTo>
                  <a:pt x="9" y="1"/>
                </a:lnTo>
                <a:lnTo>
                  <a:pt x="8" y="1"/>
                </a:lnTo>
                <a:lnTo>
                  <a:pt x="7" y="0"/>
                </a:lnTo>
                <a:lnTo>
                  <a:pt x="6" y="0"/>
                </a:lnTo>
                <a:lnTo>
                  <a:pt x="5" y="0"/>
                </a:lnTo>
                <a:lnTo>
                  <a:pt x="4" y="0"/>
                </a:lnTo>
                <a:lnTo>
                  <a:pt x="3" y="0"/>
                </a:lnTo>
                <a:lnTo>
                  <a:pt x="2" y="1"/>
                </a:lnTo>
                <a:lnTo>
                  <a:pt x="2" y="1"/>
                </a:lnTo>
                <a:lnTo>
                  <a:pt x="1" y="2"/>
                </a:lnTo>
                <a:lnTo>
                  <a:pt x="0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0" y="7"/>
                </a:lnTo>
                <a:lnTo>
                  <a:pt x="1" y="8"/>
                </a:lnTo>
                <a:lnTo>
                  <a:pt x="2" y="8"/>
                </a:lnTo>
                <a:lnTo>
                  <a:pt x="2" y="9"/>
                </a:lnTo>
                <a:lnTo>
                  <a:pt x="3" y="10"/>
                </a:lnTo>
                <a:lnTo>
                  <a:pt x="4" y="10"/>
                </a:lnTo>
                <a:lnTo>
                  <a:pt x="5" y="10"/>
                </a:lnTo>
                <a:lnTo>
                  <a:pt x="6" y="10"/>
                </a:lnTo>
                <a:lnTo>
                  <a:pt x="7" y="10"/>
                </a:lnTo>
                <a:lnTo>
                  <a:pt x="8" y="9"/>
                </a:lnTo>
                <a:lnTo>
                  <a:pt x="9" y="8"/>
                </a:lnTo>
                <a:lnTo>
                  <a:pt x="9" y="8"/>
                </a:lnTo>
                <a:lnTo>
                  <a:pt x="10" y="7"/>
                </a:lnTo>
                <a:lnTo>
                  <a:pt x="10" y="6"/>
                </a:lnTo>
                <a:lnTo>
                  <a:pt x="10" y="5"/>
                </a:lnTo>
                <a:close/>
              </a:path>
            </a:pathLst>
          </a:custGeom>
          <a:solidFill>
            <a:srgbClr val="66A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Freeform 43"/>
          <p:cNvSpPr/>
          <p:nvPr/>
        </p:nvSpPr>
        <p:spPr>
          <a:xfrm>
            <a:off x="2006600" y="1866900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0" h="10">
                <a:moveTo>
                  <a:pt x="10" y="5"/>
                </a:moveTo>
                <a:lnTo>
                  <a:pt x="10" y="4"/>
                </a:lnTo>
                <a:lnTo>
                  <a:pt x="10" y="3"/>
                </a:lnTo>
                <a:lnTo>
                  <a:pt x="9" y="2"/>
                </a:lnTo>
                <a:lnTo>
                  <a:pt x="9" y="1"/>
                </a:lnTo>
                <a:lnTo>
                  <a:pt x="8" y="1"/>
                </a:lnTo>
                <a:lnTo>
                  <a:pt x="7" y="0"/>
                </a:lnTo>
                <a:lnTo>
                  <a:pt x="6" y="0"/>
                </a:lnTo>
                <a:lnTo>
                  <a:pt x="5" y="0"/>
                </a:lnTo>
                <a:lnTo>
                  <a:pt x="4" y="0"/>
                </a:lnTo>
                <a:lnTo>
                  <a:pt x="3" y="0"/>
                </a:lnTo>
                <a:lnTo>
                  <a:pt x="2" y="1"/>
                </a:lnTo>
                <a:lnTo>
                  <a:pt x="1" y="1"/>
                </a:lnTo>
                <a:lnTo>
                  <a:pt x="1" y="2"/>
                </a:lnTo>
                <a:lnTo>
                  <a:pt x="0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0" y="7"/>
                </a:lnTo>
                <a:lnTo>
                  <a:pt x="1" y="8"/>
                </a:lnTo>
                <a:lnTo>
                  <a:pt x="1" y="8"/>
                </a:lnTo>
                <a:lnTo>
                  <a:pt x="2" y="9"/>
                </a:lnTo>
                <a:lnTo>
                  <a:pt x="3" y="10"/>
                </a:lnTo>
                <a:lnTo>
                  <a:pt x="4" y="10"/>
                </a:lnTo>
                <a:lnTo>
                  <a:pt x="5" y="10"/>
                </a:lnTo>
                <a:lnTo>
                  <a:pt x="6" y="10"/>
                </a:lnTo>
                <a:lnTo>
                  <a:pt x="7" y="10"/>
                </a:lnTo>
                <a:lnTo>
                  <a:pt x="8" y="9"/>
                </a:lnTo>
                <a:lnTo>
                  <a:pt x="9" y="8"/>
                </a:lnTo>
                <a:lnTo>
                  <a:pt x="9" y="8"/>
                </a:lnTo>
                <a:lnTo>
                  <a:pt x="10" y="7"/>
                </a:lnTo>
                <a:lnTo>
                  <a:pt x="10" y="6"/>
                </a:lnTo>
                <a:lnTo>
                  <a:pt x="10" y="5"/>
                </a:lnTo>
                <a:close/>
              </a:path>
            </a:pathLst>
          </a:custGeom>
          <a:solidFill>
            <a:srgbClr val="66A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Freeform 44"/>
          <p:cNvSpPr/>
          <p:nvPr/>
        </p:nvSpPr>
        <p:spPr>
          <a:xfrm>
            <a:off x="1917700" y="2019300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0" h="10">
                <a:moveTo>
                  <a:pt x="10" y="5"/>
                </a:moveTo>
                <a:lnTo>
                  <a:pt x="10" y="4"/>
                </a:lnTo>
                <a:lnTo>
                  <a:pt x="10" y="3"/>
                </a:lnTo>
                <a:lnTo>
                  <a:pt x="9" y="2"/>
                </a:lnTo>
                <a:lnTo>
                  <a:pt x="9" y="1"/>
                </a:lnTo>
                <a:lnTo>
                  <a:pt x="8" y="1"/>
                </a:lnTo>
                <a:lnTo>
                  <a:pt x="7" y="0"/>
                </a:lnTo>
                <a:lnTo>
                  <a:pt x="6" y="0"/>
                </a:lnTo>
                <a:lnTo>
                  <a:pt x="5" y="0"/>
                </a:lnTo>
                <a:lnTo>
                  <a:pt x="4" y="0"/>
                </a:lnTo>
                <a:lnTo>
                  <a:pt x="3" y="0"/>
                </a:lnTo>
                <a:lnTo>
                  <a:pt x="2" y="1"/>
                </a:lnTo>
                <a:lnTo>
                  <a:pt x="1" y="1"/>
                </a:lnTo>
                <a:lnTo>
                  <a:pt x="1" y="2"/>
                </a:lnTo>
                <a:lnTo>
                  <a:pt x="0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0" y="7"/>
                </a:lnTo>
                <a:lnTo>
                  <a:pt x="1" y="8"/>
                </a:lnTo>
                <a:lnTo>
                  <a:pt x="1" y="9"/>
                </a:lnTo>
                <a:lnTo>
                  <a:pt x="2" y="9"/>
                </a:lnTo>
                <a:lnTo>
                  <a:pt x="3" y="10"/>
                </a:lnTo>
                <a:lnTo>
                  <a:pt x="4" y="10"/>
                </a:lnTo>
                <a:lnTo>
                  <a:pt x="5" y="10"/>
                </a:lnTo>
                <a:lnTo>
                  <a:pt x="6" y="10"/>
                </a:lnTo>
                <a:lnTo>
                  <a:pt x="7" y="10"/>
                </a:lnTo>
                <a:lnTo>
                  <a:pt x="8" y="9"/>
                </a:lnTo>
                <a:lnTo>
                  <a:pt x="9" y="9"/>
                </a:lnTo>
                <a:lnTo>
                  <a:pt x="9" y="8"/>
                </a:lnTo>
                <a:lnTo>
                  <a:pt x="10" y="7"/>
                </a:lnTo>
                <a:lnTo>
                  <a:pt x="10" y="6"/>
                </a:lnTo>
                <a:lnTo>
                  <a:pt x="10" y="5"/>
                </a:lnTo>
                <a:close/>
              </a:path>
            </a:pathLst>
          </a:custGeom>
          <a:solidFill>
            <a:srgbClr val="66A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Freeform 45"/>
          <p:cNvSpPr/>
          <p:nvPr/>
        </p:nvSpPr>
        <p:spPr>
          <a:xfrm>
            <a:off x="2006600" y="2171700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0" h="10">
                <a:moveTo>
                  <a:pt x="10" y="5"/>
                </a:moveTo>
                <a:lnTo>
                  <a:pt x="10" y="4"/>
                </a:lnTo>
                <a:lnTo>
                  <a:pt x="10" y="3"/>
                </a:lnTo>
                <a:lnTo>
                  <a:pt x="9" y="2"/>
                </a:lnTo>
                <a:lnTo>
                  <a:pt x="9" y="2"/>
                </a:lnTo>
                <a:lnTo>
                  <a:pt x="8" y="1"/>
                </a:lnTo>
                <a:lnTo>
                  <a:pt x="7" y="1"/>
                </a:lnTo>
                <a:lnTo>
                  <a:pt x="6" y="0"/>
                </a:lnTo>
                <a:lnTo>
                  <a:pt x="5" y="0"/>
                </a:lnTo>
                <a:lnTo>
                  <a:pt x="4" y="0"/>
                </a:lnTo>
                <a:lnTo>
                  <a:pt x="3" y="1"/>
                </a:lnTo>
                <a:lnTo>
                  <a:pt x="2" y="1"/>
                </a:lnTo>
                <a:lnTo>
                  <a:pt x="1" y="2"/>
                </a:lnTo>
                <a:lnTo>
                  <a:pt x="1" y="2"/>
                </a:lnTo>
                <a:lnTo>
                  <a:pt x="0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0" y="7"/>
                </a:lnTo>
                <a:lnTo>
                  <a:pt x="1" y="8"/>
                </a:lnTo>
                <a:lnTo>
                  <a:pt x="1" y="9"/>
                </a:lnTo>
                <a:lnTo>
                  <a:pt x="2" y="10"/>
                </a:lnTo>
                <a:lnTo>
                  <a:pt x="3" y="10"/>
                </a:lnTo>
                <a:lnTo>
                  <a:pt x="4" y="10"/>
                </a:lnTo>
                <a:lnTo>
                  <a:pt x="5" y="10"/>
                </a:lnTo>
                <a:lnTo>
                  <a:pt x="6" y="10"/>
                </a:lnTo>
                <a:lnTo>
                  <a:pt x="7" y="10"/>
                </a:lnTo>
                <a:lnTo>
                  <a:pt x="8" y="10"/>
                </a:lnTo>
                <a:lnTo>
                  <a:pt x="9" y="9"/>
                </a:lnTo>
                <a:lnTo>
                  <a:pt x="9" y="8"/>
                </a:lnTo>
                <a:lnTo>
                  <a:pt x="10" y="7"/>
                </a:lnTo>
                <a:lnTo>
                  <a:pt x="10" y="6"/>
                </a:lnTo>
                <a:lnTo>
                  <a:pt x="10" y="5"/>
                </a:lnTo>
                <a:close/>
              </a:path>
            </a:pathLst>
          </a:custGeom>
          <a:solidFill>
            <a:srgbClr val="66A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2184400" y="2171700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0" h="10">
                <a:moveTo>
                  <a:pt x="10" y="5"/>
                </a:moveTo>
                <a:lnTo>
                  <a:pt x="10" y="4"/>
                </a:lnTo>
                <a:lnTo>
                  <a:pt x="10" y="3"/>
                </a:lnTo>
                <a:lnTo>
                  <a:pt x="9" y="2"/>
                </a:lnTo>
                <a:lnTo>
                  <a:pt x="9" y="2"/>
                </a:lnTo>
                <a:lnTo>
                  <a:pt x="8" y="1"/>
                </a:lnTo>
                <a:lnTo>
                  <a:pt x="7" y="1"/>
                </a:lnTo>
                <a:lnTo>
                  <a:pt x="6" y="0"/>
                </a:lnTo>
                <a:lnTo>
                  <a:pt x="5" y="0"/>
                </a:lnTo>
                <a:lnTo>
                  <a:pt x="4" y="0"/>
                </a:lnTo>
                <a:lnTo>
                  <a:pt x="3" y="1"/>
                </a:lnTo>
                <a:lnTo>
                  <a:pt x="2" y="1"/>
                </a:lnTo>
                <a:lnTo>
                  <a:pt x="2" y="2"/>
                </a:lnTo>
                <a:lnTo>
                  <a:pt x="1" y="2"/>
                </a:lnTo>
                <a:lnTo>
                  <a:pt x="0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0" y="7"/>
                </a:lnTo>
                <a:lnTo>
                  <a:pt x="1" y="8"/>
                </a:lnTo>
                <a:lnTo>
                  <a:pt x="2" y="9"/>
                </a:lnTo>
                <a:lnTo>
                  <a:pt x="2" y="10"/>
                </a:lnTo>
                <a:lnTo>
                  <a:pt x="3" y="10"/>
                </a:lnTo>
                <a:lnTo>
                  <a:pt x="4" y="10"/>
                </a:lnTo>
                <a:lnTo>
                  <a:pt x="5" y="10"/>
                </a:lnTo>
                <a:lnTo>
                  <a:pt x="6" y="10"/>
                </a:lnTo>
                <a:lnTo>
                  <a:pt x="7" y="10"/>
                </a:lnTo>
                <a:lnTo>
                  <a:pt x="8" y="10"/>
                </a:lnTo>
                <a:lnTo>
                  <a:pt x="9" y="9"/>
                </a:lnTo>
                <a:lnTo>
                  <a:pt x="9" y="8"/>
                </a:lnTo>
                <a:lnTo>
                  <a:pt x="10" y="7"/>
                </a:lnTo>
                <a:lnTo>
                  <a:pt x="10" y="6"/>
                </a:lnTo>
                <a:lnTo>
                  <a:pt x="10" y="5"/>
                </a:lnTo>
                <a:close/>
              </a:path>
            </a:pathLst>
          </a:custGeom>
          <a:solidFill>
            <a:srgbClr val="66A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3848100" y="1841500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0" h="10">
                <a:moveTo>
                  <a:pt x="10" y="5"/>
                </a:moveTo>
                <a:lnTo>
                  <a:pt x="10" y="4"/>
                </a:lnTo>
                <a:lnTo>
                  <a:pt x="10" y="3"/>
                </a:lnTo>
                <a:lnTo>
                  <a:pt x="9" y="2"/>
                </a:lnTo>
                <a:lnTo>
                  <a:pt x="9" y="1"/>
                </a:lnTo>
                <a:lnTo>
                  <a:pt x="8" y="1"/>
                </a:lnTo>
                <a:lnTo>
                  <a:pt x="7" y="0"/>
                </a:lnTo>
                <a:lnTo>
                  <a:pt x="6" y="0"/>
                </a:lnTo>
                <a:lnTo>
                  <a:pt x="5" y="0"/>
                </a:lnTo>
                <a:lnTo>
                  <a:pt x="4" y="0"/>
                </a:lnTo>
                <a:lnTo>
                  <a:pt x="3" y="0"/>
                </a:lnTo>
                <a:lnTo>
                  <a:pt x="2" y="1"/>
                </a:lnTo>
                <a:lnTo>
                  <a:pt x="1" y="1"/>
                </a:lnTo>
                <a:lnTo>
                  <a:pt x="1" y="2"/>
                </a:lnTo>
                <a:lnTo>
                  <a:pt x="0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0" y="7"/>
                </a:lnTo>
                <a:lnTo>
                  <a:pt x="1" y="8"/>
                </a:lnTo>
                <a:lnTo>
                  <a:pt x="1" y="9"/>
                </a:lnTo>
                <a:lnTo>
                  <a:pt x="2" y="9"/>
                </a:lnTo>
                <a:lnTo>
                  <a:pt x="3" y="10"/>
                </a:lnTo>
                <a:lnTo>
                  <a:pt x="4" y="10"/>
                </a:lnTo>
                <a:lnTo>
                  <a:pt x="5" y="10"/>
                </a:lnTo>
                <a:lnTo>
                  <a:pt x="6" y="10"/>
                </a:lnTo>
                <a:lnTo>
                  <a:pt x="7" y="10"/>
                </a:lnTo>
                <a:lnTo>
                  <a:pt x="8" y="9"/>
                </a:lnTo>
                <a:lnTo>
                  <a:pt x="9" y="9"/>
                </a:lnTo>
                <a:lnTo>
                  <a:pt x="9" y="8"/>
                </a:lnTo>
                <a:lnTo>
                  <a:pt x="10" y="7"/>
                </a:lnTo>
                <a:lnTo>
                  <a:pt x="10" y="6"/>
                </a:lnTo>
                <a:lnTo>
                  <a:pt x="10" y="5"/>
                </a:lnTo>
                <a:close/>
              </a:path>
            </a:pathLst>
          </a:custGeom>
          <a:solidFill>
            <a:srgbClr val="66A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3530600" y="1663700"/>
            <a:ext cx="139700" cy="127000"/>
          </a:xfrm>
          <a:custGeom>
            <a:avLst/>
            <a:gdLst/>
            <a:ahLst/>
            <a:cxnLst/>
            <a:rect l="l" t="t" r="r" b="b"/>
            <a:pathLst>
              <a:path w="11" h="10">
                <a:moveTo>
                  <a:pt x="11" y="5"/>
                </a:moveTo>
                <a:lnTo>
                  <a:pt x="11" y="4"/>
                </a:lnTo>
                <a:lnTo>
                  <a:pt x="10" y="3"/>
                </a:lnTo>
                <a:lnTo>
                  <a:pt x="10" y="2"/>
                </a:lnTo>
                <a:lnTo>
                  <a:pt x="9" y="1"/>
                </a:lnTo>
                <a:lnTo>
                  <a:pt x="8" y="0"/>
                </a:lnTo>
                <a:lnTo>
                  <a:pt x="7" y="0"/>
                </a:lnTo>
                <a:lnTo>
                  <a:pt x="7" y="0"/>
                </a:lnTo>
                <a:lnTo>
                  <a:pt x="5" y="0"/>
                </a:lnTo>
                <a:lnTo>
                  <a:pt x="4" y="0"/>
                </a:lnTo>
                <a:lnTo>
                  <a:pt x="3" y="0"/>
                </a:lnTo>
                <a:lnTo>
                  <a:pt x="3" y="0"/>
                </a:lnTo>
                <a:lnTo>
                  <a:pt x="2" y="1"/>
                </a:lnTo>
                <a:lnTo>
                  <a:pt x="1" y="2"/>
                </a:lnTo>
                <a:lnTo>
                  <a:pt x="1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1" y="7"/>
                </a:lnTo>
                <a:lnTo>
                  <a:pt x="1" y="8"/>
                </a:lnTo>
                <a:lnTo>
                  <a:pt x="2" y="8"/>
                </a:lnTo>
                <a:lnTo>
                  <a:pt x="3" y="9"/>
                </a:lnTo>
                <a:lnTo>
                  <a:pt x="3" y="9"/>
                </a:lnTo>
                <a:lnTo>
                  <a:pt x="4" y="10"/>
                </a:lnTo>
                <a:lnTo>
                  <a:pt x="5" y="10"/>
                </a:lnTo>
                <a:lnTo>
                  <a:pt x="7" y="10"/>
                </a:lnTo>
                <a:lnTo>
                  <a:pt x="7" y="9"/>
                </a:lnTo>
                <a:lnTo>
                  <a:pt x="8" y="9"/>
                </a:lnTo>
                <a:lnTo>
                  <a:pt x="9" y="8"/>
                </a:lnTo>
                <a:lnTo>
                  <a:pt x="10" y="8"/>
                </a:lnTo>
                <a:lnTo>
                  <a:pt x="10" y="7"/>
                </a:lnTo>
                <a:lnTo>
                  <a:pt x="11" y="6"/>
                </a:lnTo>
                <a:lnTo>
                  <a:pt x="11" y="5"/>
                </a:lnTo>
                <a:close/>
              </a:path>
            </a:pathLst>
          </a:custGeom>
          <a:solidFill>
            <a:srgbClr val="66A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Freeform 49"/>
          <p:cNvSpPr/>
          <p:nvPr/>
        </p:nvSpPr>
        <p:spPr>
          <a:xfrm>
            <a:off x="3225800" y="1841500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0" h="10">
                <a:moveTo>
                  <a:pt x="10" y="5"/>
                </a:moveTo>
                <a:lnTo>
                  <a:pt x="10" y="4"/>
                </a:lnTo>
                <a:lnTo>
                  <a:pt x="10" y="3"/>
                </a:lnTo>
                <a:lnTo>
                  <a:pt x="9" y="2"/>
                </a:lnTo>
                <a:lnTo>
                  <a:pt x="9" y="1"/>
                </a:lnTo>
                <a:lnTo>
                  <a:pt x="8" y="1"/>
                </a:lnTo>
                <a:lnTo>
                  <a:pt x="7" y="0"/>
                </a:lnTo>
                <a:lnTo>
                  <a:pt x="6" y="0"/>
                </a:lnTo>
                <a:lnTo>
                  <a:pt x="5" y="0"/>
                </a:lnTo>
                <a:lnTo>
                  <a:pt x="4" y="0"/>
                </a:lnTo>
                <a:lnTo>
                  <a:pt x="3" y="0"/>
                </a:lnTo>
                <a:lnTo>
                  <a:pt x="2" y="1"/>
                </a:lnTo>
                <a:lnTo>
                  <a:pt x="1" y="1"/>
                </a:lnTo>
                <a:lnTo>
                  <a:pt x="1" y="2"/>
                </a:lnTo>
                <a:lnTo>
                  <a:pt x="0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0" y="7"/>
                </a:lnTo>
                <a:lnTo>
                  <a:pt x="1" y="8"/>
                </a:lnTo>
                <a:lnTo>
                  <a:pt x="1" y="9"/>
                </a:lnTo>
                <a:lnTo>
                  <a:pt x="2" y="9"/>
                </a:lnTo>
                <a:lnTo>
                  <a:pt x="3" y="10"/>
                </a:lnTo>
                <a:lnTo>
                  <a:pt x="4" y="10"/>
                </a:lnTo>
                <a:lnTo>
                  <a:pt x="5" y="10"/>
                </a:lnTo>
                <a:lnTo>
                  <a:pt x="6" y="10"/>
                </a:lnTo>
                <a:lnTo>
                  <a:pt x="7" y="10"/>
                </a:lnTo>
                <a:lnTo>
                  <a:pt x="8" y="9"/>
                </a:lnTo>
                <a:lnTo>
                  <a:pt x="9" y="9"/>
                </a:lnTo>
                <a:lnTo>
                  <a:pt x="9" y="8"/>
                </a:lnTo>
                <a:lnTo>
                  <a:pt x="10" y="7"/>
                </a:lnTo>
                <a:lnTo>
                  <a:pt x="10" y="6"/>
                </a:lnTo>
                <a:lnTo>
                  <a:pt x="10" y="5"/>
                </a:lnTo>
                <a:close/>
              </a:path>
            </a:pathLst>
          </a:custGeom>
          <a:solidFill>
            <a:srgbClr val="66A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3225800" y="2197100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0" h="10">
                <a:moveTo>
                  <a:pt x="10" y="5"/>
                </a:moveTo>
                <a:lnTo>
                  <a:pt x="10" y="4"/>
                </a:lnTo>
                <a:lnTo>
                  <a:pt x="10" y="3"/>
                </a:lnTo>
                <a:lnTo>
                  <a:pt x="9" y="2"/>
                </a:lnTo>
                <a:lnTo>
                  <a:pt x="9" y="2"/>
                </a:lnTo>
                <a:lnTo>
                  <a:pt x="8" y="1"/>
                </a:lnTo>
                <a:lnTo>
                  <a:pt x="7" y="1"/>
                </a:lnTo>
                <a:lnTo>
                  <a:pt x="6" y="0"/>
                </a:lnTo>
                <a:lnTo>
                  <a:pt x="5" y="0"/>
                </a:lnTo>
                <a:lnTo>
                  <a:pt x="4" y="0"/>
                </a:lnTo>
                <a:lnTo>
                  <a:pt x="3" y="1"/>
                </a:lnTo>
                <a:lnTo>
                  <a:pt x="2" y="1"/>
                </a:lnTo>
                <a:lnTo>
                  <a:pt x="1" y="2"/>
                </a:lnTo>
                <a:lnTo>
                  <a:pt x="1" y="2"/>
                </a:lnTo>
                <a:lnTo>
                  <a:pt x="0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0" y="7"/>
                </a:lnTo>
                <a:lnTo>
                  <a:pt x="1" y="8"/>
                </a:lnTo>
                <a:lnTo>
                  <a:pt x="1" y="9"/>
                </a:lnTo>
                <a:lnTo>
                  <a:pt x="2" y="10"/>
                </a:lnTo>
                <a:lnTo>
                  <a:pt x="3" y="10"/>
                </a:lnTo>
                <a:lnTo>
                  <a:pt x="4" y="10"/>
                </a:lnTo>
                <a:lnTo>
                  <a:pt x="5" y="10"/>
                </a:lnTo>
                <a:lnTo>
                  <a:pt x="6" y="10"/>
                </a:lnTo>
                <a:lnTo>
                  <a:pt x="7" y="10"/>
                </a:lnTo>
                <a:lnTo>
                  <a:pt x="8" y="10"/>
                </a:lnTo>
                <a:lnTo>
                  <a:pt x="9" y="9"/>
                </a:lnTo>
                <a:lnTo>
                  <a:pt x="9" y="8"/>
                </a:lnTo>
                <a:lnTo>
                  <a:pt x="10" y="7"/>
                </a:lnTo>
                <a:lnTo>
                  <a:pt x="10" y="6"/>
                </a:lnTo>
                <a:lnTo>
                  <a:pt x="10" y="5"/>
                </a:lnTo>
                <a:close/>
              </a:path>
            </a:pathLst>
          </a:custGeom>
          <a:solidFill>
            <a:srgbClr val="66A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Freeform 51"/>
          <p:cNvSpPr/>
          <p:nvPr/>
        </p:nvSpPr>
        <p:spPr>
          <a:xfrm>
            <a:off x="3530600" y="2374900"/>
            <a:ext cx="139700" cy="139700"/>
          </a:xfrm>
          <a:custGeom>
            <a:avLst/>
            <a:gdLst/>
            <a:ahLst/>
            <a:cxnLst/>
            <a:rect l="l" t="t" r="r" b="b"/>
            <a:pathLst>
              <a:path w="11" h="11">
                <a:moveTo>
                  <a:pt x="11" y="5"/>
                </a:moveTo>
                <a:lnTo>
                  <a:pt x="11" y="4"/>
                </a:lnTo>
                <a:lnTo>
                  <a:pt x="10" y="3"/>
                </a:lnTo>
                <a:lnTo>
                  <a:pt x="10" y="3"/>
                </a:lnTo>
                <a:lnTo>
                  <a:pt x="9" y="2"/>
                </a:lnTo>
                <a:lnTo>
                  <a:pt x="8" y="1"/>
                </a:lnTo>
                <a:lnTo>
                  <a:pt x="7" y="1"/>
                </a:lnTo>
                <a:lnTo>
                  <a:pt x="7" y="0"/>
                </a:lnTo>
                <a:lnTo>
                  <a:pt x="5" y="0"/>
                </a:lnTo>
                <a:lnTo>
                  <a:pt x="4" y="0"/>
                </a:lnTo>
                <a:lnTo>
                  <a:pt x="3" y="1"/>
                </a:lnTo>
                <a:lnTo>
                  <a:pt x="3" y="1"/>
                </a:lnTo>
                <a:lnTo>
                  <a:pt x="2" y="2"/>
                </a:lnTo>
                <a:lnTo>
                  <a:pt x="1" y="3"/>
                </a:lnTo>
                <a:lnTo>
                  <a:pt x="1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1" y="7"/>
                </a:lnTo>
                <a:lnTo>
                  <a:pt x="1" y="8"/>
                </a:lnTo>
                <a:lnTo>
                  <a:pt x="2" y="9"/>
                </a:lnTo>
                <a:lnTo>
                  <a:pt x="3" y="10"/>
                </a:lnTo>
                <a:lnTo>
                  <a:pt x="3" y="10"/>
                </a:lnTo>
                <a:lnTo>
                  <a:pt x="4" y="10"/>
                </a:lnTo>
                <a:lnTo>
                  <a:pt x="5" y="11"/>
                </a:lnTo>
                <a:lnTo>
                  <a:pt x="7" y="10"/>
                </a:lnTo>
                <a:lnTo>
                  <a:pt x="7" y="10"/>
                </a:lnTo>
                <a:lnTo>
                  <a:pt x="8" y="10"/>
                </a:lnTo>
                <a:lnTo>
                  <a:pt x="9" y="9"/>
                </a:lnTo>
                <a:lnTo>
                  <a:pt x="10" y="8"/>
                </a:lnTo>
                <a:lnTo>
                  <a:pt x="10" y="7"/>
                </a:lnTo>
                <a:lnTo>
                  <a:pt x="11" y="6"/>
                </a:lnTo>
                <a:lnTo>
                  <a:pt x="11" y="5"/>
                </a:lnTo>
                <a:close/>
              </a:path>
            </a:pathLst>
          </a:custGeom>
          <a:solidFill>
            <a:srgbClr val="66A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3848100" y="2197100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0" h="10">
                <a:moveTo>
                  <a:pt x="10" y="5"/>
                </a:moveTo>
                <a:lnTo>
                  <a:pt x="10" y="4"/>
                </a:lnTo>
                <a:lnTo>
                  <a:pt x="10" y="3"/>
                </a:lnTo>
                <a:lnTo>
                  <a:pt x="9" y="2"/>
                </a:lnTo>
                <a:lnTo>
                  <a:pt x="9" y="2"/>
                </a:lnTo>
                <a:lnTo>
                  <a:pt x="8" y="1"/>
                </a:lnTo>
                <a:lnTo>
                  <a:pt x="7" y="1"/>
                </a:lnTo>
                <a:lnTo>
                  <a:pt x="6" y="0"/>
                </a:lnTo>
                <a:lnTo>
                  <a:pt x="5" y="0"/>
                </a:lnTo>
                <a:lnTo>
                  <a:pt x="4" y="0"/>
                </a:lnTo>
                <a:lnTo>
                  <a:pt x="3" y="1"/>
                </a:lnTo>
                <a:lnTo>
                  <a:pt x="2" y="1"/>
                </a:lnTo>
                <a:lnTo>
                  <a:pt x="1" y="2"/>
                </a:lnTo>
                <a:lnTo>
                  <a:pt x="1" y="2"/>
                </a:lnTo>
                <a:lnTo>
                  <a:pt x="0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0" y="7"/>
                </a:lnTo>
                <a:lnTo>
                  <a:pt x="1" y="8"/>
                </a:lnTo>
                <a:lnTo>
                  <a:pt x="1" y="9"/>
                </a:lnTo>
                <a:lnTo>
                  <a:pt x="2" y="10"/>
                </a:lnTo>
                <a:lnTo>
                  <a:pt x="3" y="10"/>
                </a:lnTo>
                <a:lnTo>
                  <a:pt x="4" y="10"/>
                </a:lnTo>
                <a:lnTo>
                  <a:pt x="5" y="10"/>
                </a:lnTo>
                <a:lnTo>
                  <a:pt x="6" y="10"/>
                </a:lnTo>
                <a:lnTo>
                  <a:pt x="7" y="10"/>
                </a:lnTo>
                <a:lnTo>
                  <a:pt x="8" y="10"/>
                </a:lnTo>
                <a:lnTo>
                  <a:pt x="9" y="9"/>
                </a:lnTo>
                <a:lnTo>
                  <a:pt x="9" y="8"/>
                </a:lnTo>
                <a:lnTo>
                  <a:pt x="10" y="7"/>
                </a:lnTo>
                <a:lnTo>
                  <a:pt x="10" y="6"/>
                </a:lnTo>
                <a:lnTo>
                  <a:pt x="10" y="5"/>
                </a:lnTo>
                <a:close/>
              </a:path>
            </a:pathLst>
          </a:custGeom>
          <a:solidFill>
            <a:srgbClr val="66A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0" y="3146740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2880003" y="3146740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6" name="Picture 5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57" name="Picture 5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58" name="TextBox 57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GA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variants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8000" y="359888"/>
            <a:ext cx="567739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1">
                <a:solidFill>
                  <a:srgbClr val="003373"/>
                </a:solidFill>
                <a:latin typeface="Josefin Sans"/>
              </a:rPr>
              <a:t>Generational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genetic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algorithm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(GGA)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60057" y="724584"/>
            <a:ext cx="532533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all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parents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replaced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their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offsprings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next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generation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856751" y="2573414"/>
            <a:ext cx="3928644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Generation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285819" y="2573414"/>
            <a:ext cx="2499576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Generation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98770" y="3150928"/>
            <a:ext cx="8866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624270" y="3150704"/>
            <a:ext cx="1611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84</a:t>
            </a:r>
          </a:p>
        </p:txBody>
      </p:sp>
    </p:spTree>
  </p:cSld>
  <p:clrMapOvr>
    <a:masterClrMapping/>
  </p:clrMapOvr>
</p:sld>
</file>

<file path=ppt/slides/slide2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Freeform 35"/>
          <p:cNvSpPr/>
          <p:nvPr/>
        </p:nvSpPr>
        <p:spPr>
          <a:xfrm>
            <a:off x="2400300" y="1841500"/>
            <a:ext cx="139700" cy="127000"/>
          </a:xfrm>
          <a:custGeom>
            <a:avLst/>
            <a:gdLst/>
            <a:ahLst/>
            <a:cxnLst/>
            <a:rect l="l" t="t" r="r" b="b"/>
            <a:pathLst>
              <a:path w="11" h="10">
                <a:moveTo>
                  <a:pt x="11" y="5"/>
                </a:moveTo>
                <a:lnTo>
                  <a:pt x="11" y="4"/>
                </a:lnTo>
                <a:lnTo>
                  <a:pt x="10" y="3"/>
                </a:lnTo>
                <a:lnTo>
                  <a:pt x="10" y="2"/>
                </a:lnTo>
                <a:lnTo>
                  <a:pt x="9" y="1"/>
                </a:lnTo>
                <a:lnTo>
                  <a:pt x="9" y="1"/>
                </a:lnTo>
                <a:lnTo>
                  <a:pt x="8" y="0"/>
                </a:lnTo>
                <a:lnTo>
                  <a:pt x="7" y="0"/>
                </a:lnTo>
                <a:lnTo>
                  <a:pt x="6" y="0"/>
                </a:lnTo>
                <a:lnTo>
                  <a:pt x="5" y="0"/>
                </a:lnTo>
                <a:lnTo>
                  <a:pt x="4" y="0"/>
                </a:lnTo>
                <a:lnTo>
                  <a:pt x="3" y="1"/>
                </a:lnTo>
                <a:lnTo>
                  <a:pt x="2" y="1"/>
                </a:lnTo>
                <a:lnTo>
                  <a:pt x="1" y="2"/>
                </a:lnTo>
                <a:lnTo>
                  <a:pt x="1" y="3"/>
                </a:lnTo>
                <a:lnTo>
                  <a:pt x="1" y="4"/>
                </a:lnTo>
                <a:lnTo>
                  <a:pt x="0" y="5"/>
                </a:lnTo>
                <a:lnTo>
                  <a:pt x="1" y="6"/>
                </a:lnTo>
                <a:lnTo>
                  <a:pt x="1" y="7"/>
                </a:lnTo>
                <a:lnTo>
                  <a:pt x="1" y="8"/>
                </a:lnTo>
                <a:lnTo>
                  <a:pt x="2" y="9"/>
                </a:lnTo>
                <a:lnTo>
                  <a:pt x="3" y="9"/>
                </a:lnTo>
                <a:lnTo>
                  <a:pt x="4" y="10"/>
                </a:lnTo>
                <a:lnTo>
                  <a:pt x="5" y="10"/>
                </a:lnTo>
                <a:lnTo>
                  <a:pt x="6" y="10"/>
                </a:lnTo>
                <a:lnTo>
                  <a:pt x="7" y="10"/>
                </a:lnTo>
                <a:lnTo>
                  <a:pt x="8" y="10"/>
                </a:lnTo>
                <a:lnTo>
                  <a:pt x="9" y="9"/>
                </a:lnTo>
                <a:lnTo>
                  <a:pt x="9" y="9"/>
                </a:lnTo>
                <a:lnTo>
                  <a:pt x="10" y="8"/>
                </a:lnTo>
                <a:lnTo>
                  <a:pt x="10" y="7"/>
                </a:lnTo>
                <a:lnTo>
                  <a:pt x="11" y="6"/>
                </a:lnTo>
                <a:lnTo>
                  <a:pt x="11" y="5"/>
                </a:lnTo>
                <a:close/>
              </a:path>
            </a:pathLst>
          </a:custGeom>
          <a:solidFill>
            <a:srgbClr val="A676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2095500" y="1663700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0" h="10">
                <a:moveTo>
                  <a:pt x="10" y="5"/>
                </a:moveTo>
                <a:lnTo>
                  <a:pt x="10" y="4"/>
                </a:lnTo>
                <a:lnTo>
                  <a:pt x="10" y="3"/>
                </a:lnTo>
                <a:lnTo>
                  <a:pt x="9" y="2"/>
                </a:lnTo>
                <a:lnTo>
                  <a:pt x="9" y="1"/>
                </a:lnTo>
                <a:lnTo>
                  <a:pt x="8" y="0"/>
                </a:lnTo>
                <a:lnTo>
                  <a:pt x="7" y="0"/>
                </a:lnTo>
                <a:lnTo>
                  <a:pt x="6" y="0"/>
                </a:lnTo>
                <a:lnTo>
                  <a:pt x="5" y="0"/>
                </a:lnTo>
                <a:lnTo>
                  <a:pt x="4" y="0"/>
                </a:lnTo>
                <a:lnTo>
                  <a:pt x="3" y="0"/>
                </a:lnTo>
                <a:lnTo>
                  <a:pt x="2" y="0"/>
                </a:lnTo>
                <a:lnTo>
                  <a:pt x="1" y="1"/>
                </a:lnTo>
                <a:lnTo>
                  <a:pt x="1" y="2"/>
                </a:lnTo>
                <a:lnTo>
                  <a:pt x="0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0" y="7"/>
                </a:lnTo>
                <a:lnTo>
                  <a:pt x="1" y="8"/>
                </a:lnTo>
                <a:lnTo>
                  <a:pt x="1" y="8"/>
                </a:lnTo>
                <a:lnTo>
                  <a:pt x="2" y="9"/>
                </a:lnTo>
                <a:lnTo>
                  <a:pt x="3" y="9"/>
                </a:lnTo>
                <a:lnTo>
                  <a:pt x="4" y="10"/>
                </a:lnTo>
                <a:lnTo>
                  <a:pt x="5" y="10"/>
                </a:lnTo>
                <a:lnTo>
                  <a:pt x="6" y="10"/>
                </a:lnTo>
                <a:lnTo>
                  <a:pt x="7" y="9"/>
                </a:lnTo>
                <a:lnTo>
                  <a:pt x="8" y="9"/>
                </a:lnTo>
                <a:lnTo>
                  <a:pt x="9" y="8"/>
                </a:lnTo>
                <a:lnTo>
                  <a:pt x="9" y="8"/>
                </a:lnTo>
                <a:lnTo>
                  <a:pt x="10" y="7"/>
                </a:lnTo>
                <a:lnTo>
                  <a:pt x="10" y="6"/>
                </a:lnTo>
                <a:lnTo>
                  <a:pt x="10" y="5"/>
                </a:lnTo>
                <a:close/>
              </a:path>
            </a:pathLst>
          </a:custGeom>
          <a:solidFill>
            <a:srgbClr val="A676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1778000" y="1841500"/>
            <a:ext cx="139700" cy="127000"/>
          </a:xfrm>
          <a:custGeom>
            <a:avLst/>
            <a:gdLst/>
            <a:ahLst/>
            <a:cxnLst/>
            <a:rect l="l" t="t" r="r" b="b"/>
            <a:pathLst>
              <a:path w="11" h="10">
                <a:moveTo>
                  <a:pt x="11" y="5"/>
                </a:moveTo>
                <a:lnTo>
                  <a:pt x="11" y="4"/>
                </a:lnTo>
                <a:lnTo>
                  <a:pt x="10" y="3"/>
                </a:lnTo>
                <a:lnTo>
                  <a:pt x="10" y="2"/>
                </a:lnTo>
                <a:lnTo>
                  <a:pt x="9" y="1"/>
                </a:lnTo>
                <a:lnTo>
                  <a:pt x="8" y="1"/>
                </a:lnTo>
                <a:lnTo>
                  <a:pt x="8" y="0"/>
                </a:lnTo>
                <a:lnTo>
                  <a:pt x="7" y="0"/>
                </a:lnTo>
                <a:lnTo>
                  <a:pt x="6" y="0"/>
                </a:lnTo>
                <a:lnTo>
                  <a:pt x="4" y="0"/>
                </a:lnTo>
                <a:lnTo>
                  <a:pt x="4" y="0"/>
                </a:lnTo>
                <a:lnTo>
                  <a:pt x="3" y="1"/>
                </a:lnTo>
                <a:lnTo>
                  <a:pt x="2" y="1"/>
                </a:lnTo>
                <a:lnTo>
                  <a:pt x="1" y="2"/>
                </a:lnTo>
                <a:lnTo>
                  <a:pt x="1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1" y="7"/>
                </a:lnTo>
                <a:lnTo>
                  <a:pt x="1" y="8"/>
                </a:lnTo>
                <a:lnTo>
                  <a:pt x="2" y="9"/>
                </a:lnTo>
                <a:lnTo>
                  <a:pt x="3" y="9"/>
                </a:lnTo>
                <a:lnTo>
                  <a:pt x="4" y="10"/>
                </a:lnTo>
                <a:lnTo>
                  <a:pt x="4" y="10"/>
                </a:lnTo>
                <a:lnTo>
                  <a:pt x="6" y="10"/>
                </a:lnTo>
                <a:lnTo>
                  <a:pt x="7" y="10"/>
                </a:lnTo>
                <a:lnTo>
                  <a:pt x="8" y="10"/>
                </a:lnTo>
                <a:lnTo>
                  <a:pt x="8" y="9"/>
                </a:lnTo>
                <a:lnTo>
                  <a:pt x="9" y="9"/>
                </a:lnTo>
                <a:lnTo>
                  <a:pt x="10" y="8"/>
                </a:lnTo>
                <a:lnTo>
                  <a:pt x="10" y="7"/>
                </a:lnTo>
                <a:lnTo>
                  <a:pt x="11" y="6"/>
                </a:lnTo>
                <a:lnTo>
                  <a:pt x="11" y="5"/>
                </a:lnTo>
                <a:close/>
              </a:path>
            </a:pathLst>
          </a:custGeom>
          <a:solidFill>
            <a:srgbClr val="A676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Freeform 38"/>
          <p:cNvSpPr/>
          <p:nvPr/>
        </p:nvSpPr>
        <p:spPr>
          <a:xfrm>
            <a:off x="1778000" y="2197100"/>
            <a:ext cx="139700" cy="127000"/>
          </a:xfrm>
          <a:custGeom>
            <a:avLst/>
            <a:gdLst/>
            <a:ahLst/>
            <a:cxnLst/>
            <a:rect l="l" t="t" r="r" b="b"/>
            <a:pathLst>
              <a:path w="11" h="10">
                <a:moveTo>
                  <a:pt x="11" y="5"/>
                </a:moveTo>
                <a:lnTo>
                  <a:pt x="11" y="4"/>
                </a:lnTo>
                <a:lnTo>
                  <a:pt x="10" y="3"/>
                </a:lnTo>
                <a:lnTo>
                  <a:pt x="10" y="2"/>
                </a:lnTo>
                <a:lnTo>
                  <a:pt x="9" y="2"/>
                </a:lnTo>
                <a:lnTo>
                  <a:pt x="8" y="1"/>
                </a:lnTo>
                <a:lnTo>
                  <a:pt x="8" y="1"/>
                </a:lnTo>
                <a:lnTo>
                  <a:pt x="7" y="0"/>
                </a:lnTo>
                <a:lnTo>
                  <a:pt x="6" y="0"/>
                </a:lnTo>
                <a:lnTo>
                  <a:pt x="4" y="0"/>
                </a:lnTo>
                <a:lnTo>
                  <a:pt x="4" y="1"/>
                </a:lnTo>
                <a:lnTo>
                  <a:pt x="3" y="1"/>
                </a:lnTo>
                <a:lnTo>
                  <a:pt x="2" y="2"/>
                </a:lnTo>
                <a:lnTo>
                  <a:pt x="1" y="2"/>
                </a:lnTo>
                <a:lnTo>
                  <a:pt x="1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1" y="7"/>
                </a:lnTo>
                <a:lnTo>
                  <a:pt x="1" y="8"/>
                </a:lnTo>
                <a:lnTo>
                  <a:pt x="2" y="9"/>
                </a:lnTo>
                <a:lnTo>
                  <a:pt x="3" y="10"/>
                </a:lnTo>
                <a:lnTo>
                  <a:pt x="4" y="10"/>
                </a:lnTo>
                <a:lnTo>
                  <a:pt x="4" y="10"/>
                </a:lnTo>
                <a:lnTo>
                  <a:pt x="6" y="10"/>
                </a:lnTo>
                <a:lnTo>
                  <a:pt x="7" y="10"/>
                </a:lnTo>
                <a:lnTo>
                  <a:pt x="8" y="10"/>
                </a:lnTo>
                <a:lnTo>
                  <a:pt x="8" y="10"/>
                </a:lnTo>
                <a:lnTo>
                  <a:pt x="9" y="9"/>
                </a:lnTo>
                <a:lnTo>
                  <a:pt x="10" y="8"/>
                </a:lnTo>
                <a:lnTo>
                  <a:pt x="10" y="7"/>
                </a:lnTo>
                <a:lnTo>
                  <a:pt x="11" y="6"/>
                </a:lnTo>
                <a:lnTo>
                  <a:pt x="11" y="5"/>
                </a:lnTo>
                <a:close/>
              </a:path>
            </a:pathLst>
          </a:custGeom>
          <a:solidFill>
            <a:srgbClr val="A676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2095500" y="2374900"/>
            <a:ext cx="127000" cy="139700"/>
          </a:xfrm>
          <a:custGeom>
            <a:avLst/>
            <a:gdLst/>
            <a:ahLst/>
            <a:cxnLst/>
            <a:rect l="l" t="t" r="r" b="b"/>
            <a:pathLst>
              <a:path w="10" h="11">
                <a:moveTo>
                  <a:pt x="10" y="5"/>
                </a:moveTo>
                <a:lnTo>
                  <a:pt x="10" y="4"/>
                </a:lnTo>
                <a:lnTo>
                  <a:pt x="10" y="3"/>
                </a:lnTo>
                <a:lnTo>
                  <a:pt x="9" y="3"/>
                </a:lnTo>
                <a:lnTo>
                  <a:pt x="9" y="2"/>
                </a:lnTo>
                <a:lnTo>
                  <a:pt x="8" y="1"/>
                </a:lnTo>
                <a:lnTo>
                  <a:pt x="7" y="1"/>
                </a:lnTo>
                <a:lnTo>
                  <a:pt x="6" y="0"/>
                </a:lnTo>
                <a:lnTo>
                  <a:pt x="5" y="0"/>
                </a:lnTo>
                <a:lnTo>
                  <a:pt x="4" y="0"/>
                </a:lnTo>
                <a:lnTo>
                  <a:pt x="3" y="1"/>
                </a:lnTo>
                <a:lnTo>
                  <a:pt x="2" y="1"/>
                </a:lnTo>
                <a:lnTo>
                  <a:pt x="1" y="2"/>
                </a:lnTo>
                <a:lnTo>
                  <a:pt x="1" y="3"/>
                </a:lnTo>
                <a:lnTo>
                  <a:pt x="0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0" y="7"/>
                </a:lnTo>
                <a:lnTo>
                  <a:pt x="1" y="8"/>
                </a:lnTo>
                <a:lnTo>
                  <a:pt x="1" y="9"/>
                </a:lnTo>
                <a:lnTo>
                  <a:pt x="2" y="10"/>
                </a:lnTo>
                <a:lnTo>
                  <a:pt x="3" y="10"/>
                </a:lnTo>
                <a:lnTo>
                  <a:pt x="4" y="10"/>
                </a:lnTo>
                <a:lnTo>
                  <a:pt x="5" y="11"/>
                </a:lnTo>
                <a:lnTo>
                  <a:pt x="6" y="10"/>
                </a:lnTo>
                <a:lnTo>
                  <a:pt x="7" y="10"/>
                </a:lnTo>
                <a:lnTo>
                  <a:pt x="8" y="10"/>
                </a:lnTo>
                <a:lnTo>
                  <a:pt x="9" y="9"/>
                </a:lnTo>
                <a:lnTo>
                  <a:pt x="9" y="8"/>
                </a:lnTo>
                <a:lnTo>
                  <a:pt x="10" y="7"/>
                </a:lnTo>
                <a:lnTo>
                  <a:pt x="10" y="6"/>
                </a:lnTo>
                <a:lnTo>
                  <a:pt x="10" y="5"/>
                </a:lnTo>
                <a:close/>
              </a:path>
            </a:pathLst>
          </a:custGeom>
          <a:solidFill>
            <a:srgbClr val="A676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2400300" y="2197100"/>
            <a:ext cx="139700" cy="127000"/>
          </a:xfrm>
          <a:custGeom>
            <a:avLst/>
            <a:gdLst/>
            <a:ahLst/>
            <a:cxnLst/>
            <a:rect l="l" t="t" r="r" b="b"/>
            <a:pathLst>
              <a:path w="11" h="10">
                <a:moveTo>
                  <a:pt x="11" y="5"/>
                </a:moveTo>
                <a:lnTo>
                  <a:pt x="11" y="4"/>
                </a:lnTo>
                <a:lnTo>
                  <a:pt x="10" y="3"/>
                </a:lnTo>
                <a:lnTo>
                  <a:pt x="10" y="2"/>
                </a:lnTo>
                <a:lnTo>
                  <a:pt x="9" y="2"/>
                </a:lnTo>
                <a:lnTo>
                  <a:pt x="9" y="1"/>
                </a:lnTo>
                <a:lnTo>
                  <a:pt x="8" y="1"/>
                </a:lnTo>
                <a:lnTo>
                  <a:pt x="7" y="0"/>
                </a:lnTo>
                <a:lnTo>
                  <a:pt x="6" y="0"/>
                </a:lnTo>
                <a:lnTo>
                  <a:pt x="5" y="0"/>
                </a:lnTo>
                <a:lnTo>
                  <a:pt x="4" y="1"/>
                </a:lnTo>
                <a:lnTo>
                  <a:pt x="3" y="1"/>
                </a:lnTo>
                <a:lnTo>
                  <a:pt x="2" y="2"/>
                </a:lnTo>
                <a:lnTo>
                  <a:pt x="1" y="2"/>
                </a:lnTo>
                <a:lnTo>
                  <a:pt x="1" y="3"/>
                </a:lnTo>
                <a:lnTo>
                  <a:pt x="1" y="4"/>
                </a:lnTo>
                <a:lnTo>
                  <a:pt x="0" y="5"/>
                </a:lnTo>
                <a:lnTo>
                  <a:pt x="1" y="6"/>
                </a:lnTo>
                <a:lnTo>
                  <a:pt x="1" y="7"/>
                </a:lnTo>
                <a:lnTo>
                  <a:pt x="1" y="8"/>
                </a:lnTo>
                <a:lnTo>
                  <a:pt x="2" y="9"/>
                </a:lnTo>
                <a:lnTo>
                  <a:pt x="3" y="10"/>
                </a:lnTo>
                <a:lnTo>
                  <a:pt x="4" y="10"/>
                </a:lnTo>
                <a:lnTo>
                  <a:pt x="5" y="10"/>
                </a:lnTo>
                <a:lnTo>
                  <a:pt x="6" y="10"/>
                </a:lnTo>
                <a:lnTo>
                  <a:pt x="7" y="10"/>
                </a:lnTo>
                <a:lnTo>
                  <a:pt x="8" y="10"/>
                </a:lnTo>
                <a:lnTo>
                  <a:pt x="9" y="10"/>
                </a:lnTo>
                <a:lnTo>
                  <a:pt x="9" y="9"/>
                </a:lnTo>
                <a:lnTo>
                  <a:pt x="10" y="8"/>
                </a:lnTo>
                <a:lnTo>
                  <a:pt x="10" y="7"/>
                </a:lnTo>
                <a:lnTo>
                  <a:pt x="11" y="6"/>
                </a:lnTo>
                <a:lnTo>
                  <a:pt x="11" y="5"/>
                </a:lnTo>
                <a:close/>
              </a:path>
            </a:pathLst>
          </a:custGeom>
          <a:solidFill>
            <a:srgbClr val="A676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Freeform 41"/>
          <p:cNvSpPr/>
          <p:nvPr/>
        </p:nvSpPr>
        <p:spPr>
          <a:xfrm>
            <a:off x="2273300" y="2019300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0" h="10">
                <a:moveTo>
                  <a:pt x="10" y="5"/>
                </a:moveTo>
                <a:lnTo>
                  <a:pt x="10" y="4"/>
                </a:lnTo>
                <a:lnTo>
                  <a:pt x="10" y="3"/>
                </a:lnTo>
                <a:lnTo>
                  <a:pt x="10" y="2"/>
                </a:lnTo>
                <a:lnTo>
                  <a:pt x="9" y="1"/>
                </a:lnTo>
                <a:lnTo>
                  <a:pt x="8" y="1"/>
                </a:lnTo>
                <a:lnTo>
                  <a:pt x="7" y="0"/>
                </a:lnTo>
                <a:lnTo>
                  <a:pt x="6" y="0"/>
                </a:lnTo>
                <a:lnTo>
                  <a:pt x="5" y="0"/>
                </a:lnTo>
                <a:lnTo>
                  <a:pt x="4" y="0"/>
                </a:lnTo>
                <a:lnTo>
                  <a:pt x="3" y="0"/>
                </a:lnTo>
                <a:lnTo>
                  <a:pt x="2" y="1"/>
                </a:lnTo>
                <a:lnTo>
                  <a:pt x="2" y="1"/>
                </a:lnTo>
                <a:lnTo>
                  <a:pt x="1" y="2"/>
                </a:lnTo>
                <a:lnTo>
                  <a:pt x="1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1" y="7"/>
                </a:lnTo>
                <a:lnTo>
                  <a:pt x="1" y="8"/>
                </a:lnTo>
                <a:lnTo>
                  <a:pt x="2" y="9"/>
                </a:lnTo>
                <a:lnTo>
                  <a:pt x="2" y="9"/>
                </a:lnTo>
                <a:lnTo>
                  <a:pt x="3" y="10"/>
                </a:lnTo>
                <a:lnTo>
                  <a:pt x="4" y="10"/>
                </a:lnTo>
                <a:lnTo>
                  <a:pt x="5" y="10"/>
                </a:lnTo>
                <a:lnTo>
                  <a:pt x="6" y="10"/>
                </a:lnTo>
                <a:lnTo>
                  <a:pt x="7" y="10"/>
                </a:lnTo>
                <a:lnTo>
                  <a:pt x="8" y="9"/>
                </a:lnTo>
                <a:lnTo>
                  <a:pt x="9" y="9"/>
                </a:lnTo>
                <a:lnTo>
                  <a:pt x="10" y="8"/>
                </a:lnTo>
                <a:lnTo>
                  <a:pt x="10" y="7"/>
                </a:lnTo>
                <a:lnTo>
                  <a:pt x="10" y="6"/>
                </a:lnTo>
                <a:lnTo>
                  <a:pt x="10" y="5"/>
                </a:lnTo>
                <a:close/>
              </a:path>
            </a:pathLst>
          </a:custGeom>
          <a:solidFill>
            <a:srgbClr val="66A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Freeform 42"/>
          <p:cNvSpPr/>
          <p:nvPr/>
        </p:nvSpPr>
        <p:spPr>
          <a:xfrm>
            <a:off x="2184400" y="1866900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0" h="10">
                <a:moveTo>
                  <a:pt x="10" y="5"/>
                </a:moveTo>
                <a:lnTo>
                  <a:pt x="10" y="4"/>
                </a:lnTo>
                <a:lnTo>
                  <a:pt x="10" y="3"/>
                </a:lnTo>
                <a:lnTo>
                  <a:pt x="9" y="2"/>
                </a:lnTo>
                <a:lnTo>
                  <a:pt x="9" y="1"/>
                </a:lnTo>
                <a:lnTo>
                  <a:pt x="8" y="1"/>
                </a:lnTo>
                <a:lnTo>
                  <a:pt x="7" y="0"/>
                </a:lnTo>
                <a:lnTo>
                  <a:pt x="6" y="0"/>
                </a:lnTo>
                <a:lnTo>
                  <a:pt x="5" y="0"/>
                </a:lnTo>
                <a:lnTo>
                  <a:pt x="4" y="0"/>
                </a:lnTo>
                <a:lnTo>
                  <a:pt x="3" y="0"/>
                </a:lnTo>
                <a:lnTo>
                  <a:pt x="2" y="1"/>
                </a:lnTo>
                <a:lnTo>
                  <a:pt x="2" y="1"/>
                </a:lnTo>
                <a:lnTo>
                  <a:pt x="1" y="2"/>
                </a:lnTo>
                <a:lnTo>
                  <a:pt x="0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0" y="7"/>
                </a:lnTo>
                <a:lnTo>
                  <a:pt x="1" y="8"/>
                </a:lnTo>
                <a:lnTo>
                  <a:pt x="2" y="8"/>
                </a:lnTo>
                <a:lnTo>
                  <a:pt x="2" y="9"/>
                </a:lnTo>
                <a:lnTo>
                  <a:pt x="3" y="10"/>
                </a:lnTo>
                <a:lnTo>
                  <a:pt x="4" y="10"/>
                </a:lnTo>
                <a:lnTo>
                  <a:pt x="5" y="10"/>
                </a:lnTo>
                <a:lnTo>
                  <a:pt x="6" y="10"/>
                </a:lnTo>
                <a:lnTo>
                  <a:pt x="7" y="10"/>
                </a:lnTo>
                <a:lnTo>
                  <a:pt x="8" y="9"/>
                </a:lnTo>
                <a:lnTo>
                  <a:pt x="9" y="8"/>
                </a:lnTo>
                <a:lnTo>
                  <a:pt x="9" y="8"/>
                </a:lnTo>
                <a:lnTo>
                  <a:pt x="10" y="7"/>
                </a:lnTo>
                <a:lnTo>
                  <a:pt x="10" y="6"/>
                </a:lnTo>
                <a:lnTo>
                  <a:pt x="10" y="5"/>
                </a:lnTo>
                <a:close/>
              </a:path>
            </a:pathLst>
          </a:custGeom>
          <a:solidFill>
            <a:srgbClr val="66A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Freeform 43"/>
          <p:cNvSpPr/>
          <p:nvPr/>
        </p:nvSpPr>
        <p:spPr>
          <a:xfrm>
            <a:off x="2006600" y="1866900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0" h="10">
                <a:moveTo>
                  <a:pt x="10" y="5"/>
                </a:moveTo>
                <a:lnTo>
                  <a:pt x="10" y="4"/>
                </a:lnTo>
                <a:lnTo>
                  <a:pt x="10" y="3"/>
                </a:lnTo>
                <a:lnTo>
                  <a:pt x="9" y="2"/>
                </a:lnTo>
                <a:lnTo>
                  <a:pt x="9" y="1"/>
                </a:lnTo>
                <a:lnTo>
                  <a:pt x="8" y="1"/>
                </a:lnTo>
                <a:lnTo>
                  <a:pt x="7" y="0"/>
                </a:lnTo>
                <a:lnTo>
                  <a:pt x="6" y="0"/>
                </a:lnTo>
                <a:lnTo>
                  <a:pt x="5" y="0"/>
                </a:lnTo>
                <a:lnTo>
                  <a:pt x="4" y="0"/>
                </a:lnTo>
                <a:lnTo>
                  <a:pt x="3" y="0"/>
                </a:lnTo>
                <a:lnTo>
                  <a:pt x="2" y="1"/>
                </a:lnTo>
                <a:lnTo>
                  <a:pt x="1" y="1"/>
                </a:lnTo>
                <a:lnTo>
                  <a:pt x="1" y="2"/>
                </a:lnTo>
                <a:lnTo>
                  <a:pt x="0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0" y="7"/>
                </a:lnTo>
                <a:lnTo>
                  <a:pt x="1" y="8"/>
                </a:lnTo>
                <a:lnTo>
                  <a:pt x="1" y="8"/>
                </a:lnTo>
                <a:lnTo>
                  <a:pt x="2" y="9"/>
                </a:lnTo>
                <a:lnTo>
                  <a:pt x="3" y="10"/>
                </a:lnTo>
                <a:lnTo>
                  <a:pt x="4" y="10"/>
                </a:lnTo>
                <a:lnTo>
                  <a:pt x="5" y="10"/>
                </a:lnTo>
                <a:lnTo>
                  <a:pt x="6" y="10"/>
                </a:lnTo>
                <a:lnTo>
                  <a:pt x="7" y="10"/>
                </a:lnTo>
                <a:lnTo>
                  <a:pt x="8" y="9"/>
                </a:lnTo>
                <a:lnTo>
                  <a:pt x="9" y="8"/>
                </a:lnTo>
                <a:lnTo>
                  <a:pt x="9" y="8"/>
                </a:lnTo>
                <a:lnTo>
                  <a:pt x="10" y="7"/>
                </a:lnTo>
                <a:lnTo>
                  <a:pt x="10" y="6"/>
                </a:lnTo>
                <a:lnTo>
                  <a:pt x="10" y="5"/>
                </a:lnTo>
                <a:close/>
              </a:path>
            </a:pathLst>
          </a:custGeom>
          <a:solidFill>
            <a:srgbClr val="66A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Freeform 44"/>
          <p:cNvSpPr/>
          <p:nvPr/>
        </p:nvSpPr>
        <p:spPr>
          <a:xfrm>
            <a:off x="1917700" y="2019300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0" h="10">
                <a:moveTo>
                  <a:pt x="10" y="5"/>
                </a:moveTo>
                <a:lnTo>
                  <a:pt x="10" y="4"/>
                </a:lnTo>
                <a:lnTo>
                  <a:pt x="10" y="3"/>
                </a:lnTo>
                <a:lnTo>
                  <a:pt x="9" y="2"/>
                </a:lnTo>
                <a:lnTo>
                  <a:pt x="9" y="1"/>
                </a:lnTo>
                <a:lnTo>
                  <a:pt x="8" y="1"/>
                </a:lnTo>
                <a:lnTo>
                  <a:pt x="7" y="0"/>
                </a:lnTo>
                <a:lnTo>
                  <a:pt x="6" y="0"/>
                </a:lnTo>
                <a:lnTo>
                  <a:pt x="5" y="0"/>
                </a:lnTo>
                <a:lnTo>
                  <a:pt x="4" y="0"/>
                </a:lnTo>
                <a:lnTo>
                  <a:pt x="3" y="0"/>
                </a:lnTo>
                <a:lnTo>
                  <a:pt x="2" y="1"/>
                </a:lnTo>
                <a:lnTo>
                  <a:pt x="1" y="1"/>
                </a:lnTo>
                <a:lnTo>
                  <a:pt x="1" y="2"/>
                </a:lnTo>
                <a:lnTo>
                  <a:pt x="0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0" y="7"/>
                </a:lnTo>
                <a:lnTo>
                  <a:pt x="1" y="8"/>
                </a:lnTo>
                <a:lnTo>
                  <a:pt x="1" y="9"/>
                </a:lnTo>
                <a:lnTo>
                  <a:pt x="2" y="9"/>
                </a:lnTo>
                <a:lnTo>
                  <a:pt x="3" y="10"/>
                </a:lnTo>
                <a:lnTo>
                  <a:pt x="4" y="10"/>
                </a:lnTo>
                <a:lnTo>
                  <a:pt x="5" y="10"/>
                </a:lnTo>
                <a:lnTo>
                  <a:pt x="6" y="10"/>
                </a:lnTo>
                <a:lnTo>
                  <a:pt x="7" y="10"/>
                </a:lnTo>
                <a:lnTo>
                  <a:pt x="8" y="9"/>
                </a:lnTo>
                <a:lnTo>
                  <a:pt x="9" y="9"/>
                </a:lnTo>
                <a:lnTo>
                  <a:pt x="9" y="8"/>
                </a:lnTo>
                <a:lnTo>
                  <a:pt x="10" y="7"/>
                </a:lnTo>
                <a:lnTo>
                  <a:pt x="10" y="6"/>
                </a:lnTo>
                <a:lnTo>
                  <a:pt x="10" y="5"/>
                </a:lnTo>
                <a:close/>
              </a:path>
            </a:pathLst>
          </a:custGeom>
          <a:solidFill>
            <a:srgbClr val="66A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Freeform 45"/>
          <p:cNvSpPr/>
          <p:nvPr/>
        </p:nvSpPr>
        <p:spPr>
          <a:xfrm>
            <a:off x="2006600" y="2171700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0" h="10">
                <a:moveTo>
                  <a:pt x="10" y="5"/>
                </a:moveTo>
                <a:lnTo>
                  <a:pt x="10" y="4"/>
                </a:lnTo>
                <a:lnTo>
                  <a:pt x="10" y="3"/>
                </a:lnTo>
                <a:lnTo>
                  <a:pt x="9" y="2"/>
                </a:lnTo>
                <a:lnTo>
                  <a:pt x="9" y="2"/>
                </a:lnTo>
                <a:lnTo>
                  <a:pt x="8" y="1"/>
                </a:lnTo>
                <a:lnTo>
                  <a:pt x="7" y="1"/>
                </a:lnTo>
                <a:lnTo>
                  <a:pt x="6" y="0"/>
                </a:lnTo>
                <a:lnTo>
                  <a:pt x="5" y="0"/>
                </a:lnTo>
                <a:lnTo>
                  <a:pt x="4" y="0"/>
                </a:lnTo>
                <a:lnTo>
                  <a:pt x="3" y="1"/>
                </a:lnTo>
                <a:lnTo>
                  <a:pt x="2" y="1"/>
                </a:lnTo>
                <a:lnTo>
                  <a:pt x="1" y="2"/>
                </a:lnTo>
                <a:lnTo>
                  <a:pt x="1" y="2"/>
                </a:lnTo>
                <a:lnTo>
                  <a:pt x="0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0" y="7"/>
                </a:lnTo>
                <a:lnTo>
                  <a:pt x="1" y="8"/>
                </a:lnTo>
                <a:lnTo>
                  <a:pt x="1" y="9"/>
                </a:lnTo>
                <a:lnTo>
                  <a:pt x="2" y="10"/>
                </a:lnTo>
                <a:lnTo>
                  <a:pt x="3" y="10"/>
                </a:lnTo>
                <a:lnTo>
                  <a:pt x="4" y="10"/>
                </a:lnTo>
                <a:lnTo>
                  <a:pt x="5" y="10"/>
                </a:lnTo>
                <a:lnTo>
                  <a:pt x="6" y="10"/>
                </a:lnTo>
                <a:lnTo>
                  <a:pt x="7" y="10"/>
                </a:lnTo>
                <a:lnTo>
                  <a:pt x="8" y="10"/>
                </a:lnTo>
                <a:lnTo>
                  <a:pt x="9" y="9"/>
                </a:lnTo>
                <a:lnTo>
                  <a:pt x="9" y="8"/>
                </a:lnTo>
                <a:lnTo>
                  <a:pt x="10" y="7"/>
                </a:lnTo>
                <a:lnTo>
                  <a:pt x="10" y="6"/>
                </a:lnTo>
                <a:lnTo>
                  <a:pt x="10" y="5"/>
                </a:lnTo>
                <a:close/>
              </a:path>
            </a:pathLst>
          </a:custGeom>
          <a:solidFill>
            <a:srgbClr val="66A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2184400" y="2171700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0" h="10">
                <a:moveTo>
                  <a:pt x="10" y="5"/>
                </a:moveTo>
                <a:lnTo>
                  <a:pt x="10" y="4"/>
                </a:lnTo>
                <a:lnTo>
                  <a:pt x="10" y="3"/>
                </a:lnTo>
                <a:lnTo>
                  <a:pt x="9" y="2"/>
                </a:lnTo>
                <a:lnTo>
                  <a:pt x="9" y="2"/>
                </a:lnTo>
                <a:lnTo>
                  <a:pt x="8" y="1"/>
                </a:lnTo>
                <a:lnTo>
                  <a:pt x="7" y="1"/>
                </a:lnTo>
                <a:lnTo>
                  <a:pt x="6" y="0"/>
                </a:lnTo>
                <a:lnTo>
                  <a:pt x="5" y="0"/>
                </a:lnTo>
                <a:lnTo>
                  <a:pt x="4" y="0"/>
                </a:lnTo>
                <a:lnTo>
                  <a:pt x="3" y="1"/>
                </a:lnTo>
                <a:lnTo>
                  <a:pt x="2" y="1"/>
                </a:lnTo>
                <a:lnTo>
                  <a:pt x="2" y="2"/>
                </a:lnTo>
                <a:lnTo>
                  <a:pt x="1" y="2"/>
                </a:lnTo>
                <a:lnTo>
                  <a:pt x="0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0" y="7"/>
                </a:lnTo>
                <a:lnTo>
                  <a:pt x="1" y="8"/>
                </a:lnTo>
                <a:lnTo>
                  <a:pt x="2" y="9"/>
                </a:lnTo>
                <a:lnTo>
                  <a:pt x="2" y="10"/>
                </a:lnTo>
                <a:lnTo>
                  <a:pt x="3" y="10"/>
                </a:lnTo>
                <a:lnTo>
                  <a:pt x="4" y="10"/>
                </a:lnTo>
                <a:lnTo>
                  <a:pt x="5" y="10"/>
                </a:lnTo>
                <a:lnTo>
                  <a:pt x="6" y="10"/>
                </a:lnTo>
                <a:lnTo>
                  <a:pt x="7" y="10"/>
                </a:lnTo>
                <a:lnTo>
                  <a:pt x="8" y="10"/>
                </a:lnTo>
                <a:lnTo>
                  <a:pt x="9" y="9"/>
                </a:lnTo>
                <a:lnTo>
                  <a:pt x="9" y="8"/>
                </a:lnTo>
                <a:lnTo>
                  <a:pt x="10" y="7"/>
                </a:lnTo>
                <a:lnTo>
                  <a:pt x="10" y="6"/>
                </a:lnTo>
                <a:lnTo>
                  <a:pt x="10" y="5"/>
                </a:lnTo>
                <a:close/>
              </a:path>
            </a:pathLst>
          </a:custGeom>
          <a:solidFill>
            <a:srgbClr val="66A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3848100" y="1841500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0" h="10">
                <a:moveTo>
                  <a:pt x="10" y="5"/>
                </a:moveTo>
                <a:lnTo>
                  <a:pt x="10" y="4"/>
                </a:lnTo>
                <a:lnTo>
                  <a:pt x="10" y="3"/>
                </a:lnTo>
                <a:lnTo>
                  <a:pt x="9" y="2"/>
                </a:lnTo>
                <a:lnTo>
                  <a:pt x="9" y="1"/>
                </a:lnTo>
                <a:lnTo>
                  <a:pt x="8" y="1"/>
                </a:lnTo>
                <a:lnTo>
                  <a:pt x="7" y="0"/>
                </a:lnTo>
                <a:lnTo>
                  <a:pt x="6" y="0"/>
                </a:lnTo>
                <a:lnTo>
                  <a:pt x="5" y="0"/>
                </a:lnTo>
                <a:lnTo>
                  <a:pt x="4" y="0"/>
                </a:lnTo>
                <a:lnTo>
                  <a:pt x="3" y="0"/>
                </a:lnTo>
                <a:lnTo>
                  <a:pt x="2" y="1"/>
                </a:lnTo>
                <a:lnTo>
                  <a:pt x="1" y="1"/>
                </a:lnTo>
                <a:lnTo>
                  <a:pt x="1" y="2"/>
                </a:lnTo>
                <a:lnTo>
                  <a:pt x="0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0" y="7"/>
                </a:lnTo>
                <a:lnTo>
                  <a:pt x="1" y="8"/>
                </a:lnTo>
                <a:lnTo>
                  <a:pt x="1" y="9"/>
                </a:lnTo>
                <a:lnTo>
                  <a:pt x="2" y="9"/>
                </a:lnTo>
                <a:lnTo>
                  <a:pt x="3" y="10"/>
                </a:lnTo>
                <a:lnTo>
                  <a:pt x="4" y="10"/>
                </a:lnTo>
                <a:lnTo>
                  <a:pt x="5" y="10"/>
                </a:lnTo>
                <a:lnTo>
                  <a:pt x="6" y="10"/>
                </a:lnTo>
                <a:lnTo>
                  <a:pt x="7" y="10"/>
                </a:lnTo>
                <a:lnTo>
                  <a:pt x="8" y="9"/>
                </a:lnTo>
                <a:lnTo>
                  <a:pt x="9" y="9"/>
                </a:lnTo>
                <a:lnTo>
                  <a:pt x="9" y="8"/>
                </a:lnTo>
                <a:lnTo>
                  <a:pt x="10" y="7"/>
                </a:lnTo>
                <a:lnTo>
                  <a:pt x="10" y="6"/>
                </a:lnTo>
                <a:lnTo>
                  <a:pt x="10" y="5"/>
                </a:lnTo>
                <a:close/>
              </a:path>
            </a:pathLst>
          </a:custGeom>
          <a:solidFill>
            <a:srgbClr val="66A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3530600" y="1663700"/>
            <a:ext cx="139700" cy="127000"/>
          </a:xfrm>
          <a:custGeom>
            <a:avLst/>
            <a:gdLst/>
            <a:ahLst/>
            <a:cxnLst/>
            <a:rect l="l" t="t" r="r" b="b"/>
            <a:pathLst>
              <a:path w="11" h="10">
                <a:moveTo>
                  <a:pt x="11" y="5"/>
                </a:moveTo>
                <a:lnTo>
                  <a:pt x="11" y="4"/>
                </a:lnTo>
                <a:lnTo>
                  <a:pt x="10" y="3"/>
                </a:lnTo>
                <a:lnTo>
                  <a:pt x="10" y="2"/>
                </a:lnTo>
                <a:lnTo>
                  <a:pt x="9" y="1"/>
                </a:lnTo>
                <a:lnTo>
                  <a:pt x="8" y="0"/>
                </a:lnTo>
                <a:lnTo>
                  <a:pt x="7" y="0"/>
                </a:lnTo>
                <a:lnTo>
                  <a:pt x="7" y="0"/>
                </a:lnTo>
                <a:lnTo>
                  <a:pt x="5" y="0"/>
                </a:lnTo>
                <a:lnTo>
                  <a:pt x="4" y="0"/>
                </a:lnTo>
                <a:lnTo>
                  <a:pt x="3" y="0"/>
                </a:lnTo>
                <a:lnTo>
                  <a:pt x="3" y="0"/>
                </a:lnTo>
                <a:lnTo>
                  <a:pt x="2" y="1"/>
                </a:lnTo>
                <a:lnTo>
                  <a:pt x="1" y="2"/>
                </a:lnTo>
                <a:lnTo>
                  <a:pt x="1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1" y="7"/>
                </a:lnTo>
                <a:lnTo>
                  <a:pt x="1" y="8"/>
                </a:lnTo>
                <a:lnTo>
                  <a:pt x="2" y="8"/>
                </a:lnTo>
                <a:lnTo>
                  <a:pt x="3" y="9"/>
                </a:lnTo>
                <a:lnTo>
                  <a:pt x="3" y="9"/>
                </a:lnTo>
                <a:lnTo>
                  <a:pt x="4" y="10"/>
                </a:lnTo>
                <a:lnTo>
                  <a:pt x="5" y="10"/>
                </a:lnTo>
                <a:lnTo>
                  <a:pt x="7" y="10"/>
                </a:lnTo>
                <a:lnTo>
                  <a:pt x="7" y="9"/>
                </a:lnTo>
                <a:lnTo>
                  <a:pt x="8" y="9"/>
                </a:lnTo>
                <a:lnTo>
                  <a:pt x="9" y="8"/>
                </a:lnTo>
                <a:lnTo>
                  <a:pt x="10" y="8"/>
                </a:lnTo>
                <a:lnTo>
                  <a:pt x="10" y="7"/>
                </a:lnTo>
                <a:lnTo>
                  <a:pt x="11" y="6"/>
                </a:lnTo>
                <a:lnTo>
                  <a:pt x="11" y="5"/>
                </a:lnTo>
                <a:close/>
              </a:path>
            </a:pathLst>
          </a:custGeom>
          <a:solidFill>
            <a:srgbClr val="66A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Freeform 49"/>
          <p:cNvSpPr/>
          <p:nvPr/>
        </p:nvSpPr>
        <p:spPr>
          <a:xfrm>
            <a:off x="3225800" y="1841500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0" h="10">
                <a:moveTo>
                  <a:pt x="10" y="5"/>
                </a:moveTo>
                <a:lnTo>
                  <a:pt x="10" y="4"/>
                </a:lnTo>
                <a:lnTo>
                  <a:pt x="10" y="3"/>
                </a:lnTo>
                <a:lnTo>
                  <a:pt x="9" y="2"/>
                </a:lnTo>
                <a:lnTo>
                  <a:pt x="9" y="1"/>
                </a:lnTo>
                <a:lnTo>
                  <a:pt x="8" y="1"/>
                </a:lnTo>
                <a:lnTo>
                  <a:pt x="7" y="0"/>
                </a:lnTo>
                <a:lnTo>
                  <a:pt x="6" y="0"/>
                </a:lnTo>
                <a:lnTo>
                  <a:pt x="5" y="0"/>
                </a:lnTo>
                <a:lnTo>
                  <a:pt x="4" y="0"/>
                </a:lnTo>
                <a:lnTo>
                  <a:pt x="3" y="0"/>
                </a:lnTo>
                <a:lnTo>
                  <a:pt x="2" y="1"/>
                </a:lnTo>
                <a:lnTo>
                  <a:pt x="1" y="1"/>
                </a:lnTo>
                <a:lnTo>
                  <a:pt x="1" y="2"/>
                </a:lnTo>
                <a:lnTo>
                  <a:pt x="0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0" y="7"/>
                </a:lnTo>
                <a:lnTo>
                  <a:pt x="1" y="8"/>
                </a:lnTo>
                <a:lnTo>
                  <a:pt x="1" y="9"/>
                </a:lnTo>
                <a:lnTo>
                  <a:pt x="2" y="9"/>
                </a:lnTo>
                <a:lnTo>
                  <a:pt x="3" y="10"/>
                </a:lnTo>
                <a:lnTo>
                  <a:pt x="4" y="10"/>
                </a:lnTo>
                <a:lnTo>
                  <a:pt x="5" y="10"/>
                </a:lnTo>
                <a:lnTo>
                  <a:pt x="6" y="10"/>
                </a:lnTo>
                <a:lnTo>
                  <a:pt x="7" y="10"/>
                </a:lnTo>
                <a:lnTo>
                  <a:pt x="8" y="9"/>
                </a:lnTo>
                <a:lnTo>
                  <a:pt x="9" y="9"/>
                </a:lnTo>
                <a:lnTo>
                  <a:pt x="9" y="8"/>
                </a:lnTo>
                <a:lnTo>
                  <a:pt x="10" y="7"/>
                </a:lnTo>
                <a:lnTo>
                  <a:pt x="10" y="6"/>
                </a:lnTo>
                <a:lnTo>
                  <a:pt x="10" y="5"/>
                </a:lnTo>
                <a:close/>
              </a:path>
            </a:pathLst>
          </a:custGeom>
          <a:solidFill>
            <a:srgbClr val="66A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3225800" y="2197100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0" h="10">
                <a:moveTo>
                  <a:pt x="10" y="5"/>
                </a:moveTo>
                <a:lnTo>
                  <a:pt x="10" y="4"/>
                </a:lnTo>
                <a:lnTo>
                  <a:pt x="10" y="3"/>
                </a:lnTo>
                <a:lnTo>
                  <a:pt x="9" y="2"/>
                </a:lnTo>
                <a:lnTo>
                  <a:pt x="9" y="2"/>
                </a:lnTo>
                <a:lnTo>
                  <a:pt x="8" y="1"/>
                </a:lnTo>
                <a:lnTo>
                  <a:pt x="7" y="1"/>
                </a:lnTo>
                <a:lnTo>
                  <a:pt x="6" y="0"/>
                </a:lnTo>
                <a:lnTo>
                  <a:pt x="5" y="0"/>
                </a:lnTo>
                <a:lnTo>
                  <a:pt x="4" y="0"/>
                </a:lnTo>
                <a:lnTo>
                  <a:pt x="3" y="1"/>
                </a:lnTo>
                <a:lnTo>
                  <a:pt x="2" y="1"/>
                </a:lnTo>
                <a:lnTo>
                  <a:pt x="1" y="2"/>
                </a:lnTo>
                <a:lnTo>
                  <a:pt x="1" y="2"/>
                </a:lnTo>
                <a:lnTo>
                  <a:pt x="0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0" y="7"/>
                </a:lnTo>
                <a:lnTo>
                  <a:pt x="1" y="8"/>
                </a:lnTo>
                <a:lnTo>
                  <a:pt x="1" y="9"/>
                </a:lnTo>
                <a:lnTo>
                  <a:pt x="2" y="10"/>
                </a:lnTo>
                <a:lnTo>
                  <a:pt x="3" y="10"/>
                </a:lnTo>
                <a:lnTo>
                  <a:pt x="4" y="10"/>
                </a:lnTo>
                <a:lnTo>
                  <a:pt x="5" y="10"/>
                </a:lnTo>
                <a:lnTo>
                  <a:pt x="6" y="10"/>
                </a:lnTo>
                <a:lnTo>
                  <a:pt x="7" y="10"/>
                </a:lnTo>
                <a:lnTo>
                  <a:pt x="8" y="10"/>
                </a:lnTo>
                <a:lnTo>
                  <a:pt x="9" y="9"/>
                </a:lnTo>
                <a:lnTo>
                  <a:pt x="9" y="8"/>
                </a:lnTo>
                <a:lnTo>
                  <a:pt x="10" y="7"/>
                </a:lnTo>
                <a:lnTo>
                  <a:pt x="10" y="6"/>
                </a:lnTo>
                <a:lnTo>
                  <a:pt x="10" y="5"/>
                </a:lnTo>
                <a:close/>
              </a:path>
            </a:pathLst>
          </a:custGeom>
          <a:solidFill>
            <a:srgbClr val="66A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Freeform 51"/>
          <p:cNvSpPr/>
          <p:nvPr/>
        </p:nvSpPr>
        <p:spPr>
          <a:xfrm>
            <a:off x="3530600" y="2374900"/>
            <a:ext cx="139700" cy="139700"/>
          </a:xfrm>
          <a:custGeom>
            <a:avLst/>
            <a:gdLst/>
            <a:ahLst/>
            <a:cxnLst/>
            <a:rect l="l" t="t" r="r" b="b"/>
            <a:pathLst>
              <a:path w="11" h="11">
                <a:moveTo>
                  <a:pt x="11" y="5"/>
                </a:moveTo>
                <a:lnTo>
                  <a:pt x="11" y="4"/>
                </a:lnTo>
                <a:lnTo>
                  <a:pt x="10" y="3"/>
                </a:lnTo>
                <a:lnTo>
                  <a:pt x="10" y="3"/>
                </a:lnTo>
                <a:lnTo>
                  <a:pt x="9" y="2"/>
                </a:lnTo>
                <a:lnTo>
                  <a:pt x="8" y="1"/>
                </a:lnTo>
                <a:lnTo>
                  <a:pt x="7" y="1"/>
                </a:lnTo>
                <a:lnTo>
                  <a:pt x="7" y="0"/>
                </a:lnTo>
                <a:lnTo>
                  <a:pt x="5" y="0"/>
                </a:lnTo>
                <a:lnTo>
                  <a:pt x="4" y="0"/>
                </a:lnTo>
                <a:lnTo>
                  <a:pt x="3" y="1"/>
                </a:lnTo>
                <a:lnTo>
                  <a:pt x="3" y="1"/>
                </a:lnTo>
                <a:lnTo>
                  <a:pt x="2" y="2"/>
                </a:lnTo>
                <a:lnTo>
                  <a:pt x="1" y="3"/>
                </a:lnTo>
                <a:lnTo>
                  <a:pt x="1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1" y="7"/>
                </a:lnTo>
                <a:lnTo>
                  <a:pt x="1" y="8"/>
                </a:lnTo>
                <a:lnTo>
                  <a:pt x="2" y="9"/>
                </a:lnTo>
                <a:lnTo>
                  <a:pt x="3" y="10"/>
                </a:lnTo>
                <a:lnTo>
                  <a:pt x="3" y="10"/>
                </a:lnTo>
                <a:lnTo>
                  <a:pt x="4" y="10"/>
                </a:lnTo>
                <a:lnTo>
                  <a:pt x="5" y="11"/>
                </a:lnTo>
                <a:lnTo>
                  <a:pt x="7" y="10"/>
                </a:lnTo>
                <a:lnTo>
                  <a:pt x="7" y="10"/>
                </a:lnTo>
                <a:lnTo>
                  <a:pt x="8" y="10"/>
                </a:lnTo>
                <a:lnTo>
                  <a:pt x="9" y="9"/>
                </a:lnTo>
                <a:lnTo>
                  <a:pt x="10" y="8"/>
                </a:lnTo>
                <a:lnTo>
                  <a:pt x="10" y="7"/>
                </a:lnTo>
                <a:lnTo>
                  <a:pt x="11" y="6"/>
                </a:lnTo>
                <a:lnTo>
                  <a:pt x="11" y="5"/>
                </a:lnTo>
                <a:close/>
              </a:path>
            </a:pathLst>
          </a:custGeom>
          <a:solidFill>
            <a:srgbClr val="66A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3848100" y="2197100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0" h="10">
                <a:moveTo>
                  <a:pt x="10" y="5"/>
                </a:moveTo>
                <a:lnTo>
                  <a:pt x="10" y="4"/>
                </a:lnTo>
                <a:lnTo>
                  <a:pt x="10" y="3"/>
                </a:lnTo>
                <a:lnTo>
                  <a:pt x="9" y="2"/>
                </a:lnTo>
                <a:lnTo>
                  <a:pt x="9" y="2"/>
                </a:lnTo>
                <a:lnTo>
                  <a:pt x="8" y="1"/>
                </a:lnTo>
                <a:lnTo>
                  <a:pt x="7" y="1"/>
                </a:lnTo>
                <a:lnTo>
                  <a:pt x="6" y="0"/>
                </a:lnTo>
                <a:lnTo>
                  <a:pt x="5" y="0"/>
                </a:lnTo>
                <a:lnTo>
                  <a:pt x="4" y="0"/>
                </a:lnTo>
                <a:lnTo>
                  <a:pt x="3" y="1"/>
                </a:lnTo>
                <a:lnTo>
                  <a:pt x="2" y="1"/>
                </a:lnTo>
                <a:lnTo>
                  <a:pt x="1" y="2"/>
                </a:lnTo>
                <a:lnTo>
                  <a:pt x="1" y="2"/>
                </a:lnTo>
                <a:lnTo>
                  <a:pt x="0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0" y="7"/>
                </a:lnTo>
                <a:lnTo>
                  <a:pt x="1" y="8"/>
                </a:lnTo>
                <a:lnTo>
                  <a:pt x="1" y="9"/>
                </a:lnTo>
                <a:lnTo>
                  <a:pt x="2" y="10"/>
                </a:lnTo>
                <a:lnTo>
                  <a:pt x="3" y="10"/>
                </a:lnTo>
                <a:lnTo>
                  <a:pt x="4" y="10"/>
                </a:lnTo>
                <a:lnTo>
                  <a:pt x="5" y="10"/>
                </a:lnTo>
                <a:lnTo>
                  <a:pt x="6" y="10"/>
                </a:lnTo>
                <a:lnTo>
                  <a:pt x="7" y="10"/>
                </a:lnTo>
                <a:lnTo>
                  <a:pt x="8" y="10"/>
                </a:lnTo>
                <a:lnTo>
                  <a:pt x="9" y="9"/>
                </a:lnTo>
                <a:lnTo>
                  <a:pt x="9" y="8"/>
                </a:lnTo>
                <a:lnTo>
                  <a:pt x="10" y="7"/>
                </a:lnTo>
                <a:lnTo>
                  <a:pt x="10" y="6"/>
                </a:lnTo>
                <a:lnTo>
                  <a:pt x="10" y="5"/>
                </a:lnTo>
                <a:close/>
              </a:path>
            </a:pathLst>
          </a:custGeom>
          <a:solidFill>
            <a:srgbClr val="66A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0" y="3146740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2880003" y="3146740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6" name="Picture 5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57" name="Picture 5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58" name="TextBox 57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GA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variants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8000" y="359888"/>
            <a:ext cx="567739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1">
                <a:solidFill>
                  <a:srgbClr val="003373"/>
                </a:solidFill>
                <a:latin typeface="Josefin Sans"/>
              </a:rPr>
              <a:t>Generational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genetic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algorithm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(GGA)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60057" y="724584"/>
            <a:ext cx="532533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all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parents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replaced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their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offsprings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next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generation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856751" y="2573414"/>
            <a:ext cx="3928644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Generation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285819" y="2573414"/>
            <a:ext cx="2499576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Generation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98770" y="3150928"/>
            <a:ext cx="8866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624270" y="3150704"/>
            <a:ext cx="1611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84</a:t>
            </a:r>
          </a:p>
        </p:txBody>
      </p:sp>
    </p:spTree>
  </p:cSld>
  <p:clrMapOvr>
    <a:masterClrMapping/>
  </p:clrMapOvr>
</p:sld>
</file>

<file path=ppt/slides/slide2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Freeform 35"/>
          <p:cNvSpPr/>
          <p:nvPr/>
        </p:nvSpPr>
        <p:spPr>
          <a:xfrm>
            <a:off x="2400300" y="1841500"/>
            <a:ext cx="139700" cy="127000"/>
          </a:xfrm>
          <a:custGeom>
            <a:avLst/>
            <a:gdLst/>
            <a:ahLst/>
            <a:cxnLst/>
            <a:rect l="l" t="t" r="r" b="b"/>
            <a:pathLst>
              <a:path w="11" h="10">
                <a:moveTo>
                  <a:pt x="11" y="5"/>
                </a:moveTo>
                <a:lnTo>
                  <a:pt x="11" y="4"/>
                </a:lnTo>
                <a:lnTo>
                  <a:pt x="10" y="3"/>
                </a:lnTo>
                <a:lnTo>
                  <a:pt x="10" y="2"/>
                </a:lnTo>
                <a:lnTo>
                  <a:pt x="9" y="1"/>
                </a:lnTo>
                <a:lnTo>
                  <a:pt x="9" y="1"/>
                </a:lnTo>
                <a:lnTo>
                  <a:pt x="8" y="0"/>
                </a:lnTo>
                <a:lnTo>
                  <a:pt x="7" y="0"/>
                </a:lnTo>
                <a:lnTo>
                  <a:pt x="6" y="0"/>
                </a:lnTo>
                <a:lnTo>
                  <a:pt x="5" y="0"/>
                </a:lnTo>
                <a:lnTo>
                  <a:pt x="4" y="0"/>
                </a:lnTo>
                <a:lnTo>
                  <a:pt x="3" y="1"/>
                </a:lnTo>
                <a:lnTo>
                  <a:pt x="2" y="1"/>
                </a:lnTo>
                <a:lnTo>
                  <a:pt x="1" y="2"/>
                </a:lnTo>
                <a:lnTo>
                  <a:pt x="1" y="3"/>
                </a:lnTo>
                <a:lnTo>
                  <a:pt x="1" y="4"/>
                </a:lnTo>
                <a:lnTo>
                  <a:pt x="0" y="5"/>
                </a:lnTo>
                <a:lnTo>
                  <a:pt x="1" y="6"/>
                </a:lnTo>
                <a:lnTo>
                  <a:pt x="1" y="7"/>
                </a:lnTo>
                <a:lnTo>
                  <a:pt x="1" y="8"/>
                </a:lnTo>
                <a:lnTo>
                  <a:pt x="2" y="9"/>
                </a:lnTo>
                <a:lnTo>
                  <a:pt x="3" y="9"/>
                </a:lnTo>
                <a:lnTo>
                  <a:pt x="4" y="10"/>
                </a:lnTo>
                <a:lnTo>
                  <a:pt x="5" y="10"/>
                </a:lnTo>
                <a:lnTo>
                  <a:pt x="6" y="10"/>
                </a:lnTo>
                <a:lnTo>
                  <a:pt x="7" y="10"/>
                </a:lnTo>
                <a:lnTo>
                  <a:pt x="8" y="10"/>
                </a:lnTo>
                <a:lnTo>
                  <a:pt x="9" y="9"/>
                </a:lnTo>
                <a:lnTo>
                  <a:pt x="9" y="9"/>
                </a:lnTo>
                <a:lnTo>
                  <a:pt x="10" y="8"/>
                </a:lnTo>
                <a:lnTo>
                  <a:pt x="10" y="7"/>
                </a:lnTo>
                <a:lnTo>
                  <a:pt x="11" y="6"/>
                </a:lnTo>
                <a:lnTo>
                  <a:pt x="11" y="5"/>
                </a:lnTo>
                <a:close/>
              </a:path>
            </a:pathLst>
          </a:custGeom>
          <a:solidFill>
            <a:srgbClr val="A676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2095500" y="1663700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0" h="10">
                <a:moveTo>
                  <a:pt x="10" y="5"/>
                </a:moveTo>
                <a:lnTo>
                  <a:pt x="10" y="4"/>
                </a:lnTo>
                <a:lnTo>
                  <a:pt x="10" y="3"/>
                </a:lnTo>
                <a:lnTo>
                  <a:pt x="9" y="2"/>
                </a:lnTo>
                <a:lnTo>
                  <a:pt x="9" y="1"/>
                </a:lnTo>
                <a:lnTo>
                  <a:pt x="8" y="0"/>
                </a:lnTo>
                <a:lnTo>
                  <a:pt x="7" y="0"/>
                </a:lnTo>
                <a:lnTo>
                  <a:pt x="6" y="0"/>
                </a:lnTo>
                <a:lnTo>
                  <a:pt x="5" y="0"/>
                </a:lnTo>
                <a:lnTo>
                  <a:pt x="4" y="0"/>
                </a:lnTo>
                <a:lnTo>
                  <a:pt x="3" y="0"/>
                </a:lnTo>
                <a:lnTo>
                  <a:pt x="2" y="0"/>
                </a:lnTo>
                <a:lnTo>
                  <a:pt x="1" y="1"/>
                </a:lnTo>
                <a:lnTo>
                  <a:pt x="1" y="2"/>
                </a:lnTo>
                <a:lnTo>
                  <a:pt x="0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0" y="7"/>
                </a:lnTo>
                <a:lnTo>
                  <a:pt x="1" y="8"/>
                </a:lnTo>
                <a:lnTo>
                  <a:pt x="1" y="8"/>
                </a:lnTo>
                <a:lnTo>
                  <a:pt x="2" y="9"/>
                </a:lnTo>
                <a:lnTo>
                  <a:pt x="3" y="9"/>
                </a:lnTo>
                <a:lnTo>
                  <a:pt x="4" y="10"/>
                </a:lnTo>
                <a:lnTo>
                  <a:pt x="5" y="10"/>
                </a:lnTo>
                <a:lnTo>
                  <a:pt x="6" y="10"/>
                </a:lnTo>
                <a:lnTo>
                  <a:pt x="7" y="9"/>
                </a:lnTo>
                <a:lnTo>
                  <a:pt x="8" y="9"/>
                </a:lnTo>
                <a:lnTo>
                  <a:pt x="9" y="8"/>
                </a:lnTo>
                <a:lnTo>
                  <a:pt x="9" y="8"/>
                </a:lnTo>
                <a:lnTo>
                  <a:pt x="10" y="7"/>
                </a:lnTo>
                <a:lnTo>
                  <a:pt x="10" y="6"/>
                </a:lnTo>
                <a:lnTo>
                  <a:pt x="10" y="5"/>
                </a:lnTo>
                <a:close/>
              </a:path>
            </a:pathLst>
          </a:custGeom>
          <a:solidFill>
            <a:srgbClr val="A676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1778000" y="1841500"/>
            <a:ext cx="139700" cy="127000"/>
          </a:xfrm>
          <a:custGeom>
            <a:avLst/>
            <a:gdLst/>
            <a:ahLst/>
            <a:cxnLst/>
            <a:rect l="l" t="t" r="r" b="b"/>
            <a:pathLst>
              <a:path w="11" h="10">
                <a:moveTo>
                  <a:pt x="11" y="5"/>
                </a:moveTo>
                <a:lnTo>
                  <a:pt x="11" y="4"/>
                </a:lnTo>
                <a:lnTo>
                  <a:pt x="10" y="3"/>
                </a:lnTo>
                <a:lnTo>
                  <a:pt x="10" y="2"/>
                </a:lnTo>
                <a:lnTo>
                  <a:pt x="9" y="1"/>
                </a:lnTo>
                <a:lnTo>
                  <a:pt x="8" y="1"/>
                </a:lnTo>
                <a:lnTo>
                  <a:pt x="8" y="0"/>
                </a:lnTo>
                <a:lnTo>
                  <a:pt x="7" y="0"/>
                </a:lnTo>
                <a:lnTo>
                  <a:pt x="6" y="0"/>
                </a:lnTo>
                <a:lnTo>
                  <a:pt x="4" y="0"/>
                </a:lnTo>
                <a:lnTo>
                  <a:pt x="4" y="0"/>
                </a:lnTo>
                <a:lnTo>
                  <a:pt x="3" y="1"/>
                </a:lnTo>
                <a:lnTo>
                  <a:pt x="2" y="1"/>
                </a:lnTo>
                <a:lnTo>
                  <a:pt x="1" y="2"/>
                </a:lnTo>
                <a:lnTo>
                  <a:pt x="1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1" y="7"/>
                </a:lnTo>
                <a:lnTo>
                  <a:pt x="1" y="8"/>
                </a:lnTo>
                <a:lnTo>
                  <a:pt x="2" y="9"/>
                </a:lnTo>
                <a:lnTo>
                  <a:pt x="3" y="9"/>
                </a:lnTo>
                <a:lnTo>
                  <a:pt x="4" y="10"/>
                </a:lnTo>
                <a:lnTo>
                  <a:pt x="4" y="10"/>
                </a:lnTo>
                <a:lnTo>
                  <a:pt x="6" y="10"/>
                </a:lnTo>
                <a:lnTo>
                  <a:pt x="7" y="10"/>
                </a:lnTo>
                <a:lnTo>
                  <a:pt x="8" y="10"/>
                </a:lnTo>
                <a:lnTo>
                  <a:pt x="8" y="9"/>
                </a:lnTo>
                <a:lnTo>
                  <a:pt x="9" y="9"/>
                </a:lnTo>
                <a:lnTo>
                  <a:pt x="10" y="8"/>
                </a:lnTo>
                <a:lnTo>
                  <a:pt x="10" y="7"/>
                </a:lnTo>
                <a:lnTo>
                  <a:pt x="11" y="6"/>
                </a:lnTo>
                <a:lnTo>
                  <a:pt x="11" y="5"/>
                </a:lnTo>
                <a:close/>
              </a:path>
            </a:pathLst>
          </a:custGeom>
          <a:solidFill>
            <a:srgbClr val="A676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Freeform 38"/>
          <p:cNvSpPr/>
          <p:nvPr/>
        </p:nvSpPr>
        <p:spPr>
          <a:xfrm>
            <a:off x="1778000" y="2197100"/>
            <a:ext cx="139700" cy="127000"/>
          </a:xfrm>
          <a:custGeom>
            <a:avLst/>
            <a:gdLst/>
            <a:ahLst/>
            <a:cxnLst/>
            <a:rect l="l" t="t" r="r" b="b"/>
            <a:pathLst>
              <a:path w="11" h="10">
                <a:moveTo>
                  <a:pt x="11" y="5"/>
                </a:moveTo>
                <a:lnTo>
                  <a:pt x="11" y="4"/>
                </a:lnTo>
                <a:lnTo>
                  <a:pt x="10" y="3"/>
                </a:lnTo>
                <a:lnTo>
                  <a:pt x="10" y="2"/>
                </a:lnTo>
                <a:lnTo>
                  <a:pt x="9" y="2"/>
                </a:lnTo>
                <a:lnTo>
                  <a:pt x="8" y="1"/>
                </a:lnTo>
                <a:lnTo>
                  <a:pt x="8" y="1"/>
                </a:lnTo>
                <a:lnTo>
                  <a:pt x="7" y="0"/>
                </a:lnTo>
                <a:lnTo>
                  <a:pt x="6" y="0"/>
                </a:lnTo>
                <a:lnTo>
                  <a:pt x="4" y="0"/>
                </a:lnTo>
                <a:lnTo>
                  <a:pt x="4" y="1"/>
                </a:lnTo>
                <a:lnTo>
                  <a:pt x="3" y="1"/>
                </a:lnTo>
                <a:lnTo>
                  <a:pt x="2" y="2"/>
                </a:lnTo>
                <a:lnTo>
                  <a:pt x="1" y="2"/>
                </a:lnTo>
                <a:lnTo>
                  <a:pt x="1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1" y="7"/>
                </a:lnTo>
                <a:lnTo>
                  <a:pt x="1" y="8"/>
                </a:lnTo>
                <a:lnTo>
                  <a:pt x="2" y="9"/>
                </a:lnTo>
                <a:lnTo>
                  <a:pt x="3" y="10"/>
                </a:lnTo>
                <a:lnTo>
                  <a:pt x="4" y="10"/>
                </a:lnTo>
                <a:lnTo>
                  <a:pt x="4" y="10"/>
                </a:lnTo>
                <a:lnTo>
                  <a:pt x="6" y="10"/>
                </a:lnTo>
                <a:lnTo>
                  <a:pt x="7" y="10"/>
                </a:lnTo>
                <a:lnTo>
                  <a:pt x="8" y="10"/>
                </a:lnTo>
                <a:lnTo>
                  <a:pt x="8" y="10"/>
                </a:lnTo>
                <a:lnTo>
                  <a:pt x="9" y="9"/>
                </a:lnTo>
                <a:lnTo>
                  <a:pt x="10" y="8"/>
                </a:lnTo>
                <a:lnTo>
                  <a:pt x="10" y="7"/>
                </a:lnTo>
                <a:lnTo>
                  <a:pt x="11" y="6"/>
                </a:lnTo>
                <a:lnTo>
                  <a:pt x="11" y="5"/>
                </a:lnTo>
                <a:close/>
              </a:path>
            </a:pathLst>
          </a:custGeom>
          <a:solidFill>
            <a:srgbClr val="A676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2095500" y="2374900"/>
            <a:ext cx="127000" cy="139700"/>
          </a:xfrm>
          <a:custGeom>
            <a:avLst/>
            <a:gdLst/>
            <a:ahLst/>
            <a:cxnLst/>
            <a:rect l="l" t="t" r="r" b="b"/>
            <a:pathLst>
              <a:path w="10" h="11">
                <a:moveTo>
                  <a:pt x="10" y="5"/>
                </a:moveTo>
                <a:lnTo>
                  <a:pt x="10" y="4"/>
                </a:lnTo>
                <a:lnTo>
                  <a:pt x="10" y="3"/>
                </a:lnTo>
                <a:lnTo>
                  <a:pt x="9" y="3"/>
                </a:lnTo>
                <a:lnTo>
                  <a:pt x="9" y="2"/>
                </a:lnTo>
                <a:lnTo>
                  <a:pt x="8" y="1"/>
                </a:lnTo>
                <a:lnTo>
                  <a:pt x="7" y="1"/>
                </a:lnTo>
                <a:lnTo>
                  <a:pt x="6" y="0"/>
                </a:lnTo>
                <a:lnTo>
                  <a:pt x="5" y="0"/>
                </a:lnTo>
                <a:lnTo>
                  <a:pt x="4" y="0"/>
                </a:lnTo>
                <a:lnTo>
                  <a:pt x="3" y="1"/>
                </a:lnTo>
                <a:lnTo>
                  <a:pt x="2" y="1"/>
                </a:lnTo>
                <a:lnTo>
                  <a:pt x="1" y="2"/>
                </a:lnTo>
                <a:lnTo>
                  <a:pt x="1" y="3"/>
                </a:lnTo>
                <a:lnTo>
                  <a:pt x="0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0" y="7"/>
                </a:lnTo>
                <a:lnTo>
                  <a:pt x="1" y="8"/>
                </a:lnTo>
                <a:lnTo>
                  <a:pt x="1" y="9"/>
                </a:lnTo>
                <a:lnTo>
                  <a:pt x="2" y="10"/>
                </a:lnTo>
                <a:lnTo>
                  <a:pt x="3" y="10"/>
                </a:lnTo>
                <a:lnTo>
                  <a:pt x="4" y="10"/>
                </a:lnTo>
                <a:lnTo>
                  <a:pt x="5" y="11"/>
                </a:lnTo>
                <a:lnTo>
                  <a:pt x="6" y="10"/>
                </a:lnTo>
                <a:lnTo>
                  <a:pt x="7" y="10"/>
                </a:lnTo>
                <a:lnTo>
                  <a:pt x="8" y="10"/>
                </a:lnTo>
                <a:lnTo>
                  <a:pt x="9" y="9"/>
                </a:lnTo>
                <a:lnTo>
                  <a:pt x="9" y="8"/>
                </a:lnTo>
                <a:lnTo>
                  <a:pt x="10" y="7"/>
                </a:lnTo>
                <a:lnTo>
                  <a:pt x="10" y="6"/>
                </a:lnTo>
                <a:lnTo>
                  <a:pt x="10" y="5"/>
                </a:lnTo>
                <a:close/>
              </a:path>
            </a:pathLst>
          </a:custGeom>
          <a:solidFill>
            <a:srgbClr val="A676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2400300" y="2197100"/>
            <a:ext cx="139700" cy="127000"/>
          </a:xfrm>
          <a:custGeom>
            <a:avLst/>
            <a:gdLst/>
            <a:ahLst/>
            <a:cxnLst/>
            <a:rect l="l" t="t" r="r" b="b"/>
            <a:pathLst>
              <a:path w="11" h="10">
                <a:moveTo>
                  <a:pt x="11" y="5"/>
                </a:moveTo>
                <a:lnTo>
                  <a:pt x="11" y="4"/>
                </a:lnTo>
                <a:lnTo>
                  <a:pt x="10" y="3"/>
                </a:lnTo>
                <a:lnTo>
                  <a:pt x="10" y="2"/>
                </a:lnTo>
                <a:lnTo>
                  <a:pt x="9" y="2"/>
                </a:lnTo>
                <a:lnTo>
                  <a:pt x="9" y="1"/>
                </a:lnTo>
                <a:lnTo>
                  <a:pt x="8" y="1"/>
                </a:lnTo>
                <a:lnTo>
                  <a:pt x="7" y="0"/>
                </a:lnTo>
                <a:lnTo>
                  <a:pt x="6" y="0"/>
                </a:lnTo>
                <a:lnTo>
                  <a:pt x="5" y="0"/>
                </a:lnTo>
                <a:lnTo>
                  <a:pt x="4" y="1"/>
                </a:lnTo>
                <a:lnTo>
                  <a:pt x="3" y="1"/>
                </a:lnTo>
                <a:lnTo>
                  <a:pt x="2" y="2"/>
                </a:lnTo>
                <a:lnTo>
                  <a:pt x="1" y="2"/>
                </a:lnTo>
                <a:lnTo>
                  <a:pt x="1" y="3"/>
                </a:lnTo>
                <a:lnTo>
                  <a:pt x="1" y="4"/>
                </a:lnTo>
                <a:lnTo>
                  <a:pt x="0" y="5"/>
                </a:lnTo>
                <a:lnTo>
                  <a:pt x="1" y="6"/>
                </a:lnTo>
                <a:lnTo>
                  <a:pt x="1" y="7"/>
                </a:lnTo>
                <a:lnTo>
                  <a:pt x="1" y="8"/>
                </a:lnTo>
                <a:lnTo>
                  <a:pt x="2" y="9"/>
                </a:lnTo>
                <a:lnTo>
                  <a:pt x="3" y="10"/>
                </a:lnTo>
                <a:lnTo>
                  <a:pt x="4" y="10"/>
                </a:lnTo>
                <a:lnTo>
                  <a:pt x="5" y="10"/>
                </a:lnTo>
                <a:lnTo>
                  <a:pt x="6" y="10"/>
                </a:lnTo>
                <a:lnTo>
                  <a:pt x="7" y="10"/>
                </a:lnTo>
                <a:lnTo>
                  <a:pt x="8" y="10"/>
                </a:lnTo>
                <a:lnTo>
                  <a:pt x="9" y="10"/>
                </a:lnTo>
                <a:lnTo>
                  <a:pt x="9" y="9"/>
                </a:lnTo>
                <a:lnTo>
                  <a:pt x="10" y="8"/>
                </a:lnTo>
                <a:lnTo>
                  <a:pt x="10" y="7"/>
                </a:lnTo>
                <a:lnTo>
                  <a:pt x="11" y="6"/>
                </a:lnTo>
                <a:lnTo>
                  <a:pt x="11" y="5"/>
                </a:lnTo>
                <a:close/>
              </a:path>
            </a:pathLst>
          </a:custGeom>
          <a:solidFill>
            <a:srgbClr val="A676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Freeform 41"/>
          <p:cNvSpPr/>
          <p:nvPr/>
        </p:nvSpPr>
        <p:spPr>
          <a:xfrm>
            <a:off x="2273300" y="2019300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0" h="10">
                <a:moveTo>
                  <a:pt x="10" y="5"/>
                </a:moveTo>
                <a:lnTo>
                  <a:pt x="10" y="4"/>
                </a:lnTo>
                <a:lnTo>
                  <a:pt x="10" y="3"/>
                </a:lnTo>
                <a:lnTo>
                  <a:pt x="10" y="2"/>
                </a:lnTo>
                <a:lnTo>
                  <a:pt x="9" y="1"/>
                </a:lnTo>
                <a:lnTo>
                  <a:pt x="8" y="1"/>
                </a:lnTo>
                <a:lnTo>
                  <a:pt x="7" y="0"/>
                </a:lnTo>
                <a:lnTo>
                  <a:pt x="6" y="0"/>
                </a:lnTo>
                <a:lnTo>
                  <a:pt x="5" y="0"/>
                </a:lnTo>
                <a:lnTo>
                  <a:pt x="4" y="0"/>
                </a:lnTo>
                <a:lnTo>
                  <a:pt x="3" y="0"/>
                </a:lnTo>
                <a:lnTo>
                  <a:pt x="2" y="1"/>
                </a:lnTo>
                <a:lnTo>
                  <a:pt x="2" y="1"/>
                </a:lnTo>
                <a:lnTo>
                  <a:pt x="1" y="2"/>
                </a:lnTo>
                <a:lnTo>
                  <a:pt x="1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1" y="7"/>
                </a:lnTo>
                <a:lnTo>
                  <a:pt x="1" y="8"/>
                </a:lnTo>
                <a:lnTo>
                  <a:pt x="2" y="9"/>
                </a:lnTo>
                <a:lnTo>
                  <a:pt x="2" y="9"/>
                </a:lnTo>
                <a:lnTo>
                  <a:pt x="3" y="10"/>
                </a:lnTo>
                <a:lnTo>
                  <a:pt x="4" y="10"/>
                </a:lnTo>
                <a:lnTo>
                  <a:pt x="5" y="10"/>
                </a:lnTo>
                <a:lnTo>
                  <a:pt x="6" y="10"/>
                </a:lnTo>
                <a:lnTo>
                  <a:pt x="7" y="10"/>
                </a:lnTo>
                <a:lnTo>
                  <a:pt x="8" y="9"/>
                </a:lnTo>
                <a:lnTo>
                  <a:pt x="9" y="9"/>
                </a:lnTo>
                <a:lnTo>
                  <a:pt x="10" y="8"/>
                </a:lnTo>
                <a:lnTo>
                  <a:pt x="10" y="7"/>
                </a:lnTo>
                <a:lnTo>
                  <a:pt x="10" y="6"/>
                </a:lnTo>
                <a:lnTo>
                  <a:pt x="10" y="5"/>
                </a:lnTo>
                <a:close/>
              </a:path>
            </a:pathLst>
          </a:custGeom>
          <a:solidFill>
            <a:srgbClr val="66A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Freeform 42"/>
          <p:cNvSpPr/>
          <p:nvPr/>
        </p:nvSpPr>
        <p:spPr>
          <a:xfrm>
            <a:off x="2184400" y="1866900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0" h="10">
                <a:moveTo>
                  <a:pt x="10" y="5"/>
                </a:moveTo>
                <a:lnTo>
                  <a:pt x="10" y="4"/>
                </a:lnTo>
                <a:lnTo>
                  <a:pt x="10" y="3"/>
                </a:lnTo>
                <a:lnTo>
                  <a:pt x="9" y="2"/>
                </a:lnTo>
                <a:lnTo>
                  <a:pt x="9" y="1"/>
                </a:lnTo>
                <a:lnTo>
                  <a:pt x="8" y="1"/>
                </a:lnTo>
                <a:lnTo>
                  <a:pt x="7" y="0"/>
                </a:lnTo>
                <a:lnTo>
                  <a:pt x="6" y="0"/>
                </a:lnTo>
                <a:lnTo>
                  <a:pt x="5" y="0"/>
                </a:lnTo>
                <a:lnTo>
                  <a:pt x="4" y="0"/>
                </a:lnTo>
                <a:lnTo>
                  <a:pt x="3" y="0"/>
                </a:lnTo>
                <a:lnTo>
                  <a:pt x="2" y="1"/>
                </a:lnTo>
                <a:lnTo>
                  <a:pt x="2" y="1"/>
                </a:lnTo>
                <a:lnTo>
                  <a:pt x="1" y="2"/>
                </a:lnTo>
                <a:lnTo>
                  <a:pt x="0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0" y="7"/>
                </a:lnTo>
                <a:lnTo>
                  <a:pt x="1" y="8"/>
                </a:lnTo>
                <a:lnTo>
                  <a:pt x="2" y="8"/>
                </a:lnTo>
                <a:lnTo>
                  <a:pt x="2" y="9"/>
                </a:lnTo>
                <a:lnTo>
                  <a:pt x="3" y="10"/>
                </a:lnTo>
                <a:lnTo>
                  <a:pt x="4" y="10"/>
                </a:lnTo>
                <a:lnTo>
                  <a:pt x="5" y="10"/>
                </a:lnTo>
                <a:lnTo>
                  <a:pt x="6" y="10"/>
                </a:lnTo>
                <a:lnTo>
                  <a:pt x="7" y="10"/>
                </a:lnTo>
                <a:lnTo>
                  <a:pt x="8" y="9"/>
                </a:lnTo>
                <a:lnTo>
                  <a:pt x="9" y="8"/>
                </a:lnTo>
                <a:lnTo>
                  <a:pt x="9" y="8"/>
                </a:lnTo>
                <a:lnTo>
                  <a:pt x="10" y="7"/>
                </a:lnTo>
                <a:lnTo>
                  <a:pt x="10" y="6"/>
                </a:lnTo>
                <a:lnTo>
                  <a:pt x="10" y="5"/>
                </a:lnTo>
                <a:close/>
              </a:path>
            </a:pathLst>
          </a:custGeom>
          <a:solidFill>
            <a:srgbClr val="66A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Freeform 43"/>
          <p:cNvSpPr/>
          <p:nvPr/>
        </p:nvSpPr>
        <p:spPr>
          <a:xfrm>
            <a:off x="2006600" y="1866900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0" h="10">
                <a:moveTo>
                  <a:pt x="10" y="5"/>
                </a:moveTo>
                <a:lnTo>
                  <a:pt x="10" y="4"/>
                </a:lnTo>
                <a:lnTo>
                  <a:pt x="10" y="3"/>
                </a:lnTo>
                <a:lnTo>
                  <a:pt x="9" y="2"/>
                </a:lnTo>
                <a:lnTo>
                  <a:pt x="9" y="1"/>
                </a:lnTo>
                <a:lnTo>
                  <a:pt x="8" y="1"/>
                </a:lnTo>
                <a:lnTo>
                  <a:pt x="7" y="0"/>
                </a:lnTo>
                <a:lnTo>
                  <a:pt x="6" y="0"/>
                </a:lnTo>
                <a:lnTo>
                  <a:pt x="5" y="0"/>
                </a:lnTo>
                <a:lnTo>
                  <a:pt x="4" y="0"/>
                </a:lnTo>
                <a:lnTo>
                  <a:pt x="3" y="0"/>
                </a:lnTo>
                <a:lnTo>
                  <a:pt x="2" y="1"/>
                </a:lnTo>
                <a:lnTo>
                  <a:pt x="1" y="1"/>
                </a:lnTo>
                <a:lnTo>
                  <a:pt x="1" y="2"/>
                </a:lnTo>
                <a:lnTo>
                  <a:pt x="0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0" y="7"/>
                </a:lnTo>
                <a:lnTo>
                  <a:pt x="1" y="8"/>
                </a:lnTo>
                <a:lnTo>
                  <a:pt x="1" y="8"/>
                </a:lnTo>
                <a:lnTo>
                  <a:pt x="2" y="9"/>
                </a:lnTo>
                <a:lnTo>
                  <a:pt x="3" y="10"/>
                </a:lnTo>
                <a:lnTo>
                  <a:pt x="4" y="10"/>
                </a:lnTo>
                <a:lnTo>
                  <a:pt x="5" y="10"/>
                </a:lnTo>
                <a:lnTo>
                  <a:pt x="6" y="10"/>
                </a:lnTo>
                <a:lnTo>
                  <a:pt x="7" y="10"/>
                </a:lnTo>
                <a:lnTo>
                  <a:pt x="8" y="9"/>
                </a:lnTo>
                <a:lnTo>
                  <a:pt x="9" y="8"/>
                </a:lnTo>
                <a:lnTo>
                  <a:pt x="9" y="8"/>
                </a:lnTo>
                <a:lnTo>
                  <a:pt x="10" y="7"/>
                </a:lnTo>
                <a:lnTo>
                  <a:pt x="10" y="6"/>
                </a:lnTo>
                <a:lnTo>
                  <a:pt x="10" y="5"/>
                </a:lnTo>
                <a:close/>
              </a:path>
            </a:pathLst>
          </a:custGeom>
          <a:solidFill>
            <a:srgbClr val="66A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Freeform 44"/>
          <p:cNvSpPr/>
          <p:nvPr/>
        </p:nvSpPr>
        <p:spPr>
          <a:xfrm>
            <a:off x="1917700" y="2019300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0" h="10">
                <a:moveTo>
                  <a:pt x="10" y="5"/>
                </a:moveTo>
                <a:lnTo>
                  <a:pt x="10" y="4"/>
                </a:lnTo>
                <a:lnTo>
                  <a:pt x="10" y="3"/>
                </a:lnTo>
                <a:lnTo>
                  <a:pt x="9" y="2"/>
                </a:lnTo>
                <a:lnTo>
                  <a:pt x="9" y="1"/>
                </a:lnTo>
                <a:lnTo>
                  <a:pt x="8" y="1"/>
                </a:lnTo>
                <a:lnTo>
                  <a:pt x="7" y="0"/>
                </a:lnTo>
                <a:lnTo>
                  <a:pt x="6" y="0"/>
                </a:lnTo>
                <a:lnTo>
                  <a:pt x="5" y="0"/>
                </a:lnTo>
                <a:lnTo>
                  <a:pt x="4" y="0"/>
                </a:lnTo>
                <a:lnTo>
                  <a:pt x="3" y="0"/>
                </a:lnTo>
                <a:lnTo>
                  <a:pt x="2" y="1"/>
                </a:lnTo>
                <a:lnTo>
                  <a:pt x="1" y="1"/>
                </a:lnTo>
                <a:lnTo>
                  <a:pt x="1" y="2"/>
                </a:lnTo>
                <a:lnTo>
                  <a:pt x="0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0" y="7"/>
                </a:lnTo>
                <a:lnTo>
                  <a:pt x="1" y="8"/>
                </a:lnTo>
                <a:lnTo>
                  <a:pt x="1" y="9"/>
                </a:lnTo>
                <a:lnTo>
                  <a:pt x="2" y="9"/>
                </a:lnTo>
                <a:lnTo>
                  <a:pt x="3" y="10"/>
                </a:lnTo>
                <a:lnTo>
                  <a:pt x="4" y="10"/>
                </a:lnTo>
                <a:lnTo>
                  <a:pt x="5" y="10"/>
                </a:lnTo>
                <a:lnTo>
                  <a:pt x="6" y="10"/>
                </a:lnTo>
                <a:lnTo>
                  <a:pt x="7" y="10"/>
                </a:lnTo>
                <a:lnTo>
                  <a:pt x="8" y="9"/>
                </a:lnTo>
                <a:lnTo>
                  <a:pt x="9" y="9"/>
                </a:lnTo>
                <a:lnTo>
                  <a:pt x="9" y="8"/>
                </a:lnTo>
                <a:lnTo>
                  <a:pt x="10" y="7"/>
                </a:lnTo>
                <a:lnTo>
                  <a:pt x="10" y="6"/>
                </a:lnTo>
                <a:lnTo>
                  <a:pt x="10" y="5"/>
                </a:lnTo>
                <a:close/>
              </a:path>
            </a:pathLst>
          </a:custGeom>
          <a:solidFill>
            <a:srgbClr val="66A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Freeform 45"/>
          <p:cNvSpPr/>
          <p:nvPr/>
        </p:nvSpPr>
        <p:spPr>
          <a:xfrm>
            <a:off x="2006600" y="2171700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0" h="10">
                <a:moveTo>
                  <a:pt x="10" y="5"/>
                </a:moveTo>
                <a:lnTo>
                  <a:pt x="10" y="4"/>
                </a:lnTo>
                <a:lnTo>
                  <a:pt x="10" y="3"/>
                </a:lnTo>
                <a:lnTo>
                  <a:pt x="9" y="2"/>
                </a:lnTo>
                <a:lnTo>
                  <a:pt x="9" y="2"/>
                </a:lnTo>
                <a:lnTo>
                  <a:pt x="8" y="1"/>
                </a:lnTo>
                <a:lnTo>
                  <a:pt x="7" y="1"/>
                </a:lnTo>
                <a:lnTo>
                  <a:pt x="6" y="0"/>
                </a:lnTo>
                <a:lnTo>
                  <a:pt x="5" y="0"/>
                </a:lnTo>
                <a:lnTo>
                  <a:pt x="4" y="0"/>
                </a:lnTo>
                <a:lnTo>
                  <a:pt x="3" y="1"/>
                </a:lnTo>
                <a:lnTo>
                  <a:pt x="2" y="1"/>
                </a:lnTo>
                <a:lnTo>
                  <a:pt x="1" y="2"/>
                </a:lnTo>
                <a:lnTo>
                  <a:pt x="1" y="2"/>
                </a:lnTo>
                <a:lnTo>
                  <a:pt x="0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0" y="7"/>
                </a:lnTo>
                <a:lnTo>
                  <a:pt x="1" y="8"/>
                </a:lnTo>
                <a:lnTo>
                  <a:pt x="1" y="9"/>
                </a:lnTo>
                <a:lnTo>
                  <a:pt x="2" y="10"/>
                </a:lnTo>
                <a:lnTo>
                  <a:pt x="3" y="10"/>
                </a:lnTo>
                <a:lnTo>
                  <a:pt x="4" y="10"/>
                </a:lnTo>
                <a:lnTo>
                  <a:pt x="5" y="10"/>
                </a:lnTo>
                <a:lnTo>
                  <a:pt x="6" y="10"/>
                </a:lnTo>
                <a:lnTo>
                  <a:pt x="7" y="10"/>
                </a:lnTo>
                <a:lnTo>
                  <a:pt x="8" y="10"/>
                </a:lnTo>
                <a:lnTo>
                  <a:pt x="9" y="9"/>
                </a:lnTo>
                <a:lnTo>
                  <a:pt x="9" y="8"/>
                </a:lnTo>
                <a:lnTo>
                  <a:pt x="10" y="7"/>
                </a:lnTo>
                <a:lnTo>
                  <a:pt x="10" y="6"/>
                </a:lnTo>
                <a:lnTo>
                  <a:pt x="10" y="5"/>
                </a:lnTo>
                <a:close/>
              </a:path>
            </a:pathLst>
          </a:custGeom>
          <a:solidFill>
            <a:srgbClr val="66A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2184400" y="2171700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0" h="10">
                <a:moveTo>
                  <a:pt x="10" y="5"/>
                </a:moveTo>
                <a:lnTo>
                  <a:pt x="10" y="4"/>
                </a:lnTo>
                <a:lnTo>
                  <a:pt x="10" y="3"/>
                </a:lnTo>
                <a:lnTo>
                  <a:pt x="9" y="2"/>
                </a:lnTo>
                <a:lnTo>
                  <a:pt x="9" y="2"/>
                </a:lnTo>
                <a:lnTo>
                  <a:pt x="8" y="1"/>
                </a:lnTo>
                <a:lnTo>
                  <a:pt x="7" y="1"/>
                </a:lnTo>
                <a:lnTo>
                  <a:pt x="6" y="0"/>
                </a:lnTo>
                <a:lnTo>
                  <a:pt x="5" y="0"/>
                </a:lnTo>
                <a:lnTo>
                  <a:pt x="4" y="0"/>
                </a:lnTo>
                <a:lnTo>
                  <a:pt x="3" y="1"/>
                </a:lnTo>
                <a:lnTo>
                  <a:pt x="2" y="1"/>
                </a:lnTo>
                <a:lnTo>
                  <a:pt x="2" y="2"/>
                </a:lnTo>
                <a:lnTo>
                  <a:pt x="1" y="2"/>
                </a:lnTo>
                <a:lnTo>
                  <a:pt x="0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0" y="7"/>
                </a:lnTo>
                <a:lnTo>
                  <a:pt x="1" y="8"/>
                </a:lnTo>
                <a:lnTo>
                  <a:pt x="2" y="9"/>
                </a:lnTo>
                <a:lnTo>
                  <a:pt x="2" y="10"/>
                </a:lnTo>
                <a:lnTo>
                  <a:pt x="3" y="10"/>
                </a:lnTo>
                <a:lnTo>
                  <a:pt x="4" y="10"/>
                </a:lnTo>
                <a:lnTo>
                  <a:pt x="5" y="10"/>
                </a:lnTo>
                <a:lnTo>
                  <a:pt x="6" y="10"/>
                </a:lnTo>
                <a:lnTo>
                  <a:pt x="7" y="10"/>
                </a:lnTo>
                <a:lnTo>
                  <a:pt x="8" y="10"/>
                </a:lnTo>
                <a:lnTo>
                  <a:pt x="9" y="9"/>
                </a:lnTo>
                <a:lnTo>
                  <a:pt x="9" y="8"/>
                </a:lnTo>
                <a:lnTo>
                  <a:pt x="10" y="7"/>
                </a:lnTo>
                <a:lnTo>
                  <a:pt x="10" y="6"/>
                </a:lnTo>
                <a:lnTo>
                  <a:pt x="10" y="5"/>
                </a:lnTo>
                <a:close/>
              </a:path>
            </a:pathLst>
          </a:custGeom>
          <a:solidFill>
            <a:srgbClr val="66A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3848100" y="1841500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0" h="10">
                <a:moveTo>
                  <a:pt x="10" y="5"/>
                </a:moveTo>
                <a:lnTo>
                  <a:pt x="10" y="4"/>
                </a:lnTo>
                <a:lnTo>
                  <a:pt x="10" y="3"/>
                </a:lnTo>
                <a:lnTo>
                  <a:pt x="9" y="2"/>
                </a:lnTo>
                <a:lnTo>
                  <a:pt x="9" y="1"/>
                </a:lnTo>
                <a:lnTo>
                  <a:pt x="8" y="1"/>
                </a:lnTo>
                <a:lnTo>
                  <a:pt x="7" y="0"/>
                </a:lnTo>
                <a:lnTo>
                  <a:pt x="6" y="0"/>
                </a:lnTo>
                <a:lnTo>
                  <a:pt x="5" y="0"/>
                </a:lnTo>
                <a:lnTo>
                  <a:pt x="4" y="0"/>
                </a:lnTo>
                <a:lnTo>
                  <a:pt x="3" y="0"/>
                </a:lnTo>
                <a:lnTo>
                  <a:pt x="2" y="1"/>
                </a:lnTo>
                <a:lnTo>
                  <a:pt x="1" y="1"/>
                </a:lnTo>
                <a:lnTo>
                  <a:pt x="1" y="2"/>
                </a:lnTo>
                <a:lnTo>
                  <a:pt x="0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0" y="7"/>
                </a:lnTo>
                <a:lnTo>
                  <a:pt x="1" y="8"/>
                </a:lnTo>
                <a:lnTo>
                  <a:pt x="1" y="9"/>
                </a:lnTo>
                <a:lnTo>
                  <a:pt x="2" y="9"/>
                </a:lnTo>
                <a:lnTo>
                  <a:pt x="3" y="10"/>
                </a:lnTo>
                <a:lnTo>
                  <a:pt x="4" y="10"/>
                </a:lnTo>
                <a:lnTo>
                  <a:pt x="5" y="10"/>
                </a:lnTo>
                <a:lnTo>
                  <a:pt x="6" y="10"/>
                </a:lnTo>
                <a:lnTo>
                  <a:pt x="7" y="10"/>
                </a:lnTo>
                <a:lnTo>
                  <a:pt x="8" y="9"/>
                </a:lnTo>
                <a:lnTo>
                  <a:pt x="9" y="9"/>
                </a:lnTo>
                <a:lnTo>
                  <a:pt x="9" y="8"/>
                </a:lnTo>
                <a:lnTo>
                  <a:pt x="10" y="7"/>
                </a:lnTo>
                <a:lnTo>
                  <a:pt x="10" y="6"/>
                </a:lnTo>
                <a:lnTo>
                  <a:pt x="10" y="5"/>
                </a:lnTo>
                <a:close/>
              </a:path>
            </a:pathLst>
          </a:custGeom>
          <a:solidFill>
            <a:srgbClr val="66A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3530600" y="1663700"/>
            <a:ext cx="139700" cy="127000"/>
          </a:xfrm>
          <a:custGeom>
            <a:avLst/>
            <a:gdLst/>
            <a:ahLst/>
            <a:cxnLst/>
            <a:rect l="l" t="t" r="r" b="b"/>
            <a:pathLst>
              <a:path w="11" h="10">
                <a:moveTo>
                  <a:pt x="11" y="5"/>
                </a:moveTo>
                <a:lnTo>
                  <a:pt x="11" y="4"/>
                </a:lnTo>
                <a:lnTo>
                  <a:pt x="10" y="3"/>
                </a:lnTo>
                <a:lnTo>
                  <a:pt x="10" y="2"/>
                </a:lnTo>
                <a:lnTo>
                  <a:pt x="9" y="1"/>
                </a:lnTo>
                <a:lnTo>
                  <a:pt x="8" y="0"/>
                </a:lnTo>
                <a:lnTo>
                  <a:pt x="7" y="0"/>
                </a:lnTo>
                <a:lnTo>
                  <a:pt x="7" y="0"/>
                </a:lnTo>
                <a:lnTo>
                  <a:pt x="5" y="0"/>
                </a:lnTo>
                <a:lnTo>
                  <a:pt x="4" y="0"/>
                </a:lnTo>
                <a:lnTo>
                  <a:pt x="3" y="0"/>
                </a:lnTo>
                <a:lnTo>
                  <a:pt x="3" y="0"/>
                </a:lnTo>
                <a:lnTo>
                  <a:pt x="2" y="1"/>
                </a:lnTo>
                <a:lnTo>
                  <a:pt x="1" y="2"/>
                </a:lnTo>
                <a:lnTo>
                  <a:pt x="1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1" y="7"/>
                </a:lnTo>
                <a:lnTo>
                  <a:pt x="1" y="8"/>
                </a:lnTo>
                <a:lnTo>
                  <a:pt x="2" y="8"/>
                </a:lnTo>
                <a:lnTo>
                  <a:pt x="3" y="9"/>
                </a:lnTo>
                <a:lnTo>
                  <a:pt x="3" y="9"/>
                </a:lnTo>
                <a:lnTo>
                  <a:pt x="4" y="10"/>
                </a:lnTo>
                <a:lnTo>
                  <a:pt x="5" y="10"/>
                </a:lnTo>
                <a:lnTo>
                  <a:pt x="7" y="10"/>
                </a:lnTo>
                <a:lnTo>
                  <a:pt x="7" y="9"/>
                </a:lnTo>
                <a:lnTo>
                  <a:pt x="8" y="9"/>
                </a:lnTo>
                <a:lnTo>
                  <a:pt x="9" y="8"/>
                </a:lnTo>
                <a:lnTo>
                  <a:pt x="10" y="8"/>
                </a:lnTo>
                <a:lnTo>
                  <a:pt x="10" y="7"/>
                </a:lnTo>
                <a:lnTo>
                  <a:pt x="11" y="6"/>
                </a:lnTo>
                <a:lnTo>
                  <a:pt x="11" y="5"/>
                </a:lnTo>
                <a:close/>
              </a:path>
            </a:pathLst>
          </a:custGeom>
          <a:solidFill>
            <a:srgbClr val="66A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Freeform 49"/>
          <p:cNvSpPr/>
          <p:nvPr/>
        </p:nvSpPr>
        <p:spPr>
          <a:xfrm>
            <a:off x="3225800" y="1841500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0" h="10">
                <a:moveTo>
                  <a:pt x="10" y="5"/>
                </a:moveTo>
                <a:lnTo>
                  <a:pt x="10" y="4"/>
                </a:lnTo>
                <a:lnTo>
                  <a:pt x="10" y="3"/>
                </a:lnTo>
                <a:lnTo>
                  <a:pt x="9" y="2"/>
                </a:lnTo>
                <a:lnTo>
                  <a:pt x="9" y="1"/>
                </a:lnTo>
                <a:lnTo>
                  <a:pt x="8" y="1"/>
                </a:lnTo>
                <a:lnTo>
                  <a:pt x="7" y="0"/>
                </a:lnTo>
                <a:lnTo>
                  <a:pt x="6" y="0"/>
                </a:lnTo>
                <a:lnTo>
                  <a:pt x="5" y="0"/>
                </a:lnTo>
                <a:lnTo>
                  <a:pt x="4" y="0"/>
                </a:lnTo>
                <a:lnTo>
                  <a:pt x="3" y="0"/>
                </a:lnTo>
                <a:lnTo>
                  <a:pt x="2" y="1"/>
                </a:lnTo>
                <a:lnTo>
                  <a:pt x="1" y="1"/>
                </a:lnTo>
                <a:lnTo>
                  <a:pt x="1" y="2"/>
                </a:lnTo>
                <a:lnTo>
                  <a:pt x="0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0" y="7"/>
                </a:lnTo>
                <a:lnTo>
                  <a:pt x="1" y="8"/>
                </a:lnTo>
                <a:lnTo>
                  <a:pt x="1" y="9"/>
                </a:lnTo>
                <a:lnTo>
                  <a:pt x="2" y="9"/>
                </a:lnTo>
                <a:lnTo>
                  <a:pt x="3" y="10"/>
                </a:lnTo>
                <a:lnTo>
                  <a:pt x="4" y="10"/>
                </a:lnTo>
                <a:lnTo>
                  <a:pt x="5" y="10"/>
                </a:lnTo>
                <a:lnTo>
                  <a:pt x="6" y="10"/>
                </a:lnTo>
                <a:lnTo>
                  <a:pt x="7" y="10"/>
                </a:lnTo>
                <a:lnTo>
                  <a:pt x="8" y="9"/>
                </a:lnTo>
                <a:lnTo>
                  <a:pt x="9" y="9"/>
                </a:lnTo>
                <a:lnTo>
                  <a:pt x="9" y="8"/>
                </a:lnTo>
                <a:lnTo>
                  <a:pt x="10" y="7"/>
                </a:lnTo>
                <a:lnTo>
                  <a:pt x="10" y="6"/>
                </a:lnTo>
                <a:lnTo>
                  <a:pt x="10" y="5"/>
                </a:lnTo>
                <a:close/>
              </a:path>
            </a:pathLst>
          </a:custGeom>
          <a:solidFill>
            <a:srgbClr val="66A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3225800" y="2197100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0" h="10">
                <a:moveTo>
                  <a:pt x="10" y="5"/>
                </a:moveTo>
                <a:lnTo>
                  <a:pt x="10" y="4"/>
                </a:lnTo>
                <a:lnTo>
                  <a:pt x="10" y="3"/>
                </a:lnTo>
                <a:lnTo>
                  <a:pt x="9" y="2"/>
                </a:lnTo>
                <a:lnTo>
                  <a:pt x="9" y="2"/>
                </a:lnTo>
                <a:lnTo>
                  <a:pt x="8" y="1"/>
                </a:lnTo>
                <a:lnTo>
                  <a:pt x="7" y="1"/>
                </a:lnTo>
                <a:lnTo>
                  <a:pt x="6" y="0"/>
                </a:lnTo>
                <a:lnTo>
                  <a:pt x="5" y="0"/>
                </a:lnTo>
                <a:lnTo>
                  <a:pt x="4" y="0"/>
                </a:lnTo>
                <a:lnTo>
                  <a:pt x="3" y="1"/>
                </a:lnTo>
                <a:lnTo>
                  <a:pt x="2" y="1"/>
                </a:lnTo>
                <a:lnTo>
                  <a:pt x="1" y="2"/>
                </a:lnTo>
                <a:lnTo>
                  <a:pt x="1" y="2"/>
                </a:lnTo>
                <a:lnTo>
                  <a:pt x="0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0" y="7"/>
                </a:lnTo>
                <a:lnTo>
                  <a:pt x="1" y="8"/>
                </a:lnTo>
                <a:lnTo>
                  <a:pt x="1" y="9"/>
                </a:lnTo>
                <a:lnTo>
                  <a:pt x="2" y="10"/>
                </a:lnTo>
                <a:lnTo>
                  <a:pt x="3" y="10"/>
                </a:lnTo>
                <a:lnTo>
                  <a:pt x="4" y="10"/>
                </a:lnTo>
                <a:lnTo>
                  <a:pt x="5" y="10"/>
                </a:lnTo>
                <a:lnTo>
                  <a:pt x="6" y="10"/>
                </a:lnTo>
                <a:lnTo>
                  <a:pt x="7" y="10"/>
                </a:lnTo>
                <a:lnTo>
                  <a:pt x="8" y="10"/>
                </a:lnTo>
                <a:lnTo>
                  <a:pt x="9" y="9"/>
                </a:lnTo>
                <a:lnTo>
                  <a:pt x="9" y="8"/>
                </a:lnTo>
                <a:lnTo>
                  <a:pt x="10" y="7"/>
                </a:lnTo>
                <a:lnTo>
                  <a:pt x="10" y="6"/>
                </a:lnTo>
                <a:lnTo>
                  <a:pt x="10" y="5"/>
                </a:lnTo>
                <a:close/>
              </a:path>
            </a:pathLst>
          </a:custGeom>
          <a:solidFill>
            <a:srgbClr val="66A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Freeform 51"/>
          <p:cNvSpPr/>
          <p:nvPr/>
        </p:nvSpPr>
        <p:spPr>
          <a:xfrm>
            <a:off x="3530600" y="2374900"/>
            <a:ext cx="139700" cy="139700"/>
          </a:xfrm>
          <a:custGeom>
            <a:avLst/>
            <a:gdLst/>
            <a:ahLst/>
            <a:cxnLst/>
            <a:rect l="l" t="t" r="r" b="b"/>
            <a:pathLst>
              <a:path w="11" h="11">
                <a:moveTo>
                  <a:pt x="11" y="5"/>
                </a:moveTo>
                <a:lnTo>
                  <a:pt x="11" y="4"/>
                </a:lnTo>
                <a:lnTo>
                  <a:pt x="10" y="3"/>
                </a:lnTo>
                <a:lnTo>
                  <a:pt x="10" y="3"/>
                </a:lnTo>
                <a:lnTo>
                  <a:pt x="9" y="2"/>
                </a:lnTo>
                <a:lnTo>
                  <a:pt x="8" y="1"/>
                </a:lnTo>
                <a:lnTo>
                  <a:pt x="7" y="1"/>
                </a:lnTo>
                <a:lnTo>
                  <a:pt x="7" y="0"/>
                </a:lnTo>
                <a:lnTo>
                  <a:pt x="5" y="0"/>
                </a:lnTo>
                <a:lnTo>
                  <a:pt x="4" y="0"/>
                </a:lnTo>
                <a:lnTo>
                  <a:pt x="3" y="1"/>
                </a:lnTo>
                <a:lnTo>
                  <a:pt x="3" y="1"/>
                </a:lnTo>
                <a:lnTo>
                  <a:pt x="2" y="2"/>
                </a:lnTo>
                <a:lnTo>
                  <a:pt x="1" y="3"/>
                </a:lnTo>
                <a:lnTo>
                  <a:pt x="1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1" y="7"/>
                </a:lnTo>
                <a:lnTo>
                  <a:pt x="1" y="8"/>
                </a:lnTo>
                <a:lnTo>
                  <a:pt x="2" y="9"/>
                </a:lnTo>
                <a:lnTo>
                  <a:pt x="3" y="10"/>
                </a:lnTo>
                <a:lnTo>
                  <a:pt x="3" y="10"/>
                </a:lnTo>
                <a:lnTo>
                  <a:pt x="4" y="10"/>
                </a:lnTo>
                <a:lnTo>
                  <a:pt x="5" y="11"/>
                </a:lnTo>
                <a:lnTo>
                  <a:pt x="7" y="10"/>
                </a:lnTo>
                <a:lnTo>
                  <a:pt x="7" y="10"/>
                </a:lnTo>
                <a:lnTo>
                  <a:pt x="8" y="10"/>
                </a:lnTo>
                <a:lnTo>
                  <a:pt x="9" y="9"/>
                </a:lnTo>
                <a:lnTo>
                  <a:pt x="10" y="8"/>
                </a:lnTo>
                <a:lnTo>
                  <a:pt x="10" y="7"/>
                </a:lnTo>
                <a:lnTo>
                  <a:pt x="11" y="6"/>
                </a:lnTo>
                <a:lnTo>
                  <a:pt x="11" y="5"/>
                </a:lnTo>
                <a:close/>
              </a:path>
            </a:pathLst>
          </a:custGeom>
          <a:solidFill>
            <a:srgbClr val="66A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3848100" y="2197100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0" h="10">
                <a:moveTo>
                  <a:pt x="10" y="5"/>
                </a:moveTo>
                <a:lnTo>
                  <a:pt x="10" y="4"/>
                </a:lnTo>
                <a:lnTo>
                  <a:pt x="10" y="3"/>
                </a:lnTo>
                <a:lnTo>
                  <a:pt x="9" y="2"/>
                </a:lnTo>
                <a:lnTo>
                  <a:pt x="9" y="2"/>
                </a:lnTo>
                <a:lnTo>
                  <a:pt x="8" y="1"/>
                </a:lnTo>
                <a:lnTo>
                  <a:pt x="7" y="1"/>
                </a:lnTo>
                <a:lnTo>
                  <a:pt x="6" y="0"/>
                </a:lnTo>
                <a:lnTo>
                  <a:pt x="5" y="0"/>
                </a:lnTo>
                <a:lnTo>
                  <a:pt x="4" y="0"/>
                </a:lnTo>
                <a:lnTo>
                  <a:pt x="3" y="1"/>
                </a:lnTo>
                <a:lnTo>
                  <a:pt x="2" y="1"/>
                </a:lnTo>
                <a:lnTo>
                  <a:pt x="1" y="2"/>
                </a:lnTo>
                <a:lnTo>
                  <a:pt x="1" y="2"/>
                </a:lnTo>
                <a:lnTo>
                  <a:pt x="0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0" y="7"/>
                </a:lnTo>
                <a:lnTo>
                  <a:pt x="1" y="8"/>
                </a:lnTo>
                <a:lnTo>
                  <a:pt x="1" y="9"/>
                </a:lnTo>
                <a:lnTo>
                  <a:pt x="2" y="10"/>
                </a:lnTo>
                <a:lnTo>
                  <a:pt x="3" y="10"/>
                </a:lnTo>
                <a:lnTo>
                  <a:pt x="4" y="10"/>
                </a:lnTo>
                <a:lnTo>
                  <a:pt x="5" y="10"/>
                </a:lnTo>
                <a:lnTo>
                  <a:pt x="6" y="10"/>
                </a:lnTo>
                <a:lnTo>
                  <a:pt x="7" y="10"/>
                </a:lnTo>
                <a:lnTo>
                  <a:pt x="8" y="10"/>
                </a:lnTo>
                <a:lnTo>
                  <a:pt x="9" y="9"/>
                </a:lnTo>
                <a:lnTo>
                  <a:pt x="9" y="8"/>
                </a:lnTo>
                <a:lnTo>
                  <a:pt x="10" y="7"/>
                </a:lnTo>
                <a:lnTo>
                  <a:pt x="10" y="6"/>
                </a:lnTo>
                <a:lnTo>
                  <a:pt x="10" y="5"/>
                </a:lnTo>
                <a:close/>
              </a:path>
            </a:pathLst>
          </a:custGeom>
          <a:solidFill>
            <a:srgbClr val="66A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2880003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6" name="Picture 5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57" name="Picture 5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58" name="TextBox 57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GA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variants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8000" y="359888"/>
            <a:ext cx="567739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1">
                <a:solidFill>
                  <a:srgbClr val="003373"/>
                </a:solidFill>
                <a:latin typeface="Josefin Sans"/>
              </a:rPr>
              <a:t>Generational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genetic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algorithm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(GGA)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60057" y="724584"/>
            <a:ext cx="532533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all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parents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replaced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their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offsprings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next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generation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60056" y="982699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overlapping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between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current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new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population.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overlapping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37094" y="1198541"/>
            <a:ext cx="51483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between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current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new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population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referred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as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generation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gap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856751" y="2573415"/>
            <a:ext cx="3928644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Generation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285819" y="2573415"/>
            <a:ext cx="2499576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Generation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898770" y="3150930"/>
            <a:ext cx="8866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624270" y="3150706"/>
            <a:ext cx="1611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84</a:t>
            </a:r>
          </a:p>
        </p:txBody>
      </p:sp>
    </p:spTree>
  </p:cSld>
  <p:clrMapOvr>
    <a:masterClrMapping/>
  </p:clrMapOvr>
</p:sld>
</file>

<file path=ppt/slides/slide2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Freeform 35"/>
          <p:cNvSpPr/>
          <p:nvPr/>
        </p:nvSpPr>
        <p:spPr>
          <a:xfrm>
            <a:off x="2400300" y="1841500"/>
            <a:ext cx="139700" cy="127000"/>
          </a:xfrm>
          <a:custGeom>
            <a:avLst/>
            <a:gdLst/>
            <a:ahLst/>
            <a:cxnLst/>
            <a:rect l="l" t="t" r="r" b="b"/>
            <a:pathLst>
              <a:path w="11" h="10">
                <a:moveTo>
                  <a:pt x="11" y="5"/>
                </a:moveTo>
                <a:lnTo>
                  <a:pt x="11" y="4"/>
                </a:lnTo>
                <a:lnTo>
                  <a:pt x="10" y="3"/>
                </a:lnTo>
                <a:lnTo>
                  <a:pt x="10" y="2"/>
                </a:lnTo>
                <a:lnTo>
                  <a:pt x="9" y="1"/>
                </a:lnTo>
                <a:lnTo>
                  <a:pt x="9" y="1"/>
                </a:lnTo>
                <a:lnTo>
                  <a:pt x="8" y="0"/>
                </a:lnTo>
                <a:lnTo>
                  <a:pt x="7" y="0"/>
                </a:lnTo>
                <a:lnTo>
                  <a:pt x="6" y="0"/>
                </a:lnTo>
                <a:lnTo>
                  <a:pt x="5" y="0"/>
                </a:lnTo>
                <a:lnTo>
                  <a:pt x="4" y="0"/>
                </a:lnTo>
                <a:lnTo>
                  <a:pt x="3" y="1"/>
                </a:lnTo>
                <a:lnTo>
                  <a:pt x="2" y="1"/>
                </a:lnTo>
                <a:lnTo>
                  <a:pt x="1" y="2"/>
                </a:lnTo>
                <a:lnTo>
                  <a:pt x="1" y="3"/>
                </a:lnTo>
                <a:lnTo>
                  <a:pt x="1" y="4"/>
                </a:lnTo>
                <a:lnTo>
                  <a:pt x="0" y="5"/>
                </a:lnTo>
                <a:lnTo>
                  <a:pt x="1" y="6"/>
                </a:lnTo>
                <a:lnTo>
                  <a:pt x="1" y="7"/>
                </a:lnTo>
                <a:lnTo>
                  <a:pt x="1" y="8"/>
                </a:lnTo>
                <a:lnTo>
                  <a:pt x="2" y="9"/>
                </a:lnTo>
                <a:lnTo>
                  <a:pt x="3" y="9"/>
                </a:lnTo>
                <a:lnTo>
                  <a:pt x="4" y="10"/>
                </a:lnTo>
                <a:lnTo>
                  <a:pt x="5" y="10"/>
                </a:lnTo>
                <a:lnTo>
                  <a:pt x="6" y="10"/>
                </a:lnTo>
                <a:lnTo>
                  <a:pt x="7" y="10"/>
                </a:lnTo>
                <a:lnTo>
                  <a:pt x="8" y="10"/>
                </a:lnTo>
                <a:lnTo>
                  <a:pt x="9" y="9"/>
                </a:lnTo>
                <a:lnTo>
                  <a:pt x="9" y="9"/>
                </a:lnTo>
                <a:lnTo>
                  <a:pt x="10" y="8"/>
                </a:lnTo>
                <a:lnTo>
                  <a:pt x="10" y="7"/>
                </a:lnTo>
                <a:lnTo>
                  <a:pt x="11" y="6"/>
                </a:lnTo>
                <a:lnTo>
                  <a:pt x="11" y="5"/>
                </a:lnTo>
                <a:close/>
              </a:path>
            </a:pathLst>
          </a:custGeom>
          <a:solidFill>
            <a:srgbClr val="A676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2095500" y="1663700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0" h="10">
                <a:moveTo>
                  <a:pt x="10" y="5"/>
                </a:moveTo>
                <a:lnTo>
                  <a:pt x="10" y="4"/>
                </a:lnTo>
                <a:lnTo>
                  <a:pt x="10" y="3"/>
                </a:lnTo>
                <a:lnTo>
                  <a:pt x="9" y="2"/>
                </a:lnTo>
                <a:lnTo>
                  <a:pt x="9" y="1"/>
                </a:lnTo>
                <a:lnTo>
                  <a:pt x="8" y="0"/>
                </a:lnTo>
                <a:lnTo>
                  <a:pt x="7" y="0"/>
                </a:lnTo>
                <a:lnTo>
                  <a:pt x="6" y="0"/>
                </a:lnTo>
                <a:lnTo>
                  <a:pt x="5" y="0"/>
                </a:lnTo>
                <a:lnTo>
                  <a:pt x="4" y="0"/>
                </a:lnTo>
                <a:lnTo>
                  <a:pt x="3" y="0"/>
                </a:lnTo>
                <a:lnTo>
                  <a:pt x="2" y="0"/>
                </a:lnTo>
                <a:lnTo>
                  <a:pt x="1" y="1"/>
                </a:lnTo>
                <a:lnTo>
                  <a:pt x="1" y="2"/>
                </a:lnTo>
                <a:lnTo>
                  <a:pt x="0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0" y="7"/>
                </a:lnTo>
                <a:lnTo>
                  <a:pt x="1" y="8"/>
                </a:lnTo>
                <a:lnTo>
                  <a:pt x="1" y="8"/>
                </a:lnTo>
                <a:lnTo>
                  <a:pt x="2" y="9"/>
                </a:lnTo>
                <a:lnTo>
                  <a:pt x="3" y="9"/>
                </a:lnTo>
                <a:lnTo>
                  <a:pt x="4" y="10"/>
                </a:lnTo>
                <a:lnTo>
                  <a:pt x="5" y="10"/>
                </a:lnTo>
                <a:lnTo>
                  <a:pt x="6" y="10"/>
                </a:lnTo>
                <a:lnTo>
                  <a:pt x="7" y="9"/>
                </a:lnTo>
                <a:lnTo>
                  <a:pt x="8" y="9"/>
                </a:lnTo>
                <a:lnTo>
                  <a:pt x="9" y="8"/>
                </a:lnTo>
                <a:lnTo>
                  <a:pt x="9" y="8"/>
                </a:lnTo>
                <a:lnTo>
                  <a:pt x="10" y="7"/>
                </a:lnTo>
                <a:lnTo>
                  <a:pt x="10" y="6"/>
                </a:lnTo>
                <a:lnTo>
                  <a:pt x="10" y="5"/>
                </a:lnTo>
                <a:close/>
              </a:path>
            </a:pathLst>
          </a:custGeom>
          <a:solidFill>
            <a:srgbClr val="A676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1778000" y="1841500"/>
            <a:ext cx="139700" cy="127000"/>
          </a:xfrm>
          <a:custGeom>
            <a:avLst/>
            <a:gdLst/>
            <a:ahLst/>
            <a:cxnLst/>
            <a:rect l="l" t="t" r="r" b="b"/>
            <a:pathLst>
              <a:path w="11" h="10">
                <a:moveTo>
                  <a:pt x="11" y="5"/>
                </a:moveTo>
                <a:lnTo>
                  <a:pt x="11" y="4"/>
                </a:lnTo>
                <a:lnTo>
                  <a:pt x="10" y="3"/>
                </a:lnTo>
                <a:lnTo>
                  <a:pt x="10" y="2"/>
                </a:lnTo>
                <a:lnTo>
                  <a:pt x="9" y="1"/>
                </a:lnTo>
                <a:lnTo>
                  <a:pt x="8" y="1"/>
                </a:lnTo>
                <a:lnTo>
                  <a:pt x="8" y="0"/>
                </a:lnTo>
                <a:lnTo>
                  <a:pt x="7" y="0"/>
                </a:lnTo>
                <a:lnTo>
                  <a:pt x="6" y="0"/>
                </a:lnTo>
                <a:lnTo>
                  <a:pt x="4" y="0"/>
                </a:lnTo>
                <a:lnTo>
                  <a:pt x="4" y="0"/>
                </a:lnTo>
                <a:lnTo>
                  <a:pt x="3" y="1"/>
                </a:lnTo>
                <a:lnTo>
                  <a:pt x="2" y="1"/>
                </a:lnTo>
                <a:lnTo>
                  <a:pt x="1" y="2"/>
                </a:lnTo>
                <a:lnTo>
                  <a:pt x="1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1" y="7"/>
                </a:lnTo>
                <a:lnTo>
                  <a:pt x="1" y="8"/>
                </a:lnTo>
                <a:lnTo>
                  <a:pt x="2" y="9"/>
                </a:lnTo>
                <a:lnTo>
                  <a:pt x="3" y="9"/>
                </a:lnTo>
                <a:lnTo>
                  <a:pt x="4" y="10"/>
                </a:lnTo>
                <a:lnTo>
                  <a:pt x="4" y="10"/>
                </a:lnTo>
                <a:lnTo>
                  <a:pt x="6" y="10"/>
                </a:lnTo>
                <a:lnTo>
                  <a:pt x="7" y="10"/>
                </a:lnTo>
                <a:lnTo>
                  <a:pt x="8" y="10"/>
                </a:lnTo>
                <a:lnTo>
                  <a:pt x="8" y="9"/>
                </a:lnTo>
                <a:lnTo>
                  <a:pt x="9" y="9"/>
                </a:lnTo>
                <a:lnTo>
                  <a:pt x="10" y="8"/>
                </a:lnTo>
                <a:lnTo>
                  <a:pt x="10" y="7"/>
                </a:lnTo>
                <a:lnTo>
                  <a:pt x="11" y="6"/>
                </a:lnTo>
                <a:lnTo>
                  <a:pt x="11" y="5"/>
                </a:lnTo>
                <a:close/>
              </a:path>
            </a:pathLst>
          </a:custGeom>
          <a:solidFill>
            <a:srgbClr val="A676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Freeform 38"/>
          <p:cNvSpPr/>
          <p:nvPr/>
        </p:nvSpPr>
        <p:spPr>
          <a:xfrm>
            <a:off x="1778000" y="2197100"/>
            <a:ext cx="139700" cy="127000"/>
          </a:xfrm>
          <a:custGeom>
            <a:avLst/>
            <a:gdLst/>
            <a:ahLst/>
            <a:cxnLst/>
            <a:rect l="l" t="t" r="r" b="b"/>
            <a:pathLst>
              <a:path w="11" h="10">
                <a:moveTo>
                  <a:pt x="11" y="5"/>
                </a:moveTo>
                <a:lnTo>
                  <a:pt x="11" y="4"/>
                </a:lnTo>
                <a:lnTo>
                  <a:pt x="10" y="3"/>
                </a:lnTo>
                <a:lnTo>
                  <a:pt x="10" y="2"/>
                </a:lnTo>
                <a:lnTo>
                  <a:pt x="9" y="2"/>
                </a:lnTo>
                <a:lnTo>
                  <a:pt x="8" y="1"/>
                </a:lnTo>
                <a:lnTo>
                  <a:pt x="8" y="1"/>
                </a:lnTo>
                <a:lnTo>
                  <a:pt x="7" y="0"/>
                </a:lnTo>
                <a:lnTo>
                  <a:pt x="6" y="0"/>
                </a:lnTo>
                <a:lnTo>
                  <a:pt x="4" y="0"/>
                </a:lnTo>
                <a:lnTo>
                  <a:pt x="4" y="1"/>
                </a:lnTo>
                <a:lnTo>
                  <a:pt x="3" y="1"/>
                </a:lnTo>
                <a:lnTo>
                  <a:pt x="2" y="2"/>
                </a:lnTo>
                <a:lnTo>
                  <a:pt x="1" y="2"/>
                </a:lnTo>
                <a:lnTo>
                  <a:pt x="1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1" y="7"/>
                </a:lnTo>
                <a:lnTo>
                  <a:pt x="1" y="8"/>
                </a:lnTo>
                <a:lnTo>
                  <a:pt x="2" y="9"/>
                </a:lnTo>
                <a:lnTo>
                  <a:pt x="3" y="10"/>
                </a:lnTo>
                <a:lnTo>
                  <a:pt x="4" y="10"/>
                </a:lnTo>
                <a:lnTo>
                  <a:pt x="4" y="10"/>
                </a:lnTo>
                <a:lnTo>
                  <a:pt x="6" y="10"/>
                </a:lnTo>
                <a:lnTo>
                  <a:pt x="7" y="10"/>
                </a:lnTo>
                <a:lnTo>
                  <a:pt x="8" y="10"/>
                </a:lnTo>
                <a:lnTo>
                  <a:pt x="8" y="10"/>
                </a:lnTo>
                <a:lnTo>
                  <a:pt x="9" y="9"/>
                </a:lnTo>
                <a:lnTo>
                  <a:pt x="10" y="8"/>
                </a:lnTo>
                <a:lnTo>
                  <a:pt x="10" y="7"/>
                </a:lnTo>
                <a:lnTo>
                  <a:pt x="11" y="6"/>
                </a:lnTo>
                <a:lnTo>
                  <a:pt x="11" y="5"/>
                </a:lnTo>
                <a:close/>
              </a:path>
            </a:pathLst>
          </a:custGeom>
          <a:solidFill>
            <a:srgbClr val="A676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2095500" y="2374900"/>
            <a:ext cx="127000" cy="139700"/>
          </a:xfrm>
          <a:custGeom>
            <a:avLst/>
            <a:gdLst/>
            <a:ahLst/>
            <a:cxnLst/>
            <a:rect l="l" t="t" r="r" b="b"/>
            <a:pathLst>
              <a:path w="10" h="11">
                <a:moveTo>
                  <a:pt x="10" y="5"/>
                </a:moveTo>
                <a:lnTo>
                  <a:pt x="10" y="4"/>
                </a:lnTo>
                <a:lnTo>
                  <a:pt x="10" y="3"/>
                </a:lnTo>
                <a:lnTo>
                  <a:pt x="9" y="3"/>
                </a:lnTo>
                <a:lnTo>
                  <a:pt x="9" y="2"/>
                </a:lnTo>
                <a:lnTo>
                  <a:pt x="8" y="1"/>
                </a:lnTo>
                <a:lnTo>
                  <a:pt x="7" y="1"/>
                </a:lnTo>
                <a:lnTo>
                  <a:pt x="6" y="0"/>
                </a:lnTo>
                <a:lnTo>
                  <a:pt x="5" y="0"/>
                </a:lnTo>
                <a:lnTo>
                  <a:pt x="4" y="0"/>
                </a:lnTo>
                <a:lnTo>
                  <a:pt x="3" y="1"/>
                </a:lnTo>
                <a:lnTo>
                  <a:pt x="2" y="1"/>
                </a:lnTo>
                <a:lnTo>
                  <a:pt x="1" y="2"/>
                </a:lnTo>
                <a:lnTo>
                  <a:pt x="1" y="3"/>
                </a:lnTo>
                <a:lnTo>
                  <a:pt x="0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0" y="7"/>
                </a:lnTo>
                <a:lnTo>
                  <a:pt x="1" y="8"/>
                </a:lnTo>
                <a:lnTo>
                  <a:pt x="1" y="9"/>
                </a:lnTo>
                <a:lnTo>
                  <a:pt x="2" y="10"/>
                </a:lnTo>
                <a:lnTo>
                  <a:pt x="3" y="10"/>
                </a:lnTo>
                <a:lnTo>
                  <a:pt x="4" y="10"/>
                </a:lnTo>
                <a:lnTo>
                  <a:pt x="5" y="11"/>
                </a:lnTo>
                <a:lnTo>
                  <a:pt x="6" y="10"/>
                </a:lnTo>
                <a:lnTo>
                  <a:pt x="7" y="10"/>
                </a:lnTo>
                <a:lnTo>
                  <a:pt x="8" y="10"/>
                </a:lnTo>
                <a:lnTo>
                  <a:pt x="9" y="9"/>
                </a:lnTo>
                <a:lnTo>
                  <a:pt x="9" y="8"/>
                </a:lnTo>
                <a:lnTo>
                  <a:pt x="10" y="7"/>
                </a:lnTo>
                <a:lnTo>
                  <a:pt x="10" y="6"/>
                </a:lnTo>
                <a:lnTo>
                  <a:pt x="10" y="5"/>
                </a:lnTo>
                <a:close/>
              </a:path>
            </a:pathLst>
          </a:custGeom>
          <a:solidFill>
            <a:srgbClr val="A676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2400300" y="2197100"/>
            <a:ext cx="139700" cy="127000"/>
          </a:xfrm>
          <a:custGeom>
            <a:avLst/>
            <a:gdLst/>
            <a:ahLst/>
            <a:cxnLst/>
            <a:rect l="l" t="t" r="r" b="b"/>
            <a:pathLst>
              <a:path w="11" h="10">
                <a:moveTo>
                  <a:pt x="11" y="5"/>
                </a:moveTo>
                <a:lnTo>
                  <a:pt x="11" y="4"/>
                </a:lnTo>
                <a:lnTo>
                  <a:pt x="10" y="3"/>
                </a:lnTo>
                <a:lnTo>
                  <a:pt x="10" y="2"/>
                </a:lnTo>
                <a:lnTo>
                  <a:pt x="9" y="2"/>
                </a:lnTo>
                <a:lnTo>
                  <a:pt x="9" y="1"/>
                </a:lnTo>
                <a:lnTo>
                  <a:pt x="8" y="1"/>
                </a:lnTo>
                <a:lnTo>
                  <a:pt x="7" y="0"/>
                </a:lnTo>
                <a:lnTo>
                  <a:pt x="6" y="0"/>
                </a:lnTo>
                <a:lnTo>
                  <a:pt x="5" y="0"/>
                </a:lnTo>
                <a:lnTo>
                  <a:pt x="4" y="1"/>
                </a:lnTo>
                <a:lnTo>
                  <a:pt x="3" y="1"/>
                </a:lnTo>
                <a:lnTo>
                  <a:pt x="2" y="2"/>
                </a:lnTo>
                <a:lnTo>
                  <a:pt x="1" y="2"/>
                </a:lnTo>
                <a:lnTo>
                  <a:pt x="1" y="3"/>
                </a:lnTo>
                <a:lnTo>
                  <a:pt x="1" y="4"/>
                </a:lnTo>
                <a:lnTo>
                  <a:pt x="0" y="5"/>
                </a:lnTo>
                <a:lnTo>
                  <a:pt x="1" y="6"/>
                </a:lnTo>
                <a:lnTo>
                  <a:pt x="1" y="7"/>
                </a:lnTo>
                <a:lnTo>
                  <a:pt x="1" y="8"/>
                </a:lnTo>
                <a:lnTo>
                  <a:pt x="2" y="9"/>
                </a:lnTo>
                <a:lnTo>
                  <a:pt x="3" y="10"/>
                </a:lnTo>
                <a:lnTo>
                  <a:pt x="4" y="10"/>
                </a:lnTo>
                <a:lnTo>
                  <a:pt x="5" y="10"/>
                </a:lnTo>
                <a:lnTo>
                  <a:pt x="6" y="10"/>
                </a:lnTo>
                <a:lnTo>
                  <a:pt x="7" y="10"/>
                </a:lnTo>
                <a:lnTo>
                  <a:pt x="8" y="10"/>
                </a:lnTo>
                <a:lnTo>
                  <a:pt x="9" y="10"/>
                </a:lnTo>
                <a:lnTo>
                  <a:pt x="9" y="9"/>
                </a:lnTo>
                <a:lnTo>
                  <a:pt x="10" y="8"/>
                </a:lnTo>
                <a:lnTo>
                  <a:pt x="10" y="7"/>
                </a:lnTo>
                <a:lnTo>
                  <a:pt x="11" y="6"/>
                </a:lnTo>
                <a:lnTo>
                  <a:pt x="11" y="5"/>
                </a:lnTo>
                <a:close/>
              </a:path>
            </a:pathLst>
          </a:custGeom>
          <a:solidFill>
            <a:srgbClr val="A676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Freeform 41"/>
          <p:cNvSpPr/>
          <p:nvPr/>
        </p:nvSpPr>
        <p:spPr>
          <a:xfrm>
            <a:off x="2273300" y="2019300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0" h="10">
                <a:moveTo>
                  <a:pt x="10" y="5"/>
                </a:moveTo>
                <a:lnTo>
                  <a:pt x="10" y="4"/>
                </a:lnTo>
                <a:lnTo>
                  <a:pt x="10" y="3"/>
                </a:lnTo>
                <a:lnTo>
                  <a:pt x="10" y="2"/>
                </a:lnTo>
                <a:lnTo>
                  <a:pt x="9" y="1"/>
                </a:lnTo>
                <a:lnTo>
                  <a:pt x="8" y="1"/>
                </a:lnTo>
                <a:lnTo>
                  <a:pt x="7" y="0"/>
                </a:lnTo>
                <a:lnTo>
                  <a:pt x="6" y="0"/>
                </a:lnTo>
                <a:lnTo>
                  <a:pt x="5" y="0"/>
                </a:lnTo>
                <a:lnTo>
                  <a:pt x="4" y="0"/>
                </a:lnTo>
                <a:lnTo>
                  <a:pt x="3" y="0"/>
                </a:lnTo>
                <a:lnTo>
                  <a:pt x="2" y="1"/>
                </a:lnTo>
                <a:lnTo>
                  <a:pt x="2" y="1"/>
                </a:lnTo>
                <a:lnTo>
                  <a:pt x="1" y="2"/>
                </a:lnTo>
                <a:lnTo>
                  <a:pt x="1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1" y="7"/>
                </a:lnTo>
                <a:lnTo>
                  <a:pt x="1" y="8"/>
                </a:lnTo>
                <a:lnTo>
                  <a:pt x="2" y="9"/>
                </a:lnTo>
                <a:lnTo>
                  <a:pt x="2" y="9"/>
                </a:lnTo>
                <a:lnTo>
                  <a:pt x="3" y="10"/>
                </a:lnTo>
                <a:lnTo>
                  <a:pt x="4" y="10"/>
                </a:lnTo>
                <a:lnTo>
                  <a:pt x="5" y="10"/>
                </a:lnTo>
                <a:lnTo>
                  <a:pt x="6" y="10"/>
                </a:lnTo>
                <a:lnTo>
                  <a:pt x="7" y="10"/>
                </a:lnTo>
                <a:lnTo>
                  <a:pt x="8" y="9"/>
                </a:lnTo>
                <a:lnTo>
                  <a:pt x="9" y="9"/>
                </a:lnTo>
                <a:lnTo>
                  <a:pt x="10" y="8"/>
                </a:lnTo>
                <a:lnTo>
                  <a:pt x="10" y="7"/>
                </a:lnTo>
                <a:lnTo>
                  <a:pt x="10" y="6"/>
                </a:lnTo>
                <a:lnTo>
                  <a:pt x="10" y="5"/>
                </a:lnTo>
                <a:close/>
              </a:path>
            </a:pathLst>
          </a:custGeom>
          <a:solidFill>
            <a:srgbClr val="66A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Freeform 42"/>
          <p:cNvSpPr/>
          <p:nvPr/>
        </p:nvSpPr>
        <p:spPr>
          <a:xfrm>
            <a:off x="2184400" y="1866900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0" h="10">
                <a:moveTo>
                  <a:pt x="10" y="5"/>
                </a:moveTo>
                <a:lnTo>
                  <a:pt x="10" y="4"/>
                </a:lnTo>
                <a:lnTo>
                  <a:pt x="10" y="3"/>
                </a:lnTo>
                <a:lnTo>
                  <a:pt x="9" y="2"/>
                </a:lnTo>
                <a:lnTo>
                  <a:pt x="9" y="1"/>
                </a:lnTo>
                <a:lnTo>
                  <a:pt x="8" y="1"/>
                </a:lnTo>
                <a:lnTo>
                  <a:pt x="7" y="0"/>
                </a:lnTo>
                <a:lnTo>
                  <a:pt x="6" y="0"/>
                </a:lnTo>
                <a:lnTo>
                  <a:pt x="5" y="0"/>
                </a:lnTo>
                <a:lnTo>
                  <a:pt x="4" y="0"/>
                </a:lnTo>
                <a:lnTo>
                  <a:pt x="3" y="0"/>
                </a:lnTo>
                <a:lnTo>
                  <a:pt x="2" y="1"/>
                </a:lnTo>
                <a:lnTo>
                  <a:pt x="2" y="1"/>
                </a:lnTo>
                <a:lnTo>
                  <a:pt x="1" y="2"/>
                </a:lnTo>
                <a:lnTo>
                  <a:pt x="0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0" y="7"/>
                </a:lnTo>
                <a:lnTo>
                  <a:pt x="1" y="8"/>
                </a:lnTo>
                <a:lnTo>
                  <a:pt x="2" y="8"/>
                </a:lnTo>
                <a:lnTo>
                  <a:pt x="2" y="9"/>
                </a:lnTo>
                <a:lnTo>
                  <a:pt x="3" y="10"/>
                </a:lnTo>
                <a:lnTo>
                  <a:pt x="4" y="10"/>
                </a:lnTo>
                <a:lnTo>
                  <a:pt x="5" y="10"/>
                </a:lnTo>
                <a:lnTo>
                  <a:pt x="6" y="10"/>
                </a:lnTo>
                <a:lnTo>
                  <a:pt x="7" y="10"/>
                </a:lnTo>
                <a:lnTo>
                  <a:pt x="8" y="9"/>
                </a:lnTo>
                <a:lnTo>
                  <a:pt x="9" y="8"/>
                </a:lnTo>
                <a:lnTo>
                  <a:pt x="9" y="8"/>
                </a:lnTo>
                <a:lnTo>
                  <a:pt x="10" y="7"/>
                </a:lnTo>
                <a:lnTo>
                  <a:pt x="10" y="6"/>
                </a:lnTo>
                <a:lnTo>
                  <a:pt x="10" y="5"/>
                </a:lnTo>
                <a:close/>
              </a:path>
            </a:pathLst>
          </a:custGeom>
          <a:solidFill>
            <a:srgbClr val="66A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Freeform 43"/>
          <p:cNvSpPr/>
          <p:nvPr/>
        </p:nvSpPr>
        <p:spPr>
          <a:xfrm>
            <a:off x="2006600" y="1866900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0" h="10">
                <a:moveTo>
                  <a:pt x="10" y="5"/>
                </a:moveTo>
                <a:lnTo>
                  <a:pt x="10" y="4"/>
                </a:lnTo>
                <a:lnTo>
                  <a:pt x="10" y="3"/>
                </a:lnTo>
                <a:lnTo>
                  <a:pt x="9" y="2"/>
                </a:lnTo>
                <a:lnTo>
                  <a:pt x="9" y="1"/>
                </a:lnTo>
                <a:lnTo>
                  <a:pt x="8" y="1"/>
                </a:lnTo>
                <a:lnTo>
                  <a:pt x="7" y="0"/>
                </a:lnTo>
                <a:lnTo>
                  <a:pt x="6" y="0"/>
                </a:lnTo>
                <a:lnTo>
                  <a:pt x="5" y="0"/>
                </a:lnTo>
                <a:lnTo>
                  <a:pt x="4" y="0"/>
                </a:lnTo>
                <a:lnTo>
                  <a:pt x="3" y="0"/>
                </a:lnTo>
                <a:lnTo>
                  <a:pt x="2" y="1"/>
                </a:lnTo>
                <a:lnTo>
                  <a:pt x="1" y="1"/>
                </a:lnTo>
                <a:lnTo>
                  <a:pt x="1" y="2"/>
                </a:lnTo>
                <a:lnTo>
                  <a:pt x="0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0" y="7"/>
                </a:lnTo>
                <a:lnTo>
                  <a:pt x="1" y="8"/>
                </a:lnTo>
                <a:lnTo>
                  <a:pt x="1" y="8"/>
                </a:lnTo>
                <a:lnTo>
                  <a:pt x="2" y="9"/>
                </a:lnTo>
                <a:lnTo>
                  <a:pt x="3" y="10"/>
                </a:lnTo>
                <a:lnTo>
                  <a:pt x="4" y="10"/>
                </a:lnTo>
                <a:lnTo>
                  <a:pt x="5" y="10"/>
                </a:lnTo>
                <a:lnTo>
                  <a:pt x="6" y="10"/>
                </a:lnTo>
                <a:lnTo>
                  <a:pt x="7" y="10"/>
                </a:lnTo>
                <a:lnTo>
                  <a:pt x="8" y="9"/>
                </a:lnTo>
                <a:lnTo>
                  <a:pt x="9" y="8"/>
                </a:lnTo>
                <a:lnTo>
                  <a:pt x="9" y="8"/>
                </a:lnTo>
                <a:lnTo>
                  <a:pt x="10" y="7"/>
                </a:lnTo>
                <a:lnTo>
                  <a:pt x="10" y="6"/>
                </a:lnTo>
                <a:lnTo>
                  <a:pt x="10" y="5"/>
                </a:lnTo>
                <a:close/>
              </a:path>
            </a:pathLst>
          </a:custGeom>
          <a:solidFill>
            <a:srgbClr val="66A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Freeform 44"/>
          <p:cNvSpPr/>
          <p:nvPr/>
        </p:nvSpPr>
        <p:spPr>
          <a:xfrm>
            <a:off x="1917700" y="2019300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0" h="10">
                <a:moveTo>
                  <a:pt x="10" y="5"/>
                </a:moveTo>
                <a:lnTo>
                  <a:pt x="10" y="4"/>
                </a:lnTo>
                <a:lnTo>
                  <a:pt x="10" y="3"/>
                </a:lnTo>
                <a:lnTo>
                  <a:pt x="9" y="2"/>
                </a:lnTo>
                <a:lnTo>
                  <a:pt x="9" y="1"/>
                </a:lnTo>
                <a:lnTo>
                  <a:pt x="8" y="1"/>
                </a:lnTo>
                <a:lnTo>
                  <a:pt x="7" y="0"/>
                </a:lnTo>
                <a:lnTo>
                  <a:pt x="6" y="0"/>
                </a:lnTo>
                <a:lnTo>
                  <a:pt x="5" y="0"/>
                </a:lnTo>
                <a:lnTo>
                  <a:pt x="4" y="0"/>
                </a:lnTo>
                <a:lnTo>
                  <a:pt x="3" y="0"/>
                </a:lnTo>
                <a:lnTo>
                  <a:pt x="2" y="1"/>
                </a:lnTo>
                <a:lnTo>
                  <a:pt x="1" y="1"/>
                </a:lnTo>
                <a:lnTo>
                  <a:pt x="1" y="2"/>
                </a:lnTo>
                <a:lnTo>
                  <a:pt x="0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0" y="7"/>
                </a:lnTo>
                <a:lnTo>
                  <a:pt x="1" y="8"/>
                </a:lnTo>
                <a:lnTo>
                  <a:pt x="1" y="9"/>
                </a:lnTo>
                <a:lnTo>
                  <a:pt x="2" y="9"/>
                </a:lnTo>
                <a:lnTo>
                  <a:pt x="3" y="10"/>
                </a:lnTo>
                <a:lnTo>
                  <a:pt x="4" y="10"/>
                </a:lnTo>
                <a:lnTo>
                  <a:pt x="5" y="10"/>
                </a:lnTo>
                <a:lnTo>
                  <a:pt x="6" y="10"/>
                </a:lnTo>
                <a:lnTo>
                  <a:pt x="7" y="10"/>
                </a:lnTo>
                <a:lnTo>
                  <a:pt x="8" y="9"/>
                </a:lnTo>
                <a:lnTo>
                  <a:pt x="9" y="9"/>
                </a:lnTo>
                <a:lnTo>
                  <a:pt x="9" y="8"/>
                </a:lnTo>
                <a:lnTo>
                  <a:pt x="10" y="7"/>
                </a:lnTo>
                <a:lnTo>
                  <a:pt x="10" y="6"/>
                </a:lnTo>
                <a:lnTo>
                  <a:pt x="10" y="5"/>
                </a:lnTo>
                <a:close/>
              </a:path>
            </a:pathLst>
          </a:custGeom>
          <a:solidFill>
            <a:srgbClr val="66A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Freeform 45"/>
          <p:cNvSpPr/>
          <p:nvPr/>
        </p:nvSpPr>
        <p:spPr>
          <a:xfrm>
            <a:off x="2006600" y="2171700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0" h="10">
                <a:moveTo>
                  <a:pt x="10" y="5"/>
                </a:moveTo>
                <a:lnTo>
                  <a:pt x="10" y="4"/>
                </a:lnTo>
                <a:lnTo>
                  <a:pt x="10" y="3"/>
                </a:lnTo>
                <a:lnTo>
                  <a:pt x="9" y="2"/>
                </a:lnTo>
                <a:lnTo>
                  <a:pt x="9" y="2"/>
                </a:lnTo>
                <a:lnTo>
                  <a:pt x="8" y="1"/>
                </a:lnTo>
                <a:lnTo>
                  <a:pt x="7" y="1"/>
                </a:lnTo>
                <a:lnTo>
                  <a:pt x="6" y="0"/>
                </a:lnTo>
                <a:lnTo>
                  <a:pt x="5" y="0"/>
                </a:lnTo>
                <a:lnTo>
                  <a:pt x="4" y="0"/>
                </a:lnTo>
                <a:lnTo>
                  <a:pt x="3" y="1"/>
                </a:lnTo>
                <a:lnTo>
                  <a:pt x="2" y="1"/>
                </a:lnTo>
                <a:lnTo>
                  <a:pt x="1" y="2"/>
                </a:lnTo>
                <a:lnTo>
                  <a:pt x="1" y="2"/>
                </a:lnTo>
                <a:lnTo>
                  <a:pt x="0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0" y="7"/>
                </a:lnTo>
                <a:lnTo>
                  <a:pt x="1" y="8"/>
                </a:lnTo>
                <a:lnTo>
                  <a:pt x="1" y="9"/>
                </a:lnTo>
                <a:lnTo>
                  <a:pt x="2" y="10"/>
                </a:lnTo>
                <a:lnTo>
                  <a:pt x="3" y="10"/>
                </a:lnTo>
                <a:lnTo>
                  <a:pt x="4" y="10"/>
                </a:lnTo>
                <a:lnTo>
                  <a:pt x="5" y="10"/>
                </a:lnTo>
                <a:lnTo>
                  <a:pt x="6" y="10"/>
                </a:lnTo>
                <a:lnTo>
                  <a:pt x="7" y="10"/>
                </a:lnTo>
                <a:lnTo>
                  <a:pt x="8" y="10"/>
                </a:lnTo>
                <a:lnTo>
                  <a:pt x="9" y="9"/>
                </a:lnTo>
                <a:lnTo>
                  <a:pt x="9" y="8"/>
                </a:lnTo>
                <a:lnTo>
                  <a:pt x="10" y="7"/>
                </a:lnTo>
                <a:lnTo>
                  <a:pt x="10" y="6"/>
                </a:lnTo>
                <a:lnTo>
                  <a:pt x="10" y="5"/>
                </a:lnTo>
                <a:close/>
              </a:path>
            </a:pathLst>
          </a:custGeom>
          <a:solidFill>
            <a:srgbClr val="66A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2184400" y="2171700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0" h="10">
                <a:moveTo>
                  <a:pt x="10" y="5"/>
                </a:moveTo>
                <a:lnTo>
                  <a:pt x="10" y="4"/>
                </a:lnTo>
                <a:lnTo>
                  <a:pt x="10" y="3"/>
                </a:lnTo>
                <a:lnTo>
                  <a:pt x="9" y="2"/>
                </a:lnTo>
                <a:lnTo>
                  <a:pt x="9" y="2"/>
                </a:lnTo>
                <a:lnTo>
                  <a:pt x="8" y="1"/>
                </a:lnTo>
                <a:lnTo>
                  <a:pt x="7" y="1"/>
                </a:lnTo>
                <a:lnTo>
                  <a:pt x="6" y="0"/>
                </a:lnTo>
                <a:lnTo>
                  <a:pt x="5" y="0"/>
                </a:lnTo>
                <a:lnTo>
                  <a:pt x="4" y="0"/>
                </a:lnTo>
                <a:lnTo>
                  <a:pt x="3" y="1"/>
                </a:lnTo>
                <a:lnTo>
                  <a:pt x="2" y="1"/>
                </a:lnTo>
                <a:lnTo>
                  <a:pt x="2" y="2"/>
                </a:lnTo>
                <a:lnTo>
                  <a:pt x="1" y="2"/>
                </a:lnTo>
                <a:lnTo>
                  <a:pt x="0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0" y="7"/>
                </a:lnTo>
                <a:lnTo>
                  <a:pt x="1" y="8"/>
                </a:lnTo>
                <a:lnTo>
                  <a:pt x="2" y="9"/>
                </a:lnTo>
                <a:lnTo>
                  <a:pt x="2" y="10"/>
                </a:lnTo>
                <a:lnTo>
                  <a:pt x="3" y="10"/>
                </a:lnTo>
                <a:lnTo>
                  <a:pt x="4" y="10"/>
                </a:lnTo>
                <a:lnTo>
                  <a:pt x="5" y="10"/>
                </a:lnTo>
                <a:lnTo>
                  <a:pt x="6" y="10"/>
                </a:lnTo>
                <a:lnTo>
                  <a:pt x="7" y="10"/>
                </a:lnTo>
                <a:lnTo>
                  <a:pt x="8" y="10"/>
                </a:lnTo>
                <a:lnTo>
                  <a:pt x="9" y="9"/>
                </a:lnTo>
                <a:lnTo>
                  <a:pt x="9" y="8"/>
                </a:lnTo>
                <a:lnTo>
                  <a:pt x="10" y="7"/>
                </a:lnTo>
                <a:lnTo>
                  <a:pt x="10" y="6"/>
                </a:lnTo>
                <a:lnTo>
                  <a:pt x="10" y="5"/>
                </a:lnTo>
                <a:close/>
              </a:path>
            </a:pathLst>
          </a:custGeom>
          <a:solidFill>
            <a:srgbClr val="66A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3848100" y="1841500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0" h="10">
                <a:moveTo>
                  <a:pt x="10" y="5"/>
                </a:moveTo>
                <a:lnTo>
                  <a:pt x="10" y="4"/>
                </a:lnTo>
                <a:lnTo>
                  <a:pt x="10" y="3"/>
                </a:lnTo>
                <a:lnTo>
                  <a:pt x="9" y="2"/>
                </a:lnTo>
                <a:lnTo>
                  <a:pt x="9" y="1"/>
                </a:lnTo>
                <a:lnTo>
                  <a:pt x="8" y="1"/>
                </a:lnTo>
                <a:lnTo>
                  <a:pt x="7" y="0"/>
                </a:lnTo>
                <a:lnTo>
                  <a:pt x="6" y="0"/>
                </a:lnTo>
                <a:lnTo>
                  <a:pt x="5" y="0"/>
                </a:lnTo>
                <a:lnTo>
                  <a:pt x="4" y="0"/>
                </a:lnTo>
                <a:lnTo>
                  <a:pt x="3" y="0"/>
                </a:lnTo>
                <a:lnTo>
                  <a:pt x="2" y="1"/>
                </a:lnTo>
                <a:lnTo>
                  <a:pt x="1" y="1"/>
                </a:lnTo>
                <a:lnTo>
                  <a:pt x="1" y="2"/>
                </a:lnTo>
                <a:lnTo>
                  <a:pt x="0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0" y="7"/>
                </a:lnTo>
                <a:lnTo>
                  <a:pt x="1" y="8"/>
                </a:lnTo>
                <a:lnTo>
                  <a:pt x="1" y="9"/>
                </a:lnTo>
                <a:lnTo>
                  <a:pt x="2" y="9"/>
                </a:lnTo>
                <a:lnTo>
                  <a:pt x="3" y="10"/>
                </a:lnTo>
                <a:lnTo>
                  <a:pt x="4" y="10"/>
                </a:lnTo>
                <a:lnTo>
                  <a:pt x="5" y="10"/>
                </a:lnTo>
                <a:lnTo>
                  <a:pt x="6" y="10"/>
                </a:lnTo>
                <a:lnTo>
                  <a:pt x="7" y="10"/>
                </a:lnTo>
                <a:lnTo>
                  <a:pt x="8" y="9"/>
                </a:lnTo>
                <a:lnTo>
                  <a:pt x="9" y="9"/>
                </a:lnTo>
                <a:lnTo>
                  <a:pt x="9" y="8"/>
                </a:lnTo>
                <a:lnTo>
                  <a:pt x="10" y="7"/>
                </a:lnTo>
                <a:lnTo>
                  <a:pt x="10" y="6"/>
                </a:lnTo>
                <a:lnTo>
                  <a:pt x="10" y="5"/>
                </a:lnTo>
                <a:close/>
              </a:path>
            </a:pathLst>
          </a:custGeom>
          <a:solidFill>
            <a:srgbClr val="66A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3530600" y="1663700"/>
            <a:ext cx="139700" cy="127000"/>
          </a:xfrm>
          <a:custGeom>
            <a:avLst/>
            <a:gdLst/>
            <a:ahLst/>
            <a:cxnLst/>
            <a:rect l="l" t="t" r="r" b="b"/>
            <a:pathLst>
              <a:path w="11" h="10">
                <a:moveTo>
                  <a:pt x="11" y="5"/>
                </a:moveTo>
                <a:lnTo>
                  <a:pt x="11" y="4"/>
                </a:lnTo>
                <a:lnTo>
                  <a:pt x="10" y="3"/>
                </a:lnTo>
                <a:lnTo>
                  <a:pt x="10" y="2"/>
                </a:lnTo>
                <a:lnTo>
                  <a:pt x="9" y="1"/>
                </a:lnTo>
                <a:lnTo>
                  <a:pt x="8" y="0"/>
                </a:lnTo>
                <a:lnTo>
                  <a:pt x="7" y="0"/>
                </a:lnTo>
                <a:lnTo>
                  <a:pt x="7" y="0"/>
                </a:lnTo>
                <a:lnTo>
                  <a:pt x="5" y="0"/>
                </a:lnTo>
                <a:lnTo>
                  <a:pt x="4" y="0"/>
                </a:lnTo>
                <a:lnTo>
                  <a:pt x="3" y="0"/>
                </a:lnTo>
                <a:lnTo>
                  <a:pt x="3" y="0"/>
                </a:lnTo>
                <a:lnTo>
                  <a:pt x="2" y="1"/>
                </a:lnTo>
                <a:lnTo>
                  <a:pt x="1" y="2"/>
                </a:lnTo>
                <a:lnTo>
                  <a:pt x="1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1" y="7"/>
                </a:lnTo>
                <a:lnTo>
                  <a:pt x="1" y="8"/>
                </a:lnTo>
                <a:lnTo>
                  <a:pt x="2" y="8"/>
                </a:lnTo>
                <a:lnTo>
                  <a:pt x="3" y="9"/>
                </a:lnTo>
                <a:lnTo>
                  <a:pt x="3" y="9"/>
                </a:lnTo>
                <a:lnTo>
                  <a:pt x="4" y="10"/>
                </a:lnTo>
                <a:lnTo>
                  <a:pt x="5" y="10"/>
                </a:lnTo>
                <a:lnTo>
                  <a:pt x="7" y="10"/>
                </a:lnTo>
                <a:lnTo>
                  <a:pt x="7" y="9"/>
                </a:lnTo>
                <a:lnTo>
                  <a:pt x="8" y="9"/>
                </a:lnTo>
                <a:lnTo>
                  <a:pt x="9" y="8"/>
                </a:lnTo>
                <a:lnTo>
                  <a:pt x="10" y="8"/>
                </a:lnTo>
                <a:lnTo>
                  <a:pt x="10" y="7"/>
                </a:lnTo>
                <a:lnTo>
                  <a:pt x="11" y="6"/>
                </a:lnTo>
                <a:lnTo>
                  <a:pt x="11" y="5"/>
                </a:lnTo>
                <a:close/>
              </a:path>
            </a:pathLst>
          </a:custGeom>
          <a:solidFill>
            <a:srgbClr val="66A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Freeform 49"/>
          <p:cNvSpPr/>
          <p:nvPr/>
        </p:nvSpPr>
        <p:spPr>
          <a:xfrm>
            <a:off x="3225800" y="1841500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0" h="10">
                <a:moveTo>
                  <a:pt x="10" y="5"/>
                </a:moveTo>
                <a:lnTo>
                  <a:pt x="10" y="4"/>
                </a:lnTo>
                <a:lnTo>
                  <a:pt x="10" y="3"/>
                </a:lnTo>
                <a:lnTo>
                  <a:pt x="9" y="2"/>
                </a:lnTo>
                <a:lnTo>
                  <a:pt x="9" y="1"/>
                </a:lnTo>
                <a:lnTo>
                  <a:pt x="8" y="1"/>
                </a:lnTo>
                <a:lnTo>
                  <a:pt x="7" y="0"/>
                </a:lnTo>
                <a:lnTo>
                  <a:pt x="6" y="0"/>
                </a:lnTo>
                <a:lnTo>
                  <a:pt x="5" y="0"/>
                </a:lnTo>
                <a:lnTo>
                  <a:pt x="4" y="0"/>
                </a:lnTo>
                <a:lnTo>
                  <a:pt x="3" y="0"/>
                </a:lnTo>
                <a:lnTo>
                  <a:pt x="2" y="1"/>
                </a:lnTo>
                <a:lnTo>
                  <a:pt x="1" y="1"/>
                </a:lnTo>
                <a:lnTo>
                  <a:pt x="1" y="2"/>
                </a:lnTo>
                <a:lnTo>
                  <a:pt x="0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0" y="7"/>
                </a:lnTo>
                <a:lnTo>
                  <a:pt x="1" y="8"/>
                </a:lnTo>
                <a:lnTo>
                  <a:pt x="1" y="9"/>
                </a:lnTo>
                <a:lnTo>
                  <a:pt x="2" y="9"/>
                </a:lnTo>
                <a:lnTo>
                  <a:pt x="3" y="10"/>
                </a:lnTo>
                <a:lnTo>
                  <a:pt x="4" y="10"/>
                </a:lnTo>
                <a:lnTo>
                  <a:pt x="5" y="10"/>
                </a:lnTo>
                <a:lnTo>
                  <a:pt x="6" y="10"/>
                </a:lnTo>
                <a:lnTo>
                  <a:pt x="7" y="10"/>
                </a:lnTo>
                <a:lnTo>
                  <a:pt x="8" y="9"/>
                </a:lnTo>
                <a:lnTo>
                  <a:pt x="9" y="9"/>
                </a:lnTo>
                <a:lnTo>
                  <a:pt x="9" y="8"/>
                </a:lnTo>
                <a:lnTo>
                  <a:pt x="10" y="7"/>
                </a:lnTo>
                <a:lnTo>
                  <a:pt x="10" y="6"/>
                </a:lnTo>
                <a:lnTo>
                  <a:pt x="10" y="5"/>
                </a:lnTo>
                <a:close/>
              </a:path>
            </a:pathLst>
          </a:custGeom>
          <a:solidFill>
            <a:srgbClr val="66A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3225800" y="2197100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0" h="10">
                <a:moveTo>
                  <a:pt x="10" y="5"/>
                </a:moveTo>
                <a:lnTo>
                  <a:pt x="10" y="4"/>
                </a:lnTo>
                <a:lnTo>
                  <a:pt x="10" y="3"/>
                </a:lnTo>
                <a:lnTo>
                  <a:pt x="9" y="2"/>
                </a:lnTo>
                <a:lnTo>
                  <a:pt x="9" y="2"/>
                </a:lnTo>
                <a:lnTo>
                  <a:pt x="8" y="1"/>
                </a:lnTo>
                <a:lnTo>
                  <a:pt x="7" y="1"/>
                </a:lnTo>
                <a:lnTo>
                  <a:pt x="6" y="0"/>
                </a:lnTo>
                <a:lnTo>
                  <a:pt x="5" y="0"/>
                </a:lnTo>
                <a:lnTo>
                  <a:pt x="4" y="0"/>
                </a:lnTo>
                <a:lnTo>
                  <a:pt x="3" y="1"/>
                </a:lnTo>
                <a:lnTo>
                  <a:pt x="2" y="1"/>
                </a:lnTo>
                <a:lnTo>
                  <a:pt x="1" y="2"/>
                </a:lnTo>
                <a:lnTo>
                  <a:pt x="1" y="2"/>
                </a:lnTo>
                <a:lnTo>
                  <a:pt x="0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0" y="7"/>
                </a:lnTo>
                <a:lnTo>
                  <a:pt x="1" y="8"/>
                </a:lnTo>
                <a:lnTo>
                  <a:pt x="1" y="9"/>
                </a:lnTo>
                <a:lnTo>
                  <a:pt x="2" y="10"/>
                </a:lnTo>
                <a:lnTo>
                  <a:pt x="3" y="10"/>
                </a:lnTo>
                <a:lnTo>
                  <a:pt x="4" y="10"/>
                </a:lnTo>
                <a:lnTo>
                  <a:pt x="5" y="10"/>
                </a:lnTo>
                <a:lnTo>
                  <a:pt x="6" y="10"/>
                </a:lnTo>
                <a:lnTo>
                  <a:pt x="7" y="10"/>
                </a:lnTo>
                <a:lnTo>
                  <a:pt x="8" y="10"/>
                </a:lnTo>
                <a:lnTo>
                  <a:pt x="9" y="9"/>
                </a:lnTo>
                <a:lnTo>
                  <a:pt x="9" y="8"/>
                </a:lnTo>
                <a:lnTo>
                  <a:pt x="10" y="7"/>
                </a:lnTo>
                <a:lnTo>
                  <a:pt x="10" y="6"/>
                </a:lnTo>
                <a:lnTo>
                  <a:pt x="10" y="5"/>
                </a:lnTo>
                <a:close/>
              </a:path>
            </a:pathLst>
          </a:custGeom>
          <a:solidFill>
            <a:srgbClr val="66A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Freeform 51"/>
          <p:cNvSpPr/>
          <p:nvPr/>
        </p:nvSpPr>
        <p:spPr>
          <a:xfrm>
            <a:off x="3530600" y="2374900"/>
            <a:ext cx="139700" cy="139700"/>
          </a:xfrm>
          <a:custGeom>
            <a:avLst/>
            <a:gdLst/>
            <a:ahLst/>
            <a:cxnLst/>
            <a:rect l="l" t="t" r="r" b="b"/>
            <a:pathLst>
              <a:path w="11" h="11">
                <a:moveTo>
                  <a:pt x="11" y="5"/>
                </a:moveTo>
                <a:lnTo>
                  <a:pt x="11" y="4"/>
                </a:lnTo>
                <a:lnTo>
                  <a:pt x="10" y="3"/>
                </a:lnTo>
                <a:lnTo>
                  <a:pt x="10" y="3"/>
                </a:lnTo>
                <a:lnTo>
                  <a:pt x="9" y="2"/>
                </a:lnTo>
                <a:lnTo>
                  <a:pt x="8" y="1"/>
                </a:lnTo>
                <a:lnTo>
                  <a:pt x="7" y="1"/>
                </a:lnTo>
                <a:lnTo>
                  <a:pt x="7" y="0"/>
                </a:lnTo>
                <a:lnTo>
                  <a:pt x="5" y="0"/>
                </a:lnTo>
                <a:lnTo>
                  <a:pt x="4" y="0"/>
                </a:lnTo>
                <a:lnTo>
                  <a:pt x="3" y="1"/>
                </a:lnTo>
                <a:lnTo>
                  <a:pt x="3" y="1"/>
                </a:lnTo>
                <a:lnTo>
                  <a:pt x="2" y="2"/>
                </a:lnTo>
                <a:lnTo>
                  <a:pt x="1" y="3"/>
                </a:lnTo>
                <a:lnTo>
                  <a:pt x="1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1" y="7"/>
                </a:lnTo>
                <a:lnTo>
                  <a:pt x="1" y="8"/>
                </a:lnTo>
                <a:lnTo>
                  <a:pt x="2" y="9"/>
                </a:lnTo>
                <a:lnTo>
                  <a:pt x="3" y="10"/>
                </a:lnTo>
                <a:lnTo>
                  <a:pt x="3" y="10"/>
                </a:lnTo>
                <a:lnTo>
                  <a:pt x="4" y="10"/>
                </a:lnTo>
                <a:lnTo>
                  <a:pt x="5" y="11"/>
                </a:lnTo>
                <a:lnTo>
                  <a:pt x="7" y="10"/>
                </a:lnTo>
                <a:lnTo>
                  <a:pt x="7" y="10"/>
                </a:lnTo>
                <a:lnTo>
                  <a:pt x="8" y="10"/>
                </a:lnTo>
                <a:lnTo>
                  <a:pt x="9" y="9"/>
                </a:lnTo>
                <a:lnTo>
                  <a:pt x="10" y="8"/>
                </a:lnTo>
                <a:lnTo>
                  <a:pt x="10" y="7"/>
                </a:lnTo>
                <a:lnTo>
                  <a:pt x="11" y="6"/>
                </a:lnTo>
                <a:lnTo>
                  <a:pt x="11" y="5"/>
                </a:lnTo>
                <a:close/>
              </a:path>
            </a:pathLst>
          </a:custGeom>
          <a:solidFill>
            <a:srgbClr val="66A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3848100" y="2197100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0" h="10">
                <a:moveTo>
                  <a:pt x="10" y="5"/>
                </a:moveTo>
                <a:lnTo>
                  <a:pt x="10" y="4"/>
                </a:lnTo>
                <a:lnTo>
                  <a:pt x="10" y="3"/>
                </a:lnTo>
                <a:lnTo>
                  <a:pt x="9" y="2"/>
                </a:lnTo>
                <a:lnTo>
                  <a:pt x="9" y="2"/>
                </a:lnTo>
                <a:lnTo>
                  <a:pt x="8" y="1"/>
                </a:lnTo>
                <a:lnTo>
                  <a:pt x="7" y="1"/>
                </a:lnTo>
                <a:lnTo>
                  <a:pt x="6" y="0"/>
                </a:lnTo>
                <a:lnTo>
                  <a:pt x="5" y="0"/>
                </a:lnTo>
                <a:lnTo>
                  <a:pt x="4" y="0"/>
                </a:lnTo>
                <a:lnTo>
                  <a:pt x="3" y="1"/>
                </a:lnTo>
                <a:lnTo>
                  <a:pt x="2" y="1"/>
                </a:lnTo>
                <a:lnTo>
                  <a:pt x="1" y="2"/>
                </a:lnTo>
                <a:lnTo>
                  <a:pt x="1" y="2"/>
                </a:lnTo>
                <a:lnTo>
                  <a:pt x="0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0" y="7"/>
                </a:lnTo>
                <a:lnTo>
                  <a:pt x="1" y="8"/>
                </a:lnTo>
                <a:lnTo>
                  <a:pt x="1" y="9"/>
                </a:lnTo>
                <a:lnTo>
                  <a:pt x="2" y="10"/>
                </a:lnTo>
                <a:lnTo>
                  <a:pt x="3" y="10"/>
                </a:lnTo>
                <a:lnTo>
                  <a:pt x="4" y="10"/>
                </a:lnTo>
                <a:lnTo>
                  <a:pt x="5" y="10"/>
                </a:lnTo>
                <a:lnTo>
                  <a:pt x="6" y="10"/>
                </a:lnTo>
                <a:lnTo>
                  <a:pt x="7" y="10"/>
                </a:lnTo>
                <a:lnTo>
                  <a:pt x="8" y="10"/>
                </a:lnTo>
                <a:lnTo>
                  <a:pt x="9" y="9"/>
                </a:lnTo>
                <a:lnTo>
                  <a:pt x="9" y="8"/>
                </a:lnTo>
                <a:lnTo>
                  <a:pt x="10" y="7"/>
                </a:lnTo>
                <a:lnTo>
                  <a:pt x="10" y="6"/>
                </a:lnTo>
                <a:lnTo>
                  <a:pt x="10" y="5"/>
                </a:lnTo>
                <a:close/>
              </a:path>
            </a:pathLst>
          </a:custGeom>
          <a:solidFill>
            <a:srgbClr val="66A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2880003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6" name="Picture 5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57" name="Picture 5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58" name="TextBox 57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GA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variants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8000" y="359888"/>
            <a:ext cx="567739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1">
                <a:solidFill>
                  <a:srgbClr val="003373"/>
                </a:solidFill>
                <a:latin typeface="Josefin Sans"/>
              </a:rPr>
              <a:t>Generational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genetic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algorithm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(GGA)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60057" y="724584"/>
            <a:ext cx="532533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all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parents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replaced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their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offsprings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next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generation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60056" y="982699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overlapping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between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current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new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population.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overlapping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37094" y="1198541"/>
            <a:ext cx="51483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between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current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new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population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referred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as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generation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gap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.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GGAs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37094" y="1370614"/>
            <a:ext cx="51483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have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zero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generation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gap.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856751" y="2573415"/>
            <a:ext cx="3928644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Generation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285819" y="2573415"/>
            <a:ext cx="2499576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Generation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898770" y="3150930"/>
            <a:ext cx="8866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624270" y="3150706"/>
            <a:ext cx="1611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84</a:t>
            </a:r>
          </a:p>
        </p:txBody>
      </p:sp>
    </p:spTree>
  </p:cSld>
  <p:clrMapOvr>
    <a:masterClrMapping/>
  </p:clrMapOvr>
</p:sld>
</file>

<file path=ppt/slides/slide2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Freeform 35"/>
          <p:cNvSpPr/>
          <p:nvPr/>
        </p:nvSpPr>
        <p:spPr>
          <a:xfrm>
            <a:off x="2400300" y="1841500"/>
            <a:ext cx="139700" cy="127000"/>
          </a:xfrm>
          <a:custGeom>
            <a:avLst/>
            <a:gdLst/>
            <a:ahLst/>
            <a:cxnLst/>
            <a:rect l="l" t="t" r="r" b="b"/>
            <a:pathLst>
              <a:path w="11" h="10">
                <a:moveTo>
                  <a:pt x="11" y="5"/>
                </a:moveTo>
                <a:lnTo>
                  <a:pt x="11" y="4"/>
                </a:lnTo>
                <a:lnTo>
                  <a:pt x="10" y="3"/>
                </a:lnTo>
                <a:lnTo>
                  <a:pt x="10" y="2"/>
                </a:lnTo>
                <a:lnTo>
                  <a:pt x="9" y="1"/>
                </a:lnTo>
                <a:lnTo>
                  <a:pt x="9" y="1"/>
                </a:lnTo>
                <a:lnTo>
                  <a:pt x="8" y="0"/>
                </a:lnTo>
                <a:lnTo>
                  <a:pt x="7" y="0"/>
                </a:lnTo>
                <a:lnTo>
                  <a:pt x="6" y="0"/>
                </a:lnTo>
                <a:lnTo>
                  <a:pt x="5" y="0"/>
                </a:lnTo>
                <a:lnTo>
                  <a:pt x="4" y="0"/>
                </a:lnTo>
                <a:lnTo>
                  <a:pt x="3" y="1"/>
                </a:lnTo>
                <a:lnTo>
                  <a:pt x="2" y="1"/>
                </a:lnTo>
                <a:lnTo>
                  <a:pt x="1" y="2"/>
                </a:lnTo>
                <a:lnTo>
                  <a:pt x="1" y="3"/>
                </a:lnTo>
                <a:lnTo>
                  <a:pt x="1" y="4"/>
                </a:lnTo>
                <a:lnTo>
                  <a:pt x="0" y="5"/>
                </a:lnTo>
                <a:lnTo>
                  <a:pt x="1" y="6"/>
                </a:lnTo>
                <a:lnTo>
                  <a:pt x="1" y="7"/>
                </a:lnTo>
                <a:lnTo>
                  <a:pt x="1" y="8"/>
                </a:lnTo>
                <a:lnTo>
                  <a:pt x="2" y="9"/>
                </a:lnTo>
                <a:lnTo>
                  <a:pt x="3" y="9"/>
                </a:lnTo>
                <a:lnTo>
                  <a:pt x="4" y="10"/>
                </a:lnTo>
                <a:lnTo>
                  <a:pt x="5" y="10"/>
                </a:lnTo>
                <a:lnTo>
                  <a:pt x="6" y="10"/>
                </a:lnTo>
                <a:lnTo>
                  <a:pt x="7" y="10"/>
                </a:lnTo>
                <a:lnTo>
                  <a:pt x="8" y="10"/>
                </a:lnTo>
                <a:lnTo>
                  <a:pt x="9" y="9"/>
                </a:lnTo>
                <a:lnTo>
                  <a:pt x="9" y="9"/>
                </a:lnTo>
                <a:lnTo>
                  <a:pt x="10" y="8"/>
                </a:lnTo>
                <a:lnTo>
                  <a:pt x="10" y="7"/>
                </a:lnTo>
                <a:lnTo>
                  <a:pt x="11" y="6"/>
                </a:lnTo>
                <a:lnTo>
                  <a:pt x="11" y="5"/>
                </a:lnTo>
                <a:close/>
              </a:path>
            </a:pathLst>
          </a:custGeom>
          <a:solidFill>
            <a:srgbClr val="A676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2095500" y="1663700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0" h="10">
                <a:moveTo>
                  <a:pt x="10" y="5"/>
                </a:moveTo>
                <a:lnTo>
                  <a:pt x="10" y="4"/>
                </a:lnTo>
                <a:lnTo>
                  <a:pt x="10" y="3"/>
                </a:lnTo>
                <a:lnTo>
                  <a:pt x="9" y="2"/>
                </a:lnTo>
                <a:lnTo>
                  <a:pt x="9" y="1"/>
                </a:lnTo>
                <a:lnTo>
                  <a:pt x="8" y="0"/>
                </a:lnTo>
                <a:lnTo>
                  <a:pt x="7" y="0"/>
                </a:lnTo>
                <a:lnTo>
                  <a:pt x="6" y="0"/>
                </a:lnTo>
                <a:lnTo>
                  <a:pt x="5" y="0"/>
                </a:lnTo>
                <a:lnTo>
                  <a:pt x="4" y="0"/>
                </a:lnTo>
                <a:lnTo>
                  <a:pt x="3" y="0"/>
                </a:lnTo>
                <a:lnTo>
                  <a:pt x="2" y="0"/>
                </a:lnTo>
                <a:lnTo>
                  <a:pt x="1" y="1"/>
                </a:lnTo>
                <a:lnTo>
                  <a:pt x="1" y="2"/>
                </a:lnTo>
                <a:lnTo>
                  <a:pt x="0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0" y="7"/>
                </a:lnTo>
                <a:lnTo>
                  <a:pt x="1" y="8"/>
                </a:lnTo>
                <a:lnTo>
                  <a:pt x="1" y="8"/>
                </a:lnTo>
                <a:lnTo>
                  <a:pt x="2" y="9"/>
                </a:lnTo>
                <a:lnTo>
                  <a:pt x="3" y="9"/>
                </a:lnTo>
                <a:lnTo>
                  <a:pt x="4" y="10"/>
                </a:lnTo>
                <a:lnTo>
                  <a:pt x="5" y="10"/>
                </a:lnTo>
                <a:lnTo>
                  <a:pt x="6" y="10"/>
                </a:lnTo>
                <a:lnTo>
                  <a:pt x="7" y="9"/>
                </a:lnTo>
                <a:lnTo>
                  <a:pt x="8" y="9"/>
                </a:lnTo>
                <a:lnTo>
                  <a:pt x="9" y="8"/>
                </a:lnTo>
                <a:lnTo>
                  <a:pt x="9" y="8"/>
                </a:lnTo>
                <a:lnTo>
                  <a:pt x="10" y="7"/>
                </a:lnTo>
                <a:lnTo>
                  <a:pt x="10" y="6"/>
                </a:lnTo>
                <a:lnTo>
                  <a:pt x="10" y="5"/>
                </a:lnTo>
                <a:close/>
              </a:path>
            </a:pathLst>
          </a:custGeom>
          <a:solidFill>
            <a:srgbClr val="A676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1778000" y="1841500"/>
            <a:ext cx="139700" cy="127000"/>
          </a:xfrm>
          <a:custGeom>
            <a:avLst/>
            <a:gdLst/>
            <a:ahLst/>
            <a:cxnLst/>
            <a:rect l="l" t="t" r="r" b="b"/>
            <a:pathLst>
              <a:path w="11" h="10">
                <a:moveTo>
                  <a:pt x="11" y="5"/>
                </a:moveTo>
                <a:lnTo>
                  <a:pt x="11" y="4"/>
                </a:lnTo>
                <a:lnTo>
                  <a:pt x="10" y="3"/>
                </a:lnTo>
                <a:lnTo>
                  <a:pt x="10" y="2"/>
                </a:lnTo>
                <a:lnTo>
                  <a:pt x="9" y="1"/>
                </a:lnTo>
                <a:lnTo>
                  <a:pt x="8" y="1"/>
                </a:lnTo>
                <a:lnTo>
                  <a:pt x="8" y="0"/>
                </a:lnTo>
                <a:lnTo>
                  <a:pt x="7" y="0"/>
                </a:lnTo>
                <a:lnTo>
                  <a:pt x="6" y="0"/>
                </a:lnTo>
                <a:lnTo>
                  <a:pt x="4" y="0"/>
                </a:lnTo>
                <a:lnTo>
                  <a:pt x="4" y="0"/>
                </a:lnTo>
                <a:lnTo>
                  <a:pt x="3" y="1"/>
                </a:lnTo>
                <a:lnTo>
                  <a:pt x="2" y="1"/>
                </a:lnTo>
                <a:lnTo>
                  <a:pt x="1" y="2"/>
                </a:lnTo>
                <a:lnTo>
                  <a:pt x="1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1" y="7"/>
                </a:lnTo>
                <a:lnTo>
                  <a:pt x="1" y="8"/>
                </a:lnTo>
                <a:lnTo>
                  <a:pt x="2" y="9"/>
                </a:lnTo>
                <a:lnTo>
                  <a:pt x="3" y="9"/>
                </a:lnTo>
                <a:lnTo>
                  <a:pt x="4" y="10"/>
                </a:lnTo>
                <a:lnTo>
                  <a:pt x="4" y="10"/>
                </a:lnTo>
                <a:lnTo>
                  <a:pt x="6" y="10"/>
                </a:lnTo>
                <a:lnTo>
                  <a:pt x="7" y="10"/>
                </a:lnTo>
                <a:lnTo>
                  <a:pt x="8" y="10"/>
                </a:lnTo>
                <a:lnTo>
                  <a:pt x="8" y="9"/>
                </a:lnTo>
                <a:lnTo>
                  <a:pt x="9" y="9"/>
                </a:lnTo>
                <a:lnTo>
                  <a:pt x="10" y="8"/>
                </a:lnTo>
                <a:lnTo>
                  <a:pt x="10" y="7"/>
                </a:lnTo>
                <a:lnTo>
                  <a:pt x="11" y="6"/>
                </a:lnTo>
                <a:lnTo>
                  <a:pt x="11" y="5"/>
                </a:lnTo>
                <a:close/>
              </a:path>
            </a:pathLst>
          </a:custGeom>
          <a:solidFill>
            <a:srgbClr val="A676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Freeform 38"/>
          <p:cNvSpPr/>
          <p:nvPr/>
        </p:nvSpPr>
        <p:spPr>
          <a:xfrm>
            <a:off x="1778000" y="2197100"/>
            <a:ext cx="139700" cy="127000"/>
          </a:xfrm>
          <a:custGeom>
            <a:avLst/>
            <a:gdLst/>
            <a:ahLst/>
            <a:cxnLst/>
            <a:rect l="l" t="t" r="r" b="b"/>
            <a:pathLst>
              <a:path w="11" h="10">
                <a:moveTo>
                  <a:pt x="11" y="5"/>
                </a:moveTo>
                <a:lnTo>
                  <a:pt x="11" y="4"/>
                </a:lnTo>
                <a:lnTo>
                  <a:pt x="10" y="3"/>
                </a:lnTo>
                <a:lnTo>
                  <a:pt x="10" y="2"/>
                </a:lnTo>
                <a:lnTo>
                  <a:pt x="9" y="2"/>
                </a:lnTo>
                <a:lnTo>
                  <a:pt x="8" y="1"/>
                </a:lnTo>
                <a:lnTo>
                  <a:pt x="8" y="1"/>
                </a:lnTo>
                <a:lnTo>
                  <a:pt x="7" y="0"/>
                </a:lnTo>
                <a:lnTo>
                  <a:pt x="6" y="0"/>
                </a:lnTo>
                <a:lnTo>
                  <a:pt x="4" y="0"/>
                </a:lnTo>
                <a:lnTo>
                  <a:pt x="4" y="1"/>
                </a:lnTo>
                <a:lnTo>
                  <a:pt x="3" y="1"/>
                </a:lnTo>
                <a:lnTo>
                  <a:pt x="2" y="2"/>
                </a:lnTo>
                <a:lnTo>
                  <a:pt x="1" y="2"/>
                </a:lnTo>
                <a:lnTo>
                  <a:pt x="1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1" y="7"/>
                </a:lnTo>
                <a:lnTo>
                  <a:pt x="1" y="8"/>
                </a:lnTo>
                <a:lnTo>
                  <a:pt x="2" y="9"/>
                </a:lnTo>
                <a:lnTo>
                  <a:pt x="3" y="10"/>
                </a:lnTo>
                <a:lnTo>
                  <a:pt x="4" y="10"/>
                </a:lnTo>
                <a:lnTo>
                  <a:pt x="4" y="10"/>
                </a:lnTo>
                <a:lnTo>
                  <a:pt x="6" y="10"/>
                </a:lnTo>
                <a:lnTo>
                  <a:pt x="7" y="10"/>
                </a:lnTo>
                <a:lnTo>
                  <a:pt x="8" y="10"/>
                </a:lnTo>
                <a:lnTo>
                  <a:pt x="8" y="10"/>
                </a:lnTo>
                <a:lnTo>
                  <a:pt x="9" y="9"/>
                </a:lnTo>
                <a:lnTo>
                  <a:pt x="10" y="8"/>
                </a:lnTo>
                <a:lnTo>
                  <a:pt x="10" y="7"/>
                </a:lnTo>
                <a:lnTo>
                  <a:pt x="11" y="6"/>
                </a:lnTo>
                <a:lnTo>
                  <a:pt x="11" y="5"/>
                </a:lnTo>
                <a:close/>
              </a:path>
            </a:pathLst>
          </a:custGeom>
          <a:solidFill>
            <a:srgbClr val="A676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2095500" y="2374900"/>
            <a:ext cx="127000" cy="139700"/>
          </a:xfrm>
          <a:custGeom>
            <a:avLst/>
            <a:gdLst/>
            <a:ahLst/>
            <a:cxnLst/>
            <a:rect l="l" t="t" r="r" b="b"/>
            <a:pathLst>
              <a:path w="10" h="11">
                <a:moveTo>
                  <a:pt x="10" y="5"/>
                </a:moveTo>
                <a:lnTo>
                  <a:pt x="10" y="4"/>
                </a:lnTo>
                <a:lnTo>
                  <a:pt x="10" y="3"/>
                </a:lnTo>
                <a:lnTo>
                  <a:pt x="9" y="3"/>
                </a:lnTo>
                <a:lnTo>
                  <a:pt x="9" y="2"/>
                </a:lnTo>
                <a:lnTo>
                  <a:pt x="8" y="1"/>
                </a:lnTo>
                <a:lnTo>
                  <a:pt x="7" y="1"/>
                </a:lnTo>
                <a:lnTo>
                  <a:pt x="6" y="0"/>
                </a:lnTo>
                <a:lnTo>
                  <a:pt x="5" y="0"/>
                </a:lnTo>
                <a:lnTo>
                  <a:pt x="4" y="0"/>
                </a:lnTo>
                <a:lnTo>
                  <a:pt x="3" y="1"/>
                </a:lnTo>
                <a:lnTo>
                  <a:pt x="2" y="1"/>
                </a:lnTo>
                <a:lnTo>
                  <a:pt x="1" y="2"/>
                </a:lnTo>
                <a:lnTo>
                  <a:pt x="1" y="3"/>
                </a:lnTo>
                <a:lnTo>
                  <a:pt x="0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0" y="7"/>
                </a:lnTo>
                <a:lnTo>
                  <a:pt x="1" y="8"/>
                </a:lnTo>
                <a:lnTo>
                  <a:pt x="1" y="9"/>
                </a:lnTo>
                <a:lnTo>
                  <a:pt x="2" y="10"/>
                </a:lnTo>
                <a:lnTo>
                  <a:pt x="3" y="10"/>
                </a:lnTo>
                <a:lnTo>
                  <a:pt x="4" y="10"/>
                </a:lnTo>
                <a:lnTo>
                  <a:pt x="5" y="11"/>
                </a:lnTo>
                <a:lnTo>
                  <a:pt x="6" y="10"/>
                </a:lnTo>
                <a:lnTo>
                  <a:pt x="7" y="10"/>
                </a:lnTo>
                <a:lnTo>
                  <a:pt x="8" y="10"/>
                </a:lnTo>
                <a:lnTo>
                  <a:pt x="9" y="9"/>
                </a:lnTo>
                <a:lnTo>
                  <a:pt x="9" y="8"/>
                </a:lnTo>
                <a:lnTo>
                  <a:pt x="10" y="7"/>
                </a:lnTo>
                <a:lnTo>
                  <a:pt x="10" y="6"/>
                </a:lnTo>
                <a:lnTo>
                  <a:pt x="10" y="5"/>
                </a:lnTo>
                <a:close/>
              </a:path>
            </a:pathLst>
          </a:custGeom>
          <a:solidFill>
            <a:srgbClr val="A676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2400300" y="2197100"/>
            <a:ext cx="139700" cy="127000"/>
          </a:xfrm>
          <a:custGeom>
            <a:avLst/>
            <a:gdLst/>
            <a:ahLst/>
            <a:cxnLst/>
            <a:rect l="l" t="t" r="r" b="b"/>
            <a:pathLst>
              <a:path w="11" h="10">
                <a:moveTo>
                  <a:pt x="11" y="5"/>
                </a:moveTo>
                <a:lnTo>
                  <a:pt x="11" y="4"/>
                </a:lnTo>
                <a:lnTo>
                  <a:pt x="10" y="3"/>
                </a:lnTo>
                <a:lnTo>
                  <a:pt x="10" y="2"/>
                </a:lnTo>
                <a:lnTo>
                  <a:pt x="9" y="2"/>
                </a:lnTo>
                <a:lnTo>
                  <a:pt x="9" y="1"/>
                </a:lnTo>
                <a:lnTo>
                  <a:pt x="8" y="1"/>
                </a:lnTo>
                <a:lnTo>
                  <a:pt x="7" y="0"/>
                </a:lnTo>
                <a:lnTo>
                  <a:pt x="6" y="0"/>
                </a:lnTo>
                <a:lnTo>
                  <a:pt x="5" y="0"/>
                </a:lnTo>
                <a:lnTo>
                  <a:pt x="4" y="1"/>
                </a:lnTo>
                <a:lnTo>
                  <a:pt x="3" y="1"/>
                </a:lnTo>
                <a:lnTo>
                  <a:pt x="2" y="2"/>
                </a:lnTo>
                <a:lnTo>
                  <a:pt x="1" y="2"/>
                </a:lnTo>
                <a:lnTo>
                  <a:pt x="1" y="3"/>
                </a:lnTo>
                <a:lnTo>
                  <a:pt x="1" y="4"/>
                </a:lnTo>
                <a:lnTo>
                  <a:pt x="0" y="5"/>
                </a:lnTo>
                <a:lnTo>
                  <a:pt x="1" y="6"/>
                </a:lnTo>
                <a:lnTo>
                  <a:pt x="1" y="7"/>
                </a:lnTo>
                <a:lnTo>
                  <a:pt x="1" y="8"/>
                </a:lnTo>
                <a:lnTo>
                  <a:pt x="2" y="9"/>
                </a:lnTo>
                <a:lnTo>
                  <a:pt x="3" y="10"/>
                </a:lnTo>
                <a:lnTo>
                  <a:pt x="4" y="10"/>
                </a:lnTo>
                <a:lnTo>
                  <a:pt x="5" y="10"/>
                </a:lnTo>
                <a:lnTo>
                  <a:pt x="6" y="10"/>
                </a:lnTo>
                <a:lnTo>
                  <a:pt x="7" y="10"/>
                </a:lnTo>
                <a:lnTo>
                  <a:pt x="8" y="10"/>
                </a:lnTo>
                <a:lnTo>
                  <a:pt x="9" y="10"/>
                </a:lnTo>
                <a:lnTo>
                  <a:pt x="9" y="9"/>
                </a:lnTo>
                <a:lnTo>
                  <a:pt x="10" y="8"/>
                </a:lnTo>
                <a:lnTo>
                  <a:pt x="10" y="7"/>
                </a:lnTo>
                <a:lnTo>
                  <a:pt x="11" y="6"/>
                </a:lnTo>
                <a:lnTo>
                  <a:pt x="11" y="5"/>
                </a:lnTo>
                <a:close/>
              </a:path>
            </a:pathLst>
          </a:custGeom>
          <a:solidFill>
            <a:srgbClr val="A676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Freeform 41"/>
          <p:cNvSpPr/>
          <p:nvPr/>
        </p:nvSpPr>
        <p:spPr>
          <a:xfrm>
            <a:off x="2273300" y="2019300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0" h="10">
                <a:moveTo>
                  <a:pt x="10" y="5"/>
                </a:moveTo>
                <a:lnTo>
                  <a:pt x="10" y="4"/>
                </a:lnTo>
                <a:lnTo>
                  <a:pt x="10" y="3"/>
                </a:lnTo>
                <a:lnTo>
                  <a:pt x="10" y="2"/>
                </a:lnTo>
                <a:lnTo>
                  <a:pt x="9" y="1"/>
                </a:lnTo>
                <a:lnTo>
                  <a:pt x="8" y="1"/>
                </a:lnTo>
                <a:lnTo>
                  <a:pt x="7" y="0"/>
                </a:lnTo>
                <a:lnTo>
                  <a:pt x="6" y="0"/>
                </a:lnTo>
                <a:lnTo>
                  <a:pt x="5" y="0"/>
                </a:lnTo>
                <a:lnTo>
                  <a:pt x="4" y="0"/>
                </a:lnTo>
                <a:lnTo>
                  <a:pt x="3" y="0"/>
                </a:lnTo>
                <a:lnTo>
                  <a:pt x="2" y="1"/>
                </a:lnTo>
                <a:lnTo>
                  <a:pt x="2" y="1"/>
                </a:lnTo>
                <a:lnTo>
                  <a:pt x="1" y="2"/>
                </a:lnTo>
                <a:lnTo>
                  <a:pt x="1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1" y="7"/>
                </a:lnTo>
                <a:lnTo>
                  <a:pt x="1" y="8"/>
                </a:lnTo>
                <a:lnTo>
                  <a:pt x="2" y="9"/>
                </a:lnTo>
                <a:lnTo>
                  <a:pt x="2" y="9"/>
                </a:lnTo>
                <a:lnTo>
                  <a:pt x="3" y="10"/>
                </a:lnTo>
                <a:lnTo>
                  <a:pt x="4" y="10"/>
                </a:lnTo>
                <a:lnTo>
                  <a:pt x="5" y="10"/>
                </a:lnTo>
                <a:lnTo>
                  <a:pt x="6" y="10"/>
                </a:lnTo>
                <a:lnTo>
                  <a:pt x="7" y="10"/>
                </a:lnTo>
                <a:lnTo>
                  <a:pt x="8" y="9"/>
                </a:lnTo>
                <a:lnTo>
                  <a:pt x="9" y="9"/>
                </a:lnTo>
                <a:lnTo>
                  <a:pt x="10" y="8"/>
                </a:lnTo>
                <a:lnTo>
                  <a:pt x="10" y="7"/>
                </a:lnTo>
                <a:lnTo>
                  <a:pt x="10" y="6"/>
                </a:lnTo>
                <a:lnTo>
                  <a:pt x="10" y="5"/>
                </a:lnTo>
                <a:close/>
              </a:path>
            </a:pathLst>
          </a:custGeom>
          <a:solidFill>
            <a:srgbClr val="66A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Freeform 42"/>
          <p:cNvSpPr/>
          <p:nvPr/>
        </p:nvSpPr>
        <p:spPr>
          <a:xfrm>
            <a:off x="2184400" y="1866900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0" h="10">
                <a:moveTo>
                  <a:pt x="10" y="5"/>
                </a:moveTo>
                <a:lnTo>
                  <a:pt x="10" y="4"/>
                </a:lnTo>
                <a:lnTo>
                  <a:pt x="10" y="3"/>
                </a:lnTo>
                <a:lnTo>
                  <a:pt x="9" y="2"/>
                </a:lnTo>
                <a:lnTo>
                  <a:pt x="9" y="1"/>
                </a:lnTo>
                <a:lnTo>
                  <a:pt x="8" y="1"/>
                </a:lnTo>
                <a:lnTo>
                  <a:pt x="7" y="0"/>
                </a:lnTo>
                <a:lnTo>
                  <a:pt x="6" y="0"/>
                </a:lnTo>
                <a:lnTo>
                  <a:pt x="5" y="0"/>
                </a:lnTo>
                <a:lnTo>
                  <a:pt x="4" y="0"/>
                </a:lnTo>
                <a:lnTo>
                  <a:pt x="3" y="0"/>
                </a:lnTo>
                <a:lnTo>
                  <a:pt x="2" y="1"/>
                </a:lnTo>
                <a:lnTo>
                  <a:pt x="2" y="1"/>
                </a:lnTo>
                <a:lnTo>
                  <a:pt x="1" y="2"/>
                </a:lnTo>
                <a:lnTo>
                  <a:pt x="0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0" y="7"/>
                </a:lnTo>
                <a:lnTo>
                  <a:pt x="1" y="8"/>
                </a:lnTo>
                <a:lnTo>
                  <a:pt x="2" y="8"/>
                </a:lnTo>
                <a:lnTo>
                  <a:pt x="2" y="9"/>
                </a:lnTo>
                <a:lnTo>
                  <a:pt x="3" y="10"/>
                </a:lnTo>
                <a:lnTo>
                  <a:pt x="4" y="10"/>
                </a:lnTo>
                <a:lnTo>
                  <a:pt x="5" y="10"/>
                </a:lnTo>
                <a:lnTo>
                  <a:pt x="6" y="10"/>
                </a:lnTo>
                <a:lnTo>
                  <a:pt x="7" y="10"/>
                </a:lnTo>
                <a:lnTo>
                  <a:pt x="8" y="9"/>
                </a:lnTo>
                <a:lnTo>
                  <a:pt x="9" y="8"/>
                </a:lnTo>
                <a:lnTo>
                  <a:pt x="9" y="8"/>
                </a:lnTo>
                <a:lnTo>
                  <a:pt x="10" y="7"/>
                </a:lnTo>
                <a:lnTo>
                  <a:pt x="10" y="6"/>
                </a:lnTo>
                <a:lnTo>
                  <a:pt x="10" y="5"/>
                </a:lnTo>
                <a:close/>
              </a:path>
            </a:pathLst>
          </a:custGeom>
          <a:solidFill>
            <a:srgbClr val="66A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Freeform 43"/>
          <p:cNvSpPr/>
          <p:nvPr/>
        </p:nvSpPr>
        <p:spPr>
          <a:xfrm>
            <a:off x="2006600" y="1866900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0" h="10">
                <a:moveTo>
                  <a:pt x="10" y="5"/>
                </a:moveTo>
                <a:lnTo>
                  <a:pt x="10" y="4"/>
                </a:lnTo>
                <a:lnTo>
                  <a:pt x="10" y="3"/>
                </a:lnTo>
                <a:lnTo>
                  <a:pt x="9" y="2"/>
                </a:lnTo>
                <a:lnTo>
                  <a:pt x="9" y="1"/>
                </a:lnTo>
                <a:lnTo>
                  <a:pt x="8" y="1"/>
                </a:lnTo>
                <a:lnTo>
                  <a:pt x="7" y="0"/>
                </a:lnTo>
                <a:lnTo>
                  <a:pt x="6" y="0"/>
                </a:lnTo>
                <a:lnTo>
                  <a:pt x="5" y="0"/>
                </a:lnTo>
                <a:lnTo>
                  <a:pt x="4" y="0"/>
                </a:lnTo>
                <a:lnTo>
                  <a:pt x="3" y="0"/>
                </a:lnTo>
                <a:lnTo>
                  <a:pt x="2" y="1"/>
                </a:lnTo>
                <a:lnTo>
                  <a:pt x="1" y="1"/>
                </a:lnTo>
                <a:lnTo>
                  <a:pt x="1" y="2"/>
                </a:lnTo>
                <a:lnTo>
                  <a:pt x="0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0" y="7"/>
                </a:lnTo>
                <a:lnTo>
                  <a:pt x="1" y="8"/>
                </a:lnTo>
                <a:lnTo>
                  <a:pt x="1" y="8"/>
                </a:lnTo>
                <a:lnTo>
                  <a:pt x="2" y="9"/>
                </a:lnTo>
                <a:lnTo>
                  <a:pt x="3" y="10"/>
                </a:lnTo>
                <a:lnTo>
                  <a:pt x="4" y="10"/>
                </a:lnTo>
                <a:lnTo>
                  <a:pt x="5" y="10"/>
                </a:lnTo>
                <a:lnTo>
                  <a:pt x="6" y="10"/>
                </a:lnTo>
                <a:lnTo>
                  <a:pt x="7" y="10"/>
                </a:lnTo>
                <a:lnTo>
                  <a:pt x="8" y="9"/>
                </a:lnTo>
                <a:lnTo>
                  <a:pt x="9" y="8"/>
                </a:lnTo>
                <a:lnTo>
                  <a:pt x="9" y="8"/>
                </a:lnTo>
                <a:lnTo>
                  <a:pt x="10" y="7"/>
                </a:lnTo>
                <a:lnTo>
                  <a:pt x="10" y="6"/>
                </a:lnTo>
                <a:lnTo>
                  <a:pt x="10" y="5"/>
                </a:lnTo>
                <a:close/>
              </a:path>
            </a:pathLst>
          </a:custGeom>
          <a:solidFill>
            <a:srgbClr val="66A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Freeform 44"/>
          <p:cNvSpPr/>
          <p:nvPr/>
        </p:nvSpPr>
        <p:spPr>
          <a:xfrm>
            <a:off x="1917700" y="2019300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0" h="10">
                <a:moveTo>
                  <a:pt x="10" y="5"/>
                </a:moveTo>
                <a:lnTo>
                  <a:pt x="10" y="4"/>
                </a:lnTo>
                <a:lnTo>
                  <a:pt x="10" y="3"/>
                </a:lnTo>
                <a:lnTo>
                  <a:pt x="9" y="2"/>
                </a:lnTo>
                <a:lnTo>
                  <a:pt x="9" y="1"/>
                </a:lnTo>
                <a:lnTo>
                  <a:pt x="8" y="1"/>
                </a:lnTo>
                <a:lnTo>
                  <a:pt x="7" y="0"/>
                </a:lnTo>
                <a:lnTo>
                  <a:pt x="6" y="0"/>
                </a:lnTo>
                <a:lnTo>
                  <a:pt x="5" y="0"/>
                </a:lnTo>
                <a:lnTo>
                  <a:pt x="4" y="0"/>
                </a:lnTo>
                <a:lnTo>
                  <a:pt x="3" y="0"/>
                </a:lnTo>
                <a:lnTo>
                  <a:pt x="2" y="1"/>
                </a:lnTo>
                <a:lnTo>
                  <a:pt x="1" y="1"/>
                </a:lnTo>
                <a:lnTo>
                  <a:pt x="1" y="2"/>
                </a:lnTo>
                <a:lnTo>
                  <a:pt x="0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0" y="7"/>
                </a:lnTo>
                <a:lnTo>
                  <a:pt x="1" y="8"/>
                </a:lnTo>
                <a:lnTo>
                  <a:pt x="1" y="9"/>
                </a:lnTo>
                <a:lnTo>
                  <a:pt x="2" y="9"/>
                </a:lnTo>
                <a:lnTo>
                  <a:pt x="3" y="10"/>
                </a:lnTo>
                <a:lnTo>
                  <a:pt x="4" y="10"/>
                </a:lnTo>
                <a:lnTo>
                  <a:pt x="5" y="10"/>
                </a:lnTo>
                <a:lnTo>
                  <a:pt x="6" y="10"/>
                </a:lnTo>
                <a:lnTo>
                  <a:pt x="7" y="10"/>
                </a:lnTo>
                <a:lnTo>
                  <a:pt x="8" y="9"/>
                </a:lnTo>
                <a:lnTo>
                  <a:pt x="9" y="9"/>
                </a:lnTo>
                <a:lnTo>
                  <a:pt x="9" y="8"/>
                </a:lnTo>
                <a:lnTo>
                  <a:pt x="10" y="7"/>
                </a:lnTo>
                <a:lnTo>
                  <a:pt x="10" y="6"/>
                </a:lnTo>
                <a:lnTo>
                  <a:pt x="10" y="5"/>
                </a:lnTo>
                <a:close/>
              </a:path>
            </a:pathLst>
          </a:custGeom>
          <a:solidFill>
            <a:srgbClr val="66A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Freeform 45"/>
          <p:cNvSpPr/>
          <p:nvPr/>
        </p:nvSpPr>
        <p:spPr>
          <a:xfrm>
            <a:off x="2006600" y="2171700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0" h="10">
                <a:moveTo>
                  <a:pt x="10" y="5"/>
                </a:moveTo>
                <a:lnTo>
                  <a:pt x="10" y="4"/>
                </a:lnTo>
                <a:lnTo>
                  <a:pt x="10" y="3"/>
                </a:lnTo>
                <a:lnTo>
                  <a:pt x="9" y="2"/>
                </a:lnTo>
                <a:lnTo>
                  <a:pt x="9" y="2"/>
                </a:lnTo>
                <a:lnTo>
                  <a:pt x="8" y="1"/>
                </a:lnTo>
                <a:lnTo>
                  <a:pt x="7" y="1"/>
                </a:lnTo>
                <a:lnTo>
                  <a:pt x="6" y="0"/>
                </a:lnTo>
                <a:lnTo>
                  <a:pt x="5" y="0"/>
                </a:lnTo>
                <a:lnTo>
                  <a:pt x="4" y="0"/>
                </a:lnTo>
                <a:lnTo>
                  <a:pt x="3" y="1"/>
                </a:lnTo>
                <a:lnTo>
                  <a:pt x="2" y="1"/>
                </a:lnTo>
                <a:lnTo>
                  <a:pt x="1" y="2"/>
                </a:lnTo>
                <a:lnTo>
                  <a:pt x="1" y="2"/>
                </a:lnTo>
                <a:lnTo>
                  <a:pt x="0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0" y="7"/>
                </a:lnTo>
                <a:lnTo>
                  <a:pt x="1" y="8"/>
                </a:lnTo>
                <a:lnTo>
                  <a:pt x="1" y="9"/>
                </a:lnTo>
                <a:lnTo>
                  <a:pt x="2" y="10"/>
                </a:lnTo>
                <a:lnTo>
                  <a:pt x="3" y="10"/>
                </a:lnTo>
                <a:lnTo>
                  <a:pt x="4" y="10"/>
                </a:lnTo>
                <a:lnTo>
                  <a:pt x="5" y="10"/>
                </a:lnTo>
                <a:lnTo>
                  <a:pt x="6" y="10"/>
                </a:lnTo>
                <a:lnTo>
                  <a:pt x="7" y="10"/>
                </a:lnTo>
                <a:lnTo>
                  <a:pt x="8" y="10"/>
                </a:lnTo>
                <a:lnTo>
                  <a:pt x="9" y="9"/>
                </a:lnTo>
                <a:lnTo>
                  <a:pt x="9" y="8"/>
                </a:lnTo>
                <a:lnTo>
                  <a:pt x="10" y="7"/>
                </a:lnTo>
                <a:lnTo>
                  <a:pt x="10" y="6"/>
                </a:lnTo>
                <a:lnTo>
                  <a:pt x="10" y="5"/>
                </a:lnTo>
                <a:close/>
              </a:path>
            </a:pathLst>
          </a:custGeom>
          <a:solidFill>
            <a:srgbClr val="66A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2184400" y="2171700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0" h="10">
                <a:moveTo>
                  <a:pt x="10" y="5"/>
                </a:moveTo>
                <a:lnTo>
                  <a:pt x="10" y="4"/>
                </a:lnTo>
                <a:lnTo>
                  <a:pt x="10" y="3"/>
                </a:lnTo>
                <a:lnTo>
                  <a:pt x="9" y="2"/>
                </a:lnTo>
                <a:lnTo>
                  <a:pt x="9" y="2"/>
                </a:lnTo>
                <a:lnTo>
                  <a:pt x="8" y="1"/>
                </a:lnTo>
                <a:lnTo>
                  <a:pt x="7" y="1"/>
                </a:lnTo>
                <a:lnTo>
                  <a:pt x="6" y="0"/>
                </a:lnTo>
                <a:lnTo>
                  <a:pt x="5" y="0"/>
                </a:lnTo>
                <a:lnTo>
                  <a:pt x="4" y="0"/>
                </a:lnTo>
                <a:lnTo>
                  <a:pt x="3" y="1"/>
                </a:lnTo>
                <a:lnTo>
                  <a:pt x="2" y="1"/>
                </a:lnTo>
                <a:lnTo>
                  <a:pt x="2" y="2"/>
                </a:lnTo>
                <a:lnTo>
                  <a:pt x="1" y="2"/>
                </a:lnTo>
                <a:lnTo>
                  <a:pt x="0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0" y="7"/>
                </a:lnTo>
                <a:lnTo>
                  <a:pt x="1" y="8"/>
                </a:lnTo>
                <a:lnTo>
                  <a:pt x="2" y="9"/>
                </a:lnTo>
                <a:lnTo>
                  <a:pt x="2" y="10"/>
                </a:lnTo>
                <a:lnTo>
                  <a:pt x="3" y="10"/>
                </a:lnTo>
                <a:lnTo>
                  <a:pt x="4" y="10"/>
                </a:lnTo>
                <a:lnTo>
                  <a:pt x="5" y="10"/>
                </a:lnTo>
                <a:lnTo>
                  <a:pt x="6" y="10"/>
                </a:lnTo>
                <a:lnTo>
                  <a:pt x="7" y="10"/>
                </a:lnTo>
                <a:lnTo>
                  <a:pt x="8" y="10"/>
                </a:lnTo>
                <a:lnTo>
                  <a:pt x="9" y="9"/>
                </a:lnTo>
                <a:lnTo>
                  <a:pt x="9" y="8"/>
                </a:lnTo>
                <a:lnTo>
                  <a:pt x="10" y="7"/>
                </a:lnTo>
                <a:lnTo>
                  <a:pt x="10" y="6"/>
                </a:lnTo>
                <a:lnTo>
                  <a:pt x="10" y="5"/>
                </a:lnTo>
                <a:close/>
              </a:path>
            </a:pathLst>
          </a:custGeom>
          <a:solidFill>
            <a:srgbClr val="66A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3848100" y="1841500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0" h="10">
                <a:moveTo>
                  <a:pt x="10" y="5"/>
                </a:moveTo>
                <a:lnTo>
                  <a:pt x="10" y="4"/>
                </a:lnTo>
                <a:lnTo>
                  <a:pt x="10" y="3"/>
                </a:lnTo>
                <a:lnTo>
                  <a:pt x="9" y="2"/>
                </a:lnTo>
                <a:lnTo>
                  <a:pt x="9" y="1"/>
                </a:lnTo>
                <a:lnTo>
                  <a:pt x="8" y="1"/>
                </a:lnTo>
                <a:lnTo>
                  <a:pt x="7" y="0"/>
                </a:lnTo>
                <a:lnTo>
                  <a:pt x="6" y="0"/>
                </a:lnTo>
                <a:lnTo>
                  <a:pt x="5" y="0"/>
                </a:lnTo>
                <a:lnTo>
                  <a:pt x="4" y="0"/>
                </a:lnTo>
                <a:lnTo>
                  <a:pt x="3" y="0"/>
                </a:lnTo>
                <a:lnTo>
                  <a:pt x="2" y="1"/>
                </a:lnTo>
                <a:lnTo>
                  <a:pt x="1" y="1"/>
                </a:lnTo>
                <a:lnTo>
                  <a:pt x="1" y="2"/>
                </a:lnTo>
                <a:lnTo>
                  <a:pt x="0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0" y="7"/>
                </a:lnTo>
                <a:lnTo>
                  <a:pt x="1" y="8"/>
                </a:lnTo>
                <a:lnTo>
                  <a:pt x="1" y="9"/>
                </a:lnTo>
                <a:lnTo>
                  <a:pt x="2" y="9"/>
                </a:lnTo>
                <a:lnTo>
                  <a:pt x="3" y="10"/>
                </a:lnTo>
                <a:lnTo>
                  <a:pt x="4" y="10"/>
                </a:lnTo>
                <a:lnTo>
                  <a:pt x="5" y="10"/>
                </a:lnTo>
                <a:lnTo>
                  <a:pt x="6" y="10"/>
                </a:lnTo>
                <a:lnTo>
                  <a:pt x="7" y="10"/>
                </a:lnTo>
                <a:lnTo>
                  <a:pt x="8" y="9"/>
                </a:lnTo>
                <a:lnTo>
                  <a:pt x="9" y="9"/>
                </a:lnTo>
                <a:lnTo>
                  <a:pt x="9" y="8"/>
                </a:lnTo>
                <a:lnTo>
                  <a:pt x="10" y="7"/>
                </a:lnTo>
                <a:lnTo>
                  <a:pt x="10" y="6"/>
                </a:lnTo>
                <a:lnTo>
                  <a:pt x="10" y="5"/>
                </a:lnTo>
                <a:close/>
              </a:path>
            </a:pathLst>
          </a:custGeom>
          <a:solidFill>
            <a:srgbClr val="66A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3225800" y="1841500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0" h="10">
                <a:moveTo>
                  <a:pt x="10" y="5"/>
                </a:moveTo>
                <a:lnTo>
                  <a:pt x="10" y="4"/>
                </a:lnTo>
                <a:lnTo>
                  <a:pt x="10" y="3"/>
                </a:lnTo>
                <a:lnTo>
                  <a:pt x="9" y="2"/>
                </a:lnTo>
                <a:lnTo>
                  <a:pt x="9" y="1"/>
                </a:lnTo>
                <a:lnTo>
                  <a:pt x="8" y="1"/>
                </a:lnTo>
                <a:lnTo>
                  <a:pt x="7" y="0"/>
                </a:lnTo>
                <a:lnTo>
                  <a:pt x="6" y="0"/>
                </a:lnTo>
                <a:lnTo>
                  <a:pt x="5" y="0"/>
                </a:lnTo>
                <a:lnTo>
                  <a:pt x="4" y="0"/>
                </a:lnTo>
                <a:lnTo>
                  <a:pt x="3" y="0"/>
                </a:lnTo>
                <a:lnTo>
                  <a:pt x="2" y="1"/>
                </a:lnTo>
                <a:lnTo>
                  <a:pt x="1" y="1"/>
                </a:lnTo>
                <a:lnTo>
                  <a:pt x="1" y="2"/>
                </a:lnTo>
                <a:lnTo>
                  <a:pt x="0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0" y="7"/>
                </a:lnTo>
                <a:lnTo>
                  <a:pt x="1" y="8"/>
                </a:lnTo>
                <a:lnTo>
                  <a:pt x="1" y="9"/>
                </a:lnTo>
                <a:lnTo>
                  <a:pt x="2" y="9"/>
                </a:lnTo>
                <a:lnTo>
                  <a:pt x="3" y="10"/>
                </a:lnTo>
                <a:lnTo>
                  <a:pt x="4" y="10"/>
                </a:lnTo>
                <a:lnTo>
                  <a:pt x="5" y="10"/>
                </a:lnTo>
                <a:lnTo>
                  <a:pt x="6" y="10"/>
                </a:lnTo>
                <a:lnTo>
                  <a:pt x="7" y="10"/>
                </a:lnTo>
                <a:lnTo>
                  <a:pt x="8" y="9"/>
                </a:lnTo>
                <a:lnTo>
                  <a:pt x="9" y="9"/>
                </a:lnTo>
                <a:lnTo>
                  <a:pt x="9" y="8"/>
                </a:lnTo>
                <a:lnTo>
                  <a:pt x="10" y="7"/>
                </a:lnTo>
                <a:lnTo>
                  <a:pt x="10" y="6"/>
                </a:lnTo>
                <a:lnTo>
                  <a:pt x="10" y="5"/>
                </a:lnTo>
                <a:close/>
              </a:path>
            </a:pathLst>
          </a:custGeom>
          <a:solidFill>
            <a:srgbClr val="66A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Freeform 49"/>
          <p:cNvSpPr/>
          <p:nvPr/>
        </p:nvSpPr>
        <p:spPr>
          <a:xfrm>
            <a:off x="3848100" y="2197100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0" h="10">
                <a:moveTo>
                  <a:pt x="10" y="5"/>
                </a:moveTo>
                <a:lnTo>
                  <a:pt x="10" y="4"/>
                </a:lnTo>
                <a:lnTo>
                  <a:pt x="10" y="3"/>
                </a:lnTo>
                <a:lnTo>
                  <a:pt x="9" y="2"/>
                </a:lnTo>
                <a:lnTo>
                  <a:pt x="9" y="2"/>
                </a:lnTo>
                <a:lnTo>
                  <a:pt x="8" y="1"/>
                </a:lnTo>
                <a:lnTo>
                  <a:pt x="7" y="1"/>
                </a:lnTo>
                <a:lnTo>
                  <a:pt x="6" y="0"/>
                </a:lnTo>
                <a:lnTo>
                  <a:pt x="5" y="0"/>
                </a:lnTo>
                <a:lnTo>
                  <a:pt x="4" y="0"/>
                </a:lnTo>
                <a:lnTo>
                  <a:pt x="3" y="1"/>
                </a:lnTo>
                <a:lnTo>
                  <a:pt x="2" y="1"/>
                </a:lnTo>
                <a:lnTo>
                  <a:pt x="1" y="2"/>
                </a:lnTo>
                <a:lnTo>
                  <a:pt x="1" y="2"/>
                </a:lnTo>
                <a:lnTo>
                  <a:pt x="0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0" y="7"/>
                </a:lnTo>
                <a:lnTo>
                  <a:pt x="1" y="8"/>
                </a:lnTo>
                <a:lnTo>
                  <a:pt x="1" y="9"/>
                </a:lnTo>
                <a:lnTo>
                  <a:pt x="2" y="10"/>
                </a:lnTo>
                <a:lnTo>
                  <a:pt x="3" y="10"/>
                </a:lnTo>
                <a:lnTo>
                  <a:pt x="4" y="10"/>
                </a:lnTo>
                <a:lnTo>
                  <a:pt x="5" y="10"/>
                </a:lnTo>
                <a:lnTo>
                  <a:pt x="6" y="10"/>
                </a:lnTo>
                <a:lnTo>
                  <a:pt x="7" y="10"/>
                </a:lnTo>
                <a:lnTo>
                  <a:pt x="8" y="10"/>
                </a:lnTo>
                <a:lnTo>
                  <a:pt x="9" y="9"/>
                </a:lnTo>
                <a:lnTo>
                  <a:pt x="9" y="8"/>
                </a:lnTo>
                <a:lnTo>
                  <a:pt x="10" y="7"/>
                </a:lnTo>
                <a:lnTo>
                  <a:pt x="10" y="6"/>
                </a:lnTo>
                <a:lnTo>
                  <a:pt x="10" y="5"/>
                </a:lnTo>
                <a:close/>
              </a:path>
            </a:pathLst>
          </a:custGeom>
          <a:solidFill>
            <a:srgbClr val="66A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3530600" y="1663700"/>
            <a:ext cx="139700" cy="127000"/>
          </a:xfrm>
          <a:custGeom>
            <a:avLst/>
            <a:gdLst/>
            <a:ahLst/>
            <a:cxnLst/>
            <a:rect l="l" t="t" r="r" b="b"/>
            <a:pathLst>
              <a:path w="11" h="10">
                <a:moveTo>
                  <a:pt x="11" y="5"/>
                </a:moveTo>
                <a:lnTo>
                  <a:pt x="11" y="4"/>
                </a:lnTo>
                <a:lnTo>
                  <a:pt x="10" y="3"/>
                </a:lnTo>
                <a:lnTo>
                  <a:pt x="10" y="2"/>
                </a:lnTo>
                <a:lnTo>
                  <a:pt x="9" y="1"/>
                </a:lnTo>
                <a:lnTo>
                  <a:pt x="8" y="0"/>
                </a:lnTo>
                <a:lnTo>
                  <a:pt x="7" y="0"/>
                </a:lnTo>
                <a:lnTo>
                  <a:pt x="7" y="0"/>
                </a:lnTo>
                <a:lnTo>
                  <a:pt x="5" y="0"/>
                </a:lnTo>
                <a:lnTo>
                  <a:pt x="4" y="0"/>
                </a:lnTo>
                <a:lnTo>
                  <a:pt x="3" y="0"/>
                </a:lnTo>
                <a:lnTo>
                  <a:pt x="3" y="0"/>
                </a:lnTo>
                <a:lnTo>
                  <a:pt x="2" y="1"/>
                </a:lnTo>
                <a:lnTo>
                  <a:pt x="1" y="2"/>
                </a:lnTo>
                <a:lnTo>
                  <a:pt x="1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1" y="7"/>
                </a:lnTo>
                <a:lnTo>
                  <a:pt x="1" y="8"/>
                </a:lnTo>
                <a:lnTo>
                  <a:pt x="2" y="8"/>
                </a:lnTo>
                <a:lnTo>
                  <a:pt x="3" y="9"/>
                </a:lnTo>
                <a:lnTo>
                  <a:pt x="3" y="9"/>
                </a:lnTo>
                <a:lnTo>
                  <a:pt x="4" y="10"/>
                </a:lnTo>
                <a:lnTo>
                  <a:pt x="5" y="10"/>
                </a:lnTo>
                <a:lnTo>
                  <a:pt x="7" y="10"/>
                </a:lnTo>
                <a:lnTo>
                  <a:pt x="7" y="9"/>
                </a:lnTo>
                <a:lnTo>
                  <a:pt x="8" y="9"/>
                </a:lnTo>
                <a:lnTo>
                  <a:pt x="9" y="8"/>
                </a:lnTo>
                <a:lnTo>
                  <a:pt x="10" y="8"/>
                </a:lnTo>
                <a:lnTo>
                  <a:pt x="10" y="7"/>
                </a:lnTo>
                <a:lnTo>
                  <a:pt x="11" y="6"/>
                </a:lnTo>
                <a:lnTo>
                  <a:pt x="11" y="5"/>
                </a:lnTo>
                <a:close/>
              </a:path>
            </a:pathLst>
          </a:custGeom>
          <a:solidFill>
            <a:srgbClr val="A676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Freeform 51"/>
          <p:cNvSpPr/>
          <p:nvPr/>
        </p:nvSpPr>
        <p:spPr>
          <a:xfrm>
            <a:off x="3225800" y="2197100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0" h="10">
                <a:moveTo>
                  <a:pt x="10" y="5"/>
                </a:moveTo>
                <a:lnTo>
                  <a:pt x="10" y="4"/>
                </a:lnTo>
                <a:lnTo>
                  <a:pt x="10" y="3"/>
                </a:lnTo>
                <a:lnTo>
                  <a:pt x="9" y="2"/>
                </a:lnTo>
                <a:lnTo>
                  <a:pt x="9" y="2"/>
                </a:lnTo>
                <a:lnTo>
                  <a:pt x="8" y="1"/>
                </a:lnTo>
                <a:lnTo>
                  <a:pt x="7" y="1"/>
                </a:lnTo>
                <a:lnTo>
                  <a:pt x="6" y="0"/>
                </a:lnTo>
                <a:lnTo>
                  <a:pt x="5" y="0"/>
                </a:lnTo>
                <a:lnTo>
                  <a:pt x="4" y="0"/>
                </a:lnTo>
                <a:lnTo>
                  <a:pt x="3" y="1"/>
                </a:lnTo>
                <a:lnTo>
                  <a:pt x="2" y="1"/>
                </a:lnTo>
                <a:lnTo>
                  <a:pt x="1" y="2"/>
                </a:lnTo>
                <a:lnTo>
                  <a:pt x="1" y="2"/>
                </a:lnTo>
                <a:lnTo>
                  <a:pt x="0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0" y="7"/>
                </a:lnTo>
                <a:lnTo>
                  <a:pt x="1" y="8"/>
                </a:lnTo>
                <a:lnTo>
                  <a:pt x="1" y="9"/>
                </a:lnTo>
                <a:lnTo>
                  <a:pt x="2" y="10"/>
                </a:lnTo>
                <a:lnTo>
                  <a:pt x="3" y="10"/>
                </a:lnTo>
                <a:lnTo>
                  <a:pt x="4" y="10"/>
                </a:lnTo>
                <a:lnTo>
                  <a:pt x="5" y="10"/>
                </a:lnTo>
                <a:lnTo>
                  <a:pt x="6" y="10"/>
                </a:lnTo>
                <a:lnTo>
                  <a:pt x="7" y="10"/>
                </a:lnTo>
                <a:lnTo>
                  <a:pt x="8" y="10"/>
                </a:lnTo>
                <a:lnTo>
                  <a:pt x="9" y="9"/>
                </a:lnTo>
                <a:lnTo>
                  <a:pt x="9" y="8"/>
                </a:lnTo>
                <a:lnTo>
                  <a:pt x="10" y="7"/>
                </a:lnTo>
                <a:lnTo>
                  <a:pt x="10" y="6"/>
                </a:lnTo>
                <a:lnTo>
                  <a:pt x="10" y="5"/>
                </a:lnTo>
                <a:close/>
              </a:path>
            </a:pathLst>
          </a:custGeom>
          <a:solidFill>
            <a:srgbClr val="A676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3530600" y="2374900"/>
            <a:ext cx="139700" cy="139700"/>
          </a:xfrm>
          <a:custGeom>
            <a:avLst/>
            <a:gdLst/>
            <a:ahLst/>
            <a:cxnLst/>
            <a:rect l="l" t="t" r="r" b="b"/>
            <a:pathLst>
              <a:path w="11" h="11">
                <a:moveTo>
                  <a:pt x="11" y="5"/>
                </a:moveTo>
                <a:lnTo>
                  <a:pt x="11" y="4"/>
                </a:lnTo>
                <a:lnTo>
                  <a:pt x="10" y="3"/>
                </a:lnTo>
                <a:lnTo>
                  <a:pt x="10" y="3"/>
                </a:lnTo>
                <a:lnTo>
                  <a:pt x="9" y="2"/>
                </a:lnTo>
                <a:lnTo>
                  <a:pt x="8" y="1"/>
                </a:lnTo>
                <a:lnTo>
                  <a:pt x="7" y="1"/>
                </a:lnTo>
                <a:lnTo>
                  <a:pt x="7" y="0"/>
                </a:lnTo>
                <a:lnTo>
                  <a:pt x="5" y="0"/>
                </a:lnTo>
                <a:lnTo>
                  <a:pt x="4" y="0"/>
                </a:lnTo>
                <a:lnTo>
                  <a:pt x="3" y="1"/>
                </a:lnTo>
                <a:lnTo>
                  <a:pt x="3" y="1"/>
                </a:lnTo>
                <a:lnTo>
                  <a:pt x="2" y="2"/>
                </a:lnTo>
                <a:lnTo>
                  <a:pt x="1" y="3"/>
                </a:lnTo>
                <a:lnTo>
                  <a:pt x="1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1" y="7"/>
                </a:lnTo>
                <a:lnTo>
                  <a:pt x="1" y="8"/>
                </a:lnTo>
                <a:lnTo>
                  <a:pt x="2" y="9"/>
                </a:lnTo>
                <a:lnTo>
                  <a:pt x="3" y="10"/>
                </a:lnTo>
                <a:lnTo>
                  <a:pt x="3" y="10"/>
                </a:lnTo>
                <a:lnTo>
                  <a:pt x="4" y="10"/>
                </a:lnTo>
                <a:lnTo>
                  <a:pt x="5" y="11"/>
                </a:lnTo>
                <a:lnTo>
                  <a:pt x="7" y="10"/>
                </a:lnTo>
                <a:lnTo>
                  <a:pt x="7" y="10"/>
                </a:lnTo>
                <a:lnTo>
                  <a:pt x="8" y="10"/>
                </a:lnTo>
                <a:lnTo>
                  <a:pt x="9" y="9"/>
                </a:lnTo>
                <a:lnTo>
                  <a:pt x="10" y="8"/>
                </a:lnTo>
                <a:lnTo>
                  <a:pt x="10" y="7"/>
                </a:lnTo>
                <a:lnTo>
                  <a:pt x="11" y="6"/>
                </a:lnTo>
                <a:lnTo>
                  <a:pt x="11" y="5"/>
                </a:lnTo>
                <a:close/>
              </a:path>
            </a:pathLst>
          </a:custGeom>
          <a:solidFill>
            <a:srgbClr val="A676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2880003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6" name="Picture 5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57" name="Picture 5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58" name="TextBox 57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GA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variants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8000" y="359888"/>
            <a:ext cx="567739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1">
                <a:solidFill>
                  <a:srgbClr val="003373"/>
                </a:solidFill>
                <a:latin typeface="Josefin Sans"/>
              </a:rPr>
              <a:t>Steady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state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genetic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algorithm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(SSGA)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60057" y="724584"/>
            <a:ext cx="532533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once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offspring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created,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decision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whether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parent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offspring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37095" y="940426"/>
            <a:ext cx="51483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survives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next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generation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856751" y="2573415"/>
            <a:ext cx="3928644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Generation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285819" y="2573415"/>
            <a:ext cx="2499576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Generation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898769" y="3150930"/>
            <a:ext cx="88662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623584" y="3150706"/>
            <a:ext cx="16181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85</a:t>
            </a:r>
          </a:p>
        </p:txBody>
      </p:sp>
    </p:spTree>
  </p:cSld>
  <p:clrMapOvr>
    <a:masterClrMapping/>
  </p:clrMapOvr>
</p:sld>
</file>

<file path=ppt/slides/slide2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Freeform 35"/>
          <p:cNvSpPr/>
          <p:nvPr/>
        </p:nvSpPr>
        <p:spPr>
          <a:xfrm>
            <a:off x="2400300" y="1841500"/>
            <a:ext cx="139700" cy="127000"/>
          </a:xfrm>
          <a:custGeom>
            <a:avLst/>
            <a:gdLst/>
            <a:ahLst/>
            <a:cxnLst/>
            <a:rect l="l" t="t" r="r" b="b"/>
            <a:pathLst>
              <a:path w="11" h="10">
                <a:moveTo>
                  <a:pt x="11" y="5"/>
                </a:moveTo>
                <a:lnTo>
                  <a:pt x="11" y="4"/>
                </a:lnTo>
                <a:lnTo>
                  <a:pt x="10" y="3"/>
                </a:lnTo>
                <a:lnTo>
                  <a:pt x="10" y="2"/>
                </a:lnTo>
                <a:lnTo>
                  <a:pt x="9" y="1"/>
                </a:lnTo>
                <a:lnTo>
                  <a:pt x="9" y="1"/>
                </a:lnTo>
                <a:lnTo>
                  <a:pt x="8" y="0"/>
                </a:lnTo>
                <a:lnTo>
                  <a:pt x="7" y="0"/>
                </a:lnTo>
                <a:lnTo>
                  <a:pt x="6" y="0"/>
                </a:lnTo>
                <a:lnTo>
                  <a:pt x="5" y="0"/>
                </a:lnTo>
                <a:lnTo>
                  <a:pt x="4" y="0"/>
                </a:lnTo>
                <a:lnTo>
                  <a:pt x="3" y="1"/>
                </a:lnTo>
                <a:lnTo>
                  <a:pt x="2" y="1"/>
                </a:lnTo>
                <a:lnTo>
                  <a:pt x="1" y="2"/>
                </a:lnTo>
                <a:lnTo>
                  <a:pt x="1" y="3"/>
                </a:lnTo>
                <a:lnTo>
                  <a:pt x="1" y="4"/>
                </a:lnTo>
                <a:lnTo>
                  <a:pt x="0" y="5"/>
                </a:lnTo>
                <a:lnTo>
                  <a:pt x="1" y="6"/>
                </a:lnTo>
                <a:lnTo>
                  <a:pt x="1" y="7"/>
                </a:lnTo>
                <a:lnTo>
                  <a:pt x="1" y="8"/>
                </a:lnTo>
                <a:lnTo>
                  <a:pt x="2" y="9"/>
                </a:lnTo>
                <a:lnTo>
                  <a:pt x="3" y="9"/>
                </a:lnTo>
                <a:lnTo>
                  <a:pt x="4" y="10"/>
                </a:lnTo>
                <a:lnTo>
                  <a:pt x="5" y="10"/>
                </a:lnTo>
                <a:lnTo>
                  <a:pt x="6" y="10"/>
                </a:lnTo>
                <a:lnTo>
                  <a:pt x="7" y="10"/>
                </a:lnTo>
                <a:lnTo>
                  <a:pt x="8" y="10"/>
                </a:lnTo>
                <a:lnTo>
                  <a:pt x="9" y="9"/>
                </a:lnTo>
                <a:lnTo>
                  <a:pt x="9" y="9"/>
                </a:lnTo>
                <a:lnTo>
                  <a:pt x="10" y="8"/>
                </a:lnTo>
                <a:lnTo>
                  <a:pt x="10" y="7"/>
                </a:lnTo>
                <a:lnTo>
                  <a:pt x="11" y="6"/>
                </a:lnTo>
                <a:lnTo>
                  <a:pt x="11" y="5"/>
                </a:lnTo>
                <a:close/>
              </a:path>
            </a:pathLst>
          </a:custGeom>
          <a:solidFill>
            <a:srgbClr val="A676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2095500" y="1663700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0" h="10">
                <a:moveTo>
                  <a:pt x="10" y="5"/>
                </a:moveTo>
                <a:lnTo>
                  <a:pt x="10" y="4"/>
                </a:lnTo>
                <a:lnTo>
                  <a:pt x="10" y="3"/>
                </a:lnTo>
                <a:lnTo>
                  <a:pt x="9" y="2"/>
                </a:lnTo>
                <a:lnTo>
                  <a:pt x="9" y="1"/>
                </a:lnTo>
                <a:lnTo>
                  <a:pt x="8" y="0"/>
                </a:lnTo>
                <a:lnTo>
                  <a:pt x="7" y="0"/>
                </a:lnTo>
                <a:lnTo>
                  <a:pt x="6" y="0"/>
                </a:lnTo>
                <a:lnTo>
                  <a:pt x="5" y="0"/>
                </a:lnTo>
                <a:lnTo>
                  <a:pt x="4" y="0"/>
                </a:lnTo>
                <a:lnTo>
                  <a:pt x="3" y="0"/>
                </a:lnTo>
                <a:lnTo>
                  <a:pt x="2" y="0"/>
                </a:lnTo>
                <a:lnTo>
                  <a:pt x="1" y="1"/>
                </a:lnTo>
                <a:lnTo>
                  <a:pt x="1" y="2"/>
                </a:lnTo>
                <a:lnTo>
                  <a:pt x="0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0" y="7"/>
                </a:lnTo>
                <a:lnTo>
                  <a:pt x="1" y="8"/>
                </a:lnTo>
                <a:lnTo>
                  <a:pt x="1" y="8"/>
                </a:lnTo>
                <a:lnTo>
                  <a:pt x="2" y="9"/>
                </a:lnTo>
                <a:lnTo>
                  <a:pt x="3" y="9"/>
                </a:lnTo>
                <a:lnTo>
                  <a:pt x="4" y="10"/>
                </a:lnTo>
                <a:lnTo>
                  <a:pt x="5" y="10"/>
                </a:lnTo>
                <a:lnTo>
                  <a:pt x="6" y="10"/>
                </a:lnTo>
                <a:lnTo>
                  <a:pt x="7" y="9"/>
                </a:lnTo>
                <a:lnTo>
                  <a:pt x="8" y="9"/>
                </a:lnTo>
                <a:lnTo>
                  <a:pt x="9" y="8"/>
                </a:lnTo>
                <a:lnTo>
                  <a:pt x="9" y="8"/>
                </a:lnTo>
                <a:lnTo>
                  <a:pt x="10" y="7"/>
                </a:lnTo>
                <a:lnTo>
                  <a:pt x="10" y="6"/>
                </a:lnTo>
                <a:lnTo>
                  <a:pt x="10" y="5"/>
                </a:lnTo>
                <a:close/>
              </a:path>
            </a:pathLst>
          </a:custGeom>
          <a:solidFill>
            <a:srgbClr val="A676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1778000" y="1841500"/>
            <a:ext cx="139700" cy="127000"/>
          </a:xfrm>
          <a:custGeom>
            <a:avLst/>
            <a:gdLst/>
            <a:ahLst/>
            <a:cxnLst/>
            <a:rect l="l" t="t" r="r" b="b"/>
            <a:pathLst>
              <a:path w="11" h="10">
                <a:moveTo>
                  <a:pt x="11" y="5"/>
                </a:moveTo>
                <a:lnTo>
                  <a:pt x="11" y="4"/>
                </a:lnTo>
                <a:lnTo>
                  <a:pt x="10" y="3"/>
                </a:lnTo>
                <a:lnTo>
                  <a:pt x="10" y="2"/>
                </a:lnTo>
                <a:lnTo>
                  <a:pt x="9" y="1"/>
                </a:lnTo>
                <a:lnTo>
                  <a:pt x="8" y="1"/>
                </a:lnTo>
                <a:lnTo>
                  <a:pt x="8" y="0"/>
                </a:lnTo>
                <a:lnTo>
                  <a:pt x="7" y="0"/>
                </a:lnTo>
                <a:lnTo>
                  <a:pt x="6" y="0"/>
                </a:lnTo>
                <a:lnTo>
                  <a:pt x="4" y="0"/>
                </a:lnTo>
                <a:lnTo>
                  <a:pt x="4" y="0"/>
                </a:lnTo>
                <a:lnTo>
                  <a:pt x="3" y="1"/>
                </a:lnTo>
                <a:lnTo>
                  <a:pt x="2" y="1"/>
                </a:lnTo>
                <a:lnTo>
                  <a:pt x="1" y="2"/>
                </a:lnTo>
                <a:lnTo>
                  <a:pt x="1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1" y="7"/>
                </a:lnTo>
                <a:lnTo>
                  <a:pt x="1" y="8"/>
                </a:lnTo>
                <a:lnTo>
                  <a:pt x="2" y="9"/>
                </a:lnTo>
                <a:lnTo>
                  <a:pt x="3" y="9"/>
                </a:lnTo>
                <a:lnTo>
                  <a:pt x="4" y="10"/>
                </a:lnTo>
                <a:lnTo>
                  <a:pt x="4" y="10"/>
                </a:lnTo>
                <a:lnTo>
                  <a:pt x="6" y="10"/>
                </a:lnTo>
                <a:lnTo>
                  <a:pt x="7" y="10"/>
                </a:lnTo>
                <a:lnTo>
                  <a:pt x="8" y="10"/>
                </a:lnTo>
                <a:lnTo>
                  <a:pt x="8" y="9"/>
                </a:lnTo>
                <a:lnTo>
                  <a:pt x="9" y="9"/>
                </a:lnTo>
                <a:lnTo>
                  <a:pt x="10" y="8"/>
                </a:lnTo>
                <a:lnTo>
                  <a:pt x="10" y="7"/>
                </a:lnTo>
                <a:lnTo>
                  <a:pt x="11" y="6"/>
                </a:lnTo>
                <a:lnTo>
                  <a:pt x="11" y="5"/>
                </a:lnTo>
                <a:close/>
              </a:path>
            </a:pathLst>
          </a:custGeom>
          <a:solidFill>
            <a:srgbClr val="A676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Freeform 38"/>
          <p:cNvSpPr/>
          <p:nvPr/>
        </p:nvSpPr>
        <p:spPr>
          <a:xfrm>
            <a:off x="1778000" y="2197100"/>
            <a:ext cx="139700" cy="127000"/>
          </a:xfrm>
          <a:custGeom>
            <a:avLst/>
            <a:gdLst/>
            <a:ahLst/>
            <a:cxnLst/>
            <a:rect l="l" t="t" r="r" b="b"/>
            <a:pathLst>
              <a:path w="11" h="10">
                <a:moveTo>
                  <a:pt x="11" y="5"/>
                </a:moveTo>
                <a:lnTo>
                  <a:pt x="11" y="4"/>
                </a:lnTo>
                <a:lnTo>
                  <a:pt x="10" y="3"/>
                </a:lnTo>
                <a:lnTo>
                  <a:pt x="10" y="2"/>
                </a:lnTo>
                <a:lnTo>
                  <a:pt x="9" y="2"/>
                </a:lnTo>
                <a:lnTo>
                  <a:pt x="8" y="1"/>
                </a:lnTo>
                <a:lnTo>
                  <a:pt x="8" y="1"/>
                </a:lnTo>
                <a:lnTo>
                  <a:pt x="7" y="0"/>
                </a:lnTo>
                <a:lnTo>
                  <a:pt x="6" y="0"/>
                </a:lnTo>
                <a:lnTo>
                  <a:pt x="4" y="0"/>
                </a:lnTo>
                <a:lnTo>
                  <a:pt x="4" y="1"/>
                </a:lnTo>
                <a:lnTo>
                  <a:pt x="3" y="1"/>
                </a:lnTo>
                <a:lnTo>
                  <a:pt x="2" y="2"/>
                </a:lnTo>
                <a:lnTo>
                  <a:pt x="1" y="2"/>
                </a:lnTo>
                <a:lnTo>
                  <a:pt x="1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1" y="7"/>
                </a:lnTo>
                <a:lnTo>
                  <a:pt x="1" y="8"/>
                </a:lnTo>
                <a:lnTo>
                  <a:pt x="2" y="9"/>
                </a:lnTo>
                <a:lnTo>
                  <a:pt x="3" y="10"/>
                </a:lnTo>
                <a:lnTo>
                  <a:pt x="4" y="10"/>
                </a:lnTo>
                <a:lnTo>
                  <a:pt x="4" y="10"/>
                </a:lnTo>
                <a:lnTo>
                  <a:pt x="6" y="10"/>
                </a:lnTo>
                <a:lnTo>
                  <a:pt x="7" y="10"/>
                </a:lnTo>
                <a:lnTo>
                  <a:pt x="8" y="10"/>
                </a:lnTo>
                <a:lnTo>
                  <a:pt x="8" y="10"/>
                </a:lnTo>
                <a:lnTo>
                  <a:pt x="9" y="9"/>
                </a:lnTo>
                <a:lnTo>
                  <a:pt x="10" y="8"/>
                </a:lnTo>
                <a:lnTo>
                  <a:pt x="10" y="7"/>
                </a:lnTo>
                <a:lnTo>
                  <a:pt x="11" y="6"/>
                </a:lnTo>
                <a:lnTo>
                  <a:pt x="11" y="5"/>
                </a:lnTo>
                <a:close/>
              </a:path>
            </a:pathLst>
          </a:custGeom>
          <a:solidFill>
            <a:srgbClr val="A676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2095500" y="2374900"/>
            <a:ext cx="127000" cy="139700"/>
          </a:xfrm>
          <a:custGeom>
            <a:avLst/>
            <a:gdLst/>
            <a:ahLst/>
            <a:cxnLst/>
            <a:rect l="l" t="t" r="r" b="b"/>
            <a:pathLst>
              <a:path w="10" h="11">
                <a:moveTo>
                  <a:pt x="10" y="5"/>
                </a:moveTo>
                <a:lnTo>
                  <a:pt x="10" y="4"/>
                </a:lnTo>
                <a:lnTo>
                  <a:pt x="10" y="3"/>
                </a:lnTo>
                <a:lnTo>
                  <a:pt x="9" y="3"/>
                </a:lnTo>
                <a:lnTo>
                  <a:pt x="9" y="2"/>
                </a:lnTo>
                <a:lnTo>
                  <a:pt x="8" y="1"/>
                </a:lnTo>
                <a:lnTo>
                  <a:pt x="7" y="1"/>
                </a:lnTo>
                <a:lnTo>
                  <a:pt x="6" y="0"/>
                </a:lnTo>
                <a:lnTo>
                  <a:pt x="5" y="0"/>
                </a:lnTo>
                <a:lnTo>
                  <a:pt x="4" y="0"/>
                </a:lnTo>
                <a:lnTo>
                  <a:pt x="3" y="1"/>
                </a:lnTo>
                <a:lnTo>
                  <a:pt x="2" y="1"/>
                </a:lnTo>
                <a:lnTo>
                  <a:pt x="1" y="2"/>
                </a:lnTo>
                <a:lnTo>
                  <a:pt x="1" y="3"/>
                </a:lnTo>
                <a:lnTo>
                  <a:pt x="0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0" y="7"/>
                </a:lnTo>
                <a:lnTo>
                  <a:pt x="1" y="8"/>
                </a:lnTo>
                <a:lnTo>
                  <a:pt x="1" y="9"/>
                </a:lnTo>
                <a:lnTo>
                  <a:pt x="2" y="10"/>
                </a:lnTo>
                <a:lnTo>
                  <a:pt x="3" y="10"/>
                </a:lnTo>
                <a:lnTo>
                  <a:pt x="4" y="10"/>
                </a:lnTo>
                <a:lnTo>
                  <a:pt x="5" y="11"/>
                </a:lnTo>
                <a:lnTo>
                  <a:pt x="6" y="10"/>
                </a:lnTo>
                <a:lnTo>
                  <a:pt x="7" y="10"/>
                </a:lnTo>
                <a:lnTo>
                  <a:pt x="8" y="10"/>
                </a:lnTo>
                <a:lnTo>
                  <a:pt x="9" y="9"/>
                </a:lnTo>
                <a:lnTo>
                  <a:pt x="9" y="8"/>
                </a:lnTo>
                <a:lnTo>
                  <a:pt x="10" y="7"/>
                </a:lnTo>
                <a:lnTo>
                  <a:pt x="10" y="6"/>
                </a:lnTo>
                <a:lnTo>
                  <a:pt x="10" y="5"/>
                </a:lnTo>
                <a:close/>
              </a:path>
            </a:pathLst>
          </a:custGeom>
          <a:solidFill>
            <a:srgbClr val="A676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2400300" y="2197100"/>
            <a:ext cx="139700" cy="127000"/>
          </a:xfrm>
          <a:custGeom>
            <a:avLst/>
            <a:gdLst/>
            <a:ahLst/>
            <a:cxnLst/>
            <a:rect l="l" t="t" r="r" b="b"/>
            <a:pathLst>
              <a:path w="11" h="10">
                <a:moveTo>
                  <a:pt x="11" y="5"/>
                </a:moveTo>
                <a:lnTo>
                  <a:pt x="11" y="4"/>
                </a:lnTo>
                <a:lnTo>
                  <a:pt x="10" y="3"/>
                </a:lnTo>
                <a:lnTo>
                  <a:pt x="10" y="2"/>
                </a:lnTo>
                <a:lnTo>
                  <a:pt x="9" y="2"/>
                </a:lnTo>
                <a:lnTo>
                  <a:pt x="9" y="1"/>
                </a:lnTo>
                <a:lnTo>
                  <a:pt x="8" y="1"/>
                </a:lnTo>
                <a:lnTo>
                  <a:pt x="7" y="0"/>
                </a:lnTo>
                <a:lnTo>
                  <a:pt x="6" y="0"/>
                </a:lnTo>
                <a:lnTo>
                  <a:pt x="5" y="0"/>
                </a:lnTo>
                <a:lnTo>
                  <a:pt x="4" y="1"/>
                </a:lnTo>
                <a:lnTo>
                  <a:pt x="3" y="1"/>
                </a:lnTo>
                <a:lnTo>
                  <a:pt x="2" y="2"/>
                </a:lnTo>
                <a:lnTo>
                  <a:pt x="1" y="2"/>
                </a:lnTo>
                <a:lnTo>
                  <a:pt x="1" y="3"/>
                </a:lnTo>
                <a:lnTo>
                  <a:pt x="1" y="4"/>
                </a:lnTo>
                <a:lnTo>
                  <a:pt x="0" y="5"/>
                </a:lnTo>
                <a:lnTo>
                  <a:pt x="1" y="6"/>
                </a:lnTo>
                <a:lnTo>
                  <a:pt x="1" y="7"/>
                </a:lnTo>
                <a:lnTo>
                  <a:pt x="1" y="8"/>
                </a:lnTo>
                <a:lnTo>
                  <a:pt x="2" y="9"/>
                </a:lnTo>
                <a:lnTo>
                  <a:pt x="3" y="10"/>
                </a:lnTo>
                <a:lnTo>
                  <a:pt x="4" y="10"/>
                </a:lnTo>
                <a:lnTo>
                  <a:pt x="5" y="10"/>
                </a:lnTo>
                <a:lnTo>
                  <a:pt x="6" y="10"/>
                </a:lnTo>
                <a:lnTo>
                  <a:pt x="7" y="10"/>
                </a:lnTo>
                <a:lnTo>
                  <a:pt x="8" y="10"/>
                </a:lnTo>
                <a:lnTo>
                  <a:pt x="9" y="10"/>
                </a:lnTo>
                <a:lnTo>
                  <a:pt x="9" y="9"/>
                </a:lnTo>
                <a:lnTo>
                  <a:pt x="10" y="8"/>
                </a:lnTo>
                <a:lnTo>
                  <a:pt x="10" y="7"/>
                </a:lnTo>
                <a:lnTo>
                  <a:pt x="11" y="6"/>
                </a:lnTo>
                <a:lnTo>
                  <a:pt x="11" y="5"/>
                </a:lnTo>
                <a:close/>
              </a:path>
            </a:pathLst>
          </a:custGeom>
          <a:solidFill>
            <a:srgbClr val="A676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Freeform 41"/>
          <p:cNvSpPr/>
          <p:nvPr/>
        </p:nvSpPr>
        <p:spPr>
          <a:xfrm>
            <a:off x="2273300" y="2019300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0" h="10">
                <a:moveTo>
                  <a:pt x="10" y="5"/>
                </a:moveTo>
                <a:lnTo>
                  <a:pt x="10" y="4"/>
                </a:lnTo>
                <a:lnTo>
                  <a:pt x="10" y="3"/>
                </a:lnTo>
                <a:lnTo>
                  <a:pt x="10" y="2"/>
                </a:lnTo>
                <a:lnTo>
                  <a:pt x="9" y="1"/>
                </a:lnTo>
                <a:lnTo>
                  <a:pt x="8" y="1"/>
                </a:lnTo>
                <a:lnTo>
                  <a:pt x="7" y="0"/>
                </a:lnTo>
                <a:lnTo>
                  <a:pt x="6" y="0"/>
                </a:lnTo>
                <a:lnTo>
                  <a:pt x="5" y="0"/>
                </a:lnTo>
                <a:lnTo>
                  <a:pt x="4" y="0"/>
                </a:lnTo>
                <a:lnTo>
                  <a:pt x="3" y="0"/>
                </a:lnTo>
                <a:lnTo>
                  <a:pt x="2" y="1"/>
                </a:lnTo>
                <a:lnTo>
                  <a:pt x="2" y="1"/>
                </a:lnTo>
                <a:lnTo>
                  <a:pt x="1" y="2"/>
                </a:lnTo>
                <a:lnTo>
                  <a:pt x="1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1" y="7"/>
                </a:lnTo>
                <a:lnTo>
                  <a:pt x="1" y="8"/>
                </a:lnTo>
                <a:lnTo>
                  <a:pt x="2" y="9"/>
                </a:lnTo>
                <a:lnTo>
                  <a:pt x="2" y="9"/>
                </a:lnTo>
                <a:lnTo>
                  <a:pt x="3" y="10"/>
                </a:lnTo>
                <a:lnTo>
                  <a:pt x="4" y="10"/>
                </a:lnTo>
                <a:lnTo>
                  <a:pt x="5" y="10"/>
                </a:lnTo>
                <a:lnTo>
                  <a:pt x="6" y="10"/>
                </a:lnTo>
                <a:lnTo>
                  <a:pt x="7" y="10"/>
                </a:lnTo>
                <a:lnTo>
                  <a:pt x="8" y="9"/>
                </a:lnTo>
                <a:lnTo>
                  <a:pt x="9" y="9"/>
                </a:lnTo>
                <a:lnTo>
                  <a:pt x="10" y="8"/>
                </a:lnTo>
                <a:lnTo>
                  <a:pt x="10" y="7"/>
                </a:lnTo>
                <a:lnTo>
                  <a:pt x="10" y="6"/>
                </a:lnTo>
                <a:lnTo>
                  <a:pt x="10" y="5"/>
                </a:lnTo>
                <a:close/>
              </a:path>
            </a:pathLst>
          </a:custGeom>
          <a:solidFill>
            <a:srgbClr val="66A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Freeform 42"/>
          <p:cNvSpPr/>
          <p:nvPr/>
        </p:nvSpPr>
        <p:spPr>
          <a:xfrm>
            <a:off x="2184400" y="1866900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0" h="10">
                <a:moveTo>
                  <a:pt x="10" y="5"/>
                </a:moveTo>
                <a:lnTo>
                  <a:pt x="10" y="4"/>
                </a:lnTo>
                <a:lnTo>
                  <a:pt x="10" y="3"/>
                </a:lnTo>
                <a:lnTo>
                  <a:pt x="9" y="2"/>
                </a:lnTo>
                <a:lnTo>
                  <a:pt x="9" y="1"/>
                </a:lnTo>
                <a:lnTo>
                  <a:pt x="8" y="1"/>
                </a:lnTo>
                <a:lnTo>
                  <a:pt x="7" y="0"/>
                </a:lnTo>
                <a:lnTo>
                  <a:pt x="6" y="0"/>
                </a:lnTo>
                <a:lnTo>
                  <a:pt x="5" y="0"/>
                </a:lnTo>
                <a:lnTo>
                  <a:pt x="4" y="0"/>
                </a:lnTo>
                <a:lnTo>
                  <a:pt x="3" y="0"/>
                </a:lnTo>
                <a:lnTo>
                  <a:pt x="2" y="1"/>
                </a:lnTo>
                <a:lnTo>
                  <a:pt x="2" y="1"/>
                </a:lnTo>
                <a:lnTo>
                  <a:pt x="1" y="2"/>
                </a:lnTo>
                <a:lnTo>
                  <a:pt x="0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0" y="7"/>
                </a:lnTo>
                <a:lnTo>
                  <a:pt x="1" y="8"/>
                </a:lnTo>
                <a:lnTo>
                  <a:pt x="2" y="8"/>
                </a:lnTo>
                <a:lnTo>
                  <a:pt x="2" y="9"/>
                </a:lnTo>
                <a:lnTo>
                  <a:pt x="3" y="10"/>
                </a:lnTo>
                <a:lnTo>
                  <a:pt x="4" y="10"/>
                </a:lnTo>
                <a:lnTo>
                  <a:pt x="5" y="10"/>
                </a:lnTo>
                <a:lnTo>
                  <a:pt x="6" y="10"/>
                </a:lnTo>
                <a:lnTo>
                  <a:pt x="7" y="10"/>
                </a:lnTo>
                <a:lnTo>
                  <a:pt x="8" y="9"/>
                </a:lnTo>
                <a:lnTo>
                  <a:pt x="9" y="8"/>
                </a:lnTo>
                <a:lnTo>
                  <a:pt x="9" y="8"/>
                </a:lnTo>
                <a:lnTo>
                  <a:pt x="10" y="7"/>
                </a:lnTo>
                <a:lnTo>
                  <a:pt x="10" y="6"/>
                </a:lnTo>
                <a:lnTo>
                  <a:pt x="10" y="5"/>
                </a:lnTo>
                <a:close/>
              </a:path>
            </a:pathLst>
          </a:custGeom>
          <a:solidFill>
            <a:srgbClr val="66A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Freeform 43"/>
          <p:cNvSpPr/>
          <p:nvPr/>
        </p:nvSpPr>
        <p:spPr>
          <a:xfrm>
            <a:off x="2006600" y="1866900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0" h="10">
                <a:moveTo>
                  <a:pt x="10" y="5"/>
                </a:moveTo>
                <a:lnTo>
                  <a:pt x="10" y="4"/>
                </a:lnTo>
                <a:lnTo>
                  <a:pt x="10" y="3"/>
                </a:lnTo>
                <a:lnTo>
                  <a:pt x="9" y="2"/>
                </a:lnTo>
                <a:lnTo>
                  <a:pt x="9" y="1"/>
                </a:lnTo>
                <a:lnTo>
                  <a:pt x="8" y="1"/>
                </a:lnTo>
                <a:lnTo>
                  <a:pt x="7" y="0"/>
                </a:lnTo>
                <a:lnTo>
                  <a:pt x="6" y="0"/>
                </a:lnTo>
                <a:lnTo>
                  <a:pt x="5" y="0"/>
                </a:lnTo>
                <a:lnTo>
                  <a:pt x="4" y="0"/>
                </a:lnTo>
                <a:lnTo>
                  <a:pt x="3" y="0"/>
                </a:lnTo>
                <a:lnTo>
                  <a:pt x="2" y="1"/>
                </a:lnTo>
                <a:lnTo>
                  <a:pt x="1" y="1"/>
                </a:lnTo>
                <a:lnTo>
                  <a:pt x="1" y="2"/>
                </a:lnTo>
                <a:lnTo>
                  <a:pt x="0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0" y="7"/>
                </a:lnTo>
                <a:lnTo>
                  <a:pt x="1" y="8"/>
                </a:lnTo>
                <a:lnTo>
                  <a:pt x="1" y="8"/>
                </a:lnTo>
                <a:lnTo>
                  <a:pt x="2" y="9"/>
                </a:lnTo>
                <a:lnTo>
                  <a:pt x="3" y="10"/>
                </a:lnTo>
                <a:lnTo>
                  <a:pt x="4" y="10"/>
                </a:lnTo>
                <a:lnTo>
                  <a:pt x="5" y="10"/>
                </a:lnTo>
                <a:lnTo>
                  <a:pt x="6" y="10"/>
                </a:lnTo>
                <a:lnTo>
                  <a:pt x="7" y="10"/>
                </a:lnTo>
                <a:lnTo>
                  <a:pt x="8" y="9"/>
                </a:lnTo>
                <a:lnTo>
                  <a:pt x="9" y="8"/>
                </a:lnTo>
                <a:lnTo>
                  <a:pt x="9" y="8"/>
                </a:lnTo>
                <a:lnTo>
                  <a:pt x="10" y="7"/>
                </a:lnTo>
                <a:lnTo>
                  <a:pt x="10" y="6"/>
                </a:lnTo>
                <a:lnTo>
                  <a:pt x="10" y="5"/>
                </a:lnTo>
                <a:close/>
              </a:path>
            </a:pathLst>
          </a:custGeom>
          <a:solidFill>
            <a:srgbClr val="66A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Freeform 44"/>
          <p:cNvSpPr/>
          <p:nvPr/>
        </p:nvSpPr>
        <p:spPr>
          <a:xfrm>
            <a:off x="1917700" y="2019300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0" h="10">
                <a:moveTo>
                  <a:pt x="10" y="5"/>
                </a:moveTo>
                <a:lnTo>
                  <a:pt x="10" y="4"/>
                </a:lnTo>
                <a:lnTo>
                  <a:pt x="10" y="3"/>
                </a:lnTo>
                <a:lnTo>
                  <a:pt x="9" y="2"/>
                </a:lnTo>
                <a:lnTo>
                  <a:pt x="9" y="1"/>
                </a:lnTo>
                <a:lnTo>
                  <a:pt x="8" y="1"/>
                </a:lnTo>
                <a:lnTo>
                  <a:pt x="7" y="0"/>
                </a:lnTo>
                <a:lnTo>
                  <a:pt x="6" y="0"/>
                </a:lnTo>
                <a:lnTo>
                  <a:pt x="5" y="0"/>
                </a:lnTo>
                <a:lnTo>
                  <a:pt x="4" y="0"/>
                </a:lnTo>
                <a:lnTo>
                  <a:pt x="3" y="0"/>
                </a:lnTo>
                <a:lnTo>
                  <a:pt x="2" y="1"/>
                </a:lnTo>
                <a:lnTo>
                  <a:pt x="1" y="1"/>
                </a:lnTo>
                <a:lnTo>
                  <a:pt x="1" y="2"/>
                </a:lnTo>
                <a:lnTo>
                  <a:pt x="0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0" y="7"/>
                </a:lnTo>
                <a:lnTo>
                  <a:pt x="1" y="8"/>
                </a:lnTo>
                <a:lnTo>
                  <a:pt x="1" y="9"/>
                </a:lnTo>
                <a:lnTo>
                  <a:pt x="2" y="9"/>
                </a:lnTo>
                <a:lnTo>
                  <a:pt x="3" y="10"/>
                </a:lnTo>
                <a:lnTo>
                  <a:pt x="4" y="10"/>
                </a:lnTo>
                <a:lnTo>
                  <a:pt x="5" y="10"/>
                </a:lnTo>
                <a:lnTo>
                  <a:pt x="6" y="10"/>
                </a:lnTo>
                <a:lnTo>
                  <a:pt x="7" y="10"/>
                </a:lnTo>
                <a:lnTo>
                  <a:pt x="8" y="9"/>
                </a:lnTo>
                <a:lnTo>
                  <a:pt x="9" y="9"/>
                </a:lnTo>
                <a:lnTo>
                  <a:pt x="9" y="8"/>
                </a:lnTo>
                <a:lnTo>
                  <a:pt x="10" y="7"/>
                </a:lnTo>
                <a:lnTo>
                  <a:pt x="10" y="6"/>
                </a:lnTo>
                <a:lnTo>
                  <a:pt x="10" y="5"/>
                </a:lnTo>
                <a:close/>
              </a:path>
            </a:pathLst>
          </a:custGeom>
          <a:solidFill>
            <a:srgbClr val="66A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Freeform 45"/>
          <p:cNvSpPr/>
          <p:nvPr/>
        </p:nvSpPr>
        <p:spPr>
          <a:xfrm>
            <a:off x="2006600" y="2171700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0" h="10">
                <a:moveTo>
                  <a:pt x="10" y="5"/>
                </a:moveTo>
                <a:lnTo>
                  <a:pt x="10" y="4"/>
                </a:lnTo>
                <a:lnTo>
                  <a:pt x="10" y="3"/>
                </a:lnTo>
                <a:lnTo>
                  <a:pt x="9" y="2"/>
                </a:lnTo>
                <a:lnTo>
                  <a:pt x="9" y="2"/>
                </a:lnTo>
                <a:lnTo>
                  <a:pt x="8" y="1"/>
                </a:lnTo>
                <a:lnTo>
                  <a:pt x="7" y="1"/>
                </a:lnTo>
                <a:lnTo>
                  <a:pt x="6" y="0"/>
                </a:lnTo>
                <a:lnTo>
                  <a:pt x="5" y="0"/>
                </a:lnTo>
                <a:lnTo>
                  <a:pt x="4" y="0"/>
                </a:lnTo>
                <a:lnTo>
                  <a:pt x="3" y="1"/>
                </a:lnTo>
                <a:lnTo>
                  <a:pt x="2" y="1"/>
                </a:lnTo>
                <a:lnTo>
                  <a:pt x="1" y="2"/>
                </a:lnTo>
                <a:lnTo>
                  <a:pt x="1" y="2"/>
                </a:lnTo>
                <a:lnTo>
                  <a:pt x="0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0" y="7"/>
                </a:lnTo>
                <a:lnTo>
                  <a:pt x="1" y="8"/>
                </a:lnTo>
                <a:lnTo>
                  <a:pt x="1" y="9"/>
                </a:lnTo>
                <a:lnTo>
                  <a:pt x="2" y="10"/>
                </a:lnTo>
                <a:lnTo>
                  <a:pt x="3" y="10"/>
                </a:lnTo>
                <a:lnTo>
                  <a:pt x="4" y="10"/>
                </a:lnTo>
                <a:lnTo>
                  <a:pt x="5" y="10"/>
                </a:lnTo>
                <a:lnTo>
                  <a:pt x="6" y="10"/>
                </a:lnTo>
                <a:lnTo>
                  <a:pt x="7" y="10"/>
                </a:lnTo>
                <a:lnTo>
                  <a:pt x="8" y="10"/>
                </a:lnTo>
                <a:lnTo>
                  <a:pt x="9" y="9"/>
                </a:lnTo>
                <a:lnTo>
                  <a:pt x="9" y="8"/>
                </a:lnTo>
                <a:lnTo>
                  <a:pt x="10" y="7"/>
                </a:lnTo>
                <a:lnTo>
                  <a:pt x="10" y="6"/>
                </a:lnTo>
                <a:lnTo>
                  <a:pt x="10" y="5"/>
                </a:lnTo>
                <a:close/>
              </a:path>
            </a:pathLst>
          </a:custGeom>
          <a:solidFill>
            <a:srgbClr val="66A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2184400" y="2171700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0" h="10">
                <a:moveTo>
                  <a:pt x="10" y="5"/>
                </a:moveTo>
                <a:lnTo>
                  <a:pt x="10" y="4"/>
                </a:lnTo>
                <a:lnTo>
                  <a:pt x="10" y="3"/>
                </a:lnTo>
                <a:lnTo>
                  <a:pt x="9" y="2"/>
                </a:lnTo>
                <a:lnTo>
                  <a:pt x="9" y="2"/>
                </a:lnTo>
                <a:lnTo>
                  <a:pt x="8" y="1"/>
                </a:lnTo>
                <a:lnTo>
                  <a:pt x="7" y="1"/>
                </a:lnTo>
                <a:lnTo>
                  <a:pt x="6" y="0"/>
                </a:lnTo>
                <a:lnTo>
                  <a:pt x="5" y="0"/>
                </a:lnTo>
                <a:lnTo>
                  <a:pt x="4" y="0"/>
                </a:lnTo>
                <a:lnTo>
                  <a:pt x="3" y="1"/>
                </a:lnTo>
                <a:lnTo>
                  <a:pt x="2" y="1"/>
                </a:lnTo>
                <a:lnTo>
                  <a:pt x="2" y="2"/>
                </a:lnTo>
                <a:lnTo>
                  <a:pt x="1" y="2"/>
                </a:lnTo>
                <a:lnTo>
                  <a:pt x="0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0" y="7"/>
                </a:lnTo>
                <a:lnTo>
                  <a:pt x="1" y="8"/>
                </a:lnTo>
                <a:lnTo>
                  <a:pt x="2" y="9"/>
                </a:lnTo>
                <a:lnTo>
                  <a:pt x="2" y="10"/>
                </a:lnTo>
                <a:lnTo>
                  <a:pt x="3" y="10"/>
                </a:lnTo>
                <a:lnTo>
                  <a:pt x="4" y="10"/>
                </a:lnTo>
                <a:lnTo>
                  <a:pt x="5" y="10"/>
                </a:lnTo>
                <a:lnTo>
                  <a:pt x="6" y="10"/>
                </a:lnTo>
                <a:lnTo>
                  <a:pt x="7" y="10"/>
                </a:lnTo>
                <a:lnTo>
                  <a:pt x="8" y="10"/>
                </a:lnTo>
                <a:lnTo>
                  <a:pt x="9" y="9"/>
                </a:lnTo>
                <a:lnTo>
                  <a:pt x="9" y="8"/>
                </a:lnTo>
                <a:lnTo>
                  <a:pt x="10" y="7"/>
                </a:lnTo>
                <a:lnTo>
                  <a:pt x="10" y="6"/>
                </a:lnTo>
                <a:lnTo>
                  <a:pt x="10" y="5"/>
                </a:lnTo>
                <a:close/>
              </a:path>
            </a:pathLst>
          </a:custGeom>
          <a:solidFill>
            <a:srgbClr val="66A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3848100" y="1841500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0" h="10">
                <a:moveTo>
                  <a:pt x="10" y="5"/>
                </a:moveTo>
                <a:lnTo>
                  <a:pt x="10" y="4"/>
                </a:lnTo>
                <a:lnTo>
                  <a:pt x="10" y="3"/>
                </a:lnTo>
                <a:lnTo>
                  <a:pt x="9" y="2"/>
                </a:lnTo>
                <a:lnTo>
                  <a:pt x="9" y="1"/>
                </a:lnTo>
                <a:lnTo>
                  <a:pt x="8" y="1"/>
                </a:lnTo>
                <a:lnTo>
                  <a:pt x="7" y="0"/>
                </a:lnTo>
                <a:lnTo>
                  <a:pt x="6" y="0"/>
                </a:lnTo>
                <a:lnTo>
                  <a:pt x="5" y="0"/>
                </a:lnTo>
                <a:lnTo>
                  <a:pt x="4" y="0"/>
                </a:lnTo>
                <a:lnTo>
                  <a:pt x="3" y="0"/>
                </a:lnTo>
                <a:lnTo>
                  <a:pt x="2" y="1"/>
                </a:lnTo>
                <a:lnTo>
                  <a:pt x="1" y="1"/>
                </a:lnTo>
                <a:lnTo>
                  <a:pt x="1" y="2"/>
                </a:lnTo>
                <a:lnTo>
                  <a:pt x="0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0" y="7"/>
                </a:lnTo>
                <a:lnTo>
                  <a:pt x="1" y="8"/>
                </a:lnTo>
                <a:lnTo>
                  <a:pt x="1" y="9"/>
                </a:lnTo>
                <a:lnTo>
                  <a:pt x="2" y="9"/>
                </a:lnTo>
                <a:lnTo>
                  <a:pt x="3" y="10"/>
                </a:lnTo>
                <a:lnTo>
                  <a:pt x="4" y="10"/>
                </a:lnTo>
                <a:lnTo>
                  <a:pt x="5" y="10"/>
                </a:lnTo>
                <a:lnTo>
                  <a:pt x="6" y="10"/>
                </a:lnTo>
                <a:lnTo>
                  <a:pt x="7" y="10"/>
                </a:lnTo>
                <a:lnTo>
                  <a:pt x="8" y="9"/>
                </a:lnTo>
                <a:lnTo>
                  <a:pt x="9" y="9"/>
                </a:lnTo>
                <a:lnTo>
                  <a:pt x="9" y="8"/>
                </a:lnTo>
                <a:lnTo>
                  <a:pt x="10" y="7"/>
                </a:lnTo>
                <a:lnTo>
                  <a:pt x="10" y="6"/>
                </a:lnTo>
                <a:lnTo>
                  <a:pt x="10" y="5"/>
                </a:lnTo>
                <a:close/>
              </a:path>
            </a:pathLst>
          </a:custGeom>
          <a:solidFill>
            <a:srgbClr val="66A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3225800" y="1841500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0" h="10">
                <a:moveTo>
                  <a:pt x="10" y="5"/>
                </a:moveTo>
                <a:lnTo>
                  <a:pt x="10" y="4"/>
                </a:lnTo>
                <a:lnTo>
                  <a:pt x="10" y="3"/>
                </a:lnTo>
                <a:lnTo>
                  <a:pt x="9" y="2"/>
                </a:lnTo>
                <a:lnTo>
                  <a:pt x="9" y="1"/>
                </a:lnTo>
                <a:lnTo>
                  <a:pt x="8" y="1"/>
                </a:lnTo>
                <a:lnTo>
                  <a:pt x="7" y="0"/>
                </a:lnTo>
                <a:lnTo>
                  <a:pt x="6" y="0"/>
                </a:lnTo>
                <a:lnTo>
                  <a:pt x="5" y="0"/>
                </a:lnTo>
                <a:lnTo>
                  <a:pt x="4" y="0"/>
                </a:lnTo>
                <a:lnTo>
                  <a:pt x="3" y="0"/>
                </a:lnTo>
                <a:lnTo>
                  <a:pt x="2" y="1"/>
                </a:lnTo>
                <a:lnTo>
                  <a:pt x="1" y="1"/>
                </a:lnTo>
                <a:lnTo>
                  <a:pt x="1" y="2"/>
                </a:lnTo>
                <a:lnTo>
                  <a:pt x="0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0" y="7"/>
                </a:lnTo>
                <a:lnTo>
                  <a:pt x="1" y="8"/>
                </a:lnTo>
                <a:lnTo>
                  <a:pt x="1" y="9"/>
                </a:lnTo>
                <a:lnTo>
                  <a:pt x="2" y="9"/>
                </a:lnTo>
                <a:lnTo>
                  <a:pt x="3" y="10"/>
                </a:lnTo>
                <a:lnTo>
                  <a:pt x="4" y="10"/>
                </a:lnTo>
                <a:lnTo>
                  <a:pt x="5" y="10"/>
                </a:lnTo>
                <a:lnTo>
                  <a:pt x="6" y="10"/>
                </a:lnTo>
                <a:lnTo>
                  <a:pt x="7" y="10"/>
                </a:lnTo>
                <a:lnTo>
                  <a:pt x="8" y="9"/>
                </a:lnTo>
                <a:lnTo>
                  <a:pt x="9" y="9"/>
                </a:lnTo>
                <a:lnTo>
                  <a:pt x="9" y="8"/>
                </a:lnTo>
                <a:lnTo>
                  <a:pt x="10" y="7"/>
                </a:lnTo>
                <a:lnTo>
                  <a:pt x="10" y="6"/>
                </a:lnTo>
                <a:lnTo>
                  <a:pt x="10" y="5"/>
                </a:lnTo>
                <a:close/>
              </a:path>
            </a:pathLst>
          </a:custGeom>
          <a:solidFill>
            <a:srgbClr val="66A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Freeform 49"/>
          <p:cNvSpPr/>
          <p:nvPr/>
        </p:nvSpPr>
        <p:spPr>
          <a:xfrm>
            <a:off x="3848100" y="2197100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0" h="10">
                <a:moveTo>
                  <a:pt x="10" y="5"/>
                </a:moveTo>
                <a:lnTo>
                  <a:pt x="10" y="4"/>
                </a:lnTo>
                <a:lnTo>
                  <a:pt x="10" y="3"/>
                </a:lnTo>
                <a:lnTo>
                  <a:pt x="9" y="2"/>
                </a:lnTo>
                <a:lnTo>
                  <a:pt x="9" y="2"/>
                </a:lnTo>
                <a:lnTo>
                  <a:pt x="8" y="1"/>
                </a:lnTo>
                <a:lnTo>
                  <a:pt x="7" y="1"/>
                </a:lnTo>
                <a:lnTo>
                  <a:pt x="6" y="0"/>
                </a:lnTo>
                <a:lnTo>
                  <a:pt x="5" y="0"/>
                </a:lnTo>
                <a:lnTo>
                  <a:pt x="4" y="0"/>
                </a:lnTo>
                <a:lnTo>
                  <a:pt x="3" y="1"/>
                </a:lnTo>
                <a:lnTo>
                  <a:pt x="2" y="1"/>
                </a:lnTo>
                <a:lnTo>
                  <a:pt x="1" y="2"/>
                </a:lnTo>
                <a:lnTo>
                  <a:pt x="1" y="2"/>
                </a:lnTo>
                <a:lnTo>
                  <a:pt x="0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0" y="7"/>
                </a:lnTo>
                <a:lnTo>
                  <a:pt x="1" y="8"/>
                </a:lnTo>
                <a:lnTo>
                  <a:pt x="1" y="9"/>
                </a:lnTo>
                <a:lnTo>
                  <a:pt x="2" y="10"/>
                </a:lnTo>
                <a:lnTo>
                  <a:pt x="3" y="10"/>
                </a:lnTo>
                <a:lnTo>
                  <a:pt x="4" y="10"/>
                </a:lnTo>
                <a:lnTo>
                  <a:pt x="5" y="10"/>
                </a:lnTo>
                <a:lnTo>
                  <a:pt x="6" y="10"/>
                </a:lnTo>
                <a:lnTo>
                  <a:pt x="7" y="10"/>
                </a:lnTo>
                <a:lnTo>
                  <a:pt x="8" y="10"/>
                </a:lnTo>
                <a:lnTo>
                  <a:pt x="9" y="9"/>
                </a:lnTo>
                <a:lnTo>
                  <a:pt x="9" y="8"/>
                </a:lnTo>
                <a:lnTo>
                  <a:pt x="10" y="7"/>
                </a:lnTo>
                <a:lnTo>
                  <a:pt x="10" y="6"/>
                </a:lnTo>
                <a:lnTo>
                  <a:pt x="10" y="5"/>
                </a:lnTo>
                <a:close/>
              </a:path>
            </a:pathLst>
          </a:custGeom>
          <a:solidFill>
            <a:srgbClr val="66A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3530600" y="1663700"/>
            <a:ext cx="139700" cy="127000"/>
          </a:xfrm>
          <a:custGeom>
            <a:avLst/>
            <a:gdLst/>
            <a:ahLst/>
            <a:cxnLst/>
            <a:rect l="l" t="t" r="r" b="b"/>
            <a:pathLst>
              <a:path w="11" h="10">
                <a:moveTo>
                  <a:pt x="11" y="5"/>
                </a:moveTo>
                <a:lnTo>
                  <a:pt x="11" y="4"/>
                </a:lnTo>
                <a:lnTo>
                  <a:pt x="10" y="3"/>
                </a:lnTo>
                <a:lnTo>
                  <a:pt x="10" y="2"/>
                </a:lnTo>
                <a:lnTo>
                  <a:pt x="9" y="1"/>
                </a:lnTo>
                <a:lnTo>
                  <a:pt x="8" y="0"/>
                </a:lnTo>
                <a:lnTo>
                  <a:pt x="7" y="0"/>
                </a:lnTo>
                <a:lnTo>
                  <a:pt x="7" y="0"/>
                </a:lnTo>
                <a:lnTo>
                  <a:pt x="5" y="0"/>
                </a:lnTo>
                <a:lnTo>
                  <a:pt x="4" y="0"/>
                </a:lnTo>
                <a:lnTo>
                  <a:pt x="3" y="0"/>
                </a:lnTo>
                <a:lnTo>
                  <a:pt x="3" y="0"/>
                </a:lnTo>
                <a:lnTo>
                  <a:pt x="2" y="1"/>
                </a:lnTo>
                <a:lnTo>
                  <a:pt x="1" y="2"/>
                </a:lnTo>
                <a:lnTo>
                  <a:pt x="1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1" y="7"/>
                </a:lnTo>
                <a:lnTo>
                  <a:pt x="1" y="8"/>
                </a:lnTo>
                <a:lnTo>
                  <a:pt x="2" y="8"/>
                </a:lnTo>
                <a:lnTo>
                  <a:pt x="3" y="9"/>
                </a:lnTo>
                <a:lnTo>
                  <a:pt x="3" y="9"/>
                </a:lnTo>
                <a:lnTo>
                  <a:pt x="4" y="10"/>
                </a:lnTo>
                <a:lnTo>
                  <a:pt x="5" y="10"/>
                </a:lnTo>
                <a:lnTo>
                  <a:pt x="7" y="10"/>
                </a:lnTo>
                <a:lnTo>
                  <a:pt x="7" y="9"/>
                </a:lnTo>
                <a:lnTo>
                  <a:pt x="8" y="9"/>
                </a:lnTo>
                <a:lnTo>
                  <a:pt x="9" y="8"/>
                </a:lnTo>
                <a:lnTo>
                  <a:pt x="10" y="8"/>
                </a:lnTo>
                <a:lnTo>
                  <a:pt x="10" y="7"/>
                </a:lnTo>
                <a:lnTo>
                  <a:pt x="11" y="6"/>
                </a:lnTo>
                <a:lnTo>
                  <a:pt x="11" y="5"/>
                </a:lnTo>
                <a:close/>
              </a:path>
            </a:pathLst>
          </a:custGeom>
          <a:solidFill>
            <a:srgbClr val="A676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Freeform 51"/>
          <p:cNvSpPr/>
          <p:nvPr/>
        </p:nvSpPr>
        <p:spPr>
          <a:xfrm>
            <a:off x="3225800" y="2197100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0" h="10">
                <a:moveTo>
                  <a:pt x="10" y="5"/>
                </a:moveTo>
                <a:lnTo>
                  <a:pt x="10" y="4"/>
                </a:lnTo>
                <a:lnTo>
                  <a:pt x="10" y="3"/>
                </a:lnTo>
                <a:lnTo>
                  <a:pt x="9" y="2"/>
                </a:lnTo>
                <a:lnTo>
                  <a:pt x="9" y="2"/>
                </a:lnTo>
                <a:lnTo>
                  <a:pt x="8" y="1"/>
                </a:lnTo>
                <a:lnTo>
                  <a:pt x="7" y="1"/>
                </a:lnTo>
                <a:lnTo>
                  <a:pt x="6" y="0"/>
                </a:lnTo>
                <a:lnTo>
                  <a:pt x="5" y="0"/>
                </a:lnTo>
                <a:lnTo>
                  <a:pt x="4" y="0"/>
                </a:lnTo>
                <a:lnTo>
                  <a:pt x="3" y="1"/>
                </a:lnTo>
                <a:lnTo>
                  <a:pt x="2" y="1"/>
                </a:lnTo>
                <a:lnTo>
                  <a:pt x="1" y="2"/>
                </a:lnTo>
                <a:lnTo>
                  <a:pt x="1" y="2"/>
                </a:lnTo>
                <a:lnTo>
                  <a:pt x="0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0" y="7"/>
                </a:lnTo>
                <a:lnTo>
                  <a:pt x="1" y="8"/>
                </a:lnTo>
                <a:lnTo>
                  <a:pt x="1" y="9"/>
                </a:lnTo>
                <a:lnTo>
                  <a:pt x="2" y="10"/>
                </a:lnTo>
                <a:lnTo>
                  <a:pt x="3" y="10"/>
                </a:lnTo>
                <a:lnTo>
                  <a:pt x="4" y="10"/>
                </a:lnTo>
                <a:lnTo>
                  <a:pt x="5" y="10"/>
                </a:lnTo>
                <a:lnTo>
                  <a:pt x="6" y="10"/>
                </a:lnTo>
                <a:lnTo>
                  <a:pt x="7" y="10"/>
                </a:lnTo>
                <a:lnTo>
                  <a:pt x="8" y="10"/>
                </a:lnTo>
                <a:lnTo>
                  <a:pt x="9" y="9"/>
                </a:lnTo>
                <a:lnTo>
                  <a:pt x="9" y="8"/>
                </a:lnTo>
                <a:lnTo>
                  <a:pt x="10" y="7"/>
                </a:lnTo>
                <a:lnTo>
                  <a:pt x="10" y="6"/>
                </a:lnTo>
                <a:lnTo>
                  <a:pt x="10" y="5"/>
                </a:lnTo>
                <a:close/>
              </a:path>
            </a:pathLst>
          </a:custGeom>
          <a:solidFill>
            <a:srgbClr val="A676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3530600" y="2374900"/>
            <a:ext cx="139700" cy="139700"/>
          </a:xfrm>
          <a:custGeom>
            <a:avLst/>
            <a:gdLst/>
            <a:ahLst/>
            <a:cxnLst/>
            <a:rect l="l" t="t" r="r" b="b"/>
            <a:pathLst>
              <a:path w="11" h="11">
                <a:moveTo>
                  <a:pt x="11" y="5"/>
                </a:moveTo>
                <a:lnTo>
                  <a:pt x="11" y="4"/>
                </a:lnTo>
                <a:lnTo>
                  <a:pt x="10" y="3"/>
                </a:lnTo>
                <a:lnTo>
                  <a:pt x="10" y="3"/>
                </a:lnTo>
                <a:lnTo>
                  <a:pt x="9" y="2"/>
                </a:lnTo>
                <a:lnTo>
                  <a:pt x="8" y="1"/>
                </a:lnTo>
                <a:lnTo>
                  <a:pt x="7" y="1"/>
                </a:lnTo>
                <a:lnTo>
                  <a:pt x="7" y="0"/>
                </a:lnTo>
                <a:lnTo>
                  <a:pt x="5" y="0"/>
                </a:lnTo>
                <a:lnTo>
                  <a:pt x="4" y="0"/>
                </a:lnTo>
                <a:lnTo>
                  <a:pt x="3" y="1"/>
                </a:lnTo>
                <a:lnTo>
                  <a:pt x="3" y="1"/>
                </a:lnTo>
                <a:lnTo>
                  <a:pt x="2" y="2"/>
                </a:lnTo>
                <a:lnTo>
                  <a:pt x="1" y="3"/>
                </a:lnTo>
                <a:lnTo>
                  <a:pt x="1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1" y="7"/>
                </a:lnTo>
                <a:lnTo>
                  <a:pt x="1" y="8"/>
                </a:lnTo>
                <a:lnTo>
                  <a:pt x="2" y="9"/>
                </a:lnTo>
                <a:lnTo>
                  <a:pt x="3" y="10"/>
                </a:lnTo>
                <a:lnTo>
                  <a:pt x="3" y="10"/>
                </a:lnTo>
                <a:lnTo>
                  <a:pt x="4" y="10"/>
                </a:lnTo>
                <a:lnTo>
                  <a:pt x="5" y="11"/>
                </a:lnTo>
                <a:lnTo>
                  <a:pt x="7" y="10"/>
                </a:lnTo>
                <a:lnTo>
                  <a:pt x="7" y="10"/>
                </a:lnTo>
                <a:lnTo>
                  <a:pt x="8" y="10"/>
                </a:lnTo>
                <a:lnTo>
                  <a:pt x="9" y="9"/>
                </a:lnTo>
                <a:lnTo>
                  <a:pt x="10" y="8"/>
                </a:lnTo>
                <a:lnTo>
                  <a:pt x="10" y="7"/>
                </a:lnTo>
                <a:lnTo>
                  <a:pt x="11" y="6"/>
                </a:lnTo>
                <a:lnTo>
                  <a:pt x="11" y="5"/>
                </a:lnTo>
                <a:close/>
              </a:path>
            </a:pathLst>
          </a:custGeom>
          <a:solidFill>
            <a:srgbClr val="A676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2880003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6" name="Picture 5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57" name="Picture 5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58" name="TextBox 57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GA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variants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8000" y="359888"/>
            <a:ext cx="567739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1">
                <a:solidFill>
                  <a:srgbClr val="003373"/>
                </a:solidFill>
                <a:latin typeface="Josefin Sans"/>
              </a:rPr>
              <a:t>Steady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state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genetic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algorithm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(SSGA)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60057" y="724584"/>
            <a:ext cx="532533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once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offspring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created,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decision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whether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parent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offspring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37095" y="940426"/>
            <a:ext cx="51483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survives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next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generation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856751" y="2573415"/>
            <a:ext cx="3928644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Generation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285819" y="2573415"/>
            <a:ext cx="2499576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Generation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898769" y="3150930"/>
            <a:ext cx="88662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623584" y="3150706"/>
            <a:ext cx="16181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85</a:t>
            </a:r>
          </a:p>
        </p:txBody>
      </p:sp>
    </p:spTree>
  </p:cSld>
  <p:clrMapOvr>
    <a:masterClrMapping/>
  </p:clrMapOvr>
</p:sld>
</file>

<file path=ppt/slides/slide2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Freeform 35"/>
          <p:cNvSpPr/>
          <p:nvPr/>
        </p:nvSpPr>
        <p:spPr>
          <a:xfrm>
            <a:off x="2400300" y="1841500"/>
            <a:ext cx="139700" cy="127000"/>
          </a:xfrm>
          <a:custGeom>
            <a:avLst/>
            <a:gdLst/>
            <a:ahLst/>
            <a:cxnLst/>
            <a:rect l="l" t="t" r="r" b="b"/>
            <a:pathLst>
              <a:path w="11" h="10">
                <a:moveTo>
                  <a:pt x="11" y="5"/>
                </a:moveTo>
                <a:lnTo>
                  <a:pt x="11" y="4"/>
                </a:lnTo>
                <a:lnTo>
                  <a:pt x="10" y="3"/>
                </a:lnTo>
                <a:lnTo>
                  <a:pt x="10" y="2"/>
                </a:lnTo>
                <a:lnTo>
                  <a:pt x="9" y="1"/>
                </a:lnTo>
                <a:lnTo>
                  <a:pt x="9" y="1"/>
                </a:lnTo>
                <a:lnTo>
                  <a:pt x="8" y="0"/>
                </a:lnTo>
                <a:lnTo>
                  <a:pt x="7" y="0"/>
                </a:lnTo>
                <a:lnTo>
                  <a:pt x="6" y="0"/>
                </a:lnTo>
                <a:lnTo>
                  <a:pt x="5" y="0"/>
                </a:lnTo>
                <a:lnTo>
                  <a:pt x="4" y="0"/>
                </a:lnTo>
                <a:lnTo>
                  <a:pt x="3" y="1"/>
                </a:lnTo>
                <a:lnTo>
                  <a:pt x="2" y="1"/>
                </a:lnTo>
                <a:lnTo>
                  <a:pt x="1" y="2"/>
                </a:lnTo>
                <a:lnTo>
                  <a:pt x="1" y="3"/>
                </a:lnTo>
                <a:lnTo>
                  <a:pt x="1" y="4"/>
                </a:lnTo>
                <a:lnTo>
                  <a:pt x="0" y="5"/>
                </a:lnTo>
                <a:lnTo>
                  <a:pt x="1" y="6"/>
                </a:lnTo>
                <a:lnTo>
                  <a:pt x="1" y="7"/>
                </a:lnTo>
                <a:lnTo>
                  <a:pt x="1" y="8"/>
                </a:lnTo>
                <a:lnTo>
                  <a:pt x="2" y="9"/>
                </a:lnTo>
                <a:lnTo>
                  <a:pt x="3" y="9"/>
                </a:lnTo>
                <a:lnTo>
                  <a:pt x="4" y="10"/>
                </a:lnTo>
                <a:lnTo>
                  <a:pt x="5" y="10"/>
                </a:lnTo>
                <a:lnTo>
                  <a:pt x="6" y="10"/>
                </a:lnTo>
                <a:lnTo>
                  <a:pt x="7" y="10"/>
                </a:lnTo>
                <a:lnTo>
                  <a:pt x="8" y="10"/>
                </a:lnTo>
                <a:lnTo>
                  <a:pt x="9" y="9"/>
                </a:lnTo>
                <a:lnTo>
                  <a:pt x="9" y="9"/>
                </a:lnTo>
                <a:lnTo>
                  <a:pt x="10" y="8"/>
                </a:lnTo>
                <a:lnTo>
                  <a:pt x="10" y="7"/>
                </a:lnTo>
                <a:lnTo>
                  <a:pt x="11" y="6"/>
                </a:lnTo>
                <a:lnTo>
                  <a:pt x="11" y="5"/>
                </a:lnTo>
                <a:close/>
              </a:path>
            </a:pathLst>
          </a:custGeom>
          <a:solidFill>
            <a:srgbClr val="A676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2095500" y="1663700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0" h="10">
                <a:moveTo>
                  <a:pt x="10" y="5"/>
                </a:moveTo>
                <a:lnTo>
                  <a:pt x="10" y="4"/>
                </a:lnTo>
                <a:lnTo>
                  <a:pt x="10" y="3"/>
                </a:lnTo>
                <a:lnTo>
                  <a:pt x="9" y="2"/>
                </a:lnTo>
                <a:lnTo>
                  <a:pt x="9" y="1"/>
                </a:lnTo>
                <a:lnTo>
                  <a:pt x="8" y="0"/>
                </a:lnTo>
                <a:lnTo>
                  <a:pt x="7" y="0"/>
                </a:lnTo>
                <a:lnTo>
                  <a:pt x="6" y="0"/>
                </a:lnTo>
                <a:lnTo>
                  <a:pt x="5" y="0"/>
                </a:lnTo>
                <a:lnTo>
                  <a:pt x="4" y="0"/>
                </a:lnTo>
                <a:lnTo>
                  <a:pt x="3" y="0"/>
                </a:lnTo>
                <a:lnTo>
                  <a:pt x="2" y="0"/>
                </a:lnTo>
                <a:lnTo>
                  <a:pt x="1" y="1"/>
                </a:lnTo>
                <a:lnTo>
                  <a:pt x="1" y="2"/>
                </a:lnTo>
                <a:lnTo>
                  <a:pt x="0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0" y="7"/>
                </a:lnTo>
                <a:lnTo>
                  <a:pt x="1" y="8"/>
                </a:lnTo>
                <a:lnTo>
                  <a:pt x="1" y="8"/>
                </a:lnTo>
                <a:lnTo>
                  <a:pt x="2" y="9"/>
                </a:lnTo>
                <a:lnTo>
                  <a:pt x="3" y="9"/>
                </a:lnTo>
                <a:lnTo>
                  <a:pt x="4" y="10"/>
                </a:lnTo>
                <a:lnTo>
                  <a:pt x="5" y="10"/>
                </a:lnTo>
                <a:lnTo>
                  <a:pt x="6" y="10"/>
                </a:lnTo>
                <a:lnTo>
                  <a:pt x="7" y="9"/>
                </a:lnTo>
                <a:lnTo>
                  <a:pt x="8" y="9"/>
                </a:lnTo>
                <a:lnTo>
                  <a:pt x="9" y="8"/>
                </a:lnTo>
                <a:lnTo>
                  <a:pt x="9" y="8"/>
                </a:lnTo>
                <a:lnTo>
                  <a:pt x="10" y="7"/>
                </a:lnTo>
                <a:lnTo>
                  <a:pt x="10" y="6"/>
                </a:lnTo>
                <a:lnTo>
                  <a:pt x="10" y="5"/>
                </a:lnTo>
                <a:close/>
              </a:path>
            </a:pathLst>
          </a:custGeom>
          <a:solidFill>
            <a:srgbClr val="A676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1778000" y="1841500"/>
            <a:ext cx="139700" cy="127000"/>
          </a:xfrm>
          <a:custGeom>
            <a:avLst/>
            <a:gdLst/>
            <a:ahLst/>
            <a:cxnLst/>
            <a:rect l="l" t="t" r="r" b="b"/>
            <a:pathLst>
              <a:path w="11" h="10">
                <a:moveTo>
                  <a:pt x="11" y="5"/>
                </a:moveTo>
                <a:lnTo>
                  <a:pt x="11" y="4"/>
                </a:lnTo>
                <a:lnTo>
                  <a:pt x="10" y="3"/>
                </a:lnTo>
                <a:lnTo>
                  <a:pt x="10" y="2"/>
                </a:lnTo>
                <a:lnTo>
                  <a:pt x="9" y="1"/>
                </a:lnTo>
                <a:lnTo>
                  <a:pt x="8" y="1"/>
                </a:lnTo>
                <a:lnTo>
                  <a:pt x="8" y="0"/>
                </a:lnTo>
                <a:lnTo>
                  <a:pt x="7" y="0"/>
                </a:lnTo>
                <a:lnTo>
                  <a:pt x="6" y="0"/>
                </a:lnTo>
                <a:lnTo>
                  <a:pt x="4" y="0"/>
                </a:lnTo>
                <a:lnTo>
                  <a:pt x="4" y="0"/>
                </a:lnTo>
                <a:lnTo>
                  <a:pt x="3" y="1"/>
                </a:lnTo>
                <a:lnTo>
                  <a:pt x="2" y="1"/>
                </a:lnTo>
                <a:lnTo>
                  <a:pt x="1" y="2"/>
                </a:lnTo>
                <a:lnTo>
                  <a:pt x="1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1" y="7"/>
                </a:lnTo>
                <a:lnTo>
                  <a:pt x="1" y="8"/>
                </a:lnTo>
                <a:lnTo>
                  <a:pt x="2" y="9"/>
                </a:lnTo>
                <a:lnTo>
                  <a:pt x="3" y="9"/>
                </a:lnTo>
                <a:lnTo>
                  <a:pt x="4" y="10"/>
                </a:lnTo>
                <a:lnTo>
                  <a:pt x="4" y="10"/>
                </a:lnTo>
                <a:lnTo>
                  <a:pt x="6" y="10"/>
                </a:lnTo>
                <a:lnTo>
                  <a:pt x="7" y="10"/>
                </a:lnTo>
                <a:lnTo>
                  <a:pt x="8" y="10"/>
                </a:lnTo>
                <a:lnTo>
                  <a:pt x="8" y="9"/>
                </a:lnTo>
                <a:lnTo>
                  <a:pt x="9" y="9"/>
                </a:lnTo>
                <a:lnTo>
                  <a:pt x="10" y="8"/>
                </a:lnTo>
                <a:lnTo>
                  <a:pt x="10" y="7"/>
                </a:lnTo>
                <a:lnTo>
                  <a:pt x="11" y="6"/>
                </a:lnTo>
                <a:lnTo>
                  <a:pt x="11" y="5"/>
                </a:lnTo>
                <a:close/>
              </a:path>
            </a:pathLst>
          </a:custGeom>
          <a:solidFill>
            <a:srgbClr val="A676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Freeform 38"/>
          <p:cNvSpPr/>
          <p:nvPr/>
        </p:nvSpPr>
        <p:spPr>
          <a:xfrm>
            <a:off x="1778000" y="2197100"/>
            <a:ext cx="139700" cy="127000"/>
          </a:xfrm>
          <a:custGeom>
            <a:avLst/>
            <a:gdLst/>
            <a:ahLst/>
            <a:cxnLst/>
            <a:rect l="l" t="t" r="r" b="b"/>
            <a:pathLst>
              <a:path w="11" h="10">
                <a:moveTo>
                  <a:pt x="11" y="5"/>
                </a:moveTo>
                <a:lnTo>
                  <a:pt x="11" y="4"/>
                </a:lnTo>
                <a:lnTo>
                  <a:pt x="10" y="3"/>
                </a:lnTo>
                <a:lnTo>
                  <a:pt x="10" y="2"/>
                </a:lnTo>
                <a:lnTo>
                  <a:pt x="9" y="2"/>
                </a:lnTo>
                <a:lnTo>
                  <a:pt x="8" y="1"/>
                </a:lnTo>
                <a:lnTo>
                  <a:pt x="8" y="1"/>
                </a:lnTo>
                <a:lnTo>
                  <a:pt x="7" y="0"/>
                </a:lnTo>
                <a:lnTo>
                  <a:pt x="6" y="0"/>
                </a:lnTo>
                <a:lnTo>
                  <a:pt x="4" y="0"/>
                </a:lnTo>
                <a:lnTo>
                  <a:pt x="4" y="1"/>
                </a:lnTo>
                <a:lnTo>
                  <a:pt x="3" y="1"/>
                </a:lnTo>
                <a:lnTo>
                  <a:pt x="2" y="2"/>
                </a:lnTo>
                <a:lnTo>
                  <a:pt x="1" y="2"/>
                </a:lnTo>
                <a:lnTo>
                  <a:pt x="1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1" y="7"/>
                </a:lnTo>
                <a:lnTo>
                  <a:pt x="1" y="8"/>
                </a:lnTo>
                <a:lnTo>
                  <a:pt x="2" y="9"/>
                </a:lnTo>
                <a:lnTo>
                  <a:pt x="3" y="10"/>
                </a:lnTo>
                <a:lnTo>
                  <a:pt x="4" y="10"/>
                </a:lnTo>
                <a:lnTo>
                  <a:pt x="4" y="10"/>
                </a:lnTo>
                <a:lnTo>
                  <a:pt x="6" y="10"/>
                </a:lnTo>
                <a:lnTo>
                  <a:pt x="7" y="10"/>
                </a:lnTo>
                <a:lnTo>
                  <a:pt x="8" y="10"/>
                </a:lnTo>
                <a:lnTo>
                  <a:pt x="8" y="10"/>
                </a:lnTo>
                <a:lnTo>
                  <a:pt x="9" y="9"/>
                </a:lnTo>
                <a:lnTo>
                  <a:pt x="10" y="8"/>
                </a:lnTo>
                <a:lnTo>
                  <a:pt x="10" y="7"/>
                </a:lnTo>
                <a:lnTo>
                  <a:pt x="11" y="6"/>
                </a:lnTo>
                <a:lnTo>
                  <a:pt x="11" y="5"/>
                </a:lnTo>
                <a:close/>
              </a:path>
            </a:pathLst>
          </a:custGeom>
          <a:solidFill>
            <a:srgbClr val="A676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2095500" y="2374900"/>
            <a:ext cx="127000" cy="139700"/>
          </a:xfrm>
          <a:custGeom>
            <a:avLst/>
            <a:gdLst/>
            <a:ahLst/>
            <a:cxnLst/>
            <a:rect l="l" t="t" r="r" b="b"/>
            <a:pathLst>
              <a:path w="10" h="11">
                <a:moveTo>
                  <a:pt x="10" y="5"/>
                </a:moveTo>
                <a:lnTo>
                  <a:pt x="10" y="4"/>
                </a:lnTo>
                <a:lnTo>
                  <a:pt x="10" y="3"/>
                </a:lnTo>
                <a:lnTo>
                  <a:pt x="9" y="3"/>
                </a:lnTo>
                <a:lnTo>
                  <a:pt x="9" y="2"/>
                </a:lnTo>
                <a:lnTo>
                  <a:pt x="8" y="1"/>
                </a:lnTo>
                <a:lnTo>
                  <a:pt x="7" y="1"/>
                </a:lnTo>
                <a:lnTo>
                  <a:pt x="6" y="0"/>
                </a:lnTo>
                <a:lnTo>
                  <a:pt x="5" y="0"/>
                </a:lnTo>
                <a:lnTo>
                  <a:pt x="4" y="0"/>
                </a:lnTo>
                <a:lnTo>
                  <a:pt x="3" y="1"/>
                </a:lnTo>
                <a:lnTo>
                  <a:pt x="2" y="1"/>
                </a:lnTo>
                <a:lnTo>
                  <a:pt x="1" y="2"/>
                </a:lnTo>
                <a:lnTo>
                  <a:pt x="1" y="3"/>
                </a:lnTo>
                <a:lnTo>
                  <a:pt x="0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0" y="7"/>
                </a:lnTo>
                <a:lnTo>
                  <a:pt x="1" y="8"/>
                </a:lnTo>
                <a:lnTo>
                  <a:pt x="1" y="9"/>
                </a:lnTo>
                <a:lnTo>
                  <a:pt x="2" y="10"/>
                </a:lnTo>
                <a:lnTo>
                  <a:pt x="3" y="10"/>
                </a:lnTo>
                <a:lnTo>
                  <a:pt x="4" y="10"/>
                </a:lnTo>
                <a:lnTo>
                  <a:pt x="5" y="11"/>
                </a:lnTo>
                <a:lnTo>
                  <a:pt x="6" y="10"/>
                </a:lnTo>
                <a:lnTo>
                  <a:pt x="7" y="10"/>
                </a:lnTo>
                <a:lnTo>
                  <a:pt x="8" y="10"/>
                </a:lnTo>
                <a:lnTo>
                  <a:pt x="9" y="9"/>
                </a:lnTo>
                <a:lnTo>
                  <a:pt x="9" y="8"/>
                </a:lnTo>
                <a:lnTo>
                  <a:pt x="10" y="7"/>
                </a:lnTo>
                <a:lnTo>
                  <a:pt x="10" y="6"/>
                </a:lnTo>
                <a:lnTo>
                  <a:pt x="10" y="5"/>
                </a:lnTo>
                <a:close/>
              </a:path>
            </a:pathLst>
          </a:custGeom>
          <a:solidFill>
            <a:srgbClr val="A676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2400300" y="2197100"/>
            <a:ext cx="139700" cy="127000"/>
          </a:xfrm>
          <a:custGeom>
            <a:avLst/>
            <a:gdLst/>
            <a:ahLst/>
            <a:cxnLst/>
            <a:rect l="l" t="t" r="r" b="b"/>
            <a:pathLst>
              <a:path w="11" h="10">
                <a:moveTo>
                  <a:pt x="11" y="5"/>
                </a:moveTo>
                <a:lnTo>
                  <a:pt x="11" y="4"/>
                </a:lnTo>
                <a:lnTo>
                  <a:pt x="10" y="3"/>
                </a:lnTo>
                <a:lnTo>
                  <a:pt x="10" y="2"/>
                </a:lnTo>
                <a:lnTo>
                  <a:pt x="9" y="2"/>
                </a:lnTo>
                <a:lnTo>
                  <a:pt x="9" y="1"/>
                </a:lnTo>
                <a:lnTo>
                  <a:pt x="8" y="1"/>
                </a:lnTo>
                <a:lnTo>
                  <a:pt x="7" y="0"/>
                </a:lnTo>
                <a:lnTo>
                  <a:pt x="6" y="0"/>
                </a:lnTo>
                <a:lnTo>
                  <a:pt x="5" y="0"/>
                </a:lnTo>
                <a:lnTo>
                  <a:pt x="4" y="1"/>
                </a:lnTo>
                <a:lnTo>
                  <a:pt x="3" y="1"/>
                </a:lnTo>
                <a:lnTo>
                  <a:pt x="2" y="2"/>
                </a:lnTo>
                <a:lnTo>
                  <a:pt x="1" y="2"/>
                </a:lnTo>
                <a:lnTo>
                  <a:pt x="1" y="3"/>
                </a:lnTo>
                <a:lnTo>
                  <a:pt x="1" y="4"/>
                </a:lnTo>
                <a:lnTo>
                  <a:pt x="0" y="5"/>
                </a:lnTo>
                <a:lnTo>
                  <a:pt x="1" y="6"/>
                </a:lnTo>
                <a:lnTo>
                  <a:pt x="1" y="7"/>
                </a:lnTo>
                <a:lnTo>
                  <a:pt x="1" y="8"/>
                </a:lnTo>
                <a:lnTo>
                  <a:pt x="2" y="9"/>
                </a:lnTo>
                <a:lnTo>
                  <a:pt x="3" y="10"/>
                </a:lnTo>
                <a:lnTo>
                  <a:pt x="4" y="10"/>
                </a:lnTo>
                <a:lnTo>
                  <a:pt x="5" y="10"/>
                </a:lnTo>
                <a:lnTo>
                  <a:pt x="6" y="10"/>
                </a:lnTo>
                <a:lnTo>
                  <a:pt x="7" y="10"/>
                </a:lnTo>
                <a:lnTo>
                  <a:pt x="8" y="10"/>
                </a:lnTo>
                <a:lnTo>
                  <a:pt x="9" y="10"/>
                </a:lnTo>
                <a:lnTo>
                  <a:pt x="9" y="9"/>
                </a:lnTo>
                <a:lnTo>
                  <a:pt x="10" y="8"/>
                </a:lnTo>
                <a:lnTo>
                  <a:pt x="10" y="7"/>
                </a:lnTo>
                <a:lnTo>
                  <a:pt x="11" y="6"/>
                </a:lnTo>
                <a:lnTo>
                  <a:pt x="11" y="5"/>
                </a:lnTo>
                <a:close/>
              </a:path>
            </a:pathLst>
          </a:custGeom>
          <a:solidFill>
            <a:srgbClr val="A676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Freeform 41"/>
          <p:cNvSpPr/>
          <p:nvPr/>
        </p:nvSpPr>
        <p:spPr>
          <a:xfrm>
            <a:off x="2273300" y="2019300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0" h="10">
                <a:moveTo>
                  <a:pt x="10" y="5"/>
                </a:moveTo>
                <a:lnTo>
                  <a:pt x="10" y="4"/>
                </a:lnTo>
                <a:lnTo>
                  <a:pt x="10" y="3"/>
                </a:lnTo>
                <a:lnTo>
                  <a:pt x="10" y="2"/>
                </a:lnTo>
                <a:lnTo>
                  <a:pt x="9" y="1"/>
                </a:lnTo>
                <a:lnTo>
                  <a:pt x="8" y="1"/>
                </a:lnTo>
                <a:lnTo>
                  <a:pt x="7" y="0"/>
                </a:lnTo>
                <a:lnTo>
                  <a:pt x="6" y="0"/>
                </a:lnTo>
                <a:lnTo>
                  <a:pt x="5" y="0"/>
                </a:lnTo>
                <a:lnTo>
                  <a:pt x="4" y="0"/>
                </a:lnTo>
                <a:lnTo>
                  <a:pt x="3" y="0"/>
                </a:lnTo>
                <a:lnTo>
                  <a:pt x="2" y="1"/>
                </a:lnTo>
                <a:lnTo>
                  <a:pt x="2" y="1"/>
                </a:lnTo>
                <a:lnTo>
                  <a:pt x="1" y="2"/>
                </a:lnTo>
                <a:lnTo>
                  <a:pt x="1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1" y="7"/>
                </a:lnTo>
                <a:lnTo>
                  <a:pt x="1" y="8"/>
                </a:lnTo>
                <a:lnTo>
                  <a:pt x="2" y="9"/>
                </a:lnTo>
                <a:lnTo>
                  <a:pt x="2" y="9"/>
                </a:lnTo>
                <a:lnTo>
                  <a:pt x="3" y="10"/>
                </a:lnTo>
                <a:lnTo>
                  <a:pt x="4" y="10"/>
                </a:lnTo>
                <a:lnTo>
                  <a:pt x="5" y="10"/>
                </a:lnTo>
                <a:lnTo>
                  <a:pt x="6" y="10"/>
                </a:lnTo>
                <a:lnTo>
                  <a:pt x="7" y="10"/>
                </a:lnTo>
                <a:lnTo>
                  <a:pt x="8" y="9"/>
                </a:lnTo>
                <a:lnTo>
                  <a:pt x="9" y="9"/>
                </a:lnTo>
                <a:lnTo>
                  <a:pt x="10" y="8"/>
                </a:lnTo>
                <a:lnTo>
                  <a:pt x="10" y="7"/>
                </a:lnTo>
                <a:lnTo>
                  <a:pt x="10" y="6"/>
                </a:lnTo>
                <a:lnTo>
                  <a:pt x="10" y="5"/>
                </a:lnTo>
                <a:close/>
              </a:path>
            </a:pathLst>
          </a:custGeom>
          <a:solidFill>
            <a:srgbClr val="66A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Freeform 42"/>
          <p:cNvSpPr/>
          <p:nvPr/>
        </p:nvSpPr>
        <p:spPr>
          <a:xfrm>
            <a:off x="2184400" y="1866900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0" h="10">
                <a:moveTo>
                  <a:pt x="10" y="5"/>
                </a:moveTo>
                <a:lnTo>
                  <a:pt x="10" y="4"/>
                </a:lnTo>
                <a:lnTo>
                  <a:pt x="10" y="3"/>
                </a:lnTo>
                <a:lnTo>
                  <a:pt x="9" y="2"/>
                </a:lnTo>
                <a:lnTo>
                  <a:pt x="9" y="1"/>
                </a:lnTo>
                <a:lnTo>
                  <a:pt x="8" y="1"/>
                </a:lnTo>
                <a:lnTo>
                  <a:pt x="7" y="0"/>
                </a:lnTo>
                <a:lnTo>
                  <a:pt x="6" y="0"/>
                </a:lnTo>
                <a:lnTo>
                  <a:pt x="5" y="0"/>
                </a:lnTo>
                <a:lnTo>
                  <a:pt x="4" y="0"/>
                </a:lnTo>
                <a:lnTo>
                  <a:pt x="3" y="0"/>
                </a:lnTo>
                <a:lnTo>
                  <a:pt x="2" y="1"/>
                </a:lnTo>
                <a:lnTo>
                  <a:pt x="2" y="1"/>
                </a:lnTo>
                <a:lnTo>
                  <a:pt x="1" y="2"/>
                </a:lnTo>
                <a:lnTo>
                  <a:pt x="0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0" y="7"/>
                </a:lnTo>
                <a:lnTo>
                  <a:pt x="1" y="8"/>
                </a:lnTo>
                <a:lnTo>
                  <a:pt x="2" y="8"/>
                </a:lnTo>
                <a:lnTo>
                  <a:pt x="2" y="9"/>
                </a:lnTo>
                <a:lnTo>
                  <a:pt x="3" y="10"/>
                </a:lnTo>
                <a:lnTo>
                  <a:pt x="4" y="10"/>
                </a:lnTo>
                <a:lnTo>
                  <a:pt x="5" y="10"/>
                </a:lnTo>
                <a:lnTo>
                  <a:pt x="6" y="10"/>
                </a:lnTo>
                <a:lnTo>
                  <a:pt x="7" y="10"/>
                </a:lnTo>
                <a:lnTo>
                  <a:pt x="8" y="9"/>
                </a:lnTo>
                <a:lnTo>
                  <a:pt x="9" y="8"/>
                </a:lnTo>
                <a:lnTo>
                  <a:pt x="9" y="8"/>
                </a:lnTo>
                <a:lnTo>
                  <a:pt x="10" y="7"/>
                </a:lnTo>
                <a:lnTo>
                  <a:pt x="10" y="6"/>
                </a:lnTo>
                <a:lnTo>
                  <a:pt x="10" y="5"/>
                </a:lnTo>
                <a:close/>
              </a:path>
            </a:pathLst>
          </a:custGeom>
          <a:solidFill>
            <a:srgbClr val="66A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Freeform 43"/>
          <p:cNvSpPr/>
          <p:nvPr/>
        </p:nvSpPr>
        <p:spPr>
          <a:xfrm>
            <a:off x="2006600" y="1866900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0" h="10">
                <a:moveTo>
                  <a:pt x="10" y="5"/>
                </a:moveTo>
                <a:lnTo>
                  <a:pt x="10" y="4"/>
                </a:lnTo>
                <a:lnTo>
                  <a:pt x="10" y="3"/>
                </a:lnTo>
                <a:lnTo>
                  <a:pt x="9" y="2"/>
                </a:lnTo>
                <a:lnTo>
                  <a:pt x="9" y="1"/>
                </a:lnTo>
                <a:lnTo>
                  <a:pt x="8" y="1"/>
                </a:lnTo>
                <a:lnTo>
                  <a:pt x="7" y="0"/>
                </a:lnTo>
                <a:lnTo>
                  <a:pt x="6" y="0"/>
                </a:lnTo>
                <a:lnTo>
                  <a:pt x="5" y="0"/>
                </a:lnTo>
                <a:lnTo>
                  <a:pt x="4" y="0"/>
                </a:lnTo>
                <a:lnTo>
                  <a:pt x="3" y="0"/>
                </a:lnTo>
                <a:lnTo>
                  <a:pt x="2" y="1"/>
                </a:lnTo>
                <a:lnTo>
                  <a:pt x="1" y="1"/>
                </a:lnTo>
                <a:lnTo>
                  <a:pt x="1" y="2"/>
                </a:lnTo>
                <a:lnTo>
                  <a:pt x="0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0" y="7"/>
                </a:lnTo>
                <a:lnTo>
                  <a:pt x="1" y="8"/>
                </a:lnTo>
                <a:lnTo>
                  <a:pt x="1" y="8"/>
                </a:lnTo>
                <a:lnTo>
                  <a:pt x="2" y="9"/>
                </a:lnTo>
                <a:lnTo>
                  <a:pt x="3" y="10"/>
                </a:lnTo>
                <a:lnTo>
                  <a:pt x="4" y="10"/>
                </a:lnTo>
                <a:lnTo>
                  <a:pt x="5" y="10"/>
                </a:lnTo>
                <a:lnTo>
                  <a:pt x="6" y="10"/>
                </a:lnTo>
                <a:lnTo>
                  <a:pt x="7" y="10"/>
                </a:lnTo>
                <a:lnTo>
                  <a:pt x="8" y="9"/>
                </a:lnTo>
                <a:lnTo>
                  <a:pt x="9" y="8"/>
                </a:lnTo>
                <a:lnTo>
                  <a:pt x="9" y="8"/>
                </a:lnTo>
                <a:lnTo>
                  <a:pt x="10" y="7"/>
                </a:lnTo>
                <a:lnTo>
                  <a:pt x="10" y="6"/>
                </a:lnTo>
                <a:lnTo>
                  <a:pt x="10" y="5"/>
                </a:lnTo>
                <a:close/>
              </a:path>
            </a:pathLst>
          </a:custGeom>
          <a:solidFill>
            <a:srgbClr val="66A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Freeform 44"/>
          <p:cNvSpPr/>
          <p:nvPr/>
        </p:nvSpPr>
        <p:spPr>
          <a:xfrm>
            <a:off x="1917700" y="2019300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0" h="10">
                <a:moveTo>
                  <a:pt x="10" y="5"/>
                </a:moveTo>
                <a:lnTo>
                  <a:pt x="10" y="4"/>
                </a:lnTo>
                <a:lnTo>
                  <a:pt x="10" y="3"/>
                </a:lnTo>
                <a:lnTo>
                  <a:pt x="9" y="2"/>
                </a:lnTo>
                <a:lnTo>
                  <a:pt x="9" y="1"/>
                </a:lnTo>
                <a:lnTo>
                  <a:pt x="8" y="1"/>
                </a:lnTo>
                <a:lnTo>
                  <a:pt x="7" y="0"/>
                </a:lnTo>
                <a:lnTo>
                  <a:pt x="6" y="0"/>
                </a:lnTo>
                <a:lnTo>
                  <a:pt x="5" y="0"/>
                </a:lnTo>
                <a:lnTo>
                  <a:pt x="4" y="0"/>
                </a:lnTo>
                <a:lnTo>
                  <a:pt x="3" y="0"/>
                </a:lnTo>
                <a:lnTo>
                  <a:pt x="2" y="1"/>
                </a:lnTo>
                <a:lnTo>
                  <a:pt x="1" y="1"/>
                </a:lnTo>
                <a:lnTo>
                  <a:pt x="1" y="2"/>
                </a:lnTo>
                <a:lnTo>
                  <a:pt x="0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0" y="7"/>
                </a:lnTo>
                <a:lnTo>
                  <a:pt x="1" y="8"/>
                </a:lnTo>
                <a:lnTo>
                  <a:pt x="1" y="9"/>
                </a:lnTo>
                <a:lnTo>
                  <a:pt x="2" y="9"/>
                </a:lnTo>
                <a:lnTo>
                  <a:pt x="3" y="10"/>
                </a:lnTo>
                <a:lnTo>
                  <a:pt x="4" y="10"/>
                </a:lnTo>
                <a:lnTo>
                  <a:pt x="5" y="10"/>
                </a:lnTo>
                <a:lnTo>
                  <a:pt x="6" y="10"/>
                </a:lnTo>
                <a:lnTo>
                  <a:pt x="7" y="10"/>
                </a:lnTo>
                <a:lnTo>
                  <a:pt x="8" y="9"/>
                </a:lnTo>
                <a:lnTo>
                  <a:pt x="9" y="9"/>
                </a:lnTo>
                <a:lnTo>
                  <a:pt x="9" y="8"/>
                </a:lnTo>
                <a:lnTo>
                  <a:pt x="10" y="7"/>
                </a:lnTo>
                <a:lnTo>
                  <a:pt x="10" y="6"/>
                </a:lnTo>
                <a:lnTo>
                  <a:pt x="10" y="5"/>
                </a:lnTo>
                <a:close/>
              </a:path>
            </a:pathLst>
          </a:custGeom>
          <a:solidFill>
            <a:srgbClr val="66A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Freeform 45"/>
          <p:cNvSpPr/>
          <p:nvPr/>
        </p:nvSpPr>
        <p:spPr>
          <a:xfrm>
            <a:off x="2006600" y="2171700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0" h="10">
                <a:moveTo>
                  <a:pt x="10" y="5"/>
                </a:moveTo>
                <a:lnTo>
                  <a:pt x="10" y="4"/>
                </a:lnTo>
                <a:lnTo>
                  <a:pt x="10" y="3"/>
                </a:lnTo>
                <a:lnTo>
                  <a:pt x="9" y="2"/>
                </a:lnTo>
                <a:lnTo>
                  <a:pt x="9" y="2"/>
                </a:lnTo>
                <a:lnTo>
                  <a:pt x="8" y="1"/>
                </a:lnTo>
                <a:lnTo>
                  <a:pt x="7" y="1"/>
                </a:lnTo>
                <a:lnTo>
                  <a:pt x="6" y="0"/>
                </a:lnTo>
                <a:lnTo>
                  <a:pt x="5" y="0"/>
                </a:lnTo>
                <a:lnTo>
                  <a:pt x="4" y="0"/>
                </a:lnTo>
                <a:lnTo>
                  <a:pt x="3" y="1"/>
                </a:lnTo>
                <a:lnTo>
                  <a:pt x="2" y="1"/>
                </a:lnTo>
                <a:lnTo>
                  <a:pt x="1" y="2"/>
                </a:lnTo>
                <a:lnTo>
                  <a:pt x="1" y="2"/>
                </a:lnTo>
                <a:lnTo>
                  <a:pt x="0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0" y="7"/>
                </a:lnTo>
                <a:lnTo>
                  <a:pt x="1" y="8"/>
                </a:lnTo>
                <a:lnTo>
                  <a:pt x="1" y="9"/>
                </a:lnTo>
                <a:lnTo>
                  <a:pt x="2" y="10"/>
                </a:lnTo>
                <a:lnTo>
                  <a:pt x="3" y="10"/>
                </a:lnTo>
                <a:lnTo>
                  <a:pt x="4" y="10"/>
                </a:lnTo>
                <a:lnTo>
                  <a:pt x="5" y="10"/>
                </a:lnTo>
                <a:lnTo>
                  <a:pt x="6" y="10"/>
                </a:lnTo>
                <a:lnTo>
                  <a:pt x="7" y="10"/>
                </a:lnTo>
                <a:lnTo>
                  <a:pt x="8" y="10"/>
                </a:lnTo>
                <a:lnTo>
                  <a:pt x="9" y="9"/>
                </a:lnTo>
                <a:lnTo>
                  <a:pt x="9" y="8"/>
                </a:lnTo>
                <a:lnTo>
                  <a:pt x="10" y="7"/>
                </a:lnTo>
                <a:lnTo>
                  <a:pt x="10" y="6"/>
                </a:lnTo>
                <a:lnTo>
                  <a:pt x="10" y="5"/>
                </a:lnTo>
                <a:close/>
              </a:path>
            </a:pathLst>
          </a:custGeom>
          <a:solidFill>
            <a:srgbClr val="66A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2184400" y="2171700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0" h="10">
                <a:moveTo>
                  <a:pt x="10" y="5"/>
                </a:moveTo>
                <a:lnTo>
                  <a:pt x="10" y="4"/>
                </a:lnTo>
                <a:lnTo>
                  <a:pt x="10" y="3"/>
                </a:lnTo>
                <a:lnTo>
                  <a:pt x="9" y="2"/>
                </a:lnTo>
                <a:lnTo>
                  <a:pt x="9" y="2"/>
                </a:lnTo>
                <a:lnTo>
                  <a:pt x="8" y="1"/>
                </a:lnTo>
                <a:lnTo>
                  <a:pt x="7" y="1"/>
                </a:lnTo>
                <a:lnTo>
                  <a:pt x="6" y="0"/>
                </a:lnTo>
                <a:lnTo>
                  <a:pt x="5" y="0"/>
                </a:lnTo>
                <a:lnTo>
                  <a:pt x="4" y="0"/>
                </a:lnTo>
                <a:lnTo>
                  <a:pt x="3" y="1"/>
                </a:lnTo>
                <a:lnTo>
                  <a:pt x="2" y="1"/>
                </a:lnTo>
                <a:lnTo>
                  <a:pt x="2" y="2"/>
                </a:lnTo>
                <a:lnTo>
                  <a:pt x="1" y="2"/>
                </a:lnTo>
                <a:lnTo>
                  <a:pt x="0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0" y="7"/>
                </a:lnTo>
                <a:lnTo>
                  <a:pt x="1" y="8"/>
                </a:lnTo>
                <a:lnTo>
                  <a:pt x="2" y="9"/>
                </a:lnTo>
                <a:lnTo>
                  <a:pt x="2" y="10"/>
                </a:lnTo>
                <a:lnTo>
                  <a:pt x="3" y="10"/>
                </a:lnTo>
                <a:lnTo>
                  <a:pt x="4" y="10"/>
                </a:lnTo>
                <a:lnTo>
                  <a:pt x="5" y="10"/>
                </a:lnTo>
                <a:lnTo>
                  <a:pt x="6" y="10"/>
                </a:lnTo>
                <a:lnTo>
                  <a:pt x="7" y="10"/>
                </a:lnTo>
                <a:lnTo>
                  <a:pt x="8" y="10"/>
                </a:lnTo>
                <a:lnTo>
                  <a:pt x="9" y="9"/>
                </a:lnTo>
                <a:lnTo>
                  <a:pt x="9" y="8"/>
                </a:lnTo>
                <a:lnTo>
                  <a:pt x="10" y="7"/>
                </a:lnTo>
                <a:lnTo>
                  <a:pt x="10" y="6"/>
                </a:lnTo>
                <a:lnTo>
                  <a:pt x="10" y="5"/>
                </a:lnTo>
                <a:close/>
              </a:path>
            </a:pathLst>
          </a:custGeom>
          <a:solidFill>
            <a:srgbClr val="66A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3848100" y="1841500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0" h="10">
                <a:moveTo>
                  <a:pt x="10" y="5"/>
                </a:moveTo>
                <a:lnTo>
                  <a:pt x="10" y="4"/>
                </a:lnTo>
                <a:lnTo>
                  <a:pt x="10" y="3"/>
                </a:lnTo>
                <a:lnTo>
                  <a:pt x="9" y="2"/>
                </a:lnTo>
                <a:lnTo>
                  <a:pt x="9" y="1"/>
                </a:lnTo>
                <a:lnTo>
                  <a:pt x="8" y="1"/>
                </a:lnTo>
                <a:lnTo>
                  <a:pt x="7" y="0"/>
                </a:lnTo>
                <a:lnTo>
                  <a:pt x="6" y="0"/>
                </a:lnTo>
                <a:lnTo>
                  <a:pt x="5" y="0"/>
                </a:lnTo>
                <a:lnTo>
                  <a:pt x="4" y="0"/>
                </a:lnTo>
                <a:lnTo>
                  <a:pt x="3" y="0"/>
                </a:lnTo>
                <a:lnTo>
                  <a:pt x="2" y="1"/>
                </a:lnTo>
                <a:lnTo>
                  <a:pt x="1" y="1"/>
                </a:lnTo>
                <a:lnTo>
                  <a:pt x="1" y="2"/>
                </a:lnTo>
                <a:lnTo>
                  <a:pt x="0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0" y="7"/>
                </a:lnTo>
                <a:lnTo>
                  <a:pt x="1" y="8"/>
                </a:lnTo>
                <a:lnTo>
                  <a:pt x="1" y="9"/>
                </a:lnTo>
                <a:lnTo>
                  <a:pt x="2" y="9"/>
                </a:lnTo>
                <a:lnTo>
                  <a:pt x="3" y="10"/>
                </a:lnTo>
                <a:lnTo>
                  <a:pt x="4" y="10"/>
                </a:lnTo>
                <a:lnTo>
                  <a:pt x="5" y="10"/>
                </a:lnTo>
                <a:lnTo>
                  <a:pt x="6" y="10"/>
                </a:lnTo>
                <a:lnTo>
                  <a:pt x="7" y="10"/>
                </a:lnTo>
                <a:lnTo>
                  <a:pt x="8" y="9"/>
                </a:lnTo>
                <a:lnTo>
                  <a:pt x="9" y="9"/>
                </a:lnTo>
                <a:lnTo>
                  <a:pt x="9" y="8"/>
                </a:lnTo>
                <a:lnTo>
                  <a:pt x="10" y="7"/>
                </a:lnTo>
                <a:lnTo>
                  <a:pt x="10" y="6"/>
                </a:lnTo>
                <a:lnTo>
                  <a:pt x="10" y="5"/>
                </a:lnTo>
                <a:close/>
              </a:path>
            </a:pathLst>
          </a:custGeom>
          <a:solidFill>
            <a:srgbClr val="66A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3225800" y="1841500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0" h="10">
                <a:moveTo>
                  <a:pt x="10" y="5"/>
                </a:moveTo>
                <a:lnTo>
                  <a:pt x="10" y="4"/>
                </a:lnTo>
                <a:lnTo>
                  <a:pt x="10" y="3"/>
                </a:lnTo>
                <a:lnTo>
                  <a:pt x="9" y="2"/>
                </a:lnTo>
                <a:lnTo>
                  <a:pt x="9" y="1"/>
                </a:lnTo>
                <a:lnTo>
                  <a:pt x="8" y="1"/>
                </a:lnTo>
                <a:lnTo>
                  <a:pt x="7" y="0"/>
                </a:lnTo>
                <a:lnTo>
                  <a:pt x="6" y="0"/>
                </a:lnTo>
                <a:lnTo>
                  <a:pt x="5" y="0"/>
                </a:lnTo>
                <a:lnTo>
                  <a:pt x="4" y="0"/>
                </a:lnTo>
                <a:lnTo>
                  <a:pt x="3" y="0"/>
                </a:lnTo>
                <a:lnTo>
                  <a:pt x="2" y="1"/>
                </a:lnTo>
                <a:lnTo>
                  <a:pt x="1" y="1"/>
                </a:lnTo>
                <a:lnTo>
                  <a:pt x="1" y="2"/>
                </a:lnTo>
                <a:lnTo>
                  <a:pt x="0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0" y="7"/>
                </a:lnTo>
                <a:lnTo>
                  <a:pt x="1" y="8"/>
                </a:lnTo>
                <a:lnTo>
                  <a:pt x="1" y="9"/>
                </a:lnTo>
                <a:lnTo>
                  <a:pt x="2" y="9"/>
                </a:lnTo>
                <a:lnTo>
                  <a:pt x="3" y="10"/>
                </a:lnTo>
                <a:lnTo>
                  <a:pt x="4" y="10"/>
                </a:lnTo>
                <a:lnTo>
                  <a:pt x="5" y="10"/>
                </a:lnTo>
                <a:lnTo>
                  <a:pt x="6" y="10"/>
                </a:lnTo>
                <a:lnTo>
                  <a:pt x="7" y="10"/>
                </a:lnTo>
                <a:lnTo>
                  <a:pt x="8" y="9"/>
                </a:lnTo>
                <a:lnTo>
                  <a:pt x="9" y="9"/>
                </a:lnTo>
                <a:lnTo>
                  <a:pt x="9" y="8"/>
                </a:lnTo>
                <a:lnTo>
                  <a:pt x="10" y="7"/>
                </a:lnTo>
                <a:lnTo>
                  <a:pt x="10" y="6"/>
                </a:lnTo>
                <a:lnTo>
                  <a:pt x="10" y="5"/>
                </a:lnTo>
                <a:close/>
              </a:path>
            </a:pathLst>
          </a:custGeom>
          <a:solidFill>
            <a:srgbClr val="66A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Freeform 49"/>
          <p:cNvSpPr/>
          <p:nvPr/>
        </p:nvSpPr>
        <p:spPr>
          <a:xfrm>
            <a:off x="3848100" y="2197100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0" h="10">
                <a:moveTo>
                  <a:pt x="10" y="5"/>
                </a:moveTo>
                <a:lnTo>
                  <a:pt x="10" y="4"/>
                </a:lnTo>
                <a:lnTo>
                  <a:pt x="10" y="3"/>
                </a:lnTo>
                <a:lnTo>
                  <a:pt x="9" y="2"/>
                </a:lnTo>
                <a:lnTo>
                  <a:pt x="9" y="2"/>
                </a:lnTo>
                <a:lnTo>
                  <a:pt x="8" y="1"/>
                </a:lnTo>
                <a:lnTo>
                  <a:pt x="7" y="1"/>
                </a:lnTo>
                <a:lnTo>
                  <a:pt x="6" y="0"/>
                </a:lnTo>
                <a:lnTo>
                  <a:pt x="5" y="0"/>
                </a:lnTo>
                <a:lnTo>
                  <a:pt x="4" y="0"/>
                </a:lnTo>
                <a:lnTo>
                  <a:pt x="3" y="1"/>
                </a:lnTo>
                <a:lnTo>
                  <a:pt x="2" y="1"/>
                </a:lnTo>
                <a:lnTo>
                  <a:pt x="1" y="2"/>
                </a:lnTo>
                <a:lnTo>
                  <a:pt x="1" y="2"/>
                </a:lnTo>
                <a:lnTo>
                  <a:pt x="0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0" y="7"/>
                </a:lnTo>
                <a:lnTo>
                  <a:pt x="1" y="8"/>
                </a:lnTo>
                <a:lnTo>
                  <a:pt x="1" y="9"/>
                </a:lnTo>
                <a:lnTo>
                  <a:pt x="2" y="10"/>
                </a:lnTo>
                <a:lnTo>
                  <a:pt x="3" y="10"/>
                </a:lnTo>
                <a:lnTo>
                  <a:pt x="4" y="10"/>
                </a:lnTo>
                <a:lnTo>
                  <a:pt x="5" y="10"/>
                </a:lnTo>
                <a:lnTo>
                  <a:pt x="6" y="10"/>
                </a:lnTo>
                <a:lnTo>
                  <a:pt x="7" y="10"/>
                </a:lnTo>
                <a:lnTo>
                  <a:pt x="8" y="10"/>
                </a:lnTo>
                <a:lnTo>
                  <a:pt x="9" y="9"/>
                </a:lnTo>
                <a:lnTo>
                  <a:pt x="9" y="8"/>
                </a:lnTo>
                <a:lnTo>
                  <a:pt x="10" y="7"/>
                </a:lnTo>
                <a:lnTo>
                  <a:pt x="10" y="6"/>
                </a:lnTo>
                <a:lnTo>
                  <a:pt x="10" y="5"/>
                </a:lnTo>
                <a:close/>
              </a:path>
            </a:pathLst>
          </a:custGeom>
          <a:solidFill>
            <a:srgbClr val="66A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3530600" y="1663700"/>
            <a:ext cx="139700" cy="127000"/>
          </a:xfrm>
          <a:custGeom>
            <a:avLst/>
            <a:gdLst/>
            <a:ahLst/>
            <a:cxnLst/>
            <a:rect l="l" t="t" r="r" b="b"/>
            <a:pathLst>
              <a:path w="11" h="10">
                <a:moveTo>
                  <a:pt x="11" y="5"/>
                </a:moveTo>
                <a:lnTo>
                  <a:pt x="11" y="4"/>
                </a:lnTo>
                <a:lnTo>
                  <a:pt x="10" y="3"/>
                </a:lnTo>
                <a:lnTo>
                  <a:pt x="10" y="2"/>
                </a:lnTo>
                <a:lnTo>
                  <a:pt x="9" y="1"/>
                </a:lnTo>
                <a:lnTo>
                  <a:pt x="8" y="0"/>
                </a:lnTo>
                <a:lnTo>
                  <a:pt x="7" y="0"/>
                </a:lnTo>
                <a:lnTo>
                  <a:pt x="7" y="0"/>
                </a:lnTo>
                <a:lnTo>
                  <a:pt x="5" y="0"/>
                </a:lnTo>
                <a:lnTo>
                  <a:pt x="4" y="0"/>
                </a:lnTo>
                <a:lnTo>
                  <a:pt x="3" y="0"/>
                </a:lnTo>
                <a:lnTo>
                  <a:pt x="3" y="0"/>
                </a:lnTo>
                <a:lnTo>
                  <a:pt x="2" y="1"/>
                </a:lnTo>
                <a:lnTo>
                  <a:pt x="1" y="2"/>
                </a:lnTo>
                <a:lnTo>
                  <a:pt x="1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1" y="7"/>
                </a:lnTo>
                <a:lnTo>
                  <a:pt x="1" y="8"/>
                </a:lnTo>
                <a:lnTo>
                  <a:pt x="2" y="8"/>
                </a:lnTo>
                <a:lnTo>
                  <a:pt x="3" y="9"/>
                </a:lnTo>
                <a:lnTo>
                  <a:pt x="3" y="9"/>
                </a:lnTo>
                <a:lnTo>
                  <a:pt x="4" y="10"/>
                </a:lnTo>
                <a:lnTo>
                  <a:pt x="5" y="10"/>
                </a:lnTo>
                <a:lnTo>
                  <a:pt x="7" y="10"/>
                </a:lnTo>
                <a:lnTo>
                  <a:pt x="7" y="9"/>
                </a:lnTo>
                <a:lnTo>
                  <a:pt x="8" y="9"/>
                </a:lnTo>
                <a:lnTo>
                  <a:pt x="9" y="8"/>
                </a:lnTo>
                <a:lnTo>
                  <a:pt x="10" y="8"/>
                </a:lnTo>
                <a:lnTo>
                  <a:pt x="10" y="7"/>
                </a:lnTo>
                <a:lnTo>
                  <a:pt x="11" y="6"/>
                </a:lnTo>
                <a:lnTo>
                  <a:pt x="11" y="5"/>
                </a:lnTo>
                <a:close/>
              </a:path>
            </a:pathLst>
          </a:custGeom>
          <a:solidFill>
            <a:srgbClr val="A676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Freeform 51"/>
          <p:cNvSpPr/>
          <p:nvPr/>
        </p:nvSpPr>
        <p:spPr>
          <a:xfrm>
            <a:off x="3225800" y="2197100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0" h="10">
                <a:moveTo>
                  <a:pt x="10" y="5"/>
                </a:moveTo>
                <a:lnTo>
                  <a:pt x="10" y="4"/>
                </a:lnTo>
                <a:lnTo>
                  <a:pt x="10" y="3"/>
                </a:lnTo>
                <a:lnTo>
                  <a:pt x="9" y="2"/>
                </a:lnTo>
                <a:lnTo>
                  <a:pt x="9" y="2"/>
                </a:lnTo>
                <a:lnTo>
                  <a:pt x="8" y="1"/>
                </a:lnTo>
                <a:lnTo>
                  <a:pt x="7" y="1"/>
                </a:lnTo>
                <a:lnTo>
                  <a:pt x="6" y="0"/>
                </a:lnTo>
                <a:lnTo>
                  <a:pt x="5" y="0"/>
                </a:lnTo>
                <a:lnTo>
                  <a:pt x="4" y="0"/>
                </a:lnTo>
                <a:lnTo>
                  <a:pt x="3" y="1"/>
                </a:lnTo>
                <a:lnTo>
                  <a:pt x="2" y="1"/>
                </a:lnTo>
                <a:lnTo>
                  <a:pt x="1" y="2"/>
                </a:lnTo>
                <a:lnTo>
                  <a:pt x="1" y="2"/>
                </a:lnTo>
                <a:lnTo>
                  <a:pt x="0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0" y="7"/>
                </a:lnTo>
                <a:lnTo>
                  <a:pt x="1" y="8"/>
                </a:lnTo>
                <a:lnTo>
                  <a:pt x="1" y="9"/>
                </a:lnTo>
                <a:lnTo>
                  <a:pt x="2" y="10"/>
                </a:lnTo>
                <a:lnTo>
                  <a:pt x="3" y="10"/>
                </a:lnTo>
                <a:lnTo>
                  <a:pt x="4" y="10"/>
                </a:lnTo>
                <a:lnTo>
                  <a:pt x="5" y="10"/>
                </a:lnTo>
                <a:lnTo>
                  <a:pt x="6" y="10"/>
                </a:lnTo>
                <a:lnTo>
                  <a:pt x="7" y="10"/>
                </a:lnTo>
                <a:lnTo>
                  <a:pt x="8" y="10"/>
                </a:lnTo>
                <a:lnTo>
                  <a:pt x="9" y="9"/>
                </a:lnTo>
                <a:lnTo>
                  <a:pt x="9" y="8"/>
                </a:lnTo>
                <a:lnTo>
                  <a:pt x="10" y="7"/>
                </a:lnTo>
                <a:lnTo>
                  <a:pt x="10" y="6"/>
                </a:lnTo>
                <a:lnTo>
                  <a:pt x="10" y="5"/>
                </a:lnTo>
                <a:close/>
              </a:path>
            </a:pathLst>
          </a:custGeom>
          <a:solidFill>
            <a:srgbClr val="A676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3530600" y="2374900"/>
            <a:ext cx="139700" cy="139700"/>
          </a:xfrm>
          <a:custGeom>
            <a:avLst/>
            <a:gdLst/>
            <a:ahLst/>
            <a:cxnLst/>
            <a:rect l="l" t="t" r="r" b="b"/>
            <a:pathLst>
              <a:path w="11" h="11">
                <a:moveTo>
                  <a:pt x="11" y="5"/>
                </a:moveTo>
                <a:lnTo>
                  <a:pt x="11" y="4"/>
                </a:lnTo>
                <a:lnTo>
                  <a:pt x="10" y="3"/>
                </a:lnTo>
                <a:lnTo>
                  <a:pt x="10" y="3"/>
                </a:lnTo>
                <a:lnTo>
                  <a:pt x="9" y="2"/>
                </a:lnTo>
                <a:lnTo>
                  <a:pt x="8" y="1"/>
                </a:lnTo>
                <a:lnTo>
                  <a:pt x="7" y="1"/>
                </a:lnTo>
                <a:lnTo>
                  <a:pt x="7" y="0"/>
                </a:lnTo>
                <a:lnTo>
                  <a:pt x="5" y="0"/>
                </a:lnTo>
                <a:lnTo>
                  <a:pt x="4" y="0"/>
                </a:lnTo>
                <a:lnTo>
                  <a:pt x="3" y="1"/>
                </a:lnTo>
                <a:lnTo>
                  <a:pt x="3" y="1"/>
                </a:lnTo>
                <a:lnTo>
                  <a:pt x="2" y="2"/>
                </a:lnTo>
                <a:lnTo>
                  <a:pt x="1" y="3"/>
                </a:lnTo>
                <a:lnTo>
                  <a:pt x="1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1" y="7"/>
                </a:lnTo>
                <a:lnTo>
                  <a:pt x="1" y="8"/>
                </a:lnTo>
                <a:lnTo>
                  <a:pt x="2" y="9"/>
                </a:lnTo>
                <a:lnTo>
                  <a:pt x="3" y="10"/>
                </a:lnTo>
                <a:lnTo>
                  <a:pt x="3" y="10"/>
                </a:lnTo>
                <a:lnTo>
                  <a:pt x="4" y="10"/>
                </a:lnTo>
                <a:lnTo>
                  <a:pt x="5" y="11"/>
                </a:lnTo>
                <a:lnTo>
                  <a:pt x="7" y="10"/>
                </a:lnTo>
                <a:lnTo>
                  <a:pt x="7" y="10"/>
                </a:lnTo>
                <a:lnTo>
                  <a:pt x="8" y="10"/>
                </a:lnTo>
                <a:lnTo>
                  <a:pt x="9" y="9"/>
                </a:lnTo>
                <a:lnTo>
                  <a:pt x="10" y="8"/>
                </a:lnTo>
                <a:lnTo>
                  <a:pt x="10" y="7"/>
                </a:lnTo>
                <a:lnTo>
                  <a:pt x="11" y="6"/>
                </a:lnTo>
                <a:lnTo>
                  <a:pt x="11" y="5"/>
                </a:lnTo>
                <a:close/>
              </a:path>
            </a:pathLst>
          </a:custGeom>
          <a:solidFill>
            <a:srgbClr val="A676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2880003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6" name="Picture 5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57" name="Picture 5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58" name="TextBox 57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GA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variants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8000" y="359888"/>
            <a:ext cx="567739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1">
                <a:solidFill>
                  <a:srgbClr val="003373"/>
                </a:solidFill>
                <a:latin typeface="Josefin Sans"/>
              </a:rPr>
              <a:t>Steady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state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genetic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algorithm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(SSGA)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60057" y="724584"/>
            <a:ext cx="532533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once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offspring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created,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decision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whether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parent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offspring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37095" y="940426"/>
            <a:ext cx="51483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survives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next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generation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856751" y="2573415"/>
            <a:ext cx="3928644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Generation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285819" y="2573415"/>
            <a:ext cx="2499576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Generation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898769" y="3150930"/>
            <a:ext cx="88662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623584" y="3150706"/>
            <a:ext cx="16181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85</a:t>
            </a:r>
          </a:p>
        </p:txBody>
      </p:sp>
    </p:spTree>
  </p:cSld>
  <p:clrMapOvr>
    <a:masterClrMapping/>
  </p:clrMapOvr>
</p:sld>
</file>

<file path=ppt/slides/slide2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Freeform 35"/>
          <p:cNvSpPr/>
          <p:nvPr/>
        </p:nvSpPr>
        <p:spPr>
          <a:xfrm>
            <a:off x="2400300" y="1841500"/>
            <a:ext cx="139700" cy="127000"/>
          </a:xfrm>
          <a:custGeom>
            <a:avLst/>
            <a:gdLst/>
            <a:ahLst/>
            <a:cxnLst/>
            <a:rect l="l" t="t" r="r" b="b"/>
            <a:pathLst>
              <a:path w="11" h="10">
                <a:moveTo>
                  <a:pt x="11" y="5"/>
                </a:moveTo>
                <a:lnTo>
                  <a:pt x="11" y="4"/>
                </a:lnTo>
                <a:lnTo>
                  <a:pt x="10" y="3"/>
                </a:lnTo>
                <a:lnTo>
                  <a:pt x="10" y="2"/>
                </a:lnTo>
                <a:lnTo>
                  <a:pt x="9" y="1"/>
                </a:lnTo>
                <a:lnTo>
                  <a:pt x="9" y="1"/>
                </a:lnTo>
                <a:lnTo>
                  <a:pt x="8" y="0"/>
                </a:lnTo>
                <a:lnTo>
                  <a:pt x="7" y="0"/>
                </a:lnTo>
                <a:lnTo>
                  <a:pt x="6" y="0"/>
                </a:lnTo>
                <a:lnTo>
                  <a:pt x="5" y="0"/>
                </a:lnTo>
                <a:lnTo>
                  <a:pt x="4" y="0"/>
                </a:lnTo>
                <a:lnTo>
                  <a:pt x="3" y="1"/>
                </a:lnTo>
                <a:lnTo>
                  <a:pt x="2" y="1"/>
                </a:lnTo>
                <a:lnTo>
                  <a:pt x="1" y="2"/>
                </a:lnTo>
                <a:lnTo>
                  <a:pt x="1" y="3"/>
                </a:lnTo>
                <a:lnTo>
                  <a:pt x="1" y="4"/>
                </a:lnTo>
                <a:lnTo>
                  <a:pt x="0" y="5"/>
                </a:lnTo>
                <a:lnTo>
                  <a:pt x="1" y="6"/>
                </a:lnTo>
                <a:lnTo>
                  <a:pt x="1" y="7"/>
                </a:lnTo>
                <a:lnTo>
                  <a:pt x="1" y="8"/>
                </a:lnTo>
                <a:lnTo>
                  <a:pt x="2" y="9"/>
                </a:lnTo>
                <a:lnTo>
                  <a:pt x="3" y="9"/>
                </a:lnTo>
                <a:lnTo>
                  <a:pt x="4" y="10"/>
                </a:lnTo>
                <a:lnTo>
                  <a:pt x="5" y="10"/>
                </a:lnTo>
                <a:lnTo>
                  <a:pt x="6" y="10"/>
                </a:lnTo>
                <a:lnTo>
                  <a:pt x="7" y="10"/>
                </a:lnTo>
                <a:lnTo>
                  <a:pt x="8" y="10"/>
                </a:lnTo>
                <a:lnTo>
                  <a:pt x="9" y="9"/>
                </a:lnTo>
                <a:lnTo>
                  <a:pt x="9" y="9"/>
                </a:lnTo>
                <a:lnTo>
                  <a:pt x="10" y="8"/>
                </a:lnTo>
                <a:lnTo>
                  <a:pt x="10" y="7"/>
                </a:lnTo>
                <a:lnTo>
                  <a:pt x="11" y="6"/>
                </a:lnTo>
                <a:lnTo>
                  <a:pt x="11" y="5"/>
                </a:lnTo>
                <a:close/>
              </a:path>
            </a:pathLst>
          </a:custGeom>
          <a:solidFill>
            <a:srgbClr val="A676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2095500" y="1663700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0" h="10">
                <a:moveTo>
                  <a:pt x="10" y="5"/>
                </a:moveTo>
                <a:lnTo>
                  <a:pt x="10" y="4"/>
                </a:lnTo>
                <a:lnTo>
                  <a:pt x="10" y="3"/>
                </a:lnTo>
                <a:lnTo>
                  <a:pt x="9" y="2"/>
                </a:lnTo>
                <a:lnTo>
                  <a:pt x="9" y="1"/>
                </a:lnTo>
                <a:lnTo>
                  <a:pt x="8" y="0"/>
                </a:lnTo>
                <a:lnTo>
                  <a:pt x="7" y="0"/>
                </a:lnTo>
                <a:lnTo>
                  <a:pt x="6" y="0"/>
                </a:lnTo>
                <a:lnTo>
                  <a:pt x="5" y="0"/>
                </a:lnTo>
                <a:lnTo>
                  <a:pt x="4" y="0"/>
                </a:lnTo>
                <a:lnTo>
                  <a:pt x="3" y="0"/>
                </a:lnTo>
                <a:lnTo>
                  <a:pt x="2" y="0"/>
                </a:lnTo>
                <a:lnTo>
                  <a:pt x="1" y="1"/>
                </a:lnTo>
                <a:lnTo>
                  <a:pt x="1" y="2"/>
                </a:lnTo>
                <a:lnTo>
                  <a:pt x="0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0" y="7"/>
                </a:lnTo>
                <a:lnTo>
                  <a:pt x="1" y="8"/>
                </a:lnTo>
                <a:lnTo>
                  <a:pt x="1" y="8"/>
                </a:lnTo>
                <a:lnTo>
                  <a:pt x="2" y="9"/>
                </a:lnTo>
                <a:lnTo>
                  <a:pt x="3" y="9"/>
                </a:lnTo>
                <a:lnTo>
                  <a:pt x="4" y="10"/>
                </a:lnTo>
                <a:lnTo>
                  <a:pt x="5" y="10"/>
                </a:lnTo>
                <a:lnTo>
                  <a:pt x="6" y="10"/>
                </a:lnTo>
                <a:lnTo>
                  <a:pt x="7" y="9"/>
                </a:lnTo>
                <a:lnTo>
                  <a:pt x="8" y="9"/>
                </a:lnTo>
                <a:lnTo>
                  <a:pt x="9" y="8"/>
                </a:lnTo>
                <a:lnTo>
                  <a:pt x="9" y="8"/>
                </a:lnTo>
                <a:lnTo>
                  <a:pt x="10" y="7"/>
                </a:lnTo>
                <a:lnTo>
                  <a:pt x="10" y="6"/>
                </a:lnTo>
                <a:lnTo>
                  <a:pt x="10" y="5"/>
                </a:lnTo>
                <a:close/>
              </a:path>
            </a:pathLst>
          </a:custGeom>
          <a:solidFill>
            <a:srgbClr val="A676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1778000" y="1841500"/>
            <a:ext cx="139700" cy="127000"/>
          </a:xfrm>
          <a:custGeom>
            <a:avLst/>
            <a:gdLst/>
            <a:ahLst/>
            <a:cxnLst/>
            <a:rect l="l" t="t" r="r" b="b"/>
            <a:pathLst>
              <a:path w="11" h="10">
                <a:moveTo>
                  <a:pt x="11" y="5"/>
                </a:moveTo>
                <a:lnTo>
                  <a:pt x="11" y="4"/>
                </a:lnTo>
                <a:lnTo>
                  <a:pt x="10" y="3"/>
                </a:lnTo>
                <a:lnTo>
                  <a:pt x="10" y="2"/>
                </a:lnTo>
                <a:lnTo>
                  <a:pt x="9" y="1"/>
                </a:lnTo>
                <a:lnTo>
                  <a:pt x="8" y="1"/>
                </a:lnTo>
                <a:lnTo>
                  <a:pt x="8" y="0"/>
                </a:lnTo>
                <a:lnTo>
                  <a:pt x="7" y="0"/>
                </a:lnTo>
                <a:lnTo>
                  <a:pt x="6" y="0"/>
                </a:lnTo>
                <a:lnTo>
                  <a:pt x="4" y="0"/>
                </a:lnTo>
                <a:lnTo>
                  <a:pt x="4" y="0"/>
                </a:lnTo>
                <a:lnTo>
                  <a:pt x="3" y="1"/>
                </a:lnTo>
                <a:lnTo>
                  <a:pt x="2" y="1"/>
                </a:lnTo>
                <a:lnTo>
                  <a:pt x="1" y="2"/>
                </a:lnTo>
                <a:lnTo>
                  <a:pt x="1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1" y="7"/>
                </a:lnTo>
                <a:lnTo>
                  <a:pt x="1" y="8"/>
                </a:lnTo>
                <a:lnTo>
                  <a:pt x="2" y="9"/>
                </a:lnTo>
                <a:lnTo>
                  <a:pt x="3" y="9"/>
                </a:lnTo>
                <a:lnTo>
                  <a:pt x="4" y="10"/>
                </a:lnTo>
                <a:lnTo>
                  <a:pt x="4" y="10"/>
                </a:lnTo>
                <a:lnTo>
                  <a:pt x="6" y="10"/>
                </a:lnTo>
                <a:lnTo>
                  <a:pt x="7" y="10"/>
                </a:lnTo>
                <a:lnTo>
                  <a:pt x="8" y="10"/>
                </a:lnTo>
                <a:lnTo>
                  <a:pt x="8" y="9"/>
                </a:lnTo>
                <a:lnTo>
                  <a:pt x="9" y="9"/>
                </a:lnTo>
                <a:lnTo>
                  <a:pt x="10" y="8"/>
                </a:lnTo>
                <a:lnTo>
                  <a:pt x="10" y="7"/>
                </a:lnTo>
                <a:lnTo>
                  <a:pt x="11" y="6"/>
                </a:lnTo>
                <a:lnTo>
                  <a:pt x="11" y="5"/>
                </a:lnTo>
                <a:close/>
              </a:path>
            </a:pathLst>
          </a:custGeom>
          <a:solidFill>
            <a:srgbClr val="A676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Freeform 38"/>
          <p:cNvSpPr/>
          <p:nvPr/>
        </p:nvSpPr>
        <p:spPr>
          <a:xfrm>
            <a:off x="1778000" y="2197100"/>
            <a:ext cx="139700" cy="127000"/>
          </a:xfrm>
          <a:custGeom>
            <a:avLst/>
            <a:gdLst/>
            <a:ahLst/>
            <a:cxnLst/>
            <a:rect l="l" t="t" r="r" b="b"/>
            <a:pathLst>
              <a:path w="11" h="10">
                <a:moveTo>
                  <a:pt x="11" y="5"/>
                </a:moveTo>
                <a:lnTo>
                  <a:pt x="11" y="4"/>
                </a:lnTo>
                <a:lnTo>
                  <a:pt x="10" y="3"/>
                </a:lnTo>
                <a:lnTo>
                  <a:pt x="10" y="2"/>
                </a:lnTo>
                <a:lnTo>
                  <a:pt x="9" y="2"/>
                </a:lnTo>
                <a:lnTo>
                  <a:pt x="8" y="1"/>
                </a:lnTo>
                <a:lnTo>
                  <a:pt x="8" y="1"/>
                </a:lnTo>
                <a:lnTo>
                  <a:pt x="7" y="0"/>
                </a:lnTo>
                <a:lnTo>
                  <a:pt x="6" y="0"/>
                </a:lnTo>
                <a:lnTo>
                  <a:pt x="4" y="0"/>
                </a:lnTo>
                <a:lnTo>
                  <a:pt x="4" y="1"/>
                </a:lnTo>
                <a:lnTo>
                  <a:pt x="3" y="1"/>
                </a:lnTo>
                <a:lnTo>
                  <a:pt x="2" y="2"/>
                </a:lnTo>
                <a:lnTo>
                  <a:pt x="1" y="2"/>
                </a:lnTo>
                <a:lnTo>
                  <a:pt x="1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1" y="7"/>
                </a:lnTo>
                <a:lnTo>
                  <a:pt x="1" y="8"/>
                </a:lnTo>
                <a:lnTo>
                  <a:pt x="2" y="9"/>
                </a:lnTo>
                <a:lnTo>
                  <a:pt x="3" y="10"/>
                </a:lnTo>
                <a:lnTo>
                  <a:pt x="4" y="10"/>
                </a:lnTo>
                <a:lnTo>
                  <a:pt x="4" y="10"/>
                </a:lnTo>
                <a:lnTo>
                  <a:pt x="6" y="10"/>
                </a:lnTo>
                <a:lnTo>
                  <a:pt x="7" y="10"/>
                </a:lnTo>
                <a:lnTo>
                  <a:pt x="8" y="10"/>
                </a:lnTo>
                <a:lnTo>
                  <a:pt x="8" y="10"/>
                </a:lnTo>
                <a:lnTo>
                  <a:pt x="9" y="9"/>
                </a:lnTo>
                <a:lnTo>
                  <a:pt x="10" y="8"/>
                </a:lnTo>
                <a:lnTo>
                  <a:pt x="10" y="7"/>
                </a:lnTo>
                <a:lnTo>
                  <a:pt x="11" y="6"/>
                </a:lnTo>
                <a:lnTo>
                  <a:pt x="11" y="5"/>
                </a:lnTo>
                <a:close/>
              </a:path>
            </a:pathLst>
          </a:custGeom>
          <a:solidFill>
            <a:srgbClr val="A676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2095500" y="2374900"/>
            <a:ext cx="127000" cy="139700"/>
          </a:xfrm>
          <a:custGeom>
            <a:avLst/>
            <a:gdLst/>
            <a:ahLst/>
            <a:cxnLst/>
            <a:rect l="l" t="t" r="r" b="b"/>
            <a:pathLst>
              <a:path w="10" h="11">
                <a:moveTo>
                  <a:pt x="10" y="5"/>
                </a:moveTo>
                <a:lnTo>
                  <a:pt x="10" y="4"/>
                </a:lnTo>
                <a:lnTo>
                  <a:pt x="10" y="3"/>
                </a:lnTo>
                <a:lnTo>
                  <a:pt x="9" y="3"/>
                </a:lnTo>
                <a:lnTo>
                  <a:pt x="9" y="2"/>
                </a:lnTo>
                <a:lnTo>
                  <a:pt x="8" y="1"/>
                </a:lnTo>
                <a:lnTo>
                  <a:pt x="7" y="1"/>
                </a:lnTo>
                <a:lnTo>
                  <a:pt x="6" y="0"/>
                </a:lnTo>
                <a:lnTo>
                  <a:pt x="5" y="0"/>
                </a:lnTo>
                <a:lnTo>
                  <a:pt x="4" y="0"/>
                </a:lnTo>
                <a:lnTo>
                  <a:pt x="3" y="1"/>
                </a:lnTo>
                <a:lnTo>
                  <a:pt x="2" y="1"/>
                </a:lnTo>
                <a:lnTo>
                  <a:pt x="1" y="2"/>
                </a:lnTo>
                <a:lnTo>
                  <a:pt x="1" y="3"/>
                </a:lnTo>
                <a:lnTo>
                  <a:pt x="0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0" y="7"/>
                </a:lnTo>
                <a:lnTo>
                  <a:pt x="1" y="8"/>
                </a:lnTo>
                <a:lnTo>
                  <a:pt x="1" y="9"/>
                </a:lnTo>
                <a:lnTo>
                  <a:pt x="2" y="10"/>
                </a:lnTo>
                <a:lnTo>
                  <a:pt x="3" y="10"/>
                </a:lnTo>
                <a:lnTo>
                  <a:pt x="4" y="10"/>
                </a:lnTo>
                <a:lnTo>
                  <a:pt x="5" y="11"/>
                </a:lnTo>
                <a:lnTo>
                  <a:pt x="6" y="10"/>
                </a:lnTo>
                <a:lnTo>
                  <a:pt x="7" y="10"/>
                </a:lnTo>
                <a:lnTo>
                  <a:pt x="8" y="10"/>
                </a:lnTo>
                <a:lnTo>
                  <a:pt x="9" y="9"/>
                </a:lnTo>
                <a:lnTo>
                  <a:pt x="9" y="8"/>
                </a:lnTo>
                <a:lnTo>
                  <a:pt x="10" y="7"/>
                </a:lnTo>
                <a:lnTo>
                  <a:pt x="10" y="6"/>
                </a:lnTo>
                <a:lnTo>
                  <a:pt x="10" y="5"/>
                </a:lnTo>
                <a:close/>
              </a:path>
            </a:pathLst>
          </a:custGeom>
          <a:solidFill>
            <a:srgbClr val="A676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2400300" y="2197100"/>
            <a:ext cx="139700" cy="127000"/>
          </a:xfrm>
          <a:custGeom>
            <a:avLst/>
            <a:gdLst/>
            <a:ahLst/>
            <a:cxnLst/>
            <a:rect l="l" t="t" r="r" b="b"/>
            <a:pathLst>
              <a:path w="11" h="10">
                <a:moveTo>
                  <a:pt x="11" y="5"/>
                </a:moveTo>
                <a:lnTo>
                  <a:pt x="11" y="4"/>
                </a:lnTo>
                <a:lnTo>
                  <a:pt x="10" y="3"/>
                </a:lnTo>
                <a:lnTo>
                  <a:pt x="10" y="2"/>
                </a:lnTo>
                <a:lnTo>
                  <a:pt x="9" y="2"/>
                </a:lnTo>
                <a:lnTo>
                  <a:pt x="9" y="1"/>
                </a:lnTo>
                <a:lnTo>
                  <a:pt x="8" y="1"/>
                </a:lnTo>
                <a:lnTo>
                  <a:pt x="7" y="0"/>
                </a:lnTo>
                <a:lnTo>
                  <a:pt x="6" y="0"/>
                </a:lnTo>
                <a:lnTo>
                  <a:pt x="5" y="0"/>
                </a:lnTo>
                <a:lnTo>
                  <a:pt x="4" y="1"/>
                </a:lnTo>
                <a:lnTo>
                  <a:pt x="3" y="1"/>
                </a:lnTo>
                <a:lnTo>
                  <a:pt x="2" y="2"/>
                </a:lnTo>
                <a:lnTo>
                  <a:pt x="1" y="2"/>
                </a:lnTo>
                <a:lnTo>
                  <a:pt x="1" y="3"/>
                </a:lnTo>
                <a:lnTo>
                  <a:pt x="1" y="4"/>
                </a:lnTo>
                <a:lnTo>
                  <a:pt x="0" y="5"/>
                </a:lnTo>
                <a:lnTo>
                  <a:pt x="1" y="6"/>
                </a:lnTo>
                <a:lnTo>
                  <a:pt x="1" y="7"/>
                </a:lnTo>
                <a:lnTo>
                  <a:pt x="1" y="8"/>
                </a:lnTo>
                <a:lnTo>
                  <a:pt x="2" y="9"/>
                </a:lnTo>
                <a:lnTo>
                  <a:pt x="3" y="10"/>
                </a:lnTo>
                <a:lnTo>
                  <a:pt x="4" y="10"/>
                </a:lnTo>
                <a:lnTo>
                  <a:pt x="5" y="10"/>
                </a:lnTo>
                <a:lnTo>
                  <a:pt x="6" y="10"/>
                </a:lnTo>
                <a:lnTo>
                  <a:pt x="7" y="10"/>
                </a:lnTo>
                <a:lnTo>
                  <a:pt x="8" y="10"/>
                </a:lnTo>
                <a:lnTo>
                  <a:pt x="9" y="10"/>
                </a:lnTo>
                <a:lnTo>
                  <a:pt x="9" y="9"/>
                </a:lnTo>
                <a:lnTo>
                  <a:pt x="10" y="8"/>
                </a:lnTo>
                <a:lnTo>
                  <a:pt x="10" y="7"/>
                </a:lnTo>
                <a:lnTo>
                  <a:pt x="11" y="6"/>
                </a:lnTo>
                <a:lnTo>
                  <a:pt x="11" y="5"/>
                </a:lnTo>
                <a:close/>
              </a:path>
            </a:pathLst>
          </a:custGeom>
          <a:solidFill>
            <a:srgbClr val="A676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Freeform 41"/>
          <p:cNvSpPr/>
          <p:nvPr/>
        </p:nvSpPr>
        <p:spPr>
          <a:xfrm>
            <a:off x="2273300" y="2019300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0" h="10">
                <a:moveTo>
                  <a:pt x="10" y="5"/>
                </a:moveTo>
                <a:lnTo>
                  <a:pt x="10" y="4"/>
                </a:lnTo>
                <a:lnTo>
                  <a:pt x="10" y="3"/>
                </a:lnTo>
                <a:lnTo>
                  <a:pt x="10" y="2"/>
                </a:lnTo>
                <a:lnTo>
                  <a:pt x="9" y="1"/>
                </a:lnTo>
                <a:lnTo>
                  <a:pt x="8" y="1"/>
                </a:lnTo>
                <a:lnTo>
                  <a:pt x="7" y="0"/>
                </a:lnTo>
                <a:lnTo>
                  <a:pt x="6" y="0"/>
                </a:lnTo>
                <a:lnTo>
                  <a:pt x="5" y="0"/>
                </a:lnTo>
                <a:lnTo>
                  <a:pt x="4" y="0"/>
                </a:lnTo>
                <a:lnTo>
                  <a:pt x="3" y="0"/>
                </a:lnTo>
                <a:lnTo>
                  <a:pt x="2" y="1"/>
                </a:lnTo>
                <a:lnTo>
                  <a:pt x="2" y="1"/>
                </a:lnTo>
                <a:lnTo>
                  <a:pt x="1" y="2"/>
                </a:lnTo>
                <a:lnTo>
                  <a:pt x="1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1" y="7"/>
                </a:lnTo>
                <a:lnTo>
                  <a:pt x="1" y="8"/>
                </a:lnTo>
                <a:lnTo>
                  <a:pt x="2" y="9"/>
                </a:lnTo>
                <a:lnTo>
                  <a:pt x="2" y="9"/>
                </a:lnTo>
                <a:lnTo>
                  <a:pt x="3" y="10"/>
                </a:lnTo>
                <a:lnTo>
                  <a:pt x="4" y="10"/>
                </a:lnTo>
                <a:lnTo>
                  <a:pt x="5" y="10"/>
                </a:lnTo>
                <a:lnTo>
                  <a:pt x="6" y="10"/>
                </a:lnTo>
                <a:lnTo>
                  <a:pt x="7" y="10"/>
                </a:lnTo>
                <a:lnTo>
                  <a:pt x="8" y="9"/>
                </a:lnTo>
                <a:lnTo>
                  <a:pt x="9" y="9"/>
                </a:lnTo>
                <a:lnTo>
                  <a:pt x="10" y="8"/>
                </a:lnTo>
                <a:lnTo>
                  <a:pt x="10" y="7"/>
                </a:lnTo>
                <a:lnTo>
                  <a:pt x="10" y="6"/>
                </a:lnTo>
                <a:lnTo>
                  <a:pt x="10" y="5"/>
                </a:lnTo>
                <a:close/>
              </a:path>
            </a:pathLst>
          </a:custGeom>
          <a:solidFill>
            <a:srgbClr val="66A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Freeform 42"/>
          <p:cNvSpPr/>
          <p:nvPr/>
        </p:nvSpPr>
        <p:spPr>
          <a:xfrm>
            <a:off x="2184400" y="1866900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0" h="10">
                <a:moveTo>
                  <a:pt x="10" y="5"/>
                </a:moveTo>
                <a:lnTo>
                  <a:pt x="10" y="4"/>
                </a:lnTo>
                <a:lnTo>
                  <a:pt x="10" y="3"/>
                </a:lnTo>
                <a:lnTo>
                  <a:pt x="9" y="2"/>
                </a:lnTo>
                <a:lnTo>
                  <a:pt x="9" y="1"/>
                </a:lnTo>
                <a:lnTo>
                  <a:pt x="8" y="1"/>
                </a:lnTo>
                <a:lnTo>
                  <a:pt x="7" y="0"/>
                </a:lnTo>
                <a:lnTo>
                  <a:pt x="6" y="0"/>
                </a:lnTo>
                <a:lnTo>
                  <a:pt x="5" y="0"/>
                </a:lnTo>
                <a:lnTo>
                  <a:pt x="4" y="0"/>
                </a:lnTo>
                <a:lnTo>
                  <a:pt x="3" y="0"/>
                </a:lnTo>
                <a:lnTo>
                  <a:pt x="2" y="1"/>
                </a:lnTo>
                <a:lnTo>
                  <a:pt x="2" y="1"/>
                </a:lnTo>
                <a:lnTo>
                  <a:pt x="1" y="2"/>
                </a:lnTo>
                <a:lnTo>
                  <a:pt x="0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0" y="7"/>
                </a:lnTo>
                <a:lnTo>
                  <a:pt x="1" y="8"/>
                </a:lnTo>
                <a:lnTo>
                  <a:pt x="2" y="8"/>
                </a:lnTo>
                <a:lnTo>
                  <a:pt x="2" y="9"/>
                </a:lnTo>
                <a:lnTo>
                  <a:pt x="3" y="10"/>
                </a:lnTo>
                <a:lnTo>
                  <a:pt x="4" y="10"/>
                </a:lnTo>
                <a:lnTo>
                  <a:pt x="5" y="10"/>
                </a:lnTo>
                <a:lnTo>
                  <a:pt x="6" y="10"/>
                </a:lnTo>
                <a:lnTo>
                  <a:pt x="7" y="10"/>
                </a:lnTo>
                <a:lnTo>
                  <a:pt x="8" y="9"/>
                </a:lnTo>
                <a:lnTo>
                  <a:pt x="9" y="8"/>
                </a:lnTo>
                <a:lnTo>
                  <a:pt x="9" y="8"/>
                </a:lnTo>
                <a:lnTo>
                  <a:pt x="10" y="7"/>
                </a:lnTo>
                <a:lnTo>
                  <a:pt x="10" y="6"/>
                </a:lnTo>
                <a:lnTo>
                  <a:pt x="10" y="5"/>
                </a:lnTo>
                <a:close/>
              </a:path>
            </a:pathLst>
          </a:custGeom>
          <a:solidFill>
            <a:srgbClr val="66A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Freeform 43"/>
          <p:cNvSpPr/>
          <p:nvPr/>
        </p:nvSpPr>
        <p:spPr>
          <a:xfrm>
            <a:off x="2006600" y="1866900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0" h="10">
                <a:moveTo>
                  <a:pt x="10" y="5"/>
                </a:moveTo>
                <a:lnTo>
                  <a:pt x="10" y="4"/>
                </a:lnTo>
                <a:lnTo>
                  <a:pt x="10" y="3"/>
                </a:lnTo>
                <a:lnTo>
                  <a:pt x="9" y="2"/>
                </a:lnTo>
                <a:lnTo>
                  <a:pt x="9" y="1"/>
                </a:lnTo>
                <a:lnTo>
                  <a:pt x="8" y="1"/>
                </a:lnTo>
                <a:lnTo>
                  <a:pt x="7" y="0"/>
                </a:lnTo>
                <a:lnTo>
                  <a:pt x="6" y="0"/>
                </a:lnTo>
                <a:lnTo>
                  <a:pt x="5" y="0"/>
                </a:lnTo>
                <a:lnTo>
                  <a:pt x="4" y="0"/>
                </a:lnTo>
                <a:lnTo>
                  <a:pt x="3" y="0"/>
                </a:lnTo>
                <a:lnTo>
                  <a:pt x="2" y="1"/>
                </a:lnTo>
                <a:lnTo>
                  <a:pt x="1" y="1"/>
                </a:lnTo>
                <a:lnTo>
                  <a:pt x="1" y="2"/>
                </a:lnTo>
                <a:lnTo>
                  <a:pt x="0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0" y="7"/>
                </a:lnTo>
                <a:lnTo>
                  <a:pt x="1" y="8"/>
                </a:lnTo>
                <a:lnTo>
                  <a:pt x="1" y="8"/>
                </a:lnTo>
                <a:lnTo>
                  <a:pt x="2" y="9"/>
                </a:lnTo>
                <a:lnTo>
                  <a:pt x="3" y="10"/>
                </a:lnTo>
                <a:lnTo>
                  <a:pt x="4" y="10"/>
                </a:lnTo>
                <a:lnTo>
                  <a:pt x="5" y="10"/>
                </a:lnTo>
                <a:lnTo>
                  <a:pt x="6" y="10"/>
                </a:lnTo>
                <a:lnTo>
                  <a:pt x="7" y="10"/>
                </a:lnTo>
                <a:lnTo>
                  <a:pt x="8" y="9"/>
                </a:lnTo>
                <a:lnTo>
                  <a:pt x="9" y="8"/>
                </a:lnTo>
                <a:lnTo>
                  <a:pt x="9" y="8"/>
                </a:lnTo>
                <a:lnTo>
                  <a:pt x="10" y="7"/>
                </a:lnTo>
                <a:lnTo>
                  <a:pt x="10" y="6"/>
                </a:lnTo>
                <a:lnTo>
                  <a:pt x="10" y="5"/>
                </a:lnTo>
                <a:close/>
              </a:path>
            </a:pathLst>
          </a:custGeom>
          <a:solidFill>
            <a:srgbClr val="66A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Freeform 44"/>
          <p:cNvSpPr/>
          <p:nvPr/>
        </p:nvSpPr>
        <p:spPr>
          <a:xfrm>
            <a:off x="1917700" y="2019300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0" h="10">
                <a:moveTo>
                  <a:pt x="10" y="5"/>
                </a:moveTo>
                <a:lnTo>
                  <a:pt x="10" y="4"/>
                </a:lnTo>
                <a:lnTo>
                  <a:pt x="10" y="3"/>
                </a:lnTo>
                <a:lnTo>
                  <a:pt x="9" y="2"/>
                </a:lnTo>
                <a:lnTo>
                  <a:pt x="9" y="1"/>
                </a:lnTo>
                <a:lnTo>
                  <a:pt x="8" y="1"/>
                </a:lnTo>
                <a:lnTo>
                  <a:pt x="7" y="0"/>
                </a:lnTo>
                <a:lnTo>
                  <a:pt x="6" y="0"/>
                </a:lnTo>
                <a:lnTo>
                  <a:pt x="5" y="0"/>
                </a:lnTo>
                <a:lnTo>
                  <a:pt x="4" y="0"/>
                </a:lnTo>
                <a:lnTo>
                  <a:pt x="3" y="0"/>
                </a:lnTo>
                <a:lnTo>
                  <a:pt x="2" y="1"/>
                </a:lnTo>
                <a:lnTo>
                  <a:pt x="1" y="1"/>
                </a:lnTo>
                <a:lnTo>
                  <a:pt x="1" y="2"/>
                </a:lnTo>
                <a:lnTo>
                  <a:pt x="0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0" y="7"/>
                </a:lnTo>
                <a:lnTo>
                  <a:pt x="1" y="8"/>
                </a:lnTo>
                <a:lnTo>
                  <a:pt x="1" y="9"/>
                </a:lnTo>
                <a:lnTo>
                  <a:pt x="2" y="9"/>
                </a:lnTo>
                <a:lnTo>
                  <a:pt x="3" y="10"/>
                </a:lnTo>
                <a:lnTo>
                  <a:pt x="4" y="10"/>
                </a:lnTo>
                <a:lnTo>
                  <a:pt x="5" y="10"/>
                </a:lnTo>
                <a:lnTo>
                  <a:pt x="6" y="10"/>
                </a:lnTo>
                <a:lnTo>
                  <a:pt x="7" y="10"/>
                </a:lnTo>
                <a:lnTo>
                  <a:pt x="8" y="9"/>
                </a:lnTo>
                <a:lnTo>
                  <a:pt x="9" y="9"/>
                </a:lnTo>
                <a:lnTo>
                  <a:pt x="9" y="8"/>
                </a:lnTo>
                <a:lnTo>
                  <a:pt x="10" y="7"/>
                </a:lnTo>
                <a:lnTo>
                  <a:pt x="10" y="6"/>
                </a:lnTo>
                <a:lnTo>
                  <a:pt x="10" y="5"/>
                </a:lnTo>
                <a:close/>
              </a:path>
            </a:pathLst>
          </a:custGeom>
          <a:solidFill>
            <a:srgbClr val="66A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Freeform 45"/>
          <p:cNvSpPr/>
          <p:nvPr/>
        </p:nvSpPr>
        <p:spPr>
          <a:xfrm>
            <a:off x="2006600" y="2171700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0" h="10">
                <a:moveTo>
                  <a:pt x="10" y="5"/>
                </a:moveTo>
                <a:lnTo>
                  <a:pt x="10" y="4"/>
                </a:lnTo>
                <a:lnTo>
                  <a:pt x="10" y="3"/>
                </a:lnTo>
                <a:lnTo>
                  <a:pt x="9" y="2"/>
                </a:lnTo>
                <a:lnTo>
                  <a:pt x="9" y="2"/>
                </a:lnTo>
                <a:lnTo>
                  <a:pt x="8" y="1"/>
                </a:lnTo>
                <a:lnTo>
                  <a:pt x="7" y="1"/>
                </a:lnTo>
                <a:lnTo>
                  <a:pt x="6" y="0"/>
                </a:lnTo>
                <a:lnTo>
                  <a:pt x="5" y="0"/>
                </a:lnTo>
                <a:lnTo>
                  <a:pt x="4" y="0"/>
                </a:lnTo>
                <a:lnTo>
                  <a:pt x="3" y="1"/>
                </a:lnTo>
                <a:lnTo>
                  <a:pt x="2" y="1"/>
                </a:lnTo>
                <a:lnTo>
                  <a:pt x="1" y="2"/>
                </a:lnTo>
                <a:lnTo>
                  <a:pt x="1" y="2"/>
                </a:lnTo>
                <a:lnTo>
                  <a:pt x="0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0" y="7"/>
                </a:lnTo>
                <a:lnTo>
                  <a:pt x="1" y="8"/>
                </a:lnTo>
                <a:lnTo>
                  <a:pt x="1" y="9"/>
                </a:lnTo>
                <a:lnTo>
                  <a:pt x="2" y="10"/>
                </a:lnTo>
                <a:lnTo>
                  <a:pt x="3" y="10"/>
                </a:lnTo>
                <a:lnTo>
                  <a:pt x="4" y="10"/>
                </a:lnTo>
                <a:lnTo>
                  <a:pt x="5" y="10"/>
                </a:lnTo>
                <a:lnTo>
                  <a:pt x="6" y="10"/>
                </a:lnTo>
                <a:lnTo>
                  <a:pt x="7" y="10"/>
                </a:lnTo>
                <a:lnTo>
                  <a:pt x="8" y="10"/>
                </a:lnTo>
                <a:lnTo>
                  <a:pt x="9" y="9"/>
                </a:lnTo>
                <a:lnTo>
                  <a:pt x="9" y="8"/>
                </a:lnTo>
                <a:lnTo>
                  <a:pt x="10" y="7"/>
                </a:lnTo>
                <a:lnTo>
                  <a:pt x="10" y="6"/>
                </a:lnTo>
                <a:lnTo>
                  <a:pt x="10" y="5"/>
                </a:lnTo>
                <a:close/>
              </a:path>
            </a:pathLst>
          </a:custGeom>
          <a:solidFill>
            <a:srgbClr val="66A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2184400" y="2171700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0" h="10">
                <a:moveTo>
                  <a:pt x="10" y="5"/>
                </a:moveTo>
                <a:lnTo>
                  <a:pt x="10" y="4"/>
                </a:lnTo>
                <a:lnTo>
                  <a:pt x="10" y="3"/>
                </a:lnTo>
                <a:lnTo>
                  <a:pt x="9" y="2"/>
                </a:lnTo>
                <a:lnTo>
                  <a:pt x="9" y="2"/>
                </a:lnTo>
                <a:lnTo>
                  <a:pt x="8" y="1"/>
                </a:lnTo>
                <a:lnTo>
                  <a:pt x="7" y="1"/>
                </a:lnTo>
                <a:lnTo>
                  <a:pt x="6" y="0"/>
                </a:lnTo>
                <a:lnTo>
                  <a:pt x="5" y="0"/>
                </a:lnTo>
                <a:lnTo>
                  <a:pt x="4" y="0"/>
                </a:lnTo>
                <a:lnTo>
                  <a:pt x="3" y="1"/>
                </a:lnTo>
                <a:lnTo>
                  <a:pt x="2" y="1"/>
                </a:lnTo>
                <a:lnTo>
                  <a:pt x="2" y="2"/>
                </a:lnTo>
                <a:lnTo>
                  <a:pt x="1" y="2"/>
                </a:lnTo>
                <a:lnTo>
                  <a:pt x="0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0" y="7"/>
                </a:lnTo>
                <a:lnTo>
                  <a:pt x="1" y="8"/>
                </a:lnTo>
                <a:lnTo>
                  <a:pt x="2" y="9"/>
                </a:lnTo>
                <a:lnTo>
                  <a:pt x="2" y="10"/>
                </a:lnTo>
                <a:lnTo>
                  <a:pt x="3" y="10"/>
                </a:lnTo>
                <a:lnTo>
                  <a:pt x="4" y="10"/>
                </a:lnTo>
                <a:lnTo>
                  <a:pt x="5" y="10"/>
                </a:lnTo>
                <a:lnTo>
                  <a:pt x="6" y="10"/>
                </a:lnTo>
                <a:lnTo>
                  <a:pt x="7" y="10"/>
                </a:lnTo>
                <a:lnTo>
                  <a:pt x="8" y="10"/>
                </a:lnTo>
                <a:lnTo>
                  <a:pt x="9" y="9"/>
                </a:lnTo>
                <a:lnTo>
                  <a:pt x="9" y="8"/>
                </a:lnTo>
                <a:lnTo>
                  <a:pt x="10" y="7"/>
                </a:lnTo>
                <a:lnTo>
                  <a:pt x="10" y="6"/>
                </a:lnTo>
                <a:lnTo>
                  <a:pt x="10" y="5"/>
                </a:lnTo>
                <a:close/>
              </a:path>
            </a:pathLst>
          </a:custGeom>
          <a:solidFill>
            <a:srgbClr val="66A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3848100" y="1841500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0" h="10">
                <a:moveTo>
                  <a:pt x="10" y="5"/>
                </a:moveTo>
                <a:lnTo>
                  <a:pt x="10" y="4"/>
                </a:lnTo>
                <a:lnTo>
                  <a:pt x="10" y="3"/>
                </a:lnTo>
                <a:lnTo>
                  <a:pt x="9" y="2"/>
                </a:lnTo>
                <a:lnTo>
                  <a:pt x="9" y="1"/>
                </a:lnTo>
                <a:lnTo>
                  <a:pt x="8" y="1"/>
                </a:lnTo>
                <a:lnTo>
                  <a:pt x="7" y="0"/>
                </a:lnTo>
                <a:lnTo>
                  <a:pt x="6" y="0"/>
                </a:lnTo>
                <a:lnTo>
                  <a:pt x="5" y="0"/>
                </a:lnTo>
                <a:lnTo>
                  <a:pt x="4" y="0"/>
                </a:lnTo>
                <a:lnTo>
                  <a:pt x="3" y="0"/>
                </a:lnTo>
                <a:lnTo>
                  <a:pt x="2" y="1"/>
                </a:lnTo>
                <a:lnTo>
                  <a:pt x="1" y="1"/>
                </a:lnTo>
                <a:lnTo>
                  <a:pt x="1" y="2"/>
                </a:lnTo>
                <a:lnTo>
                  <a:pt x="0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0" y="7"/>
                </a:lnTo>
                <a:lnTo>
                  <a:pt x="1" y="8"/>
                </a:lnTo>
                <a:lnTo>
                  <a:pt x="1" y="9"/>
                </a:lnTo>
                <a:lnTo>
                  <a:pt x="2" y="9"/>
                </a:lnTo>
                <a:lnTo>
                  <a:pt x="3" y="10"/>
                </a:lnTo>
                <a:lnTo>
                  <a:pt x="4" y="10"/>
                </a:lnTo>
                <a:lnTo>
                  <a:pt x="5" y="10"/>
                </a:lnTo>
                <a:lnTo>
                  <a:pt x="6" y="10"/>
                </a:lnTo>
                <a:lnTo>
                  <a:pt x="7" y="10"/>
                </a:lnTo>
                <a:lnTo>
                  <a:pt x="8" y="9"/>
                </a:lnTo>
                <a:lnTo>
                  <a:pt x="9" y="9"/>
                </a:lnTo>
                <a:lnTo>
                  <a:pt x="9" y="8"/>
                </a:lnTo>
                <a:lnTo>
                  <a:pt x="10" y="7"/>
                </a:lnTo>
                <a:lnTo>
                  <a:pt x="10" y="6"/>
                </a:lnTo>
                <a:lnTo>
                  <a:pt x="10" y="5"/>
                </a:lnTo>
                <a:close/>
              </a:path>
            </a:pathLst>
          </a:custGeom>
          <a:solidFill>
            <a:srgbClr val="66A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3225800" y="1841500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0" h="10">
                <a:moveTo>
                  <a:pt x="10" y="5"/>
                </a:moveTo>
                <a:lnTo>
                  <a:pt x="10" y="4"/>
                </a:lnTo>
                <a:lnTo>
                  <a:pt x="10" y="3"/>
                </a:lnTo>
                <a:lnTo>
                  <a:pt x="9" y="2"/>
                </a:lnTo>
                <a:lnTo>
                  <a:pt x="9" y="1"/>
                </a:lnTo>
                <a:lnTo>
                  <a:pt x="8" y="1"/>
                </a:lnTo>
                <a:lnTo>
                  <a:pt x="7" y="0"/>
                </a:lnTo>
                <a:lnTo>
                  <a:pt x="6" y="0"/>
                </a:lnTo>
                <a:lnTo>
                  <a:pt x="5" y="0"/>
                </a:lnTo>
                <a:lnTo>
                  <a:pt x="4" y="0"/>
                </a:lnTo>
                <a:lnTo>
                  <a:pt x="3" y="0"/>
                </a:lnTo>
                <a:lnTo>
                  <a:pt x="2" y="1"/>
                </a:lnTo>
                <a:lnTo>
                  <a:pt x="1" y="1"/>
                </a:lnTo>
                <a:lnTo>
                  <a:pt x="1" y="2"/>
                </a:lnTo>
                <a:lnTo>
                  <a:pt x="0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0" y="7"/>
                </a:lnTo>
                <a:lnTo>
                  <a:pt x="1" y="8"/>
                </a:lnTo>
                <a:lnTo>
                  <a:pt x="1" y="9"/>
                </a:lnTo>
                <a:lnTo>
                  <a:pt x="2" y="9"/>
                </a:lnTo>
                <a:lnTo>
                  <a:pt x="3" y="10"/>
                </a:lnTo>
                <a:lnTo>
                  <a:pt x="4" y="10"/>
                </a:lnTo>
                <a:lnTo>
                  <a:pt x="5" y="10"/>
                </a:lnTo>
                <a:lnTo>
                  <a:pt x="6" y="10"/>
                </a:lnTo>
                <a:lnTo>
                  <a:pt x="7" y="10"/>
                </a:lnTo>
                <a:lnTo>
                  <a:pt x="8" y="9"/>
                </a:lnTo>
                <a:lnTo>
                  <a:pt x="9" y="9"/>
                </a:lnTo>
                <a:lnTo>
                  <a:pt x="9" y="8"/>
                </a:lnTo>
                <a:lnTo>
                  <a:pt x="10" y="7"/>
                </a:lnTo>
                <a:lnTo>
                  <a:pt x="10" y="6"/>
                </a:lnTo>
                <a:lnTo>
                  <a:pt x="10" y="5"/>
                </a:lnTo>
                <a:close/>
              </a:path>
            </a:pathLst>
          </a:custGeom>
          <a:solidFill>
            <a:srgbClr val="66A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Freeform 49"/>
          <p:cNvSpPr/>
          <p:nvPr/>
        </p:nvSpPr>
        <p:spPr>
          <a:xfrm>
            <a:off x="3848100" y="2197100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0" h="10">
                <a:moveTo>
                  <a:pt x="10" y="5"/>
                </a:moveTo>
                <a:lnTo>
                  <a:pt x="10" y="4"/>
                </a:lnTo>
                <a:lnTo>
                  <a:pt x="10" y="3"/>
                </a:lnTo>
                <a:lnTo>
                  <a:pt x="9" y="2"/>
                </a:lnTo>
                <a:lnTo>
                  <a:pt x="9" y="2"/>
                </a:lnTo>
                <a:lnTo>
                  <a:pt x="8" y="1"/>
                </a:lnTo>
                <a:lnTo>
                  <a:pt x="7" y="1"/>
                </a:lnTo>
                <a:lnTo>
                  <a:pt x="6" y="0"/>
                </a:lnTo>
                <a:lnTo>
                  <a:pt x="5" y="0"/>
                </a:lnTo>
                <a:lnTo>
                  <a:pt x="4" y="0"/>
                </a:lnTo>
                <a:lnTo>
                  <a:pt x="3" y="1"/>
                </a:lnTo>
                <a:lnTo>
                  <a:pt x="2" y="1"/>
                </a:lnTo>
                <a:lnTo>
                  <a:pt x="1" y="2"/>
                </a:lnTo>
                <a:lnTo>
                  <a:pt x="1" y="2"/>
                </a:lnTo>
                <a:lnTo>
                  <a:pt x="0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0" y="7"/>
                </a:lnTo>
                <a:lnTo>
                  <a:pt x="1" y="8"/>
                </a:lnTo>
                <a:lnTo>
                  <a:pt x="1" y="9"/>
                </a:lnTo>
                <a:lnTo>
                  <a:pt x="2" y="10"/>
                </a:lnTo>
                <a:lnTo>
                  <a:pt x="3" y="10"/>
                </a:lnTo>
                <a:lnTo>
                  <a:pt x="4" y="10"/>
                </a:lnTo>
                <a:lnTo>
                  <a:pt x="5" y="10"/>
                </a:lnTo>
                <a:lnTo>
                  <a:pt x="6" y="10"/>
                </a:lnTo>
                <a:lnTo>
                  <a:pt x="7" y="10"/>
                </a:lnTo>
                <a:lnTo>
                  <a:pt x="8" y="10"/>
                </a:lnTo>
                <a:lnTo>
                  <a:pt x="9" y="9"/>
                </a:lnTo>
                <a:lnTo>
                  <a:pt x="9" y="8"/>
                </a:lnTo>
                <a:lnTo>
                  <a:pt x="10" y="7"/>
                </a:lnTo>
                <a:lnTo>
                  <a:pt x="10" y="6"/>
                </a:lnTo>
                <a:lnTo>
                  <a:pt x="10" y="5"/>
                </a:lnTo>
                <a:close/>
              </a:path>
            </a:pathLst>
          </a:custGeom>
          <a:solidFill>
            <a:srgbClr val="66A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3530600" y="1663700"/>
            <a:ext cx="139700" cy="127000"/>
          </a:xfrm>
          <a:custGeom>
            <a:avLst/>
            <a:gdLst/>
            <a:ahLst/>
            <a:cxnLst/>
            <a:rect l="l" t="t" r="r" b="b"/>
            <a:pathLst>
              <a:path w="11" h="10">
                <a:moveTo>
                  <a:pt x="11" y="5"/>
                </a:moveTo>
                <a:lnTo>
                  <a:pt x="11" y="4"/>
                </a:lnTo>
                <a:lnTo>
                  <a:pt x="10" y="3"/>
                </a:lnTo>
                <a:lnTo>
                  <a:pt x="10" y="2"/>
                </a:lnTo>
                <a:lnTo>
                  <a:pt x="9" y="1"/>
                </a:lnTo>
                <a:lnTo>
                  <a:pt x="8" y="0"/>
                </a:lnTo>
                <a:lnTo>
                  <a:pt x="7" y="0"/>
                </a:lnTo>
                <a:lnTo>
                  <a:pt x="7" y="0"/>
                </a:lnTo>
                <a:lnTo>
                  <a:pt x="5" y="0"/>
                </a:lnTo>
                <a:lnTo>
                  <a:pt x="4" y="0"/>
                </a:lnTo>
                <a:lnTo>
                  <a:pt x="3" y="0"/>
                </a:lnTo>
                <a:lnTo>
                  <a:pt x="3" y="0"/>
                </a:lnTo>
                <a:lnTo>
                  <a:pt x="2" y="1"/>
                </a:lnTo>
                <a:lnTo>
                  <a:pt x="1" y="2"/>
                </a:lnTo>
                <a:lnTo>
                  <a:pt x="1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1" y="7"/>
                </a:lnTo>
                <a:lnTo>
                  <a:pt x="1" y="8"/>
                </a:lnTo>
                <a:lnTo>
                  <a:pt x="2" y="8"/>
                </a:lnTo>
                <a:lnTo>
                  <a:pt x="3" y="9"/>
                </a:lnTo>
                <a:lnTo>
                  <a:pt x="3" y="9"/>
                </a:lnTo>
                <a:lnTo>
                  <a:pt x="4" y="10"/>
                </a:lnTo>
                <a:lnTo>
                  <a:pt x="5" y="10"/>
                </a:lnTo>
                <a:lnTo>
                  <a:pt x="7" y="10"/>
                </a:lnTo>
                <a:lnTo>
                  <a:pt x="7" y="9"/>
                </a:lnTo>
                <a:lnTo>
                  <a:pt x="8" y="9"/>
                </a:lnTo>
                <a:lnTo>
                  <a:pt x="9" y="8"/>
                </a:lnTo>
                <a:lnTo>
                  <a:pt x="10" y="8"/>
                </a:lnTo>
                <a:lnTo>
                  <a:pt x="10" y="7"/>
                </a:lnTo>
                <a:lnTo>
                  <a:pt x="11" y="6"/>
                </a:lnTo>
                <a:lnTo>
                  <a:pt x="11" y="5"/>
                </a:lnTo>
                <a:close/>
              </a:path>
            </a:pathLst>
          </a:custGeom>
          <a:solidFill>
            <a:srgbClr val="A676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Freeform 51"/>
          <p:cNvSpPr/>
          <p:nvPr/>
        </p:nvSpPr>
        <p:spPr>
          <a:xfrm>
            <a:off x="3225800" y="2197100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0" h="10">
                <a:moveTo>
                  <a:pt x="10" y="5"/>
                </a:moveTo>
                <a:lnTo>
                  <a:pt x="10" y="4"/>
                </a:lnTo>
                <a:lnTo>
                  <a:pt x="10" y="3"/>
                </a:lnTo>
                <a:lnTo>
                  <a:pt x="9" y="2"/>
                </a:lnTo>
                <a:lnTo>
                  <a:pt x="9" y="2"/>
                </a:lnTo>
                <a:lnTo>
                  <a:pt x="8" y="1"/>
                </a:lnTo>
                <a:lnTo>
                  <a:pt x="7" y="1"/>
                </a:lnTo>
                <a:lnTo>
                  <a:pt x="6" y="0"/>
                </a:lnTo>
                <a:lnTo>
                  <a:pt x="5" y="0"/>
                </a:lnTo>
                <a:lnTo>
                  <a:pt x="4" y="0"/>
                </a:lnTo>
                <a:lnTo>
                  <a:pt x="3" y="1"/>
                </a:lnTo>
                <a:lnTo>
                  <a:pt x="2" y="1"/>
                </a:lnTo>
                <a:lnTo>
                  <a:pt x="1" y="2"/>
                </a:lnTo>
                <a:lnTo>
                  <a:pt x="1" y="2"/>
                </a:lnTo>
                <a:lnTo>
                  <a:pt x="0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0" y="7"/>
                </a:lnTo>
                <a:lnTo>
                  <a:pt x="1" y="8"/>
                </a:lnTo>
                <a:lnTo>
                  <a:pt x="1" y="9"/>
                </a:lnTo>
                <a:lnTo>
                  <a:pt x="2" y="10"/>
                </a:lnTo>
                <a:lnTo>
                  <a:pt x="3" y="10"/>
                </a:lnTo>
                <a:lnTo>
                  <a:pt x="4" y="10"/>
                </a:lnTo>
                <a:lnTo>
                  <a:pt x="5" y="10"/>
                </a:lnTo>
                <a:lnTo>
                  <a:pt x="6" y="10"/>
                </a:lnTo>
                <a:lnTo>
                  <a:pt x="7" y="10"/>
                </a:lnTo>
                <a:lnTo>
                  <a:pt x="8" y="10"/>
                </a:lnTo>
                <a:lnTo>
                  <a:pt x="9" y="9"/>
                </a:lnTo>
                <a:lnTo>
                  <a:pt x="9" y="8"/>
                </a:lnTo>
                <a:lnTo>
                  <a:pt x="10" y="7"/>
                </a:lnTo>
                <a:lnTo>
                  <a:pt x="10" y="6"/>
                </a:lnTo>
                <a:lnTo>
                  <a:pt x="10" y="5"/>
                </a:lnTo>
                <a:close/>
              </a:path>
            </a:pathLst>
          </a:custGeom>
          <a:solidFill>
            <a:srgbClr val="A676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3530600" y="2374900"/>
            <a:ext cx="139700" cy="139700"/>
          </a:xfrm>
          <a:custGeom>
            <a:avLst/>
            <a:gdLst/>
            <a:ahLst/>
            <a:cxnLst/>
            <a:rect l="l" t="t" r="r" b="b"/>
            <a:pathLst>
              <a:path w="11" h="11">
                <a:moveTo>
                  <a:pt x="11" y="5"/>
                </a:moveTo>
                <a:lnTo>
                  <a:pt x="11" y="4"/>
                </a:lnTo>
                <a:lnTo>
                  <a:pt x="10" y="3"/>
                </a:lnTo>
                <a:lnTo>
                  <a:pt x="10" y="3"/>
                </a:lnTo>
                <a:lnTo>
                  <a:pt x="9" y="2"/>
                </a:lnTo>
                <a:lnTo>
                  <a:pt x="8" y="1"/>
                </a:lnTo>
                <a:lnTo>
                  <a:pt x="7" y="1"/>
                </a:lnTo>
                <a:lnTo>
                  <a:pt x="7" y="0"/>
                </a:lnTo>
                <a:lnTo>
                  <a:pt x="5" y="0"/>
                </a:lnTo>
                <a:lnTo>
                  <a:pt x="4" y="0"/>
                </a:lnTo>
                <a:lnTo>
                  <a:pt x="3" y="1"/>
                </a:lnTo>
                <a:lnTo>
                  <a:pt x="3" y="1"/>
                </a:lnTo>
                <a:lnTo>
                  <a:pt x="2" y="2"/>
                </a:lnTo>
                <a:lnTo>
                  <a:pt x="1" y="3"/>
                </a:lnTo>
                <a:lnTo>
                  <a:pt x="1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1" y="7"/>
                </a:lnTo>
                <a:lnTo>
                  <a:pt x="1" y="8"/>
                </a:lnTo>
                <a:lnTo>
                  <a:pt x="2" y="9"/>
                </a:lnTo>
                <a:lnTo>
                  <a:pt x="3" y="10"/>
                </a:lnTo>
                <a:lnTo>
                  <a:pt x="3" y="10"/>
                </a:lnTo>
                <a:lnTo>
                  <a:pt x="4" y="10"/>
                </a:lnTo>
                <a:lnTo>
                  <a:pt x="5" y="11"/>
                </a:lnTo>
                <a:lnTo>
                  <a:pt x="7" y="10"/>
                </a:lnTo>
                <a:lnTo>
                  <a:pt x="7" y="10"/>
                </a:lnTo>
                <a:lnTo>
                  <a:pt x="8" y="10"/>
                </a:lnTo>
                <a:lnTo>
                  <a:pt x="9" y="9"/>
                </a:lnTo>
                <a:lnTo>
                  <a:pt x="10" y="8"/>
                </a:lnTo>
                <a:lnTo>
                  <a:pt x="10" y="7"/>
                </a:lnTo>
                <a:lnTo>
                  <a:pt x="11" y="6"/>
                </a:lnTo>
                <a:lnTo>
                  <a:pt x="11" y="5"/>
                </a:lnTo>
                <a:close/>
              </a:path>
            </a:pathLst>
          </a:custGeom>
          <a:solidFill>
            <a:srgbClr val="A676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2880003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6" name="Picture 5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57" name="Picture 5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58" name="TextBox 57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GA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variants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8000" y="359888"/>
            <a:ext cx="567739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1">
                <a:solidFill>
                  <a:srgbClr val="003373"/>
                </a:solidFill>
                <a:latin typeface="Josefin Sans"/>
              </a:rPr>
              <a:t>Steady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state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genetic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algorithm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(SSGA)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60057" y="724584"/>
            <a:ext cx="532533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once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offspring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created,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decision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whether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parent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offspring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37095" y="940426"/>
            <a:ext cx="51483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survives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next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generation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60056" y="1154770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overlap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between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current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new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population.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SSGAs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have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37094" y="1370613"/>
            <a:ext cx="51483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large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generation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gaps.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856751" y="2573415"/>
            <a:ext cx="3928644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Generation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285819" y="2573415"/>
            <a:ext cx="2499576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Generation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898769" y="3150930"/>
            <a:ext cx="88662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623584" y="3150706"/>
            <a:ext cx="16181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85</a:t>
            </a:r>
          </a:p>
        </p:txBody>
      </p:sp>
    </p:spTree>
  </p:cSld>
  <p:clrMapOvr>
    <a:masterClrMapping/>
  </p:clrMapOvr>
</p:sld>
</file>

<file path=ppt/slides/slide2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3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GA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variants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8000" y="359888"/>
            <a:ext cx="567739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1">
                <a:solidFill>
                  <a:srgbClr val="003373"/>
                </a:solidFill>
                <a:latin typeface="Josefin Sans"/>
              </a:rPr>
              <a:t>Steady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state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genetic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algorithm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(SSGA)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9993" y="905844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Examples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replacement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strategies: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0056" y="1120201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replace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worst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–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offspring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replaces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worst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individual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898770" y="3150918"/>
            <a:ext cx="8866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23432" y="3150694"/>
            <a:ext cx="16196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86</a:t>
            </a:r>
          </a:p>
        </p:txBody>
      </p:sp>
    </p:spTree>
  </p:cSld>
  <p:clrMapOvr>
    <a:masterClrMapping/>
  </p:clrMapOvr>
</p:sld>
</file>

<file path=ppt/slides/slide2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39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3" y="3146739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GA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variants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8000" y="359888"/>
            <a:ext cx="567739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1">
                <a:solidFill>
                  <a:srgbClr val="003373"/>
                </a:solidFill>
                <a:latin typeface="Josefin Sans"/>
              </a:rPr>
              <a:t>Steady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state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genetic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algorithm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(SSGA)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9993" y="905844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Examples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replacement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strategies: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0056" y="1120201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replace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worst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–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offspring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replaces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worst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individual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0055" y="1378302"/>
            <a:ext cx="532534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replace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random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–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offspring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replaces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random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individual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898770" y="3150915"/>
            <a:ext cx="8866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23432" y="3150691"/>
            <a:ext cx="16196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86</a:t>
            </a:r>
          </a:p>
        </p:txBody>
      </p:sp>
    </p:spTree>
  </p:cSld>
  <p:clrMapOvr>
    <a:masterClrMapping/>
  </p:clrMapOvr>
</p:sld>
</file>

<file path=ppt/slides/slide2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3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GA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variants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8000" y="359888"/>
            <a:ext cx="567739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1">
                <a:solidFill>
                  <a:srgbClr val="003373"/>
                </a:solidFill>
                <a:latin typeface="Josefin Sans"/>
              </a:rPr>
              <a:t>Steady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state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genetic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algorithm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(SSGA)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9993" y="905844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Examples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replacement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strategies: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0056" y="1120201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replace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worst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–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offspring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replaces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worst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individual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0055" y="1378302"/>
            <a:ext cx="532534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replace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random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–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offspring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replaces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random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individual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0055" y="1636417"/>
            <a:ext cx="532534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kill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tournament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–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randomly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select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group,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offspring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replace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worst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7093" y="1852259"/>
            <a:ext cx="51483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group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898770" y="3150916"/>
            <a:ext cx="8866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23432" y="3150692"/>
            <a:ext cx="16196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86</a:t>
            </a:r>
          </a:p>
        </p:txBody>
      </p:sp>
    </p:spTree>
  </p:cSld>
  <p:clrMapOvr>
    <a:masterClrMapping/>
  </p:clrMapOvr>
</p:sld>
</file>

<file path=ppt/slides/slide2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3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GA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variants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8000" y="359888"/>
            <a:ext cx="567739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1">
                <a:solidFill>
                  <a:srgbClr val="003373"/>
                </a:solidFill>
                <a:latin typeface="Josefin Sans"/>
              </a:rPr>
              <a:t>Steady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state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genetic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algorithm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(SSGA)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9993" y="905844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Examples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replacement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strategies: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0056" y="1120201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replace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worst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–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offspring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replaces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worst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individual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0055" y="1378302"/>
            <a:ext cx="532534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replace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random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–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offspring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replaces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random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individual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0055" y="1636417"/>
            <a:ext cx="532534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kill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tournament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–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randomly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select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group,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offspring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replace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worst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7093" y="1852259"/>
            <a:ext cx="51483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group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0055" y="2066605"/>
            <a:ext cx="532534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replace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oldest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–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offspring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replace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oldest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individual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898770" y="3150916"/>
            <a:ext cx="8866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623432" y="3150692"/>
            <a:ext cx="16196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86</a:t>
            </a:r>
          </a:p>
        </p:txBody>
      </p:sp>
    </p:spTree>
  </p:cSld>
  <p:clrMapOvr>
    <a:masterClrMapping/>
  </p:clrMapOvr>
</p:sld>
</file>

<file path=ppt/slides/slide2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-3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0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GA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variants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8000" y="359888"/>
            <a:ext cx="567739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1">
                <a:solidFill>
                  <a:srgbClr val="003373"/>
                </a:solidFill>
                <a:latin typeface="Josefin Sans"/>
              </a:rPr>
              <a:t>Steady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state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genetic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algorithm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(SSGA)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9993" y="905844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Examples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replacement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strategies: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0056" y="1120201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replace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worst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–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offspring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replaces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worst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individual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0055" y="1378302"/>
            <a:ext cx="532534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replace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random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–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offspring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replaces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random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individual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0055" y="1636417"/>
            <a:ext cx="532534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kill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tournament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–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randomly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select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group,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offspring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replace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worst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7093" y="1852259"/>
            <a:ext cx="51483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group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0055" y="2066605"/>
            <a:ext cx="532534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replace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oldest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–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offspring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replace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oldest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individual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60055" y="2324719"/>
            <a:ext cx="532534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parent-offspring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competition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–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decide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offspring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replaces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one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its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parents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98767" y="3150916"/>
            <a:ext cx="88662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23429" y="3150692"/>
            <a:ext cx="16196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86</a:t>
            </a:r>
          </a:p>
        </p:txBody>
      </p:sp>
    </p:spTree>
  </p:cSld>
  <p:clrMapOvr>
    <a:masterClrMapping/>
  </p:clrMapOvr>
</p:sld>
</file>

<file path=ppt/slides/slide2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H="1" flipV="1">
            <a:off x="2426409" y="1934449"/>
            <a:ext cx="16335" cy="106469"/>
          </a:xfrm>
          <a:prstGeom prst="line">
            <a:avLst/>
          </a:prstGeom>
          <a:ln w="360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H="1" flipV="1">
            <a:off x="2393558" y="1851258"/>
            <a:ext cx="32851" cy="83191"/>
          </a:xfrm>
          <a:prstGeom prst="line">
            <a:avLst/>
          </a:prstGeom>
          <a:ln w="360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H="1" flipV="1">
            <a:off x="2262163" y="1801747"/>
            <a:ext cx="131395" cy="49511"/>
          </a:xfrm>
          <a:prstGeom prst="line">
            <a:avLst/>
          </a:prstGeom>
          <a:ln w="360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H="1">
            <a:off x="2152828" y="1801747"/>
            <a:ext cx="109335" cy="52215"/>
          </a:xfrm>
          <a:prstGeom prst="line">
            <a:avLst/>
          </a:prstGeom>
          <a:ln w="360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H="1">
            <a:off x="2067050" y="1853962"/>
            <a:ext cx="85778" cy="64843"/>
          </a:xfrm>
          <a:prstGeom prst="line">
            <a:avLst/>
          </a:prstGeom>
          <a:ln w="360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H="1">
            <a:off x="2004057" y="1918805"/>
            <a:ext cx="62993" cy="103179"/>
          </a:xfrm>
          <a:prstGeom prst="line">
            <a:avLst/>
          </a:prstGeom>
          <a:ln w="360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2004057" y="2021984"/>
            <a:ext cx="29987" cy="94254"/>
          </a:xfrm>
          <a:prstGeom prst="line">
            <a:avLst/>
          </a:prstGeom>
          <a:ln w="360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2034044" y="2116238"/>
            <a:ext cx="63726" cy="83854"/>
          </a:xfrm>
          <a:prstGeom prst="line">
            <a:avLst/>
          </a:prstGeom>
          <a:ln w="360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2097770" y="2200092"/>
            <a:ext cx="126524" cy="79998"/>
          </a:xfrm>
          <a:prstGeom prst="line">
            <a:avLst/>
          </a:prstGeom>
          <a:ln w="360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2224294" y="2222571"/>
            <a:ext cx="118551" cy="57519"/>
          </a:xfrm>
          <a:prstGeom prst="line">
            <a:avLst/>
          </a:prstGeom>
          <a:ln w="360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2342845" y="2190334"/>
            <a:ext cx="94596" cy="32237"/>
          </a:xfrm>
          <a:prstGeom prst="line">
            <a:avLst/>
          </a:prstGeom>
          <a:ln w="360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2437441" y="2059852"/>
            <a:ext cx="44959" cy="130482"/>
          </a:xfrm>
          <a:prstGeom prst="line">
            <a:avLst/>
          </a:prstGeom>
          <a:ln w="360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H="1" flipV="1">
            <a:off x="3713976" y="1956763"/>
            <a:ext cx="20540" cy="84155"/>
          </a:xfrm>
          <a:prstGeom prst="line">
            <a:avLst/>
          </a:prstGeom>
          <a:ln w="360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H="1" flipV="1">
            <a:off x="3686581" y="1853010"/>
            <a:ext cx="27395" cy="103753"/>
          </a:xfrm>
          <a:prstGeom prst="line">
            <a:avLst/>
          </a:prstGeom>
          <a:ln w="360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H="1" flipV="1">
            <a:off x="3600355" y="1812809"/>
            <a:ext cx="86226" cy="40201"/>
          </a:xfrm>
          <a:prstGeom prst="line">
            <a:avLst/>
          </a:prstGeom>
          <a:ln w="360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H="1">
            <a:off x="3527209" y="1812809"/>
            <a:ext cx="73146" cy="11574"/>
          </a:xfrm>
          <a:prstGeom prst="line">
            <a:avLst/>
          </a:prstGeom>
          <a:ln w="360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H="1">
            <a:off x="3436763" y="1824383"/>
            <a:ext cx="90446" cy="14449"/>
          </a:xfrm>
          <a:prstGeom prst="line">
            <a:avLst/>
          </a:prstGeom>
          <a:ln w="360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H="1">
            <a:off x="3335897" y="1838832"/>
            <a:ext cx="100866" cy="56461"/>
          </a:xfrm>
          <a:prstGeom prst="line">
            <a:avLst/>
          </a:prstGeom>
          <a:ln w="360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H="1">
            <a:off x="3304853" y="1895293"/>
            <a:ext cx="31044" cy="80466"/>
          </a:xfrm>
          <a:prstGeom prst="line">
            <a:avLst/>
          </a:prstGeom>
          <a:ln w="360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3304853" y="1975759"/>
            <a:ext cx="4373" cy="63714"/>
          </a:xfrm>
          <a:prstGeom prst="line">
            <a:avLst/>
          </a:prstGeom>
          <a:ln w="360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H="1">
            <a:off x="3305888" y="2039473"/>
            <a:ext cx="3338" cy="93181"/>
          </a:xfrm>
          <a:prstGeom prst="line">
            <a:avLst/>
          </a:prstGeom>
          <a:ln w="360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3305888" y="2132654"/>
            <a:ext cx="50224" cy="87251"/>
          </a:xfrm>
          <a:prstGeom prst="line">
            <a:avLst/>
          </a:prstGeom>
          <a:ln w="360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3356112" y="2219905"/>
            <a:ext cx="103261" cy="64396"/>
          </a:xfrm>
          <a:prstGeom prst="line">
            <a:avLst/>
          </a:prstGeom>
          <a:ln w="360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3459373" y="2257454"/>
            <a:ext cx="64943" cy="26847"/>
          </a:xfrm>
          <a:prstGeom prst="line">
            <a:avLst/>
          </a:prstGeom>
          <a:ln w="360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V="1">
            <a:off x="3524316" y="2248114"/>
            <a:ext cx="86504" cy="9340"/>
          </a:xfrm>
          <a:prstGeom prst="line">
            <a:avLst/>
          </a:prstGeom>
          <a:ln w="360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3610820" y="2204931"/>
            <a:ext cx="77979" cy="43183"/>
          </a:xfrm>
          <a:prstGeom prst="line">
            <a:avLst/>
          </a:prstGeom>
          <a:ln w="360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3688799" y="2090653"/>
            <a:ext cx="67154" cy="114278"/>
          </a:xfrm>
          <a:prstGeom prst="line">
            <a:avLst/>
          </a:prstGeom>
          <a:ln w="360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H="1" flipV="1">
            <a:off x="3742297" y="2042365"/>
            <a:ext cx="13656" cy="48288"/>
          </a:xfrm>
          <a:prstGeom prst="line">
            <a:avLst/>
          </a:prstGeom>
          <a:ln w="360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H="1" flipV="1">
            <a:off x="3080432" y="2444134"/>
            <a:ext cx="12634" cy="109798"/>
          </a:xfrm>
          <a:prstGeom prst="line">
            <a:avLst/>
          </a:prstGeom>
          <a:ln w="360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H="1" flipV="1">
            <a:off x="3038400" y="2364480"/>
            <a:ext cx="42032" cy="79654"/>
          </a:xfrm>
          <a:prstGeom prst="line">
            <a:avLst/>
          </a:prstGeom>
          <a:ln w="360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H="1" flipV="1">
            <a:off x="2954396" y="2329575"/>
            <a:ext cx="84004" cy="34905"/>
          </a:xfrm>
          <a:prstGeom prst="line">
            <a:avLst/>
          </a:prstGeom>
          <a:ln w="360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H="1">
            <a:off x="2885923" y="2329575"/>
            <a:ext cx="68473" cy="8074"/>
          </a:xfrm>
          <a:prstGeom prst="line">
            <a:avLst/>
          </a:prstGeom>
          <a:ln w="360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H="1">
            <a:off x="2789078" y="2337649"/>
            <a:ext cx="96845" cy="26455"/>
          </a:xfrm>
          <a:prstGeom prst="line">
            <a:avLst/>
          </a:prstGeom>
          <a:ln w="360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H="1">
            <a:off x="2726910" y="2364104"/>
            <a:ext cx="62168" cy="33472"/>
          </a:xfrm>
          <a:prstGeom prst="line">
            <a:avLst/>
          </a:prstGeom>
          <a:ln w="360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 flipH="1">
            <a:off x="2686045" y="2397576"/>
            <a:ext cx="40865" cy="85233"/>
          </a:xfrm>
          <a:prstGeom prst="line">
            <a:avLst/>
          </a:prstGeom>
          <a:ln w="360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H="1">
            <a:off x="2668211" y="2482809"/>
            <a:ext cx="17834" cy="69690"/>
          </a:xfrm>
          <a:prstGeom prst="line">
            <a:avLst/>
          </a:prstGeom>
          <a:ln w="360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2668211" y="2552499"/>
            <a:ext cx="10340" cy="100104"/>
          </a:xfrm>
          <a:prstGeom prst="line">
            <a:avLst/>
          </a:prstGeom>
          <a:ln w="360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2678551" y="2652603"/>
            <a:ext cx="79550" cy="72557"/>
          </a:xfrm>
          <a:prstGeom prst="line">
            <a:avLst/>
          </a:prstGeom>
          <a:ln w="360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2758101" y="2725160"/>
            <a:ext cx="75473" cy="34161"/>
          </a:xfrm>
          <a:prstGeom prst="line">
            <a:avLst/>
          </a:prstGeom>
          <a:ln w="360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2833574" y="2759321"/>
            <a:ext cx="49488" cy="10894"/>
          </a:xfrm>
          <a:prstGeom prst="line">
            <a:avLst/>
          </a:prstGeom>
          <a:ln w="360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 flipV="1">
            <a:off x="2883062" y="2758257"/>
            <a:ext cx="110892" cy="11958"/>
          </a:xfrm>
          <a:prstGeom prst="line">
            <a:avLst/>
          </a:prstGeom>
          <a:ln w="360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V="1">
            <a:off x="2993954" y="2710601"/>
            <a:ext cx="82957" cy="47656"/>
          </a:xfrm>
          <a:prstGeom prst="line">
            <a:avLst/>
          </a:prstGeom>
          <a:ln w="360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 flipV="1">
            <a:off x="3076911" y="2624228"/>
            <a:ext cx="28346" cy="86373"/>
          </a:xfrm>
          <a:prstGeom prst="line">
            <a:avLst/>
          </a:prstGeom>
          <a:ln w="360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 flipH="1" flipV="1">
            <a:off x="3100778" y="2555366"/>
            <a:ext cx="4479" cy="68862"/>
          </a:xfrm>
          <a:prstGeom prst="line">
            <a:avLst/>
          </a:prstGeom>
          <a:ln w="360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2462577" y="2040918"/>
            <a:ext cx="834599" cy="0"/>
          </a:xfrm>
          <a:prstGeom prst="line">
            <a:avLst/>
          </a:prstGeom>
          <a:ln w="360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Freeform 80"/>
          <p:cNvSpPr/>
          <p:nvPr/>
        </p:nvSpPr>
        <p:spPr>
          <a:xfrm>
            <a:off x="2438400" y="20320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0" y="1"/>
                </a:moveTo>
                <a:lnTo>
                  <a:pt x="3" y="2"/>
                </a:lnTo>
                <a:lnTo>
                  <a:pt x="2" y="1"/>
                </a:lnTo>
                <a:lnTo>
                  <a:pt x="3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Freeform 81"/>
          <p:cNvSpPr/>
          <p:nvPr/>
        </p:nvSpPr>
        <p:spPr>
          <a:xfrm>
            <a:off x="3289300" y="20320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3" name="Connector 82"/>
          <p:cNvCxnSpPr/>
          <p:nvPr/>
        </p:nvCxnSpPr>
        <p:spPr>
          <a:xfrm>
            <a:off x="2414501" y="2177935"/>
            <a:ext cx="291652" cy="233321"/>
          </a:xfrm>
          <a:prstGeom prst="line">
            <a:avLst/>
          </a:prstGeom>
          <a:ln w="360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Freeform 83"/>
          <p:cNvSpPr/>
          <p:nvPr/>
        </p:nvSpPr>
        <p:spPr>
          <a:xfrm>
            <a:off x="2400300" y="21717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0" y="0"/>
                </a:moveTo>
                <a:lnTo>
                  <a:pt x="1" y="2"/>
                </a:lnTo>
                <a:lnTo>
                  <a:pt x="1" y="0"/>
                </a:lnTo>
                <a:lnTo>
                  <a:pt x="2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Freeform 84"/>
          <p:cNvSpPr/>
          <p:nvPr/>
        </p:nvSpPr>
        <p:spPr>
          <a:xfrm>
            <a:off x="2692400" y="23876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1" y="0"/>
                </a:lnTo>
                <a:lnTo>
                  <a:pt x="1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6" name="Connector 85"/>
          <p:cNvCxnSpPr/>
          <p:nvPr/>
        </p:nvCxnSpPr>
        <p:spPr>
          <a:xfrm flipH="1">
            <a:off x="3062838" y="2183705"/>
            <a:ext cx="284439" cy="227551"/>
          </a:xfrm>
          <a:prstGeom prst="line">
            <a:avLst/>
          </a:prstGeom>
          <a:ln w="360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Freeform 86"/>
          <p:cNvSpPr/>
          <p:nvPr/>
        </p:nvSpPr>
        <p:spPr>
          <a:xfrm>
            <a:off x="3327400" y="21717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0"/>
                </a:moveTo>
                <a:lnTo>
                  <a:pt x="0" y="1"/>
                </a:lnTo>
                <a:lnTo>
                  <a:pt x="2" y="1"/>
                </a:lnTo>
                <a:lnTo>
                  <a:pt x="2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Freeform 87"/>
          <p:cNvSpPr/>
          <p:nvPr/>
        </p:nvSpPr>
        <p:spPr>
          <a:xfrm>
            <a:off x="3048000" y="23876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0" y="3"/>
                </a:moveTo>
                <a:lnTo>
                  <a:pt x="3" y="2"/>
                </a:lnTo>
                <a:lnTo>
                  <a:pt x="1" y="2"/>
                </a:lnTo>
                <a:lnTo>
                  <a:pt x="1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Freeform 88"/>
          <p:cNvSpPr/>
          <p:nvPr/>
        </p:nvSpPr>
        <p:spPr>
          <a:xfrm>
            <a:off x="2362200" y="19431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3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0" y="3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2" y="3"/>
                </a:lnTo>
                <a:lnTo>
                  <a:pt x="2" y="3"/>
                </a:lnTo>
                <a:lnTo>
                  <a:pt x="2" y="3"/>
                </a:lnTo>
                <a:lnTo>
                  <a:pt x="2" y="2"/>
                </a:lnTo>
                <a:lnTo>
                  <a:pt x="2" y="2"/>
                </a:lnTo>
                <a:lnTo>
                  <a:pt x="3" y="2"/>
                </a:lnTo>
                <a:lnTo>
                  <a:pt x="3" y="2"/>
                </a:lnTo>
                <a:close/>
              </a:path>
            </a:pathLst>
          </a:custGeom>
          <a:solidFill>
            <a:srgbClr val="D95F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Freeform 89"/>
          <p:cNvSpPr/>
          <p:nvPr/>
        </p:nvSpPr>
        <p:spPr>
          <a:xfrm>
            <a:off x="3644900" y="19431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3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0" y="3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2" y="3"/>
                </a:lnTo>
                <a:lnTo>
                  <a:pt x="2" y="3"/>
                </a:lnTo>
                <a:lnTo>
                  <a:pt x="2" y="3"/>
                </a:lnTo>
                <a:lnTo>
                  <a:pt x="2" y="2"/>
                </a:lnTo>
                <a:lnTo>
                  <a:pt x="2" y="2"/>
                </a:lnTo>
                <a:lnTo>
                  <a:pt x="3" y="2"/>
                </a:lnTo>
                <a:lnTo>
                  <a:pt x="3" y="2"/>
                </a:lnTo>
                <a:close/>
              </a:path>
            </a:pathLst>
          </a:custGeom>
          <a:solidFill>
            <a:srgbClr val="1B9E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Freeform 90"/>
          <p:cNvSpPr/>
          <p:nvPr/>
        </p:nvSpPr>
        <p:spPr>
          <a:xfrm>
            <a:off x="2997200" y="24638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1"/>
                </a:moveTo>
                <a:lnTo>
                  <a:pt x="3" y="1"/>
                </a:lnTo>
                <a:lnTo>
                  <a:pt x="3" y="0"/>
                </a:lnTo>
                <a:lnTo>
                  <a:pt x="3" y="0"/>
                </a:ln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3" y="2"/>
                </a:lnTo>
                <a:lnTo>
                  <a:pt x="3" y="2"/>
                </a:lnTo>
                <a:lnTo>
                  <a:pt x="3" y="2"/>
                </a:lnTo>
                <a:lnTo>
                  <a:pt x="3" y="1"/>
                </a:lnTo>
                <a:lnTo>
                  <a:pt x="3" y="1"/>
                </a:lnTo>
                <a:close/>
              </a:path>
            </a:pathLst>
          </a:custGeom>
          <a:solidFill>
            <a:srgbClr val="7570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Freeform 91"/>
          <p:cNvSpPr/>
          <p:nvPr/>
        </p:nvSpPr>
        <p:spPr>
          <a:xfrm>
            <a:off x="2222500" y="18923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3" y="1"/>
                </a:lnTo>
                <a:lnTo>
                  <a:pt x="3" y="1"/>
                </a:lnTo>
                <a:lnTo>
                  <a:pt x="3" y="1"/>
                </a:lnTo>
                <a:lnTo>
                  <a:pt x="3" y="1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2" y="3"/>
                </a:lnTo>
                <a:lnTo>
                  <a:pt x="2" y="3"/>
                </a:lnTo>
                <a:lnTo>
                  <a:pt x="2" y="3"/>
                </a:lnTo>
                <a:lnTo>
                  <a:pt x="2" y="3"/>
                </a:lnTo>
                <a:lnTo>
                  <a:pt x="3" y="3"/>
                </a:lnTo>
                <a:lnTo>
                  <a:pt x="3" y="2"/>
                </a:lnTo>
                <a:lnTo>
                  <a:pt x="3" y="2"/>
                </a:lnTo>
                <a:lnTo>
                  <a:pt x="3" y="2"/>
                </a:lnTo>
                <a:lnTo>
                  <a:pt x="3" y="2"/>
                </a:lnTo>
                <a:close/>
              </a:path>
            </a:pathLst>
          </a:custGeom>
          <a:solidFill>
            <a:srgbClr val="D95F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Freeform 92"/>
          <p:cNvSpPr/>
          <p:nvPr/>
        </p:nvSpPr>
        <p:spPr>
          <a:xfrm>
            <a:off x="3505200" y="18923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3" y="1"/>
                </a:lnTo>
                <a:lnTo>
                  <a:pt x="3" y="1"/>
                </a:lnTo>
                <a:lnTo>
                  <a:pt x="3" y="1"/>
                </a:lnTo>
                <a:lnTo>
                  <a:pt x="3" y="1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2" y="3"/>
                </a:lnTo>
                <a:lnTo>
                  <a:pt x="2" y="3"/>
                </a:lnTo>
                <a:lnTo>
                  <a:pt x="2" y="3"/>
                </a:lnTo>
                <a:lnTo>
                  <a:pt x="2" y="3"/>
                </a:lnTo>
                <a:lnTo>
                  <a:pt x="3" y="3"/>
                </a:lnTo>
                <a:lnTo>
                  <a:pt x="3" y="2"/>
                </a:lnTo>
                <a:lnTo>
                  <a:pt x="3" y="2"/>
                </a:lnTo>
                <a:lnTo>
                  <a:pt x="3" y="2"/>
                </a:lnTo>
                <a:lnTo>
                  <a:pt x="3" y="2"/>
                </a:lnTo>
                <a:close/>
              </a:path>
            </a:pathLst>
          </a:custGeom>
          <a:solidFill>
            <a:srgbClr val="1B9E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Freeform 93"/>
          <p:cNvSpPr/>
          <p:nvPr/>
        </p:nvSpPr>
        <p:spPr>
          <a:xfrm>
            <a:off x="2870200" y="24130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1"/>
                </a:moveTo>
                <a:lnTo>
                  <a:pt x="3" y="1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3" y="1"/>
                </a:lnTo>
                <a:lnTo>
                  <a:pt x="3" y="1"/>
                </a:lnTo>
                <a:close/>
              </a:path>
            </a:pathLst>
          </a:custGeom>
          <a:solidFill>
            <a:srgbClr val="7570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Freeform 94"/>
          <p:cNvSpPr/>
          <p:nvPr/>
        </p:nvSpPr>
        <p:spPr>
          <a:xfrm>
            <a:off x="2057400" y="19304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1"/>
                </a:moveTo>
                <a:lnTo>
                  <a:pt x="3" y="1"/>
                </a:lnTo>
                <a:lnTo>
                  <a:pt x="3" y="1"/>
                </a:lnTo>
                <a:lnTo>
                  <a:pt x="3" y="0"/>
                </a:ln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3"/>
                </a:lnTo>
                <a:lnTo>
                  <a:pt x="2" y="3"/>
                </a:lnTo>
                <a:lnTo>
                  <a:pt x="2" y="3"/>
                </a:lnTo>
                <a:lnTo>
                  <a:pt x="2" y="2"/>
                </a:lnTo>
                <a:lnTo>
                  <a:pt x="2" y="2"/>
                </a:lnTo>
                <a:lnTo>
                  <a:pt x="3" y="2"/>
                </a:lnTo>
                <a:lnTo>
                  <a:pt x="3" y="2"/>
                </a:lnTo>
                <a:lnTo>
                  <a:pt x="3" y="2"/>
                </a:lnTo>
                <a:lnTo>
                  <a:pt x="3" y="1"/>
                </a:lnTo>
                <a:lnTo>
                  <a:pt x="3" y="1"/>
                </a:lnTo>
                <a:close/>
              </a:path>
            </a:pathLst>
          </a:custGeom>
          <a:solidFill>
            <a:srgbClr val="D95F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Freeform 95"/>
          <p:cNvSpPr/>
          <p:nvPr/>
        </p:nvSpPr>
        <p:spPr>
          <a:xfrm>
            <a:off x="3340100" y="19304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1"/>
                </a:moveTo>
                <a:lnTo>
                  <a:pt x="3" y="1"/>
                </a:lnTo>
                <a:lnTo>
                  <a:pt x="3" y="1"/>
                </a:lnTo>
                <a:lnTo>
                  <a:pt x="3" y="0"/>
                </a:ln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3"/>
                </a:lnTo>
                <a:lnTo>
                  <a:pt x="2" y="3"/>
                </a:lnTo>
                <a:lnTo>
                  <a:pt x="2" y="3"/>
                </a:lnTo>
                <a:lnTo>
                  <a:pt x="2" y="2"/>
                </a:lnTo>
                <a:lnTo>
                  <a:pt x="2" y="2"/>
                </a:lnTo>
                <a:lnTo>
                  <a:pt x="3" y="2"/>
                </a:lnTo>
                <a:lnTo>
                  <a:pt x="3" y="2"/>
                </a:lnTo>
                <a:lnTo>
                  <a:pt x="3" y="2"/>
                </a:lnTo>
                <a:lnTo>
                  <a:pt x="3" y="1"/>
                </a:lnTo>
                <a:lnTo>
                  <a:pt x="3" y="1"/>
                </a:lnTo>
                <a:close/>
              </a:path>
            </a:pathLst>
          </a:custGeom>
          <a:solidFill>
            <a:srgbClr val="1B9E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Freeform 96"/>
          <p:cNvSpPr/>
          <p:nvPr/>
        </p:nvSpPr>
        <p:spPr>
          <a:xfrm>
            <a:off x="2705100" y="24384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2"/>
                </a:move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0" y="3"/>
                </a:lnTo>
                <a:lnTo>
                  <a:pt x="0" y="3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2" y="3"/>
                </a:lnTo>
                <a:lnTo>
                  <a:pt x="2" y="3"/>
                </a:lnTo>
                <a:lnTo>
                  <a:pt x="2" y="3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close/>
              </a:path>
            </a:pathLst>
          </a:custGeom>
          <a:solidFill>
            <a:srgbClr val="7570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Freeform 97"/>
          <p:cNvSpPr/>
          <p:nvPr/>
        </p:nvSpPr>
        <p:spPr>
          <a:xfrm>
            <a:off x="2095500" y="20955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3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0" y="3"/>
                </a:lnTo>
                <a:lnTo>
                  <a:pt x="0" y="3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2" y="3"/>
                </a:lnTo>
                <a:lnTo>
                  <a:pt x="2" y="3"/>
                </a:lnTo>
                <a:lnTo>
                  <a:pt x="2" y="3"/>
                </a:lnTo>
                <a:lnTo>
                  <a:pt x="2" y="3"/>
                </a:lnTo>
                <a:lnTo>
                  <a:pt x="2" y="2"/>
                </a:lnTo>
                <a:lnTo>
                  <a:pt x="3" y="2"/>
                </a:lnTo>
                <a:lnTo>
                  <a:pt x="3" y="2"/>
                </a:lnTo>
                <a:close/>
              </a:path>
            </a:pathLst>
          </a:custGeom>
          <a:solidFill>
            <a:srgbClr val="D95F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Freeform 98"/>
          <p:cNvSpPr/>
          <p:nvPr/>
        </p:nvSpPr>
        <p:spPr>
          <a:xfrm>
            <a:off x="3378200" y="20955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3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0" y="3"/>
                </a:lnTo>
                <a:lnTo>
                  <a:pt x="0" y="3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2" y="3"/>
                </a:lnTo>
                <a:lnTo>
                  <a:pt x="2" y="3"/>
                </a:lnTo>
                <a:lnTo>
                  <a:pt x="2" y="3"/>
                </a:lnTo>
                <a:lnTo>
                  <a:pt x="2" y="3"/>
                </a:lnTo>
                <a:lnTo>
                  <a:pt x="2" y="2"/>
                </a:lnTo>
                <a:lnTo>
                  <a:pt x="3" y="2"/>
                </a:lnTo>
                <a:lnTo>
                  <a:pt x="3" y="2"/>
                </a:lnTo>
                <a:close/>
              </a:path>
            </a:pathLst>
          </a:custGeom>
          <a:solidFill>
            <a:srgbClr val="1B9E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Freeform 99"/>
          <p:cNvSpPr/>
          <p:nvPr/>
        </p:nvSpPr>
        <p:spPr>
          <a:xfrm>
            <a:off x="2730500" y="26162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1"/>
                </a:moveTo>
                <a:lnTo>
                  <a:pt x="3" y="1"/>
                </a:lnTo>
                <a:lnTo>
                  <a:pt x="3" y="1"/>
                </a:lnTo>
                <a:lnTo>
                  <a:pt x="3" y="0"/>
                </a:ln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3"/>
                </a:lnTo>
                <a:lnTo>
                  <a:pt x="2" y="3"/>
                </a:lnTo>
                <a:lnTo>
                  <a:pt x="2" y="3"/>
                </a:lnTo>
                <a:lnTo>
                  <a:pt x="2" y="2"/>
                </a:lnTo>
                <a:lnTo>
                  <a:pt x="2" y="2"/>
                </a:lnTo>
                <a:lnTo>
                  <a:pt x="3" y="2"/>
                </a:lnTo>
                <a:lnTo>
                  <a:pt x="3" y="2"/>
                </a:lnTo>
                <a:lnTo>
                  <a:pt x="3" y="2"/>
                </a:lnTo>
                <a:lnTo>
                  <a:pt x="3" y="1"/>
                </a:lnTo>
                <a:lnTo>
                  <a:pt x="3" y="1"/>
                </a:lnTo>
                <a:close/>
              </a:path>
            </a:pathLst>
          </a:custGeom>
          <a:solidFill>
            <a:srgbClr val="7570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Freeform 100"/>
          <p:cNvSpPr/>
          <p:nvPr/>
        </p:nvSpPr>
        <p:spPr>
          <a:xfrm>
            <a:off x="2222500" y="21590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3" y="2"/>
                </a:lnTo>
                <a:lnTo>
                  <a:pt x="3" y="1"/>
                </a:lnTo>
                <a:lnTo>
                  <a:pt x="3" y="1"/>
                </a:lnTo>
                <a:lnTo>
                  <a:pt x="3" y="1"/>
                </a:lnTo>
                <a:lnTo>
                  <a:pt x="2" y="1"/>
                </a:ln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2" y="3"/>
                </a:lnTo>
                <a:lnTo>
                  <a:pt x="2" y="3"/>
                </a:lnTo>
                <a:lnTo>
                  <a:pt x="2" y="3"/>
                </a:lnTo>
                <a:lnTo>
                  <a:pt x="2" y="3"/>
                </a:lnTo>
                <a:lnTo>
                  <a:pt x="3" y="3"/>
                </a:lnTo>
                <a:lnTo>
                  <a:pt x="3" y="3"/>
                </a:lnTo>
                <a:lnTo>
                  <a:pt x="3" y="2"/>
                </a:lnTo>
                <a:lnTo>
                  <a:pt x="3" y="2"/>
                </a:lnTo>
                <a:lnTo>
                  <a:pt x="3" y="2"/>
                </a:lnTo>
                <a:close/>
              </a:path>
            </a:pathLst>
          </a:custGeom>
          <a:solidFill>
            <a:srgbClr val="D95F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Freeform 101"/>
          <p:cNvSpPr/>
          <p:nvPr/>
        </p:nvSpPr>
        <p:spPr>
          <a:xfrm>
            <a:off x="3505200" y="21590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3" y="2"/>
                </a:lnTo>
                <a:lnTo>
                  <a:pt x="3" y="1"/>
                </a:lnTo>
                <a:lnTo>
                  <a:pt x="3" y="1"/>
                </a:lnTo>
                <a:lnTo>
                  <a:pt x="3" y="1"/>
                </a:lnTo>
                <a:lnTo>
                  <a:pt x="2" y="1"/>
                </a:ln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2" y="3"/>
                </a:lnTo>
                <a:lnTo>
                  <a:pt x="2" y="3"/>
                </a:lnTo>
                <a:lnTo>
                  <a:pt x="2" y="3"/>
                </a:lnTo>
                <a:lnTo>
                  <a:pt x="2" y="3"/>
                </a:lnTo>
                <a:lnTo>
                  <a:pt x="3" y="3"/>
                </a:lnTo>
                <a:lnTo>
                  <a:pt x="3" y="3"/>
                </a:lnTo>
                <a:lnTo>
                  <a:pt x="3" y="2"/>
                </a:lnTo>
                <a:lnTo>
                  <a:pt x="3" y="2"/>
                </a:lnTo>
                <a:lnTo>
                  <a:pt x="3" y="2"/>
                </a:lnTo>
                <a:close/>
              </a:path>
            </a:pathLst>
          </a:custGeom>
          <a:solidFill>
            <a:srgbClr val="1B9E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Freeform 102"/>
          <p:cNvSpPr/>
          <p:nvPr/>
        </p:nvSpPr>
        <p:spPr>
          <a:xfrm>
            <a:off x="2870200" y="26797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1"/>
                </a:moveTo>
                <a:lnTo>
                  <a:pt x="3" y="1"/>
                </a:ln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2" y="3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3" y="1"/>
                </a:lnTo>
                <a:lnTo>
                  <a:pt x="3" y="1"/>
                </a:lnTo>
                <a:close/>
              </a:path>
            </a:pathLst>
          </a:custGeom>
          <a:solidFill>
            <a:srgbClr val="7570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Freeform 103"/>
          <p:cNvSpPr/>
          <p:nvPr/>
        </p:nvSpPr>
        <p:spPr>
          <a:xfrm>
            <a:off x="2362200" y="20955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3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0" y="3"/>
                </a:lnTo>
                <a:lnTo>
                  <a:pt x="0" y="3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2" y="3"/>
                </a:lnTo>
                <a:lnTo>
                  <a:pt x="2" y="3"/>
                </a:lnTo>
                <a:lnTo>
                  <a:pt x="2" y="3"/>
                </a:lnTo>
                <a:lnTo>
                  <a:pt x="2" y="3"/>
                </a:lnTo>
                <a:lnTo>
                  <a:pt x="2" y="2"/>
                </a:lnTo>
                <a:lnTo>
                  <a:pt x="3" y="2"/>
                </a:lnTo>
                <a:lnTo>
                  <a:pt x="3" y="2"/>
                </a:lnTo>
                <a:close/>
              </a:path>
            </a:pathLst>
          </a:custGeom>
          <a:solidFill>
            <a:srgbClr val="D95F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Freeform 104"/>
          <p:cNvSpPr/>
          <p:nvPr/>
        </p:nvSpPr>
        <p:spPr>
          <a:xfrm>
            <a:off x="3644900" y="20955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3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0" y="3"/>
                </a:lnTo>
                <a:lnTo>
                  <a:pt x="0" y="3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2" y="3"/>
                </a:lnTo>
                <a:lnTo>
                  <a:pt x="2" y="3"/>
                </a:lnTo>
                <a:lnTo>
                  <a:pt x="2" y="3"/>
                </a:lnTo>
                <a:lnTo>
                  <a:pt x="2" y="3"/>
                </a:lnTo>
                <a:lnTo>
                  <a:pt x="2" y="2"/>
                </a:lnTo>
                <a:lnTo>
                  <a:pt x="3" y="2"/>
                </a:lnTo>
                <a:lnTo>
                  <a:pt x="3" y="2"/>
                </a:lnTo>
                <a:close/>
              </a:path>
            </a:pathLst>
          </a:custGeom>
          <a:solidFill>
            <a:srgbClr val="1B9E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Freeform 105"/>
          <p:cNvSpPr/>
          <p:nvPr/>
        </p:nvSpPr>
        <p:spPr>
          <a:xfrm>
            <a:off x="2997200" y="26162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1"/>
                </a:moveTo>
                <a:lnTo>
                  <a:pt x="3" y="1"/>
                </a:lnTo>
                <a:lnTo>
                  <a:pt x="3" y="1"/>
                </a:lnTo>
                <a:lnTo>
                  <a:pt x="3" y="0"/>
                </a:ln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3"/>
                </a:lnTo>
                <a:lnTo>
                  <a:pt x="2" y="3"/>
                </a:lnTo>
                <a:lnTo>
                  <a:pt x="2" y="3"/>
                </a:lnTo>
                <a:lnTo>
                  <a:pt x="2" y="2"/>
                </a:lnTo>
                <a:lnTo>
                  <a:pt x="2" y="2"/>
                </a:lnTo>
                <a:lnTo>
                  <a:pt x="3" y="2"/>
                </a:lnTo>
                <a:lnTo>
                  <a:pt x="3" y="2"/>
                </a:lnTo>
                <a:lnTo>
                  <a:pt x="3" y="2"/>
                </a:lnTo>
                <a:lnTo>
                  <a:pt x="3" y="1"/>
                </a:lnTo>
                <a:lnTo>
                  <a:pt x="3" y="1"/>
                </a:lnTo>
                <a:close/>
              </a:path>
            </a:pathLst>
          </a:custGeom>
          <a:solidFill>
            <a:srgbClr val="7570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Freeform 106"/>
          <p:cNvSpPr/>
          <p:nvPr/>
        </p:nvSpPr>
        <p:spPr>
          <a:xfrm>
            <a:off x="2997200" y="20193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3" y="1"/>
                </a:lnTo>
                <a:lnTo>
                  <a:pt x="3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0" y="3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2" y="3"/>
                </a:lnTo>
                <a:lnTo>
                  <a:pt x="2" y="3"/>
                </a:lnTo>
                <a:lnTo>
                  <a:pt x="2" y="3"/>
                </a:lnTo>
                <a:lnTo>
                  <a:pt x="2" y="3"/>
                </a:lnTo>
                <a:lnTo>
                  <a:pt x="2" y="2"/>
                </a:lnTo>
                <a:lnTo>
                  <a:pt x="3" y="2"/>
                </a:lnTo>
                <a:lnTo>
                  <a:pt x="3" y="2"/>
                </a:lnTo>
                <a:lnTo>
                  <a:pt x="3" y="2"/>
                </a:lnTo>
                <a:close/>
              </a:path>
            </a:pathLst>
          </a:custGeom>
          <a:solidFill>
            <a:srgbClr val="D95F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Freeform 107"/>
          <p:cNvSpPr/>
          <p:nvPr/>
        </p:nvSpPr>
        <p:spPr>
          <a:xfrm>
            <a:off x="2616200" y="2336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D95F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Freeform 108"/>
          <p:cNvSpPr/>
          <p:nvPr/>
        </p:nvSpPr>
        <p:spPr>
          <a:xfrm>
            <a:off x="2743200" y="20193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2"/>
                </a:move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0" y="3"/>
                </a:lnTo>
                <a:lnTo>
                  <a:pt x="0" y="3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2" y="3"/>
                </a:lnTo>
                <a:lnTo>
                  <a:pt x="2" y="3"/>
                </a:lnTo>
                <a:lnTo>
                  <a:pt x="2" y="3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close/>
              </a:path>
            </a:pathLst>
          </a:custGeom>
          <a:solidFill>
            <a:srgbClr val="1B9E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Freeform 109"/>
          <p:cNvSpPr/>
          <p:nvPr/>
        </p:nvSpPr>
        <p:spPr>
          <a:xfrm>
            <a:off x="3124200" y="23368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1"/>
                </a:moveTo>
                <a:lnTo>
                  <a:pt x="3" y="1"/>
                </a:ln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3" y="1"/>
                </a:lnTo>
                <a:lnTo>
                  <a:pt x="3" y="1"/>
                </a:lnTo>
                <a:lnTo>
                  <a:pt x="3" y="1"/>
                </a:lnTo>
                <a:close/>
              </a:path>
            </a:pathLst>
          </a:custGeom>
          <a:solidFill>
            <a:srgbClr val="1B9E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Freeform 110"/>
          <p:cNvSpPr/>
          <p:nvPr/>
        </p:nvSpPr>
        <p:spPr>
          <a:xfrm>
            <a:off x="2476500" y="22225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3" y="2"/>
                </a:lnTo>
                <a:lnTo>
                  <a:pt x="3" y="1"/>
                </a:lnTo>
                <a:lnTo>
                  <a:pt x="3" y="1"/>
                </a:lnTo>
                <a:lnTo>
                  <a:pt x="3" y="1"/>
                </a:lnTo>
                <a:lnTo>
                  <a:pt x="3" y="1"/>
                </a:ln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2" y="3"/>
                </a:lnTo>
                <a:lnTo>
                  <a:pt x="2" y="3"/>
                </a:lnTo>
                <a:lnTo>
                  <a:pt x="2" y="3"/>
                </a:lnTo>
                <a:lnTo>
                  <a:pt x="2" y="3"/>
                </a:lnTo>
                <a:lnTo>
                  <a:pt x="3" y="3"/>
                </a:lnTo>
                <a:lnTo>
                  <a:pt x="3" y="3"/>
                </a:lnTo>
                <a:lnTo>
                  <a:pt x="3" y="3"/>
                </a:lnTo>
                <a:lnTo>
                  <a:pt x="3" y="2"/>
                </a:lnTo>
                <a:lnTo>
                  <a:pt x="3" y="2"/>
                </a:lnTo>
                <a:lnTo>
                  <a:pt x="3" y="2"/>
                </a:lnTo>
                <a:close/>
              </a:path>
            </a:pathLst>
          </a:custGeom>
          <a:solidFill>
            <a:srgbClr val="7570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Freeform 111"/>
          <p:cNvSpPr/>
          <p:nvPr/>
        </p:nvSpPr>
        <p:spPr>
          <a:xfrm>
            <a:off x="3251200" y="22225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3" y="2"/>
                </a:lnTo>
                <a:lnTo>
                  <a:pt x="3" y="1"/>
                </a:lnTo>
                <a:lnTo>
                  <a:pt x="3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1"/>
                </a:lnTo>
                <a:lnTo>
                  <a:pt x="1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0" y="3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2" y="3"/>
                </a:lnTo>
                <a:lnTo>
                  <a:pt x="2" y="3"/>
                </a:lnTo>
                <a:lnTo>
                  <a:pt x="2" y="3"/>
                </a:lnTo>
                <a:lnTo>
                  <a:pt x="2" y="3"/>
                </a:lnTo>
                <a:lnTo>
                  <a:pt x="3" y="3"/>
                </a:lnTo>
                <a:lnTo>
                  <a:pt x="3" y="2"/>
                </a:lnTo>
                <a:lnTo>
                  <a:pt x="3" y="2"/>
                </a:lnTo>
                <a:lnTo>
                  <a:pt x="3" y="2"/>
                </a:lnTo>
                <a:close/>
              </a:path>
            </a:pathLst>
          </a:custGeom>
          <a:solidFill>
            <a:srgbClr val="7570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0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2880005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5" name="Picture 11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116" name="Picture 11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117" name="TextBox 116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GA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variants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08000" y="359888"/>
            <a:ext cx="567739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1">
                <a:solidFill>
                  <a:srgbClr val="003373"/>
                </a:solidFill>
                <a:latin typeface="Josefin Sans"/>
              </a:rPr>
              <a:t>Island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genetic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algorithms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460057" y="684300"/>
            <a:ext cx="532533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multiple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populations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2089090" y="1998564"/>
            <a:ext cx="3696305" cy="15300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77" b="0">
                <a:solidFill>
                  <a:srgbClr val="000000"/>
                </a:solidFill>
                <a:latin typeface="Josefin Sans"/>
              </a:rPr>
              <a:t>Island</a:t>
            </a:r>
            <a:r>
              <a:rPr sz="777" b="0">
                <a:solidFill>
                  <a:srgbClr val="000000"/>
                </a:solidFill>
                <a:latin typeface="Josefin Sans"/>
              </a:rPr>
              <a:t> </a:t>
            </a:r>
            <a:r>
              <a:rPr sz="77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3362131" y="1998564"/>
            <a:ext cx="2423264" cy="15300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77" b="0">
                <a:solidFill>
                  <a:srgbClr val="000000"/>
                </a:solidFill>
                <a:latin typeface="Josefin Sans"/>
              </a:rPr>
              <a:t>Island</a:t>
            </a:r>
            <a:r>
              <a:rPr sz="777" b="0">
                <a:solidFill>
                  <a:srgbClr val="000000"/>
                </a:solidFill>
                <a:latin typeface="Josefin Sans"/>
              </a:rPr>
              <a:t> </a:t>
            </a:r>
            <a:r>
              <a:rPr sz="777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720231" y="2511572"/>
            <a:ext cx="3065164" cy="15300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77" b="0">
                <a:solidFill>
                  <a:srgbClr val="000000"/>
                </a:solidFill>
                <a:latin typeface="Josefin Sans"/>
              </a:rPr>
              <a:t>Island</a:t>
            </a:r>
            <a:r>
              <a:rPr sz="777" b="0">
                <a:solidFill>
                  <a:srgbClr val="000000"/>
                </a:solidFill>
                <a:latin typeface="Josefin Sans"/>
              </a:rPr>
              <a:t> </a:t>
            </a:r>
            <a:r>
              <a:rPr sz="777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679828" y="1908699"/>
            <a:ext cx="3105567" cy="15300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77" b="0">
                <a:solidFill>
                  <a:srgbClr val="000000"/>
                </a:solidFill>
                <a:latin typeface="Josefin Sans"/>
              </a:rPr>
              <a:t>migration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4898771" y="3150931"/>
            <a:ext cx="88662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5627447" y="3150707"/>
            <a:ext cx="15794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87</a:t>
            </a:r>
          </a:p>
        </p:txBody>
      </p:sp>
    </p:spTree>
  </p:cSld>
  <p:clrMapOvr>
    <a:masterClrMapping/>
  </p:clrMapOvr>
</p:sld>
</file>

<file path=ppt/slides/slide2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H="1" flipV="1">
            <a:off x="2444792" y="1953195"/>
            <a:ext cx="3363" cy="87723"/>
          </a:xfrm>
          <a:prstGeom prst="line">
            <a:avLst/>
          </a:prstGeom>
          <a:ln w="360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H="1" flipV="1">
            <a:off x="2380689" y="1852089"/>
            <a:ext cx="64103" cy="101106"/>
          </a:xfrm>
          <a:prstGeom prst="line">
            <a:avLst/>
          </a:prstGeom>
          <a:ln w="360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H="1" flipV="1">
            <a:off x="2267573" y="1801747"/>
            <a:ext cx="113116" cy="50342"/>
          </a:xfrm>
          <a:prstGeom prst="line">
            <a:avLst/>
          </a:prstGeom>
          <a:ln w="360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H="1">
            <a:off x="2147307" y="1801747"/>
            <a:ext cx="120266" cy="49786"/>
          </a:xfrm>
          <a:prstGeom prst="line">
            <a:avLst/>
          </a:prstGeom>
          <a:ln w="360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H="1">
            <a:off x="2065786" y="1851533"/>
            <a:ext cx="81521" cy="31777"/>
          </a:xfrm>
          <a:prstGeom prst="line">
            <a:avLst/>
          </a:prstGeom>
          <a:ln w="360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H="1">
            <a:off x="2009467" y="1883310"/>
            <a:ext cx="56319" cy="138674"/>
          </a:xfrm>
          <a:prstGeom prst="line">
            <a:avLst/>
          </a:prstGeom>
          <a:ln w="360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2009467" y="2021984"/>
            <a:ext cx="30163" cy="116919"/>
          </a:xfrm>
          <a:prstGeom prst="line">
            <a:avLst/>
          </a:prstGeom>
          <a:ln w="360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2039630" y="2138903"/>
            <a:ext cx="57835" cy="70336"/>
          </a:xfrm>
          <a:prstGeom prst="line">
            <a:avLst/>
          </a:prstGeom>
          <a:ln w="360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2097465" y="2209239"/>
            <a:ext cx="132240" cy="70851"/>
          </a:xfrm>
          <a:prstGeom prst="line">
            <a:avLst/>
          </a:prstGeom>
          <a:ln w="360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2229705" y="2221272"/>
            <a:ext cx="125184" cy="58818"/>
          </a:xfrm>
          <a:prstGeom prst="line">
            <a:avLst/>
          </a:prstGeom>
          <a:ln w="360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2354889" y="2174187"/>
            <a:ext cx="50360" cy="47085"/>
          </a:xfrm>
          <a:prstGeom prst="line">
            <a:avLst/>
          </a:prstGeom>
          <a:ln w="360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2405249" y="2059852"/>
            <a:ext cx="82561" cy="114335"/>
          </a:xfrm>
          <a:prstGeom prst="line">
            <a:avLst/>
          </a:prstGeom>
          <a:ln w="360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3739926" y="1958095"/>
            <a:ext cx="10637" cy="82823"/>
          </a:xfrm>
          <a:prstGeom prst="line">
            <a:avLst/>
          </a:prstGeom>
          <a:ln w="360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H="1" flipV="1">
            <a:off x="3707659" y="1878789"/>
            <a:ext cx="42904" cy="79306"/>
          </a:xfrm>
          <a:prstGeom prst="line">
            <a:avLst/>
          </a:prstGeom>
          <a:ln w="360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H="1" flipV="1">
            <a:off x="3591113" y="1815999"/>
            <a:ext cx="116546" cy="62790"/>
          </a:xfrm>
          <a:prstGeom prst="line">
            <a:avLst/>
          </a:prstGeom>
          <a:ln w="360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H="1">
            <a:off x="3532619" y="1815999"/>
            <a:ext cx="58494" cy="8384"/>
          </a:xfrm>
          <a:prstGeom prst="line">
            <a:avLst/>
          </a:prstGeom>
          <a:ln w="360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H="1">
            <a:off x="3459962" y="1824383"/>
            <a:ext cx="72657" cy="22542"/>
          </a:xfrm>
          <a:prstGeom prst="line">
            <a:avLst/>
          </a:prstGeom>
          <a:ln w="360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H="1">
            <a:off x="3346932" y="1846925"/>
            <a:ext cx="113030" cy="39067"/>
          </a:xfrm>
          <a:prstGeom prst="line">
            <a:avLst/>
          </a:prstGeom>
          <a:ln w="360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H="1">
            <a:off x="3335192" y="1885992"/>
            <a:ext cx="11740" cy="95927"/>
          </a:xfrm>
          <a:prstGeom prst="line">
            <a:avLst/>
          </a:prstGeom>
          <a:ln w="360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H="1">
            <a:off x="3314636" y="1981919"/>
            <a:ext cx="20556" cy="57554"/>
          </a:xfrm>
          <a:prstGeom prst="line">
            <a:avLst/>
          </a:prstGeom>
          <a:ln w="360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H="1">
            <a:off x="3311185" y="2039473"/>
            <a:ext cx="3451" cy="102209"/>
          </a:xfrm>
          <a:prstGeom prst="line">
            <a:avLst/>
          </a:prstGeom>
          <a:ln w="360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3311185" y="2141682"/>
            <a:ext cx="67752" cy="79322"/>
          </a:xfrm>
          <a:prstGeom prst="line">
            <a:avLst/>
          </a:prstGeom>
          <a:ln w="360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3378937" y="2221004"/>
            <a:ext cx="96027" cy="47869"/>
          </a:xfrm>
          <a:prstGeom prst="line">
            <a:avLst/>
          </a:prstGeom>
          <a:ln w="360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3474964" y="2257454"/>
            <a:ext cx="54763" cy="11419"/>
          </a:xfrm>
          <a:prstGeom prst="line">
            <a:avLst/>
          </a:prstGeom>
          <a:ln w="360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3529727" y="2257454"/>
            <a:ext cx="73643" cy="13474"/>
          </a:xfrm>
          <a:prstGeom prst="line">
            <a:avLst/>
          </a:prstGeom>
          <a:ln w="360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3603370" y="2186754"/>
            <a:ext cx="83759" cy="84174"/>
          </a:xfrm>
          <a:prstGeom prst="line">
            <a:avLst/>
          </a:prstGeom>
          <a:ln w="360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3687129" y="2106222"/>
            <a:ext cx="50100" cy="80532"/>
          </a:xfrm>
          <a:prstGeom prst="line">
            <a:avLst/>
          </a:prstGeom>
          <a:ln w="360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3737229" y="2042365"/>
            <a:ext cx="10479" cy="63857"/>
          </a:xfrm>
          <a:prstGeom prst="line">
            <a:avLst/>
          </a:prstGeom>
          <a:ln w="360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3098476" y="2461494"/>
            <a:ext cx="13228" cy="92438"/>
          </a:xfrm>
          <a:prstGeom prst="line">
            <a:avLst/>
          </a:prstGeom>
          <a:ln w="360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H="1" flipV="1">
            <a:off x="3030666" y="2379729"/>
            <a:ext cx="81038" cy="81765"/>
          </a:xfrm>
          <a:prstGeom prst="line">
            <a:avLst/>
          </a:prstGeom>
          <a:ln w="360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H="1" flipV="1">
            <a:off x="2938128" y="2330866"/>
            <a:ext cx="92538" cy="48863"/>
          </a:xfrm>
          <a:prstGeom prst="line">
            <a:avLst/>
          </a:prstGeom>
          <a:ln w="360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H="1">
            <a:off x="2891333" y="2330866"/>
            <a:ext cx="46795" cy="6783"/>
          </a:xfrm>
          <a:prstGeom prst="line">
            <a:avLst/>
          </a:prstGeom>
          <a:ln w="360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H="1" flipV="1">
            <a:off x="2796030" y="2326087"/>
            <a:ext cx="95303" cy="11562"/>
          </a:xfrm>
          <a:prstGeom prst="line">
            <a:avLst/>
          </a:prstGeom>
          <a:ln w="360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H="1">
            <a:off x="2736954" y="2326087"/>
            <a:ext cx="59076" cy="69423"/>
          </a:xfrm>
          <a:prstGeom prst="line">
            <a:avLst/>
          </a:prstGeom>
          <a:ln w="360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 flipH="1">
            <a:off x="2679475" y="2395510"/>
            <a:ext cx="57479" cy="79138"/>
          </a:xfrm>
          <a:prstGeom prst="line">
            <a:avLst/>
          </a:prstGeom>
          <a:ln w="360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H="1">
            <a:off x="2673621" y="2474648"/>
            <a:ext cx="5854" cy="77851"/>
          </a:xfrm>
          <a:prstGeom prst="line">
            <a:avLst/>
          </a:prstGeom>
          <a:ln w="360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2673621" y="2552499"/>
            <a:ext cx="26919" cy="110321"/>
          </a:xfrm>
          <a:prstGeom prst="line">
            <a:avLst/>
          </a:prstGeom>
          <a:ln w="360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2700540" y="2662820"/>
            <a:ext cx="35534" cy="62042"/>
          </a:xfrm>
          <a:prstGeom prst="line">
            <a:avLst/>
          </a:prstGeom>
          <a:ln w="360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2736074" y="2724862"/>
            <a:ext cx="98847" cy="30848"/>
          </a:xfrm>
          <a:prstGeom prst="line">
            <a:avLst/>
          </a:prstGeom>
          <a:ln w="360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2834921" y="2755710"/>
            <a:ext cx="53551" cy="14505"/>
          </a:xfrm>
          <a:prstGeom prst="line">
            <a:avLst/>
          </a:prstGeom>
          <a:ln w="360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 flipV="1">
            <a:off x="2888472" y="2768685"/>
            <a:ext cx="99208" cy="1530"/>
          </a:xfrm>
          <a:prstGeom prst="line">
            <a:avLst/>
          </a:prstGeom>
          <a:ln w="360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V="1">
            <a:off x="2987680" y="2689297"/>
            <a:ext cx="61097" cy="79388"/>
          </a:xfrm>
          <a:prstGeom prst="line">
            <a:avLst/>
          </a:prstGeom>
          <a:ln w="360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 flipV="1">
            <a:off x="3048777" y="2634089"/>
            <a:ext cx="63036" cy="55208"/>
          </a:xfrm>
          <a:prstGeom prst="line">
            <a:avLst/>
          </a:prstGeom>
          <a:ln w="360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 flipH="1" flipV="1">
            <a:off x="3106189" y="2555366"/>
            <a:ext cx="5624" cy="78723"/>
          </a:xfrm>
          <a:prstGeom prst="line">
            <a:avLst/>
          </a:prstGeom>
          <a:ln w="360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2467988" y="2040918"/>
            <a:ext cx="834598" cy="0"/>
          </a:xfrm>
          <a:prstGeom prst="line">
            <a:avLst/>
          </a:prstGeom>
          <a:ln w="360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Freeform 80"/>
          <p:cNvSpPr/>
          <p:nvPr/>
        </p:nvSpPr>
        <p:spPr>
          <a:xfrm>
            <a:off x="2451100" y="20320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0" y="1"/>
                </a:moveTo>
                <a:lnTo>
                  <a:pt x="2" y="2"/>
                </a:lnTo>
                <a:lnTo>
                  <a:pt x="1" y="1"/>
                </a:lnTo>
                <a:lnTo>
                  <a:pt x="2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Freeform 81"/>
          <p:cNvSpPr/>
          <p:nvPr/>
        </p:nvSpPr>
        <p:spPr>
          <a:xfrm>
            <a:off x="3289300" y="20320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3" name="Connector 82"/>
          <p:cNvCxnSpPr/>
          <p:nvPr/>
        </p:nvCxnSpPr>
        <p:spPr>
          <a:xfrm>
            <a:off x="2419911" y="2177935"/>
            <a:ext cx="291652" cy="233321"/>
          </a:xfrm>
          <a:prstGeom prst="line">
            <a:avLst/>
          </a:prstGeom>
          <a:ln w="360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Freeform 83"/>
          <p:cNvSpPr/>
          <p:nvPr/>
        </p:nvSpPr>
        <p:spPr>
          <a:xfrm>
            <a:off x="2400300" y="21717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0" y="0"/>
                </a:moveTo>
                <a:lnTo>
                  <a:pt x="1" y="2"/>
                </a:lnTo>
                <a:lnTo>
                  <a:pt x="2" y="0"/>
                </a:lnTo>
                <a:lnTo>
                  <a:pt x="3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Freeform 84"/>
          <p:cNvSpPr/>
          <p:nvPr/>
        </p:nvSpPr>
        <p:spPr>
          <a:xfrm>
            <a:off x="2692400" y="23876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3"/>
                </a:move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6" name="Connector 85"/>
          <p:cNvCxnSpPr/>
          <p:nvPr/>
        </p:nvCxnSpPr>
        <p:spPr>
          <a:xfrm flipH="1">
            <a:off x="3068248" y="2183705"/>
            <a:ext cx="284439" cy="227551"/>
          </a:xfrm>
          <a:prstGeom prst="line">
            <a:avLst/>
          </a:prstGeom>
          <a:ln w="360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Freeform 86"/>
          <p:cNvSpPr/>
          <p:nvPr/>
        </p:nvSpPr>
        <p:spPr>
          <a:xfrm>
            <a:off x="3340100" y="21717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1"/>
                </a:lnTo>
                <a:lnTo>
                  <a:pt x="1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Freeform 87"/>
          <p:cNvSpPr/>
          <p:nvPr/>
        </p:nvSpPr>
        <p:spPr>
          <a:xfrm>
            <a:off x="3048000" y="23876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0" y="3"/>
                </a:moveTo>
                <a:lnTo>
                  <a:pt x="3" y="2"/>
                </a:lnTo>
                <a:lnTo>
                  <a:pt x="2" y="2"/>
                </a:lnTo>
                <a:lnTo>
                  <a:pt x="2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Freeform 88"/>
          <p:cNvSpPr/>
          <p:nvPr/>
        </p:nvSpPr>
        <p:spPr>
          <a:xfrm>
            <a:off x="2362200" y="19431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3" y="1"/>
                </a:lnTo>
                <a:lnTo>
                  <a:pt x="3" y="1"/>
                </a:lnTo>
                <a:lnTo>
                  <a:pt x="3" y="1"/>
                </a:lnTo>
                <a:lnTo>
                  <a:pt x="3" y="1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2" y="3"/>
                </a:lnTo>
                <a:lnTo>
                  <a:pt x="2" y="3"/>
                </a:lnTo>
                <a:lnTo>
                  <a:pt x="2" y="3"/>
                </a:lnTo>
                <a:lnTo>
                  <a:pt x="2" y="3"/>
                </a:lnTo>
                <a:lnTo>
                  <a:pt x="3" y="3"/>
                </a:lnTo>
                <a:lnTo>
                  <a:pt x="3" y="2"/>
                </a:lnTo>
                <a:lnTo>
                  <a:pt x="3" y="2"/>
                </a:lnTo>
                <a:lnTo>
                  <a:pt x="3" y="2"/>
                </a:lnTo>
                <a:lnTo>
                  <a:pt x="3" y="2"/>
                </a:lnTo>
                <a:close/>
              </a:path>
            </a:pathLst>
          </a:custGeom>
          <a:solidFill>
            <a:srgbClr val="D95F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Freeform 89"/>
          <p:cNvSpPr/>
          <p:nvPr/>
        </p:nvSpPr>
        <p:spPr>
          <a:xfrm>
            <a:off x="3644900" y="19431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3" y="1"/>
                </a:lnTo>
                <a:lnTo>
                  <a:pt x="3" y="1"/>
                </a:lnTo>
                <a:lnTo>
                  <a:pt x="3" y="1"/>
                </a:lnTo>
                <a:lnTo>
                  <a:pt x="3" y="1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2" y="3"/>
                </a:lnTo>
                <a:lnTo>
                  <a:pt x="2" y="3"/>
                </a:lnTo>
                <a:lnTo>
                  <a:pt x="2" y="3"/>
                </a:lnTo>
                <a:lnTo>
                  <a:pt x="2" y="3"/>
                </a:lnTo>
                <a:lnTo>
                  <a:pt x="3" y="3"/>
                </a:lnTo>
                <a:lnTo>
                  <a:pt x="3" y="2"/>
                </a:lnTo>
                <a:lnTo>
                  <a:pt x="3" y="2"/>
                </a:lnTo>
                <a:lnTo>
                  <a:pt x="3" y="2"/>
                </a:lnTo>
                <a:lnTo>
                  <a:pt x="3" y="2"/>
                </a:lnTo>
                <a:close/>
              </a:path>
            </a:pathLst>
          </a:custGeom>
          <a:solidFill>
            <a:srgbClr val="1B9E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Freeform 90"/>
          <p:cNvSpPr/>
          <p:nvPr/>
        </p:nvSpPr>
        <p:spPr>
          <a:xfrm>
            <a:off x="3009900" y="2463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7570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Freeform 91"/>
          <p:cNvSpPr/>
          <p:nvPr/>
        </p:nvSpPr>
        <p:spPr>
          <a:xfrm>
            <a:off x="2235200" y="18923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2"/>
                </a:move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0" y="3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2" y="3"/>
                </a:lnTo>
                <a:lnTo>
                  <a:pt x="2" y="3"/>
                </a:lnTo>
                <a:lnTo>
                  <a:pt x="2" y="3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close/>
              </a:path>
            </a:pathLst>
          </a:custGeom>
          <a:solidFill>
            <a:srgbClr val="D95F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Freeform 92"/>
          <p:cNvSpPr/>
          <p:nvPr/>
        </p:nvSpPr>
        <p:spPr>
          <a:xfrm>
            <a:off x="3517900" y="18923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2"/>
                </a:move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0" y="3"/>
                </a:lnTo>
                <a:lnTo>
                  <a:pt x="0" y="3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2" y="3"/>
                </a:lnTo>
                <a:lnTo>
                  <a:pt x="2" y="3"/>
                </a:lnTo>
                <a:lnTo>
                  <a:pt x="2" y="3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close/>
              </a:path>
            </a:pathLst>
          </a:custGeom>
          <a:solidFill>
            <a:srgbClr val="1B9E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Freeform 93"/>
          <p:cNvSpPr/>
          <p:nvPr/>
        </p:nvSpPr>
        <p:spPr>
          <a:xfrm>
            <a:off x="2870200" y="24130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1"/>
                </a:moveTo>
                <a:lnTo>
                  <a:pt x="3" y="1"/>
                </a:lnTo>
                <a:lnTo>
                  <a:pt x="3" y="0"/>
                </a:lnTo>
                <a:lnTo>
                  <a:pt x="3" y="0"/>
                </a:ln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3" y="2"/>
                </a:lnTo>
                <a:lnTo>
                  <a:pt x="3" y="2"/>
                </a:lnTo>
                <a:lnTo>
                  <a:pt x="3" y="2"/>
                </a:lnTo>
                <a:lnTo>
                  <a:pt x="3" y="1"/>
                </a:lnTo>
                <a:lnTo>
                  <a:pt x="3" y="1"/>
                </a:lnTo>
                <a:close/>
              </a:path>
            </a:pathLst>
          </a:custGeom>
          <a:solidFill>
            <a:srgbClr val="7570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Freeform 94"/>
          <p:cNvSpPr/>
          <p:nvPr/>
        </p:nvSpPr>
        <p:spPr>
          <a:xfrm>
            <a:off x="2070100" y="19304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1"/>
                </a:moveTo>
                <a:lnTo>
                  <a:pt x="2" y="1"/>
                </a:ln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D95F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Freeform 95"/>
          <p:cNvSpPr/>
          <p:nvPr/>
        </p:nvSpPr>
        <p:spPr>
          <a:xfrm>
            <a:off x="3352800" y="19304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1"/>
                </a:moveTo>
                <a:lnTo>
                  <a:pt x="2" y="1"/>
                </a:ln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1B9E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Freeform 96"/>
          <p:cNvSpPr/>
          <p:nvPr/>
        </p:nvSpPr>
        <p:spPr>
          <a:xfrm>
            <a:off x="2705100" y="24384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3" y="1"/>
                </a:lnTo>
                <a:lnTo>
                  <a:pt x="3" y="1"/>
                </a:lnTo>
                <a:lnTo>
                  <a:pt x="3" y="1"/>
                </a:ln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2" y="3"/>
                </a:lnTo>
                <a:lnTo>
                  <a:pt x="2" y="3"/>
                </a:lnTo>
                <a:lnTo>
                  <a:pt x="2" y="3"/>
                </a:lnTo>
                <a:lnTo>
                  <a:pt x="2" y="3"/>
                </a:lnTo>
                <a:lnTo>
                  <a:pt x="3" y="2"/>
                </a:lnTo>
                <a:lnTo>
                  <a:pt x="3" y="2"/>
                </a:lnTo>
                <a:lnTo>
                  <a:pt x="3" y="2"/>
                </a:lnTo>
                <a:lnTo>
                  <a:pt x="3" y="2"/>
                </a:lnTo>
                <a:close/>
              </a:path>
            </a:pathLst>
          </a:custGeom>
          <a:solidFill>
            <a:srgbClr val="7570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Freeform 97"/>
          <p:cNvSpPr/>
          <p:nvPr/>
        </p:nvSpPr>
        <p:spPr>
          <a:xfrm>
            <a:off x="2095500" y="20955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3" y="1"/>
                </a:lnTo>
                <a:lnTo>
                  <a:pt x="3" y="1"/>
                </a:lnTo>
                <a:lnTo>
                  <a:pt x="3" y="1"/>
                </a:lnTo>
                <a:lnTo>
                  <a:pt x="3" y="1"/>
                </a:ln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1"/>
                </a:lnTo>
                <a:lnTo>
                  <a:pt x="1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2" y="3"/>
                </a:lnTo>
                <a:lnTo>
                  <a:pt x="2" y="3"/>
                </a:lnTo>
                <a:lnTo>
                  <a:pt x="2" y="3"/>
                </a:lnTo>
                <a:lnTo>
                  <a:pt x="2" y="3"/>
                </a:lnTo>
                <a:lnTo>
                  <a:pt x="3" y="3"/>
                </a:lnTo>
                <a:lnTo>
                  <a:pt x="3" y="3"/>
                </a:lnTo>
                <a:lnTo>
                  <a:pt x="3" y="2"/>
                </a:lnTo>
                <a:lnTo>
                  <a:pt x="3" y="2"/>
                </a:lnTo>
                <a:lnTo>
                  <a:pt x="3" y="2"/>
                </a:lnTo>
                <a:close/>
              </a:path>
            </a:pathLst>
          </a:custGeom>
          <a:solidFill>
            <a:srgbClr val="D95F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Freeform 98"/>
          <p:cNvSpPr/>
          <p:nvPr/>
        </p:nvSpPr>
        <p:spPr>
          <a:xfrm>
            <a:off x="3378200" y="20955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3" y="1"/>
                </a:lnTo>
                <a:lnTo>
                  <a:pt x="3" y="1"/>
                </a:lnTo>
                <a:lnTo>
                  <a:pt x="3" y="1"/>
                </a:lnTo>
                <a:lnTo>
                  <a:pt x="3" y="1"/>
                </a:ln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1"/>
                </a:lnTo>
                <a:lnTo>
                  <a:pt x="1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2" y="3"/>
                </a:lnTo>
                <a:lnTo>
                  <a:pt x="2" y="3"/>
                </a:lnTo>
                <a:lnTo>
                  <a:pt x="2" y="3"/>
                </a:lnTo>
                <a:lnTo>
                  <a:pt x="2" y="3"/>
                </a:lnTo>
                <a:lnTo>
                  <a:pt x="3" y="3"/>
                </a:lnTo>
                <a:lnTo>
                  <a:pt x="3" y="3"/>
                </a:lnTo>
                <a:lnTo>
                  <a:pt x="3" y="2"/>
                </a:lnTo>
                <a:lnTo>
                  <a:pt x="3" y="2"/>
                </a:lnTo>
                <a:lnTo>
                  <a:pt x="3" y="2"/>
                </a:lnTo>
                <a:close/>
              </a:path>
            </a:pathLst>
          </a:custGeom>
          <a:solidFill>
            <a:srgbClr val="1B9E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Freeform 99"/>
          <p:cNvSpPr/>
          <p:nvPr/>
        </p:nvSpPr>
        <p:spPr>
          <a:xfrm>
            <a:off x="2743200" y="26162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1"/>
                </a:moveTo>
                <a:lnTo>
                  <a:pt x="2" y="1"/>
                </a:ln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7570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Freeform 100"/>
          <p:cNvSpPr/>
          <p:nvPr/>
        </p:nvSpPr>
        <p:spPr>
          <a:xfrm>
            <a:off x="2235200" y="21590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2"/>
                </a:moveTo>
                <a:lnTo>
                  <a:pt x="2" y="2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0" y="3"/>
                </a:lnTo>
                <a:lnTo>
                  <a:pt x="0" y="3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2" y="3"/>
                </a:lnTo>
                <a:lnTo>
                  <a:pt x="2" y="3"/>
                </a:lnTo>
                <a:lnTo>
                  <a:pt x="2" y="3"/>
                </a:lnTo>
                <a:lnTo>
                  <a:pt x="2" y="3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close/>
              </a:path>
            </a:pathLst>
          </a:custGeom>
          <a:solidFill>
            <a:srgbClr val="D95F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Freeform 101"/>
          <p:cNvSpPr/>
          <p:nvPr/>
        </p:nvSpPr>
        <p:spPr>
          <a:xfrm>
            <a:off x="3517900" y="21590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2"/>
                </a:moveTo>
                <a:lnTo>
                  <a:pt x="2" y="2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0" y="3"/>
                </a:lnTo>
                <a:lnTo>
                  <a:pt x="0" y="3"/>
                </a:lnTo>
                <a:lnTo>
                  <a:pt x="0" y="3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2" y="3"/>
                </a:lnTo>
                <a:lnTo>
                  <a:pt x="2" y="3"/>
                </a:lnTo>
                <a:lnTo>
                  <a:pt x="2" y="3"/>
                </a:lnTo>
                <a:lnTo>
                  <a:pt x="2" y="3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close/>
              </a:path>
            </a:pathLst>
          </a:custGeom>
          <a:solidFill>
            <a:srgbClr val="1B9E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Freeform 102"/>
          <p:cNvSpPr/>
          <p:nvPr/>
        </p:nvSpPr>
        <p:spPr>
          <a:xfrm>
            <a:off x="2870200" y="26797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1"/>
                </a:moveTo>
                <a:lnTo>
                  <a:pt x="3" y="1"/>
                </a:lnTo>
                <a:lnTo>
                  <a:pt x="3" y="1"/>
                </a:lnTo>
                <a:lnTo>
                  <a:pt x="3" y="0"/>
                </a:ln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3"/>
                </a:lnTo>
                <a:lnTo>
                  <a:pt x="1" y="3"/>
                </a:lnTo>
                <a:lnTo>
                  <a:pt x="2" y="3"/>
                </a:lnTo>
                <a:lnTo>
                  <a:pt x="2" y="3"/>
                </a:lnTo>
                <a:lnTo>
                  <a:pt x="2" y="3"/>
                </a:lnTo>
                <a:lnTo>
                  <a:pt x="2" y="2"/>
                </a:lnTo>
                <a:lnTo>
                  <a:pt x="3" y="2"/>
                </a:lnTo>
                <a:lnTo>
                  <a:pt x="3" y="2"/>
                </a:lnTo>
                <a:lnTo>
                  <a:pt x="3" y="2"/>
                </a:lnTo>
                <a:lnTo>
                  <a:pt x="3" y="1"/>
                </a:lnTo>
                <a:lnTo>
                  <a:pt x="3" y="1"/>
                </a:lnTo>
                <a:close/>
              </a:path>
            </a:pathLst>
          </a:custGeom>
          <a:solidFill>
            <a:srgbClr val="7570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Freeform 103"/>
          <p:cNvSpPr/>
          <p:nvPr/>
        </p:nvSpPr>
        <p:spPr>
          <a:xfrm>
            <a:off x="2362200" y="20955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3" y="1"/>
                </a:lnTo>
                <a:lnTo>
                  <a:pt x="3" y="1"/>
                </a:lnTo>
                <a:lnTo>
                  <a:pt x="3" y="1"/>
                </a:lnTo>
                <a:lnTo>
                  <a:pt x="3" y="1"/>
                </a:ln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1"/>
                </a:lnTo>
                <a:lnTo>
                  <a:pt x="1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2" y="3"/>
                </a:lnTo>
                <a:lnTo>
                  <a:pt x="2" y="3"/>
                </a:lnTo>
                <a:lnTo>
                  <a:pt x="2" y="3"/>
                </a:lnTo>
                <a:lnTo>
                  <a:pt x="2" y="3"/>
                </a:lnTo>
                <a:lnTo>
                  <a:pt x="3" y="3"/>
                </a:lnTo>
                <a:lnTo>
                  <a:pt x="3" y="3"/>
                </a:lnTo>
                <a:lnTo>
                  <a:pt x="3" y="2"/>
                </a:lnTo>
                <a:lnTo>
                  <a:pt x="3" y="2"/>
                </a:lnTo>
                <a:lnTo>
                  <a:pt x="3" y="2"/>
                </a:lnTo>
                <a:close/>
              </a:path>
            </a:pathLst>
          </a:custGeom>
          <a:solidFill>
            <a:srgbClr val="D95F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Freeform 104"/>
          <p:cNvSpPr/>
          <p:nvPr/>
        </p:nvSpPr>
        <p:spPr>
          <a:xfrm>
            <a:off x="3644900" y="20955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3" y="1"/>
                </a:lnTo>
                <a:lnTo>
                  <a:pt x="3" y="1"/>
                </a:lnTo>
                <a:lnTo>
                  <a:pt x="3" y="1"/>
                </a:lnTo>
                <a:lnTo>
                  <a:pt x="3" y="1"/>
                </a:ln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1"/>
                </a:lnTo>
                <a:lnTo>
                  <a:pt x="1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2" y="3"/>
                </a:lnTo>
                <a:lnTo>
                  <a:pt x="2" y="3"/>
                </a:lnTo>
                <a:lnTo>
                  <a:pt x="2" y="3"/>
                </a:lnTo>
                <a:lnTo>
                  <a:pt x="2" y="3"/>
                </a:lnTo>
                <a:lnTo>
                  <a:pt x="3" y="3"/>
                </a:lnTo>
                <a:lnTo>
                  <a:pt x="3" y="3"/>
                </a:lnTo>
                <a:lnTo>
                  <a:pt x="3" y="2"/>
                </a:lnTo>
                <a:lnTo>
                  <a:pt x="3" y="2"/>
                </a:lnTo>
                <a:lnTo>
                  <a:pt x="3" y="2"/>
                </a:lnTo>
                <a:close/>
              </a:path>
            </a:pathLst>
          </a:custGeom>
          <a:solidFill>
            <a:srgbClr val="1B9E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Freeform 105"/>
          <p:cNvSpPr/>
          <p:nvPr/>
        </p:nvSpPr>
        <p:spPr>
          <a:xfrm>
            <a:off x="3009900" y="26162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1"/>
                </a:moveTo>
                <a:lnTo>
                  <a:pt x="2" y="1"/>
                </a:ln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7570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Freeform 106"/>
          <p:cNvSpPr/>
          <p:nvPr/>
        </p:nvSpPr>
        <p:spPr>
          <a:xfrm>
            <a:off x="2997200" y="20193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3" y="1"/>
                </a:lnTo>
                <a:lnTo>
                  <a:pt x="3" y="1"/>
                </a:lnTo>
                <a:lnTo>
                  <a:pt x="3" y="1"/>
                </a:lnTo>
                <a:lnTo>
                  <a:pt x="3" y="1"/>
                </a:ln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1"/>
                </a:lnTo>
                <a:lnTo>
                  <a:pt x="1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2" y="3"/>
                </a:lnTo>
                <a:lnTo>
                  <a:pt x="2" y="3"/>
                </a:lnTo>
                <a:lnTo>
                  <a:pt x="2" y="3"/>
                </a:lnTo>
                <a:lnTo>
                  <a:pt x="2" y="3"/>
                </a:lnTo>
                <a:lnTo>
                  <a:pt x="3" y="3"/>
                </a:lnTo>
                <a:lnTo>
                  <a:pt x="3" y="2"/>
                </a:lnTo>
                <a:lnTo>
                  <a:pt x="3" y="2"/>
                </a:lnTo>
                <a:lnTo>
                  <a:pt x="3" y="2"/>
                </a:lnTo>
                <a:lnTo>
                  <a:pt x="3" y="2"/>
                </a:lnTo>
                <a:close/>
              </a:path>
            </a:pathLst>
          </a:custGeom>
          <a:solidFill>
            <a:srgbClr val="D95F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Freeform 107"/>
          <p:cNvSpPr/>
          <p:nvPr/>
        </p:nvSpPr>
        <p:spPr>
          <a:xfrm>
            <a:off x="2616200" y="23368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1"/>
                </a:moveTo>
                <a:lnTo>
                  <a:pt x="3" y="1"/>
                </a:lnTo>
                <a:lnTo>
                  <a:pt x="3" y="0"/>
                </a:ln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3" y="2"/>
                </a:lnTo>
                <a:lnTo>
                  <a:pt x="3" y="1"/>
                </a:lnTo>
                <a:lnTo>
                  <a:pt x="3" y="1"/>
                </a:lnTo>
                <a:lnTo>
                  <a:pt x="3" y="1"/>
                </a:lnTo>
                <a:close/>
              </a:path>
            </a:pathLst>
          </a:custGeom>
          <a:solidFill>
            <a:srgbClr val="D95F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Freeform 108"/>
          <p:cNvSpPr/>
          <p:nvPr/>
        </p:nvSpPr>
        <p:spPr>
          <a:xfrm>
            <a:off x="2743200" y="20193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3" y="1"/>
                </a:lnTo>
                <a:lnTo>
                  <a:pt x="3" y="1"/>
                </a:lnTo>
                <a:lnTo>
                  <a:pt x="3" y="1"/>
                </a:lnTo>
                <a:lnTo>
                  <a:pt x="2" y="1"/>
                </a:ln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2" y="3"/>
                </a:lnTo>
                <a:lnTo>
                  <a:pt x="2" y="3"/>
                </a:lnTo>
                <a:lnTo>
                  <a:pt x="2" y="3"/>
                </a:lnTo>
                <a:lnTo>
                  <a:pt x="2" y="3"/>
                </a:lnTo>
                <a:lnTo>
                  <a:pt x="3" y="2"/>
                </a:lnTo>
                <a:lnTo>
                  <a:pt x="3" y="2"/>
                </a:lnTo>
                <a:lnTo>
                  <a:pt x="3" y="2"/>
                </a:lnTo>
                <a:lnTo>
                  <a:pt x="3" y="2"/>
                </a:lnTo>
                <a:close/>
              </a:path>
            </a:pathLst>
          </a:custGeom>
          <a:solidFill>
            <a:srgbClr val="1B9E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Freeform 109"/>
          <p:cNvSpPr/>
          <p:nvPr/>
        </p:nvSpPr>
        <p:spPr>
          <a:xfrm>
            <a:off x="3124200" y="23368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1"/>
                </a:moveTo>
                <a:lnTo>
                  <a:pt x="3" y="1"/>
                </a:lnTo>
                <a:lnTo>
                  <a:pt x="3" y="0"/>
                </a:lnTo>
                <a:lnTo>
                  <a:pt x="3" y="0"/>
                </a:lnTo>
                <a:lnTo>
                  <a:pt x="3" y="0"/>
                </a:ln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3" y="2"/>
                </a:lnTo>
                <a:lnTo>
                  <a:pt x="3" y="2"/>
                </a:lnTo>
                <a:lnTo>
                  <a:pt x="3" y="2"/>
                </a:lnTo>
                <a:lnTo>
                  <a:pt x="3" y="1"/>
                </a:lnTo>
                <a:lnTo>
                  <a:pt x="3" y="1"/>
                </a:lnTo>
                <a:lnTo>
                  <a:pt x="3" y="1"/>
                </a:lnTo>
                <a:close/>
              </a:path>
            </a:pathLst>
          </a:custGeom>
          <a:solidFill>
            <a:srgbClr val="1B9E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Freeform 110"/>
          <p:cNvSpPr/>
          <p:nvPr/>
        </p:nvSpPr>
        <p:spPr>
          <a:xfrm>
            <a:off x="2489200" y="22225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3" y="2"/>
                </a:lnTo>
                <a:lnTo>
                  <a:pt x="3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0" y="3"/>
                </a:lnTo>
                <a:lnTo>
                  <a:pt x="0" y="3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2" y="3"/>
                </a:lnTo>
                <a:lnTo>
                  <a:pt x="2" y="3"/>
                </a:lnTo>
                <a:lnTo>
                  <a:pt x="2" y="3"/>
                </a:lnTo>
                <a:lnTo>
                  <a:pt x="2" y="3"/>
                </a:lnTo>
                <a:lnTo>
                  <a:pt x="2" y="3"/>
                </a:lnTo>
                <a:lnTo>
                  <a:pt x="3" y="2"/>
                </a:lnTo>
                <a:lnTo>
                  <a:pt x="3" y="2"/>
                </a:lnTo>
                <a:lnTo>
                  <a:pt x="3" y="2"/>
                </a:lnTo>
                <a:close/>
              </a:path>
            </a:pathLst>
          </a:custGeom>
          <a:solidFill>
            <a:srgbClr val="7570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Freeform 111"/>
          <p:cNvSpPr/>
          <p:nvPr/>
        </p:nvSpPr>
        <p:spPr>
          <a:xfrm>
            <a:off x="3251200" y="22225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3" y="2"/>
                </a:lnTo>
                <a:lnTo>
                  <a:pt x="3" y="1"/>
                </a:lnTo>
                <a:lnTo>
                  <a:pt x="3" y="1"/>
                </a:lnTo>
                <a:lnTo>
                  <a:pt x="3" y="1"/>
                </a:lnTo>
                <a:lnTo>
                  <a:pt x="3" y="1"/>
                </a:ln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2" y="3"/>
                </a:lnTo>
                <a:lnTo>
                  <a:pt x="2" y="3"/>
                </a:lnTo>
                <a:lnTo>
                  <a:pt x="2" y="3"/>
                </a:lnTo>
                <a:lnTo>
                  <a:pt x="2" y="3"/>
                </a:lnTo>
                <a:lnTo>
                  <a:pt x="3" y="3"/>
                </a:lnTo>
                <a:lnTo>
                  <a:pt x="3" y="3"/>
                </a:lnTo>
                <a:lnTo>
                  <a:pt x="3" y="3"/>
                </a:lnTo>
                <a:lnTo>
                  <a:pt x="3" y="2"/>
                </a:lnTo>
                <a:lnTo>
                  <a:pt x="3" y="2"/>
                </a:lnTo>
                <a:lnTo>
                  <a:pt x="3" y="2"/>
                </a:lnTo>
                <a:close/>
              </a:path>
            </a:pathLst>
          </a:custGeom>
          <a:solidFill>
            <a:srgbClr val="7570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0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2880005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5" name="Picture 11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116" name="Picture 11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117" name="TextBox 116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GA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variants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08000" y="359888"/>
            <a:ext cx="567739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1">
                <a:solidFill>
                  <a:srgbClr val="003373"/>
                </a:solidFill>
                <a:latin typeface="Josefin Sans"/>
              </a:rPr>
              <a:t>Island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genetic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algorithms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460057" y="684300"/>
            <a:ext cx="532533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multiple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populations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60056" y="942414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each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population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evolve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within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island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(selection,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crossover,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mutation)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637094" y="1158257"/>
            <a:ext cx="51483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independently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other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islands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094491" y="1998564"/>
            <a:ext cx="3690904" cy="15300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77" b="0">
                <a:solidFill>
                  <a:srgbClr val="000000"/>
                </a:solidFill>
                <a:latin typeface="Josefin Sans"/>
              </a:rPr>
              <a:t>Island</a:t>
            </a:r>
            <a:r>
              <a:rPr sz="777" b="0">
                <a:solidFill>
                  <a:srgbClr val="000000"/>
                </a:solidFill>
                <a:latin typeface="Josefin Sans"/>
              </a:rPr>
              <a:t> </a:t>
            </a:r>
            <a:r>
              <a:rPr sz="77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3367532" y="1998564"/>
            <a:ext cx="2417863" cy="15300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77" b="0">
                <a:solidFill>
                  <a:srgbClr val="000000"/>
                </a:solidFill>
                <a:latin typeface="Josefin Sans"/>
              </a:rPr>
              <a:t>Island</a:t>
            </a:r>
            <a:r>
              <a:rPr sz="777" b="0">
                <a:solidFill>
                  <a:srgbClr val="000000"/>
                </a:solidFill>
                <a:latin typeface="Josefin Sans"/>
              </a:rPr>
              <a:t> </a:t>
            </a:r>
            <a:r>
              <a:rPr sz="777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2725632" y="2511572"/>
            <a:ext cx="3059763" cy="15300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77" b="0">
                <a:solidFill>
                  <a:srgbClr val="000000"/>
                </a:solidFill>
                <a:latin typeface="Josefin Sans"/>
              </a:rPr>
              <a:t>Island</a:t>
            </a:r>
            <a:r>
              <a:rPr sz="777" b="0">
                <a:solidFill>
                  <a:srgbClr val="000000"/>
                </a:solidFill>
                <a:latin typeface="Josefin Sans"/>
              </a:rPr>
              <a:t> </a:t>
            </a:r>
            <a:r>
              <a:rPr sz="777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2685229" y="1908699"/>
            <a:ext cx="3100166" cy="15300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77" b="0">
                <a:solidFill>
                  <a:srgbClr val="000000"/>
                </a:solidFill>
                <a:latin typeface="Josefin Sans"/>
              </a:rPr>
              <a:t>migration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8772" y="3150931"/>
            <a:ext cx="88662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627447" y="3150707"/>
            <a:ext cx="15794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87</a:t>
            </a:r>
          </a:p>
        </p:txBody>
      </p:sp>
    </p:spTree>
  </p:cSld>
  <p:clrMapOvr>
    <a:masterClrMapping/>
  </p:clrMapOvr>
</p:sld>
</file>

<file path=ppt/slides/slide2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H="1" flipV="1">
            <a:off x="2450504" y="1945522"/>
            <a:ext cx="6467" cy="91268"/>
          </a:xfrm>
          <a:prstGeom prst="line">
            <a:avLst/>
          </a:prstGeom>
          <a:ln w="354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H="1" flipV="1">
            <a:off x="2394115" y="1873519"/>
            <a:ext cx="56389" cy="72003"/>
          </a:xfrm>
          <a:prstGeom prst="line">
            <a:avLst/>
          </a:prstGeom>
          <a:ln w="354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H="1" flipV="1">
            <a:off x="2279491" y="1801727"/>
            <a:ext cx="114624" cy="71792"/>
          </a:xfrm>
          <a:prstGeom prst="line">
            <a:avLst/>
          </a:prstGeom>
          <a:ln w="354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H="1">
            <a:off x="2154937" y="1801727"/>
            <a:ext cx="124554" cy="34900"/>
          </a:xfrm>
          <a:prstGeom prst="line">
            <a:avLst/>
          </a:prstGeom>
          <a:ln w="354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H="1">
            <a:off x="2101595" y="1836627"/>
            <a:ext cx="53342" cy="83887"/>
          </a:xfrm>
          <a:prstGeom prst="line">
            <a:avLst/>
          </a:prstGeom>
          <a:ln w="354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H="1">
            <a:off x="2025819" y="1920514"/>
            <a:ext cx="75776" cy="97667"/>
          </a:xfrm>
          <a:prstGeom prst="line">
            <a:avLst/>
          </a:prstGeom>
          <a:ln w="354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2025819" y="2018181"/>
            <a:ext cx="43956" cy="121162"/>
          </a:xfrm>
          <a:prstGeom prst="line">
            <a:avLst/>
          </a:prstGeom>
          <a:ln w="354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2069775" y="2139343"/>
            <a:ext cx="74087" cy="70070"/>
          </a:xfrm>
          <a:prstGeom prst="line">
            <a:avLst/>
          </a:prstGeom>
          <a:ln w="354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2143862" y="2209413"/>
            <a:ext cx="98411" cy="62439"/>
          </a:xfrm>
          <a:prstGeom prst="line">
            <a:avLst/>
          </a:prstGeom>
          <a:ln w="354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2242273" y="2229688"/>
            <a:ext cx="106709" cy="42164"/>
          </a:xfrm>
          <a:prstGeom prst="line">
            <a:avLst/>
          </a:prstGeom>
          <a:ln w="354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2348982" y="2160954"/>
            <a:ext cx="84386" cy="68734"/>
          </a:xfrm>
          <a:prstGeom prst="line">
            <a:avLst/>
          </a:prstGeom>
          <a:ln w="354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2433368" y="2055398"/>
            <a:ext cx="62577" cy="105556"/>
          </a:xfrm>
          <a:prstGeom prst="line">
            <a:avLst/>
          </a:prstGeom>
          <a:ln w="354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H="1" flipV="1">
            <a:off x="3726065" y="1960078"/>
            <a:ext cx="486" cy="76712"/>
          </a:xfrm>
          <a:prstGeom prst="line">
            <a:avLst/>
          </a:prstGeom>
          <a:ln w="354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H="1" flipV="1">
            <a:off x="3682872" y="1872724"/>
            <a:ext cx="43193" cy="87354"/>
          </a:xfrm>
          <a:prstGeom prst="line">
            <a:avLst/>
          </a:prstGeom>
          <a:ln w="354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H="1" flipV="1">
            <a:off x="3591433" y="1844631"/>
            <a:ext cx="91439" cy="28093"/>
          </a:xfrm>
          <a:prstGeom prst="line">
            <a:avLst/>
          </a:prstGeom>
          <a:ln w="354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H="1" flipV="1">
            <a:off x="3522805" y="1823974"/>
            <a:ext cx="68628" cy="20657"/>
          </a:xfrm>
          <a:prstGeom prst="line">
            <a:avLst/>
          </a:prstGeom>
          <a:ln w="354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H="1">
            <a:off x="3454625" y="1823974"/>
            <a:ext cx="68180" cy="13713"/>
          </a:xfrm>
          <a:prstGeom prst="line">
            <a:avLst/>
          </a:prstGeom>
          <a:ln w="354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H="1">
            <a:off x="3348587" y="1837687"/>
            <a:ext cx="106038" cy="52002"/>
          </a:xfrm>
          <a:prstGeom prst="line">
            <a:avLst/>
          </a:prstGeom>
          <a:ln w="354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H="1">
            <a:off x="3317933" y="1889689"/>
            <a:ext cx="30654" cy="82074"/>
          </a:xfrm>
          <a:prstGeom prst="line">
            <a:avLst/>
          </a:prstGeom>
          <a:ln w="354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H="1">
            <a:off x="3308567" y="1971763"/>
            <a:ext cx="9366" cy="63606"/>
          </a:xfrm>
          <a:prstGeom prst="line">
            <a:avLst/>
          </a:prstGeom>
          <a:ln w="354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3308567" y="2035369"/>
            <a:ext cx="29436" cy="69595"/>
          </a:xfrm>
          <a:prstGeom prst="line">
            <a:avLst/>
          </a:prstGeom>
          <a:ln w="354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3338003" y="2104964"/>
            <a:ext cx="52912" cy="100634"/>
          </a:xfrm>
          <a:prstGeom prst="line">
            <a:avLst/>
          </a:prstGeom>
          <a:ln w="354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3390915" y="2205598"/>
            <a:ext cx="50014" cy="28660"/>
          </a:xfrm>
          <a:prstGeom prst="line">
            <a:avLst/>
          </a:prstGeom>
          <a:ln w="354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3440929" y="2234258"/>
            <a:ext cx="79034" cy="15347"/>
          </a:xfrm>
          <a:prstGeom prst="line">
            <a:avLst/>
          </a:prstGeom>
          <a:ln w="354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3519963" y="2249605"/>
            <a:ext cx="99907" cy="6133"/>
          </a:xfrm>
          <a:prstGeom prst="line">
            <a:avLst/>
          </a:prstGeom>
          <a:ln w="354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3619870" y="2189766"/>
            <a:ext cx="90979" cy="65972"/>
          </a:xfrm>
          <a:prstGeom prst="line">
            <a:avLst/>
          </a:prstGeom>
          <a:ln w="354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3710849" y="2083571"/>
            <a:ext cx="14364" cy="106195"/>
          </a:xfrm>
          <a:prstGeom prst="line">
            <a:avLst/>
          </a:prstGeom>
          <a:ln w="354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3725213" y="2038211"/>
            <a:ext cx="8986" cy="45360"/>
          </a:xfrm>
          <a:prstGeom prst="line">
            <a:avLst/>
          </a:prstGeom>
          <a:ln w="354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H="1" flipV="1">
            <a:off x="3095768" y="2447324"/>
            <a:ext cx="353" cy="93666"/>
          </a:xfrm>
          <a:prstGeom prst="line">
            <a:avLst/>
          </a:prstGeom>
          <a:ln w="354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H="1" flipV="1">
            <a:off x="3048205" y="2372720"/>
            <a:ext cx="47563" cy="74604"/>
          </a:xfrm>
          <a:prstGeom prst="line">
            <a:avLst/>
          </a:prstGeom>
          <a:ln w="354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H="1" flipV="1">
            <a:off x="2950529" y="2324218"/>
            <a:ext cx="97676" cy="48502"/>
          </a:xfrm>
          <a:prstGeom prst="line">
            <a:avLst/>
          </a:prstGeom>
          <a:ln w="354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H="1">
            <a:off x="2892536" y="2324218"/>
            <a:ext cx="57993" cy="4204"/>
          </a:xfrm>
          <a:prstGeom prst="line">
            <a:avLst/>
          </a:prstGeom>
          <a:ln w="354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H="1" flipV="1">
            <a:off x="2790364" y="2324412"/>
            <a:ext cx="102172" cy="4010"/>
          </a:xfrm>
          <a:prstGeom prst="line">
            <a:avLst/>
          </a:prstGeom>
          <a:ln w="354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H="1">
            <a:off x="2718085" y="2324412"/>
            <a:ext cx="72279" cy="51254"/>
          </a:xfrm>
          <a:prstGeom prst="line">
            <a:avLst/>
          </a:prstGeom>
          <a:ln w="354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 flipH="1">
            <a:off x="2664907" y="2375666"/>
            <a:ext cx="53178" cy="80827"/>
          </a:xfrm>
          <a:prstGeom prst="line">
            <a:avLst/>
          </a:prstGeom>
          <a:ln w="354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2664907" y="2456493"/>
            <a:ext cx="13657" cy="83089"/>
          </a:xfrm>
          <a:prstGeom prst="line">
            <a:avLst/>
          </a:prstGeom>
          <a:ln w="354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H="1">
            <a:off x="2665814" y="2539582"/>
            <a:ext cx="12750" cy="92532"/>
          </a:xfrm>
          <a:prstGeom prst="line">
            <a:avLst/>
          </a:prstGeom>
          <a:ln w="354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2665814" y="2632114"/>
            <a:ext cx="58769" cy="73877"/>
          </a:xfrm>
          <a:prstGeom prst="line">
            <a:avLst/>
          </a:prstGeom>
          <a:ln w="354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2724583" y="2705991"/>
            <a:ext cx="89199" cy="64240"/>
          </a:xfrm>
          <a:prstGeom prst="line">
            <a:avLst/>
          </a:prstGeom>
          <a:ln w="354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 flipV="1">
            <a:off x="2813782" y="2753558"/>
            <a:ext cx="75942" cy="16673"/>
          </a:xfrm>
          <a:prstGeom prst="line">
            <a:avLst/>
          </a:prstGeom>
          <a:ln w="354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2889724" y="2753558"/>
            <a:ext cx="78290" cy="9676"/>
          </a:xfrm>
          <a:prstGeom prst="line">
            <a:avLst/>
          </a:prstGeom>
          <a:ln w="354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V="1">
            <a:off x="2968014" y="2683015"/>
            <a:ext cx="89512" cy="80219"/>
          </a:xfrm>
          <a:prstGeom prst="line">
            <a:avLst/>
          </a:prstGeom>
          <a:ln w="354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 flipV="1">
            <a:off x="3057526" y="2607222"/>
            <a:ext cx="17975" cy="75793"/>
          </a:xfrm>
          <a:prstGeom prst="line">
            <a:avLst/>
          </a:prstGeom>
          <a:ln w="354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 flipV="1">
            <a:off x="3075501" y="2542400"/>
            <a:ext cx="28199" cy="64822"/>
          </a:xfrm>
          <a:prstGeom prst="line">
            <a:avLst/>
          </a:prstGeom>
          <a:ln w="354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2476463" y="2036790"/>
            <a:ext cx="820261" cy="0"/>
          </a:xfrm>
          <a:prstGeom prst="line">
            <a:avLst/>
          </a:prstGeom>
          <a:ln w="354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Freeform 80"/>
          <p:cNvSpPr/>
          <p:nvPr/>
        </p:nvSpPr>
        <p:spPr>
          <a:xfrm>
            <a:off x="2463800" y="20193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0" y="1"/>
                </a:moveTo>
                <a:lnTo>
                  <a:pt x="2" y="2"/>
                </a:lnTo>
                <a:lnTo>
                  <a:pt x="1" y="1"/>
                </a:lnTo>
                <a:lnTo>
                  <a:pt x="2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Freeform 81"/>
          <p:cNvSpPr/>
          <p:nvPr/>
        </p:nvSpPr>
        <p:spPr>
          <a:xfrm>
            <a:off x="3289300" y="20193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3" name="Connector 82"/>
          <p:cNvCxnSpPr/>
          <p:nvPr/>
        </p:nvCxnSpPr>
        <p:spPr>
          <a:xfrm>
            <a:off x="2429213" y="2171452"/>
            <a:ext cx="286641" cy="229314"/>
          </a:xfrm>
          <a:prstGeom prst="line">
            <a:avLst/>
          </a:prstGeom>
          <a:ln w="354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Freeform 83"/>
          <p:cNvSpPr/>
          <p:nvPr/>
        </p:nvSpPr>
        <p:spPr>
          <a:xfrm>
            <a:off x="2413000" y="21590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0" y="0"/>
                </a:moveTo>
                <a:lnTo>
                  <a:pt x="1" y="2"/>
                </a:lnTo>
                <a:lnTo>
                  <a:pt x="1" y="1"/>
                </a:lnTo>
                <a:lnTo>
                  <a:pt x="3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Freeform 84"/>
          <p:cNvSpPr/>
          <p:nvPr/>
        </p:nvSpPr>
        <p:spPr>
          <a:xfrm>
            <a:off x="2692400" y="23876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2"/>
                </a:moveTo>
                <a:lnTo>
                  <a:pt x="2" y="0"/>
                </a:lnTo>
                <a:lnTo>
                  <a:pt x="2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6" name="Connector 85"/>
          <p:cNvCxnSpPr/>
          <p:nvPr/>
        </p:nvCxnSpPr>
        <p:spPr>
          <a:xfrm flipH="1">
            <a:off x="3066412" y="2177123"/>
            <a:ext cx="279553" cy="223643"/>
          </a:xfrm>
          <a:prstGeom prst="line">
            <a:avLst/>
          </a:prstGeom>
          <a:ln w="354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Freeform 86"/>
          <p:cNvSpPr/>
          <p:nvPr/>
        </p:nvSpPr>
        <p:spPr>
          <a:xfrm>
            <a:off x="3327400" y="21717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0"/>
                </a:moveTo>
                <a:lnTo>
                  <a:pt x="0" y="0"/>
                </a:lnTo>
                <a:lnTo>
                  <a:pt x="1" y="0"/>
                </a:lnTo>
                <a:lnTo>
                  <a:pt x="2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Freeform 87"/>
          <p:cNvSpPr/>
          <p:nvPr/>
        </p:nvSpPr>
        <p:spPr>
          <a:xfrm>
            <a:off x="3048000" y="23876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0" y="2"/>
                </a:moveTo>
                <a:lnTo>
                  <a:pt x="3" y="1"/>
                </a:lnTo>
                <a:lnTo>
                  <a:pt x="1" y="1"/>
                </a:lnTo>
                <a:lnTo>
                  <a:pt x="1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Freeform 88"/>
          <p:cNvSpPr/>
          <p:nvPr/>
        </p:nvSpPr>
        <p:spPr>
          <a:xfrm>
            <a:off x="2374900" y="19431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1"/>
                </a:moveTo>
                <a:lnTo>
                  <a:pt x="3" y="1"/>
                </a:lnTo>
                <a:lnTo>
                  <a:pt x="3" y="1"/>
                </a:ln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2" y="3"/>
                </a:lnTo>
                <a:lnTo>
                  <a:pt x="2" y="3"/>
                </a:lnTo>
                <a:lnTo>
                  <a:pt x="2" y="3"/>
                </a:lnTo>
                <a:lnTo>
                  <a:pt x="2" y="2"/>
                </a:lnTo>
                <a:lnTo>
                  <a:pt x="2" y="2"/>
                </a:lnTo>
                <a:lnTo>
                  <a:pt x="3" y="2"/>
                </a:lnTo>
                <a:lnTo>
                  <a:pt x="3" y="2"/>
                </a:lnTo>
                <a:lnTo>
                  <a:pt x="3" y="1"/>
                </a:lnTo>
                <a:close/>
              </a:path>
            </a:pathLst>
          </a:custGeom>
          <a:solidFill>
            <a:srgbClr val="D95F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Freeform 89"/>
          <p:cNvSpPr/>
          <p:nvPr/>
        </p:nvSpPr>
        <p:spPr>
          <a:xfrm>
            <a:off x="3632200" y="19431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1"/>
                </a:moveTo>
                <a:lnTo>
                  <a:pt x="3" y="1"/>
                </a:lnTo>
                <a:lnTo>
                  <a:pt x="3" y="1"/>
                </a:lnTo>
                <a:lnTo>
                  <a:pt x="3" y="1"/>
                </a:ln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2" y="3"/>
                </a:lnTo>
                <a:lnTo>
                  <a:pt x="2" y="3"/>
                </a:lnTo>
                <a:lnTo>
                  <a:pt x="2" y="3"/>
                </a:lnTo>
                <a:lnTo>
                  <a:pt x="2" y="3"/>
                </a:lnTo>
                <a:lnTo>
                  <a:pt x="3" y="2"/>
                </a:lnTo>
                <a:lnTo>
                  <a:pt x="3" y="2"/>
                </a:lnTo>
                <a:lnTo>
                  <a:pt x="3" y="2"/>
                </a:lnTo>
                <a:lnTo>
                  <a:pt x="3" y="2"/>
                </a:lnTo>
                <a:lnTo>
                  <a:pt x="3" y="1"/>
                </a:lnTo>
                <a:close/>
              </a:path>
            </a:pathLst>
          </a:custGeom>
          <a:solidFill>
            <a:srgbClr val="1B9E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Freeform 90"/>
          <p:cNvSpPr/>
          <p:nvPr/>
        </p:nvSpPr>
        <p:spPr>
          <a:xfrm>
            <a:off x="3009900" y="24511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1"/>
                </a:moveTo>
                <a:lnTo>
                  <a:pt x="2" y="1"/>
                </a:ln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3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7570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Freeform 91"/>
          <p:cNvSpPr/>
          <p:nvPr/>
        </p:nvSpPr>
        <p:spPr>
          <a:xfrm>
            <a:off x="2247900" y="18923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1"/>
                </a:move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0" y="3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2" y="3"/>
                </a:lnTo>
                <a:lnTo>
                  <a:pt x="2" y="3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1"/>
                </a:lnTo>
                <a:close/>
              </a:path>
            </a:pathLst>
          </a:custGeom>
          <a:solidFill>
            <a:srgbClr val="D95F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Freeform 92"/>
          <p:cNvSpPr/>
          <p:nvPr/>
        </p:nvSpPr>
        <p:spPr>
          <a:xfrm>
            <a:off x="3505200" y="18923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1"/>
                </a:moveTo>
                <a:lnTo>
                  <a:pt x="3" y="1"/>
                </a:lnTo>
                <a:lnTo>
                  <a:pt x="3" y="1"/>
                </a:ln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2" y="3"/>
                </a:lnTo>
                <a:lnTo>
                  <a:pt x="2" y="3"/>
                </a:lnTo>
                <a:lnTo>
                  <a:pt x="2" y="3"/>
                </a:lnTo>
                <a:lnTo>
                  <a:pt x="2" y="2"/>
                </a:lnTo>
                <a:lnTo>
                  <a:pt x="2" y="2"/>
                </a:lnTo>
                <a:lnTo>
                  <a:pt x="3" y="2"/>
                </a:lnTo>
                <a:lnTo>
                  <a:pt x="3" y="2"/>
                </a:lnTo>
                <a:lnTo>
                  <a:pt x="3" y="1"/>
                </a:lnTo>
                <a:close/>
              </a:path>
            </a:pathLst>
          </a:custGeom>
          <a:solidFill>
            <a:srgbClr val="1B9E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Freeform 93"/>
          <p:cNvSpPr/>
          <p:nvPr/>
        </p:nvSpPr>
        <p:spPr>
          <a:xfrm>
            <a:off x="2870200" y="24003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1"/>
                </a:moveTo>
                <a:lnTo>
                  <a:pt x="3" y="1"/>
                </a:lnTo>
                <a:lnTo>
                  <a:pt x="3" y="1"/>
                </a:lnTo>
                <a:lnTo>
                  <a:pt x="3" y="0"/>
                </a:ln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3"/>
                </a:lnTo>
                <a:lnTo>
                  <a:pt x="2" y="3"/>
                </a:lnTo>
                <a:lnTo>
                  <a:pt x="2" y="3"/>
                </a:lnTo>
                <a:lnTo>
                  <a:pt x="2" y="2"/>
                </a:lnTo>
                <a:lnTo>
                  <a:pt x="2" y="2"/>
                </a:lnTo>
                <a:lnTo>
                  <a:pt x="3" y="2"/>
                </a:lnTo>
                <a:lnTo>
                  <a:pt x="3" y="2"/>
                </a:lnTo>
                <a:lnTo>
                  <a:pt x="3" y="2"/>
                </a:lnTo>
                <a:lnTo>
                  <a:pt x="3" y="1"/>
                </a:lnTo>
                <a:lnTo>
                  <a:pt x="3" y="1"/>
                </a:lnTo>
                <a:close/>
              </a:path>
            </a:pathLst>
          </a:custGeom>
          <a:solidFill>
            <a:srgbClr val="7570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Freeform 94"/>
          <p:cNvSpPr/>
          <p:nvPr/>
        </p:nvSpPr>
        <p:spPr>
          <a:xfrm>
            <a:off x="2082800" y="19304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1"/>
                </a:move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1"/>
                </a:lnTo>
                <a:lnTo>
                  <a:pt x="2" y="1"/>
                </a:lnTo>
                <a:lnTo>
                  <a:pt x="3" y="1"/>
                </a:lnTo>
                <a:close/>
              </a:path>
            </a:pathLst>
          </a:custGeom>
          <a:solidFill>
            <a:srgbClr val="D95F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Freeform 95"/>
          <p:cNvSpPr/>
          <p:nvPr/>
        </p:nvSpPr>
        <p:spPr>
          <a:xfrm>
            <a:off x="3340100" y="19304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1"/>
                </a:moveTo>
                <a:lnTo>
                  <a:pt x="3" y="1"/>
                </a:lnTo>
                <a:lnTo>
                  <a:pt x="3" y="0"/>
                </a:ln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3" y="2"/>
                </a:lnTo>
                <a:lnTo>
                  <a:pt x="3" y="1"/>
                </a:lnTo>
                <a:lnTo>
                  <a:pt x="3" y="1"/>
                </a:lnTo>
                <a:lnTo>
                  <a:pt x="3" y="1"/>
                </a:lnTo>
                <a:close/>
              </a:path>
            </a:pathLst>
          </a:custGeom>
          <a:solidFill>
            <a:srgbClr val="1B9E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Freeform 96"/>
          <p:cNvSpPr/>
          <p:nvPr/>
        </p:nvSpPr>
        <p:spPr>
          <a:xfrm>
            <a:off x="2705100" y="24257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3" y="1"/>
                </a:lnTo>
                <a:lnTo>
                  <a:pt x="3" y="1"/>
                </a:lnTo>
                <a:lnTo>
                  <a:pt x="3" y="1"/>
                </a:lnTo>
                <a:lnTo>
                  <a:pt x="3" y="1"/>
                </a:ln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1"/>
                </a:lnTo>
                <a:lnTo>
                  <a:pt x="1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2" y="3"/>
                </a:lnTo>
                <a:lnTo>
                  <a:pt x="2" y="3"/>
                </a:lnTo>
                <a:lnTo>
                  <a:pt x="2" y="3"/>
                </a:lnTo>
                <a:lnTo>
                  <a:pt x="3" y="3"/>
                </a:lnTo>
                <a:lnTo>
                  <a:pt x="3" y="3"/>
                </a:lnTo>
                <a:lnTo>
                  <a:pt x="3" y="2"/>
                </a:lnTo>
                <a:lnTo>
                  <a:pt x="3" y="2"/>
                </a:lnTo>
                <a:lnTo>
                  <a:pt x="3" y="2"/>
                </a:lnTo>
                <a:lnTo>
                  <a:pt x="3" y="2"/>
                </a:lnTo>
                <a:close/>
              </a:path>
            </a:pathLst>
          </a:custGeom>
          <a:solidFill>
            <a:srgbClr val="7570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Freeform 97"/>
          <p:cNvSpPr/>
          <p:nvPr/>
        </p:nvSpPr>
        <p:spPr>
          <a:xfrm>
            <a:off x="2108200" y="20955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1"/>
                </a:moveTo>
                <a:lnTo>
                  <a:pt x="3" y="1"/>
                </a:lnTo>
                <a:lnTo>
                  <a:pt x="3" y="1"/>
                </a:lnTo>
                <a:lnTo>
                  <a:pt x="3" y="1"/>
                </a:ln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3"/>
                </a:lnTo>
                <a:lnTo>
                  <a:pt x="1" y="3"/>
                </a:lnTo>
                <a:lnTo>
                  <a:pt x="2" y="3"/>
                </a:lnTo>
                <a:lnTo>
                  <a:pt x="2" y="3"/>
                </a:lnTo>
                <a:lnTo>
                  <a:pt x="2" y="3"/>
                </a:lnTo>
                <a:lnTo>
                  <a:pt x="2" y="2"/>
                </a:lnTo>
                <a:lnTo>
                  <a:pt x="3" y="2"/>
                </a:lnTo>
                <a:lnTo>
                  <a:pt x="3" y="2"/>
                </a:lnTo>
                <a:lnTo>
                  <a:pt x="3" y="2"/>
                </a:lnTo>
                <a:lnTo>
                  <a:pt x="3" y="2"/>
                </a:lnTo>
                <a:lnTo>
                  <a:pt x="3" y="1"/>
                </a:lnTo>
                <a:close/>
              </a:path>
            </a:pathLst>
          </a:custGeom>
          <a:solidFill>
            <a:srgbClr val="D95F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Freeform 98"/>
          <p:cNvSpPr/>
          <p:nvPr/>
        </p:nvSpPr>
        <p:spPr>
          <a:xfrm>
            <a:off x="3378200" y="20955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1"/>
                </a:move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2" y="3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1"/>
                </a:lnTo>
                <a:close/>
              </a:path>
            </a:pathLst>
          </a:custGeom>
          <a:solidFill>
            <a:srgbClr val="1B9E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Freeform 99"/>
          <p:cNvSpPr/>
          <p:nvPr/>
        </p:nvSpPr>
        <p:spPr>
          <a:xfrm>
            <a:off x="2743200" y="26035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1"/>
                </a:moveTo>
                <a:lnTo>
                  <a:pt x="3" y="1"/>
                </a:ln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3" y="2"/>
                </a:lnTo>
                <a:lnTo>
                  <a:pt x="3" y="1"/>
                </a:lnTo>
                <a:lnTo>
                  <a:pt x="3" y="1"/>
                </a:lnTo>
                <a:close/>
              </a:path>
            </a:pathLst>
          </a:custGeom>
          <a:solidFill>
            <a:srgbClr val="7570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Freeform 100"/>
          <p:cNvSpPr/>
          <p:nvPr/>
        </p:nvSpPr>
        <p:spPr>
          <a:xfrm>
            <a:off x="2247900" y="21590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1"/>
                </a:move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2" y="3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1"/>
                </a:lnTo>
                <a:close/>
              </a:path>
            </a:pathLst>
          </a:custGeom>
          <a:solidFill>
            <a:srgbClr val="D95F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Freeform 101"/>
          <p:cNvSpPr/>
          <p:nvPr/>
        </p:nvSpPr>
        <p:spPr>
          <a:xfrm>
            <a:off x="3505200" y="21590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1"/>
                </a:moveTo>
                <a:lnTo>
                  <a:pt x="3" y="1"/>
                </a:lnTo>
                <a:lnTo>
                  <a:pt x="3" y="1"/>
                </a:ln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2" y="3"/>
                </a:lnTo>
                <a:lnTo>
                  <a:pt x="2" y="3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3" y="2"/>
                </a:lnTo>
                <a:lnTo>
                  <a:pt x="3" y="2"/>
                </a:lnTo>
                <a:lnTo>
                  <a:pt x="3" y="1"/>
                </a:lnTo>
                <a:close/>
              </a:path>
            </a:pathLst>
          </a:custGeom>
          <a:solidFill>
            <a:srgbClr val="1B9E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Freeform 102"/>
          <p:cNvSpPr/>
          <p:nvPr/>
        </p:nvSpPr>
        <p:spPr>
          <a:xfrm>
            <a:off x="2870200" y="26670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1"/>
                </a:moveTo>
                <a:lnTo>
                  <a:pt x="3" y="1"/>
                </a:lnTo>
                <a:lnTo>
                  <a:pt x="3" y="0"/>
                </a:lnTo>
                <a:lnTo>
                  <a:pt x="3" y="0"/>
                </a:ln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3" y="2"/>
                </a:lnTo>
                <a:lnTo>
                  <a:pt x="3" y="2"/>
                </a:lnTo>
                <a:lnTo>
                  <a:pt x="3" y="2"/>
                </a:lnTo>
                <a:lnTo>
                  <a:pt x="3" y="1"/>
                </a:lnTo>
                <a:lnTo>
                  <a:pt x="3" y="1"/>
                </a:lnTo>
                <a:close/>
              </a:path>
            </a:pathLst>
          </a:custGeom>
          <a:solidFill>
            <a:srgbClr val="7570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Freeform 103"/>
          <p:cNvSpPr/>
          <p:nvPr/>
        </p:nvSpPr>
        <p:spPr>
          <a:xfrm>
            <a:off x="2374900" y="20955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1"/>
                </a:moveTo>
                <a:lnTo>
                  <a:pt x="3" y="1"/>
                </a:lnTo>
                <a:lnTo>
                  <a:pt x="3" y="1"/>
                </a:ln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2" y="3"/>
                </a:lnTo>
                <a:lnTo>
                  <a:pt x="2" y="3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3" y="2"/>
                </a:lnTo>
                <a:lnTo>
                  <a:pt x="3" y="2"/>
                </a:lnTo>
                <a:lnTo>
                  <a:pt x="3" y="1"/>
                </a:lnTo>
                <a:close/>
              </a:path>
            </a:pathLst>
          </a:custGeom>
          <a:solidFill>
            <a:srgbClr val="D95F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Freeform 104"/>
          <p:cNvSpPr/>
          <p:nvPr/>
        </p:nvSpPr>
        <p:spPr>
          <a:xfrm>
            <a:off x="3632200" y="20955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1"/>
                </a:moveTo>
                <a:lnTo>
                  <a:pt x="3" y="1"/>
                </a:lnTo>
                <a:lnTo>
                  <a:pt x="3" y="1"/>
                </a:lnTo>
                <a:lnTo>
                  <a:pt x="3" y="1"/>
                </a:ln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3"/>
                </a:lnTo>
                <a:lnTo>
                  <a:pt x="1" y="3"/>
                </a:lnTo>
                <a:lnTo>
                  <a:pt x="2" y="3"/>
                </a:lnTo>
                <a:lnTo>
                  <a:pt x="2" y="3"/>
                </a:lnTo>
                <a:lnTo>
                  <a:pt x="2" y="3"/>
                </a:lnTo>
                <a:lnTo>
                  <a:pt x="2" y="2"/>
                </a:lnTo>
                <a:lnTo>
                  <a:pt x="3" y="2"/>
                </a:lnTo>
                <a:lnTo>
                  <a:pt x="3" y="2"/>
                </a:lnTo>
                <a:lnTo>
                  <a:pt x="3" y="2"/>
                </a:lnTo>
                <a:lnTo>
                  <a:pt x="3" y="2"/>
                </a:lnTo>
                <a:lnTo>
                  <a:pt x="3" y="1"/>
                </a:lnTo>
                <a:close/>
              </a:path>
            </a:pathLst>
          </a:custGeom>
          <a:solidFill>
            <a:srgbClr val="1B9E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Freeform 105"/>
          <p:cNvSpPr/>
          <p:nvPr/>
        </p:nvSpPr>
        <p:spPr>
          <a:xfrm>
            <a:off x="3009900" y="26035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7570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Freeform 106"/>
          <p:cNvSpPr/>
          <p:nvPr/>
        </p:nvSpPr>
        <p:spPr>
          <a:xfrm>
            <a:off x="2997200" y="20193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1"/>
                </a:moveTo>
                <a:lnTo>
                  <a:pt x="3" y="1"/>
                </a:lnTo>
                <a:lnTo>
                  <a:pt x="3" y="1"/>
                </a:lnTo>
                <a:lnTo>
                  <a:pt x="3" y="1"/>
                </a:ln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2" y="3"/>
                </a:lnTo>
                <a:lnTo>
                  <a:pt x="2" y="3"/>
                </a:lnTo>
                <a:lnTo>
                  <a:pt x="2" y="3"/>
                </a:lnTo>
                <a:lnTo>
                  <a:pt x="2" y="3"/>
                </a:lnTo>
                <a:lnTo>
                  <a:pt x="3" y="2"/>
                </a:lnTo>
                <a:lnTo>
                  <a:pt x="3" y="2"/>
                </a:lnTo>
                <a:lnTo>
                  <a:pt x="3" y="2"/>
                </a:lnTo>
                <a:lnTo>
                  <a:pt x="3" y="2"/>
                </a:lnTo>
                <a:lnTo>
                  <a:pt x="3" y="1"/>
                </a:lnTo>
                <a:close/>
              </a:path>
            </a:pathLst>
          </a:custGeom>
          <a:solidFill>
            <a:srgbClr val="D95F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Freeform 107"/>
          <p:cNvSpPr/>
          <p:nvPr/>
        </p:nvSpPr>
        <p:spPr>
          <a:xfrm>
            <a:off x="2616200" y="23241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1"/>
                </a:moveTo>
                <a:lnTo>
                  <a:pt x="3" y="1"/>
                </a:lnTo>
                <a:lnTo>
                  <a:pt x="3" y="1"/>
                </a:lnTo>
                <a:lnTo>
                  <a:pt x="3" y="0"/>
                </a:lnTo>
                <a:lnTo>
                  <a:pt x="3" y="0"/>
                </a:ln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3"/>
                </a:lnTo>
                <a:lnTo>
                  <a:pt x="2" y="3"/>
                </a:lnTo>
                <a:lnTo>
                  <a:pt x="2" y="3"/>
                </a:lnTo>
                <a:lnTo>
                  <a:pt x="2" y="2"/>
                </a:lnTo>
                <a:lnTo>
                  <a:pt x="3" y="2"/>
                </a:lnTo>
                <a:lnTo>
                  <a:pt x="3" y="2"/>
                </a:lnTo>
                <a:lnTo>
                  <a:pt x="3" y="2"/>
                </a:lnTo>
                <a:lnTo>
                  <a:pt x="3" y="2"/>
                </a:lnTo>
                <a:lnTo>
                  <a:pt x="3" y="1"/>
                </a:lnTo>
                <a:lnTo>
                  <a:pt x="3" y="1"/>
                </a:lnTo>
                <a:close/>
              </a:path>
            </a:pathLst>
          </a:custGeom>
          <a:solidFill>
            <a:srgbClr val="D95F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Freeform 108"/>
          <p:cNvSpPr/>
          <p:nvPr/>
        </p:nvSpPr>
        <p:spPr>
          <a:xfrm>
            <a:off x="2743200" y="20193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1"/>
                </a:moveTo>
                <a:lnTo>
                  <a:pt x="3" y="1"/>
                </a:lnTo>
                <a:lnTo>
                  <a:pt x="3" y="1"/>
                </a:lnTo>
                <a:lnTo>
                  <a:pt x="3" y="1"/>
                </a:lnTo>
                <a:lnTo>
                  <a:pt x="3" y="0"/>
                </a:ln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2" y="3"/>
                </a:lnTo>
                <a:lnTo>
                  <a:pt x="2" y="3"/>
                </a:lnTo>
                <a:lnTo>
                  <a:pt x="2" y="3"/>
                </a:lnTo>
                <a:lnTo>
                  <a:pt x="3" y="3"/>
                </a:lnTo>
                <a:lnTo>
                  <a:pt x="3" y="2"/>
                </a:lnTo>
                <a:lnTo>
                  <a:pt x="3" y="2"/>
                </a:lnTo>
                <a:lnTo>
                  <a:pt x="3" y="2"/>
                </a:lnTo>
                <a:lnTo>
                  <a:pt x="3" y="2"/>
                </a:lnTo>
                <a:lnTo>
                  <a:pt x="3" y="1"/>
                </a:lnTo>
                <a:close/>
              </a:path>
            </a:pathLst>
          </a:custGeom>
          <a:solidFill>
            <a:srgbClr val="1B9E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Freeform 109"/>
          <p:cNvSpPr/>
          <p:nvPr/>
        </p:nvSpPr>
        <p:spPr>
          <a:xfrm>
            <a:off x="3124200" y="23241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1"/>
                </a:moveTo>
                <a:lnTo>
                  <a:pt x="3" y="1"/>
                </a:lnTo>
                <a:lnTo>
                  <a:pt x="3" y="1"/>
                </a:ln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3"/>
                </a:lnTo>
                <a:lnTo>
                  <a:pt x="1" y="3"/>
                </a:lnTo>
                <a:lnTo>
                  <a:pt x="2" y="3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3" y="2"/>
                </a:lnTo>
                <a:lnTo>
                  <a:pt x="3" y="2"/>
                </a:lnTo>
                <a:lnTo>
                  <a:pt x="3" y="1"/>
                </a:lnTo>
                <a:lnTo>
                  <a:pt x="3" y="1"/>
                </a:lnTo>
                <a:close/>
              </a:path>
            </a:pathLst>
          </a:custGeom>
          <a:solidFill>
            <a:srgbClr val="1B9E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Freeform 110"/>
          <p:cNvSpPr/>
          <p:nvPr/>
        </p:nvSpPr>
        <p:spPr>
          <a:xfrm>
            <a:off x="2489200" y="22225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1"/>
                </a:moveTo>
                <a:lnTo>
                  <a:pt x="3" y="1"/>
                </a:lnTo>
                <a:lnTo>
                  <a:pt x="3" y="1"/>
                </a:lnTo>
                <a:lnTo>
                  <a:pt x="3" y="0"/>
                </a:lnTo>
                <a:lnTo>
                  <a:pt x="3" y="0"/>
                </a:ln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1"/>
                </a:lnTo>
                <a:lnTo>
                  <a:pt x="1" y="1"/>
                </a:lnTo>
                <a:lnTo>
                  <a:pt x="0" y="1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3"/>
                </a:lnTo>
                <a:lnTo>
                  <a:pt x="2" y="3"/>
                </a:lnTo>
                <a:lnTo>
                  <a:pt x="2" y="3"/>
                </a:lnTo>
                <a:lnTo>
                  <a:pt x="2" y="3"/>
                </a:lnTo>
                <a:lnTo>
                  <a:pt x="2" y="3"/>
                </a:lnTo>
                <a:lnTo>
                  <a:pt x="3" y="2"/>
                </a:lnTo>
                <a:lnTo>
                  <a:pt x="3" y="2"/>
                </a:lnTo>
                <a:lnTo>
                  <a:pt x="3" y="2"/>
                </a:lnTo>
                <a:lnTo>
                  <a:pt x="3" y="2"/>
                </a:lnTo>
                <a:lnTo>
                  <a:pt x="3" y="2"/>
                </a:lnTo>
                <a:lnTo>
                  <a:pt x="3" y="1"/>
                </a:lnTo>
                <a:close/>
              </a:path>
            </a:pathLst>
          </a:custGeom>
          <a:solidFill>
            <a:srgbClr val="7570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Freeform 111"/>
          <p:cNvSpPr/>
          <p:nvPr/>
        </p:nvSpPr>
        <p:spPr>
          <a:xfrm>
            <a:off x="3251200" y="22225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1"/>
                </a:moveTo>
                <a:lnTo>
                  <a:pt x="3" y="1"/>
                </a:lnTo>
                <a:lnTo>
                  <a:pt x="3" y="1"/>
                </a:ln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2" y="3"/>
                </a:lnTo>
                <a:lnTo>
                  <a:pt x="2" y="3"/>
                </a:lnTo>
                <a:lnTo>
                  <a:pt x="2" y="2"/>
                </a:lnTo>
                <a:lnTo>
                  <a:pt x="2" y="2"/>
                </a:lnTo>
                <a:lnTo>
                  <a:pt x="3" y="2"/>
                </a:lnTo>
                <a:lnTo>
                  <a:pt x="3" y="2"/>
                </a:lnTo>
                <a:lnTo>
                  <a:pt x="3" y="2"/>
                </a:lnTo>
                <a:lnTo>
                  <a:pt x="3" y="1"/>
                </a:lnTo>
                <a:close/>
              </a:path>
            </a:pathLst>
          </a:custGeom>
          <a:solidFill>
            <a:srgbClr val="7570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0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2880005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5" name="Picture 11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116" name="Picture 11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117" name="TextBox 116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GA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variants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08000" y="359888"/>
            <a:ext cx="567739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1">
                <a:solidFill>
                  <a:srgbClr val="003373"/>
                </a:solidFill>
                <a:latin typeface="Josefin Sans"/>
              </a:rPr>
              <a:t>Island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genetic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algorithms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460057" y="684312"/>
            <a:ext cx="532533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multiple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populations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60056" y="942427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each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population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evolve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within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island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(selection,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crossover,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mutation)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637094" y="1158256"/>
            <a:ext cx="51483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independently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other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islands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460056" y="1372615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migration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happens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when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individual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from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island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moves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replaces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637094" y="1588444"/>
            <a:ext cx="51483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another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individual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another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island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2109383" y="1995163"/>
            <a:ext cx="3676012" cy="15037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63" b="0">
                <a:solidFill>
                  <a:srgbClr val="000000"/>
                </a:solidFill>
                <a:latin typeface="Josefin Sans"/>
              </a:rPr>
              <a:t>Island</a:t>
            </a:r>
            <a:r>
              <a:rPr sz="763" b="0">
                <a:solidFill>
                  <a:srgbClr val="000000"/>
                </a:solidFill>
                <a:latin typeface="Josefin Sans"/>
              </a:rPr>
              <a:t> </a:t>
            </a:r>
            <a:r>
              <a:rPr sz="763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360555" y="1995163"/>
            <a:ext cx="2424840" cy="15037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63" b="0">
                <a:solidFill>
                  <a:srgbClr val="000000"/>
                </a:solidFill>
                <a:latin typeface="Josefin Sans"/>
              </a:rPr>
              <a:t>Island</a:t>
            </a:r>
            <a:r>
              <a:rPr sz="763" b="0">
                <a:solidFill>
                  <a:srgbClr val="000000"/>
                </a:solidFill>
                <a:latin typeface="Josefin Sans"/>
              </a:rPr>
              <a:t> </a:t>
            </a:r>
            <a:r>
              <a:rPr sz="763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2729682" y="2499358"/>
            <a:ext cx="3055714" cy="15037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63" b="0">
                <a:solidFill>
                  <a:srgbClr val="000000"/>
                </a:solidFill>
                <a:latin typeface="Josefin Sans"/>
              </a:rPr>
              <a:t>Island</a:t>
            </a:r>
            <a:r>
              <a:rPr sz="763" b="0">
                <a:solidFill>
                  <a:srgbClr val="000000"/>
                </a:solidFill>
                <a:latin typeface="Josefin Sans"/>
              </a:rPr>
              <a:t> </a:t>
            </a:r>
            <a:r>
              <a:rPr sz="763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2689973" y="1906842"/>
            <a:ext cx="3095423" cy="15037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63" b="0">
                <a:solidFill>
                  <a:srgbClr val="000000"/>
                </a:solidFill>
                <a:latin typeface="Josefin Sans"/>
              </a:rPr>
              <a:t>migration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4898772" y="3150919"/>
            <a:ext cx="88662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5627447" y="3150695"/>
            <a:ext cx="15794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87</a:t>
            </a:r>
          </a:p>
        </p:txBody>
      </p:sp>
    </p:spTree>
  </p:cSld>
  <p:clrMapOvr>
    <a:masterClrMapping/>
  </p:clrMapOvr>
</p:sld>
</file>

<file path=ppt/slides/slide2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60073" cy="324004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880004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759988" cy="323999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22610" y="1461234"/>
            <a:ext cx="1662785" cy="48793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78" b="1">
                <a:solidFill>
                  <a:srgbClr val="FFFFFF"/>
                </a:solidFill>
                <a:latin typeface="Josefin Sans"/>
              </a:rPr>
              <a:t>Thank</a:t>
            </a:r>
            <a:r>
              <a:rPr sz="2478" b="1">
                <a:solidFill>
                  <a:srgbClr val="914300"/>
                </a:solidFill>
                <a:latin typeface="Josefin Sans"/>
              </a:rPr>
              <a:t> </a:t>
            </a:r>
            <a:r>
              <a:rPr sz="2478" b="1">
                <a:solidFill>
                  <a:srgbClr val="914300"/>
                </a:solidFill>
                <a:latin typeface="Josefin Sans"/>
              </a:rPr>
              <a:t>you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98771" y="3150918"/>
            <a:ext cx="88662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24563" y="3150694"/>
            <a:ext cx="16083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88</a:t>
            </a:r>
          </a:p>
        </p:txBody>
      </p:sp>
    </p:spTree>
  </p:cSld>
  <p:clrMapOvr>
    <a:masterClrMapping/>
  </p:clrMapOvr>
</p:sld>
</file>

<file path=ppt/slides/slide2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9284" y="479056"/>
            <a:ext cx="4181140" cy="14348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28" b="0">
                <a:solidFill>
                  <a:srgbClr val="0D3361"/>
                </a:solidFill>
                <a:latin typeface="Arial"/>
              </a:rPr>
              <a:t>CSC3034 Current Course Update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9284" y="722056"/>
            <a:ext cx="4181140" cy="23914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14" b="1">
                <a:solidFill>
                  <a:srgbClr val="0D3361"/>
                </a:solidFill>
                <a:latin typeface="Arial"/>
              </a:rPr>
              <a:t>04 Genetic Algorithm - presentation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9284" y="1027928"/>
            <a:ext cx="4181140" cy="11957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7" b="0">
                <a:solidFill>
                  <a:srgbClr val="1A1A1A"/>
                </a:solidFill>
                <a:latin typeface="Arial"/>
              </a:rPr>
              <a:t>Synchronized from the current CSC3034 course site on 14 August 2026.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998" y="1367356"/>
            <a:ext cx="4065426" cy="11957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7" b="0">
                <a:solidFill>
                  <a:srgbClr val="1A1A1A"/>
                </a:solidFill>
                <a:latin typeface="Arial"/>
              </a:rPr>
              <a:t>•  Current Lab 3 covers a complete GA workflow and continuous waypoint encoding.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998" y="1629642"/>
            <a:ext cx="4065426" cy="11957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7" b="0">
                <a:solidFill>
                  <a:srgbClr val="1A1A1A"/>
                </a:solidFill>
                <a:latin typeface="Arial"/>
              </a:rPr>
              <a:t>•  The Isaac Sim extension evolves collision-aware mobile-robot trajectories.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998" y="1891927"/>
            <a:ext cx="4065426" cy="11957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7" b="0">
                <a:solidFill>
                  <a:srgbClr val="1A1A1A"/>
                </a:solidFill>
                <a:latin typeface="Arial"/>
              </a:rPr>
              <a:t>•  A Matplotlib fallback demonstrates the optimization without simulator hardware.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9284" y="2670916"/>
            <a:ext cx="4181140" cy="13152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8" b="1">
                <a:solidFill>
                  <a:srgbClr val="0D3361"/>
                </a:solidFill>
                <a:latin typeface="Arial"/>
              </a:rPr>
              <a:t>Current materials author: Dr Tang Tiong Yew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9284" y="2856791"/>
            <a:ext cx="4181140" cy="10761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46" b="0">
                <a:solidFill>
                  <a:srgbClr val="0D3361"/>
                </a:solidFill>
                <a:latin typeface="Arial"/>
              </a:rPr>
              <a:t>See the synchronized lab notes and runnable examples for full instructions.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04 Genetic Algorithm - presentation</dc:title>
  <dc:subject>Editable objects converted from 04 Genetic Algorithm - presentation.pdf</dc:subject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